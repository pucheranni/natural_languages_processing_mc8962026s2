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6858000" cy="9144000"/>
  <p:embeddedFontLst>
    <p:embeddedFont>
      <p:font typeface="Advent Pro Medium"/>
      <p:regular r:id="rId68"/>
      <p:bold r:id="rId69"/>
      <p:italic r:id="rId70"/>
      <p:boldItalic r:id="rId71"/>
    </p:embeddedFont>
    <p:embeddedFont>
      <p:font typeface="Advent Pro"/>
      <p:regular r:id="rId72"/>
      <p:bold r:id="rId73"/>
      <p:italic r:id="rId74"/>
      <p:boldItalic r:id="rId75"/>
    </p:embeddedFont>
    <p:embeddedFont>
      <p:font typeface="Comfortaa"/>
      <p:regular r:id="rId76"/>
      <p:bold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78" roundtripDataSignature="AMtx7mgliyxARAmhp4NwULJY97Haq72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AdventPro-bold.fntdata"/><Relationship Id="rId72" Type="http://schemas.openxmlformats.org/officeDocument/2006/relationships/font" Target="fonts/AdventPro-regular.fntdata"/><Relationship Id="rId31" Type="http://schemas.openxmlformats.org/officeDocument/2006/relationships/slide" Target="slides/slide26.xml"/><Relationship Id="rId75" Type="http://schemas.openxmlformats.org/officeDocument/2006/relationships/font" Target="fonts/AdventPro-boldItalic.fntdata"/><Relationship Id="rId30" Type="http://schemas.openxmlformats.org/officeDocument/2006/relationships/slide" Target="slides/slide25.xml"/><Relationship Id="rId74" Type="http://schemas.openxmlformats.org/officeDocument/2006/relationships/font" Target="fonts/AdventPro-italic.fntdata"/><Relationship Id="rId33" Type="http://schemas.openxmlformats.org/officeDocument/2006/relationships/slide" Target="slides/slide28.xml"/><Relationship Id="rId77" Type="http://schemas.openxmlformats.org/officeDocument/2006/relationships/font" Target="fonts/Comfortaa-bold.fntdata"/><Relationship Id="rId32" Type="http://schemas.openxmlformats.org/officeDocument/2006/relationships/slide" Target="slides/slide27.xml"/><Relationship Id="rId76" Type="http://schemas.openxmlformats.org/officeDocument/2006/relationships/font" Target="fonts/Comfortaa-regular.fntdata"/><Relationship Id="rId35" Type="http://schemas.openxmlformats.org/officeDocument/2006/relationships/slide" Target="slides/slide30.xml"/><Relationship Id="rId34" Type="http://schemas.openxmlformats.org/officeDocument/2006/relationships/slide" Target="slides/slide29.xml"/><Relationship Id="rId78" Type="http://customschemas.google.com/relationships/presentationmetadata" Target="metadata"/><Relationship Id="rId71" Type="http://schemas.openxmlformats.org/officeDocument/2006/relationships/font" Target="fonts/AdventProMedium-boldItalic.fntdata"/><Relationship Id="rId70" Type="http://schemas.openxmlformats.org/officeDocument/2006/relationships/font" Target="fonts/AdventProMedium-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AdventProMedium-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AdventProMedium-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h65f250d357b111b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h65f250d357b111b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h65f250d357b111b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h65f250d357b111b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65f250d357b111b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65f250d357b111b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p(y|x) = \hat{y}^y(1-\hat{y})^{1-y}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65f250d357b111b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h65f250d357b111b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L_{CE}(\hat{y},y) = -\ln{p(y|x)}</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\begin{align*}</a:t>
            </a:r>
            <a:endParaRPr/>
          </a:p>
          <a:p>
            <a:pPr indent="0" lvl="0" marL="0" rtl="0" algn="l">
              <a:spcBef>
                <a:spcPts val="0"/>
              </a:spcBef>
              <a:spcAft>
                <a:spcPts val="0"/>
              </a:spcAft>
              <a:buNone/>
            </a:pPr>
            <a:r>
              <a:rPr lang="pt-BR"/>
              <a:t>L_{CE}(\hat{y},y) &amp;= -\ln{p(y|x)}</a:t>
            </a:r>
            <a:endParaRPr/>
          </a:p>
          <a:p>
            <a:pPr indent="0" lvl="0" marL="0" rtl="0" algn="l">
              <a:spcBef>
                <a:spcPts val="0"/>
              </a:spcBef>
              <a:spcAft>
                <a:spcPts val="0"/>
              </a:spcAft>
              <a:buNone/>
            </a:pPr>
            <a:r>
              <a:rPr lang="pt-BR"/>
              <a:t>\\</a:t>
            </a:r>
            <a:endParaRPr/>
          </a:p>
          <a:p>
            <a:pPr indent="0" lvl="0" marL="0" rtl="0" algn="l">
              <a:spcBef>
                <a:spcPts val="0"/>
              </a:spcBef>
              <a:spcAft>
                <a:spcPts val="0"/>
              </a:spcAft>
              <a:buNone/>
            </a:pPr>
            <a:r>
              <a:rPr lang="pt-BR"/>
              <a:t>&amp;= -\ln\hat{y}^y(1-\hat{y})^{1-y}</a:t>
            </a:r>
            <a:endParaRPr/>
          </a:p>
          <a:p>
            <a:pPr indent="0" lvl="0" marL="0" rtl="0" algn="l">
              <a:spcBef>
                <a:spcPts val="0"/>
              </a:spcBef>
              <a:spcAft>
                <a:spcPts val="0"/>
              </a:spcAft>
              <a:buNone/>
            </a:pPr>
            <a:r>
              <a:rPr lang="pt-BR"/>
              <a:t>\\</a:t>
            </a:r>
            <a:endParaRPr/>
          </a:p>
          <a:p>
            <a:pPr indent="0" lvl="0" marL="0" rtl="0" algn="l">
              <a:spcBef>
                <a:spcPts val="0"/>
              </a:spcBef>
              <a:spcAft>
                <a:spcPts val="0"/>
              </a:spcAft>
              <a:buNone/>
            </a:pPr>
            <a:r>
              <a:rPr lang="pt-BR"/>
              <a:t>&amp;= - \left[ y \ln\hat{y} + (1 - y) \ln(1 - \hat{y}) \right]</a:t>
            </a:r>
            <a:endParaRPr/>
          </a:p>
          <a:p>
            <a:pPr indent="0" lvl="0" marL="0" rtl="0" algn="l">
              <a:spcBef>
                <a:spcPts val="0"/>
              </a:spcBef>
              <a:spcAft>
                <a:spcPts val="0"/>
              </a:spcAft>
              <a:buNone/>
            </a:pPr>
            <a:r>
              <a:rPr lang="pt-BR"/>
              <a:t>\end{align*}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65f250d357b111b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h65f250d357b111b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\frac{\partial L_{CE}(\hat{y},y)}{\partial w_j} = (\hat{y} - y) x_j</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65f250d357b111b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65f250d357b111b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\Delta w_j =  -\eta (\hat{y} - y) x_j</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\Delta w_j &amp;= -\eta \frac{\partial L_{CE}(\hat{y},y)}{\partial w_j}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-\eta (\hat{y} - y) x_j</a:t>
            </a:r>
            <a:endParaRPr/>
          </a:p>
          <a:p>
            <a:pPr indent="0" lvl="0" marL="0" rtl="0" algn="l">
              <a:spcBef>
                <a:spcPts val="0"/>
              </a:spcBef>
              <a:spcAft>
                <a:spcPts val="0"/>
              </a:spcAft>
              <a:buNone/>
            </a:pPr>
            <a:r>
              <a:rPr lang="pt-BR"/>
              <a:t>\end{align*}</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65f250d357b111b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h65f250d357b111b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\Delta w_j = -\eta (\hat{y} - y) x_j</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w^{t+1} = w^t + \Delta w_j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w^{t+1} &amp;= w^t + \Delta w_j  </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w^t-\eta \frac{\partial L_{CE}(\hat{y},y)}{\partial w_j}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w^t - \eta (\hat{y} - y) x_j</a:t>
            </a:r>
            <a:endParaRPr/>
          </a:p>
          <a:p>
            <a:pPr indent="0" lvl="0" marL="0" rtl="0" algn="l">
              <a:spcBef>
                <a:spcPts val="0"/>
              </a:spcBef>
              <a:spcAft>
                <a:spcPts val="0"/>
              </a:spcAft>
              <a:buNone/>
            </a:pPr>
            <a:r>
              <a:rPr lang="pt-BR"/>
              <a:t>\end{align*}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3dfd21779b5c0a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h3dfd21779b5c0a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65f250d357b111bf_0_110: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35" name="Google Shape;135;h65f250d357b111bf_0_110: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Although the algorithm (and the concept of gradient) are designed for direction </a:t>
            </a:r>
            <a:r>
              <a:rPr i="1" lang="pt-BR" sz="1200">
                <a:solidFill>
                  <a:schemeClr val="dk1"/>
                </a:solidFill>
                <a:latin typeface="Arial"/>
                <a:ea typeface="Arial"/>
                <a:cs typeface="Arial"/>
                <a:sym typeface="Arial"/>
              </a:rPr>
              <a:t>vectors</a:t>
            </a:r>
            <a:r>
              <a:rPr lang="pt-BR" sz="1200">
                <a:solidFill>
                  <a:schemeClr val="dk1"/>
                </a:solidFill>
                <a:latin typeface="Arial"/>
                <a:ea typeface="Arial"/>
                <a:cs typeface="Arial"/>
                <a:sym typeface="Arial"/>
              </a:rPr>
              <a:t>, let’s first consider a visualization of the case where the parameter of our system is just a single scalar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Given a random initialization of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at some value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1, and assuming the loss function </a:t>
            </a:r>
            <a:r>
              <a:rPr i="1" lang="pt-BR" sz="1200">
                <a:solidFill>
                  <a:schemeClr val="dk1"/>
                </a:solidFill>
                <a:latin typeface="Arial"/>
                <a:ea typeface="Arial"/>
                <a:cs typeface="Arial"/>
                <a:sym typeface="Arial"/>
              </a:rPr>
              <a:t>L </a:t>
            </a:r>
            <a:r>
              <a:rPr lang="pt-BR" sz="1200">
                <a:solidFill>
                  <a:schemeClr val="dk1"/>
                </a:solidFill>
                <a:latin typeface="Arial"/>
                <a:ea typeface="Arial"/>
                <a:cs typeface="Arial"/>
                <a:sym typeface="Arial"/>
              </a:rPr>
              <a:t>happened to have this shape, we need the algorithm to tell us whether at the next iteration we should move left (making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2 smaller than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1) or right (making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2 bigger than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1) to reach the minimum. The gradient descent algorithm answers this question by finding the </a:t>
            </a:r>
            <a:r>
              <a:rPr b="0" lang="pt-BR" sz="1200">
                <a:solidFill>
                  <a:schemeClr val="dk1"/>
                </a:solidFill>
                <a:latin typeface="Arial"/>
                <a:ea typeface="Arial"/>
                <a:cs typeface="Arial"/>
                <a:sym typeface="Arial"/>
              </a:rPr>
              <a:t>gradient </a:t>
            </a:r>
            <a:r>
              <a:rPr lang="pt-BR" sz="1200">
                <a:solidFill>
                  <a:schemeClr val="dk1"/>
                </a:solidFill>
                <a:latin typeface="Arial"/>
                <a:ea typeface="Arial"/>
                <a:cs typeface="Arial"/>
                <a:sym typeface="Arial"/>
              </a:rPr>
              <a:t>of the loss function at the current point and moving in the opposite direction.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36" name="Google Shape;136;h65f250d357b111bf_0_110: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65f250d357b111bf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h65f250d357b111bf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65f250d357b111bf_0_125: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51" name="Google Shape;151;h65f250d357b111bf_0_125: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Thus to find the minimum, gradient descent tells us to go in the opposite direction: moving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in a positive direction.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52" name="Google Shape;152;h65f250d357b111bf_0_125: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65f250d357b111bf_0_181: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60" name="Google Shape;160;h65f250d357b111bf_0_181: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If we’re just imagining two weight dimensions (say for one weight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and one bias </a:t>
            </a:r>
            <a:r>
              <a:rPr i="1" lang="pt-BR" sz="1200">
                <a:solidFill>
                  <a:schemeClr val="dk1"/>
                </a:solidFill>
                <a:latin typeface="Arial"/>
                <a:ea typeface="Arial"/>
                <a:cs typeface="Arial"/>
                <a:sym typeface="Arial"/>
              </a:rPr>
              <a:t>b</a:t>
            </a:r>
            <a:r>
              <a:rPr lang="pt-BR" sz="1200">
                <a:solidFill>
                  <a:schemeClr val="dk1"/>
                </a:solidFill>
                <a:latin typeface="Arial"/>
                <a:ea typeface="Arial"/>
                <a:cs typeface="Arial"/>
                <a:sym typeface="Arial"/>
              </a:rPr>
              <a:t>), the gradient might be a vector with two orthogonal components, each of which tells us how much the ground slopes in the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dimension and in the </a:t>
            </a:r>
            <a:r>
              <a:rPr i="1" lang="pt-BR" sz="1200">
                <a:solidFill>
                  <a:schemeClr val="dk1"/>
                </a:solidFill>
                <a:latin typeface="Arial"/>
                <a:ea typeface="Arial"/>
                <a:cs typeface="Arial"/>
                <a:sym typeface="Arial"/>
              </a:rPr>
              <a:t>b </a:t>
            </a:r>
            <a:r>
              <a:rPr lang="pt-BR" sz="1200">
                <a:solidFill>
                  <a:schemeClr val="dk1"/>
                </a:solidFill>
                <a:latin typeface="Arial"/>
                <a:ea typeface="Arial"/>
                <a:cs typeface="Arial"/>
                <a:sym typeface="Arial"/>
              </a:rPr>
              <a:t>dimension. This figure shows a visualization of the value of a 2-dimensional gradient vector taken at the red point. </a:t>
            </a:r>
            <a:endParaRPr/>
          </a:p>
          <a:p>
            <a:pPr indent="0" lvl="0" marL="0" rtl="0" algn="l">
              <a:spcBef>
                <a:spcPts val="360"/>
              </a:spcBef>
              <a:spcAft>
                <a:spcPts val="0"/>
              </a:spcAft>
              <a:buNone/>
            </a:pPr>
            <a:r>
              <a:t/>
            </a:r>
            <a:endParaRPr/>
          </a:p>
        </p:txBody>
      </p:sp>
      <p:sp>
        <p:nvSpPr>
          <p:cNvPr id="161" name="Google Shape;161;h65f250d357b111bf_0_181: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65f250d357b111bf_0_1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h65f250d357b111bf_0_1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65f250d357b111bf_0_237: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86" name="Google Shape;186;h65f250d357b111bf_0_237: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Here's a vector of gradients.  We’ll represent </a:t>
            </a:r>
            <a:r>
              <a:rPr i="1" lang="pt-BR" sz="1200">
                <a:solidFill>
                  <a:schemeClr val="dk1"/>
                </a:solidFill>
                <a:latin typeface="Arial"/>
                <a:ea typeface="Arial"/>
                <a:cs typeface="Arial"/>
                <a:sym typeface="Arial"/>
              </a:rPr>
              <a:t>y</a:t>
            </a:r>
            <a:r>
              <a:rPr lang="pt-BR" sz="1200">
                <a:solidFill>
                  <a:schemeClr val="dk1"/>
                </a:solidFill>
                <a:latin typeface="Arial"/>
                <a:ea typeface="Arial"/>
                <a:cs typeface="Arial"/>
                <a:sym typeface="Arial"/>
              </a:rPr>
              <a:t>ˆ as </a:t>
            </a:r>
            <a:r>
              <a:rPr i="1" lang="pt-BR" sz="1200">
                <a:solidFill>
                  <a:schemeClr val="dk1"/>
                </a:solidFill>
                <a:latin typeface="Arial"/>
                <a:ea typeface="Arial"/>
                <a:cs typeface="Arial"/>
                <a:sym typeface="Arial"/>
              </a:rPr>
              <a:t>f </a:t>
            </a:r>
            <a:r>
              <a:rPr lang="pt-BR" sz="1200">
                <a:solidFill>
                  <a:schemeClr val="dk1"/>
                </a:solidFill>
                <a:latin typeface="Arial"/>
                <a:ea typeface="Arial"/>
                <a:cs typeface="Arial"/>
                <a:sym typeface="Arial"/>
              </a:rPr>
              <a:t>(</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 θ ) to make the dependence on θ more obvious: </a:t>
            </a:r>
            <a:endParaRPr/>
          </a:p>
          <a:p>
            <a:pPr indent="0" lvl="0" marL="0" rtl="0" algn="l">
              <a:spcBef>
                <a:spcPts val="360"/>
              </a:spcBef>
              <a:spcAft>
                <a:spcPts val="0"/>
              </a:spcAft>
              <a:buNone/>
            </a:pPr>
            <a:r>
              <a:t/>
            </a:r>
            <a:endParaRPr/>
          </a:p>
        </p:txBody>
      </p:sp>
      <p:sp>
        <p:nvSpPr>
          <p:cNvPr id="187" name="Google Shape;187;h65f250d357b111bf_0_237: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h65f250d357b111bf_0_1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h65f250d357b111bf_0_1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h65f250d357b111bf_0_101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208" name="Google Shape;208;h65f250d357b111bf_0_1017: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For training a neural network with gradient descent, we need the relevant gradients for each weight: the derivative of the loss with respect to each weight in every layer of the network.</a:t>
            </a:r>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But the loss is computed only at the very end of the network.  How do we find these gradients for weights in the early layers?</a:t>
            </a:r>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The solution is a method called error backpropagation, or backprop in the neural network world.  It turns out that backprop is a special case of backward differentiation, a method that relies on computation graphs.</a:t>
            </a:r>
            <a:endParaRPr/>
          </a:p>
          <a:p>
            <a:pPr indent="0" lvl="0" marL="0" rtl="0" algn="l">
              <a:spcBef>
                <a:spcPts val="0"/>
              </a:spcBef>
              <a:spcAft>
                <a:spcPts val="0"/>
              </a:spcAft>
              <a:buNone/>
            </a:pPr>
            <a:r>
              <a:t/>
            </a:r>
            <a:endParaRPr/>
          </a:p>
        </p:txBody>
      </p:sp>
      <p:sp>
        <p:nvSpPr>
          <p:cNvPr id="209" name="Google Shape;209;h65f250d357b111bf_0_1017: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h65f250d357b111bf_0_1024: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217" name="Google Shape;217;h65f250d357b111bf_0_1024: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A computation graph is a representation of the process of computing a mathematical expression, in which the computation is broken down into separate operations, each of which is modeled as a node in a graph. </a:t>
            </a:r>
            <a:endParaRPr/>
          </a:p>
          <a:p>
            <a:pPr indent="0" lvl="0" marL="0" rtl="0" algn="l">
              <a:spcBef>
                <a:spcPts val="0"/>
              </a:spcBef>
              <a:spcAft>
                <a:spcPts val="0"/>
              </a:spcAft>
              <a:buNone/>
            </a:pPr>
            <a:r>
              <a:t/>
            </a:r>
            <a:endParaRPr/>
          </a:p>
        </p:txBody>
      </p:sp>
      <p:sp>
        <p:nvSpPr>
          <p:cNvPr id="218" name="Google Shape;218;h65f250d357b111bf_0_1024: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h6a67bc926a97b7af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h6a67bc926a97b7af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6a67bc926a97b7a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h6a67bc926a97b7af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6a67bc926a97b7af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h6a67bc926a97b7af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h6a67bc926a97b7af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h6a67bc926a97b7af_0_1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h6a67bc926a97b7af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h6a67bc926a97b7af_0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6a67bc926a97b7af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h6a67bc926a97b7af_0_3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h6a67bc926a97b7af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h6a67bc926a97b7af_0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h6a67bc926a97b7af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h6a67bc926a97b7af_0_3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h6a67bc926a97b7af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h6a67bc926a97b7af_0_2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h6a67bc926a97b7af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h6a67bc926a97b7af_0_4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h6a67bc926a97b7af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h6a67bc926a97b7af_0_4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h6a67bc926a97b7af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h6a67bc926a97b7af_0_4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h6a67bc926a97b7af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6" name="Google Shape;476;h6a67bc926a97b7af_0_3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h65f250d357b111bf_0_1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h65f250d357b111bf_0_1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h65f250d357b111bf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h65f250d357b111bf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h65f250d357b111bf_0_30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519" name="Google Shape;519;h65f250d357b111bf_0_308: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Consider computing the function </a:t>
            </a:r>
            <a:r>
              <a:rPr i="1" lang="pt-BR" sz="1100">
                <a:solidFill>
                  <a:schemeClr val="dk1"/>
                </a:solidFill>
                <a:latin typeface="Calibri"/>
                <a:ea typeface="Calibri"/>
                <a:cs typeface="Calibri"/>
                <a:sym typeface="Calibri"/>
              </a:rPr>
              <a:t>L</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a</a:t>
            </a:r>
            <a:r>
              <a:rPr lang="pt-BR" sz="1100">
                <a:solidFill>
                  <a:schemeClr val="dk1"/>
                </a:solidFill>
                <a:latin typeface="Calibri"/>
                <a:ea typeface="Calibri"/>
                <a:cs typeface="Calibri"/>
                <a:sym typeface="Calibri"/>
              </a:rPr>
              <a:t>, </a:t>
            </a:r>
            <a:r>
              <a:rPr i="1" lang="pt-BR" sz="1100">
                <a:solidFill>
                  <a:schemeClr val="dk1"/>
                </a:solidFill>
                <a:latin typeface="Calibri"/>
                <a:ea typeface="Calibri"/>
                <a:cs typeface="Calibri"/>
                <a:sym typeface="Calibri"/>
              </a:rPr>
              <a:t>b</a:t>
            </a:r>
            <a:r>
              <a:rPr lang="pt-BR" sz="1100">
                <a:solidFill>
                  <a:schemeClr val="dk1"/>
                </a:solidFill>
                <a:latin typeface="Calibri"/>
                <a:ea typeface="Calibri"/>
                <a:cs typeface="Calibri"/>
                <a:sym typeface="Calibri"/>
              </a:rPr>
              <a:t>, </a:t>
            </a:r>
            <a:r>
              <a:rPr i="1" lang="pt-BR" sz="1100">
                <a:solidFill>
                  <a:schemeClr val="dk1"/>
                </a:solidFill>
                <a:latin typeface="Calibri"/>
                <a:ea typeface="Calibri"/>
                <a:cs typeface="Calibri"/>
                <a:sym typeface="Calibri"/>
              </a:rPr>
              <a:t>c</a:t>
            </a:r>
            <a:r>
              <a:rPr lang="pt-BR" sz="1100">
                <a:solidFill>
                  <a:schemeClr val="dk1"/>
                </a:solidFill>
                <a:latin typeface="Calibri"/>
                <a:ea typeface="Calibri"/>
                <a:cs typeface="Calibri"/>
                <a:sym typeface="Calibri"/>
              </a:rPr>
              <a:t>) = </a:t>
            </a:r>
            <a:r>
              <a:rPr i="1" lang="pt-BR" sz="1100">
                <a:solidFill>
                  <a:schemeClr val="dk1"/>
                </a:solidFill>
                <a:latin typeface="Calibri"/>
                <a:ea typeface="Calibri"/>
                <a:cs typeface="Calibri"/>
                <a:sym typeface="Calibri"/>
              </a:rPr>
              <a:t>c</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a </a:t>
            </a:r>
            <a:r>
              <a:rPr lang="pt-BR" sz="1100">
                <a:solidFill>
                  <a:schemeClr val="dk1"/>
                </a:solidFill>
                <a:latin typeface="Calibri"/>
                <a:ea typeface="Calibri"/>
                <a:cs typeface="Calibri"/>
                <a:sym typeface="Calibri"/>
              </a:rPr>
              <a:t>+ 2</a:t>
            </a:r>
            <a:r>
              <a:rPr i="1" lang="pt-BR" sz="1100">
                <a:solidFill>
                  <a:schemeClr val="dk1"/>
                </a:solidFill>
                <a:latin typeface="Calibri"/>
                <a:ea typeface="Calibri"/>
                <a:cs typeface="Calibri"/>
                <a:sym typeface="Calibri"/>
              </a:rPr>
              <a:t>b</a:t>
            </a:r>
            <a:r>
              <a:rPr lang="pt-BR" sz="1100">
                <a:solidFill>
                  <a:schemeClr val="dk1"/>
                </a:solidFill>
                <a:latin typeface="Calibri"/>
                <a:ea typeface="Calibri"/>
                <a:cs typeface="Calibri"/>
                <a:sym typeface="Calibri"/>
              </a:rPr>
              <a:t>). If we make each of the component addition and multiplication operations explicit, and add names (</a:t>
            </a:r>
            <a:r>
              <a:rPr i="1" lang="pt-BR" sz="1100">
                <a:solidFill>
                  <a:schemeClr val="dk1"/>
                </a:solidFill>
                <a:latin typeface="Calibri"/>
                <a:ea typeface="Calibri"/>
                <a:cs typeface="Calibri"/>
                <a:sym typeface="Calibri"/>
              </a:rPr>
              <a:t>d </a:t>
            </a:r>
            <a:r>
              <a:rPr lang="pt-BR" sz="1100">
                <a:solidFill>
                  <a:schemeClr val="dk1"/>
                </a:solidFill>
                <a:latin typeface="Calibri"/>
                <a:ea typeface="Calibri"/>
                <a:cs typeface="Calibri"/>
                <a:sym typeface="Calibri"/>
              </a:rPr>
              <a:t>and </a:t>
            </a:r>
            <a:r>
              <a:rPr i="1" lang="pt-BR" sz="1100">
                <a:solidFill>
                  <a:schemeClr val="dk1"/>
                </a:solidFill>
                <a:latin typeface="Calibri"/>
                <a:ea typeface="Calibri"/>
                <a:cs typeface="Calibri"/>
                <a:sym typeface="Calibri"/>
              </a:rPr>
              <a:t>e</a:t>
            </a:r>
            <a:r>
              <a:rPr lang="pt-BR" sz="1100">
                <a:solidFill>
                  <a:schemeClr val="dk1"/>
                </a:solidFill>
                <a:latin typeface="Calibri"/>
                <a:ea typeface="Calibri"/>
                <a:cs typeface="Calibri"/>
                <a:sym typeface="Calibri"/>
              </a:rPr>
              <a:t>) for the intermediate outputs, the resulting series of computations is: </a:t>
            </a:r>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D=2*b</a:t>
            </a:r>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E=a+d</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L=c*e</a:t>
            </a:r>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We can now represent this as a graph, with nodes for each operation, and directed edges showing the outputs from each operation as the inputs to the next.. The simplest use of computation graphs is to compute the value of the function with some given inputs. Lets assume the inputs </a:t>
            </a:r>
            <a:r>
              <a:rPr i="1" lang="pt-BR" sz="1100">
                <a:solidFill>
                  <a:schemeClr val="dk1"/>
                </a:solidFill>
                <a:latin typeface="Calibri"/>
                <a:ea typeface="Calibri"/>
                <a:cs typeface="Calibri"/>
                <a:sym typeface="Calibri"/>
              </a:rPr>
              <a:t>a </a:t>
            </a:r>
            <a:r>
              <a:rPr lang="pt-BR" sz="1100">
                <a:solidFill>
                  <a:schemeClr val="dk1"/>
                </a:solidFill>
                <a:latin typeface="Calibri"/>
                <a:ea typeface="Calibri"/>
                <a:cs typeface="Calibri"/>
                <a:sym typeface="Calibri"/>
              </a:rPr>
              <a:t>= 3, </a:t>
            </a:r>
            <a:r>
              <a:rPr i="1" lang="pt-BR" sz="1100">
                <a:solidFill>
                  <a:schemeClr val="dk1"/>
                </a:solidFill>
                <a:latin typeface="Calibri"/>
                <a:ea typeface="Calibri"/>
                <a:cs typeface="Calibri"/>
                <a:sym typeface="Calibri"/>
              </a:rPr>
              <a:t>b </a:t>
            </a:r>
            <a:r>
              <a:rPr lang="pt-BR" sz="1100">
                <a:solidFill>
                  <a:schemeClr val="dk1"/>
                </a:solidFill>
                <a:latin typeface="Calibri"/>
                <a:ea typeface="Calibri"/>
                <a:cs typeface="Calibri"/>
                <a:sym typeface="Calibri"/>
              </a:rPr>
              <a:t>= 1, </a:t>
            </a:r>
            <a:r>
              <a:rPr i="1" lang="pt-BR" sz="1100">
                <a:solidFill>
                  <a:schemeClr val="dk1"/>
                </a:solidFill>
                <a:latin typeface="Calibri"/>
                <a:ea typeface="Calibri"/>
                <a:cs typeface="Calibri"/>
                <a:sym typeface="Calibri"/>
              </a:rPr>
              <a:t>c </a:t>
            </a:r>
            <a:r>
              <a:rPr lang="pt-BR" sz="1100">
                <a:solidFill>
                  <a:schemeClr val="dk1"/>
                </a:solidFill>
                <a:latin typeface="Calibri"/>
                <a:ea typeface="Calibri"/>
                <a:cs typeface="Calibri"/>
                <a:sym typeface="Calibri"/>
              </a:rPr>
              <a:t>= −2, </a:t>
            </a:r>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We can walk forward and compute a value for d, and then a value for e, and then a value for C</a:t>
            </a:r>
            <a:endParaRPr/>
          </a:p>
          <a:p>
            <a:pPr indent="0" lvl="0" marL="0" marR="0" rtl="0" algn="l">
              <a:lnSpc>
                <a:spcPct val="100000"/>
              </a:lnSpc>
              <a:spcBef>
                <a:spcPts val="0"/>
              </a:spcBef>
              <a:spcAft>
                <a:spcPts val="0"/>
              </a:spcAft>
              <a:buClr>
                <a:schemeClr val="dk1"/>
              </a:buClr>
              <a:buSzPts val="800"/>
              <a:buFont typeface="Calibri"/>
              <a:buNone/>
            </a:pPr>
            <a:r>
              <a:t/>
            </a:r>
            <a:endParaRPr/>
          </a:p>
          <a:p>
            <a:pPr indent="0" lvl="0" marL="0" rtl="0" algn="l">
              <a:spcBef>
                <a:spcPts val="0"/>
              </a:spcBef>
              <a:spcAft>
                <a:spcPts val="0"/>
              </a:spcAft>
              <a:buNone/>
            </a:pPr>
            <a:r>
              <a:t/>
            </a:r>
            <a:endParaRPr/>
          </a:p>
        </p:txBody>
      </p:sp>
      <p:sp>
        <p:nvSpPr>
          <p:cNvPr id="520" name="Google Shape;520;h65f250d357b111bf_0_308: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h65f250d357b111bf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h65f250d357b111bf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h65f250d357b111bf_0_31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538" name="Google Shape;538;h65f250d357b111bf_0_318: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pt-BR"/>
              <a:t>Here it is without my messy handwriting.</a:t>
            </a:r>
            <a:endParaRPr/>
          </a:p>
        </p:txBody>
      </p:sp>
      <p:sp>
        <p:nvSpPr>
          <p:cNvPr id="539" name="Google Shape;539;h65f250d357b111bf_0_318: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h65f250d357b111bf_0_32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550" name="Google Shape;550;h65f250d357b111bf_0_328: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pt-BR" sz="1100">
                <a:solidFill>
                  <a:schemeClr val="dk1"/>
                </a:solidFill>
                <a:latin typeface="Calibri"/>
                <a:ea typeface="Calibri"/>
                <a:cs typeface="Calibri"/>
                <a:sym typeface="Calibri"/>
              </a:rPr>
              <a:t>The importance of the computation graph comes from the </a:t>
            </a:r>
            <a:r>
              <a:rPr b="0" lang="pt-BR" sz="1100">
                <a:solidFill>
                  <a:schemeClr val="dk1"/>
                </a:solidFill>
                <a:latin typeface="Calibri"/>
                <a:ea typeface="Calibri"/>
                <a:cs typeface="Calibri"/>
                <a:sym typeface="Calibri"/>
              </a:rPr>
              <a:t>backward pass</a:t>
            </a:r>
            <a:r>
              <a:rPr lang="pt-BR" sz="1100">
                <a:solidFill>
                  <a:schemeClr val="dk1"/>
                </a:solidFill>
                <a:latin typeface="Calibri"/>
                <a:ea typeface="Calibri"/>
                <a:cs typeface="Calibri"/>
                <a:sym typeface="Calibri"/>
              </a:rPr>
              <a:t>, which </a:t>
            </a:r>
            <a:r>
              <a:rPr lang="pt-BR" sz="800">
                <a:solidFill>
                  <a:schemeClr val="dk1"/>
                </a:solidFill>
                <a:latin typeface="Calibri"/>
                <a:ea typeface="Calibri"/>
                <a:cs typeface="Calibri"/>
                <a:sym typeface="Calibri"/>
              </a:rPr>
              <a:t> </a:t>
            </a:r>
            <a:r>
              <a:rPr lang="pt-BR" sz="1100">
                <a:solidFill>
                  <a:schemeClr val="dk1"/>
                </a:solidFill>
                <a:latin typeface="Calibri"/>
                <a:ea typeface="Calibri"/>
                <a:cs typeface="Calibri"/>
                <a:sym typeface="Calibri"/>
              </a:rPr>
              <a:t>is used to compute the derivatives that we’ll need for the weight update. </a:t>
            </a:r>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551" name="Google Shape;551;h65f250d357b111bf_0_328: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h65f250d357b111bf_0_334: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558" name="Google Shape;558;h65f250d357b111bf_0_334: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marR="0" rtl="0" algn="l">
              <a:lnSpc>
                <a:spcPct val="100000"/>
              </a:lnSpc>
              <a:spcBef>
                <a:spcPts val="0"/>
              </a:spcBef>
              <a:spcAft>
                <a:spcPts val="0"/>
              </a:spcAft>
              <a:buClr>
                <a:schemeClr val="dk1"/>
              </a:buClr>
              <a:buSzPts val="800"/>
              <a:buFont typeface="Calibri"/>
              <a:buNone/>
            </a:pPr>
            <a:r>
              <a:rPr lang="pt-BR" sz="800">
                <a:solidFill>
                  <a:schemeClr val="dk1"/>
                </a:solidFill>
                <a:latin typeface="Calibri"/>
                <a:ea typeface="Calibri"/>
                <a:cs typeface="Calibri"/>
                <a:sym typeface="Calibri"/>
              </a:rPr>
              <a:t>In this example our goal is to compute the derivative of the output function </a:t>
            </a:r>
            <a:r>
              <a:rPr i="1" lang="pt-BR" sz="800">
                <a:solidFill>
                  <a:schemeClr val="dk1"/>
                </a:solidFill>
                <a:latin typeface="Calibri"/>
                <a:ea typeface="Calibri"/>
                <a:cs typeface="Calibri"/>
                <a:sym typeface="Calibri"/>
              </a:rPr>
              <a:t>L </a:t>
            </a:r>
            <a:r>
              <a:rPr lang="pt-BR" sz="800">
                <a:solidFill>
                  <a:schemeClr val="dk1"/>
                </a:solidFill>
                <a:latin typeface="Calibri"/>
                <a:ea typeface="Calibri"/>
                <a:cs typeface="Calibri"/>
                <a:sym typeface="Calibri"/>
              </a:rPr>
              <a:t>with respect to each of the input variables, i.e., ∂</a:t>
            </a:r>
            <a:r>
              <a:rPr i="1" lang="pt-BR" sz="800">
                <a:solidFill>
                  <a:schemeClr val="dk1"/>
                </a:solidFill>
                <a:latin typeface="Calibri"/>
                <a:ea typeface="Calibri"/>
                <a:cs typeface="Calibri"/>
                <a:sym typeface="Calibri"/>
              </a:rPr>
              <a:t>L /</a:t>
            </a:r>
            <a:r>
              <a:rPr lang="pt-BR" sz="800">
                <a:solidFill>
                  <a:schemeClr val="dk1"/>
                </a:solidFill>
                <a:latin typeface="Calibri"/>
                <a:ea typeface="Calibri"/>
                <a:cs typeface="Calibri"/>
                <a:sym typeface="Calibri"/>
              </a:rPr>
              <a:t>∂</a:t>
            </a:r>
            <a:r>
              <a:rPr i="1" lang="pt-BR" sz="800">
                <a:solidFill>
                  <a:schemeClr val="dk1"/>
                </a:solidFill>
                <a:latin typeface="Calibri"/>
                <a:ea typeface="Calibri"/>
                <a:cs typeface="Calibri"/>
                <a:sym typeface="Calibri"/>
              </a:rPr>
              <a:t>a</a:t>
            </a:r>
            <a:r>
              <a:rPr lang="pt-BR" sz="800">
                <a:solidFill>
                  <a:schemeClr val="dk1"/>
                </a:solidFill>
                <a:latin typeface="Calibri"/>
                <a:ea typeface="Calibri"/>
                <a:cs typeface="Calibri"/>
                <a:sym typeface="Calibri"/>
              </a:rPr>
              <a:t>, ∂</a:t>
            </a:r>
            <a:r>
              <a:rPr i="1" lang="pt-BR" sz="800">
                <a:solidFill>
                  <a:schemeClr val="dk1"/>
                </a:solidFill>
                <a:latin typeface="Calibri"/>
                <a:ea typeface="Calibri"/>
                <a:cs typeface="Calibri"/>
                <a:sym typeface="Calibri"/>
              </a:rPr>
              <a:t>L /</a:t>
            </a:r>
            <a:r>
              <a:rPr lang="pt-BR" sz="800">
                <a:solidFill>
                  <a:schemeClr val="dk1"/>
                </a:solidFill>
                <a:latin typeface="Calibri"/>
                <a:ea typeface="Calibri"/>
                <a:cs typeface="Calibri"/>
                <a:sym typeface="Calibri"/>
              </a:rPr>
              <a:t>∂</a:t>
            </a:r>
            <a:r>
              <a:rPr i="1" lang="pt-BR" sz="800">
                <a:solidFill>
                  <a:schemeClr val="dk1"/>
                </a:solidFill>
                <a:latin typeface="Calibri"/>
                <a:ea typeface="Calibri"/>
                <a:cs typeface="Calibri"/>
                <a:sym typeface="Calibri"/>
              </a:rPr>
              <a:t>b</a:t>
            </a:r>
            <a:r>
              <a:rPr lang="pt-BR" sz="800">
                <a:solidFill>
                  <a:schemeClr val="dk1"/>
                </a:solidFill>
                <a:latin typeface="Calibri"/>
                <a:ea typeface="Calibri"/>
                <a:cs typeface="Calibri"/>
                <a:sym typeface="Calibri"/>
              </a:rPr>
              <a:t>, and ∂</a:t>
            </a:r>
            <a:r>
              <a:rPr i="1" lang="pt-BR" sz="800">
                <a:solidFill>
                  <a:schemeClr val="dk1"/>
                </a:solidFill>
                <a:latin typeface="Calibri"/>
                <a:ea typeface="Calibri"/>
                <a:cs typeface="Calibri"/>
                <a:sym typeface="Calibri"/>
              </a:rPr>
              <a:t>L/</a:t>
            </a:r>
            <a:r>
              <a:rPr lang="pt-BR" sz="800">
                <a:solidFill>
                  <a:schemeClr val="dk1"/>
                </a:solidFill>
                <a:latin typeface="Calibri"/>
                <a:ea typeface="Calibri"/>
                <a:cs typeface="Calibri"/>
                <a:sym typeface="Calibri"/>
              </a:rPr>
              <a:t>∂</a:t>
            </a:r>
            <a:r>
              <a:rPr i="1" lang="pt-BR" sz="800">
                <a:solidFill>
                  <a:schemeClr val="dk1"/>
                </a:solidFill>
                <a:latin typeface="Calibri"/>
                <a:ea typeface="Calibri"/>
                <a:cs typeface="Calibri"/>
                <a:sym typeface="Calibri"/>
              </a:rPr>
              <a:t>c  </a:t>
            </a:r>
            <a:r>
              <a:rPr lang="pt-BR" sz="800">
                <a:solidFill>
                  <a:schemeClr val="dk1"/>
                </a:solidFill>
                <a:latin typeface="Calibri"/>
                <a:ea typeface="Calibri"/>
                <a:cs typeface="Calibri"/>
                <a:sym typeface="Calibri"/>
              </a:rPr>
              <a:t>. The derivative ∂</a:t>
            </a:r>
            <a:r>
              <a:rPr i="1" lang="pt-BR" sz="800">
                <a:solidFill>
                  <a:schemeClr val="dk1"/>
                </a:solidFill>
                <a:latin typeface="Calibri"/>
                <a:ea typeface="Calibri"/>
                <a:cs typeface="Calibri"/>
                <a:sym typeface="Calibri"/>
              </a:rPr>
              <a:t>L/</a:t>
            </a:r>
            <a:r>
              <a:rPr lang="pt-BR" sz="800">
                <a:solidFill>
                  <a:schemeClr val="dk1"/>
                </a:solidFill>
                <a:latin typeface="Calibri"/>
                <a:ea typeface="Calibri"/>
                <a:cs typeface="Calibri"/>
                <a:sym typeface="Calibri"/>
              </a:rPr>
              <a:t>∂</a:t>
            </a:r>
            <a:r>
              <a:rPr i="1" lang="pt-BR" sz="800">
                <a:solidFill>
                  <a:schemeClr val="dk1"/>
                </a:solidFill>
                <a:latin typeface="Calibri"/>
                <a:ea typeface="Calibri"/>
                <a:cs typeface="Calibri"/>
                <a:sym typeface="Calibri"/>
              </a:rPr>
              <a:t>a </a:t>
            </a:r>
            <a:r>
              <a:rPr lang="pt-BR" sz="800">
                <a:solidFill>
                  <a:schemeClr val="dk1"/>
                </a:solidFill>
                <a:latin typeface="Calibri"/>
                <a:ea typeface="Calibri"/>
                <a:cs typeface="Calibri"/>
                <a:sym typeface="Calibri"/>
              </a:rPr>
              <a:t> tells us how much a small change in </a:t>
            </a:r>
            <a:r>
              <a:rPr i="1" lang="pt-BR" sz="800">
                <a:solidFill>
                  <a:schemeClr val="dk1"/>
                </a:solidFill>
                <a:latin typeface="Calibri"/>
                <a:ea typeface="Calibri"/>
                <a:cs typeface="Calibri"/>
                <a:sym typeface="Calibri"/>
              </a:rPr>
              <a:t>a </a:t>
            </a:r>
            <a:r>
              <a:rPr lang="pt-BR" sz="800">
                <a:solidFill>
                  <a:schemeClr val="dk1"/>
                </a:solidFill>
                <a:latin typeface="Calibri"/>
                <a:ea typeface="Calibri"/>
                <a:cs typeface="Calibri"/>
                <a:sym typeface="Calibri"/>
              </a:rPr>
              <a:t>affects </a:t>
            </a:r>
            <a:r>
              <a:rPr i="1" lang="pt-BR" sz="800">
                <a:solidFill>
                  <a:schemeClr val="dk1"/>
                </a:solidFill>
                <a:latin typeface="Calibri"/>
                <a:ea typeface="Calibri"/>
                <a:cs typeface="Calibri"/>
                <a:sym typeface="Calibri"/>
              </a:rPr>
              <a:t>L, </a:t>
            </a:r>
            <a:r>
              <a:rPr lang="pt-BR" sz="800"/>
              <a:t>while holding the others constant"</a:t>
            </a:r>
            <a:endParaRPr/>
          </a:p>
          <a:p>
            <a:pPr indent="0" lvl="0" marL="0" rtl="0" algn="l">
              <a:spcBef>
                <a:spcPts val="0"/>
              </a:spcBef>
              <a:spcAft>
                <a:spcPts val="0"/>
              </a:spcAft>
              <a:buNone/>
            </a:pPr>
            <a:r>
              <a:t/>
            </a:r>
            <a:endParaRPr/>
          </a:p>
        </p:txBody>
      </p:sp>
      <p:sp>
        <p:nvSpPr>
          <p:cNvPr id="559" name="Google Shape;559;h65f250d357b111bf_0_334: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h65f250d357b111bf_0_34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571" name="Google Shape;571;h65f250d357b111bf_0_345: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Consider a composite function f(x) = u(v(x)).  CLICK. The derivative of </a:t>
            </a:r>
            <a:r>
              <a:rPr i="1" lang="pt-BR" sz="1100">
                <a:solidFill>
                  <a:schemeClr val="dk1"/>
                </a:solidFill>
                <a:latin typeface="Calibri"/>
                <a:ea typeface="Calibri"/>
                <a:cs typeface="Calibri"/>
                <a:sym typeface="Calibri"/>
              </a:rPr>
              <a:t>f </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 is the derivative of </a:t>
            </a:r>
            <a:r>
              <a:rPr i="1" lang="pt-BR" sz="1100">
                <a:solidFill>
                  <a:schemeClr val="dk1"/>
                </a:solidFill>
                <a:latin typeface="Calibri"/>
                <a:ea typeface="Calibri"/>
                <a:cs typeface="Calibri"/>
                <a:sym typeface="Calibri"/>
              </a:rPr>
              <a:t>u</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 with respect to </a:t>
            </a:r>
            <a:r>
              <a:rPr i="1" lang="pt-BR" sz="1100">
                <a:solidFill>
                  <a:schemeClr val="dk1"/>
                </a:solidFill>
                <a:latin typeface="Calibri"/>
                <a:ea typeface="Calibri"/>
                <a:cs typeface="Calibri"/>
                <a:sym typeface="Calibri"/>
              </a:rPr>
              <a:t>v</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 times the derivative of </a:t>
            </a:r>
            <a:r>
              <a:rPr i="1" lang="pt-BR" sz="1100">
                <a:solidFill>
                  <a:schemeClr val="dk1"/>
                </a:solidFill>
                <a:latin typeface="Calibri"/>
                <a:ea typeface="Calibri"/>
                <a:cs typeface="Calibri"/>
                <a:sym typeface="Calibri"/>
              </a:rPr>
              <a:t>v</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 with respect to </a:t>
            </a:r>
            <a:r>
              <a:rPr i="1" lang="pt-BR" sz="1100">
                <a:solidFill>
                  <a:schemeClr val="dk1"/>
                </a:solidFill>
                <a:latin typeface="Calibri"/>
                <a:ea typeface="Calibri"/>
                <a:cs typeface="Calibri"/>
                <a:sym typeface="Calibri"/>
              </a:rPr>
              <a:t>x</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The chain rule extends to more than two functions. If computing the derivative of a composite function </a:t>
            </a:r>
            <a:r>
              <a:rPr i="1" lang="pt-BR" sz="1100">
                <a:solidFill>
                  <a:schemeClr val="dk1"/>
                </a:solidFill>
                <a:latin typeface="Calibri"/>
                <a:ea typeface="Calibri"/>
                <a:cs typeface="Calibri"/>
                <a:sym typeface="Calibri"/>
              </a:rPr>
              <a:t>f </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 = </a:t>
            </a:r>
            <a:r>
              <a:rPr i="1" lang="pt-BR" sz="1100">
                <a:solidFill>
                  <a:schemeClr val="dk1"/>
                </a:solidFill>
                <a:latin typeface="Calibri"/>
                <a:ea typeface="Calibri"/>
                <a:cs typeface="Calibri"/>
                <a:sym typeface="Calibri"/>
              </a:rPr>
              <a:t>u</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v</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w</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 the derivative of </a:t>
            </a:r>
            <a:r>
              <a:rPr i="1" lang="pt-BR" sz="1100">
                <a:solidFill>
                  <a:schemeClr val="dk1"/>
                </a:solidFill>
                <a:latin typeface="Calibri"/>
                <a:ea typeface="Calibri"/>
                <a:cs typeface="Calibri"/>
                <a:sym typeface="Calibri"/>
              </a:rPr>
              <a:t>f </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 is: </a:t>
            </a:r>
            <a:endParaRPr/>
          </a:p>
          <a:p>
            <a:pPr indent="0" lvl="0" marL="0" marR="0" rtl="0" algn="l">
              <a:lnSpc>
                <a:spcPct val="100000"/>
              </a:lnSpc>
              <a:spcBef>
                <a:spcPts val="0"/>
              </a:spcBef>
              <a:spcAft>
                <a:spcPts val="0"/>
              </a:spcAft>
              <a:buClr>
                <a:schemeClr val="dk1"/>
              </a:buClr>
              <a:buSzPts val="800"/>
              <a:buFont typeface="Calibri"/>
              <a:buNone/>
            </a:pPr>
            <a:r>
              <a:t/>
            </a:r>
            <a:endParaRPr/>
          </a:p>
          <a:p>
            <a:pPr indent="0" lvl="0" marL="0" rtl="0" algn="l">
              <a:spcBef>
                <a:spcPts val="0"/>
              </a:spcBef>
              <a:spcAft>
                <a:spcPts val="0"/>
              </a:spcAft>
              <a:buNone/>
            </a:pPr>
            <a:r>
              <a:t/>
            </a:r>
            <a:endParaRPr/>
          </a:p>
        </p:txBody>
      </p:sp>
      <p:sp>
        <p:nvSpPr>
          <p:cNvPr id="572" name="Google Shape;572;h65f250d357b111bf_0_345: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h65f250d357b111bf_0_35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581" name="Google Shape;581;h65f250d357b111bf_0_353: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marR="0" rtl="0" algn="l">
              <a:lnSpc>
                <a:spcPct val="100000"/>
              </a:lnSpc>
              <a:spcBef>
                <a:spcPts val="0"/>
              </a:spcBef>
              <a:spcAft>
                <a:spcPts val="0"/>
              </a:spcAft>
              <a:buClr>
                <a:schemeClr val="dk1"/>
              </a:buClr>
              <a:buSzPts val="800"/>
              <a:buFont typeface="Calibri"/>
              <a:buNone/>
            </a:pPr>
            <a:r>
              <a:rPr lang="pt-BR" sz="800">
                <a:solidFill>
                  <a:schemeClr val="dk1"/>
                </a:solidFill>
                <a:latin typeface="Calibri"/>
                <a:ea typeface="Calibri"/>
                <a:cs typeface="Calibri"/>
                <a:sym typeface="Calibri"/>
              </a:rPr>
              <a:t>Let’s now compute the 3 derivatives we need. </a:t>
            </a:r>
            <a:r>
              <a:rPr lang="pt-BR" sz="1100">
                <a:solidFill>
                  <a:schemeClr val="dk1"/>
                </a:solidFill>
                <a:latin typeface="Calibri"/>
                <a:ea typeface="Calibri"/>
                <a:cs typeface="Calibri"/>
                <a:sym typeface="Calibri"/>
              </a:rPr>
              <a:t> Since in the computation graph </a:t>
            </a:r>
            <a:r>
              <a:rPr i="1" lang="pt-BR" sz="1100">
                <a:solidFill>
                  <a:schemeClr val="dk1"/>
                </a:solidFill>
                <a:latin typeface="Calibri"/>
                <a:ea typeface="Calibri"/>
                <a:cs typeface="Calibri"/>
                <a:sym typeface="Calibri"/>
              </a:rPr>
              <a:t>L </a:t>
            </a:r>
            <a:r>
              <a:rPr lang="pt-BR" sz="1100">
                <a:solidFill>
                  <a:schemeClr val="dk1"/>
                </a:solidFill>
                <a:latin typeface="Calibri"/>
                <a:ea typeface="Calibri"/>
                <a:cs typeface="Calibri"/>
                <a:sym typeface="Calibri"/>
              </a:rPr>
              <a:t>= </a:t>
            </a:r>
            <a:r>
              <a:rPr i="1" lang="pt-BR" sz="1100">
                <a:solidFill>
                  <a:schemeClr val="dk1"/>
                </a:solidFill>
                <a:latin typeface="Calibri"/>
                <a:ea typeface="Calibri"/>
                <a:cs typeface="Calibri"/>
                <a:sym typeface="Calibri"/>
              </a:rPr>
              <a:t>ce</a:t>
            </a:r>
            <a:r>
              <a:rPr lang="pt-BR" sz="1100">
                <a:solidFill>
                  <a:schemeClr val="dk1"/>
                </a:solidFill>
                <a:latin typeface="Calibri"/>
                <a:ea typeface="Calibri"/>
                <a:cs typeface="Calibri"/>
                <a:sym typeface="Calibri"/>
              </a:rPr>
              <a:t>, we can directly compute the derivative ∂ </a:t>
            </a:r>
            <a:r>
              <a:rPr i="1" lang="pt-BR" sz="1100">
                <a:solidFill>
                  <a:schemeClr val="dk1"/>
                </a:solidFill>
                <a:latin typeface="Calibri"/>
                <a:ea typeface="Calibri"/>
                <a:cs typeface="Calibri"/>
                <a:sym typeface="Calibri"/>
              </a:rPr>
              <a:t>L /</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c: it will be e.</a:t>
            </a:r>
            <a:endParaRPr/>
          </a:p>
          <a:p>
            <a:pPr indent="0" lvl="0" marL="0" marR="0" rtl="0" algn="l">
              <a:lnSpc>
                <a:spcPct val="100000"/>
              </a:lnSpc>
              <a:spcBef>
                <a:spcPts val="0"/>
              </a:spcBef>
              <a:spcAft>
                <a:spcPts val="0"/>
              </a:spcAft>
              <a:buClr>
                <a:schemeClr val="dk1"/>
              </a:buClr>
              <a:buSzPts val="1100"/>
              <a:buFont typeface="Calibri"/>
              <a:buNone/>
            </a:pPr>
            <a:r>
              <a:t/>
            </a:r>
            <a:endParaRPr i="1"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i="0" lang="pt-BR" sz="1100">
                <a:solidFill>
                  <a:schemeClr val="dk1"/>
                </a:solidFill>
                <a:latin typeface="Calibri"/>
                <a:ea typeface="Calibri"/>
                <a:cs typeface="Calibri"/>
                <a:sym typeface="Calibri"/>
              </a:rPr>
              <a:t>For the other two, we'll need to use the chain rule</a:t>
            </a:r>
            <a:br>
              <a:rPr i="0" lang="pt-BR" sz="1100">
                <a:solidFill>
                  <a:schemeClr val="dk1"/>
                </a:solidFill>
                <a:latin typeface="Calibri"/>
                <a:ea typeface="Calibri"/>
                <a:cs typeface="Calibri"/>
                <a:sym typeface="Calibri"/>
              </a:rPr>
            </a:br>
            <a:endParaRPr i="0"/>
          </a:p>
          <a:p>
            <a:pPr indent="0" lvl="0" marL="0" rtl="0" algn="l">
              <a:spcBef>
                <a:spcPts val="0"/>
              </a:spcBef>
              <a:spcAft>
                <a:spcPts val="0"/>
              </a:spcAft>
              <a:buNone/>
            </a:pPr>
            <a:r>
              <a:t/>
            </a:r>
            <a:endParaRPr/>
          </a:p>
        </p:txBody>
      </p:sp>
      <p:sp>
        <p:nvSpPr>
          <p:cNvPr id="582" name="Google Shape;582;h65f250d357b111bf_0_353: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h65f250d357b111bf_0_36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595" name="Google Shape;595;h65f250d357b111bf_0_365: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pt-BR" sz="1100">
                <a:solidFill>
                  <a:schemeClr val="dk1"/>
                </a:solidFill>
                <a:latin typeface="Calibri"/>
                <a:ea typeface="Calibri"/>
                <a:cs typeface="Calibri"/>
                <a:sym typeface="Calibri"/>
              </a:rPr>
              <a:t>Those equations, we've put them here on the top, thus require five intermediate derivatives: ∂</a:t>
            </a:r>
            <a:r>
              <a:rPr i="1" lang="pt-BR" sz="1100">
                <a:solidFill>
                  <a:schemeClr val="dk1"/>
                </a:solidFill>
                <a:latin typeface="Calibri"/>
                <a:ea typeface="Calibri"/>
                <a:cs typeface="Calibri"/>
                <a:sym typeface="Calibri"/>
              </a:rPr>
              <a:t>L/</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e </a:t>
            </a:r>
            <a:r>
              <a:rPr lang="pt-BR" sz="1100">
                <a:solidFill>
                  <a:schemeClr val="dk1"/>
                </a:solidFill>
                <a:latin typeface="Calibri"/>
                <a:ea typeface="Calibri"/>
                <a:cs typeface="Calibri"/>
                <a:sym typeface="Calibri"/>
              </a:rPr>
              <a:t>, ∂</a:t>
            </a:r>
            <a:r>
              <a:rPr i="1" lang="pt-BR" sz="1100">
                <a:solidFill>
                  <a:schemeClr val="dk1"/>
                </a:solidFill>
                <a:latin typeface="Calibri"/>
                <a:ea typeface="Calibri"/>
                <a:cs typeface="Calibri"/>
                <a:sym typeface="Calibri"/>
              </a:rPr>
              <a:t>L/</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c </a:t>
            </a:r>
            <a:r>
              <a:rPr lang="pt-BR" sz="1100">
                <a:solidFill>
                  <a:schemeClr val="dk1"/>
                </a:solidFill>
                <a:latin typeface="Calibri"/>
                <a:ea typeface="Calibri"/>
                <a:cs typeface="Calibri"/>
                <a:sym typeface="Calibri"/>
              </a:rPr>
              <a:t>, ∂</a:t>
            </a:r>
            <a:r>
              <a:rPr i="1" lang="pt-BR" sz="1100">
                <a:solidFill>
                  <a:schemeClr val="dk1"/>
                </a:solidFill>
                <a:latin typeface="Calibri"/>
                <a:ea typeface="Calibri"/>
                <a:cs typeface="Calibri"/>
                <a:sym typeface="Calibri"/>
              </a:rPr>
              <a:t>e/</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a </a:t>
            </a:r>
            <a:r>
              <a:rPr lang="pt-BR" sz="1100">
                <a:solidFill>
                  <a:schemeClr val="dk1"/>
                </a:solidFill>
                <a:latin typeface="Calibri"/>
                <a:ea typeface="Calibri"/>
                <a:cs typeface="Calibri"/>
                <a:sym typeface="Calibri"/>
              </a:rPr>
              <a:t>, ∂</a:t>
            </a:r>
            <a:r>
              <a:rPr i="1" lang="pt-BR" sz="1100">
                <a:solidFill>
                  <a:schemeClr val="dk1"/>
                </a:solidFill>
                <a:latin typeface="Calibri"/>
                <a:ea typeface="Calibri"/>
                <a:cs typeface="Calibri"/>
                <a:sym typeface="Calibri"/>
              </a:rPr>
              <a:t>e/</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d </a:t>
            </a:r>
            <a:r>
              <a:rPr lang="pt-BR" sz="1100">
                <a:solidFill>
                  <a:schemeClr val="dk1"/>
                </a:solidFill>
                <a:latin typeface="Calibri"/>
                <a:ea typeface="Calibri"/>
                <a:cs typeface="Calibri"/>
                <a:sym typeface="Calibri"/>
              </a:rPr>
              <a:t>, and ∂</a:t>
            </a:r>
            <a:r>
              <a:rPr i="1" lang="pt-BR" sz="1100">
                <a:solidFill>
                  <a:schemeClr val="dk1"/>
                </a:solidFill>
                <a:latin typeface="Calibri"/>
                <a:ea typeface="Calibri"/>
                <a:cs typeface="Calibri"/>
                <a:sym typeface="Calibri"/>
              </a:rPr>
              <a:t>d/</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b </a:t>
            </a:r>
            <a:r>
              <a:rPr lang="pt-BR" sz="1100">
                <a:solidFill>
                  <a:schemeClr val="dk1"/>
                </a:solidFill>
                <a:latin typeface="Calibri"/>
                <a:ea typeface="Calibri"/>
                <a:cs typeface="Calibri"/>
                <a:sym typeface="Calibri"/>
              </a:rPr>
              <a:t>, </a:t>
            </a:r>
            <a:r>
              <a:rPr lang="pt-BR" sz="800">
                <a:solidFill>
                  <a:schemeClr val="dk1"/>
                </a:solidFill>
                <a:latin typeface="Calibri"/>
                <a:ea typeface="Calibri"/>
                <a:cs typeface="Calibri"/>
                <a:sym typeface="Calibri"/>
              </a:rPr>
              <a:t> </a:t>
            </a:r>
            <a:r>
              <a:rPr lang="pt-BR" sz="1100">
                <a:solidFill>
                  <a:schemeClr val="dk1"/>
                </a:solidFill>
                <a:latin typeface="Calibri"/>
                <a:ea typeface="Calibri"/>
                <a:cs typeface="Calibri"/>
                <a:sym typeface="Calibri"/>
              </a:rPr>
              <a:t>which are as follows (making use of the fact that the derivative of a sum is the sum </a:t>
            </a:r>
            <a:endParaRPr/>
          </a:p>
          <a:p>
            <a:pPr indent="0" lvl="0" marL="0" rtl="0" algn="l">
              <a:spcBef>
                <a:spcPts val="0"/>
              </a:spcBef>
              <a:spcAft>
                <a:spcPts val="0"/>
              </a:spcAft>
              <a:buNone/>
            </a:pPr>
            <a:r>
              <a:rPr lang="pt-BR" sz="1100">
                <a:solidFill>
                  <a:schemeClr val="dk1"/>
                </a:solidFill>
                <a:latin typeface="Calibri"/>
                <a:ea typeface="Calibri"/>
                <a:cs typeface="Calibri"/>
                <a:sym typeface="Calibri"/>
              </a:rPr>
              <a:t>of the derivatives): </a:t>
            </a:r>
            <a:endParaRPr/>
          </a:p>
          <a:p>
            <a:pPr indent="0" lvl="0" marL="0" rtl="0" algn="l">
              <a:spcBef>
                <a:spcPts val="0"/>
              </a:spcBef>
              <a:spcAft>
                <a:spcPts val="0"/>
              </a:spcAft>
              <a:buNone/>
            </a:pPr>
            <a:r>
              <a:t/>
            </a:r>
            <a:endParaRPr/>
          </a:p>
        </p:txBody>
      </p:sp>
      <p:sp>
        <p:nvSpPr>
          <p:cNvPr id="596" name="Google Shape;596;h65f250d357b111bf_0_365: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h65f250d357b111bf_0_37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607" name="Google Shape;607;h65f250d357b111bf_0_375: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pt-BR" sz="1100">
                <a:solidFill>
                  <a:schemeClr val="dk1"/>
                </a:solidFill>
                <a:latin typeface="Calibri"/>
                <a:ea typeface="Calibri"/>
                <a:cs typeface="Calibri"/>
                <a:sym typeface="Calibri"/>
              </a:rPr>
              <a:t>In the backward pass, we compute each of these partials along each edge of the graph </a:t>
            </a:r>
            <a:endParaRPr/>
          </a:p>
          <a:p>
            <a:pPr indent="0" lvl="0" marL="0" rtl="0" algn="l">
              <a:spcBef>
                <a:spcPts val="0"/>
              </a:spcBef>
              <a:spcAft>
                <a:spcPts val="0"/>
              </a:spcAft>
              <a:buNone/>
            </a:pPr>
            <a:r>
              <a:rPr lang="pt-BR" sz="1100">
                <a:solidFill>
                  <a:schemeClr val="dk1"/>
                </a:solidFill>
                <a:latin typeface="Calibri"/>
                <a:ea typeface="Calibri"/>
                <a:cs typeface="Calibri"/>
                <a:sym typeface="Calibri"/>
              </a:rPr>
              <a:t>from right to left, multiplying the necessary partials to result in the final derivative </a:t>
            </a:r>
            <a:endParaRPr/>
          </a:p>
          <a:p>
            <a:pPr indent="0" lvl="0" marL="0" rtl="0" algn="l">
              <a:spcBef>
                <a:spcPts val="0"/>
              </a:spcBef>
              <a:spcAft>
                <a:spcPts val="0"/>
              </a:spcAft>
              <a:buNone/>
            </a:pPr>
            <a:r>
              <a:rPr lang="pt-BR" sz="1100">
                <a:solidFill>
                  <a:schemeClr val="dk1"/>
                </a:solidFill>
                <a:latin typeface="Calibri"/>
                <a:ea typeface="Calibri"/>
                <a:cs typeface="Calibri"/>
                <a:sym typeface="Calibri"/>
              </a:rPr>
              <a:t>we need. Thus we begin by annotating the final node with ∂ </a:t>
            </a:r>
            <a:r>
              <a:rPr i="1" lang="pt-BR" sz="1100">
                <a:solidFill>
                  <a:schemeClr val="dk1"/>
                </a:solidFill>
                <a:latin typeface="Calibri"/>
                <a:ea typeface="Calibri"/>
                <a:cs typeface="Calibri"/>
                <a:sym typeface="Calibri"/>
              </a:rPr>
              <a:t>L/</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L  </a:t>
            </a:r>
            <a:r>
              <a:rPr lang="pt-BR" sz="1100">
                <a:solidFill>
                  <a:schemeClr val="dk1"/>
                </a:solidFill>
                <a:latin typeface="Calibri"/>
                <a:ea typeface="Calibri"/>
                <a:cs typeface="Calibri"/>
                <a:sym typeface="Calibri"/>
              </a:rPr>
              <a:t>= 1. Moving to the</a:t>
            </a:r>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left, we then compute ∂ </a:t>
            </a:r>
            <a:r>
              <a:rPr i="1" lang="pt-BR" sz="1100">
                <a:solidFill>
                  <a:schemeClr val="dk1"/>
                </a:solidFill>
                <a:latin typeface="Calibri"/>
                <a:ea typeface="Calibri"/>
                <a:cs typeface="Calibri"/>
                <a:sym typeface="Calibri"/>
              </a:rPr>
              <a:t>L/</a:t>
            </a:r>
            <a:r>
              <a:rPr lang="pt-BR" sz="1100">
                <a:solidFill>
                  <a:schemeClr val="dk1"/>
                </a:solidFill>
                <a:latin typeface="Calibri"/>
                <a:ea typeface="Calibri"/>
                <a:cs typeface="Calibri"/>
                <a:sym typeface="Calibri"/>
              </a:rPr>
              <a:t> ∂</a:t>
            </a:r>
            <a:r>
              <a:rPr i="1" lang="pt-BR" sz="1100">
                <a:solidFill>
                  <a:schemeClr val="dk1"/>
                </a:solidFill>
                <a:latin typeface="Calibri"/>
                <a:ea typeface="Calibri"/>
                <a:cs typeface="Calibri"/>
                <a:sym typeface="Calibri"/>
              </a:rPr>
              <a:t>c  </a:t>
            </a:r>
            <a:r>
              <a:rPr lang="pt-BR" sz="1100">
                <a:solidFill>
                  <a:schemeClr val="dk1"/>
                </a:solidFill>
                <a:latin typeface="Calibri"/>
                <a:ea typeface="Calibri"/>
                <a:cs typeface="Calibri"/>
                <a:sym typeface="Calibri"/>
              </a:rPr>
              <a:t>and ∂</a:t>
            </a:r>
            <a:r>
              <a:rPr i="1" lang="pt-BR" sz="1100">
                <a:solidFill>
                  <a:schemeClr val="dk1"/>
                </a:solidFill>
                <a:latin typeface="Calibri"/>
                <a:ea typeface="Calibri"/>
                <a:cs typeface="Calibri"/>
                <a:sym typeface="Calibri"/>
              </a:rPr>
              <a:t>L/</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e </a:t>
            </a:r>
            <a:r>
              <a:rPr lang="pt-BR" sz="1100">
                <a:solidFill>
                  <a:schemeClr val="dk1"/>
                </a:solidFill>
                <a:latin typeface="Calibri"/>
                <a:ea typeface="Calibri"/>
                <a:cs typeface="Calibri"/>
                <a:sym typeface="Calibri"/>
              </a:rPr>
              <a:t>, and so on, until we have annotated the graph all the way to the input variables. The forward pass conveniently already will have computed the values of the forward intermediate variables we need (like </a:t>
            </a:r>
            <a:r>
              <a:rPr i="1" lang="pt-BR" sz="1100">
                <a:solidFill>
                  <a:schemeClr val="dk1"/>
                </a:solidFill>
                <a:latin typeface="Calibri"/>
                <a:ea typeface="Calibri"/>
                <a:cs typeface="Calibri"/>
                <a:sym typeface="Calibri"/>
              </a:rPr>
              <a:t>d </a:t>
            </a:r>
            <a:r>
              <a:rPr lang="pt-BR" sz="1100">
                <a:solidFill>
                  <a:schemeClr val="dk1"/>
                </a:solidFill>
                <a:latin typeface="Calibri"/>
                <a:ea typeface="Calibri"/>
                <a:cs typeface="Calibri"/>
                <a:sym typeface="Calibri"/>
              </a:rPr>
              <a:t>and </a:t>
            </a:r>
            <a:r>
              <a:rPr i="1" lang="pt-BR" sz="1100">
                <a:solidFill>
                  <a:schemeClr val="dk1"/>
                </a:solidFill>
                <a:latin typeface="Calibri"/>
                <a:ea typeface="Calibri"/>
                <a:cs typeface="Calibri"/>
                <a:sym typeface="Calibri"/>
              </a:rPr>
              <a:t>e</a:t>
            </a:r>
            <a:r>
              <a:rPr lang="pt-BR" sz="1100">
                <a:solidFill>
                  <a:schemeClr val="dk1"/>
                </a:solidFill>
                <a:latin typeface="Calibri"/>
                <a:ea typeface="Calibri"/>
                <a:cs typeface="Calibri"/>
                <a:sym typeface="Calibri"/>
              </a:rPr>
              <a:t>)  to compute these derivatives. </a:t>
            </a:r>
            <a:endParaRPr/>
          </a:p>
          <a:p>
            <a:pPr indent="0" lvl="0" marL="0" rtl="0" algn="l">
              <a:spcBef>
                <a:spcPts val="0"/>
              </a:spcBef>
              <a:spcAft>
                <a:spcPts val="0"/>
              </a:spcAft>
              <a:buNone/>
            </a:pPr>
            <a:r>
              <a:t/>
            </a:r>
            <a:endParaRPr/>
          </a:p>
        </p:txBody>
      </p:sp>
      <p:sp>
        <p:nvSpPr>
          <p:cNvPr id="608" name="Google Shape;608;h65f250d357b111bf_0_375: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h65f250d357b111bf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h65f250d357b111bf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h65f250d357b111bf_0_38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628" name="Google Shape;628;h65f250d357b111bf_0_386: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pt-BR" sz="1100">
                <a:solidFill>
                  <a:schemeClr val="dk1"/>
                </a:solidFill>
                <a:latin typeface="Calibri"/>
                <a:ea typeface="Calibri"/>
                <a:cs typeface="Calibri"/>
                <a:sym typeface="Calibri"/>
              </a:rPr>
              <a:t>n the backward pass, we compute each of these partials along each edge of the graph </a:t>
            </a:r>
            <a:endParaRPr/>
          </a:p>
          <a:p>
            <a:pPr indent="0" lvl="0" marL="0" rtl="0" algn="l">
              <a:spcBef>
                <a:spcPts val="0"/>
              </a:spcBef>
              <a:spcAft>
                <a:spcPts val="0"/>
              </a:spcAft>
              <a:buNone/>
            </a:pPr>
            <a:r>
              <a:rPr lang="pt-BR" sz="1100">
                <a:solidFill>
                  <a:schemeClr val="dk1"/>
                </a:solidFill>
                <a:latin typeface="Calibri"/>
                <a:ea typeface="Calibri"/>
                <a:cs typeface="Calibri"/>
                <a:sym typeface="Calibri"/>
              </a:rPr>
              <a:t>from right to left, multiplying the necessary partials to result in the final derivative </a:t>
            </a:r>
            <a:endParaRPr/>
          </a:p>
          <a:p>
            <a:pPr indent="0" lvl="0" marL="0" rtl="0" algn="l">
              <a:spcBef>
                <a:spcPts val="0"/>
              </a:spcBef>
              <a:spcAft>
                <a:spcPts val="0"/>
              </a:spcAft>
              <a:buNone/>
            </a:pPr>
            <a:r>
              <a:rPr lang="pt-BR" sz="1100">
                <a:solidFill>
                  <a:schemeClr val="dk1"/>
                </a:solidFill>
                <a:latin typeface="Calibri"/>
                <a:ea typeface="Calibri"/>
                <a:cs typeface="Calibri"/>
                <a:sym typeface="Calibri"/>
              </a:rPr>
              <a:t>we need.</a:t>
            </a:r>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At each node we need to compute the local partial derivative with respect to the parent, multiply it by the partial derivative that is being passed down from the parent, and then pass it to the child. </a:t>
            </a:r>
            <a:endParaRPr sz="1100"/>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pt-BR" sz="1100">
                <a:solidFill>
                  <a:schemeClr val="dk1"/>
                </a:solidFill>
                <a:latin typeface="Calibri"/>
                <a:ea typeface="Calibri"/>
                <a:cs typeface="Calibri"/>
                <a:sym typeface="Calibri"/>
              </a:rPr>
              <a:t> Thus we begin by annotating the final node with ∂ </a:t>
            </a:r>
            <a:r>
              <a:rPr i="1" lang="pt-BR" sz="1100">
                <a:solidFill>
                  <a:schemeClr val="dk1"/>
                </a:solidFill>
                <a:latin typeface="Calibri"/>
                <a:ea typeface="Calibri"/>
                <a:cs typeface="Calibri"/>
                <a:sym typeface="Calibri"/>
              </a:rPr>
              <a:t>L/</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L </a:t>
            </a:r>
            <a:r>
              <a:rPr lang="pt-BR" sz="1100">
                <a:solidFill>
                  <a:schemeClr val="dk1"/>
                </a:solidFill>
                <a:latin typeface="Calibri"/>
                <a:ea typeface="Calibri"/>
                <a:cs typeface="Calibri"/>
                <a:sym typeface="Calibri"/>
              </a:rPr>
              <a:t>= 1. Moving to the</a:t>
            </a:r>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left, we then compute ∂ </a:t>
            </a:r>
            <a:r>
              <a:rPr i="1" lang="pt-BR" sz="1100">
                <a:solidFill>
                  <a:schemeClr val="dk1"/>
                </a:solidFill>
                <a:latin typeface="Calibri"/>
                <a:ea typeface="Calibri"/>
                <a:cs typeface="Calibri"/>
                <a:sym typeface="Calibri"/>
              </a:rPr>
              <a:t>L/</a:t>
            </a:r>
            <a:r>
              <a:rPr lang="pt-BR" sz="1100">
                <a:solidFill>
                  <a:schemeClr val="dk1"/>
                </a:solidFill>
                <a:latin typeface="Calibri"/>
                <a:ea typeface="Calibri"/>
                <a:cs typeface="Calibri"/>
                <a:sym typeface="Calibri"/>
              </a:rPr>
              <a:t> ∂</a:t>
            </a:r>
            <a:r>
              <a:rPr i="1" lang="pt-BR" sz="1100">
                <a:solidFill>
                  <a:schemeClr val="dk1"/>
                </a:solidFill>
                <a:latin typeface="Calibri"/>
                <a:ea typeface="Calibri"/>
                <a:cs typeface="Calibri"/>
                <a:sym typeface="Calibri"/>
              </a:rPr>
              <a:t>c  </a:t>
            </a:r>
            <a:r>
              <a:rPr lang="pt-BR" sz="1100">
                <a:solidFill>
                  <a:schemeClr val="dk1"/>
                </a:solidFill>
                <a:latin typeface="Calibri"/>
                <a:ea typeface="Calibri"/>
                <a:cs typeface="Calibri"/>
                <a:sym typeface="Calibri"/>
              </a:rPr>
              <a:t>and ∂</a:t>
            </a:r>
            <a:r>
              <a:rPr i="1" lang="pt-BR" sz="1100">
                <a:solidFill>
                  <a:schemeClr val="dk1"/>
                </a:solidFill>
                <a:latin typeface="Calibri"/>
                <a:ea typeface="Calibri"/>
                <a:cs typeface="Calibri"/>
                <a:sym typeface="Calibri"/>
              </a:rPr>
              <a:t>L/</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e </a:t>
            </a:r>
            <a:r>
              <a:rPr lang="pt-BR" sz="1100">
                <a:solidFill>
                  <a:schemeClr val="dk1"/>
                </a:solidFill>
                <a:latin typeface="Calibri"/>
                <a:ea typeface="Calibri"/>
                <a:cs typeface="Calibri"/>
                <a:sym typeface="Calibri"/>
              </a:rPr>
              <a:t>, and so on, until we have annotated the graph all the way to the input variables. The forward pass conveniently already will have computed the values of the forward intermediate variables we need (like </a:t>
            </a:r>
            <a:r>
              <a:rPr i="1" lang="pt-BR" sz="1100">
                <a:solidFill>
                  <a:schemeClr val="dk1"/>
                </a:solidFill>
                <a:latin typeface="Calibri"/>
                <a:ea typeface="Calibri"/>
                <a:cs typeface="Calibri"/>
                <a:sym typeface="Calibri"/>
              </a:rPr>
              <a:t>d </a:t>
            </a:r>
            <a:r>
              <a:rPr lang="pt-BR" sz="1100">
                <a:solidFill>
                  <a:schemeClr val="dk1"/>
                </a:solidFill>
                <a:latin typeface="Calibri"/>
                <a:ea typeface="Calibri"/>
                <a:cs typeface="Calibri"/>
                <a:sym typeface="Calibri"/>
              </a:rPr>
              <a:t>and </a:t>
            </a:r>
            <a:r>
              <a:rPr i="1" lang="pt-BR" sz="1100">
                <a:solidFill>
                  <a:schemeClr val="dk1"/>
                </a:solidFill>
                <a:latin typeface="Calibri"/>
                <a:ea typeface="Calibri"/>
                <a:cs typeface="Calibri"/>
                <a:sym typeface="Calibri"/>
              </a:rPr>
              <a:t>e</a:t>
            </a:r>
            <a:r>
              <a:rPr lang="pt-BR" sz="1100">
                <a:solidFill>
                  <a:schemeClr val="dk1"/>
                </a:solidFill>
                <a:latin typeface="Calibri"/>
                <a:ea typeface="Calibri"/>
                <a:cs typeface="Calibri"/>
                <a:sym typeface="Calibri"/>
              </a:rPr>
              <a:t>)  to compute these derivatives. </a:t>
            </a:r>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800"/>
              <a:buFont typeface="Calibri"/>
              <a:buNone/>
            </a:pPr>
            <a:r>
              <a:t/>
            </a:r>
            <a:endParaRPr/>
          </a:p>
          <a:p>
            <a:pPr indent="0" lvl="0" marL="0" rtl="0" algn="l">
              <a:spcBef>
                <a:spcPts val="0"/>
              </a:spcBef>
              <a:spcAft>
                <a:spcPts val="0"/>
              </a:spcAft>
              <a:buNone/>
            </a:pPr>
            <a:r>
              <a:t/>
            </a:r>
            <a:endParaRPr/>
          </a:p>
        </p:txBody>
      </p:sp>
      <p:sp>
        <p:nvSpPr>
          <p:cNvPr id="629" name="Google Shape;629;h65f250d357b111bf_0_386: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h65f250d357b111bf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h65f250d357b111bf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pt-BR" sz="1200">
                <a:solidFill>
                  <a:schemeClr val="dk1"/>
                </a:solidFill>
                <a:latin typeface="Calibri"/>
                <a:ea typeface="Calibri"/>
                <a:cs typeface="Calibri"/>
                <a:sym typeface="Calibri"/>
              </a:rPr>
              <a:t>We're showing the activation function here as sigma, but it can be the sigmoid, tanh, or ReLU activation function we defined earlier.</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pt-BR" sz="1200">
                <a:solidFill>
                  <a:schemeClr val="dk1"/>
                </a:solidFill>
                <a:latin typeface="Calibri"/>
                <a:ea typeface="Calibri"/>
                <a:cs typeface="Calibri"/>
                <a:sym typeface="Calibri"/>
              </a:rPr>
              <a:t>Notice that we’re applying the σ function here to a vector, allowing σ(·), to apply to a vector element-wise, so </a:t>
            </a:r>
            <a:r>
              <a:rPr i="1" lang="pt-BR" sz="1200">
                <a:solidFill>
                  <a:schemeClr val="dk1"/>
                </a:solidFill>
                <a:latin typeface="Calibri"/>
                <a:ea typeface="Calibri"/>
                <a:cs typeface="Calibri"/>
                <a:sym typeface="Calibri"/>
              </a:rPr>
              <a:t>g</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1,</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2,</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3] = [</a:t>
            </a:r>
            <a:r>
              <a:rPr i="1" lang="pt-BR" sz="1200">
                <a:solidFill>
                  <a:schemeClr val="dk1"/>
                </a:solidFill>
                <a:latin typeface="Calibri"/>
                <a:ea typeface="Calibri"/>
                <a:cs typeface="Calibri"/>
                <a:sym typeface="Calibri"/>
              </a:rPr>
              <a:t>g</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1),</a:t>
            </a:r>
            <a:r>
              <a:rPr i="1" lang="pt-BR" sz="1200">
                <a:solidFill>
                  <a:schemeClr val="dk1"/>
                </a:solidFill>
                <a:latin typeface="Calibri"/>
                <a:ea typeface="Calibri"/>
                <a:cs typeface="Calibri"/>
                <a:sym typeface="Calibri"/>
              </a:rPr>
              <a:t>g</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2),</a:t>
            </a:r>
            <a:r>
              <a:rPr i="1" lang="pt-BR" sz="1200">
                <a:solidFill>
                  <a:schemeClr val="dk1"/>
                </a:solidFill>
                <a:latin typeface="Calibri"/>
                <a:ea typeface="Calibri"/>
                <a:cs typeface="Calibri"/>
                <a:sym typeface="Calibri"/>
              </a:rPr>
              <a:t>g</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3)]. </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pt-BR" sz="1200">
                <a:solidFill>
                  <a:schemeClr val="dk1"/>
                </a:solidFill>
                <a:latin typeface="Calibri"/>
                <a:ea typeface="Calibri"/>
                <a:cs typeface="Calibri"/>
                <a:sym typeface="Calibri"/>
              </a:rPr>
              <a:t>As we saw in the lecture on XOR, the resulting value </a:t>
            </a:r>
            <a:r>
              <a:rPr i="1" lang="pt-BR" sz="1200">
                <a:solidFill>
                  <a:schemeClr val="dk1"/>
                </a:solidFill>
                <a:latin typeface="Calibri"/>
                <a:ea typeface="Calibri"/>
                <a:cs typeface="Calibri"/>
                <a:sym typeface="Calibri"/>
              </a:rPr>
              <a:t>h </a:t>
            </a:r>
            <a:r>
              <a:rPr lang="pt-BR" sz="1200">
                <a:solidFill>
                  <a:schemeClr val="dk1"/>
                </a:solidFill>
                <a:latin typeface="Calibri"/>
                <a:ea typeface="Calibri"/>
                <a:cs typeface="Calibri"/>
                <a:sym typeface="Calibri"/>
              </a:rPr>
              <a:t>(for </a:t>
            </a:r>
            <a:r>
              <a:rPr i="1" lang="pt-BR" sz="1200">
                <a:solidFill>
                  <a:schemeClr val="dk1"/>
                </a:solidFill>
                <a:latin typeface="Calibri"/>
                <a:ea typeface="Calibri"/>
                <a:cs typeface="Calibri"/>
                <a:sym typeface="Calibri"/>
              </a:rPr>
              <a:t>hidden</a:t>
            </a:r>
            <a:r>
              <a:rPr lang="pt-BR" sz="1200">
                <a:solidFill>
                  <a:schemeClr val="dk1"/>
                </a:solidFill>
                <a:latin typeface="Calibri"/>
                <a:ea typeface="Calibri"/>
                <a:cs typeface="Calibri"/>
                <a:sym typeface="Calibri"/>
              </a:rPr>
              <a:t>) forms a </a:t>
            </a:r>
            <a:r>
              <a:rPr i="1" lang="pt-BR" sz="1200">
                <a:solidFill>
                  <a:schemeClr val="dk1"/>
                </a:solidFill>
                <a:latin typeface="Calibri"/>
                <a:ea typeface="Calibri"/>
                <a:cs typeface="Calibri"/>
                <a:sym typeface="Calibri"/>
              </a:rPr>
              <a:t>representation </a:t>
            </a:r>
            <a:r>
              <a:rPr lang="pt-BR" sz="1200">
                <a:solidFill>
                  <a:schemeClr val="dk1"/>
                </a:solidFill>
                <a:latin typeface="Calibri"/>
                <a:ea typeface="Calibri"/>
                <a:cs typeface="Calibri"/>
                <a:sym typeface="Calibri"/>
              </a:rPr>
              <a:t>of the input. The role of the output layer is to take this new representation </a:t>
            </a:r>
            <a:r>
              <a:rPr i="1" lang="pt-BR" sz="1200">
                <a:solidFill>
                  <a:schemeClr val="dk1"/>
                </a:solidFill>
                <a:latin typeface="Calibri"/>
                <a:ea typeface="Calibri"/>
                <a:cs typeface="Calibri"/>
                <a:sym typeface="Calibri"/>
              </a:rPr>
              <a:t>h </a:t>
            </a:r>
            <a:r>
              <a:rPr lang="pt-BR" sz="1200">
                <a:solidFill>
                  <a:schemeClr val="dk1"/>
                </a:solidFill>
                <a:latin typeface="Calibri"/>
                <a:ea typeface="Calibri"/>
                <a:cs typeface="Calibri"/>
                <a:sym typeface="Calibri"/>
              </a:rPr>
              <a:t>and compute a final output. This output could be a real- valued number, but in many cases the goal of the network is to make some sort of classification decision, and so we will focus on the case of classification. </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pt-BR" sz="1200">
                <a:solidFill>
                  <a:schemeClr val="dk1"/>
                </a:solidFill>
                <a:latin typeface="Calibri"/>
                <a:ea typeface="Calibri"/>
                <a:cs typeface="Calibri"/>
                <a:sym typeface="Calibri"/>
              </a:rPr>
              <a:t>If we are doing a binary task like sentiment classification, we might have a single output node, and its value </a:t>
            </a:r>
            <a:r>
              <a:rPr i="1" lang="pt-BR" sz="1200">
                <a:solidFill>
                  <a:schemeClr val="dk1"/>
                </a:solidFill>
                <a:latin typeface="Calibri"/>
                <a:ea typeface="Calibri"/>
                <a:cs typeface="Calibri"/>
                <a:sym typeface="Calibri"/>
              </a:rPr>
              <a:t>y </a:t>
            </a:r>
            <a:r>
              <a:rPr lang="pt-BR" sz="1200">
                <a:solidFill>
                  <a:schemeClr val="dk1"/>
                </a:solidFill>
                <a:latin typeface="Calibri"/>
                <a:ea typeface="Calibri"/>
                <a:cs typeface="Calibri"/>
                <a:sym typeface="Calibri"/>
              </a:rPr>
              <a:t>is the probability of positive versus negative sentiment. </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pt-BR" sz="1200">
                <a:solidFill>
                  <a:schemeClr val="dk1"/>
                </a:solidFill>
                <a:latin typeface="Calibri"/>
                <a:ea typeface="Calibri"/>
                <a:cs typeface="Calibri"/>
                <a:sym typeface="Calibri"/>
              </a:rPr>
              <a:t>The output layer has a weight matrix </a:t>
            </a:r>
            <a:r>
              <a:rPr i="1" lang="pt-BR" sz="1200">
                <a:solidFill>
                  <a:schemeClr val="dk1"/>
                </a:solidFill>
                <a:latin typeface="Calibri"/>
                <a:ea typeface="Calibri"/>
                <a:cs typeface="Calibri"/>
                <a:sym typeface="Calibri"/>
              </a:rPr>
              <a:t>U</a:t>
            </a:r>
            <a:r>
              <a:rPr lang="pt-BR" sz="1200">
                <a:solidFill>
                  <a:schemeClr val="dk1"/>
                </a:solidFill>
                <a:latin typeface="Calibri"/>
                <a:ea typeface="Calibri"/>
                <a:cs typeface="Calibri"/>
                <a:sym typeface="Calibri"/>
              </a:rPr>
              <a:t>, but some models don’t include a bias vector </a:t>
            </a:r>
            <a:r>
              <a:rPr i="1" lang="pt-BR" sz="1200">
                <a:solidFill>
                  <a:schemeClr val="dk1"/>
                </a:solidFill>
                <a:latin typeface="Calibri"/>
                <a:ea typeface="Calibri"/>
                <a:cs typeface="Calibri"/>
                <a:sym typeface="Calibri"/>
              </a:rPr>
              <a:t>b </a:t>
            </a:r>
            <a:r>
              <a:rPr lang="pt-BR" sz="1200">
                <a:solidFill>
                  <a:schemeClr val="dk1"/>
                </a:solidFill>
                <a:latin typeface="Calibri"/>
                <a:ea typeface="Calibri"/>
                <a:cs typeface="Calibri"/>
                <a:sym typeface="Calibri"/>
              </a:rPr>
              <a:t>in the output layer, so we’ll simplify by eliminating the bias vector in this example. The weight matrix is multiplied by its input vector (</a:t>
            </a:r>
            <a:r>
              <a:rPr i="1" lang="pt-BR" sz="1200">
                <a:solidFill>
                  <a:schemeClr val="dk1"/>
                </a:solidFill>
                <a:latin typeface="Calibri"/>
                <a:ea typeface="Calibri"/>
                <a:cs typeface="Calibri"/>
                <a:sym typeface="Calibri"/>
              </a:rPr>
              <a:t>h</a:t>
            </a:r>
            <a:r>
              <a:rPr lang="pt-BR" sz="1200">
                <a:solidFill>
                  <a:schemeClr val="dk1"/>
                </a:solidFill>
                <a:latin typeface="Calibri"/>
                <a:ea typeface="Calibri"/>
                <a:cs typeface="Calibri"/>
                <a:sym typeface="Calibri"/>
              </a:rPr>
              <a:t>) to produce the intermediate output </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Uh </a:t>
            </a:r>
            <a:endParaRPr sz="900">
              <a:solidFill>
                <a:schemeClr val="dk1"/>
              </a:solidFill>
              <a:latin typeface="Calibri"/>
              <a:ea typeface="Calibri"/>
              <a:cs typeface="Calibri"/>
              <a:sym typeface="Calibri"/>
            </a:endParaRPr>
          </a:p>
          <a:p>
            <a:pPr indent="0" lvl="0" marL="0" rtl="0" algn="l">
              <a:spcBef>
                <a:spcPts val="0"/>
              </a:spcBef>
              <a:spcAft>
                <a:spcPts val="0"/>
              </a:spcAft>
              <a:buNone/>
            </a:pPr>
            <a:r>
              <a:rPr lang="pt-BR" sz="1200">
                <a:solidFill>
                  <a:schemeClr val="dk1"/>
                </a:solidFill>
                <a:latin typeface="Calibri"/>
                <a:ea typeface="Calibri"/>
                <a:cs typeface="Calibri"/>
                <a:sym typeface="Calibri"/>
              </a:rPr>
              <a:t>And then we use the sigmoid to turn this into a probability.</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h65f250d357b111bf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h65f250d357b111bf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h36ece97b36a83fc5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h36ece97b36a83fc5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h36ece97b36a83fc5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h36ece97b36a83fc5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h36ece97b36a83fc5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h36ece97b36a83fc5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h65f250d357b111bf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h65f250d357b111bf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h65f250d357b111bf_0_8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h65f250d357b111bf_0_8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h65f250d357b111bf_0_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h65f250d357b111bf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h65f250d357b111bf_0_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h65f250d357b111bf_0_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h65f250d357b111bf_0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h65f250d357b111bf_0_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h65f250d357b111bf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h65f250d357b111bf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h65f250d357b111bf_0_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h65f250d357b111bf_0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h65f250d357b111bf_0_9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h65f250d357b111bf_0_9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h65f250d357b111bf_0_1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7" name="Google Shape;1027;h65f250d357b111bf_0_10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h65f250d357b111bf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3" name="Google Shape;1053;h65f250d357b111bf_0_10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5" name="Google Shape;106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h3dfd21779b5c0a0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h3dfd21779b5c0a0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f6939d4d9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8" name="Google Shape;1078;g3f6939d4d94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6F6476"/>
        </a:solidFill>
      </p:bgPr>
    </p:bg>
    <p:spTree>
      <p:nvGrpSpPr>
        <p:cNvPr id="9" name="Shape 9"/>
        <p:cNvGrpSpPr/>
        <p:nvPr/>
      </p:nvGrpSpPr>
      <p:grpSpPr>
        <a:xfrm>
          <a:off x="0" y="0"/>
          <a:ext cx="0" cy="0"/>
          <a:chOff x="0" y="0"/>
          <a:chExt cx="0" cy="0"/>
        </a:xfrm>
      </p:grpSpPr>
      <p:sp>
        <p:nvSpPr>
          <p:cNvPr id="10" name="Google Shape;1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4000"/>
              <a:buNone/>
              <a:defRPr sz="4000">
                <a:solidFill>
                  <a:schemeClr val="lt1"/>
                </a:solidFill>
              </a:defRPr>
            </a:lvl1pPr>
            <a:lvl2pPr lvl="1" algn="ctr">
              <a:lnSpc>
                <a:spcPct val="100000"/>
              </a:lnSpc>
              <a:spcBef>
                <a:spcPts val="0"/>
              </a:spcBef>
              <a:spcAft>
                <a:spcPts val="0"/>
              </a:spcAft>
              <a:buClr>
                <a:schemeClr val="lt1"/>
              </a:buClr>
              <a:buSzPts val="5200"/>
              <a:buNone/>
              <a:defRPr sz="5200">
                <a:solidFill>
                  <a:schemeClr val="lt1"/>
                </a:solidFill>
              </a:defRPr>
            </a:lvl2pPr>
            <a:lvl3pPr lvl="2" algn="ctr">
              <a:lnSpc>
                <a:spcPct val="100000"/>
              </a:lnSpc>
              <a:spcBef>
                <a:spcPts val="0"/>
              </a:spcBef>
              <a:spcAft>
                <a:spcPts val="0"/>
              </a:spcAft>
              <a:buClr>
                <a:schemeClr val="lt1"/>
              </a:buClr>
              <a:buSzPts val="5200"/>
              <a:buNone/>
              <a:defRPr sz="5200">
                <a:solidFill>
                  <a:schemeClr val="lt1"/>
                </a:solidFill>
              </a:defRPr>
            </a:lvl3pPr>
            <a:lvl4pPr lvl="3" algn="ctr">
              <a:lnSpc>
                <a:spcPct val="100000"/>
              </a:lnSpc>
              <a:spcBef>
                <a:spcPts val="0"/>
              </a:spcBef>
              <a:spcAft>
                <a:spcPts val="0"/>
              </a:spcAft>
              <a:buClr>
                <a:schemeClr val="lt1"/>
              </a:buClr>
              <a:buSzPts val="5200"/>
              <a:buNone/>
              <a:defRPr sz="5200">
                <a:solidFill>
                  <a:schemeClr val="lt1"/>
                </a:solidFill>
              </a:defRPr>
            </a:lvl4pPr>
            <a:lvl5pPr lvl="4" algn="ctr">
              <a:lnSpc>
                <a:spcPct val="100000"/>
              </a:lnSpc>
              <a:spcBef>
                <a:spcPts val="0"/>
              </a:spcBef>
              <a:spcAft>
                <a:spcPts val="0"/>
              </a:spcAft>
              <a:buClr>
                <a:schemeClr val="lt1"/>
              </a:buClr>
              <a:buSzPts val="5200"/>
              <a:buNone/>
              <a:defRPr sz="5200">
                <a:solidFill>
                  <a:schemeClr val="lt1"/>
                </a:solidFill>
              </a:defRPr>
            </a:lvl5pPr>
            <a:lvl6pPr lvl="5" algn="ctr">
              <a:lnSpc>
                <a:spcPct val="100000"/>
              </a:lnSpc>
              <a:spcBef>
                <a:spcPts val="0"/>
              </a:spcBef>
              <a:spcAft>
                <a:spcPts val="0"/>
              </a:spcAft>
              <a:buClr>
                <a:schemeClr val="lt1"/>
              </a:buClr>
              <a:buSzPts val="5200"/>
              <a:buNone/>
              <a:defRPr sz="5200">
                <a:solidFill>
                  <a:schemeClr val="lt1"/>
                </a:solidFill>
              </a:defRPr>
            </a:lvl6pPr>
            <a:lvl7pPr lvl="6" algn="ctr">
              <a:lnSpc>
                <a:spcPct val="100000"/>
              </a:lnSpc>
              <a:spcBef>
                <a:spcPts val="0"/>
              </a:spcBef>
              <a:spcAft>
                <a:spcPts val="0"/>
              </a:spcAft>
              <a:buClr>
                <a:schemeClr val="lt1"/>
              </a:buClr>
              <a:buSzPts val="5200"/>
              <a:buNone/>
              <a:defRPr sz="5200">
                <a:solidFill>
                  <a:schemeClr val="lt1"/>
                </a:solidFill>
              </a:defRPr>
            </a:lvl7pPr>
            <a:lvl8pPr lvl="7" algn="ctr">
              <a:lnSpc>
                <a:spcPct val="100000"/>
              </a:lnSpc>
              <a:spcBef>
                <a:spcPts val="0"/>
              </a:spcBef>
              <a:spcAft>
                <a:spcPts val="0"/>
              </a:spcAft>
              <a:buClr>
                <a:schemeClr val="lt1"/>
              </a:buClr>
              <a:buSzPts val="5200"/>
              <a:buNone/>
              <a:defRPr sz="5200">
                <a:solidFill>
                  <a:schemeClr val="lt1"/>
                </a:solidFill>
              </a:defRPr>
            </a:lvl8pPr>
            <a:lvl9pPr lvl="8" algn="ctr">
              <a:lnSpc>
                <a:spcPct val="100000"/>
              </a:lnSpc>
              <a:spcBef>
                <a:spcPts val="0"/>
              </a:spcBef>
              <a:spcAft>
                <a:spcPts val="0"/>
              </a:spcAft>
              <a:buClr>
                <a:schemeClr val="lt1"/>
              </a:buClr>
              <a:buSzPts val="5200"/>
              <a:buNone/>
              <a:defRPr sz="5200">
                <a:solidFill>
                  <a:schemeClr val="lt1"/>
                </a:solidFill>
              </a:defRPr>
            </a:lvl9pPr>
          </a:lstStyle>
          <a:p/>
        </p:txBody>
      </p:sp>
      <p:sp>
        <p:nvSpPr>
          <p:cNvPr id="11" name="Google Shape;1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B7B7B7"/>
              </a:buClr>
              <a:buSzPts val="2000"/>
              <a:buNone/>
              <a:defRPr sz="2000">
                <a:solidFill>
                  <a:srgbClr val="B7B7B7"/>
                </a:solidFill>
              </a:defRPr>
            </a:lvl1pPr>
            <a:lvl2pPr lvl="1" algn="ctr">
              <a:lnSpc>
                <a:spcPct val="100000"/>
              </a:lnSpc>
              <a:spcBef>
                <a:spcPts val="0"/>
              </a:spcBef>
              <a:spcAft>
                <a:spcPts val="0"/>
              </a:spcAft>
              <a:buClr>
                <a:srgbClr val="B7B7B7"/>
              </a:buClr>
              <a:buSzPts val="2000"/>
              <a:buNone/>
              <a:defRPr sz="2000">
                <a:solidFill>
                  <a:srgbClr val="B7B7B7"/>
                </a:solidFill>
              </a:defRPr>
            </a:lvl2pPr>
            <a:lvl3pPr lvl="2" algn="ctr">
              <a:lnSpc>
                <a:spcPct val="100000"/>
              </a:lnSpc>
              <a:spcBef>
                <a:spcPts val="0"/>
              </a:spcBef>
              <a:spcAft>
                <a:spcPts val="0"/>
              </a:spcAft>
              <a:buClr>
                <a:srgbClr val="B7B7B7"/>
              </a:buClr>
              <a:buSzPts val="2000"/>
              <a:buNone/>
              <a:defRPr sz="2000">
                <a:solidFill>
                  <a:srgbClr val="B7B7B7"/>
                </a:solidFill>
              </a:defRPr>
            </a:lvl3pPr>
            <a:lvl4pPr lvl="3" algn="ctr">
              <a:lnSpc>
                <a:spcPct val="100000"/>
              </a:lnSpc>
              <a:spcBef>
                <a:spcPts val="0"/>
              </a:spcBef>
              <a:spcAft>
                <a:spcPts val="0"/>
              </a:spcAft>
              <a:buClr>
                <a:srgbClr val="B7B7B7"/>
              </a:buClr>
              <a:buSzPts val="2000"/>
              <a:buNone/>
              <a:defRPr sz="2000">
                <a:solidFill>
                  <a:srgbClr val="B7B7B7"/>
                </a:solidFill>
              </a:defRPr>
            </a:lvl4pPr>
            <a:lvl5pPr lvl="4" algn="ctr">
              <a:lnSpc>
                <a:spcPct val="100000"/>
              </a:lnSpc>
              <a:spcBef>
                <a:spcPts val="0"/>
              </a:spcBef>
              <a:spcAft>
                <a:spcPts val="0"/>
              </a:spcAft>
              <a:buClr>
                <a:srgbClr val="B7B7B7"/>
              </a:buClr>
              <a:buSzPts val="2000"/>
              <a:buNone/>
              <a:defRPr sz="2000">
                <a:solidFill>
                  <a:srgbClr val="B7B7B7"/>
                </a:solidFill>
              </a:defRPr>
            </a:lvl5pPr>
            <a:lvl6pPr lvl="5" algn="ctr">
              <a:lnSpc>
                <a:spcPct val="100000"/>
              </a:lnSpc>
              <a:spcBef>
                <a:spcPts val="0"/>
              </a:spcBef>
              <a:spcAft>
                <a:spcPts val="0"/>
              </a:spcAft>
              <a:buClr>
                <a:srgbClr val="B7B7B7"/>
              </a:buClr>
              <a:buSzPts val="2000"/>
              <a:buNone/>
              <a:defRPr sz="2000">
                <a:solidFill>
                  <a:srgbClr val="B7B7B7"/>
                </a:solidFill>
              </a:defRPr>
            </a:lvl6pPr>
            <a:lvl7pPr lvl="6" algn="ctr">
              <a:lnSpc>
                <a:spcPct val="100000"/>
              </a:lnSpc>
              <a:spcBef>
                <a:spcPts val="0"/>
              </a:spcBef>
              <a:spcAft>
                <a:spcPts val="0"/>
              </a:spcAft>
              <a:buClr>
                <a:srgbClr val="B7B7B7"/>
              </a:buClr>
              <a:buSzPts val="2000"/>
              <a:buNone/>
              <a:defRPr sz="2000">
                <a:solidFill>
                  <a:srgbClr val="B7B7B7"/>
                </a:solidFill>
              </a:defRPr>
            </a:lvl7pPr>
            <a:lvl8pPr lvl="7" algn="ctr">
              <a:lnSpc>
                <a:spcPct val="100000"/>
              </a:lnSpc>
              <a:spcBef>
                <a:spcPts val="0"/>
              </a:spcBef>
              <a:spcAft>
                <a:spcPts val="0"/>
              </a:spcAft>
              <a:buClr>
                <a:srgbClr val="B7B7B7"/>
              </a:buClr>
              <a:buSzPts val="2000"/>
              <a:buNone/>
              <a:defRPr sz="2000">
                <a:solidFill>
                  <a:srgbClr val="B7B7B7"/>
                </a:solidFill>
              </a:defRPr>
            </a:lvl8pPr>
            <a:lvl9pPr lvl="8" algn="ctr">
              <a:lnSpc>
                <a:spcPct val="100000"/>
              </a:lnSpc>
              <a:spcBef>
                <a:spcPts val="0"/>
              </a:spcBef>
              <a:spcAft>
                <a:spcPts val="0"/>
              </a:spcAft>
              <a:buClr>
                <a:srgbClr val="B7B7B7"/>
              </a:buClr>
              <a:buSzPts val="2000"/>
              <a:buNone/>
              <a:defRPr sz="2000">
                <a:solidFill>
                  <a:srgbClr val="B7B7B7"/>
                </a:solidFill>
              </a:defRPr>
            </a:lvl9pPr>
          </a:lstStyle>
          <a:p/>
        </p:txBody>
      </p:sp>
      <p:sp>
        <p:nvSpPr>
          <p:cNvPr id="12" name="Google Shape;1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419100" lvl="0" marL="457200" algn="l">
              <a:lnSpc>
                <a:spcPct val="115000"/>
              </a:lnSpc>
              <a:spcBef>
                <a:spcPts val="0"/>
              </a:spcBef>
              <a:spcAft>
                <a:spcPts val="0"/>
              </a:spcAft>
              <a:buSzPts val="3000"/>
              <a:buChar char="●"/>
              <a:defRPr/>
            </a:lvl1pPr>
            <a:lvl2pPr indent="-381000" lvl="1" marL="914400" algn="l">
              <a:lnSpc>
                <a:spcPct val="115000"/>
              </a:lnSpc>
              <a:spcBef>
                <a:spcPts val="1600"/>
              </a:spcBef>
              <a:spcAft>
                <a:spcPts val="0"/>
              </a:spcAft>
              <a:buSzPts val="2400"/>
              <a:buChar char="○"/>
              <a:defRPr/>
            </a:lvl2pPr>
            <a:lvl3pPr indent="-342900" lvl="2" marL="1371600" algn="l">
              <a:lnSpc>
                <a:spcPct val="115000"/>
              </a:lnSpc>
              <a:spcBef>
                <a:spcPts val="1600"/>
              </a:spcBef>
              <a:spcAft>
                <a:spcPts val="0"/>
              </a:spcAft>
              <a:buSzPts val="18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 name="Shape 20"/>
        <p:cNvGrpSpPr/>
        <p:nvPr/>
      </p:nvGrpSpPr>
      <p:grpSpPr>
        <a:xfrm>
          <a:off x="0" y="0"/>
          <a:ext cx="0" cy="0"/>
          <a:chOff x="0" y="0"/>
          <a:chExt cx="0" cy="0"/>
        </a:xfrm>
      </p:grpSpPr>
      <p:sp>
        <p:nvSpPr>
          <p:cNvPr id="21" name="Google Shape;21;p12"/>
          <p:cNvSpPr/>
          <p:nvPr/>
        </p:nvSpPr>
        <p:spPr>
          <a:xfrm>
            <a:off x="0" y="-125"/>
            <a:ext cx="4572000" cy="5143500"/>
          </a:xfrm>
          <a:prstGeom prst="rect">
            <a:avLst/>
          </a:prstGeom>
          <a:solidFill>
            <a:srgbClr val="6F64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B2E2C"/>
              </a:solidFill>
              <a:latin typeface="Arial"/>
              <a:ea typeface="Arial"/>
              <a:cs typeface="Arial"/>
              <a:sym typeface="Arial"/>
            </a:endParaRPr>
          </a:p>
        </p:txBody>
      </p:sp>
      <p:sp>
        <p:nvSpPr>
          <p:cNvPr id="22" name="Google Shape;22;p1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3000"/>
              <a:buNone/>
              <a:defRPr sz="30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p:txBody>
      </p:sp>
      <p:sp>
        <p:nvSpPr>
          <p:cNvPr id="23" name="Google Shape;23;p1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D9D9D9"/>
              </a:buClr>
              <a:buSzPts val="1400"/>
              <a:buNone/>
              <a:defRPr sz="1400">
                <a:solidFill>
                  <a:srgbClr val="D9D9D9"/>
                </a:solidFill>
              </a:defRPr>
            </a:lvl1pPr>
            <a:lvl2pPr lvl="1" algn="ctr">
              <a:lnSpc>
                <a:spcPct val="100000"/>
              </a:lnSpc>
              <a:spcBef>
                <a:spcPts val="0"/>
              </a:spcBef>
              <a:spcAft>
                <a:spcPts val="0"/>
              </a:spcAft>
              <a:buClr>
                <a:srgbClr val="D9D9D9"/>
              </a:buClr>
              <a:buSzPts val="2400"/>
              <a:buNone/>
              <a:defRPr>
                <a:solidFill>
                  <a:srgbClr val="D9D9D9"/>
                </a:solidFill>
              </a:defRPr>
            </a:lvl2pPr>
            <a:lvl3pPr lvl="2" algn="ctr">
              <a:lnSpc>
                <a:spcPct val="100000"/>
              </a:lnSpc>
              <a:spcBef>
                <a:spcPts val="0"/>
              </a:spcBef>
              <a:spcAft>
                <a:spcPts val="0"/>
              </a:spcAft>
              <a:buClr>
                <a:srgbClr val="D9D9D9"/>
              </a:buClr>
              <a:buSzPts val="1800"/>
              <a:buNone/>
              <a:defRPr>
                <a:solidFill>
                  <a:srgbClr val="D9D9D9"/>
                </a:solidFill>
              </a:defRPr>
            </a:lvl3pPr>
            <a:lvl4pPr lvl="3" algn="ctr">
              <a:lnSpc>
                <a:spcPct val="100000"/>
              </a:lnSpc>
              <a:spcBef>
                <a:spcPts val="0"/>
              </a:spcBef>
              <a:spcAft>
                <a:spcPts val="0"/>
              </a:spcAft>
              <a:buClr>
                <a:srgbClr val="D9D9D9"/>
              </a:buClr>
              <a:buSzPts val="1400"/>
              <a:buNone/>
              <a:defRPr>
                <a:solidFill>
                  <a:srgbClr val="D9D9D9"/>
                </a:solidFill>
              </a:defRPr>
            </a:lvl4pPr>
            <a:lvl5pPr lvl="4" algn="ctr">
              <a:lnSpc>
                <a:spcPct val="100000"/>
              </a:lnSpc>
              <a:spcBef>
                <a:spcPts val="0"/>
              </a:spcBef>
              <a:spcAft>
                <a:spcPts val="0"/>
              </a:spcAft>
              <a:buClr>
                <a:srgbClr val="D9D9D9"/>
              </a:buClr>
              <a:buSzPts val="1400"/>
              <a:buNone/>
              <a:defRPr>
                <a:solidFill>
                  <a:srgbClr val="D9D9D9"/>
                </a:solidFill>
              </a:defRPr>
            </a:lvl5pPr>
            <a:lvl6pPr lvl="5" algn="ctr">
              <a:lnSpc>
                <a:spcPct val="100000"/>
              </a:lnSpc>
              <a:spcBef>
                <a:spcPts val="0"/>
              </a:spcBef>
              <a:spcAft>
                <a:spcPts val="0"/>
              </a:spcAft>
              <a:buClr>
                <a:srgbClr val="D9D9D9"/>
              </a:buClr>
              <a:buSzPts val="1400"/>
              <a:buNone/>
              <a:defRPr>
                <a:solidFill>
                  <a:srgbClr val="D9D9D9"/>
                </a:solidFill>
              </a:defRPr>
            </a:lvl6pPr>
            <a:lvl7pPr lvl="6" algn="ctr">
              <a:lnSpc>
                <a:spcPct val="100000"/>
              </a:lnSpc>
              <a:spcBef>
                <a:spcPts val="0"/>
              </a:spcBef>
              <a:spcAft>
                <a:spcPts val="0"/>
              </a:spcAft>
              <a:buClr>
                <a:srgbClr val="D9D9D9"/>
              </a:buClr>
              <a:buSzPts val="1400"/>
              <a:buNone/>
              <a:defRPr>
                <a:solidFill>
                  <a:srgbClr val="D9D9D9"/>
                </a:solidFill>
              </a:defRPr>
            </a:lvl7pPr>
            <a:lvl8pPr lvl="7" algn="ctr">
              <a:lnSpc>
                <a:spcPct val="100000"/>
              </a:lnSpc>
              <a:spcBef>
                <a:spcPts val="0"/>
              </a:spcBef>
              <a:spcAft>
                <a:spcPts val="0"/>
              </a:spcAft>
              <a:buClr>
                <a:srgbClr val="D9D9D9"/>
              </a:buClr>
              <a:buSzPts val="1400"/>
              <a:buNone/>
              <a:defRPr>
                <a:solidFill>
                  <a:srgbClr val="D9D9D9"/>
                </a:solidFill>
              </a:defRPr>
            </a:lvl8pPr>
            <a:lvl9pPr lvl="8" algn="ctr">
              <a:lnSpc>
                <a:spcPct val="100000"/>
              </a:lnSpc>
              <a:spcBef>
                <a:spcPts val="0"/>
              </a:spcBef>
              <a:spcAft>
                <a:spcPts val="0"/>
              </a:spcAft>
              <a:buClr>
                <a:srgbClr val="D9D9D9"/>
              </a:buClr>
              <a:buSzPts val="1400"/>
              <a:buNone/>
              <a:defRPr>
                <a:solidFill>
                  <a:srgbClr val="D9D9D9"/>
                </a:solidFill>
              </a:defRPr>
            </a:lvl9pPr>
          </a:lstStyle>
          <a:p/>
        </p:txBody>
      </p:sp>
      <p:sp>
        <p:nvSpPr>
          <p:cNvPr id="24" name="Google Shape;24;p1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419100" lvl="0" marL="457200" algn="l">
              <a:lnSpc>
                <a:spcPct val="115000"/>
              </a:lnSpc>
              <a:spcBef>
                <a:spcPts val="0"/>
              </a:spcBef>
              <a:spcAft>
                <a:spcPts val="0"/>
              </a:spcAft>
              <a:buClr>
                <a:schemeClr val="dk1"/>
              </a:buClr>
              <a:buSzPts val="3000"/>
              <a:buChar char="●"/>
              <a:defRPr>
                <a:solidFill>
                  <a:schemeClr val="dk1"/>
                </a:solidFill>
              </a:defRPr>
            </a:lvl1pPr>
            <a:lvl2pPr indent="-381000" lvl="1" marL="914400" algn="l">
              <a:lnSpc>
                <a:spcPct val="115000"/>
              </a:lnSpc>
              <a:spcBef>
                <a:spcPts val="1600"/>
              </a:spcBef>
              <a:spcAft>
                <a:spcPts val="0"/>
              </a:spcAft>
              <a:buClr>
                <a:schemeClr val="dk1"/>
              </a:buClr>
              <a:buSzPts val="2400"/>
              <a:buChar char="○"/>
              <a:defRPr>
                <a:solidFill>
                  <a:schemeClr val="dk1"/>
                </a:solidFill>
              </a:defRPr>
            </a:lvl2pPr>
            <a:lvl3pPr indent="-342900" lvl="2" marL="1371600" algn="l">
              <a:lnSpc>
                <a:spcPct val="115000"/>
              </a:lnSpc>
              <a:spcBef>
                <a:spcPts val="1600"/>
              </a:spcBef>
              <a:spcAft>
                <a:spcPts val="0"/>
              </a:spcAft>
              <a:buClr>
                <a:schemeClr val="dk1"/>
              </a:buClr>
              <a:buSzPts val="1800"/>
              <a:buChar char="■"/>
              <a:defRPr>
                <a:solidFill>
                  <a:schemeClr val="dk1"/>
                </a:solidFill>
              </a:defRPr>
            </a:lvl3pPr>
            <a:lvl4pPr indent="-317500" lvl="3" marL="1828800" algn="l">
              <a:lnSpc>
                <a:spcPct val="115000"/>
              </a:lnSpc>
              <a:spcBef>
                <a:spcPts val="1600"/>
              </a:spcBef>
              <a:spcAft>
                <a:spcPts val="0"/>
              </a:spcAft>
              <a:buClr>
                <a:schemeClr val="dk1"/>
              </a:buClr>
              <a:buSzPts val="1400"/>
              <a:buChar char="●"/>
              <a:defRPr>
                <a:solidFill>
                  <a:schemeClr val="dk1"/>
                </a:solidFill>
              </a:defRPr>
            </a:lvl4pPr>
            <a:lvl5pPr indent="-317500" lvl="4" marL="2286000" algn="l">
              <a:lnSpc>
                <a:spcPct val="115000"/>
              </a:lnSpc>
              <a:spcBef>
                <a:spcPts val="1600"/>
              </a:spcBef>
              <a:spcAft>
                <a:spcPts val="0"/>
              </a:spcAft>
              <a:buClr>
                <a:schemeClr val="dk1"/>
              </a:buClr>
              <a:buSzPts val="1400"/>
              <a:buChar char="○"/>
              <a:defRPr>
                <a:solidFill>
                  <a:schemeClr val="dk1"/>
                </a:solidFill>
              </a:defRPr>
            </a:lvl5pPr>
            <a:lvl6pPr indent="-317500" lvl="5" marL="2743200" algn="l">
              <a:lnSpc>
                <a:spcPct val="115000"/>
              </a:lnSpc>
              <a:spcBef>
                <a:spcPts val="1600"/>
              </a:spcBef>
              <a:spcAft>
                <a:spcPts val="0"/>
              </a:spcAft>
              <a:buClr>
                <a:schemeClr val="dk1"/>
              </a:buClr>
              <a:buSzPts val="1400"/>
              <a:buChar char="■"/>
              <a:defRPr>
                <a:solidFill>
                  <a:schemeClr val="dk1"/>
                </a:solidFill>
              </a:defRPr>
            </a:lvl6pPr>
            <a:lvl7pPr indent="-317500" lvl="6" marL="3200400" algn="l">
              <a:lnSpc>
                <a:spcPct val="115000"/>
              </a:lnSpc>
              <a:spcBef>
                <a:spcPts val="1600"/>
              </a:spcBef>
              <a:spcAft>
                <a:spcPts val="0"/>
              </a:spcAft>
              <a:buClr>
                <a:schemeClr val="dk1"/>
              </a:buClr>
              <a:buSzPts val="1400"/>
              <a:buChar char="●"/>
              <a:defRPr>
                <a:solidFill>
                  <a:schemeClr val="dk1"/>
                </a:solidFill>
              </a:defRPr>
            </a:lvl7pPr>
            <a:lvl8pPr indent="-317500" lvl="7" marL="3657600" algn="l">
              <a:lnSpc>
                <a:spcPct val="115000"/>
              </a:lnSpc>
              <a:spcBef>
                <a:spcPts val="1600"/>
              </a:spcBef>
              <a:spcAft>
                <a:spcPts val="0"/>
              </a:spcAft>
              <a:buClr>
                <a:schemeClr val="dk1"/>
              </a:buClr>
              <a:buSzPts val="1400"/>
              <a:buChar char="○"/>
              <a:defRPr>
                <a:solidFill>
                  <a:schemeClr val="dk1"/>
                </a:solidFill>
              </a:defRPr>
            </a:lvl8pPr>
            <a:lvl9pPr indent="-317500" lvl="8" marL="4114800" algn="l">
              <a:lnSpc>
                <a:spcPct val="115000"/>
              </a:lnSpc>
              <a:spcBef>
                <a:spcPts val="1600"/>
              </a:spcBef>
              <a:spcAft>
                <a:spcPts val="1600"/>
              </a:spcAft>
              <a:buClr>
                <a:schemeClr val="dk1"/>
              </a:buClr>
              <a:buSzPts val="1400"/>
              <a:buChar char="■"/>
              <a:defRPr>
                <a:solidFill>
                  <a:schemeClr val="dk1"/>
                </a:solidFill>
              </a:defRPr>
            </a:lvl9pPr>
          </a:lstStyle>
          <a:p/>
        </p:txBody>
      </p:sp>
      <p:sp>
        <p:nvSpPr>
          <p:cNvPr id="25" name="Google Shape;2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1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1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0" name="Google Shape;3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1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1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7" name="Google Shape;3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1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3000"/>
              <a:buNone/>
              <a:defRPr/>
            </a:lvl1pPr>
          </a:lstStyle>
          <a:p/>
        </p:txBody>
      </p:sp>
      <p:sp>
        <p:nvSpPr>
          <p:cNvPr id="43" name="Google Shape;4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419100" lvl="0" marL="457200" algn="ctr">
              <a:lnSpc>
                <a:spcPct val="115000"/>
              </a:lnSpc>
              <a:spcBef>
                <a:spcPts val="0"/>
              </a:spcBef>
              <a:spcAft>
                <a:spcPts val="0"/>
              </a:spcAft>
              <a:buSzPts val="3000"/>
              <a:buChar char="●"/>
              <a:defRPr/>
            </a:lvl1pPr>
            <a:lvl2pPr indent="-381000" lvl="1" marL="914400" algn="ctr">
              <a:lnSpc>
                <a:spcPct val="115000"/>
              </a:lnSpc>
              <a:spcBef>
                <a:spcPts val="1600"/>
              </a:spcBef>
              <a:spcAft>
                <a:spcPts val="0"/>
              </a:spcAft>
              <a:buSzPts val="2400"/>
              <a:buChar char="○"/>
              <a:defRPr/>
            </a:lvl2pPr>
            <a:lvl3pPr indent="-342900" lvl="2" marL="1371600" algn="ctr">
              <a:lnSpc>
                <a:spcPct val="115000"/>
              </a:lnSpc>
              <a:spcBef>
                <a:spcPts val="1600"/>
              </a:spcBef>
              <a:spcAft>
                <a:spcPts val="0"/>
              </a:spcAft>
              <a:buSzPts val="18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50" name="Shape 50"/>
        <p:cNvGrpSpPr/>
        <p:nvPr/>
      </p:nvGrpSpPr>
      <p:grpSpPr>
        <a:xfrm>
          <a:off x="0" y="0"/>
          <a:ext cx="0" cy="0"/>
          <a:chOff x="0" y="0"/>
          <a:chExt cx="0" cy="0"/>
        </a:xfrm>
      </p:grpSpPr>
      <p:sp>
        <p:nvSpPr>
          <p:cNvPr id="51" name="Google Shape;51;p20"/>
          <p:cNvSpPr txBox="1"/>
          <p:nvPr>
            <p:ph type="title"/>
          </p:nvPr>
        </p:nvSpPr>
        <p:spPr>
          <a:xfrm>
            <a:off x="457172" y="205014"/>
            <a:ext cx="8228700" cy="858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20"/>
          <p:cNvSpPr txBox="1"/>
          <p:nvPr>
            <p:ph idx="1" type="body"/>
          </p:nvPr>
        </p:nvSpPr>
        <p:spPr>
          <a:xfrm>
            <a:off x="457172" y="1203631"/>
            <a:ext cx="8228700" cy="33948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3000"/>
              <a:buNone/>
              <a:defRPr/>
            </a:lvl1pPr>
            <a:lvl2pPr indent="-228600" lvl="1" marL="914400" algn="l">
              <a:lnSpc>
                <a:spcPct val="115000"/>
              </a:lnSpc>
              <a:spcBef>
                <a:spcPts val="1600"/>
              </a:spcBef>
              <a:spcAft>
                <a:spcPts val="0"/>
              </a:spcAft>
              <a:buSzPts val="2400"/>
              <a:buNone/>
              <a:defRPr/>
            </a:lvl2pPr>
            <a:lvl3pPr indent="-228600" lvl="2" marL="1371600" algn="l">
              <a:lnSpc>
                <a:spcPct val="115000"/>
              </a:lnSpc>
              <a:spcBef>
                <a:spcPts val="1600"/>
              </a:spcBef>
              <a:spcAft>
                <a:spcPts val="0"/>
              </a:spcAft>
              <a:buSzPts val="1800"/>
              <a:buNone/>
              <a:defRPr/>
            </a:lvl3pPr>
            <a:lvl4pPr indent="-228600" lvl="3" marL="1828800" algn="l">
              <a:lnSpc>
                <a:spcPct val="115000"/>
              </a:lnSpc>
              <a:spcBef>
                <a:spcPts val="1600"/>
              </a:spcBef>
              <a:spcAft>
                <a:spcPts val="0"/>
              </a:spcAft>
              <a:buSzPts val="1400"/>
              <a:buNone/>
              <a:defRPr/>
            </a:lvl4pPr>
            <a:lvl5pPr indent="-228600" lvl="4" marL="2286000" algn="l">
              <a:lnSpc>
                <a:spcPct val="115000"/>
              </a:lnSpc>
              <a:spcBef>
                <a:spcPts val="1600"/>
              </a:spcBef>
              <a:spcAft>
                <a:spcPts val="0"/>
              </a:spcAft>
              <a:buSzPts val="1400"/>
              <a:buNone/>
              <a:defRPr/>
            </a:lvl5pPr>
            <a:lvl6pPr indent="-228600" lvl="5" marL="2743200" algn="l">
              <a:lnSpc>
                <a:spcPct val="115000"/>
              </a:lnSpc>
              <a:spcBef>
                <a:spcPts val="1600"/>
              </a:spcBef>
              <a:spcAft>
                <a:spcPts val="0"/>
              </a:spcAft>
              <a:buSzPts val="1400"/>
              <a:buNone/>
              <a:defRPr/>
            </a:lvl6pPr>
            <a:lvl7pPr indent="-228600" lvl="6" marL="3200400" algn="l">
              <a:lnSpc>
                <a:spcPct val="115000"/>
              </a:lnSpc>
              <a:spcBef>
                <a:spcPts val="1600"/>
              </a:spcBef>
              <a:spcAft>
                <a:spcPts val="0"/>
              </a:spcAft>
              <a:buSzPts val="1400"/>
              <a:buNone/>
              <a:defRPr/>
            </a:lvl7pPr>
            <a:lvl8pPr indent="-228600" lvl="7" marL="3657600" algn="l">
              <a:lnSpc>
                <a:spcPct val="115000"/>
              </a:lnSpc>
              <a:spcBef>
                <a:spcPts val="1600"/>
              </a:spcBef>
              <a:spcAft>
                <a:spcPts val="0"/>
              </a:spcAft>
              <a:buSzPts val="1400"/>
              <a:buNone/>
              <a:defRPr/>
            </a:lvl8pPr>
            <a:lvl9pPr indent="-228600" lvl="8" marL="4114800" algn="l">
              <a:lnSpc>
                <a:spcPct val="115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53" name="Shape 53"/>
        <p:cNvGrpSpPr/>
        <p:nvPr/>
      </p:nvGrpSpPr>
      <p:grpSpPr>
        <a:xfrm>
          <a:off x="0" y="0"/>
          <a:ext cx="0" cy="0"/>
          <a:chOff x="0" y="0"/>
          <a:chExt cx="0" cy="0"/>
        </a:xfrm>
      </p:grpSpPr>
      <p:sp>
        <p:nvSpPr>
          <p:cNvPr id="54" name="Google Shape;54;h65f250d357b111bf_0_484"/>
          <p:cNvSpPr txBox="1"/>
          <p:nvPr>
            <p:ph type="title"/>
          </p:nvPr>
        </p:nvSpPr>
        <p:spPr>
          <a:xfrm>
            <a:off x="822960" y="119702"/>
            <a:ext cx="7543800" cy="6804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 name="Google Shape;55;h65f250d357b111bf_0_484"/>
          <p:cNvSpPr txBox="1"/>
          <p:nvPr>
            <p:ph idx="1" type="body"/>
          </p:nvPr>
        </p:nvSpPr>
        <p:spPr>
          <a:xfrm>
            <a:off x="822962" y="1200150"/>
            <a:ext cx="7543800" cy="34290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900"/>
              </a:spcBef>
              <a:spcAft>
                <a:spcPts val="0"/>
              </a:spcAft>
              <a:buSzPts val="2800"/>
              <a:buNone/>
              <a:defRPr sz="2800"/>
            </a:lvl1pPr>
            <a:lvl2pPr indent="-381000" lvl="1" marL="914400" algn="l">
              <a:lnSpc>
                <a:spcPct val="90000"/>
              </a:lnSpc>
              <a:spcBef>
                <a:spcPts val="150"/>
              </a:spcBef>
              <a:spcAft>
                <a:spcPts val="0"/>
              </a:spcAft>
              <a:buSzPts val="2400"/>
              <a:buChar char="○"/>
              <a:defRPr sz="2400"/>
            </a:lvl2pPr>
            <a:lvl3pPr indent="-355600" lvl="2" marL="1371600" algn="l">
              <a:lnSpc>
                <a:spcPct val="90000"/>
              </a:lnSpc>
              <a:spcBef>
                <a:spcPts val="300"/>
              </a:spcBef>
              <a:spcAft>
                <a:spcPts val="0"/>
              </a:spcAft>
              <a:buSzPts val="2000"/>
              <a:buChar char="■"/>
              <a:defRPr sz="2000"/>
            </a:lvl3pPr>
            <a:lvl4pPr indent="-330200" lvl="3" marL="1828800" algn="l">
              <a:lnSpc>
                <a:spcPct val="90000"/>
              </a:lnSpc>
              <a:spcBef>
                <a:spcPts val="300"/>
              </a:spcBef>
              <a:spcAft>
                <a:spcPts val="0"/>
              </a:spcAft>
              <a:buSzPts val="1600"/>
              <a:buChar char="●"/>
              <a:defRPr sz="1600"/>
            </a:lvl4pPr>
            <a:lvl5pPr indent="-317500" lvl="4" marL="2286000" algn="l">
              <a:lnSpc>
                <a:spcPct val="90000"/>
              </a:lnSpc>
              <a:spcBef>
                <a:spcPts val="300"/>
              </a:spcBef>
              <a:spcAft>
                <a:spcPts val="0"/>
              </a:spcAft>
              <a:buSzPts val="1400"/>
              <a:buChar char="○"/>
              <a:defRPr sz="1400">
                <a:latin typeface="Calibri"/>
                <a:ea typeface="Calibri"/>
                <a:cs typeface="Calibri"/>
                <a:sym typeface="Calibri"/>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56" name="Google Shape;56;h65f250d357b111bf_0_484"/>
          <p:cNvSpPr txBox="1"/>
          <p:nvPr>
            <p:ph idx="10" type="dt"/>
          </p:nvPr>
        </p:nvSpPr>
        <p:spPr>
          <a:xfrm>
            <a:off x="822964" y="4844841"/>
            <a:ext cx="18543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h65f250d357b111bf_0_484"/>
          <p:cNvSpPr txBox="1"/>
          <p:nvPr>
            <p:ph idx="11" type="ftr"/>
          </p:nvPr>
        </p:nvSpPr>
        <p:spPr>
          <a:xfrm>
            <a:off x="2764640" y="5029203"/>
            <a:ext cx="3617100" cy="89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6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h65f250d357b111bf_0_484"/>
          <p:cNvSpPr txBox="1"/>
          <p:nvPr>
            <p:ph idx="12" type="sldNum"/>
          </p:nvPr>
        </p:nvSpPr>
        <p:spPr>
          <a:xfrm>
            <a:off x="7425347" y="4844841"/>
            <a:ext cx="9840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extLst>
    <p:ext uri="{DCECCB84-F9BA-43D5-87BE-67443E8EF086}">
      <p15:sldGuideLst>
        <p15:guide id="1" orient="horz" pos="1620">
          <p15:clr>
            <a:srgbClr val="FBAE40"/>
          </p15:clr>
        </p15:guide>
        <p15:guide id="2" pos="216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3E7EA"/>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400"/>
              <a:buFont typeface="Comfortaa"/>
              <a:buNone/>
              <a:defRPr b="1" i="0" sz="3400" u="none" cap="none" strike="noStrike">
                <a:solidFill>
                  <a:schemeClr val="dk1"/>
                </a:solidFill>
                <a:latin typeface="Comfortaa"/>
                <a:ea typeface="Comfortaa"/>
                <a:cs typeface="Comfortaa"/>
                <a:sym typeface="Comfortaa"/>
              </a:defRPr>
            </a:lvl1pPr>
            <a:lvl2pPr lvl="1"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2pPr>
            <a:lvl3pPr lvl="2"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3pPr>
            <a:lvl4pPr lvl="3"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4pPr>
            <a:lvl5pPr lvl="4"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5pPr>
            <a:lvl6pPr lvl="5"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6pPr>
            <a:lvl7pPr lvl="6"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7pPr>
            <a:lvl8pPr lvl="7"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8pPr>
            <a:lvl9pPr lvl="8"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419100" lvl="0" marL="457200" marR="0" rtl="0" algn="l">
              <a:lnSpc>
                <a:spcPct val="115000"/>
              </a:lnSpc>
              <a:spcBef>
                <a:spcPts val="0"/>
              </a:spcBef>
              <a:spcAft>
                <a:spcPts val="0"/>
              </a:spcAft>
              <a:buClr>
                <a:srgbClr val="434343"/>
              </a:buClr>
              <a:buSzPts val="3000"/>
              <a:buFont typeface="Comfortaa"/>
              <a:buChar char="●"/>
              <a:defRPr b="0" i="0" sz="3000" u="none" cap="none" strike="noStrike">
                <a:solidFill>
                  <a:srgbClr val="434343"/>
                </a:solidFill>
                <a:latin typeface="Comfortaa"/>
                <a:ea typeface="Comfortaa"/>
                <a:cs typeface="Comfortaa"/>
                <a:sym typeface="Comfortaa"/>
              </a:defRPr>
            </a:lvl1pPr>
            <a:lvl2pPr indent="-381000" lvl="1" marL="914400" marR="0" rtl="0" algn="l">
              <a:lnSpc>
                <a:spcPct val="115000"/>
              </a:lnSpc>
              <a:spcBef>
                <a:spcPts val="1600"/>
              </a:spcBef>
              <a:spcAft>
                <a:spcPts val="0"/>
              </a:spcAft>
              <a:buClr>
                <a:srgbClr val="434343"/>
              </a:buClr>
              <a:buSzPts val="2400"/>
              <a:buFont typeface="Comfortaa"/>
              <a:buChar char="○"/>
              <a:defRPr b="0" i="0" sz="2400" u="none" cap="none" strike="noStrike">
                <a:solidFill>
                  <a:srgbClr val="434343"/>
                </a:solidFill>
                <a:latin typeface="Comfortaa"/>
                <a:ea typeface="Comfortaa"/>
                <a:cs typeface="Comfortaa"/>
                <a:sym typeface="Comfortaa"/>
              </a:defRPr>
            </a:lvl2pPr>
            <a:lvl3pPr indent="-342900" lvl="2" marL="1371600" marR="0" rtl="0" algn="l">
              <a:lnSpc>
                <a:spcPct val="115000"/>
              </a:lnSpc>
              <a:spcBef>
                <a:spcPts val="1600"/>
              </a:spcBef>
              <a:spcAft>
                <a:spcPts val="0"/>
              </a:spcAft>
              <a:buClr>
                <a:srgbClr val="666666"/>
              </a:buClr>
              <a:buSzPts val="1800"/>
              <a:buFont typeface="Comfortaa"/>
              <a:buChar char="■"/>
              <a:defRPr b="0" i="0" sz="1800" u="none" cap="none" strike="noStrike">
                <a:solidFill>
                  <a:srgbClr val="666666"/>
                </a:solidFill>
                <a:latin typeface="Comfortaa"/>
                <a:ea typeface="Comfortaa"/>
                <a:cs typeface="Comfortaa"/>
                <a:sym typeface="Comfortaa"/>
              </a:defRPr>
            </a:lvl3pPr>
            <a:lvl4pPr indent="-317500" lvl="3" marL="1828800" marR="0" rtl="0" algn="l">
              <a:lnSpc>
                <a:spcPct val="115000"/>
              </a:lnSpc>
              <a:spcBef>
                <a:spcPts val="1600"/>
              </a:spcBef>
              <a:spcAft>
                <a:spcPts val="0"/>
              </a:spcAft>
              <a:buClr>
                <a:srgbClr val="666666"/>
              </a:buClr>
              <a:buSzPts val="1400"/>
              <a:buFont typeface="Comfortaa"/>
              <a:buChar char="●"/>
              <a:defRPr b="0" i="0" sz="1400" u="none" cap="none" strike="noStrike">
                <a:solidFill>
                  <a:srgbClr val="666666"/>
                </a:solidFill>
                <a:latin typeface="Comfortaa"/>
                <a:ea typeface="Comfortaa"/>
                <a:cs typeface="Comfortaa"/>
                <a:sym typeface="Comfortaa"/>
              </a:defRPr>
            </a:lvl4pPr>
            <a:lvl5pPr indent="-317500" lvl="4" marL="2286000" marR="0" rtl="0" algn="l">
              <a:lnSpc>
                <a:spcPct val="115000"/>
              </a:lnSpc>
              <a:spcBef>
                <a:spcPts val="1600"/>
              </a:spcBef>
              <a:spcAft>
                <a:spcPts val="0"/>
              </a:spcAft>
              <a:buClr>
                <a:srgbClr val="666666"/>
              </a:buClr>
              <a:buSzPts val="1400"/>
              <a:buFont typeface="Comfortaa"/>
              <a:buChar char="○"/>
              <a:defRPr b="0" i="0" sz="1400" u="none" cap="none" strike="noStrike">
                <a:solidFill>
                  <a:srgbClr val="666666"/>
                </a:solidFill>
                <a:latin typeface="Comfortaa"/>
                <a:ea typeface="Comfortaa"/>
                <a:cs typeface="Comfortaa"/>
                <a:sym typeface="Comfortaa"/>
              </a:defRPr>
            </a:lvl5pPr>
            <a:lvl6pPr indent="-317500" lvl="5" marL="2743200" marR="0" rtl="0" algn="l">
              <a:lnSpc>
                <a:spcPct val="115000"/>
              </a:lnSpc>
              <a:spcBef>
                <a:spcPts val="1600"/>
              </a:spcBef>
              <a:spcAft>
                <a:spcPts val="0"/>
              </a:spcAft>
              <a:buClr>
                <a:srgbClr val="666666"/>
              </a:buClr>
              <a:buSzPts val="1400"/>
              <a:buFont typeface="Comfortaa"/>
              <a:buChar char="■"/>
              <a:defRPr b="0" i="0" sz="1400" u="none" cap="none" strike="noStrike">
                <a:solidFill>
                  <a:srgbClr val="666666"/>
                </a:solidFill>
                <a:latin typeface="Comfortaa"/>
                <a:ea typeface="Comfortaa"/>
                <a:cs typeface="Comfortaa"/>
                <a:sym typeface="Comfortaa"/>
              </a:defRPr>
            </a:lvl6pPr>
            <a:lvl7pPr indent="-317500" lvl="6" marL="3200400" marR="0" rtl="0" algn="l">
              <a:lnSpc>
                <a:spcPct val="115000"/>
              </a:lnSpc>
              <a:spcBef>
                <a:spcPts val="1600"/>
              </a:spcBef>
              <a:spcAft>
                <a:spcPts val="0"/>
              </a:spcAft>
              <a:buClr>
                <a:srgbClr val="999999"/>
              </a:buClr>
              <a:buSzPts val="1400"/>
              <a:buFont typeface="Comfortaa"/>
              <a:buChar char="●"/>
              <a:defRPr b="0" i="0" sz="1400" u="none" cap="none" strike="noStrike">
                <a:solidFill>
                  <a:srgbClr val="999999"/>
                </a:solidFill>
                <a:latin typeface="Comfortaa"/>
                <a:ea typeface="Comfortaa"/>
                <a:cs typeface="Comfortaa"/>
                <a:sym typeface="Comfortaa"/>
              </a:defRPr>
            </a:lvl7pPr>
            <a:lvl8pPr indent="-317500" lvl="7" marL="3657600" marR="0" rtl="0" algn="l">
              <a:lnSpc>
                <a:spcPct val="115000"/>
              </a:lnSpc>
              <a:spcBef>
                <a:spcPts val="1600"/>
              </a:spcBef>
              <a:spcAft>
                <a:spcPts val="0"/>
              </a:spcAft>
              <a:buClr>
                <a:srgbClr val="999999"/>
              </a:buClr>
              <a:buSzPts val="1400"/>
              <a:buFont typeface="Comfortaa"/>
              <a:buChar char="○"/>
              <a:defRPr b="0" i="0" sz="1400" u="none" cap="none" strike="noStrike">
                <a:solidFill>
                  <a:srgbClr val="999999"/>
                </a:solidFill>
                <a:latin typeface="Comfortaa"/>
                <a:ea typeface="Comfortaa"/>
                <a:cs typeface="Comfortaa"/>
                <a:sym typeface="Comfortaa"/>
              </a:defRPr>
            </a:lvl8pPr>
            <a:lvl9pPr indent="-317500" lvl="8" marL="4114800" marR="0" rtl="0" algn="l">
              <a:lnSpc>
                <a:spcPct val="115000"/>
              </a:lnSpc>
              <a:spcBef>
                <a:spcPts val="1600"/>
              </a:spcBef>
              <a:spcAft>
                <a:spcPts val="1600"/>
              </a:spcAft>
              <a:buClr>
                <a:srgbClr val="999999"/>
              </a:buClr>
              <a:buSzPts val="1400"/>
              <a:buFont typeface="Comfortaa"/>
              <a:buChar char="■"/>
              <a:defRPr b="0" i="0" sz="1400" u="none" cap="none" strike="noStrike">
                <a:solidFill>
                  <a:srgbClr val="999999"/>
                </a:solidFill>
                <a:latin typeface="Comfortaa"/>
                <a:ea typeface="Comfortaa"/>
                <a:cs typeface="Comfortaa"/>
                <a:sym typeface="Comfortaa"/>
              </a:defRPr>
            </a:lvl9pPr>
          </a:lstStyle>
          <a:p/>
        </p:txBody>
      </p:sp>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25.png"/><Relationship Id="rId6"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7.png"/><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29.pn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37.png"/><Relationship Id="rId6"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38.png"/><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image" Target="../media/image45.png"/><Relationship Id="rId4" Type="http://schemas.openxmlformats.org/officeDocument/2006/relationships/hyperlink" Target="https://www.3blue1brown.com/lessons/neural-networks/" TargetMode="External"/><Relationship Id="rId5" Type="http://schemas.openxmlformats.org/officeDocument/2006/relationships/image" Target="../media/image4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image" Target="../media/image43.png"/><Relationship Id="rId4" Type="http://schemas.openxmlformats.org/officeDocument/2006/relationships/image" Target="../media/image49.png"/><Relationship Id="rId5" Type="http://schemas.openxmlformats.org/officeDocument/2006/relationships/hyperlink" Target="https://www.3blue1brown.com/lessons/backpropagation"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2.png"/><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image" Target="../media/image47.png"/><Relationship Id="rId4" Type="http://schemas.openxmlformats.org/officeDocument/2006/relationships/hyperlink" Target="https://www.3blue1brown.com/lessons/backpropagation" TargetMode="External"/><Relationship Id="rId5" Type="http://schemas.openxmlformats.org/officeDocument/2006/relationships/image" Target="../media/image4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 Id="rId3" Type="http://schemas.openxmlformats.org/officeDocument/2006/relationships/image" Target="../media/image44.png"/><Relationship Id="rId4"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image" Target="../media/image41.png"/><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 Id="rId3" Type="http://schemas.openxmlformats.org/officeDocument/2006/relationships/hyperlink" Target="https://www.3blue1brown.com/lessons/backpropagation" TargetMode="External"/><Relationship Id="rId4" Type="http://schemas.openxmlformats.org/officeDocument/2006/relationships/image" Target="../media/image49.png"/><Relationship Id="rId5" Type="http://schemas.openxmlformats.org/officeDocument/2006/relationships/image" Target="../media/image4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 Id="rId3" Type="http://schemas.openxmlformats.org/officeDocument/2006/relationships/image" Target="../media/image48.png"/><Relationship Id="rId4" Type="http://schemas.openxmlformats.org/officeDocument/2006/relationships/image" Target="../media/image46.png"/><Relationship Id="rId5" Type="http://schemas.openxmlformats.org/officeDocument/2006/relationships/image" Target="../media/image4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image" Target="../media/image49.png"/><Relationship Id="rId4" Type="http://schemas.openxmlformats.org/officeDocument/2006/relationships/image" Target="../media/image44.png"/><Relationship Id="rId9"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5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twitter.com/j_bertolotti/status/1121054414066810881" TargetMode="External"/><Relationship Id="rId4" Type="http://schemas.openxmlformats.org/officeDocument/2006/relationships/hyperlink" Target="https://commons.wikimedia.org/w/index.php?curid=78332649" TargetMode="External"/><Relationship Id="rId5" Type="http://schemas.openxmlformats.org/officeDocument/2006/relationships/image" Target="../media/image12.gi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hyperlink" Target="http://creativecommons.org/licenses/by-nc-sa/3.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p:nvPr/>
        </p:nvSpPr>
        <p:spPr>
          <a:xfrm>
            <a:off x="4449625" y="4177875"/>
            <a:ext cx="28647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p:nvPr/>
        </p:nvSpPr>
        <p:spPr>
          <a:xfrm>
            <a:off x="4449625" y="3958575"/>
            <a:ext cx="13551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p:nvPr/>
        </p:nvSpPr>
        <p:spPr>
          <a:xfrm>
            <a:off x="4449625" y="4397175"/>
            <a:ext cx="24774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
          <p:cNvSpPr txBox="1"/>
          <p:nvPr/>
        </p:nvSpPr>
        <p:spPr>
          <a:xfrm>
            <a:off x="4400875" y="3866000"/>
            <a:ext cx="2958300" cy="75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André Santanchè</a:t>
            </a:r>
            <a:endParaRPr b="0" i="0" sz="1400" u="none" cap="none" strike="noStrike">
              <a:solidFill>
                <a:srgbClr val="BF3730"/>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Laboratory of Information Systems - LIS</a:t>
            </a:r>
            <a:endParaRPr b="0" i="0" sz="1400" u="none" cap="none" strike="noStrike">
              <a:solidFill>
                <a:schemeClr val="dk1"/>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Instituto de Computação - UNICAMP</a:t>
            </a:r>
            <a:endParaRPr b="0" i="0" sz="1400" u="none" cap="none" strike="noStrike">
              <a:solidFill>
                <a:schemeClr val="dk1"/>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dvent Pro Medium"/>
              <a:ea typeface="Advent Pro Medium"/>
              <a:cs typeface="Advent Pro Medium"/>
              <a:sym typeface="Advent Pro Medium"/>
            </a:endParaRPr>
          </a:p>
        </p:txBody>
      </p:sp>
      <p:sp>
        <p:nvSpPr>
          <p:cNvPr id="67" name="Google Shape;67;p2"/>
          <p:cNvSpPr txBox="1"/>
          <p:nvPr/>
        </p:nvSpPr>
        <p:spPr>
          <a:xfrm>
            <a:off x="4295300" y="311000"/>
            <a:ext cx="4763400" cy="225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pt-BR" sz="1200" u="none" cap="none" strike="noStrike">
                <a:solidFill>
                  <a:srgbClr val="EFEFEF"/>
                </a:solidFill>
                <a:latin typeface="Advent Pro"/>
                <a:ea typeface="Advent Pro"/>
                <a:cs typeface="Advent Pro"/>
                <a:sym typeface="Advent Pro"/>
              </a:rPr>
              <a:t>NATURAL LANGUAGE PROCESSING</a:t>
            </a:r>
            <a:endParaRPr b="1" i="0" sz="1200" u="none" cap="none" strike="noStrike">
              <a:solidFill>
                <a:srgbClr val="EFEFEF"/>
              </a:solidFill>
              <a:latin typeface="Advent Pro"/>
              <a:ea typeface="Advent Pro"/>
              <a:cs typeface="Advent Pro"/>
              <a:sym typeface="Advent Pro"/>
            </a:endParaRPr>
          </a:p>
          <a:p>
            <a:pPr indent="0" lvl="0" marL="0" marR="0" rtl="0" algn="l">
              <a:lnSpc>
                <a:spcPct val="100000"/>
              </a:lnSpc>
              <a:spcBef>
                <a:spcPts val="0"/>
              </a:spcBef>
              <a:spcAft>
                <a:spcPts val="0"/>
              </a:spcAft>
              <a:buClr>
                <a:srgbClr val="000000"/>
              </a:buClr>
              <a:buSzPts val="4800"/>
              <a:buFont typeface="Arial"/>
              <a:buNone/>
            </a:pPr>
            <a:r>
              <a:rPr b="1" lang="pt-BR" sz="3500">
                <a:solidFill>
                  <a:srgbClr val="FFFFFF"/>
                </a:solidFill>
                <a:latin typeface="Advent Pro"/>
                <a:ea typeface="Advent Pro"/>
                <a:cs typeface="Advent Pro"/>
                <a:sym typeface="Advent Pro"/>
              </a:rPr>
              <a:t>Neural Networks for NLP</a:t>
            </a:r>
            <a:endParaRPr b="1" sz="3500">
              <a:solidFill>
                <a:srgbClr val="FFFFFF"/>
              </a:solidFill>
              <a:latin typeface="Advent Pro"/>
              <a:ea typeface="Advent Pro"/>
              <a:cs typeface="Advent Pro"/>
              <a:sym typeface="Advent Pro"/>
            </a:endParaRPr>
          </a:p>
          <a:p>
            <a:pPr indent="0" lvl="0" marL="0" marR="0" rtl="0" algn="l">
              <a:lnSpc>
                <a:spcPct val="100000"/>
              </a:lnSpc>
              <a:spcBef>
                <a:spcPts val="0"/>
              </a:spcBef>
              <a:spcAft>
                <a:spcPts val="0"/>
              </a:spcAft>
              <a:buClr>
                <a:srgbClr val="000000"/>
              </a:buClr>
              <a:buSzPts val="4800"/>
              <a:buFont typeface="Arial"/>
              <a:buNone/>
            </a:pPr>
            <a:r>
              <a:rPr b="1" lang="pt-BR" sz="4800">
                <a:solidFill>
                  <a:srgbClr val="FFFFFF"/>
                </a:solidFill>
                <a:latin typeface="Advent Pro"/>
                <a:ea typeface="Advent Pro"/>
                <a:cs typeface="Advent Pro"/>
                <a:sym typeface="Advent Pro"/>
              </a:rPr>
              <a:t>Learning</a:t>
            </a:r>
            <a:endParaRPr b="1" sz="4800">
              <a:solidFill>
                <a:srgbClr val="FFFFFF"/>
              </a:solidFill>
              <a:latin typeface="Advent Pro"/>
              <a:ea typeface="Advent Pro"/>
              <a:cs typeface="Advent Pro"/>
              <a:sym typeface="Advent Pro"/>
            </a:endParaRPr>
          </a:p>
        </p:txBody>
      </p:sp>
      <p:sp>
        <p:nvSpPr>
          <p:cNvPr id="68" name="Google Shape;68;p2"/>
          <p:cNvSpPr txBox="1"/>
          <p:nvPr/>
        </p:nvSpPr>
        <p:spPr>
          <a:xfrm>
            <a:off x="4400875" y="4648400"/>
            <a:ext cx="2326500" cy="27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pt-BR" sz="1100">
                <a:solidFill>
                  <a:schemeClr val="lt1"/>
                </a:solidFill>
                <a:latin typeface="Advent Pro"/>
                <a:ea typeface="Advent Pro"/>
                <a:cs typeface="Advent Pro"/>
                <a:sym typeface="Advent Pro"/>
              </a:rPr>
              <a:t>October</a:t>
            </a:r>
            <a:r>
              <a:rPr b="1" i="0" lang="pt-BR" sz="1100" u="none" cap="none" strike="noStrike">
                <a:solidFill>
                  <a:schemeClr val="lt1"/>
                </a:solidFill>
                <a:latin typeface="Advent Pro"/>
                <a:ea typeface="Advent Pro"/>
                <a:cs typeface="Advent Pro"/>
                <a:sym typeface="Advent Pro"/>
              </a:rPr>
              <a:t> 2026</a:t>
            </a:r>
            <a:endParaRPr b="1" i="0" sz="1100" u="none" cap="none" strike="noStrike">
              <a:solidFill>
                <a:schemeClr val="lt1"/>
              </a:solidFill>
              <a:latin typeface="Advent Pro"/>
              <a:ea typeface="Advent Pro"/>
              <a:cs typeface="Advent Pro"/>
              <a:sym typeface="Advent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h65f250d357b111bf_0_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None/>
            </a:pPr>
            <a:r>
              <a:rPr lang="pt-BR"/>
              <a:t>Logistic Regression</a:t>
            </a:r>
            <a:endParaRPr/>
          </a:p>
        </p:txBody>
      </p:sp>
      <p:sp>
        <p:nvSpPr>
          <p:cNvPr id="74" name="Google Shape;74;h65f250d357b111bf_0_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000"/>
              <a:buNone/>
            </a:pPr>
            <a:r>
              <a:rPr lang="pt-BR"/>
              <a:t>Revision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h65f250d357b111bf_0_5"/>
          <p:cNvSpPr/>
          <p:nvPr/>
        </p:nvSpPr>
        <p:spPr>
          <a:xfrm>
            <a:off x="6801649" y="1208975"/>
            <a:ext cx="756300" cy="766200"/>
          </a:xfrm>
          <a:prstGeom prst="ellipse">
            <a:avLst/>
          </a:prstGeom>
          <a:solidFill>
            <a:srgbClr val="FFFFFF"/>
          </a:solidFill>
          <a:ln cap="flat" cmpd="sng" w="2977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l">
              <a:lnSpc>
                <a:spcPct val="100000"/>
              </a:lnSpc>
              <a:spcBef>
                <a:spcPts val="0"/>
              </a:spcBef>
              <a:spcAft>
                <a:spcPts val="0"/>
              </a:spcAft>
              <a:buClr>
                <a:srgbClr val="000000"/>
              </a:buClr>
              <a:buSzPts val="1093"/>
              <a:buFont typeface="Arial"/>
              <a:buNone/>
            </a:pPr>
            <a:r>
              <a:rPr b="0" i="0" lang="pt-BR" sz="1093" u="none" cap="none" strike="noStrike">
                <a:solidFill>
                  <a:srgbClr val="000000"/>
                </a:solidFill>
                <a:latin typeface="Arial"/>
                <a:ea typeface="Arial"/>
                <a:cs typeface="Arial"/>
                <a:sym typeface="Arial"/>
              </a:rPr>
              <a:t>Model</a:t>
            </a:r>
            <a:endParaRPr b="0" i="0" sz="1093" u="none" cap="none" strike="noStrike">
              <a:solidFill>
                <a:srgbClr val="000000"/>
              </a:solidFill>
              <a:latin typeface="Arial"/>
              <a:ea typeface="Arial"/>
              <a:cs typeface="Arial"/>
              <a:sym typeface="Arial"/>
            </a:endParaRPr>
          </a:p>
        </p:txBody>
      </p:sp>
      <p:sp>
        <p:nvSpPr>
          <p:cNvPr id="80" name="Google Shape;80;h65f250d357b111bf_0_5"/>
          <p:cNvSpPr/>
          <p:nvPr/>
        </p:nvSpPr>
        <p:spPr>
          <a:xfrm>
            <a:off x="6277664" y="1795055"/>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Classification Function</a:t>
            </a:r>
            <a:endParaRPr b="0" i="0" sz="1093" u="none" cap="none" strike="noStrike">
              <a:solidFill>
                <a:srgbClr val="000000"/>
              </a:solidFill>
              <a:latin typeface="Arial"/>
              <a:ea typeface="Arial"/>
              <a:cs typeface="Arial"/>
              <a:sym typeface="Arial"/>
            </a:endParaRPr>
          </a:p>
        </p:txBody>
      </p:sp>
      <p:sp>
        <p:nvSpPr>
          <p:cNvPr id="81" name="Google Shape;81;h65f250d357b111bf_0_5"/>
          <p:cNvSpPr/>
          <p:nvPr/>
        </p:nvSpPr>
        <p:spPr>
          <a:xfrm>
            <a:off x="6257047" y="3570935"/>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Objective Function</a:t>
            </a:r>
            <a:endParaRPr b="0" i="0" sz="1093" u="none" cap="none" strike="noStrike">
              <a:solidFill>
                <a:srgbClr val="000000"/>
              </a:solidFill>
              <a:latin typeface="Arial"/>
              <a:ea typeface="Arial"/>
              <a:cs typeface="Arial"/>
              <a:sym typeface="Arial"/>
            </a:endParaRPr>
          </a:p>
        </p:txBody>
      </p:sp>
      <p:cxnSp>
        <p:nvCxnSpPr>
          <p:cNvPr id="82" name="Google Shape;82;h65f250d357b111bf_0_5"/>
          <p:cNvCxnSpPr>
            <a:stCxn id="80" idx="2"/>
            <a:endCxn id="81" idx="0"/>
          </p:cNvCxnSpPr>
          <p:nvPr/>
        </p:nvCxnSpPr>
        <p:spPr>
          <a:xfrm flipH="1">
            <a:off x="6780914" y="2158655"/>
            <a:ext cx="20700" cy="1412400"/>
          </a:xfrm>
          <a:prstGeom prst="straightConnector1">
            <a:avLst/>
          </a:prstGeom>
          <a:noFill/>
          <a:ln cap="flat" cmpd="sng" w="29775">
            <a:solidFill>
              <a:schemeClr val="dk2"/>
            </a:solidFill>
            <a:prstDash val="solid"/>
            <a:round/>
            <a:headEnd len="sm" w="sm" type="none"/>
            <a:tailEnd len="med" w="med" type="triangle"/>
          </a:ln>
        </p:spPr>
      </p:cxnSp>
      <p:sp>
        <p:nvSpPr>
          <p:cNvPr id="83" name="Google Shape;83;h65f250d357b111bf_0_5"/>
          <p:cNvSpPr/>
          <p:nvPr/>
        </p:nvSpPr>
        <p:spPr>
          <a:xfrm>
            <a:off x="7860794" y="2513392"/>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Optimization</a:t>
            </a:r>
            <a:endParaRPr sz="1093"/>
          </a:p>
          <a:p>
            <a:pPr indent="0" lvl="0" marL="0" marR="0" rtl="0" algn="ctr">
              <a:lnSpc>
                <a:spcPct val="100000"/>
              </a:lnSpc>
              <a:spcBef>
                <a:spcPts val="0"/>
              </a:spcBef>
              <a:spcAft>
                <a:spcPts val="0"/>
              </a:spcAft>
              <a:buClr>
                <a:srgbClr val="000000"/>
              </a:buClr>
              <a:buSzPts val="1093"/>
              <a:buFont typeface="Arial"/>
              <a:buNone/>
            </a:pPr>
            <a:r>
              <a:rPr lang="pt-BR" sz="1093"/>
              <a:t>Algorithm</a:t>
            </a:r>
            <a:endParaRPr sz="1093"/>
          </a:p>
        </p:txBody>
      </p:sp>
      <p:cxnSp>
        <p:nvCxnSpPr>
          <p:cNvPr id="84" name="Google Shape;84;h65f250d357b111bf_0_5"/>
          <p:cNvCxnSpPr>
            <a:stCxn id="81" idx="3"/>
            <a:endCxn id="83" idx="2"/>
          </p:cNvCxnSpPr>
          <p:nvPr/>
        </p:nvCxnSpPr>
        <p:spPr>
          <a:xfrm flipH="1" rot="10800000">
            <a:off x="7304947" y="2877035"/>
            <a:ext cx="1079700" cy="875700"/>
          </a:xfrm>
          <a:prstGeom prst="straightConnector1">
            <a:avLst/>
          </a:prstGeom>
          <a:noFill/>
          <a:ln cap="flat" cmpd="sng" w="29775">
            <a:solidFill>
              <a:schemeClr val="dk2"/>
            </a:solidFill>
            <a:prstDash val="solid"/>
            <a:round/>
            <a:headEnd len="sm" w="sm" type="none"/>
            <a:tailEnd len="med" w="med" type="triangle"/>
          </a:ln>
        </p:spPr>
      </p:cxnSp>
      <p:cxnSp>
        <p:nvCxnSpPr>
          <p:cNvPr id="85" name="Google Shape;85;h65f250d357b111bf_0_5"/>
          <p:cNvCxnSpPr>
            <a:stCxn id="83" idx="0"/>
            <a:endCxn id="80" idx="3"/>
          </p:cNvCxnSpPr>
          <p:nvPr/>
        </p:nvCxnSpPr>
        <p:spPr>
          <a:xfrm rot="10800000">
            <a:off x="7325444" y="1976992"/>
            <a:ext cx="1059300" cy="536400"/>
          </a:xfrm>
          <a:prstGeom prst="straightConnector1">
            <a:avLst/>
          </a:prstGeom>
          <a:noFill/>
          <a:ln cap="flat" cmpd="sng" w="29775">
            <a:solidFill>
              <a:schemeClr val="dk2"/>
            </a:solidFill>
            <a:prstDash val="solid"/>
            <a:round/>
            <a:headEnd len="sm" w="sm" type="none"/>
            <a:tailEnd len="med" w="med" type="triangle"/>
          </a:ln>
        </p:spPr>
      </p:cxnSp>
      <p:sp>
        <p:nvSpPr>
          <p:cNvPr id="86" name="Google Shape;86;h65f250d357b111bf_0_5"/>
          <p:cNvSpPr/>
          <p:nvPr/>
        </p:nvSpPr>
        <p:spPr>
          <a:xfrm>
            <a:off x="4572000" y="2544973"/>
            <a:ext cx="1185000" cy="363600"/>
          </a:xfrm>
          <a:prstGeom prst="roundRect">
            <a:avLst>
              <a:gd fmla="val 40544" name="adj"/>
            </a:avLst>
          </a:prstGeom>
          <a:solidFill>
            <a:srgbClr val="FFFFFF"/>
          </a:solidFill>
          <a:ln cap="flat" cmpd="sng" w="2977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Feature Representation</a:t>
            </a:r>
            <a:endParaRPr b="0" i="0" sz="1093" u="none" cap="none" strike="noStrike">
              <a:solidFill>
                <a:srgbClr val="000000"/>
              </a:solidFill>
              <a:latin typeface="Arial"/>
              <a:ea typeface="Arial"/>
              <a:cs typeface="Arial"/>
              <a:sym typeface="Arial"/>
            </a:endParaRPr>
          </a:p>
        </p:txBody>
      </p:sp>
      <p:cxnSp>
        <p:nvCxnSpPr>
          <p:cNvPr id="87" name="Google Shape;87;h65f250d357b111bf_0_5"/>
          <p:cNvCxnSpPr>
            <a:stCxn id="86" idx="3"/>
            <a:endCxn id="80" idx="1"/>
          </p:cNvCxnSpPr>
          <p:nvPr/>
        </p:nvCxnSpPr>
        <p:spPr>
          <a:xfrm flipH="1" rot="10800000">
            <a:off x="5757000" y="1976773"/>
            <a:ext cx="520800" cy="750000"/>
          </a:xfrm>
          <a:prstGeom prst="straightConnector1">
            <a:avLst/>
          </a:prstGeom>
          <a:noFill/>
          <a:ln cap="flat" cmpd="sng" w="29775">
            <a:solidFill>
              <a:schemeClr val="dk2"/>
            </a:solidFill>
            <a:prstDash val="dash"/>
            <a:round/>
            <a:headEnd len="sm" w="sm" type="none"/>
            <a:tailEnd len="med" w="med" type="triangle"/>
          </a:ln>
        </p:spPr>
      </p:cxnSp>
      <p:cxnSp>
        <p:nvCxnSpPr>
          <p:cNvPr id="88" name="Google Shape;88;h65f250d357b111bf_0_5"/>
          <p:cNvCxnSpPr>
            <a:stCxn id="86" idx="3"/>
            <a:endCxn id="81" idx="1"/>
          </p:cNvCxnSpPr>
          <p:nvPr/>
        </p:nvCxnSpPr>
        <p:spPr>
          <a:xfrm>
            <a:off x="5757000" y="2726773"/>
            <a:ext cx="500100" cy="1026000"/>
          </a:xfrm>
          <a:prstGeom prst="straightConnector1">
            <a:avLst/>
          </a:prstGeom>
          <a:noFill/>
          <a:ln cap="flat" cmpd="sng" w="29775">
            <a:solidFill>
              <a:schemeClr val="dk2"/>
            </a:solidFill>
            <a:prstDash val="dash"/>
            <a:round/>
            <a:headEnd len="sm" w="sm" type="none"/>
            <a:tailEnd len="med" w="med" type="triangle"/>
          </a:ln>
        </p:spPr>
      </p:cxnSp>
      <p:sp>
        <p:nvSpPr>
          <p:cNvPr id="89" name="Google Shape;89;h65f250d357b111bf_0_5"/>
          <p:cNvSpPr txBox="1"/>
          <p:nvPr>
            <p:ph type="title"/>
          </p:nvPr>
        </p:nvSpPr>
        <p:spPr>
          <a:xfrm>
            <a:off x="265500" y="2025900"/>
            <a:ext cx="4045200" cy="1091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Classification</a:t>
            </a:r>
            <a:endParaRPr/>
          </a:p>
          <a:p>
            <a:pPr indent="0" lvl="0" marL="0" rtl="0" algn="ctr">
              <a:spcBef>
                <a:spcPts val="0"/>
              </a:spcBef>
              <a:spcAft>
                <a:spcPts val="0"/>
              </a:spcAft>
              <a:buNone/>
            </a:pPr>
            <a:r>
              <a:rPr lang="pt-BR"/>
              <a:t>Summary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h65f250d357b111bf_0_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Label Probability</a:t>
            </a:r>
            <a:endParaRPr/>
          </a:p>
          <a:p>
            <a:pPr indent="0" lvl="0" marL="0" rtl="0" algn="l">
              <a:spcBef>
                <a:spcPts val="0"/>
              </a:spcBef>
              <a:spcAft>
                <a:spcPts val="0"/>
              </a:spcAft>
              <a:buNone/>
            </a:pPr>
            <a:r>
              <a:rPr lang="pt-BR" sz="2400"/>
              <a:t>(Bernoulli Probability Mass Function - PMF)</a:t>
            </a:r>
            <a:endParaRPr sz="2400"/>
          </a:p>
        </p:txBody>
      </p:sp>
      <p:pic>
        <p:nvPicPr>
          <p:cNvPr id="95" name="Google Shape;95;h65f250d357b111bf_0_19"/>
          <p:cNvPicPr preferRelativeResize="0"/>
          <p:nvPr/>
        </p:nvPicPr>
        <p:blipFill>
          <a:blip r:embed="rId3">
            <a:alphaModFix/>
          </a:blip>
          <a:stretch>
            <a:fillRect/>
          </a:stretch>
        </p:blipFill>
        <p:spPr>
          <a:xfrm>
            <a:off x="311700" y="1657900"/>
            <a:ext cx="6578000" cy="809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h65f250d357b111bf_0_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3100"/>
              <a:t>Probability becomes Cross-Entropy Loss</a:t>
            </a:r>
            <a:endParaRPr sz="3100"/>
          </a:p>
        </p:txBody>
      </p:sp>
      <p:pic>
        <p:nvPicPr>
          <p:cNvPr id="101" name="Google Shape;101;h65f250d357b111bf_0_24"/>
          <p:cNvPicPr preferRelativeResize="0"/>
          <p:nvPr/>
        </p:nvPicPr>
        <p:blipFill>
          <a:blip r:embed="rId3">
            <a:alphaModFix/>
          </a:blip>
          <a:stretch>
            <a:fillRect/>
          </a:stretch>
        </p:blipFill>
        <p:spPr>
          <a:xfrm>
            <a:off x="311700" y="1291075"/>
            <a:ext cx="6578000" cy="809600"/>
          </a:xfrm>
          <a:prstGeom prst="rect">
            <a:avLst/>
          </a:prstGeom>
          <a:noFill/>
          <a:ln>
            <a:noFill/>
          </a:ln>
        </p:spPr>
      </p:pic>
      <p:pic>
        <p:nvPicPr>
          <p:cNvPr id="102" name="Google Shape;102;h65f250d357b111bf_0_24"/>
          <p:cNvPicPr preferRelativeResize="0"/>
          <p:nvPr/>
        </p:nvPicPr>
        <p:blipFill>
          <a:blip r:embed="rId4">
            <a:alphaModFix/>
          </a:blip>
          <a:stretch>
            <a:fillRect/>
          </a:stretch>
        </p:blipFill>
        <p:spPr>
          <a:xfrm>
            <a:off x="152400" y="2416775"/>
            <a:ext cx="6737301" cy="718437"/>
          </a:xfrm>
          <a:prstGeom prst="rect">
            <a:avLst/>
          </a:prstGeom>
          <a:noFill/>
          <a:ln>
            <a:noFill/>
          </a:ln>
        </p:spPr>
      </p:pic>
      <p:pic>
        <p:nvPicPr>
          <p:cNvPr id="103" name="Google Shape;103;h65f250d357b111bf_0_24"/>
          <p:cNvPicPr preferRelativeResize="0"/>
          <p:nvPr/>
        </p:nvPicPr>
        <p:blipFill>
          <a:blip r:embed="rId5">
            <a:alphaModFix/>
          </a:blip>
          <a:stretch>
            <a:fillRect/>
          </a:stretch>
        </p:blipFill>
        <p:spPr>
          <a:xfrm>
            <a:off x="4287875" y="3952000"/>
            <a:ext cx="4499999" cy="10305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h65f250d357b111bf_0_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900"/>
              <a:t>Loss Slope as Derivative</a:t>
            </a:r>
            <a:endParaRPr sz="2900"/>
          </a:p>
        </p:txBody>
      </p:sp>
      <p:pic>
        <p:nvPicPr>
          <p:cNvPr id="109" name="Google Shape;109;h65f250d357b111bf_0_31"/>
          <p:cNvPicPr preferRelativeResize="0"/>
          <p:nvPr/>
        </p:nvPicPr>
        <p:blipFill>
          <a:blip r:embed="rId3">
            <a:alphaModFix/>
          </a:blip>
          <a:stretch>
            <a:fillRect/>
          </a:stretch>
        </p:blipFill>
        <p:spPr>
          <a:xfrm>
            <a:off x="311700" y="2837650"/>
            <a:ext cx="7237749" cy="1755625"/>
          </a:xfrm>
          <a:prstGeom prst="rect">
            <a:avLst/>
          </a:prstGeom>
          <a:noFill/>
          <a:ln>
            <a:noFill/>
          </a:ln>
        </p:spPr>
      </p:pic>
      <p:pic>
        <p:nvPicPr>
          <p:cNvPr id="110" name="Google Shape;110;h65f250d357b111bf_0_31"/>
          <p:cNvPicPr preferRelativeResize="0"/>
          <p:nvPr/>
        </p:nvPicPr>
        <p:blipFill>
          <a:blip r:embed="rId4">
            <a:alphaModFix/>
          </a:blip>
          <a:stretch>
            <a:fillRect/>
          </a:stretch>
        </p:blipFill>
        <p:spPr>
          <a:xfrm>
            <a:off x="391625" y="1568475"/>
            <a:ext cx="6737301" cy="7184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h65f250d357b111bf_0_37"/>
          <p:cNvSpPr txBox="1"/>
          <p:nvPr>
            <p:ph type="title"/>
          </p:nvPr>
        </p:nvSpPr>
        <p:spPr>
          <a:xfrm>
            <a:off x="311700" y="333900"/>
            <a:ext cx="85206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900"/>
              <a:t>Decent: opposite direction to the slope with a learning rate η</a:t>
            </a:r>
            <a:endParaRPr sz="2900"/>
          </a:p>
        </p:txBody>
      </p:sp>
      <p:pic>
        <p:nvPicPr>
          <p:cNvPr id="116" name="Google Shape;116;h65f250d357b111bf_0_37"/>
          <p:cNvPicPr preferRelativeResize="0"/>
          <p:nvPr/>
        </p:nvPicPr>
        <p:blipFill>
          <a:blip r:embed="rId3">
            <a:alphaModFix/>
          </a:blip>
          <a:stretch>
            <a:fillRect/>
          </a:stretch>
        </p:blipFill>
        <p:spPr>
          <a:xfrm>
            <a:off x="383475" y="1577700"/>
            <a:ext cx="5626750" cy="1364850"/>
          </a:xfrm>
          <a:prstGeom prst="rect">
            <a:avLst/>
          </a:prstGeom>
          <a:noFill/>
          <a:ln>
            <a:noFill/>
          </a:ln>
        </p:spPr>
      </p:pic>
      <p:pic>
        <p:nvPicPr>
          <p:cNvPr id="117" name="Google Shape;117;h65f250d357b111bf_0_37"/>
          <p:cNvPicPr preferRelativeResize="0"/>
          <p:nvPr/>
        </p:nvPicPr>
        <p:blipFill>
          <a:blip r:embed="rId4">
            <a:alphaModFix/>
          </a:blip>
          <a:stretch>
            <a:fillRect/>
          </a:stretch>
        </p:blipFill>
        <p:spPr>
          <a:xfrm>
            <a:off x="5961975" y="3885950"/>
            <a:ext cx="2956476" cy="1208800"/>
          </a:xfrm>
          <a:prstGeom prst="rect">
            <a:avLst/>
          </a:prstGeom>
          <a:noFill/>
          <a:ln cap="flat" cmpd="sng" w="9525">
            <a:solidFill>
              <a:schemeClr val="dk2"/>
            </a:solidFill>
            <a:prstDash val="solid"/>
            <a:round/>
            <a:headEnd len="sm" w="sm" type="none"/>
            <a:tailEnd len="sm" w="sm" type="none"/>
          </a:ln>
        </p:spPr>
      </p:pic>
      <p:pic>
        <p:nvPicPr>
          <p:cNvPr id="118" name="Google Shape;118;h65f250d357b111bf_0_37"/>
          <p:cNvPicPr preferRelativeResize="0"/>
          <p:nvPr/>
        </p:nvPicPr>
        <p:blipFill>
          <a:blip r:embed="rId5">
            <a:alphaModFix/>
          </a:blip>
          <a:stretch>
            <a:fillRect/>
          </a:stretch>
        </p:blipFill>
        <p:spPr>
          <a:xfrm>
            <a:off x="311700" y="3131274"/>
            <a:ext cx="5074549" cy="664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h65f250d357b111bf_0_44"/>
          <p:cNvSpPr txBox="1"/>
          <p:nvPr>
            <p:ph type="title"/>
          </p:nvPr>
        </p:nvSpPr>
        <p:spPr>
          <a:xfrm>
            <a:off x="311700" y="333900"/>
            <a:ext cx="85206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900"/>
              <a:t>Learning: updating weights with the descent</a:t>
            </a:r>
            <a:endParaRPr sz="2900"/>
          </a:p>
        </p:txBody>
      </p:sp>
      <p:pic>
        <p:nvPicPr>
          <p:cNvPr id="124" name="Google Shape;124;h65f250d357b111bf_0_44"/>
          <p:cNvPicPr preferRelativeResize="0"/>
          <p:nvPr/>
        </p:nvPicPr>
        <p:blipFill>
          <a:blip r:embed="rId3">
            <a:alphaModFix/>
          </a:blip>
          <a:stretch>
            <a:fillRect/>
          </a:stretch>
        </p:blipFill>
        <p:spPr>
          <a:xfrm>
            <a:off x="311700" y="1577850"/>
            <a:ext cx="4900724" cy="641600"/>
          </a:xfrm>
          <a:prstGeom prst="rect">
            <a:avLst/>
          </a:prstGeom>
          <a:noFill/>
          <a:ln>
            <a:noFill/>
          </a:ln>
        </p:spPr>
      </p:pic>
      <p:pic>
        <p:nvPicPr>
          <p:cNvPr id="125" name="Google Shape;125;h65f250d357b111bf_0_44"/>
          <p:cNvPicPr preferRelativeResize="0"/>
          <p:nvPr/>
        </p:nvPicPr>
        <p:blipFill>
          <a:blip r:embed="rId4">
            <a:alphaModFix/>
          </a:blip>
          <a:stretch>
            <a:fillRect/>
          </a:stretch>
        </p:blipFill>
        <p:spPr>
          <a:xfrm>
            <a:off x="5488125" y="3268351"/>
            <a:ext cx="3480699" cy="1699699"/>
          </a:xfrm>
          <a:prstGeom prst="rect">
            <a:avLst/>
          </a:prstGeom>
          <a:noFill/>
          <a:ln cap="flat" cmpd="sng" w="9525">
            <a:solidFill>
              <a:schemeClr val="dk2"/>
            </a:solidFill>
            <a:prstDash val="solid"/>
            <a:round/>
            <a:headEnd len="sm" w="sm" type="none"/>
            <a:tailEnd len="sm" w="sm" type="none"/>
          </a:ln>
        </p:spPr>
      </p:pic>
      <p:pic>
        <p:nvPicPr>
          <p:cNvPr id="126" name="Google Shape;126;h65f250d357b111bf_0_44"/>
          <p:cNvPicPr preferRelativeResize="0"/>
          <p:nvPr/>
        </p:nvPicPr>
        <p:blipFill>
          <a:blip r:embed="rId5">
            <a:alphaModFix/>
          </a:blip>
          <a:stretch>
            <a:fillRect/>
          </a:stretch>
        </p:blipFill>
        <p:spPr>
          <a:xfrm>
            <a:off x="363400" y="2449150"/>
            <a:ext cx="4721301" cy="742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h3dfd21779b5c0a09_0_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Gradient Descent</a:t>
            </a:r>
            <a:endParaRPr/>
          </a:p>
        </p:txBody>
      </p:sp>
      <p:pic>
        <p:nvPicPr>
          <p:cNvPr id="132" name="Google Shape;132;h3dfd21779b5c0a09_0_0" title="Gradient_descent.gif"/>
          <p:cNvPicPr preferRelativeResize="0"/>
          <p:nvPr/>
        </p:nvPicPr>
        <p:blipFill>
          <a:blip r:embed="rId3">
            <a:alphaModFix/>
          </a:blip>
          <a:stretch>
            <a:fillRect/>
          </a:stretch>
        </p:blipFill>
        <p:spPr>
          <a:xfrm>
            <a:off x="4884425" y="1056450"/>
            <a:ext cx="3971300" cy="3221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h65f250d357b111bf_0_110"/>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Let's first visualize for a single scalar w</a:t>
            </a:r>
            <a:endParaRPr/>
          </a:p>
        </p:txBody>
      </p:sp>
      <p:pic>
        <p:nvPicPr>
          <p:cNvPr id="139" name="Google Shape;139;h65f250d357b111bf_0_110"/>
          <p:cNvPicPr preferRelativeResize="0"/>
          <p:nvPr>
            <p:ph idx="1" type="body"/>
          </p:nvPr>
        </p:nvPicPr>
        <p:blipFill rotWithShape="1">
          <a:blip r:embed="rId3">
            <a:alphaModFix/>
          </a:blip>
          <a:srcRect b="0" l="0" r="0" t="0"/>
          <a:stretch/>
        </p:blipFill>
        <p:spPr>
          <a:xfrm>
            <a:off x="1961100" y="1207751"/>
            <a:ext cx="5221800" cy="3203700"/>
          </a:xfrm>
          <a:prstGeom prst="rect">
            <a:avLst/>
          </a:prstGeom>
          <a:noFill/>
          <a:ln>
            <a:noFill/>
          </a:ln>
        </p:spPr>
      </p:pic>
      <p:sp>
        <p:nvSpPr>
          <p:cNvPr id="140" name="Google Shape;140;h65f250d357b111bf_0_110"/>
          <p:cNvSpPr txBox="1"/>
          <p:nvPr/>
        </p:nvSpPr>
        <p:spPr>
          <a:xfrm>
            <a:off x="7257600" y="450840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h65f250d357b111bf_0_118"/>
          <p:cNvSpPr txBox="1"/>
          <p:nvPr>
            <p:ph type="title"/>
          </p:nvPr>
        </p:nvSpPr>
        <p:spPr>
          <a:xfrm>
            <a:off x="311700" y="1189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Gradient Descent</a:t>
            </a:r>
            <a:endParaRPr/>
          </a:p>
        </p:txBody>
      </p:sp>
      <p:pic>
        <p:nvPicPr>
          <p:cNvPr id="146" name="Google Shape;146;h65f250d357b111bf_0_118"/>
          <p:cNvPicPr preferRelativeResize="0"/>
          <p:nvPr/>
        </p:nvPicPr>
        <p:blipFill>
          <a:blip r:embed="rId3">
            <a:alphaModFix/>
          </a:blip>
          <a:stretch>
            <a:fillRect/>
          </a:stretch>
        </p:blipFill>
        <p:spPr>
          <a:xfrm>
            <a:off x="311700" y="743050"/>
            <a:ext cx="4142550" cy="4181350"/>
          </a:xfrm>
          <a:prstGeom prst="rect">
            <a:avLst/>
          </a:prstGeom>
          <a:noFill/>
          <a:ln>
            <a:noFill/>
          </a:ln>
        </p:spPr>
      </p:pic>
      <p:sp>
        <p:nvSpPr>
          <p:cNvPr id="147" name="Google Shape;147;h65f250d357b111bf_0_118"/>
          <p:cNvSpPr txBox="1"/>
          <p:nvPr/>
        </p:nvSpPr>
        <p:spPr>
          <a:xfrm>
            <a:off x="7209600" y="4466775"/>
            <a:ext cx="1622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by Gemini</a:t>
            </a:r>
            <a:endParaRPr sz="1800">
              <a:solidFill>
                <a:srgbClr val="434343"/>
              </a:solidFill>
              <a:latin typeface="Comfortaa"/>
              <a:ea typeface="Comfortaa"/>
              <a:cs typeface="Comfortaa"/>
              <a:sym typeface="Comfortaa"/>
            </a:endParaRPr>
          </a:p>
        </p:txBody>
      </p:sp>
      <p:pic>
        <p:nvPicPr>
          <p:cNvPr id="148" name="Google Shape;148;h65f250d357b111bf_0_118"/>
          <p:cNvPicPr preferRelativeResize="0"/>
          <p:nvPr/>
        </p:nvPicPr>
        <p:blipFill>
          <a:blip r:embed="rId4">
            <a:alphaModFix/>
          </a:blip>
          <a:stretch>
            <a:fillRect/>
          </a:stretch>
        </p:blipFill>
        <p:spPr>
          <a:xfrm>
            <a:off x="5376138" y="1170125"/>
            <a:ext cx="2904554" cy="3144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h65f250d357b111bf_0_125"/>
          <p:cNvPicPr preferRelativeResize="0"/>
          <p:nvPr>
            <p:ph idx="1" type="body"/>
          </p:nvPr>
        </p:nvPicPr>
        <p:blipFill rotWithShape="1">
          <a:blip r:embed="rId3">
            <a:alphaModFix/>
          </a:blip>
          <a:srcRect b="0" l="0" r="0" t="0"/>
          <a:stretch/>
        </p:blipFill>
        <p:spPr>
          <a:xfrm>
            <a:off x="1501963" y="877240"/>
            <a:ext cx="6629400" cy="3166800"/>
          </a:xfrm>
          <a:prstGeom prst="rect">
            <a:avLst/>
          </a:prstGeom>
          <a:noFill/>
          <a:ln>
            <a:noFill/>
          </a:ln>
        </p:spPr>
      </p:pic>
      <p:sp>
        <p:nvSpPr>
          <p:cNvPr id="155" name="Google Shape;155;h65f250d357b111bf_0_125"/>
          <p:cNvSpPr txBox="1"/>
          <p:nvPr>
            <p:ph type="title"/>
          </p:nvPr>
        </p:nvSpPr>
        <p:spPr>
          <a:xfrm>
            <a:off x="349800" y="227400"/>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Let's first visualize for a single scalar w</a:t>
            </a:r>
            <a:endParaRPr/>
          </a:p>
        </p:txBody>
      </p:sp>
      <p:sp>
        <p:nvSpPr>
          <p:cNvPr id="156" name="Google Shape;156;h65f250d357b111bf_0_125"/>
          <p:cNvSpPr txBox="1"/>
          <p:nvPr/>
        </p:nvSpPr>
        <p:spPr>
          <a:xfrm>
            <a:off x="1012638" y="2892950"/>
            <a:ext cx="2584200" cy="354000"/>
          </a:xfrm>
          <a:prstGeom prst="rect">
            <a:avLst/>
          </a:prstGeom>
          <a:noFill/>
          <a:ln>
            <a:noFill/>
          </a:ln>
        </p:spPr>
        <p:txBody>
          <a:bodyPr anchorCtr="0" anchor="t" bIns="45700" lIns="91425" spcFirstLastPara="1" rIns="91425" wrap="square" tIns="45700">
            <a:spAutoFit/>
          </a:bodyPr>
          <a:lstStyle/>
          <a:p>
            <a:pPr indent="0" lvl="1" marL="0" marR="0" rtl="0" algn="l">
              <a:spcBef>
                <a:spcPts val="0"/>
              </a:spcBef>
              <a:spcAft>
                <a:spcPts val="0"/>
              </a:spcAft>
              <a:buNone/>
            </a:pPr>
            <a:r>
              <a:rPr b="1" i="0" lang="pt-BR" sz="1700" u="none" cap="none" strike="noStrike">
                <a:solidFill>
                  <a:schemeClr val="dk1"/>
                </a:solidFill>
                <a:latin typeface="Comfortaa"/>
                <a:ea typeface="Comfortaa"/>
                <a:cs typeface="Comfortaa"/>
                <a:sym typeface="Comfortaa"/>
              </a:rPr>
              <a:t>So we'll move positive</a:t>
            </a:r>
            <a:endParaRPr b="1" sz="1100">
              <a:latin typeface="Comfortaa"/>
              <a:ea typeface="Comfortaa"/>
              <a:cs typeface="Comfortaa"/>
              <a:sym typeface="Comfortaa"/>
            </a:endParaRPr>
          </a:p>
        </p:txBody>
      </p:sp>
      <p:sp>
        <p:nvSpPr>
          <p:cNvPr id="157" name="Google Shape;157;h65f250d357b111bf_0_125"/>
          <p:cNvSpPr txBox="1"/>
          <p:nvPr/>
        </p:nvSpPr>
        <p:spPr>
          <a:xfrm>
            <a:off x="7257600" y="450840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h65f250d357b111bf_0_181"/>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Imagine 2 dimensions, w and b</a:t>
            </a:r>
            <a:endParaRPr/>
          </a:p>
        </p:txBody>
      </p:sp>
      <p:sp>
        <p:nvSpPr>
          <p:cNvPr id="164" name="Google Shape;164;h65f250d357b111bf_0_181"/>
          <p:cNvSpPr txBox="1"/>
          <p:nvPr>
            <p:ph idx="4294967295" type="body"/>
          </p:nvPr>
        </p:nvSpPr>
        <p:spPr>
          <a:xfrm>
            <a:off x="457175" y="1242000"/>
            <a:ext cx="2895600" cy="3745200"/>
          </a:xfrm>
          <a:prstGeom prst="rect">
            <a:avLst/>
          </a:prstGeom>
          <a:noFill/>
          <a:ln>
            <a:noFill/>
          </a:ln>
        </p:spPr>
        <p:txBody>
          <a:bodyPr anchorCtr="0" anchor="t" bIns="45700" lIns="0" spcFirstLastPara="1" rIns="0" wrap="square" tIns="45700">
            <a:normAutofit lnSpcReduction="20000"/>
          </a:bodyPr>
          <a:lstStyle/>
          <a:p>
            <a:pPr indent="0" lvl="0" marL="0" rtl="0" algn="l">
              <a:spcBef>
                <a:spcPts val="0"/>
              </a:spcBef>
              <a:spcAft>
                <a:spcPts val="0"/>
              </a:spcAft>
              <a:buSzPts val="2800"/>
              <a:buNone/>
            </a:pPr>
            <a:r>
              <a:rPr lang="pt-BR"/>
              <a:t>Visualizing the gradient vector at the red point</a:t>
            </a:r>
            <a:endParaRPr/>
          </a:p>
          <a:p>
            <a:pPr indent="0" lvl="0" marL="0" rtl="0" algn="l">
              <a:spcBef>
                <a:spcPts val="0"/>
              </a:spcBef>
              <a:spcAft>
                <a:spcPts val="0"/>
              </a:spcAft>
              <a:buSzPts val="2800"/>
              <a:buNone/>
            </a:pPr>
            <a:r>
              <a:rPr lang="pt-BR"/>
              <a:t>It has two dimensions shown in the x-y plane</a:t>
            </a:r>
            <a:endParaRPr/>
          </a:p>
        </p:txBody>
      </p:sp>
      <p:pic>
        <p:nvPicPr>
          <p:cNvPr id="165" name="Google Shape;165;h65f250d357b111bf_0_181"/>
          <p:cNvPicPr preferRelativeResize="0"/>
          <p:nvPr/>
        </p:nvPicPr>
        <p:blipFill rotWithShape="1">
          <a:blip r:embed="rId3">
            <a:alphaModFix/>
          </a:blip>
          <a:srcRect b="0" l="0" r="0" t="0"/>
          <a:stretch/>
        </p:blipFill>
        <p:spPr>
          <a:xfrm>
            <a:off x="3654289" y="971550"/>
            <a:ext cx="5340626" cy="3901536"/>
          </a:xfrm>
          <a:prstGeom prst="rect">
            <a:avLst/>
          </a:prstGeom>
          <a:noFill/>
          <a:ln>
            <a:noFill/>
          </a:ln>
        </p:spPr>
      </p:pic>
      <p:sp>
        <p:nvSpPr>
          <p:cNvPr id="166" name="Google Shape;166;h65f250d357b111bf_0_181"/>
          <p:cNvSpPr txBox="1"/>
          <p:nvPr/>
        </p:nvSpPr>
        <p:spPr>
          <a:xfrm>
            <a:off x="7420225" y="131425"/>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h65f250d357b111bf_0_10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172" name="Google Shape;172;h65f250d357b111bf_0_1035"/>
          <p:cNvCxnSpPr/>
          <p:nvPr/>
        </p:nvCxnSpPr>
        <p:spPr>
          <a:xfrm flipH="1" rot="10800000">
            <a:off x="1502858" y="2014225"/>
            <a:ext cx="3076500" cy="1776000"/>
          </a:xfrm>
          <a:prstGeom prst="straightConnector1">
            <a:avLst/>
          </a:prstGeom>
          <a:noFill/>
          <a:ln cap="flat" cmpd="sng" w="28575">
            <a:solidFill>
              <a:schemeClr val="dk2"/>
            </a:solidFill>
            <a:prstDash val="solid"/>
            <a:round/>
            <a:headEnd len="med" w="med" type="none"/>
            <a:tailEnd len="med" w="med" type="stealth"/>
          </a:ln>
        </p:spPr>
      </p:cxnSp>
      <p:cxnSp>
        <p:nvCxnSpPr>
          <p:cNvPr id="173" name="Google Shape;173;h65f250d357b111bf_0_1035"/>
          <p:cNvCxnSpPr/>
          <p:nvPr/>
        </p:nvCxnSpPr>
        <p:spPr>
          <a:xfrm>
            <a:off x="1376400" y="3545883"/>
            <a:ext cx="4695000" cy="0"/>
          </a:xfrm>
          <a:prstGeom prst="straightConnector1">
            <a:avLst/>
          </a:prstGeom>
          <a:noFill/>
          <a:ln cap="flat" cmpd="sng" w="28575">
            <a:solidFill>
              <a:schemeClr val="dk2"/>
            </a:solidFill>
            <a:prstDash val="solid"/>
            <a:round/>
            <a:headEnd len="med" w="med" type="none"/>
            <a:tailEnd len="med" w="med" type="stealth"/>
          </a:ln>
        </p:spPr>
      </p:cxnSp>
      <p:cxnSp>
        <p:nvCxnSpPr>
          <p:cNvPr id="174" name="Google Shape;174;h65f250d357b111bf_0_1035"/>
          <p:cNvCxnSpPr/>
          <p:nvPr/>
        </p:nvCxnSpPr>
        <p:spPr>
          <a:xfrm rot="10800000">
            <a:off x="1930260" y="1296475"/>
            <a:ext cx="0" cy="2564700"/>
          </a:xfrm>
          <a:prstGeom prst="straightConnector1">
            <a:avLst/>
          </a:prstGeom>
          <a:noFill/>
          <a:ln cap="flat" cmpd="sng" w="28575">
            <a:solidFill>
              <a:schemeClr val="dk2"/>
            </a:solidFill>
            <a:prstDash val="solid"/>
            <a:round/>
            <a:headEnd len="med" w="med" type="none"/>
            <a:tailEnd len="med" w="med" type="stealth"/>
          </a:ln>
        </p:spPr>
      </p:cxnSp>
      <p:cxnSp>
        <p:nvCxnSpPr>
          <p:cNvPr id="175" name="Google Shape;175;h65f250d357b111bf_0_1035"/>
          <p:cNvCxnSpPr/>
          <p:nvPr/>
        </p:nvCxnSpPr>
        <p:spPr>
          <a:xfrm>
            <a:off x="1948075" y="3545800"/>
            <a:ext cx="1744800" cy="0"/>
          </a:xfrm>
          <a:prstGeom prst="straightConnector1">
            <a:avLst/>
          </a:prstGeom>
          <a:noFill/>
          <a:ln cap="flat" cmpd="sng" w="38100">
            <a:solidFill>
              <a:srgbClr val="FF0000"/>
            </a:solidFill>
            <a:prstDash val="solid"/>
            <a:round/>
            <a:headEnd len="med" w="med" type="none"/>
            <a:tailEnd len="med" w="med" type="stealth"/>
          </a:ln>
        </p:spPr>
      </p:cxnSp>
      <p:cxnSp>
        <p:nvCxnSpPr>
          <p:cNvPr id="176" name="Google Shape;176;h65f250d357b111bf_0_1035"/>
          <p:cNvCxnSpPr/>
          <p:nvPr/>
        </p:nvCxnSpPr>
        <p:spPr>
          <a:xfrm flipH="1" rot="10800000">
            <a:off x="1962075" y="3125575"/>
            <a:ext cx="666900" cy="385200"/>
          </a:xfrm>
          <a:prstGeom prst="straightConnector1">
            <a:avLst/>
          </a:prstGeom>
          <a:noFill/>
          <a:ln cap="flat" cmpd="sng" w="38100">
            <a:solidFill>
              <a:srgbClr val="0000FF"/>
            </a:solidFill>
            <a:prstDash val="solid"/>
            <a:round/>
            <a:headEnd len="med" w="med" type="none"/>
            <a:tailEnd len="med" w="med" type="stealth"/>
          </a:ln>
        </p:spPr>
      </p:cxnSp>
      <p:cxnSp>
        <p:nvCxnSpPr>
          <p:cNvPr id="177" name="Google Shape;177;h65f250d357b111bf_0_1035"/>
          <p:cNvCxnSpPr/>
          <p:nvPr/>
        </p:nvCxnSpPr>
        <p:spPr>
          <a:xfrm rot="10800000">
            <a:off x="1920050" y="1499675"/>
            <a:ext cx="0" cy="2018100"/>
          </a:xfrm>
          <a:prstGeom prst="straightConnector1">
            <a:avLst/>
          </a:prstGeom>
          <a:noFill/>
          <a:ln cap="flat" cmpd="sng" w="38100">
            <a:solidFill>
              <a:srgbClr val="9900FF"/>
            </a:solidFill>
            <a:prstDash val="solid"/>
            <a:round/>
            <a:headEnd len="med" w="med" type="none"/>
            <a:tailEnd len="med" w="med" type="stealth"/>
          </a:ln>
        </p:spPr>
      </p:cxnSp>
      <p:sp>
        <p:nvSpPr>
          <p:cNvPr id="178" name="Google Shape;178;h65f250d357b111bf_0_1035"/>
          <p:cNvSpPr txBox="1"/>
          <p:nvPr/>
        </p:nvSpPr>
        <p:spPr>
          <a:xfrm>
            <a:off x="3356575" y="3642100"/>
            <a:ext cx="28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a:solidFill>
                  <a:srgbClr val="FF0000"/>
                </a:solidFill>
                <a:latin typeface="Comfortaa"/>
                <a:ea typeface="Comfortaa"/>
                <a:cs typeface="Comfortaa"/>
                <a:sym typeface="Comfortaa"/>
              </a:rPr>
              <a:t>5</a:t>
            </a:r>
            <a:endParaRPr b="1">
              <a:solidFill>
                <a:srgbClr val="FF0000"/>
              </a:solidFill>
              <a:latin typeface="Comfortaa"/>
              <a:ea typeface="Comfortaa"/>
              <a:cs typeface="Comfortaa"/>
              <a:sym typeface="Comfortaa"/>
            </a:endParaRPr>
          </a:p>
        </p:txBody>
      </p:sp>
      <p:sp>
        <p:nvSpPr>
          <p:cNvPr id="179" name="Google Shape;179;h65f250d357b111bf_0_1035"/>
          <p:cNvSpPr txBox="1"/>
          <p:nvPr/>
        </p:nvSpPr>
        <p:spPr>
          <a:xfrm>
            <a:off x="1144450" y="1591725"/>
            <a:ext cx="3788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000">
              <a:solidFill>
                <a:srgbClr val="434343"/>
              </a:solidFill>
              <a:latin typeface="Comfortaa"/>
              <a:ea typeface="Comfortaa"/>
              <a:cs typeface="Comfortaa"/>
              <a:sym typeface="Comfortaa"/>
            </a:endParaRPr>
          </a:p>
        </p:txBody>
      </p:sp>
      <p:sp>
        <p:nvSpPr>
          <p:cNvPr id="180" name="Google Shape;180;h65f250d357b111bf_0_1035"/>
          <p:cNvSpPr txBox="1"/>
          <p:nvPr/>
        </p:nvSpPr>
        <p:spPr>
          <a:xfrm>
            <a:off x="1376400" y="1614025"/>
            <a:ext cx="38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a:solidFill>
                  <a:srgbClr val="9900FF"/>
                </a:solidFill>
                <a:latin typeface="Comfortaa"/>
                <a:ea typeface="Comfortaa"/>
                <a:cs typeface="Comfortaa"/>
                <a:sym typeface="Comfortaa"/>
              </a:rPr>
              <a:t>10</a:t>
            </a:r>
            <a:endParaRPr b="1">
              <a:solidFill>
                <a:srgbClr val="9900FF"/>
              </a:solidFill>
              <a:latin typeface="Comfortaa"/>
              <a:ea typeface="Comfortaa"/>
              <a:cs typeface="Comfortaa"/>
              <a:sym typeface="Comfortaa"/>
            </a:endParaRPr>
          </a:p>
        </p:txBody>
      </p:sp>
      <p:sp>
        <p:nvSpPr>
          <p:cNvPr id="181" name="Google Shape;181;h65f250d357b111bf_0_1035"/>
          <p:cNvSpPr txBox="1"/>
          <p:nvPr/>
        </p:nvSpPr>
        <p:spPr>
          <a:xfrm>
            <a:off x="2348775" y="2605125"/>
            <a:ext cx="28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a:solidFill>
                  <a:srgbClr val="0000FF"/>
                </a:solidFill>
                <a:latin typeface="Comfortaa"/>
                <a:ea typeface="Comfortaa"/>
                <a:cs typeface="Comfortaa"/>
                <a:sym typeface="Comfortaa"/>
              </a:rPr>
              <a:t>2</a:t>
            </a:r>
            <a:endParaRPr b="1">
              <a:solidFill>
                <a:srgbClr val="0000FF"/>
              </a:solidFill>
              <a:latin typeface="Comfortaa"/>
              <a:ea typeface="Comfortaa"/>
              <a:cs typeface="Comfortaa"/>
              <a:sym typeface="Comfortaa"/>
            </a:endParaRPr>
          </a:p>
        </p:txBody>
      </p:sp>
      <p:sp>
        <p:nvSpPr>
          <p:cNvPr id="182" name="Google Shape;182;h65f250d357b111bf_0_1035"/>
          <p:cNvSpPr txBox="1"/>
          <p:nvPr/>
        </p:nvSpPr>
        <p:spPr>
          <a:xfrm>
            <a:off x="5301350" y="1381250"/>
            <a:ext cx="1420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[5,10,2]</a:t>
            </a:r>
            <a:endParaRPr sz="3000">
              <a:solidFill>
                <a:srgbClr val="434343"/>
              </a:solidFill>
              <a:latin typeface="Comfortaa"/>
              <a:ea typeface="Comfortaa"/>
              <a:cs typeface="Comfortaa"/>
              <a:sym typeface="Comfortaa"/>
            </a:endParaRPr>
          </a:p>
        </p:txBody>
      </p:sp>
      <p:cxnSp>
        <p:nvCxnSpPr>
          <p:cNvPr id="183" name="Google Shape;183;h65f250d357b111bf_0_1035"/>
          <p:cNvCxnSpPr/>
          <p:nvPr/>
        </p:nvCxnSpPr>
        <p:spPr>
          <a:xfrm flipH="1" rot="10800000">
            <a:off x="1927175" y="2269050"/>
            <a:ext cx="1591800" cy="1263000"/>
          </a:xfrm>
          <a:prstGeom prst="straightConnector1">
            <a:avLst/>
          </a:prstGeom>
          <a:noFill/>
          <a:ln cap="flat" cmpd="sng" w="28575">
            <a:solidFill>
              <a:srgbClr val="980000"/>
            </a:solidFill>
            <a:prstDash val="solid"/>
            <a:round/>
            <a:headEnd len="med" w="med" type="none"/>
            <a:tailEnd len="med" w="med" type="stealth"/>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h65f250d357b111bf_0_237"/>
          <p:cNvSpPr txBox="1"/>
          <p:nvPr>
            <p:ph type="title"/>
          </p:nvPr>
        </p:nvSpPr>
        <p:spPr>
          <a:xfrm>
            <a:off x="311700" y="57950"/>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The gradient</a:t>
            </a:r>
            <a:endParaRPr/>
          </a:p>
        </p:txBody>
      </p:sp>
      <p:sp>
        <p:nvSpPr>
          <p:cNvPr id="190" name="Google Shape;190;h65f250d357b111bf_0_237"/>
          <p:cNvSpPr txBox="1"/>
          <p:nvPr>
            <p:ph idx="1" type="body"/>
          </p:nvPr>
        </p:nvSpPr>
        <p:spPr>
          <a:xfrm>
            <a:off x="311700" y="705850"/>
            <a:ext cx="8520600" cy="111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800"/>
              <a:t>We’ll represent ŷ as f (x; θ) to make the dependence of θ more obvious:</a:t>
            </a:r>
            <a:endParaRPr sz="1800"/>
          </a:p>
        </p:txBody>
      </p:sp>
      <p:sp>
        <p:nvSpPr>
          <p:cNvPr id="191" name="Google Shape;191;h65f250d357b111bf_0_237"/>
          <p:cNvSpPr txBox="1"/>
          <p:nvPr/>
        </p:nvSpPr>
        <p:spPr>
          <a:xfrm>
            <a:off x="311700" y="3669675"/>
            <a:ext cx="819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The final equation for updating θ based on the gradient is thus </a:t>
            </a:r>
            <a:endParaRPr sz="1800">
              <a:solidFill>
                <a:srgbClr val="434343"/>
              </a:solidFill>
              <a:latin typeface="Comfortaa"/>
              <a:ea typeface="Comfortaa"/>
              <a:cs typeface="Comfortaa"/>
              <a:sym typeface="Comfortaa"/>
            </a:endParaRPr>
          </a:p>
        </p:txBody>
      </p:sp>
      <p:pic>
        <p:nvPicPr>
          <p:cNvPr id="192" name="Google Shape;192;h65f250d357b111bf_0_237"/>
          <p:cNvPicPr preferRelativeResize="0"/>
          <p:nvPr/>
        </p:nvPicPr>
        <p:blipFill>
          <a:blip r:embed="rId3">
            <a:alphaModFix/>
          </a:blip>
          <a:stretch>
            <a:fillRect/>
          </a:stretch>
        </p:blipFill>
        <p:spPr>
          <a:xfrm>
            <a:off x="1563150" y="1161813"/>
            <a:ext cx="6416349" cy="2462575"/>
          </a:xfrm>
          <a:prstGeom prst="rect">
            <a:avLst/>
          </a:prstGeom>
          <a:noFill/>
          <a:ln>
            <a:noFill/>
          </a:ln>
        </p:spPr>
      </p:pic>
      <p:pic>
        <p:nvPicPr>
          <p:cNvPr id="193" name="Google Shape;193;h65f250d357b111bf_0_237"/>
          <p:cNvPicPr preferRelativeResize="0"/>
          <p:nvPr/>
        </p:nvPicPr>
        <p:blipFill>
          <a:blip r:embed="rId4">
            <a:alphaModFix/>
          </a:blip>
          <a:stretch>
            <a:fillRect/>
          </a:stretch>
        </p:blipFill>
        <p:spPr>
          <a:xfrm>
            <a:off x="1689950" y="4239100"/>
            <a:ext cx="6162758" cy="707325"/>
          </a:xfrm>
          <a:prstGeom prst="rect">
            <a:avLst/>
          </a:prstGeom>
          <a:noFill/>
          <a:ln>
            <a:noFill/>
          </a:ln>
        </p:spPr>
      </p:pic>
      <p:sp>
        <p:nvSpPr>
          <p:cNvPr id="194" name="Google Shape;194;h65f250d357b111bf_0_237"/>
          <p:cNvSpPr txBox="1"/>
          <p:nvPr/>
        </p:nvSpPr>
        <p:spPr>
          <a:xfrm>
            <a:off x="7350725" y="23045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h65f250d357b111bf_0_1005"/>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Computation Graphs</a:t>
            </a:r>
            <a:endParaRPr/>
          </a:p>
        </p:txBody>
      </p:sp>
      <p:sp>
        <p:nvSpPr>
          <p:cNvPr id="200" name="Google Shape;200;h65f250d357b111bf_0_1005"/>
          <p:cNvSpPr/>
          <p:nvPr/>
        </p:nvSpPr>
        <p:spPr>
          <a:xfrm>
            <a:off x="4748475" y="2290350"/>
            <a:ext cx="562800" cy="562800"/>
          </a:xfrm>
          <a:prstGeom prst="ellipse">
            <a:avLst/>
          </a:prstGeom>
          <a:solidFill>
            <a:schemeClr val="lt2"/>
          </a:solidFill>
          <a:ln cap="flat" cmpd="sng" w="24950">
            <a:solidFill>
              <a:schemeClr val="dk2"/>
            </a:solidFill>
            <a:prstDash val="solid"/>
            <a:round/>
            <a:headEnd len="sm" w="sm" type="none"/>
            <a:tailEnd len="sm" w="sm" type="none"/>
          </a:ln>
        </p:spPr>
        <p:txBody>
          <a:bodyPr anchorCtr="0" anchor="ctr" bIns="79825" lIns="79825" spcFirstLastPara="1" rIns="79825" wrap="square" tIns="79825">
            <a:noAutofit/>
          </a:bodyPr>
          <a:lstStyle/>
          <a:p>
            <a:pPr indent="0" lvl="0" marL="0" rtl="0" algn="ctr">
              <a:spcBef>
                <a:spcPts val="0"/>
              </a:spcBef>
              <a:spcAft>
                <a:spcPts val="0"/>
              </a:spcAft>
              <a:buNone/>
            </a:pPr>
            <a:r>
              <a:rPr lang="pt-BR" sz="2008">
                <a:latin typeface="Comfortaa"/>
                <a:ea typeface="Comfortaa"/>
                <a:cs typeface="Comfortaa"/>
                <a:sym typeface="Comfortaa"/>
              </a:rPr>
              <a:t>x</a:t>
            </a:r>
            <a:endParaRPr sz="2008">
              <a:latin typeface="Comfortaa"/>
              <a:ea typeface="Comfortaa"/>
              <a:cs typeface="Comfortaa"/>
              <a:sym typeface="Comfortaa"/>
            </a:endParaRPr>
          </a:p>
        </p:txBody>
      </p:sp>
      <p:sp>
        <p:nvSpPr>
          <p:cNvPr id="201" name="Google Shape;201;h65f250d357b111bf_0_1005"/>
          <p:cNvSpPr/>
          <p:nvPr/>
        </p:nvSpPr>
        <p:spPr>
          <a:xfrm>
            <a:off x="6182208" y="2290350"/>
            <a:ext cx="955800" cy="562800"/>
          </a:xfrm>
          <a:prstGeom prst="ellipse">
            <a:avLst/>
          </a:prstGeom>
          <a:solidFill>
            <a:schemeClr val="lt2"/>
          </a:solidFill>
          <a:ln cap="flat" cmpd="sng" w="24950">
            <a:solidFill>
              <a:schemeClr val="dk2"/>
            </a:solidFill>
            <a:prstDash val="solid"/>
            <a:round/>
            <a:headEnd len="sm" w="sm" type="none"/>
            <a:tailEnd len="sm" w="sm" type="none"/>
          </a:ln>
        </p:spPr>
        <p:txBody>
          <a:bodyPr anchorCtr="0" anchor="ctr" bIns="79825" lIns="79825" spcFirstLastPara="1" rIns="79825" wrap="square" tIns="79825">
            <a:noAutofit/>
          </a:bodyPr>
          <a:lstStyle/>
          <a:p>
            <a:pPr indent="0" lvl="0" marL="0" rtl="0" algn="ctr">
              <a:spcBef>
                <a:spcPts val="0"/>
              </a:spcBef>
              <a:spcAft>
                <a:spcPts val="0"/>
              </a:spcAft>
              <a:buNone/>
            </a:pPr>
            <a:r>
              <a:rPr lang="pt-BR" sz="2008">
                <a:latin typeface="Comfortaa"/>
                <a:ea typeface="Comfortaa"/>
                <a:cs typeface="Comfortaa"/>
                <a:sym typeface="Comfortaa"/>
              </a:rPr>
              <a:t>v=x²</a:t>
            </a:r>
            <a:endParaRPr sz="2008">
              <a:latin typeface="Comfortaa"/>
              <a:ea typeface="Comfortaa"/>
              <a:cs typeface="Comfortaa"/>
              <a:sym typeface="Comfortaa"/>
            </a:endParaRPr>
          </a:p>
        </p:txBody>
      </p:sp>
      <p:sp>
        <p:nvSpPr>
          <p:cNvPr id="202" name="Google Shape;202;h65f250d357b111bf_0_1005"/>
          <p:cNvSpPr/>
          <p:nvPr/>
        </p:nvSpPr>
        <p:spPr>
          <a:xfrm>
            <a:off x="7836976" y="2290350"/>
            <a:ext cx="1085100" cy="562800"/>
          </a:xfrm>
          <a:prstGeom prst="ellipse">
            <a:avLst/>
          </a:prstGeom>
          <a:solidFill>
            <a:schemeClr val="lt2"/>
          </a:solidFill>
          <a:ln cap="flat" cmpd="sng" w="24950">
            <a:solidFill>
              <a:schemeClr val="dk2"/>
            </a:solidFill>
            <a:prstDash val="solid"/>
            <a:round/>
            <a:headEnd len="sm" w="sm" type="none"/>
            <a:tailEnd len="sm" w="sm" type="none"/>
          </a:ln>
        </p:spPr>
        <p:txBody>
          <a:bodyPr anchorCtr="0" anchor="ctr" bIns="79825" lIns="79825" spcFirstLastPara="1" rIns="79825" wrap="square" tIns="79825">
            <a:noAutofit/>
          </a:bodyPr>
          <a:lstStyle/>
          <a:p>
            <a:pPr indent="0" lvl="0" marL="0" rtl="0" algn="ctr">
              <a:spcBef>
                <a:spcPts val="0"/>
              </a:spcBef>
              <a:spcAft>
                <a:spcPts val="0"/>
              </a:spcAft>
              <a:buNone/>
            </a:pPr>
            <a:r>
              <a:rPr lang="pt-BR" sz="2008">
                <a:latin typeface="Comfortaa"/>
                <a:ea typeface="Comfortaa"/>
                <a:cs typeface="Comfortaa"/>
                <a:sym typeface="Comfortaa"/>
              </a:rPr>
              <a:t>u=-v</a:t>
            </a:r>
            <a:endParaRPr sz="2008">
              <a:latin typeface="Comfortaa"/>
              <a:ea typeface="Comfortaa"/>
              <a:cs typeface="Comfortaa"/>
              <a:sym typeface="Comfortaa"/>
            </a:endParaRPr>
          </a:p>
        </p:txBody>
      </p:sp>
      <p:cxnSp>
        <p:nvCxnSpPr>
          <p:cNvPr id="203" name="Google Shape;203;h65f250d357b111bf_0_1005"/>
          <p:cNvCxnSpPr>
            <a:stCxn id="200" idx="6"/>
            <a:endCxn id="201" idx="2"/>
          </p:cNvCxnSpPr>
          <p:nvPr/>
        </p:nvCxnSpPr>
        <p:spPr>
          <a:xfrm>
            <a:off x="5311275" y="2571750"/>
            <a:ext cx="870900" cy="0"/>
          </a:xfrm>
          <a:prstGeom prst="straightConnector1">
            <a:avLst/>
          </a:prstGeom>
          <a:noFill/>
          <a:ln cap="flat" cmpd="sng" w="24950">
            <a:solidFill>
              <a:schemeClr val="dk2"/>
            </a:solidFill>
            <a:prstDash val="solid"/>
            <a:round/>
            <a:headEnd len="med" w="med" type="none"/>
            <a:tailEnd len="med" w="med" type="stealth"/>
          </a:ln>
        </p:spPr>
      </p:cxnSp>
      <p:cxnSp>
        <p:nvCxnSpPr>
          <p:cNvPr id="204" name="Google Shape;204;h65f250d357b111bf_0_1005"/>
          <p:cNvCxnSpPr>
            <a:stCxn id="201" idx="6"/>
            <a:endCxn id="202" idx="2"/>
          </p:cNvCxnSpPr>
          <p:nvPr/>
        </p:nvCxnSpPr>
        <p:spPr>
          <a:xfrm>
            <a:off x="7138008" y="2571750"/>
            <a:ext cx="699000" cy="0"/>
          </a:xfrm>
          <a:prstGeom prst="straightConnector1">
            <a:avLst/>
          </a:prstGeom>
          <a:noFill/>
          <a:ln cap="flat" cmpd="sng" w="24950">
            <a:solidFill>
              <a:schemeClr val="dk2"/>
            </a:solidFill>
            <a:prstDash val="solid"/>
            <a:round/>
            <a:headEnd len="med" w="med" type="none"/>
            <a:tailEnd len="med" w="med" type="stealth"/>
          </a:ln>
        </p:spPr>
      </p:cxnSp>
      <p:sp>
        <p:nvSpPr>
          <p:cNvPr id="205" name="Google Shape;205;h65f250d357b111bf_0_1005"/>
          <p:cNvSpPr txBox="1"/>
          <p:nvPr/>
        </p:nvSpPr>
        <p:spPr>
          <a:xfrm>
            <a:off x="5865650" y="1045900"/>
            <a:ext cx="1669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600">
                <a:solidFill>
                  <a:srgbClr val="434343"/>
                </a:solidFill>
                <a:latin typeface="Comfortaa"/>
                <a:ea typeface="Comfortaa"/>
                <a:cs typeface="Comfortaa"/>
                <a:sym typeface="Comfortaa"/>
              </a:rPr>
              <a:t>f(x)=-x²</a:t>
            </a:r>
            <a:endParaRPr sz="3600">
              <a:solidFill>
                <a:srgbClr val="434343"/>
              </a:solidFill>
              <a:latin typeface="Comfortaa"/>
              <a:ea typeface="Comfortaa"/>
              <a:cs typeface="Comfortaa"/>
              <a:sym typeface="Comforta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h65f250d357b111bf_0_1017"/>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pt-BR"/>
              <a:t>Why Computation Graphs</a:t>
            </a:r>
            <a:endParaRPr/>
          </a:p>
        </p:txBody>
      </p:sp>
      <p:sp>
        <p:nvSpPr>
          <p:cNvPr id="212" name="Google Shape;212;h65f250d357b111bf_0_1017"/>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fontScale="92500" lnSpcReduction="20000"/>
          </a:bodyPr>
          <a:lstStyle/>
          <a:p>
            <a:pPr indent="-7938" lvl="0" marL="7938" rtl="0" algn="l">
              <a:lnSpc>
                <a:spcPct val="90000"/>
              </a:lnSpc>
              <a:spcBef>
                <a:spcPts val="0"/>
              </a:spcBef>
              <a:spcAft>
                <a:spcPts val="0"/>
              </a:spcAft>
              <a:buSzPct val="93333"/>
              <a:buNone/>
            </a:pPr>
            <a:r>
              <a:rPr lang="pt-BR"/>
              <a:t>For training, we need the derivative of the loss with respect to each weight in every layer of the network </a:t>
            </a:r>
            <a:endParaRPr/>
          </a:p>
          <a:p>
            <a:pPr indent="-416232" lvl="0" marL="428615" rtl="0" algn="l">
              <a:lnSpc>
                <a:spcPct val="90000"/>
              </a:lnSpc>
              <a:spcBef>
                <a:spcPts val="1050"/>
              </a:spcBef>
              <a:spcAft>
                <a:spcPts val="0"/>
              </a:spcAft>
              <a:buSzPct val="100000"/>
              <a:buFont typeface="Arial"/>
              <a:buChar char="•"/>
            </a:pPr>
            <a:r>
              <a:rPr lang="pt-BR" sz="2600"/>
              <a:t>But the loss is computed only at the very end of the network! </a:t>
            </a:r>
            <a:endParaRPr/>
          </a:p>
          <a:p>
            <a:pPr indent="-7938" lvl="0" marL="7938" rtl="0" algn="l">
              <a:lnSpc>
                <a:spcPct val="90000"/>
              </a:lnSpc>
              <a:spcBef>
                <a:spcPts val="1050"/>
              </a:spcBef>
              <a:spcAft>
                <a:spcPts val="0"/>
              </a:spcAft>
              <a:buSzPct val="93333"/>
              <a:buNone/>
            </a:pPr>
            <a:r>
              <a:rPr lang="pt-BR"/>
              <a:t>Solution: </a:t>
            </a:r>
            <a:r>
              <a:rPr b="1" lang="pt-BR"/>
              <a:t>error backpropagation </a:t>
            </a:r>
            <a:r>
              <a:rPr lang="pt-BR" sz="1600"/>
              <a:t>(Rumelhart, Hinton, Williams, 1986) </a:t>
            </a:r>
            <a:endParaRPr/>
          </a:p>
          <a:p>
            <a:pPr indent="-416232" lvl="0" marL="428615" rtl="0" algn="l">
              <a:lnSpc>
                <a:spcPct val="90000"/>
              </a:lnSpc>
              <a:spcBef>
                <a:spcPts val="1050"/>
              </a:spcBef>
              <a:spcAft>
                <a:spcPts val="0"/>
              </a:spcAft>
              <a:buSzPct val="100000"/>
              <a:buFont typeface="Arial"/>
              <a:buChar char="•"/>
            </a:pPr>
            <a:r>
              <a:rPr b="1" lang="pt-BR" sz="2600"/>
              <a:t>Backprop</a:t>
            </a:r>
            <a:r>
              <a:rPr lang="pt-BR" sz="2600"/>
              <a:t> is a special case of </a:t>
            </a:r>
            <a:r>
              <a:rPr b="1" lang="pt-BR" sz="2600"/>
              <a:t>backward differentiation</a:t>
            </a:r>
            <a:endParaRPr sz="2600"/>
          </a:p>
          <a:p>
            <a:pPr indent="-416232" lvl="0" marL="428615" rtl="0" algn="l">
              <a:lnSpc>
                <a:spcPct val="90000"/>
              </a:lnSpc>
              <a:spcBef>
                <a:spcPts val="1050"/>
              </a:spcBef>
              <a:spcAft>
                <a:spcPts val="0"/>
              </a:spcAft>
              <a:buSzPct val="100000"/>
              <a:buFont typeface="Arial"/>
              <a:buChar char="•"/>
            </a:pPr>
            <a:r>
              <a:rPr lang="pt-BR" sz="2600"/>
              <a:t>Which relies on </a:t>
            </a:r>
            <a:r>
              <a:rPr b="1" lang="pt-BR" sz="2600"/>
              <a:t>computation graphs</a:t>
            </a:r>
            <a:r>
              <a:rPr lang="pt-BR" sz="2600"/>
              <a:t>. </a:t>
            </a:r>
            <a:endParaRPr/>
          </a:p>
        </p:txBody>
      </p:sp>
      <p:sp>
        <p:nvSpPr>
          <p:cNvPr id="213" name="Google Shape;213;h65f250d357b111bf_0_1017"/>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214" name="Google Shape;214;h65f250d357b111bf_0_1017"/>
          <p:cNvSpPr txBox="1"/>
          <p:nvPr/>
        </p:nvSpPr>
        <p:spPr>
          <a:xfrm>
            <a:off x="7257600" y="450840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h65f250d357b111bf_0_1024"/>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pt-BR"/>
              <a:t>Computation Graphs</a:t>
            </a:r>
            <a:endParaRPr/>
          </a:p>
        </p:txBody>
      </p:sp>
      <p:sp>
        <p:nvSpPr>
          <p:cNvPr id="221" name="Google Shape;221;h65f250d357b111bf_0_1024"/>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3000"/>
              <a:buNone/>
            </a:pPr>
            <a:r>
              <a:rPr lang="pt-BR" sz="3000"/>
              <a:t>A computation graph represents the process of computing a mathematical expression</a:t>
            </a:r>
            <a:endParaRPr/>
          </a:p>
          <a:p>
            <a:pPr indent="0" lvl="1" marL="150806" rtl="0" algn="l">
              <a:lnSpc>
                <a:spcPct val="90000"/>
              </a:lnSpc>
              <a:spcBef>
                <a:spcPts val="300"/>
              </a:spcBef>
              <a:spcAft>
                <a:spcPts val="0"/>
              </a:spcAft>
              <a:buSzPts val="2400"/>
              <a:buNone/>
            </a:pPr>
            <a:r>
              <a:t/>
            </a:r>
            <a:endParaRPr/>
          </a:p>
          <a:p>
            <a:pPr indent="-7938" lvl="0" marL="7938" rtl="0" algn="l">
              <a:lnSpc>
                <a:spcPct val="90000"/>
              </a:lnSpc>
              <a:spcBef>
                <a:spcPts val="120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p:txBody>
      </p:sp>
      <p:sp>
        <p:nvSpPr>
          <p:cNvPr id="222" name="Google Shape;222;h65f250d357b111bf_0_1024"/>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223" name="Google Shape;223;h65f250d357b111bf_0_1024"/>
          <p:cNvSpPr txBox="1"/>
          <p:nvPr/>
        </p:nvSpPr>
        <p:spPr>
          <a:xfrm>
            <a:off x="7257600" y="450840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h6a67bc926a97b7af_0_88"/>
          <p:cNvPicPr preferRelativeResize="0"/>
          <p:nvPr/>
        </p:nvPicPr>
        <p:blipFill>
          <a:blip r:embed="rId3">
            <a:alphaModFix/>
          </a:blip>
          <a:stretch>
            <a:fillRect/>
          </a:stretch>
        </p:blipFill>
        <p:spPr>
          <a:xfrm>
            <a:off x="1501296" y="853000"/>
            <a:ext cx="1998644" cy="2006435"/>
          </a:xfrm>
          <a:prstGeom prst="rect">
            <a:avLst/>
          </a:prstGeom>
          <a:noFill/>
          <a:ln>
            <a:noFill/>
          </a:ln>
        </p:spPr>
      </p:pic>
      <p:sp>
        <p:nvSpPr>
          <p:cNvPr id="229" name="Google Shape;229;h6a67bc926a97b7af_0_88"/>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Function</a:t>
            </a:r>
            <a:endParaRPr/>
          </a:p>
        </p:txBody>
      </p:sp>
      <p:sp>
        <p:nvSpPr>
          <p:cNvPr id="230" name="Google Shape;230;h6a67bc926a97b7af_0_88"/>
          <p:cNvSpPr txBox="1"/>
          <p:nvPr/>
        </p:nvSpPr>
        <p:spPr>
          <a:xfrm>
            <a:off x="217425" y="1609925"/>
            <a:ext cx="1217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f(x)=-x²</a:t>
            </a:r>
            <a:endParaRPr sz="2000">
              <a:solidFill>
                <a:srgbClr val="434343"/>
              </a:solidFill>
              <a:latin typeface="Comfortaa"/>
              <a:ea typeface="Comfortaa"/>
              <a:cs typeface="Comfortaa"/>
              <a:sym typeface="Comforta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h6a67bc926a97b7af_0_123"/>
          <p:cNvPicPr preferRelativeResize="0"/>
          <p:nvPr/>
        </p:nvPicPr>
        <p:blipFill>
          <a:blip r:embed="rId3">
            <a:alphaModFix/>
          </a:blip>
          <a:stretch>
            <a:fillRect/>
          </a:stretch>
        </p:blipFill>
        <p:spPr>
          <a:xfrm>
            <a:off x="6889975" y="853000"/>
            <a:ext cx="1998644" cy="2010246"/>
          </a:xfrm>
          <a:prstGeom prst="rect">
            <a:avLst/>
          </a:prstGeom>
          <a:noFill/>
          <a:ln>
            <a:noFill/>
          </a:ln>
        </p:spPr>
      </p:pic>
      <p:pic>
        <p:nvPicPr>
          <p:cNvPr id="236" name="Google Shape;236;h6a67bc926a97b7af_0_123"/>
          <p:cNvPicPr preferRelativeResize="0"/>
          <p:nvPr/>
        </p:nvPicPr>
        <p:blipFill>
          <a:blip r:embed="rId4">
            <a:alphaModFix/>
          </a:blip>
          <a:stretch>
            <a:fillRect/>
          </a:stretch>
        </p:blipFill>
        <p:spPr>
          <a:xfrm>
            <a:off x="1501296" y="853000"/>
            <a:ext cx="1998644" cy="2006435"/>
          </a:xfrm>
          <a:prstGeom prst="rect">
            <a:avLst/>
          </a:prstGeom>
          <a:noFill/>
          <a:ln>
            <a:noFill/>
          </a:ln>
        </p:spPr>
      </p:pic>
      <p:sp>
        <p:nvSpPr>
          <p:cNvPr id="237" name="Google Shape;237;h6a67bc926a97b7af_0_123"/>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Derivative</a:t>
            </a:r>
            <a:endParaRPr/>
          </a:p>
        </p:txBody>
      </p:sp>
      <p:sp>
        <p:nvSpPr>
          <p:cNvPr id="238" name="Google Shape;238;h6a67bc926a97b7af_0_123"/>
          <p:cNvSpPr txBox="1"/>
          <p:nvPr/>
        </p:nvSpPr>
        <p:spPr>
          <a:xfrm>
            <a:off x="5564100" y="1168225"/>
            <a:ext cx="1169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df</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—-=-2x</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a:t>
            </a:r>
            <a:endParaRPr sz="2000">
              <a:solidFill>
                <a:srgbClr val="434343"/>
              </a:solidFill>
              <a:latin typeface="Comfortaa"/>
              <a:ea typeface="Comfortaa"/>
              <a:cs typeface="Comfortaa"/>
              <a:sym typeface="Comfortaa"/>
            </a:endParaRPr>
          </a:p>
        </p:txBody>
      </p:sp>
      <p:sp>
        <p:nvSpPr>
          <p:cNvPr id="239" name="Google Shape;239;h6a67bc926a97b7af_0_123"/>
          <p:cNvSpPr txBox="1"/>
          <p:nvPr/>
        </p:nvSpPr>
        <p:spPr>
          <a:xfrm>
            <a:off x="217425" y="1609925"/>
            <a:ext cx="1217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f</a:t>
            </a:r>
            <a:r>
              <a:rPr lang="pt-BR" sz="2000">
                <a:solidFill>
                  <a:srgbClr val="434343"/>
                </a:solidFill>
                <a:latin typeface="Comfortaa"/>
                <a:ea typeface="Comfortaa"/>
                <a:cs typeface="Comfortaa"/>
                <a:sym typeface="Comfortaa"/>
              </a:rPr>
              <a:t>(x)=-x²</a:t>
            </a:r>
            <a:endParaRPr sz="2000">
              <a:solidFill>
                <a:srgbClr val="434343"/>
              </a:solidFill>
              <a:latin typeface="Comfortaa"/>
              <a:ea typeface="Comfortaa"/>
              <a:cs typeface="Comfortaa"/>
              <a:sym typeface="Comforta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h6a67bc926a97b7af_0_144"/>
          <p:cNvPicPr preferRelativeResize="0"/>
          <p:nvPr/>
        </p:nvPicPr>
        <p:blipFill>
          <a:blip r:embed="rId3">
            <a:alphaModFix/>
          </a:blip>
          <a:stretch>
            <a:fillRect/>
          </a:stretch>
        </p:blipFill>
        <p:spPr>
          <a:xfrm>
            <a:off x="1501295" y="853000"/>
            <a:ext cx="1998650" cy="2046442"/>
          </a:xfrm>
          <a:prstGeom prst="rect">
            <a:avLst/>
          </a:prstGeom>
          <a:noFill/>
          <a:ln>
            <a:noFill/>
          </a:ln>
        </p:spPr>
      </p:pic>
      <p:sp>
        <p:nvSpPr>
          <p:cNvPr id="245" name="Google Shape;245;h6a67bc926a97b7af_0_144"/>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Functions</a:t>
            </a:r>
            <a:endParaRPr/>
          </a:p>
        </p:txBody>
      </p:sp>
      <p:sp>
        <p:nvSpPr>
          <p:cNvPr id="246" name="Google Shape;246;h6a67bc926a97b7af_0_144"/>
          <p:cNvSpPr txBox="1"/>
          <p:nvPr/>
        </p:nvSpPr>
        <p:spPr>
          <a:xfrm>
            <a:off x="82600" y="1609925"/>
            <a:ext cx="13044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pt-BR" sz="2000">
                <a:solidFill>
                  <a:srgbClr val="434343"/>
                </a:solidFill>
                <a:latin typeface="Comfortaa"/>
                <a:ea typeface="Comfortaa"/>
                <a:cs typeface="Comfortaa"/>
                <a:sym typeface="Comfortaa"/>
              </a:rPr>
              <a:t>v(x) = x²</a:t>
            </a:r>
            <a:endParaRPr sz="2000">
              <a:solidFill>
                <a:srgbClr val="434343"/>
              </a:solidFill>
              <a:latin typeface="Comfortaa"/>
              <a:ea typeface="Comfortaa"/>
              <a:cs typeface="Comfortaa"/>
              <a:sym typeface="Comfortaa"/>
            </a:endParaRPr>
          </a:p>
        </p:txBody>
      </p:sp>
      <p:pic>
        <p:nvPicPr>
          <p:cNvPr id="247" name="Google Shape;247;h6a67bc926a97b7af_0_144"/>
          <p:cNvPicPr preferRelativeResize="0"/>
          <p:nvPr/>
        </p:nvPicPr>
        <p:blipFill>
          <a:blip r:embed="rId4">
            <a:alphaModFix/>
          </a:blip>
          <a:stretch>
            <a:fillRect/>
          </a:stretch>
        </p:blipFill>
        <p:spPr>
          <a:xfrm>
            <a:off x="1501296" y="3020200"/>
            <a:ext cx="1998644" cy="2006435"/>
          </a:xfrm>
          <a:prstGeom prst="rect">
            <a:avLst/>
          </a:prstGeom>
          <a:noFill/>
          <a:ln>
            <a:noFill/>
          </a:ln>
        </p:spPr>
      </p:pic>
      <p:sp>
        <p:nvSpPr>
          <p:cNvPr id="248" name="Google Shape;248;h6a67bc926a97b7af_0_144"/>
          <p:cNvSpPr txBox="1"/>
          <p:nvPr/>
        </p:nvSpPr>
        <p:spPr>
          <a:xfrm>
            <a:off x="0" y="3469300"/>
            <a:ext cx="1559700" cy="1108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pt-BR" sz="2000">
                <a:solidFill>
                  <a:srgbClr val="434343"/>
                </a:solidFill>
                <a:latin typeface="Comfortaa"/>
                <a:ea typeface="Comfortaa"/>
                <a:cs typeface="Comfortaa"/>
                <a:sym typeface="Comfortaa"/>
              </a:rPr>
              <a:t>u(y) = -y</a:t>
            </a:r>
            <a:endParaRPr sz="2000">
              <a:solidFill>
                <a:srgbClr val="434343"/>
              </a:solidFill>
              <a:latin typeface="Comfortaa"/>
              <a:ea typeface="Comfortaa"/>
              <a:cs typeface="Comfortaa"/>
              <a:sym typeface="Comfortaa"/>
            </a:endParaRPr>
          </a:p>
          <a:p>
            <a:pPr indent="0" lvl="0" marL="0" rtl="0" algn="r">
              <a:spcBef>
                <a:spcPts val="0"/>
              </a:spcBef>
              <a:spcAft>
                <a:spcPts val="0"/>
              </a:spcAft>
              <a:buNone/>
            </a:pPr>
            <a:r>
              <a:t/>
            </a:r>
            <a:endParaRPr sz="2000">
              <a:solidFill>
                <a:srgbClr val="434343"/>
              </a:solidFill>
              <a:latin typeface="Comfortaa"/>
              <a:ea typeface="Comfortaa"/>
              <a:cs typeface="Comfortaa"/>
              <a:sym typeface="Comfortaa"/>
            </a:endParaRPr>
          </a:p>
          <a:p>
            <a:pPr indent="0" lvl="0" marL="0" rtl="0" algn="r">
              <a:spcBef>
                <a:spcPts val="0"/>
              </a:spcBef>
              <a:spcAft>
                <a:spcPts val="0"/>
              </a:spcAft>
              <a:buNone/>
            </a:pPr>
            <a:r>
              <a:rPr lang="pt-BR" sz="2000">
                <a:solidFill>
                  <a:srgbClr val="434343"/>
                </a:solidFill>
                <a:latin typeface="Comfortaa"/>
                <a:ea typeface="Comfortaa"/>
                <a:cs typeface="Comfortaa"/>
                <a:sym typeface="Comfortaa"/>
              </a:rPr>
              <a:t>f(x) = u(v(x))</a:t>
            </a:r>
            <a:endParaRPr sz="2000">
              <a:solidFill>
                <a:srgbClr val="434343"/>
              </a:solidFill>
              <a:latin typeface="Comfortaa"/>
              <a:ea typeface="Comfortaa"/>
              <a:cs typeface="Comfortaa"/>
              <a:sym typeface="Comforta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h6a67bc926a97b7af_0_183"/>
          <p:cNvPicPr preferRelativeResize="0"/>
          <p:nvPr/>
        </p:nvPicPr>
        <p:blipFill>
          <a:blip r:embed="rId3">
            <a:alphaModFix/>
          </a:blip>
          <a:stretch>
            <a:fillRect/>
          </a:stretch>
        </p:blipFill>
        <p:spPr>
          <a:xfrm>
            <a:off x="6889975" y="853000"/>
            <a:ext cx="1983266" cy="2006425"/>
          </a:xfrm>
          <a:prstGeom prst="rect">
            <a:avLst/>
          </a:prstGeom>
          <a:noFill/>
          <a:ln>
            <a:noFill/>
          </a:ln>
        </p:spPr>
      </p:pic>
      <p:pic>
        <p:nvPicPr>
          <p:cNvPr id="254" name="Google Shape;254;h6a67bc926a97b7af_0_183"/>
          <p:cNvPicPr preferRelativeResize="0"/>
          <p:nvPr/>
        </p:nvPicPr>
        <p:blipFill>
          <a:blip r:embed="rId4">
            <a:alphaModFix/>
          </a:blip>
          <a:stretch>
            <a:fillRect/>
          </a:stretch>
        </p:blipFill>
        <p:spPr>
          <a:xfrm>
            <a:off x="1501295" y="853000"/>
            <a:ext cx="1998650" cy="2046442"/>
          </a:xfrm>
          <a:prstGeom prst="rect">
            <a:avLst/>
          </a:prstGeom>
          <a:noFill/>
          <a:ln>
            <a:noFill/>
          </a:ln>
        </p:spPr>
      </p:pic>
      <p:sp>
        <p:nvSpPr>
          <p:cNvPr id="255" name="Google Shape;255;h6a67bc926a97b7af_0_183"/>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Derivatives</a:t>
            </a:r>
            <a:endParaRPr/>
          </a:p>
        </p:txBody>
      </p:sp>
      <p:pic>
        <p:nvPicPr>
          <p:cNvPr id="256" name="Google Shape;256;h6a67bc926a97b7af_0_183"/>
          <p:cNvPicPr preferRelativeResize="0"/>
          <p:nvPr/>
        </p:nvPicPr>
        <p:blipFill>
          <a:blip r:embed="rId5">
            <a:alphaModFix/>
          </a:blip>
          <a:stretch>
            <a:fillRect/>
          </a:stretch>
        </p:blipFill>
        <p:spPr>
          <a:xfrm>
            <a:off x="6889975" y="3018279"/>
            <a:ext cx="1998644" cy="2010246"/>
          </a:xfrm>
          <a:prstGeom prst="rect">
            <a:avLst/>
          </a:prstGeom>
          <a:noFill/>
          <a:ln>
            <a:noFill/>
          </a:ln>
        </p:spPr>
      </p:pic>
      <p:sp>
        <p:nvSpPr>
          <p:cNvPr id="257" name="Google Shape;257;h6a67bc926a97b7af_0_183"/>
          <p:cNvSpPr txBox="1"/>
          <p:nvPr/>
        </p:nvSpPr>
        <p:spPr>
          <a:xfrm>
            <a:off x="5605650" y="1168225"/>
            <a:ext cx="1127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2x</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a:t>
            </a:r>
            <a:endParaRPr sz="2000">
              <a:solidFill>
                <a:srgbClr val="434343"/>
              </a:solidFill>
              <a:latin typeface="Comfortaa"/>
              <a:ea typeface="Comfortaa"/>
              <a:cs typeface="Comfortaa"/>
              <a:sym typeface="Comfortaa"/>
            </a:endParaRPr>
          </a:p>
        </p:txBody>
      </p:sp>
      <p:sp>
        <p:nvSpPr>
          <p:cNvPr id="258" name="Google Shape;258;h6a67bc926a97b7af_0_183"/>
          <p:cNvSpPr txBox="1"/>
          <p:nvPr/>
        </p:nvSpPr>
        <p:spPr>
          <a:xfrm>
            <a:off x="82600" y="1609925"/>
            <a:ext cx="13044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pt-BR" sz="2000">
                <a:solidFill>
                  <a:srgbClr val="434343"/>
                </a:solidFill>
                <a:latin typeface="Comfortaa"/>
                <a:ea typeface="Comfortaa"/>
                <a:cs typeface="Comfortaa"/>
                <a:sym typeface="Comfortaa"/>
              </a:rPr>
              <a:t>v(x) = x²</a:t>
            </a:r>
            <a:endParaRPr sz="2000">
              <a:solidFill>
                <a:srgbClr val="434343"/>
              </a:solidFill>
              <a:latin typeface="Comfortaa"/>
              <a:ea typeface="Comfortaa"/>
              <a:cs typeface="Comfortaa"/>
              <a:sym typeface="Comfortaa"/>
            </a:endParaRPr>
          </a:p>
        </p:txBody>
      </p:sp>
      <p:pic>
        <p:nvPicPr>
          <p:cNvPr id="259" name="Google Shape;259;h6a67bc926a97b7af_0_183"/>
          <p:cNvPicPr preferRelativeResize="0"/>
          <p:nvPr/>
        </p:nvPicPr>
        <p:blipFill>
          <a:blip r:embed="rId6">
            <a:alphaModFix/>
          </a:blip>
          <a:stretch>
            <a:fillRect/>
          </a:stretch>
        </p:blipFill>
        <p:spPr>
          <a:xfrm>
            <a:off x="1501296" y="3020200"/>
            <a:ext cx="1998644" cy="2006435"/>
          </a:xfrm>
          <a:prstGeom prst="rect">
            <a:avLst/>
          </a:prstGeom>
          <a:noFill/>
          <a:ln>
            <a:noFill/>
          </a:ln>
        </p:spPr>
      </p:pic>
      <p:sp>
        <p:nvSpPr>
          <p:cNvPr id="260" name="Google Shape;260;h6a67bc926a97b7af_0_183"/>
          <p:cNvSpPr txBox="1"/>
          <p:nvPr/>
        </p:nvSpPr>
        <p:spPr>
          <a:xfrm>
            <a:off x="0" y="3469300"/>
            <a:ext cx="1559700" cy="1108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pt-BR" sz="2000">
                <a:solidFill>
                  <a:srgbClr val="434343"/>
                </a:solidFill>
                <a:latin typeface="Comfortaa"/>
                <a:ea typeface="Comfortaa"/>
                <a:cs typeface="Comfortaa"/>
                <a:sym typeface="Comfortaa"/>
              </a:rPr>
              <a:t>u(y) = -y</a:t>
            </a:r>
            <a:endParaRPr sz="2000">
              <a:solidFill>
                <a:srgbClr val="434343"/>
              </a:solidFill>
              <a:latin typeface="Comfortaa"/>
              <a:ea typeface="Comfortaa"/>
              <a:cs typeface="Comfortaa"/>
              <a:sym typeface="Comfortaa"/>
            </a:endParaRPr>
          </a:p>
          <a:p>
            <a:pPr indent="0" lvl="0" marL="0" rtl="0" algn="r">
              <a:spcBef>
                <a:spcPts val="0"/>
              </a:spcBef>
              <a:spcAft>
                <a:spcPts val="0"/>
              </a:spcAft>
              <a:buNone/>
            </a:pPr>
            <a:r>
              <a:t/>
            </a:r>
            <a:endParaRPr sz="2000">
              <a:solidFill>
                <a:srgbClr val="434343"/>
              </a:solidFill>
              <a:latin typeface="Comfortaa"/>
              <a:ea typeface="Comfortaa"/>
              <a:cs typeface="Comfortaa"/>
              <a:sym typeface="Comfortaa"/>
            </a:endParaRPr>
          </a:p>
          <a:p>
            <a:pPr indent="0" lvl="0" marL="0" rtl="0" algn="r">
              <a:spcBef>
                <a:spcPts val="0"/>
              </a:spcBef>
              <a:spcAft>
                <a:spcPts val="0"/>
              </a:spcAft>
              <a:buNone/>
            </a:pPr>
            <a:r>
              <a:rPr lang="pt-BR" sz="2000">
                <a:solidFill>
                  <a:srgbClr val="434343"/>
                </a:solidFill>
                <a:latin typeface="Comfortaa"/>
                <a:ea typeface="Comfortaa"/>
                <a:cs typeface="Comfortaa"/>
                <a:sym typeface="Comfortaa"/>
              </a:rPr>
              <a:t>f(x) = u(v(x))</a:t>
            </a:r>
            <a:endParaRPr sz="2000">
              <a:solidFill>
                <a:srgbClr val="434343"/>
              </a:solidFill>
              <a:latin typeface="Comfortaa"/>
              <a:ea typeface="Comfortaa"/>
              <a:cs typeface="Comfortaa"/>
              <a:sym typeface="Comfortaa"/>
            </a:endParaRPr>
          </a:p>
        </p:txBody>
      </p:sp>
      <p:sp>
        <p:nvSpPr>
          <p:cNvPr id="261" name="Google Shape;261;h6a67bc926a97b7af_0_183"/>
          <p:cNvSpPr txBox="1"/>
          <p:nvPr/>
        </p:nvSpPr>
        <p:spPr>
          <a:xfrm>
            <a:off x="3499950" y="3918425"/>
            <a:ext cx="339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df     du  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 . —- = -1.2.x = -2.x</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    dv   dx</a:t>
            </a:r>
            <a:endParaRPr sz="2000">
              <a:solidFill>
                <a:srgbClr val="434343"/>
              </a:solidFill>
              <a:latin typeface="Comfortaa"/>
              <a:ea typeface="Comfortaa"/>
              <a:cs typeface="Comfortaa"/>
              <a:sym typeface="Comfortaa"/>
            </a:endParaRPr>
          </a:p>
        </p:txBody>
      </p:sp>
      <p:sp>
        <p:nvSpPr>
          <p:cNvPr id="262" name="Google Shape;262;h6a67bc926a97b7af_0_183"/>
          <p:cNvSpPr txBox="1"/>
          <p:nvPr/>
        </p:nvSpPr>
        <p:spPr>
          <a:xfrm>
            <a:off x="5654850" y="2859425"/>
            <a:ext cx="1237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du             </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-1</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dy</a:t>
            </a:r>
            <a:endParaRPr sz="2000">
              <a:solidFill>
                <a:srgbClr val="434343"/>
              </a:solidFill>
              <a:latin typeface="Comfortaa"/>
              <a:ea typeface="Comfortaa"/>
              <a:cs typeface="Comfortaa"/>
              <a:sym typeface="Comforta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h6a67bc926a97b7af_0_222"/>
          <p:cNvSpPr/>
          <p:nvPr/>
        </p:nvSpPr>
        <p:spPr>
          <a:xfrm>
            <a:off x="4881050" y="800450"/>
            <a:ext cx="35616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68" name="Google Shape;268;h6a67bc926a97b7af_0_222"/>
          <p:cNvSpPr/>
          <p:nvPr/>
        </p:nvSpPr>
        <p:spPr>
          <a:xfrm>
            <a:off x="3209050" y="800450"/>
            <a:ext cx="16719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69" name="Google Shape;269;h6a67bc926a97b7af_0_222"/>
          <p:cNvSpPr/>
          <p:nvPr/>
        </p:nvSpPr>
        <p:spPr>
          <a:xfrm>
            <a:off x="14323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70" name="Google Shape;270;h6a67bc926a97b7af_0_222"/>
          <p:cNvSpPr/>
          <p:nvPr/>
        </p:nvSpPr>
        <p:spPr>
          <a:xfrm>
            <a:off x="2776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71" name="Google Shape;271;h6a67bc926a97b7af_0_222"/>
          <p:cNvSpPr/>
          <p:nvPr/>
        </p:nvSpPr>
        <p:spPr>
          <a:xfrm>
            <a:off x="1454625" y="858800"/>
            <a:ext cx="109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72" name="Google Shape;272;h6a67bc926a97b7af_0_222"/>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Computation Graph</a:t>
            </a:r>
            <a:endParaRPr/>
          </a:p>
        </p:txBody>
      </p:sp>
      <p:sp>
        <p:nvSpPr>
          <p:cNvPr id="273" name="Google Shape;273;h6a67bc926a97b7af_0_222"/>
          <p:cNvSpPr/>
          <p:nvPr/>
        </p:nvSpPr>
        <p:spPr>
          <a:xfrm>
            <a:off x="299925" y="858800"/>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74" name="Google Shape;274;h6a67bc926a97b7af_0_222"/>
          <p:cNvSpPr txBox="1"/>
          <p:nvPr/>
        </p:nvSpPr>
        <p:spPr>
          <a:xfrm>
            <a:off x="1454625" y="882050"/>
            <a:ext cx="1127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2x</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a:t>
            </a:r>
            <a:endParaRPr sz="2000">
              <a:solidFill>
                <a:srgbClr val="434343"/>
              </a:solidFill>
              <a:latin typeface="Comfortaa"/>
              <a:ea typeface="Comfortaa"/>
              <a:cs typeface="Comfortaa"/>
              <a:sym typeface="Comfortaa"/>
            </a:endParaRPr>
          </a:p>
        </p:txBody>
      </p:sp>
      <p:sp>
        <p:nvSpPr>
          <p:cNvPr id="275" name="Google Shape;275;h6a67bc926a97b7af_0_222"/>
          <p:cNvSpPr txBox="1"/>
          <p:nvPr/>
        </p:nvSpPr>
        <p:spPr>
          <a:xfrm>
            <a:off x="277600" y="1189850"/>
            <a:ext cx="112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v(x) = x²</a:t>
            </a:r>
            <a:endParaRPr b="1" sz="2000">
              <a:solidFill>
                <a:srgbClr val="434343"/>
              </a:solidFill>
              <a:latin typeface="Comfortaa"/>
              <a:ea typeface="Comfortaa"/>
              <a:cs typeface="Comfortaa"/>
              <a:sym typeface="Comfortaa"/>
            </a:endParaRPr>
          </a:p>
        </p:txBody>
      </p:sp>
      <p:sp>
        <p:nvSpPr>
          <p:cNvPr id="276" name="Google Shape;276;h6a67bc926a97b7af_0_222"/>
          <p:cNvSpPr txBox="1"/>
          <p:nvPr/>
        </p:nvSpPr>
        <p:spPr>
          <a:xfrm>
            <a:off x="3209050" y="1131500"/>
            <a:ext cx="1702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f(x) = u(v(x))</a:t>
            </a:r>
            <a:endParaRPr b="1" sz="2000">
              <a:solidFill>
                <a:srgbClr val="434343"/>
              </a:solidFill>
              <a:latin typeface="Comfortaa"/>
              <a:ea typeface="Comfortaa"/>
              <a:cs typeface="Comfortaa"/>
              <a:sym typeface="Comfortaa"/>
            </a:endParaRPr>
          </a:p>
        </p:txBody>
      </p:sp>
      <p:sp>
        <p:nvSpPr>
          <p:cNvPr id="277" name="Google Shape;277;h6a67bc926a97b7af_0_222"/>
          <p:cNvSpPr txBox="1"/>
          <p:nvPr/>
        </p:nvSpPr>
        <p:spPr>
          <a:xfrm>
            <a:off x="5119475" y="823700"/>
            <a:ext cx="339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df     du  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 . —- = -1.2.a = -2.a</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    dv   dx</a:t>
            </a:r>
            <a:endParaRPr sz="2000">
              <a:solidFill>
                <a:srgbClr val="434343"/>
              </a:solidFill>
              <a:latin typeface="Comfortaa"/>
              <a:ea typeface="Comfortaa"/>
              <a:cs typeface="Comfortaa"/>
              <a:sym typeface="Comfortaa"/>
            </a:endParaRPr>
          </a:p>
        </p:txBody>
      </p:sp>
      <p:sp>
        <p:nvSpPr>
          <p:cNvPr id="278" name="Google Shape;278;h6a67bc926a97b7af_0_222"/>
          <p:cNvSpPr txBox="1"/>
          <p:nvPr/>
        </p:nvSpPr>
        <p:spPr>
          <a:xfrm>
            <a:off x="1432300" y="2251375"/>
            <a:ext cx="1042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du             </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-1</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dy</a:t>
            </a:r>
            <a:endParaRPr sz="2000">
              <a:solidFill>
                <a:srgbClr val="434343"/>
              </a:solidFill>
              <a:latin typeface="Comfortaa"/>
              <a:ea typeface="Comfortaa"/>
              <a:cs typeface="Comfortaa"/>
              <a:sym typeface="Comfortaa"/>
            </a:endParaRPr>
          </a:p>
        </p:txBody>
      </p:sp>
      <p:sp>
        <p:nvSpPr>
          <p:cNvPr id="279" name="Google Shape;279;h6a67bc926a97b7af_0_222"/>
          <p:cNvSpPr txBox="1"/>
          <p:nvPr/>
        </p:nvSpPr>
        <p:spPr>
          <a:xfrm>
            <a:off x="277600" y="2559175"/>
            <a:ext cx="115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u(y) = -y</a:t>
            </a:r>
            <a:endParaRPr b="1"/>
          </a:p>
        </p:txBody>
      </p:sp>
      <p:sp>
        <p:nvSpPr>
          <p:cNvPr id="280" name="Google Shape;280;h6a67bc926a97b7af_0_222"/>
          <p:cNvSpPr/>
          <p:nvPr/>
        </p:nvSpPr>
        <p:spPr>
          <a:xfrm>
            <a:off x="3625025" y="3110125"/>
            <a:ext cx="64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x</a:t>
            </a:r>
            <a:endParaRPr sz="2300">
              <a:latin typeface="Comfortaa"/>
              <a:ea typeface="Comfortaa"/>
              <a:cs typeface="Comfortaa"/>
              <a:sym typeface="Comfortaa"/>
            </a:endParaRPr>
          </a:p>
        </p:txBody>
      </p:sp>
      <p:sp>
        <p:nvSpPr>
          <p:cNvPr id="281" name="Google Shape;281;h6a67bc926a97b7af_0_222"/>
          <p:cNvSpPr/>
          <p:nvPr/>
        </p:nvSpPr>
        <p:spPr>
          <a:xfrm>
            <a:off x="5267075" y="3110125"/>
            <a:ext cx="109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v=x²</a:t>
            </a:r>
            <a:endParaRPr sz="2300">
              <a:latin typeface="Comfortaa"/>
              <a:ea typeface="Comfortaa"/>
              <a:cs typeface="Comfortaa"/>
              <a:sym typeface="Comfortaa"/>
            </a:endParaRPr>
          </a:p>
        </p:txBody>
      </p:sp>
      <p:sp>
        <p:nvSpPr>
          <p:cNvPr id="282" name="Google Shape;282;h6a67bc926a97b7af_0_222"/>
          <p:cNvSpPr/>
          <p:nvPr/>
        </p:nvSpPr>
        <p:spPr>
          <a:xfrm>
            <a:off x="7162275" y="3110125"/>
            <a:ext cx="12429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u=-v</a:t>
            </a:r>
            <a:endParaRPr sz="2300">
              <a:latin typeface="Comfortaa"/>
              <a:ea typeface="Comfortaa"/>
              <a:cs typeface="Comfortaa"/>
              <a:sym typeface="Comfortaa"/>
            </a:endParaRPr>
          </a:p>
        </p:txBody>
      </p:sp>
      <p:cxnSp>
        <p:nvCxnSpPr>
          <p:cNvPr id="283" name="Google Shape;283;h6a67bc926a97b7af_0_222"/>
          <p:cNvCxnSpPr>
            <a:stCxn id="280" idx="6"/>
            <a:endCxn id="281" idx="2"/>
          </p:cNvCxnSpPr>
          <p:nvPr/>
        </p:nvCxnSpPr>
        <p:spPr>
          <a:xfrm>
            <a:off x="4269725" y="3432475"/>
            <a:ext cx="997500" cy="0"/>
          </a:xfrm>
          <a:prstGeom prst="straightConnector1">
            <a:avLst/>
          </a:prstGeom>
          <a:noFill/>
          <a:ln cap="flat" cmpd="sng" w="28575">
            <a:solidFill>
              <a:schemeClr val="dk2"/>
            </a:solidFill>
            <a:prstDash val="solid"/>
            <a:round/>
            <a:headEnd len="med" w="med" type="none"/>
            <a:tailEnd len="med" w="med" type="stealth"/>
          </a:ln>
        </p:spPr>
      </p:cxnSp>
      <p:cxnSp>
        <p:nvCxnSpPr>
          <p:cNvPr id="284" name="Google Shape;284;h6a67bc926a97b7af_0_222"/>
          <p:cNvCxnSpPr>
            <a:stCxn id="281" idx="6"/>
            <a:endCxn id="282" idx="2"/>
          </p:cNvCxnSpPr>
          <p:nvPr/>
        </p:nvCxnSpPr>
        <p:spPr>
          <a:xfrm>
            <a:off x="6361775" y="3432475"/>
            <a:ext cx="800400" cy="0"/>
          </a:xfrm>
          <a:prstGeom prst="straightConnector1">
            <a:avLst/>
          </a:prstGeom>
          <a:noFill/>
          <a:ln cap="flat" cmpd="sng" w="28575">
            <a:solidFill>
              <a:schemeClr val="dk2"/>
            </a:solidFill>
            <a:prstDash val="solid"/>
            <a:round/>
            <a:headEnd len="med" w="med" type="none"/>
            <a:tailEnd len="med" w="med" type="stealth"/>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h6a67bc926a97b7af_0_327"/>
          <p:cNvSpPr/>
          <p:nvPr/>
        </p:nvSpPr>
        <p:spPr>
          <a:xfrm>
            <a:off x="4881050" y="800450"/>
            <a:ext cx="35616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90" name="Google Shape;290;h6a67bc926a97b7af_0_327"/>
          <p:cNvSpPr/>
          <p:nvPr/>
        </p:nvSpPr>
        <p:spPr>
          <a:xfrm>
            <a:off x="3209050" y="800450"/>
            <a:ext cx="16719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91" name="Google Shape;291;h6a67bc926a97b7af_0_327"/>
          <p:cNvSpPr/>
          <p:nvPr/>
        </p:nvSpPr>
        <p:spPr>
          <a:xfrm>
            <a:off x="14323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92" name="Google Shape;292;h6a67bc926a97b7af_0_327"/>
          <p:cNvSpPr/>
          <p:nvPr/>
        </p:nvSpPr>
        <p:spPr>
          <a:xfrm>
            <a:off x="2776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93" name="Google Shape;293;h6a67bc926a97b7af_0_327"/>
          <p:cNvSpPr/>
          <p:nvPr/>
        </p:nvSpPr>
        <p:spPr>
          <a:xfrm>
            <a:off x="1454625" y="858800"/>
            <a:ext cx="109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94" name="Google Shape;294;h6a67bc926a97b7af_0_327"/>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solidFill>
                  <a:srgbClr val="0000FF"/>
                </a:solidFill>
              </a:rPr>
              <a:t>Forward Pass</a:t>
            </a:r>
            <a:endParaRPr>
              <a:solidFill>
                <a:srgbClr val="0000FF"/>
              </a:solidFill>
            </a:endParaRPr>
          </a:p>
        </p:txBody>
      </p:sp>
      <p:sp>
        <p:nvSpPr>
          <p:cNvPr id="295" name="Google Shape;295;h6a67bc926a97b7af_0_327"/>
          <p:cNvSpPr/>
          <p:nvPr/>
        </p:nvSpPr>
        <p:spPr>
          <a:xfrm>
            <a:off x="299925" y="858800"/>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96" name="Google Shape;296;h6a67bc926a97b7af_0_327"/>
          <p:cNvSpPr txBox="1"/>
          <p:nvPr/>
        </p:nvSpPr>
        <p:spPr>
          <a:xfrm>
            <a:off x="1454625" y="882050"/>
            <a:ext cx="1127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2x</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a:t>
            </a:r>
            <a:endParaRPr sz="2000">
              <a:solidFill>
                <a:srgbClr val="434343"/>
              </a:solidFill>
              <a:latin typeface="Comfortaa"/>
              <a:ea typeface="Comfortaa"/>
              <a:cs typeface="Comfortaa"/>
              <a:sym typeface="Comfortaa"/>
            </a:endParaRPr>
          </a:p>
        </p:txBody>
      </p:sp>
      <p:sp>
        <p:nvSpPr>
          <p:cNvPr id="297" name="Google Shape;297;h6a67bc926a97b7af_0_327"/>
          <p:cNvSpPr txBox="1"/>
          <p:nvPr/>
        </p:nvSpPr>
        <p:spPr>
          <a:xfrm>
            <a:off x="277600" y="1189850"/>
            <a:ext cx="112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v(x) = x²</a:t>
            </a:r>
            <a:endParaRPr b="1" sz="2000">
              <a:solidFill>
                <a:srgbClr val="434343"/>
              </a:solidFill>
              <a:latin typeface="Comfortaa"/>
              <a:ea typeface="Comfortaa"/>
              <a:cs typeface="Comfortaa"/>
              <a:sym typeface="Comfortaa"/>
            </a:endParaRPr>
          </a:p>
        </p:txBody>
      </p:sp>
      <p:sp>
        <p:nvSpPr>
          <p:cNvPr id="298" name="Google Shape;298;h6a67bc926a97b7af_0_327"/>
          <p:cNvSpPr txBox="1"/>
          <p:nvPr/>
        </p:nvSpPr>
        <p:spPr>
          <a:xfrm>
            <a:off x="3209050" y="1131500"/>
            <a:ext cx="1702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f(x) = u(v(x))</a:t>
            </a:r>
            <a:endParaRPr b="1" sz="2000">
              <a:solidFill>
                <a:srgbClr val="434343"/>
              </a:solidFill>
              <a:latin typeface="Comfortaa"/>
              <a:ea typeface="Comfortaa"/>
              <a:cs typeface="Comfortaa"/>
              <a:sym typeface="Comfortaa"/>
            </a:endParaRPr>
          </a:p>
        </p:txBody>
      </p:sp>
      <p:sp>
        <p:nvSpPr>
          <p:cNvPr id="299" name="Google Shape;299;h6a67bc926a97b7af_0_327"/>
          <p:cNvSpPr txBox="1"/>
          <p:nvPr/>
        </p:nvSpPr>
        <p:spPr>
          <a:xfrm>
            <a:off x="5119475" y="823700"/>
            <a:ext cx="339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df     du  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 . —- = -1.2.a = -2.a</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    dv   dx</a:t>
            </a:r>
            <a:endParaRPr sz="2000">
              <a:solidFill>
                <a:srgbClr val="434343"/>
              </a:solidFill>
              <a:latin typeface="Comfortaa"/>
              <a:ea typeface="Comfortaa"/>
              <a:cs typeface="Comfortaa"/>
              <a:sym typeface="Comfortaa"/>
            </a:endParaRPr>
          </a:p>
        </p:txBody>
      </p:sp>
      <p:sp>
        <p:nvSpPr>
          <p:cNvPr id="300" name="Google Shape;300;h6a67bc926a97b7af_0_327"/>
          <p:cNvSpPr txBox="1"/>
          <p:nvPr/>
        </p:nvSpPr>
        <p:spPr>
          <a:xfrm>
            <a:off x="1432300" y="2251375"/>
            <a:ext cx="1042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du             </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-1</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dy</a:t>
            </a:r>
            <a:endParaRPr sz="2000">
              <a:solidFill>
                <a:srgbClr val="434343"/>
              </a:solidFill>
              <a:latin typeface="Comfortaa"/>
              <a:ea typeface="Comfortaa"/>
              <a:cs typeface="Comfortaa"/>
              <a:sym typeface="Comfortaa"/>
            </a:endParaRPr>
          </a:p>
        </p:txBody>
      </p:sp>
      <p:sp>
        <p:nvSpPr>
          <p:cNvPr id="301" name="Google Shape;301;h6a67bc926a97b7af_0_327"/>
          <p:cNvSpPr txBox="1"/>
          <p:nvPr/>
        </p:nvSpPr>
        <p:spPr>
          <a:xfrm>
            <a:off x="277600" y="2559175"/>
            <a:ext cx="115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u(y) = -y</a:t>
            </a:r>
            <a:endParaRPr b="1"/>
          </a:p>
        </p:txBody>
      </p:sp>
      <p:sp>
        <p:nvSpPr>
          <p:cNvPr id="302" name="Google Shape;302;h6a67bc926a97b7af_0_327"/>
          <p:cNvSpPr/>
          <p:nvPr/>
        </p:nvSpPr>
        <p:spPr>
          <a:xfrm>
            <a:off x="3625025" y="3110125"/>
            <a:ext cx="64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x</a:t>
            </a:r>
            <a:endParaRPr sz="2300">
              <a:latin typeface="Comfortaa"/>
              <a:ea typeface="Comfortaa"/>
              <a:cs typeface="Comfortaa"/>
              <a:sym typeface="Comfortaa"/>
            </a:endParaRPr>
          </a:p>
        </p:txBody>
      </p:sp>
      <p:sp>
        <p:nvSpPr>
          <p:cNvPr id="303" name="Google Shape;303;h6a67bc926a97b7af_0_327"/>
          <p:cNvSpPr/>
          <p:nvPr/>
        </p:nvSpPr>
        <p:spPr>
          <a:xfrm>
            <a:off x="5267075" y="3110125"/>
            <a:ext cx="109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v=x²</a:t>
            </a:r>
            <a:endParaRPr sz="2300">
              <a:latin typeface="Comfortaa"/>
              <a:ea typeface="Comfortaa"/>
              <a:cs typeface="Comfortaa"/>
              <a:sym typeface="Comfortaa"/>
            </a:endParaRPr>
          </a:p>
        </p:txBody>
      </p:sp>
      <p:sp>
        <p:nvSpPr>
          <p:cNvPr id="304" name="Google Shape;304;h6a67bc926a97b7af_0_327"/>
          <p:cNvSpPr/>
          <p:nvPr/>
        </p:nvSpPr>
        <p:spPr>
          <a:xfrm>
            <a:off x="7162275" y="3110125"/>
            <a:ext cx="12429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u=-v</a:t>
            </a:r>
            <a:endParaRPr sz="2300">
              <a:latin typeface="Comfortaa"/>
              <a:ea typeface="Comfortaa"/>
              <a:cs typeface="Comfortaa"/>
              <a:sym typeface="Comfortaa"/>
            </a:endParaRPr>
          </a:p>
        </p:txBody>
      </p:sp>
      <p:cxnSp>
        <p:nvCxnSpPr>
          <p:cNvPr id="305" name="Google Shape;305;h6a67bc926a97b7af_0_327"/>
          <p:cNvCxnSpPr>
            <a:stCxn id="302" idx="6"/>
            <a:endCxn id="303" idx="2"/>
          </p:cNvCxnSpPr>
          <p:nvPr/>
        </p:nvCxnSpPr>
        <p:spPr>
          <a:xfrm>
            <a:off x="4269725" y="3432475"/>
            <a:ext cx="997500" cy="0"/>
          </a:xfrm>
          <a:prstGeom prst="straightConnector1">
            <a:avLst/>
          </a:prstGeom>
          <a:noFill/>
          <a:ln cap="flat" cmpd="sng" w="28575">
            <a:solidFill>
              <a:schemeClr val="dk2"/>
            </a:solidFill>
            <a:prstDash val="solid"/>
            <a:round/>
            <a:headEnd len="med" w="med" type="none"/>
            <a:tailEnd len="med" w="med" type="stealth"/>
          </a:ln>
        </p:spPr>
      </p:cxnSp>
      <p:cxnSp>
        <p:nvCxnSpPr>
          <p:cNvPr id="306" name="Google Shape;306;h6a67bc926a97b7af_0_327"/>
          <p:cNvCxnSpPr>
            <a:stCxn id="303" idx="6"/>
            <a:endCxn id="304" idx="2"/>
          </p:cNvCxnSpPr>
          <p:nvPr/>
        </p:nvCxnSpPr>
        <p:spPr>
          <a:xfrm>
            <a:off x="6361775" y="3432475"/>
            <a:ext cx="800400" cy="0"/>
          </a:xfrm>
          <a:prstGeom prst="straightConnector1">
            <a:avLst/>
          </a:prstGeom>
          <a:noFill/>
          <a:ln cap="flat" cmpd="sng" w="28575">
            <a:solidFill>
              <a:schemeClr val="dk2"/>
            </a:solidFill>
            <a:prstDash val="solid"/>
            <a:round/>
            <a:headEnd len="med" w="med" type="none"/>
            <a:tailEnd len="med" w="med" type="stealth"/>
          </a:ln>
        </p:spPr>
      </p:cxnSp>
      <p:sp>
        <p:nvSpPr>
          <p:cNvPr id="307" name="Google Shape;307;h6a67bc926a97b7af_0_327"/>
          <p:cNvSpPr txBox="1"/>
          <p:nvPr/>
        </p:nvSpPr>
        <p:spPr>
          <a:xfrm>
            <a:off x="3568975" y="2521475"/>
            <a:ext cx="897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latin typeface="Comfortaa"/>
                <a:ea typeface="Comfortaa"/>
                <a:cs typeface="Comfortaa"/>
                <a:sym typeface="Comfortaa"/>
              </a:rPr>
              <a:t>x=2</a:t>
            </a:r>
            <a:endParaRPr sz="3000">
              <a:solidFill>
                <a:srgbClr val="0000FF"/>
              </a:solidFill>
              <a:latin typeface="Comfortaa"/>
              <a:ea typeface="Comfortaa"/>
              <a:cs typeface="Comfortaa"/>
              <a:sym typeface="Comfortaa"/>
            </a:endParaRPr>
          </a:p>
        </p:txBody>
      </p:sp>
      <p:sp>
        <p:nvSpPr>
          <p:cNvPr id="308" name="Google Shape;308;h6a67bc926a97b7af_0_327"/>
          <p:cNvSpPr/>
          <p:nvPr/>
        </p:nvSpPr>
        <p:spPr>
          <a:xfrm>
            <a:off x="4933475" y="2060225"/>
            <a:ext cx="1761900" cy="492600"/>
          </a:xfrm>
          <a:prstGeom prst="rightArrow">
            <a:avLst>
              <a:gd fmla="val 50000" name="adj1"/>
              <a:gd fmla="val 50000" name="adj2"/>
            </a:avLst>
          </a:prstGeom>
          <a:solidFill>
            <a:srgbClr val="9FC5E8"/>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latin typeface="Comfortaa"/>
              <a:ea typeface="Comfortaa"/>
              <a:cs typeface="Comfortaa"/>
              <a:sym typeface="Comforta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h6a67bc926a97b7af_0_352"/>
          <p:cNvSpPr/>
          <p:nvPr/>
        </p:nvSpPr>
        <p:spPr>
          <a:xfrm>
            <a:off x="4881050" y="800450"/>
            <a:ext cx="35616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14" name="Google Shape;314;h6a67bc926a97b7af_0_352"/>
          <p:cNvSpPr/>
          <p:nvPr/>
        </p:nvSpPr>
        <p:spPr>
          <a:xfrm>
            <a:off x="3209050" y="800450"/>
            <a:ext cx="16719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15" name="Google Shape;315;h6a67bc926a97b7af_0_352"/>
          <p:cNvSpPr/>
          <p:nvPr/>
        </p:nvSpPr>
        <p:spPr>
          <a:xfrm>
            <a:off x="14323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16" name="Google Shape;316;h6a67bc926a97b7af_0_352"/>
          <p:cNvSpPr/>
          <p:nvPr/>
        </p:nvSpPr>
        <p:spPr>
          <a:xfrm>
            <a:off x="2776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17" name="Google Shape;317;h6a67bc926a97b7af_0_352"/>
          <p:cNvSpPr/>
          <p:nvPr/>
        </p:nvSpPr>
        <p:spPr>
          <a:xfrm>
            <a:off x="1454625" y="858800"/>
            <a:ext cx="109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18" name="Google Shape;318;h6a67bc926a97b7af_0_352"/>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solidFill>
                  <a:srgbClr val="0000FF"/>
                </a:solidFill>
              </a:rPr>
              <a:t>Forward Pass</a:t>
            </a:r>
            <a:endParaRPr>
              <a:solidFill>
                <a:srgbClr val="0000FF"/>
              </a:solidFill>
            </a:endParaRPr>
          </a:p>
        </p:txBody>
      </p:sp>
      <p:sp>
        <p:nvSpPr>
          <p:cNvPr id="319" name="Google Shape;319;h6a67bc926a97b7af_0_352"/>
          <p:cNvSpPr/>
          <p:nvPr/>
        </p:nvSpPr>
        <p:spPr>
          <a:xfrm>
            <a:off x="299925" y="858800"/>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20" name="Google Shape;320;h6a67bc926a97b7af_0_352"/>
          <p:cNvSpPr txBox="1"/>
          <p:nvPr/>
        </p:nvSpPr>
        <p:spPr>
          <a:xfrm>
            <a:off x="1454625" y="882050"/>
            <a:ext cx="1127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2x</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a:t>
            </a:r>
            <a:endParaRPr sz="2000">
              <a:solidFill>
                <a:srgbClr val="434343"/>
              </a:solidFill>
              <a:latin typeface="Comfortaa"/>
              <a:ea typeface="Comfortaa"/>
              <a:cs typeface="Comfortaa"/>
              <a:sym typeface="Comfortaa"/>
            </a:endParaRPr>
          </a:p>
        </p:txBody>
      </p:sp>
      <p:sp>
        <p:nvSpPr>
          <p:cNvPr id="321" name="Google Shape;321;h6a67bc926a97b7af_0_352"/>
          <p:cNvSpPr txBox="1"/>
          <p:nvPr/>
        </p:nvSpPr>
        <p:spPr>
          <a:xfrm>
            <a:off x="277600" y="1189850"/>
            <a:ext cx="112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v(x) = x²</a:t>
            </a:r>
            <a:endParaRPr b="1" sz="2000">
              <a:solidFill>
                <a:srgbClr val="434343"/>
              </a:solidFill>
              <a:latin typeface="Comfortaa"/>
              <a:ea typeface="Comfortaa"/>
              <a:cs typeface="Comfortaa"/>
              <a:sym typeface="Comfortaa"/>
            </a:endParaRPr>
          </a:p>
        </p:txBody>
      </p:sp>
      <p:sp>
        <p:nvSpPr>
          <p:cNvPr id="322" name="Google Shape;322;h6a67bc926a97b7af_0_352"/>
          <p:cNvSpPr txBox="1"/>
          <p:nvPr/>
        </p:nvSpPr>
        <p:spPr>
          <a:xfrm>
            <a:off x="3209050" y="1131500"/>
            <a:ext cx="1702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f(x) = u(v(x))</a:t>
            </a:r>
            <a:endParaRPr b="1" sz="2000">
              <a:solidFill>
                <a:srgbClr val="434343"/>
              </a:solidFill>
              <a:latin typeface="Comfortaa"/>
              <a:ea typeface="Comfortaa"/>
              <a:cs typeface="Comfortaa"/>
              <a:sym typeface="Comfortaa"/>
            </a:endParaRPr>
          </a:p>
        </p:txBody>
      </p:sp>
      <p:sp>
        <p:nvSpPr>
          <p:cNvPr id="323" name="Google Shape;323;h6a67bc926a97b7af_0_352"/>
          <p:cNvSpPr txBox="1"/>
          <p:nvPr/>
        </p:nvSpPr>
        <p:spPr>
          <a:xfrm>
            <a:off x="5119475" y="823700"/>
            <a:ext cx="339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df     du  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 . —- = -1.2.a = -2.a</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    dv   dx</a:t>
            </a:r>
            <a:endParaRPr sz="2000">
              <a:solidFill>
                <a:srgbClr val="434343"/>
              </a:solidFill>
              <a:latin typeface="Comfortaa"/>
              <a:ea typeface="Comfortaa"/>
              <a:cs typeface="Comfortaa"/>
              <a:sym typeface="Comfortaa"/>
            </a:endParaRPr>
          </a:p>
        </p:txBody>
      </p:sp>
      <p:sp>
        <p:nvSpPr>
          <p:cNvPr id="324" name="Google Shape;324;h6a67bc926a97b7af_0_352"/>
          <p:cNvSpPr txBox="1"/>
          <p:nvPr/>
        </p:nvSpPr>
        <p:spPr>
          <a:xfrm>
            <a:off x="1432300" y="2251375"/>
            <a:ext cx="1042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du             </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-1</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dy</a:t>
            </a:r>
            <a:endParaRPr sz="2000">
              <a:solidFill>
                <a:srgbClr val="434343"/>
              </a:solidFill>
              <a:latin typeface="Comfortaa"/>
              <a:ea typeface="Comfortaa"/>
              <a:cs typeface="Comfortaa"/>
              <a:sym typeface="Comfortaa"/>
            </a:endParaRPr>
          </a:p>
        </p:txBody>
      </p:sp>
      <p:sp>
        <p:nvSpPr>
          <p:cNvPr id="325" name="Google Shape;325;h6a67bc926a97b7af_0_352"/>
          <p:cNvSpPr txBox="1"/>
          <p:nvPr/>
        </p:nvSpPr>
        <p:spPr>
          <a:xfrm>
            <a:off x="277600" y="2559175"/>
            <a:ext cx="115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u(y) = -y</a:t>
            </a:r>
            <a:endParaRPr b="1"/>
          </a:p>
        </p:txBody>
      </p:sp>
      <p:sp>
        <p:nvSpPr>
          <p:cNvPr id="326" name="Google Shape;326;h6a67bc926a97b7af_0_352"/>
          <p:cNvSpPr/>
          <p:nvPr/>
        </p:nvSpPr>
        <p:spPr>
          <a:xfrm>
            <a:off x="3625025" y="3110125"/>
            <a:ext cx="64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x</a:t>
            </a:r>
            <a:endParaRPr sz="2300">
              <a:latin typeface="Comfortaa"/>
              <a:ea typeface="Comfortaa"/>
              <a:cs typeface="Comfortaa"/>
              <a:sym typeface="Comfortaa"/>
            </a:endParaRPr>
          </a:p>
        </p:txBody>
      </p:sp>
      <p:sp>
        <p:nvSpPr>
          <p:cNvPr id="327" name="Google Shape;327;h6a67bc926a97b7af_0_352"/>
          <p:cNvSpPr/>
          <p:nvPr/>
        </p:nvSpPr>
        <p:spPr>
          <a:xfrm>
            <a:off x="5267075" y="3110125"/>
            <a:ext cx="109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v=x²</a:t>
            </a:r>
            <a:endParaRPr sz="2300">
              <a:latin typeface="Comfortaa"/>
              <a:ea typeface="Comfortaa"/>
              <a:cs typeface="Comfortaa"/>
              <a:sym typeface="Comfortaa"/>
            </a:endParaRPr>
          </a:p>
        </p:txBody>
      </p:sp>
      <p:sp>
        <p:nvSpPr>
          <p:cNvPr id="328" name="Google Shape;328;h6a67bc926a97b7af_0_352"/>
          <p:cNvSpPr/>
          <p:nvPr/>
        </p:nvSpPr>
        <p:spPr>
          <a:xfrm>
            <a:off x="7162275" y="3110125"/>
            <a:ext cx="12429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u=-v</a:t>
            </a:r>
            <a:endParaRPr sz="2300">
              <a:latin typeface="Comfortaa"/>
              <a:ea typeface="Comfortaa"/>
              <a:cs typeface="Comfortaa"/>
              <a:sym typeface="Comfortaa"/>
            </a:endParaRPr>
          </a:p>
        </p:txBody>
      </p:sp>
      <p:cxnSp>
        <p:nvCxnSpPr>
          <p:cNvPr id="329" name="Google Shape;329;h6a67bc926a97b7af_0_352"/>
          <p:cNvCxnSpPr>
            <a:stCxn id="326" idx="6"/>
            <a:endCxn id="327" idx="2"/>
          </p:cNvCxnSpPr>
          <p:nvPr/>
        </p:nvCxnSpPr>
        <p:spPr>
          <a:xfrm>
            <a:off x="4269725" y="3432475"/>
            <a:ext cx="997500" cy="0"/>
          </a:xfrm>
          <a:prstGeom prst="straightConnector1">
            <a:avLst/>
          </a:prstGeom>
          <a:noFill/>
          <a:ln cap="flat" cmpd="sng" w="28575">
            <a:solidFill>
              <a:schemeClr val="dk2"/>
            </a:solidFill>
            <a:prstDash val="solid"/>
            <a:round/>
            <a:headEnd len="med" w="med" type="none"/>
            <a:tailEnd len="med" w="med" type="stealth"/>
          </a:ln>
        </p:spPr>
      </p:cxnSp>
      <p:cxnSp>
        <p:nvCxnSpPr>
          <p:cNvPr id="330" name="Google Shape;330;h6a67bc926a97b7af_0_352"/>
          <p:cNvCxnSpPr>
            <a:stCxn id="327" idx="6"/>
            <a:endCxn id="328" idx="2"/>
          </p:cNvCxnSpPr>
          <p:nvPr/>
        </p:nvCxnSpPr>
        <p:spPr>
          <a:xfrm>
            <a:off x="6361775" y="3432475"/>
            <a:ext cx="800400" cy="0"/>
          </a:xfrm>
          <a:prstGeom prst="straightConnector1">
            <a:avLst/>
          </a:prstGeom>
          <a:noFill/>
          <a:ln cap="flat" cmpd="sng" w="28575">
            <a:solidFill>
              <a:schemeClr val="dk2"/>
            </a:solidFill>
            <a:prstDash val="solid"/>
            <a:round/>
            <a:headEnd len="med" w="med" type="none"/>
            <a:tailEnd len="med" w="med" type="stealth"/>
          </a:ln>
        </p:spPr>
      </p:cxnSp>
      <p:sp>
        <p:nvSpPr>
          <p:cNvPr id="331" name="Google Shape;331;h6a67bc926a97b7af_0_352"/>
          <p:cNvSpPr txBox="1"/>
          <p:nvPr/>
        </p:nvSpPr>
        <p:spPr>
          <a:xfrm>
            <a:off x="3568975" y="2521475"/>
            <a:ext cx="897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latin typeface="Comfortaa"/>
                <a:ea typeface="Comfortaa"/>
                <a:cs typeface="Comfortaa"/>
                <a:sym typeface="Comfortaa"/>
              </a:rPr>
              <a:t>x=2</a:t>
            </a:r>
            <a:endParaRPr sz="3000">
              <a:solidFill>
                <a:srgbClr val="0000FF"/>
              </a:solidFill>
              <a:latin typeface="Comfortaa"/>
              <a:ea typeface="Comfortaa"/>
              <a:cs typeface="Comfortaa"/>
              <a:sym typeface="Comfortaa"/>
            </a:endParaRPr>
          </a:p>
        </p:txBody>
      </p:sp>
      <p:sp>
        <p:nvSpPr>
          <p:cNvPr id="332" name="Google Shape;332;h6a67bc926a97b7af_0_352"/>
          <p:cNvSpPr txBox="1"/>
          <p:nvPr/>
        </p:nvSpPr>
        <p:spPr>
          <a:xfrm>
            <a:off x="5389625" y="2463625"/>
            <a:ext cx="849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latin typeface="Comfortaa"/>
                <a:ea typeface="Comfortaa"/>
                <a:cs typeface="Comfortaa"/>
                <a:sym typeface="Comfortaa"/>
              </a:rPr>
              <a:t>v=4</a:t>
            </a:r>
            <a:endParaRPr sz="3000">
              <a:solidFill>
                <a:srgbClr val="0000FF"/>
              </a:solidFill>
              <a:latin typeface="Comfortaa"/>
              <a:ea typeface="Comfortaa"/>
              <a:cs typeface="Comfortaa"/>
              <a:sym typeface="Comfortaa"/>
            </a:endParaRPr>
          </a:p>
        </p:txBody>
      </p:sp>
      <p:sp>
        <p:nvSpPr>
          <p:cNvPr id="333" name="Google Shape;333;h6a67bc926a97b7af_0_352"/>
          <p:cNvSpPr/>
          <p:nvPr/>
        </p:nvSpPr>
        <p:spPr>
          <a:xfrm>
            <a:off x="4933475" y="2060225"/>
            <a:ext cx="1761900" cy="492600"/>
          </a:xfrm>
          <a:prstGeom prst="rightArrow">
            <a:avLst>
              <a:gd fmla="val 50000" name="adj1"/>
              <a:gd fmla="val 50000" name="adj2"/>
            </a:avLst>
          </a:prstGeom>
          <a:solidFill>
            <a:srgbClr val="9FC5E8"/>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latin typeface="Comfortaa"/>
              <a:ea typeface="Comfortaa"/>
              <a:cs typeface="Comfortaa"/>
              <a:sym typeface="Comforta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h6a67bc926a97b7af_0_302"/>
          <p:cNvSpPr/>
          <p:nvPr/>
        </p:nvSpPr>
        <p:spPr>
          <a:xfrm>
            <a:off x="4881050" y="800450"/>
            <a:ext cx="35616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39" name="Google Shape;339;h6a67bc926a97b7af_0_302"/>
          <p:cNvSpPr/>
          <p:nvPr/>
        </p:nvSpPr>
        <p:spPr>
          <a:xfrm>
            <a:off x="3209050" y="800450"/>
            <a:ext cx="16719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40" name="Google Shape;340;h6a67bc926a97b7af_0_302"/>
          <p:cNvSpPr/>
          <p:nvPr/>
        </p:nvSpPr>
        <p:spPr>
          <a:xfrm>
            <a:off x="14323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41" name="Google Shape;341;h6a67bc926a97b7af_0_302"/>
          <p:cNvSpPr/>
          <p:nvPr/>
        </p:nvSpPr>
        <p:spPr>
          <a:xfrm>
            <a:off x="2776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42" name="Google Shape;342;h6a67bc926a97b7af_0_302"/>
          <p:cNvSpPr/>
          <p:nvPr/>
        </p:nvSpPr>
        <p:spPr>
          <a:xfrm>
            <a:off x="1454625" y="858800"/>
            <a:ext cx="109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43" name="Google Shape;343;h6a67bc926a97b7af_0_302"/>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solidFill>
                  <a:srgbClr val="0000FF"/>
                </a:solidFill>
              </a:rPr>
              <a:t>Forward Pass</a:t>
            </a:r>
            <a:endParaRPr>
              <a:solidFill>
                <a:srgbClr val="0000FF"/>
              </a:solidFill>
            </a:endParaRPr>
          </a:p>
        </p:txBody>
      </p:sp>
      <p:sp>
        <p:nvSpPr>
          <p:cNvPr id="344" name="Google Shape;344;h6a67bc926a97b7af_0_302"/>
          <p:cNvSpPr/>
          <p:nvPr/>
        </p:nvSpPr>
        <p:spPr>
          <a:xfrm>
            <a:off x="299925" y="858800"/>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45" name="Google Shape;345;h6a67bc926a97b7af_0_302"/>
          <p:cNvSpPr txBox="1"/>
          <p:nvPr/>
        </p:nvSpPr>
        <p:spPr>
          <a:xfrm>
            <a:off x="1454625" y="882050"/>
            <a:ext cx="1127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2x</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a:t>
            </a:r>
            <a:endParaRPr sz="2000">
              <a:solidFill>
                <a:srgbClr val="434343"/>
              </a:solidFill>
              <a:latin typeface="Comfortaa"/>
              <a:ea typeface="Comfortaa"/>
              <a:cs typeface="Comfortaa"/>
              <a:sym typeface="Comfortaa"/>
            </a:endParaRPr>
          </a:p>
        </p:txBody>
      </p:sp>
      <p:sp>
        <p:nvSpPr>
          <p:cNvPr id="346" name="Google Shape;346;h6a67bc926a97b7af_0_302"/>
          <p:cNvSpPr txBox="1"/>
          <p:nvPr/>
        </p:nvSpPr>
        <p:spPr>
          <a:xfrm>
            <a:off x="277600" y="1189850"/>
            <a:ext cx="112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v(x) = x²</a:t>
            </a:r>
            <a:endParaRPr b="1" sz="2000">
              <a:solidFill>
                <a:srgbClr val="434343"/>
              </a:solidFill>
              <a:latin typeface="Comfortaa"/>
              <a:ea typeface="Comfortaa"/>
              <a:cs typeface="Comfortaa"/>
              <a:sym typeface="Comfortaa"/>
            </a:endParaRPr>
          </a:p>
        </p:txBody>
      </p:sp>
      <p:sp>
        <p:nvSpPr>
          <p:cNvPr id="347" name="Google Shape;347;h6a67bc926a97b7af_0_302"/>
          <p:cNvSpPr txBox="1"/>
          <p:nvPr/>
        </p:nvSpPr>
        <p:spPr>
          <a:xfrm>
            <a:off x="3209050" y="1131500"/>
            <a:ext cx="1702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f(x) = u(v(x))</a:t>
            </a:r>
            <a:endParaRPr b="1" sz="2000">
              <a:solidFill>
                <a:srgbClr val="434343"/>
              </a:solidFill>
              <a:latin typeface="Comfortaa"/>
              <a:ea typeface="Comfortaa"/>
              <a:cs typeface="Comfortaa"/>
              <a:sym typeface="Comfortaa"/>
            </a:endParaRPr>
          </a:p>
        </p:txBody>
      </p:sp>
      <p:sp>
        <p:nvSpPr>
          <p:cNvPr id="348" name="Google Shape;348;h6a67bc926a97b7af_0_302"/>
          <p:cNvSpPr txBox="1"/>
          <p:nvPr/>
        </p:nvSpPr>
        <p:spPr>
          <a:xfrm>
            <a:off x="5119475" y="823700"/>
            <a:ext cx="339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df     du  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 . —- = -1.2.a = -2.a</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    dv   dx</a:t>
            </a:r>
            <a:endParaRPr sz="2000">
              <a:solidFill>
                <a:srgbClr val="434343"/>
              </a:solidFill>
              <a:latin typeface="Comfortaa"/>
              <a:ea typeface="Comfortaa"/>
              <a:cs typeface="Comfortaa"/>
              <a:sym typeface="Comfortaa"/>
            </a:endParaRPr>
          </a:p>
        </p:txBody>
      </p:sp>
      <p:sp>
        <p:nvSpPr>
          <p:cNvPr id="349" name="Google Shape;349;h6a67bc926a97b7af_0_302"/>
          <p:cNvSpPr txBox="1"/>
          <p:nvPr/>
        </p:nvSpPr>
        <p:spPr>
          <a:xfrm>
            <a:off x="1432300" y="2251375"/>
            <a:ext cx="1042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du             </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-1</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dy</a:t>
            </a:r>
            <a:endParaRPr sz="2000">
              <a:solidFill>
                <a:srgbClr val="434343"/>
              </a:solidFill>
              <a:latin typeface="Comfortaa"/>
              <a:ea typeface="Comfortaa"/>
              <a:cs typeface="Comfortaa"/>
              <a:sym typeface="Comfortaa"/>
            </a:endParaRPr>
          </a:p>
        </p:txBody>
      </p:sp>
      <p:sp>
        <p:nvSpPr>
          <p:cNvPr id="350" name="Google Shape;350;h6a67bc926a97b7af_0_302"/>
          <p:cNvSpPr txBox="1"/>
          <p:nvPr/>
        </p:nvSpPr>
        <p:spPr>
          <a:xfrm>
            <a:off x="277600" y="2559175"/>
            <a:ext cx="115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u(y) = -y</a:t>
            </a:r>
            <a:endParaRPr b="1"/>
          </a:p>
        </p:txBody>
      </p:sp>
      <p:sp>
        <p:nvSpPr>
          <p:cNvPr id="351" name="Google Shape;351;h6a67bc926a97b7af_0_302"/>
          <p:cNvSpPr/>
          <p:nvPr/>
        </p:nvSpPr>
        <p:spPr>
          <a:xfrm>
            <a:off x="3625025" y="3110125"/>
            <a:ext cx="64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x</a:t>
            </a:r>
            <a:endParaRPr sz="2300">
              <a:latin typeface="Comfortaa"/>
              <a:ea typeface="Comfortaa"/>
              <a:cs typeface="Comfortaa"/>
              <a:sym typeface="Comfortaa"/>
            </a:endParaRPr>
          </a:p>
        </p:txBody>
      </p:sp>
      <p:sp>
        <p:nvSpPr>
          <p:cNvPr id="352" name="Google Shape;352;h6a67bc926a97b7af_0_302"/>
          <p:cNvSpPr/>
          <p:nvPr/>
        </p:nvSpPr>
        <p:spPr>
          <a:xfrm>
            <a:off x="5267075" y="3110125"/>
            <a:ext cx="109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v=x²</a:t>
            </a:r>
            <a:endParaRPr sz="2300">
              <a:latin typeface="Comfortaa"/>
              <a:ea typeface="Comfortaa"/>
              <a:cs typeface="Comfortaa"/>
              <a:sym typeface="Comfortaa"/>
            </a:endParaRPr>
          </a:p>
        </p:txBody>
      </p:sp>
      <p:sp>
        <p:nvSpPr>
          <p:cNvPr id="353" name="Google Shape;353;h6a67bc926a97b7af_0_302"/>
          <p:cNvSpPr/>
          <p:nvPr/>
        </p:nvSpPr>
        <p:spPr>
          <a:xfrm>
            <a:off x="7162275" y="3110125"/>
            <a:ext cx="12429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u=-v</a:t>
            </a:r>
            <a:endParaRPr sz="2300">
              <a:latin typeface="Comfortaa"/>
              <a:ea typeface="Comfortaa"/>
              <a:cs typeface="Comfortaa"/>
              <a:sym typeface="Comfortaa"/>
            </a:endParaRPr>
          </a:p>
        </p:txBody>
      </p:sp>
      <p:cxnSp>
        <p:nvCxnSpPr>
          <p:cNvPr id="354" name="Google Shape;354;h6a67bc926a97b7af_0_302"/>
          <p:cNvCxnSpPr>
            <a:stCxn id="351" idx="6"/>
            <a:endCxn id="352" idx="2"/>
          </p:cNvCxnSpPr>
          <p:nvPr/>
        </p:nvCxnSpPr>
        <p:spPr>
          <a:xfrm>
            <a:off x="4269725" y="3432475"/>
            <a:ext cx="997500" cy="0"/>
          </a:xfrm>
          <a:prstGeom prst="straightConnector1">
            <a:avLst/>
          </a:prstGeom>
          <a:noFill/>
          <a:ln cap="flat" cmpd="sng" w="28575">
            <a:solidFill>
              <a:schemeClr val="dk2"/>
            </a:solidFill>
            <a:prstDash val="solid"/>
            <a:round/>
            <a:headEnd len="med" w="med" type="none"/>
            <a:tailEnd len="med" w="med" type="stealth"/>
          </a:ln>
        </p:spPr>
      </p:cxnSp>
      <p:cxnSp>
        <p:nvCxnSpPr>
          <p:cNvPr id="355" name="Google Shape;355;h6a67bc926a97b7af_0_302"/>
          <p:cNvCxnSpPr>
            <a:stCxn id="352" idx="6"/>
            <a:endCxn id="353" idx="2"/>
          </p:cNvCxnSpPr>
          <p:nvPr/>
        </p:nvCxnSpPr>
        <p:spPr>
          <a:xfrm>
            <a:off x="6361775" y="3432475"/>
            <a:ext cx="800400" cy="0"/>
          </a:xfrm>
          <a:prstGeom prst="straightConnector1">
            <a:avLst/>
          </a:prstGeom>
          <a:noFill/>
          <a:ln cap="flat" cmpd="sng" w="28575">
            <a:solidFill>
              <a:schemeClr val="dk2"/>
            </a:solidFill>
            <a:prstDash val="solid"/>
            <a:round/>
            <a:headEnd len="med" w="med" type="none"/>
            <a:tailEnd len="med" w="med" type="stealth"/>
          </a:ln>
        </p:spPr>
      </p:cxnSp>
      <p:sp>
        <p:nvSpPr>
          <p:cNvPr id="356" name="Google Shape;356;h6a67bc926a97b7af_0_302"/>
          <p:cNvSpPr txBox="1"/>
          <p:nvPr/>
        </p:nvSpPr>
        <p:spPr>
          <a:xfrm>
            <a:off x="3568975" y="2521475"/>
            <a:ext cx="897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latin typeface="Comfortaa"/>
                <a:ea typeface="Comfortaa"/>
                <a:cs typeface="Comfortaa"/>
                <a:sym typeface="Comfortaa"/>
              </a:rPr>
              <a:t>x=2</a:t>
            </a:r>
            <a:endParaRPr sz="3000">
              <a:solidFill>
                <a:srgbClr val="0000FF"/>
              </a:solidFill>
              <a:latin typeface="Comfortaa"/>
              <a:ea typeface="Comfortaa"/>
              <a:cs typeface="Comfortaa"/>
              <a:sym typeface="Comfortaa"/>
            </a:endParaRPr>
          </a:p>
        </p:txBody>
      </p:sp>
      <p:sp>
        <p:nvSpPr>
          <p:cNvPr id="357" name="Google Shape;357;h6a67bc926a97b7af_0_302"/>
          <p:cNvSpPr txBox="1"/>
          <p:nvPr/>
        </p:nvSpPr>
        <p:spPr>
          <a:xfrm>
            <a:off x="5389625" y="2463625"/>
            <a:ext cx="849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latin typeface="Comfortaa"/>
                <a:ea typeface="Comfortaa"/>
                <a:cs typeface="Comfortaa"/>
                <a:sym typeface="Comfortaa"/>
              </a:rPr>
              <a:t>v=4</a:t>
            </a:r>
            <a:endParaRPr sz="3000">
              <a:solidFill>
                <a:srgbClr val="0000FF"/>
              </a:solidFill>
              <a:latin typeface="Comfortaa"/>
              <a:ea typeface="Comfortaa"/>
              <a:cs typeface="Comfortaa"/>
              <a:sym typeface="Comfortaa"/>
            </a:endParaRPr>
          </a:p>
        </p:txBody>
      </p:sp>
      <p:sp>
        <p:nvSpPr>
          <p:cNvPr id="358" name="Google Shape;358;h6a67bc926a97b7af_0_302"/>
          <p:cNvSpPr txBox="1"/>
          <p:nvPr/>
        </p:nvSpPr>
        <p:spPr>
          <a:xfrm>
            <a:off x="7237428" y="2521475"/>
            <a:ext cx="109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latin typeface="Comfortaa"/>
                <a:ea typeface="Comfortaa"/>
                <a:cs typeface="Comfortaa"/>
                <a:sym typeface="Comfortaa"/>
              </a:rPr>
              <a:t>u=-4</a:t>
            </a:r>
            <a:endParaRPr sz="3000">
              <a:solidFill>
                <a:srgbClr val="0000FF"/>
              </a:solidFill>
              <a:latin typeface="Comfortaa"/>
              <a:ea typeface="Comfortaa"/>
              <a:cs typeface="Comfortaa"/>
              <a:sym typeface="Comfortaa"/>
            </a:endParaRPr>
          </a:p>
        </p:txBody>
      </p:sp>
      <p:sp>
        <p:nvSpPr>
          <p:cNvPr id="359" name="Google Shape;359;h6a67bc926a97b7af_0_302"/>
          <p:cNvSpPr/>
          <p:nvPr/>
        </p:nvSpPr>
        <p:spPr>
          <a:xfrm>
            <a:off x="4933475" y="2060225"/>
            <a:ext cx="1761900" cy="492600"/>
          </a:xfrm>
          <a:prstGeom prst="rightArrow">
            <a:avLst>
              <a:gd fmla="val 50000" name="adj1"/>
              <a:gd fmla="val 50000" name="adj2"/>
            </a:avLst>
          </a:prstGeom>
          <a:solidFill>
            <a:srgbClr val="9FC5E8"/>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latin typeface="Comfortaa"/>
              <a:ea typeface="Comfortaa"/>
              <a:cs typeface="Comfortaa"/>
              <a:sym typeface="Comforta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h6a67bc926a97b7af_0_274"/>
          <p:cNvSpPr/>
          <p:nvPr/>
        </p:nvSpPr>
        <p:spPr>
          <a:xfrm>
            <a:off x="4881050" y="800450"/>
            <a:ext cx="35616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65" name="Google Shape;365;h6a67bc926a97b7af_0_274"/>
          <p:cNvSpPr/>
          <p:nvPr/>
        </p:nvSpPr>
        <p:spPr>
          <a:xfrm>
            <a:off x="3209050" y="800450"/>
            <a:ext cx="16719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66" name="Google Shape;366;h6a67bc926a97b7af_0_274"/>
          <p:cNvSpPr/>
          <p:nvPr/>
        </p:nvSpPr>
        <p:spPr>
          <a:xfrm>
            <a:off x="14323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67" name="Google Shape;367;h6a67bc926a97b7af_0_274"/>
          <p:cNvSpPr/>
          <p:nvPr/>
        </p:nvSpPr>
        <p:spPr>
          <a:xfrm>
            <a:off x="2776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68" name="Google Shape;368;h6a67bc926a97b7af_0_274"/>
          <p:cNvSpPr/>
          <p:nvPr/>
        </p:nvSpPr>
        <p:spPr>
          <a:xfrm>
            <a:off x="1454625" y="858800"/>
            <a:ext cx="109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69" name="Google Shape;369;h6a67bc926a97b7af_0_274"/>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solidFill>
                  <a:srgbClr val="FF0000"/>
                </a:solidFill>
              </a:rPr>
              <a:t>Backward Pass</a:t>
            </a:r>
            <a:endParaRPr>
              <a:solidFill>
                <a:srgbClr val="FF0000"/>
              </a:solidFill>
            </a:endParaRPr>
          </a:p>
        </p:txBody>
      </p:sp>
      <p:sp>
        <p:nvSpPr>
          <p:cNvPr id="370" name="Google Shape;370;h6a67bc926a97b7af_0_274"/>
          <p:cNvSpPr/>
          <p:nvPr/>
        </p:nvSpPr>
        <p:spPr>
          <a:xfrm>
            <a:off x="299925" y="858800"/>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71" name="Google Shape;371;h6a67bc926a97b7af_0_274"/>
          <p:cNvSpPr txBox="1"/>
          <p:nvPr/>
        </p:nvSpPr>
        <p:spPr>
          <a:xfrm>
            <a:off x="1454625" y="882050"/>
            <a:ext cx="1127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2x</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a:t>
            </a:r>
            <a:endParaRPr sz="2000">
              <a:solidFill>
                <a:srgbClr val="434343"/>
              </a:solidFill>
              <a:latin typeface="Comfortaa"/>
              <a:ea typeface="Comfortaa"/>
              <a:cs typeface="Comfortaa"/>
              <a:sym typeface="Comfortaa"/>
            </a:endParaRPr>
          </a:p>
        </p:txBody>
      </p:sp>
      <p:sp>
        <p:nvSpPr>
          <p:cNvPr id="372" name="Google Shape;372;h6a67bc926a97b7af_0_274"/>
          <p:cNvSpPr txBox="1"/>
          <p:nvPr/>
        </p:nvSpPr>
        <p:spPr>
          <a:xfrm>
            <a:off x="277600" y="1189850"/>
            <a:ext cx="112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v(x) = x²</a:t>
            </a:r>
            <a:endParaRPr b="1" sz="2000">
              <a:solidFill>
                <a:srgbClr val="434343"/>
              </a:solidFill>
              <a:latin typeface="Comfortaa"/>
              <a:ea typeface="Comfortaa"/>
              <a:cs typeface="Comfortaa"/>
              <a:sym typeface="Comfortaa"/>
            </a:endParaRPr>
          </a:p>
        </p:txBody>
      </p:sp>
      <p:sp>
        <p:nvSpPr>
          <p:cNvPr id="373" name="Google Shape;373;h6a67bc926a97b7af_0_274"/>
          <p:cNvSpPr txBox="1"/>
          <p:nvPr/>
        </p:nvSpPr>
        <p:spPr>
          <a:xfrm>
            <a:off x="3209050" y="1131500"/>
            <a:ext cx="1702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f(x) = u(v(x))</a:t>
            </a:r>
            <a:endParaRPr b="1" sz="2000">
              <a:solidFill>
                <a:srgbClr val="434343"/>
              </a:solidFill>
              <a:latin typeface="Comfortaa"/>
              <a:ea typeface="Comfortaa"/>
              <a:cs typeface="Comfortaa"/>
              <a:sym typeface="Comfortaa"/>
            </a:endParaRPr>
          </a:p>
        </p:txBody>
      </p:sp>
      <p:sp>
        <p:nvSpPr>
          <p:cNvPr id="374" name="Google Shape;374;h6a67bc926a97b7af_0_274"/>
          <p:cNvSpPr txBox="1"/>
          <p:nvPr/>
        </p:nvSpPr>
        <p:spPr>
          <a:xfrm>
            <a:off x="5119475" y="823700"/>
            <a:ext cx="339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df     du  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 . —- = -1.2.a = -2.a</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    dv   dx</a:t>
            </a:r>
            <a:endParaRPr sz="2000">
              <a:solidFill>
                <a:srgbClr val="434343"/>
              </a:solidFill>
              <a:latin typeface="Comfortaa"/>
              <a:ea typeface="Comfortaa"/>
              <a:cs typeface="Comfortaa"/>
              <a:sym typeface="Comfortaa"/>
            </a:endParaRPr>
          </a:p>
        </p:txBody>
      </p:sp>
      <p:sp>
        <p:nvSpPr>
          <p:cNvPr id="375" name="Google Shape;375;h6a67bc926a97b7af_0_274"/>
          <p:cNvSpPr txBox="1"/>
          <p:nvPr/>
        </p:nvSpPr>
        <p:spPr>
          <a:xfrm>
            <a:off x="1432300" y="2251375"/>
            <a:ext cx="1042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du             </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-1</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dy</a:t>
            </a:r>
            <a:endParaRPr sz="2000">
              <a:solidFill>
                <a:srgbClr val="434343"/>
              </a:solidFill>
              <a:latin typeface="Comfortaa"/>
              <a:ea typeface="Comfortaa"/>
              <a:cs typeface="Comfortaa"/>
              <a:sym typeface="Comfortaa"/>
            </a:endParaRPr>
          </a:p>
        </p:txBody>
      </p:sp>
      <p:sp>
        <p:nvSpPr>
          <p:cNvPr id="376" name="Google Shape;376;h6a67bc926a97b7af_0_274"/>
          <p:cNvSpPr txBox="1"/>
          <p:nvPr/>
        </p:nvSpPr>
        <p:spPr>
          <a:xfrm>
            <a:off x="277600" y="2559175"/>
            <a:ext cx="115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u(y) = -y</a:t>
            </a:r>
            <a:endParaRPr b="1"/>
          </a:p>
        </p:txBody>
      </p:sp>
      <p:sp>
        <p:nvSpPr>
          <p:cNvPr id="377" name="Google Shape;377;h6a67bc926a97b7af_0_274"/>
          <p:cNvSpPr/>
          <p:nvPr/>
        </p:nvSpPr>
        <p:spPr>
          <a:xfrm>
            <a:off x="3625025" y="3110125"/>
            <a:ext cx="64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x</a:t>
            </a:r>
            <a:endParaRPr sz="2300">
              <a:latin typeface="Comfortaa"/>
              <a:ea typeface="Comfortaa"/>
              <a:cs typeface="Comfortaa"/>
              <a:sym typeface="Comfortaa"/>
            </a:endParaRPr>
          </a:p>
        </p:txBody>
      </p:sp>
      <p:sp>
        <p:nvSpPr>
          <p:cNvPr id="378" name="Google Shape;378;h6a67bc926a97b7af_0_274"/>
          <p:cNvSpPr/>
          <p:nvPr/>
        </p:nvSpPr>
        <p:spPr>
          <a:xfrm>
            <a:off x="5267075" y="3110125"/>
            <a:ext cx="109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v=x²</a:t>
            </a:r>
            <a:endParaRPr sz="2300">
              <a:latin typeface="Comfortaa"/>
              <a:ea typeface="Comfortaa"/>
              <a:cs typeface="Comfortaa"/>
              <a:sym typeface="Comfortaa"/>
            </a:endParaRPr>
          </a:p>
        </p:txBody>
      </p:sp>
      <p:sp>
        <p:nvSpPr>
          <p:cNvPr id="379" name="Google Shape;379;h6a67bc926a97b7af_0_274"/>
          <p:cNvSpPr/>
          <p:nvPr/>
        </p:nvSpPr>
        <p:spPr>
          <a:xfrm>
            <a:off x="7162275" y="3110125"/>
            <a:ext cx="12429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u=-v</a:t>
            </a:r>
            <a:endParaRPr sz="2300">
              <a:latin typeface="Comfortaa"/>
              <a:ea typeface="Comfortaa"/>
              <a:cs typeface="Comfortaa"/>
              <a:sym typeface="Comfortaa"/>
            </a:endParaRPr>
          </a:p>
        </p:txBody>
      </p:sp>
      <p:cxnSp>
        <p:nvCxnSpPr>
          <p:cNvPr id="380" name="Google Shape;380;h6a67bc926a97b7af_0_274"/>
          <p:cNvCxnSpPr>
            <a:stCxn id="377" idx="6"/>
            <a:endCxn id="378" idx="2"/>
          </p:cNvCxnSpPr>
          <p:nvPr/>
        </p:nvCxnSpPr>
        <p:spPr>
          <a:xfrm>
            <a:off x="4269725" y="3432475"/>
            <a:ext cx="997500" cy="0"/>
          </a:xfrm>
          <a:prstGeom prst="straightConnector1">
            <a:avLst/>
          </a:prstGeom>
          <a:noFill/>
          <a:ln cap="flat" cmpd="sng" w="28575">
            <a:solidFill>
              <a:schemeClr val="dk2"/>
            </a:solidFill>
            <a:prstDash val="solid"/>
            <a:round/>
            <a:headEnd len="med" w="med" type="none"/>
            <a:tailEnd len="med" w="med" type="stealth"/>
          </a:ln>
        </p:spPr>
      </p:cxnSp>
      <p:cxnSp>
        <p:nvCxnSpPr>
          <p:cNvPr id="381" name="Google Shape;381;h6a67bc926a97b7af_0_274"/>
          <p:cNvCxnSpPr>
            <a:stCxn id="378" idx="6"/>
            <a:endCxn id="379" idx="2"/>
          </p:cNvCxnSpPr>
          <p:nvPr/>
        </p:nvCxnSpPr>
        <p:spPr>
          <a:xfrm>
            <a:off x="6361775" y="3432475"/>
            <a:ext cx="800400" cy="0"/>
          </a:xfrm>
          <a:prstGeom prst="straightConnector1">
            <a:avLst/>
          </a:prstGeom>
          <a:noFill/>
          <a:ln cap="flat" cmpd="sng" w="28575">
            <a:solidFill>
              <a:schemeClr val="dk2"/>
            </a:solidFill>
            <a:prstDash val="solid"/>
            <a:round/>
            <a:headEnd len="med" w="med" type="none"/>
            <a:tailEnd len="med" w="med" type="stealth"/>
          </a:ln>
        </p:spPr>
      </p:cxnSp>
      <p:sp>
        <p:nvSpPr>
          <p:cNvPr id="382" name="Google Shape;382;h6a67bc926a97b7af_0_274"/>
          <p:cNvSpPr txBox="1"/>
          <p:nvPr/>
        </p:nvSpPr>
        <p:spPr>
          <a:xfrm>
            <a:off x="3568975" y="2521475"/>
            <a:ext cx="897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x=2</a:t>
            </a:r>
            <a:endParaRPr sz="3000">
              <a:solidFill>
                <a:srgbClr val="434343"/>
              </a:solidFill>
              <a:latin typeface="Comfortaa"/>
              <a:ea typeface="Comfortaa"/>
              <a:cs typeface="Comfortaa"/>
              <a:sym typeface="Comfortaa"/>
            </a:endParaRPr>
          </a:p>
        </p:txBody>
      </p:sp>
      <p:sp>
        <p:nvSpPr>
          <p:cNvPr id="383" name="Google Shape;383;h6a67bc926a97b7af_0_274"/>
          <p:cNvSpPr txBox="1"/>
          <p:nvPr/>
        </p:nvSpPr>
        <p:spPr>
          <a:xfrm>
            <a:off x="5389625" y="2463625"/>
            <a:ext cx="849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v=4</a:t>
            </a:r>
            <a:endParaRPr sz="3000">
              <a:solidFill>
                <a:srgbClr val="434343"/>
              </a:solidFill>
              <a:latin typeface="Comfortaa"/>
              <a:ea typeface="Comfortaa"/>
              <a:cs typeface="Comfortaa"/>
              <a:sym typeface="Comfortaa"/>
            </a:endParaRPr>
          </a:p>
        </p:txBody>
      </p:sp>
      <p:sp>
        <p:nvSpPr>
          <p:cNvPr id="384" name="Google Shape;384;h6a67bc926a97b7af_0_274"/>
          <p:cNvSpPr txBox="1"/>
          <p:nvPr/>
        </p:nvSpPr>
        <p:spPr>
          <a:xfrm>
            <a:off x="7237428" y="2521475"/>
            <a:ext cx="109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u=-4</a:t>
            </a:r>
            <a:endParaRPr sz="3000">
              <a:solidFill>
                <a:srgbClr val="434343"/>
              </a:solidFill>
              <a:latin typeface="Comfortaa"/>
              <a:ea typeface="Comfortaa"/>
              <a:cs typeface="Comfortaa"/>
              <a:sym typeface="Comfortaa"/>
            </a:endParaRPr>
          </a:p>
        </p:txBody>
      </p:sp>
      <p:sp>
        <p:nvSpPr>
          <p:cNvPr id="385" name="Google Shape;385;h6a67bc926a97b7af_0_274"/>
          <p:cNvSpPr/>
          <p:nvPr/>
        </p:nvSpPr>
        <p:spPr>
          <a:xfrm flipH="1">
            <a:off x="4880950" y="4650900"/>
            <a:ext cx="1761900" cy="492600"/>
          </a:xfrm>
          <a:prstGeom prst="rightArrow">
            <a:avLst>
              <a:gd fmla="val 50000" name="adj1"/>
              <a:gd fmla="val 50000" name="adj2"/>
            </a:avLst>
          </a:prstGeom>
          <a:solidFill>
            <a:srgbClr val="EA9999"/>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latin typeface="Comfortaa"/>
              <a:ea typeface="Comfortaa"/>
              <a:cs typeface="Comfortaa"/>
              <a:sym typeface="Comfortaa"/>
            </a:endParaRPr>
          </a:p>
        </p:txBody>
      </p:sp>
      <p:sp>
        <p:nvSpPr>
          <p:cNvPr id="386" name="Google Shape;386;h6a67bc926a97b7af_0_274"/>
          <p:cNvSpPr txBox="1"/>
          <p:nvPr/>
        </p:nvSpPr>
        <p:spPr>
          <a:xfrm>
            <a:off x="7334925" y="3687345"/>
            <a:ext cx="897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—-=1</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h6a67bc926a97b7af_0_463"/>
          <p:cNvSpPr/>
          <p:nvPr/>
        </p:nvSpPr>
        <p:spPr>
          <a:xfrm>
            <a:off x="4881050" y="800450"/>
            <a:ext cx="35616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92" name="Google Shape;392;h6a67bc926a97b7af_0_463"/>
          <p:cNvSpPr/>
          <p:nvPr/>
        </p:nvSpPr>
        <p:spPr>
          <a:xfrm>
            <a:off x="3209050" y="800450"/>
            <a:ext cx="16719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93" name="Google Shape;393;h6a67bc926a97b7af_0_463"/>
          <p:cNvSpPr/>
          <p:nvPr/>
        </p:nvSpPr>
        <p:spPr>
          <a:xfrm>
            <a:off x="14323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94" name="Google Shape;394;h6a67bc926a97b7af_0_463"/>
          <p:cNvSpPr/>
          <p:nvPr/>
        </p:nvSpPr>
        <p:spPr>
          <a:xfrm>
            <a:off x="2776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95" name="Google Shape;395;h6a67bc926a97b7af_0_463"/>
          <p:cNvSpPr/>
          <p:nvPr/>
        </p:nvSpPr>
        <p:spPr>
          <a:xfrm>
            <a:off x="1454625" y="858800"/>
            <a:ext cx="109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96" name="Google Shape;396;h6a67bc926a97b7af_0_463"/>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solidFill>
                  <a:srgbClr val="FF0000"/>
                </a:solidFill>
              </a:rPr>
              <a:t>Backward Pass</a:t>
            </a:r>
            <a:endParaRPr>
              <a:solidFill>
                <a:srgbClr val="FF0000"/>
              </a:solidFill>
            </a:endParaRPr>
          </a:p>
        </p:txBody>
      </p:sp>
      <p:sp>
        <p:nvSpPr>
          <p:cNvPr id="397" name="Google Shape;397;h6a67bc926a97b7af_0_463"/>
          <p:cNvSpPr/>
          <p:nvPr/>
        </p:nvSpPr>
        <p:spPr>
          <a:xfrm>
            <a:off x="299925" y="858800"/>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98" name="Google Shape;398;h6a67bc926a97b7af_0_463"/>
          <p:cNvSpPr txBox="1"/>
          <p:nvPr/>
        </p:nvSpPr>
        <p:spPr>
          <a:xfrm>
            <a:off x="1454625" y="882050"/>
            <a:ext cx="1127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2x</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a:t>
            </a:r>
            <a:endParaRPr sz="2000">
              <a:solidFill>
                <a:srgbClr val="434343"/>
              </a:solidFill>
              <a:latin typeface="Comfortaa"/>
              <a:ea typeface="Comfortaa"/>
              <a:cs typeface="Comfortaa"/>
              <a:sym typeface="Comfortaa"/>
            </a:endParaRPr>
          </a:p>
        </p:txBody>
      </p:sp>
      <p:sp>
        <p:nvSpPr>
          <p:cNvPr id="399" name="Google Shape;399;h6a67bc926a97b7af_0_463"/>
          <p:cNvSpPr txBox="1"/>
          <p:nvPr/>
        </p:nvSpPr>
        <p:spPr>
          <a:xfrm>
            <a:off x="277600" y="1189850"/>
            <a:ext cx="112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v(x) = x²</a:t>
            </a:r>
            <a:endParaRPr b="1" sz="2000">
              <a:solidFill>
                <a:srgbClr val="434343"/>
              </a:solidFill>
              <a:latin typeface="Comfortaa"/>
              <a:ea typeface="Comfortaa"/>
              <a:cs typeface="Comfortaa"/>
              <a:sym typeface="Comfortaa"/>
            </a:endParaRPr>
          </a:p>
        </p:txBody>
      </p:sp>
      <p:sp>
        <p:nvSpPr>
          <p:cNvPr id="400" name="Google Shape;400;h6a67bc926a97b7af_0_463"/>
          <p:cNvSpPr txBox="1"/>
          <p:nvPr/>
        </p:nvSpPr>
        <p:spPr>
          <a:xfrm>
            <a:off x="3209050" y="1131500"/>
            <a:ext cx="1702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f(x) = u(v(x))</a:t>
            </a:r>
            <a:endParaRPr b="1" sz="2000">
              <a:solidFill>
                <a:srgbClr val="434343"/>
              </a:solidFill>
              <a:latin typeface="Comfortaa"/>
              <a:ea typeface="Comfortaa"/>
              <a:cs typeface="Comfortaa"/>
              <a:sym typeface="Comfortaa"/>
            </a:endParaRPr>
          </a:p>
        </p:txBody>
      </p:sp>
      <p:sp>
        <p:nvSpPr>
          <p:cNvPr id="401" name="Google Shape;401;h6a67bc926a97b7af_0_463"/>
          <p:cNvSpPr txBox="1"/>
          <p:nvPr/>
        </p:nvSpPr>
        <p:spPr>
          <a:xfrm>
            <a:off x="5119475" y="823700"/>
            <a:ext cx="339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df     du  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 . —- = -1.2.a = -2.a</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    dv   dx</a:t>
            </a:r>
            <a:endParaRPr sz="2000">
              <a:solidFill>
                <a:srgbClr val="434343"/>
              </a:solidFill>
              <a:latin typeface="Comfortaa"/>
              <a:ea typeface="Comfortaa"/>
              <a:cs typeface="Comfortaa"/>
              <a:sym typeface="Comfortaa"/>
            </a:endParaRPr>
          </a:p>
        </p:txBody>
      </p:sp>
      <p:sp>
        <p:nvSpPr>
          <p:cNvPr id="402" name="Google Shape;402;h6a67bc926a97b7af_0_463"/>
          <p:cNvSpPr txBox="1"/>
          <p:nvPr/>
        </p:nvSpPr>
        <p:spPr>
          <a:xfrm>
            <a:off x="1432300" y="2251375"/>
            <a:ext cx="1042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du             </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-1</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dy</a:t>
            </a:r>
            <a:endParaRPr sz="2000">
              <a:solidFill>
                <a:srgbClr val="434343"/>
              </a:solidFill>
              <a:latin typeface="Comfortaa"/>
              <a:ea typeface="Comfortaa"/>
              <a:cs typeface="Comfortaa"/>
              <a:sym typeface="Comfortaa"/>
            </a:endParaRPr>
          </a:p>
        </p:txBody>
      </p:sp>
      <p:sp>
        <p:nvSpPr>
          <p:cNvPr id="403" name="Google Shape;403;h6a67bc926a97b7af_0_463"/>
          <p:cNvSpPr txBox="1"/>
          <p:nvPr/>
        </p:nvSpPr>
        <p:spPr>
          <a:xfrm>
            <a:off x="277600" y="2559175"/>
            <a:ext cx="115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u(y) = -y</a:t>
            </a:r>
            <a:endParaRPr b="1"/>
          </a:p>
        </p:txBody>
      </p:sp>
      <p:sp>
        <p:nvSpPr>
          <p:cNvPr id="404" name="Google Shape;404;h6a67bc926a97b7af_0_463"/>
          <p:cNvSpPr/>
          <p:nvPr/>
        </p:nvSpPr>
        <p:spPr>
          <a:xfrm>
            <a:off x="3625025" y="3110125"/>
            <a:ext cx="64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x</a:t>
            </a:r>
            <a:endParaRPr sz="2300">
              <a:latin typeface="Comfortaa"/>
              <a:ea typeface="Comfortaa"/>
              <a:cs typeface="Comfortaa"/>
              <a:sym typeface="Comfortaa"/>
            </a:endParaRPr>
          </a:p>
        </p:txBody>
      </p:sp>
      <p:sp>
        <p:nvSpPr>
          <p:cNvPr id="405" name="Google Shape;405;h6a67bc926a97b7af_0_463"/>
          <p:cNvSpPr/>
          <p:nvPr/>
        </p:nvSpPr>
        <p:spPr>
          <a:xfrm>
            <a:off x="5267075" y="3110125"/>
            <a:ext cx="109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v=x²</a:t>
            </a:r>
            <a:endParaRPr sz="2300">
              <a:latin typeface="Comfortaa"/>
              <a:ea typeface="Comfortaa"/>
              <a:cs typeface="Comfortaa"/>
              <a:sym typeface="Comfortaa"/>
            </a:endParaRPr>
          </a:p>
        </p:txBody>
      </p:sp>
      <p:sp>
        <p:nvSpPr>
          <p:cNvPr id="406" name="Google Shape;406;h6a67bc926a97b7af_0_463"/>
          <p:cNvSpPr/>
          <p:nvPr/>
        </p:nvSpPr>
        <p:spPr>
          <a:xfrm>
            <a:off x="7162275" y="3110125"/>
            <a:ext cx="12429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u=-v</a:t>
            </a:r>
            <a:endParaRPr sz="2300">
              <a:latin typeface="Comfortaa"/>
              <a:ea typeface="Comfortaa"/>
              <a:cs typeface="Comfortaa"/>
              <a:sym typeface="Comfortaa"/>
            </a:endParaRPr>
          </a:p>
        </p:txBody>
      </p:sp>
      <p:cxnSp>
        <p:nvCxnSpPr>
          <p:cNvPr id="407" name="Google Shape;407;h6a67bc926a97b7af_0_463"/>
          <p:cNvCxnSpPr>
            <a:stCxn id="404" idx="6"/>
            <a:endCxn id="405" idx="2"/>
          </p:cNvCxnSpPr>
          <p:nvPr/>
        </p:nvCxnSpPr>
        <p:spPr>
          <a:xfrm>
            <a:off x="4269725" y="3432475"/>
            <a:ext cx="997500" cy="0"/>
          </a:xfrm>
          <a:prstGeom prst="straightConnector1">
            <a:avLst/>
          </a:prstGeom>
          <a:noFill/>
          <a:ln cap="flat" cmpd="sng" w="28575">
            <a:solidFill>
              <a:schemeClr val="dk2"/>
            </a:solidFill>
            <a:prstDash val="solid"/>
            <a:round/>
            <a:headEnd len="med" w="med" type="none"/>
            <a:tailEnd len="med" w="med" type="stealth"/>
          </a:ln>
        </p:spPr>
      </p:cxnSp>
      <p:cxnSp>
        <p:nvCxnSpPr>
          <p:cNvPr id="408" name="Google Shape;408;h6a67bc926a97b7af_0_463"/>
          <p:cNvCxnSpPr>
            <a:stCxn id="405" idx="6"/>
            <a:endCxn id="406" idx="2"/>
          </p:cNvCxnSpPr>
          <p:nvPr/>
        </p:nvCxnSpPr>
        <p:spPr>
          <a:xfrm>
            <a:off x="6361775" y="3432475"/>
            <a:ext cx="800400" cy="0"/>
          </a:xfrm>
          <a:prstGeom prst="straightConnector1">
            <a:avLst/>
          </a:prstGeom>
          <a:noFill/>
          <a:ln cap="flat" cmpd="sng" w="28575">
            <a:solidFill>
              <a:schemeClr val="dk2"/>
            </a:solidFill>
            <a:prstDash val="solid"/>
            <a:round/>
            <a:headEnd len="med" w="med" type="none"/>
            <a:tailEnd len="med" w="med" type="stealth"/>
          </a:ln>
        </p:spPr>
      </p:cxnSp>
      <p:sp>
        <p:nvSpPr>
          <p:cNvPr id="409" name="Google Shape;409;h6a67bc926a97b7af_0_463"/>
          <p:cNvSpPr txBox="1"/>
          <p:nvPr/>
        </p:nvSpPr>
        <p:spPr>
          <a:xfrm>
            <a:off x="3568975" y="2521475"/>
            <a:ext cx="897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x=2</a:t>
            </a:r>
            <a:endParaRPr sz="3000">
              <a:solidFill>
                <a:srgbClr val="434343"/>
              </a:solidFill>
              <a:latin typeface="Comfortaa"/>
              <a:ea typeface="Comfortaa"/>
              <a:cs typeface="Comfortaa"/>
              <a:sym typeface="Comfortaa"/>
            </a:endParaRPr>
          </a:p>
        </p:txBody>
      </p:sp>
      <p:sp>
        <p:nvSpPr>
          <p:cNvPr id="410" name="Google Shape;410;h6a67bc926a97b7af_0_463"/>
          <p:cNvSpPr txBox="1"/>
          <p:nvPr/>
        </p:nvSpPr>
        <p:spPr>
          <a:xfrm>
            <a:off x="5389625" y="2463625"/>
            <a:ext cx="849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v=4</a:t>
            </a:r>
            <a:endParaRPr sz="3000">
              <a:solidFill>
                <a:srgbClr val="434343"/>
              </a:solidFill>
              <a:latin typeface="Comfortaa"/>
              <a:ea typeface="Comfortaa"/>
              <a:cs typeface="Comfortaa"/>
              <a:sym typeface="Comfortaa"/>
            </a:endParaRPr>
          </a:p>
        </p:txBody>
      </p:sp>
      <p:sp>
        <p:nvSpPr>
          <p:cNvPr id="411" name="Google Shape;411;h6a67bc926a97b7af_0_463"/>
          <p:cNvSpPr txBox="1"/>
          <p:nvPr/>
        </p:nvSpPr>
        <p:spPr>
          <a:xfrm>
            <a:off x="7237428" y="2521475"/>
            <a:ext cx="109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u=-4</a:t>
            </a:r>
            <a:endParaRPr sz="3000">
              <a:solidFill>
                <a:srgbClr val="434343"/>
              </a:solidFill>
              <a:latin typeface="Comfortaa"/>
              <a:ea typeface="Comfortaa"/>
              <a:cs typeface="Comfortaa"/>
              <a:sym typeface="Comfortaa"/>
            </a:endParaRPr>
          </a:p>
        </p:txBody>
      </p:sp>
      <p:sp>
        <p:nvSpPr>
          <p:cNvPr id="412" name="Google Shape;412;h6a67bc926a97b7af_0_463"/>
          <p:cNvSpPr txBox="1"/>
          <p:nvPr/>
        </p:nvSpPr>
        <p:spPr>
          <a:xfrm>
            <a:off x="6439677" y="3458145"/>
            <a:ext cx="722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FF0000"/>
                </a:solidFill>
                <a:latin typeface="Comfortaa"/>
                <a:ea typeface="Comfortaa"/>
                <a:cs typeface="Comfortaa"/>
                <a:sym typeface="Comfortaa"/>
              </a:rPr>
              <a:t>du</a:t>
            </a:r>
            <a:endParaRPr>
              <a:solidFill>
                <a:srgbClr val="FF0000"/>
              </a:solidFill>
              <a:latin typeface="Comfortaa"/>
              <a:ea typeface="Comfortaa"/>
              <a:cs typeface="Comfortaa"/>
              <a:sym typeface="Comfortaa"/>
            </a:endParaRPr>
          </a:p>
          <a:p>
            <a:pPr indent="0" lvl="0" marL="0" rtl="0" algn="l">
              <a:spcBef>
                <a:spcPts val="0"/>
              </a:spcBef>
              <a:spcAft>
                <a:spcPts val="0"/>
              </a:spcAft>
              <a:buNone/>
            </a:pPr>
            <a:r>
              <a:rPr lang="pt-BR">
                <a:solidFill>
                  <a:srgbClr val="FF0000"/>
                </a:solidFill>
                <a:latin typeface="Comfortaa"/>
                <a:ea typeface="Comfortaa"/>
                <a:cs typeface="Comfortaa"/>
                <a:sym typeface="Comfortaa"/>
              </a:rPr>
              <a:t>—-=-1</a:t>
            </a:r>
            <a:endParaRPr>
              <a:solidFill>
                <a:srgbClr val="FF0000"/>
              </a:solidFill>
              <a:latin typeface="Comfortaa"/>
              <a:ea typeface="Comfortaa"/>
              <a:cs typeface="Comfortaa"/>
              <a:sym typeface="Comfortaa"/>
            </a:endParaRPr>
          </a:p>
          <a:p>
            <a:pPr indent="0" lvl="0" marL="0" rtl="0" algn="l">
              <a:spcBef>
                <a:spcPts val="0"/>
              </a:spcBef>
              <a:spcAft>
                <a:spcPts val="0"/>
              </a:spcAft>
              <a:buNone/>
            </a:pPr>
            <a:r>
              <a:rPr lang="pt-BR">
                <a:solidFill>
                  <a:srgbClr val="FF0000"/>
                </a:solidFill>
                <a:latin typeface="Comfortaa"/>
                <a:ea typeface="Comfortaa"/>
                <a:cs typeface="Comfortaa"/>
                <a:sym typeface="Comfortaa"/>
              </a:rPr>
              <a:t>dv</a:t>
            </a:r>
            <a:endParaRPr>
              <a:solidFill>
                <a:srgbClr val="FF0000"/>
              </a:solidFill>
              <a:latin typeface="Comfortaa"/>
              <a:ea typeface="Comfortaa"/>
              <a:cs typeface="Comfortaa"/>
              <a:sym typeface="Comfortaa"/>
            </a:endParaRPr>
          </a:p>
        </p:txBody>
      </p:sp>
      <p:sp>
        <p:nvSpPr>
          <p:cNvPr id="413" name="Google Shape;413;h6a67bc926a97b7af_0_463"/>
          <p:cNvSpPr/>
          <p:nvPr/>
        </p:nvSpPr>
        <p:spPr>
          <a:xfrm flipH="1">
            <a:off x="4880950" y="4650900"/>
            <a:ext cx="1761900" cy="492600"/>
          </a:xfrm>
          <a:prstGeom prst="rightArrow">
            <a:avLst>
              <a:gd fmla="val 50000" name="adj1"/>
              <a:gd fmla="val 50000" name="adj2"/>
            </a:avLst>
          </a:prstGeom>
          <a:solidFill>
            <a:srgbClr val="EA9999"/>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latin typeface="Comfortaa"/>
              <a:ea typeface="Comfortaa"/>
              <a:cs typeface="Comfortaa"/>
              <a:sym typeface="Comfortaa"/>
            </a:endParaRPr>
          </a:p>
        </p:txBody>
      </p:sp>
      <p:sp>
        <p:nvSpPr>
          <p:cNvPr id="414" name="Google Shape;414;h6a67bc926a97b7af_0_463"/>
          <p:cNvSpPr txBox="1"/>
          <p:nvPr/>
        </p:nvSpPr>
        <p:spPr>
          <a:xfrm>
            <a:off x="7334925" y="3687345"/>
            <a:ext cx="897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—-=1</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h6a67bc926a97b7af_0_434"/>
          <p:cNvSpPr/>
          <p:nvPr/>
        </p:nvSpPr>
        <p:spPr>
          <a:xfrm>
            <a:off x="4881050" y="800450"/>
            <a:ext cx="35616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20" name="Google Shape;420;h6a67bc926a97b7af_0_434"/>
          <p:cNvSpPr/>
          <p:nvPr/>
        </p:nvSpPr>
        <p:spPr>
          <a:xfrm>
            <a:off x="3209050" y="800450"/>
            <a:ext cx="16719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21" name="Google Shape;421;h6a67bc926a97b7af_0_434"/>
          <p:cNvSpPr/>
          <p:nvPr/>
        </p:nvSpPr>
        <p:spPr>
          <a:xfrm>
            <a:off x="14323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22" name="Google Shape;422;h6a67bc926a97b7af_0_434"/>
          <p:cNvSpPr/>
          <p:nvPr/>
        </p:nvSpPr>
        <p:spPr>
          <a:xfrm>
            <a:off x="2776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23" name="Google Shape;423;h6a67bc926a97b7af_0_434"/>
          <p:cNvSpPr/>
          <p:nvPr/>
        </p:nvSpPr>
        <p:spPr>
          <a:xfrm>
            <a:off x="1454625" y="858800"/>
            <a:ext cx="109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24" name="Google Shape;424;h6a67bc926a97b7af_0_434"/>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solidFill>
                  <a:srgbClr val="FF0000"/>
                </a:solidFill>
              </a:rPr>
              <a:t>Backward Pass</a:t>
            </a:r>
            <a:endParaRPr>
              <a:solidFill>
                <a:srgbClr val="FF0000"/>
              </a:solidFill>
            </a:endParaRPr>
          </a:p>
        </p:txBody>
      </p:sp>
      <p:sp>
        <p:nvSpPr>
          <p:cNvPr id="425" name="Google Shape;425;h6a67bc926a97b7af_0_434"/>
          <p:cNvSpPr/>
          <p:nvPr/>
        </p:nvSpPr>
        <p:spPr>
          <a:xfrm>
            <a:off x="299925" y="858800"/>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26" name="Google Shape;426;h6a67bc926a97b7af_0_434"/>
          <p:cNvSpPr txBox="1"/>
          <p:nvPr/>
        </p:nvSpPr>
        <p:spPr>
          <a:xfrm>
            <a:off x="1454625" y="882050"/>
            <a:ext cx="1127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2x</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a:t>
            </a:r>
            <a:endParaRPr sz="2000">
              <a:solidFill>
                <a:srgbClr val="434343"/>
              </a:solidFill>
              <a:latin typeface="Comfortaa"/>
              <a:ea typeface="Comfortaa"/>
              <a:cs typeface="Comfortaa"/>
              <a:sym typeface="Comfortaa"/>
            </a:endParaRPr>
          </a:p>
        </p:txBody>
      </p:sp>
      <p:sp>
        <p:nvSpPr>
          <p:cNvPr id="427" name="Google Shape;427;h6a67bc926a97b7af_0_434"/>
          <p:cNvSpPr txBox="1"/>
          <p:nvPr/>
        </p:nvSpPr>
        <p:spPr>
          <a:xfrm>
            <a:off x="277600" y="1189850"/>
            <a:ext cx="112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v(x) = x²</a:t>
            </a:r>
            <a:endParaRPr b="1" sz="2000">
              <a:solidFill>
                <a:srgbClr val="434343"/>
              </a:solidFill>
              <a:latin typeface="Comfortaa"/>
              <a:ea typeface="Comfortaa"/>
              <a:cs typeface="Comfortaa"/>
              <a:sym typeface="Comfortaa"/>
            </a:endParaRPr>
          </a:p>
        </p:txBody>
      </p:sp>
      <p:sp>
        <p:nvSpPr>
          <p:cNvPr id="428" name="Google Shape;428;h6a67bc926a97b7af_0_434"/>
          <p:cNvSpPr txBox="1"/>
          <p:nvPr/>
        </p:nvSpPr>
        <p:spPr>
          <a:xfrm>
            <a:off x="3209050" y="1131500"/>
            <a:ext cx="1702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f(x) = u(v(x))</a:t>
            </a:r>
            <a:endParaRPr b="1" sz="2000">
              <a:solidFill>
                <a:srgbClr val="434343"/>
              </a:solidFill>
              <a:latin typeface="Comfortaa"/>
              <a:ea typeface="Comfortaa"/>
              <a:cs typeface="Comfortaa"/>
              <a:sym typeface="Comfortaa"/>
            </a:endParaRPr>
          </a:p>
        </p:txBody>
      </p:sp>
      <p:sp>
        <p:nvSpPr>
          <p:cNvPr id="429" name="Google Shape;429;h6a67bc926a97b7af_0_434"/>
          <p:cNvSpPr txBox="1"/>
          <p:nvPr/>
        </p:nvSpPr>
        <p:spPr>
          <a:xfrm>
            <a:off x="5119475" y="823700"/>
            <a:ext cx="339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df     du  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 . —- = -1.2.a = -2.a</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    dv   dx</a:t>
            </a:r>
            <a:endParaRPr sz="2000">
              <a:solidFill>
                <a:srgbClr val="434343"/>
              </a:solidFill>
              <a:latin typeface="Comfortaa"/>
              <a:ea typeface="Comfortaa"/>
              <a:cs typeface="Comfortaa"/>
              <a:sym typeface="Comfortaa"/>
            </a:endParaRPr>
          </a:p>
        </p:txBody>
      </p:sp>
      <p:sp>
        <p:nvSpPr>
          <p:cNvPr id="430" name="Google Shape;430;h6a67bc926a97b7af_0_434"/>
          <p:cNvSpPr txBox="1"/>
          <p:nvPr/>
        </p:nvSpPr>
        <p:spPr>
          <a:xfrm>
            <a:off x="1432300" y="2251375"/>
            <a:ext cx="1042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du             </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-1</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dy</a:t>
            </a:r>
            <a:endParaRPr sz="2000">
              <a:solidFill>
                <a:srgbClr val="434343"/>
              </a:solidFill>
              <a:latin typeface="Comfortaa"/>
              <a:ea typeface="Comfortaa"/>
              <a:cs typeface="Comfortaa"/>
              <a:sym typeface="Comfortaa"/>
            </a:endParaRPr>
          </a:p>
        </p:txBody>
      </p:sp>
      <p:sp>
        <p:nvSpPr>
          <p:cNvPr id="431" name="Google Shape;431;h6a67bc926a97b7af_0_434"/>
          <p:cNvSpPr txBox="1"/>
          <p:nvPr/>
        </p:nvSpPr>
        <p:spPr>
          <a:xfrm>
            <a:off x="277600" y="2559175"/>
            <a:ext cx="115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u(y) = -y</a:t>
            </a:r>
            <a:endParaRPr b="1"/>
          </a:p>
        </p:txBody>
      </p:sp>
      <p:sp>
        <p:nvSpPr>
          <p:cNvPr id="432" name="Google Shape;432;h6a67bc926a97b7af_0_434"/>
          <p:cNvSpPr/>
          <p:nvPr/>
        </p:nvSpPr>
        <p:spPr>
          <a:xfrm>
            <a:off x="3625025" y="3110125"/>
            <a:ext cx="64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x</a:t>
            </a:r>
            <a:endParaRPr sz="2300">
              <a:latin typeface="Comfortaa"/>
              <a:ea typeface="Comfortaa"/>
              <a:cs typeface="Comfortaa"/>
              <a:sym typeface="Comfortaa"/>
            </a:endParaRPr>
          </a:p>
        </p:txBody>
      </p:sp>
      <p:sp>
        <p:nvSpPr>
          <p:cNvPr id="433" name="Google Shape;433;h6a67bc926a97b7af_0_434"/>
          <p:cNvSpPr/>
          <p:nvPr/>
        </p:nvSpPr>
        <p:spPr>
          <a:xfrm>
            <a:off x="5267075" y="3110125"/>
            <a:ext cx="109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v=x²</a:t>
            </a:r>
            <a:endParaRPr sz="2300">
              <a:latin typeface="Comfortaa"/>
              <a:ea typeface="Comfortaa"/>
              <a:cs typeface="Comfortaa"/>
              <a:sym typeface="Comfortaa"/>
            </a:endParaRPr>
          </a:p>
        </p:txBody>
      </p:sp>
      <p:sp>
        <p:nvSpPr>
          <p:cNvPr id="434" name="Google Shape;434;h6a67bc926a97b7af_0_434"/>
          <p:cNvSpPr/>
          <p:nvPr/>
        </p:nvSpPr>
        <p:spPr>
          <a:xfrm>
            <a:off x="7162275" y="3110125"/>
            <a:ext cx="12429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u=-v</a:t>
            </a:r>
            <a:endParaRPr sz="2300">
              <a:latin typeface="Comfortaa"/>
              <a:ea typeface="Comfortaa"/>
              <a:cs typeface="Comfortaa"/>
              <a:sym typeface="Comfortaa"/>
            </a:endParaRPr>
          </a:p>
        </p:txBody>
      </p:sp>
      <p:cxnSp>
        <p:nvCxnSpPr>
          <p:cNvPr id="435" name="Google Shape;435;h6a67bc926a97b7af_0_434"/>
          <p:cNvCxnSpPr>
            <a:stCxn id="432" idx="6"/>
            <a:endCxn id="433" idx="2"/>
          </p:cNvCxnSpPr>
          <p:nvPr/>
        </p:nvCxnSpPr>
        <p:spPr>
          <a:xfrm>
            <a:off x="4269725" y="3432475"/>
            <a:ext cx="997500" cy="0"/>
          </a:xfrm>
          <a:prstGeom prst="straightConnector1">
            <a:avLst/>
          </a:prstGeom>
          <a:noFill/>
          <a:ln cap="flat" cmpd="sng" w="28575">
            <a:solidFill>
              <a:schemeClr val="dk2"/>
            </a:solidFill>
            <a:prstDash val="solid"/>
            <a:round/>
            <a:headEnd len="med" w="med" type="none"/>
            <a:tailEnd len="med" w="med" type="stealth"/>
          </a:ln>
        </p:spPr>
      </p:cxnSp>
      <p:cxnSp>
        <p:nvCxnSpPr>
          <p:cNvPr id="436" name="Google Shape;436;h6a67bc926a97b7af_0_434"/>
          <p:cNvCxnSpPr>
            <a:stCxn id="433" idx="6"/>
            <a:endCxn id="434" idx="2"/>
          </p:cNvCxnSpPr>
          <p:nvPr/>
        </p:nvCxnSpPr>
        <p:spPr>
          <a:xfrm>
            <a:off x="6361775" y="3432475"/>
            <a:ext cx="800400" cy="0"/>
          </a:xfrm>
          <a:prstGeom prst="straightConnector1">
            <a:avLst/>
          </a:prstGeom>
          <a:noFill/>
          <a:ln cap="flat" cmpd="sng" w="28575">
            <a:solidFill>
              <a:schemeClr val="dk2"/>
            </a:solidFill>
            <a:prstDash val="solid"/>
            <a:round/>
            <a:headEnd len="med" w="med" type="none"/>
            <a:tailEnd len="med" w="med" type="stealth"/>
          </a:ln>
        </p:spPr>
      </p:cxnSp>
      <p:sp>
        <p:nvSpPr>
          <p:cNvPr id="437" name="Google Shape;437;h6a67bc926a97b7af_0_434"/>
          <p:cNvSpPr txBox="1"/>
          <p:nvPr/>
        </p:nvSpPr>
        <p:spPr>
          <a:xfrm>
            <a:off x="3568975" y="2521475"/>
            <a:ext cx="897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x=2</a:t>
            </a:r>
            <a:endParaRPr sz="3000">
              <a:solidFill>
                <a:srgbClr val="434343"/>
              </a:solidFill>
              <a:latin typeface="Comfortaa"/>
              <a:ea typeface="Comfortaa"/>
              <a:cs typeface="Comfortaa"/>
              <a:sym typeface="Comfortaa"/>
            </a:endParaRPr>
          </a:p>
        </p:txBody>
      </p:sp>
      <p:sp>
        <p:nvSpPr>
          <p:cNvPr id="438" name="Google Shape;438;h6a67bc926a97b7af_0_434"/>
          <p:cNvSpPr txBox="1"/>
          <p:nvPr/>
        </p:nvSpPr>
        <p:spPr>
          <a:xfrm>
            <a:off x="5389625" y="2463625"/>
            <a:ext cx="849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v=4</a:t>
            </a:r>
            <a:endParaRPr sz="3000">
              <a:solidFill>
                <a:srgbClr val="434343"/>
              </a:solidFill>
              <a:latin typeface="Comfortaa"/>
              <a:ea typeface="Comfortaa"/>
              <a:cs typeface="Comfortaa"/>
              <a:sym typeface="Comfortaa"/>
            </a:endParaRPr>
          </a:p>
        </p:txBody>
      </p:sp>
      <p:sp>
        <p:nvSpPr>
          <p:cNvPr id="439" name="Google Shape;439;h6a67bc926a97b7af_0_434"/>
          <p:cNvSpPr txBox="1"/>
          <p:nvPr/>
        </p:nvSpPr>
        <p:spPr>
          <a:xfrm>
            <a:off x="7237428" y="2521475"/>
            <a:ext cx="109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u=-4</a:t>
            </a:r>
            <a:endParaRPr sz="3000">
              <a:solidFill>
                <a:srgbClr val="434343"/>
              </a:solidFill>
              <a:latin typeface="Comfortaa"/>
              <a:ea typeface="Comfortaa"/>
              <a:cs typeface="Comfortaa"/>
              <a:sym typeface="Comfortaa"/>
            </a:endParaRPr>
          </a:p>
        </p:txBody>
      </p:sp>
      <p:sp>
        <p:nvSpPr>
          <p:cNvPr id="440" name="Google Shape;440;h6a67bc926a97b7af_0_434"/>
          <p:cNvSpPr txBox="1"/>
          <p:nvPr/>
        </p:nvSpPr>
        <p:spPr>
          <a:xfrm>
            <a:off x="6439677" y="3458145"/>
            <a:ext cx="722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FF0000"/>
                </a:solidFill>
                <a:latin typeface="Comfortaa"/>
                <a:ea typeface="Comfortaa"/>
                <a:cs typeface="Comfortaa"/>
                <a:sym typeface="Comfortaa"/>
              </a:rPr>
              <a:t>du</a:t>
            </a:r>
            <a:endParaRPr>
              <a:solidFill>
                <a:srgbClr val="FF0000"/>
              </a:solidFill>
              <a:latin typeface="Comfortaa"/>
              <a:ea typeface="Comfortaa"/>
              <a:cs typeface="Comfortaa"/>
              <a:sym typeface="Comfortaa"/>
            </a:endParaRPr>
          </a:p>
          <a:p>
            <a:pPr indent="0" lvl="0" marL="0" rtl="0" algn="l">
              <a:spcBef>
                <a:spcPts val="0"/>
              </a:spcBef>
              <a:spcAft>
                <a:spcPts val="0"/>
              </a:spcAft>
              <a:buNone/>
            </a:pPr>
            <a:r>
              <a:rPr lang="pt-BR">
                <a:solidFill>
                  <a:srgbClr val="FF0000"/>
                </a:solidFill>
                <a:latin typeface="Comfortaa"/>
                <a:ea typeface="Comfortaa"/>
                <a:cs typeface="Comfortaa"/>
                <a:sym typeface="Comfortaa"/>
              </a:rPr>
              <a:t>—-=-1</a:t>
            </a:r>
            <a:endParaRPr>
              <a:solidFill>
                <a:srgbClr val="FF0000"/>
              </a:solidFill>
              <a:latin typeface="Comfortaa"/>
              <a:ea typeface="Comfortaa"/>
              <a:cs typeface="Comfortaa"/>
              <a:sym typeface="Comfortaa"/>
            </a:endParaRPr>
          </a:p>
          <a:p>
            <a:pPr indent="0" lvl="0" marL="0" rtl="0" algn="l">
              <a:spcBef>
                <a:spcPts val="0"/>
              </a:spcBef>
              <a:spcAft>
                <a:spcPts val="0"/>
              </a:spcAft>
              <a:buNone/>
            </a:pPr>
            <a:r>
              <a:rPr lang="pt-BR">
                <a:solidFill>
                  <a:srgbClr val="FF0000"/>
                </a:solidFill>
                <a:latin typeface="Comfortaa"/>
                <a:ea typeface="Comfortaa"/>
                <a:cs typeface="Comfortaa"/>
                <a:sym typeface="Comfortaa"/>
              </a:rPr>
              <a:t>dv</a:t>
            </a:r>
            <a:endParaRPr>
              <a:solidFill>
                <a:srgbClr val="FF0000"/>
              </a:solidFill>
              <a:latin typeface="Comfortaa"/>
              <a:ea typeface="Comfortaa"/>
              <a:cs typeface="Comfortaa"/>
              <a:sym typeface="Comfortaa"/>
            </a:endParaRPr>
          </a:p>
        </p:txBody>
      </p:sp>
      <p:sp>
        <p:nvSpPr>
          <p:cNvPr id="441" name="Google Shape;441;h6a67bc926a97b7af_0_434"/>
          <p:cNvSpPr txBox="1"/>
          <p:nvPr/>
        </p:nvSpPr>
        <p:spPr>
          <a:xfrm>
            <a:off x="5414225" y="3687345"/>
            <a:ext cx="897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—-=-1</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dv</a:t>
            </a:r>
            <a:endParaRPr sz="2000">
              <a:solidFill>
                <a:srgbClr val="FF0000"/>
              </a:solidFill>
              <a:latin typeface="Comfortaa"/>
              <a:ea typeface="Comfortaa"/>
              <a:cs typeface="Comfortaa"/>
              <a:sym typeface="Comfortaa"/>
            </a:endParaRPr>
          </a:p>
        </p:txBody>
      </p:sp>
      <p:sp>
        <p:nvSpPr>
          <p:cNvPr id="442" name="Google Shape;442;h6a67bc926a97b7af_0_434"/>
          <p:cNvSpPr/>
          <p:nvPr/>
        </p:nvSpPr>
        <p:spPr>
          <a:xfrm flipH="1">
            <a:off x="4880950" y="4650900"/>
            <a:ext cx="1761900" cy="492600"/>
          </a:xfrm>
          <a:prstGeom prst="rightArrow">
            <a:avLst>
              <a:gd fmla="val 50000" name="adj1"/>
              <a:gd fmla="val 50000" name="adj2"/>
            </a:avLst>
          </a:prstGeom>
          <a:solidFill>
            <a:srgbClr val="EA9999"/>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latin typeface="Comfortaa"/>
              <a:ea typeface="Comfortaa"/>
              <a:cs typeface="Comfortaa"/>
              <a:sym typeface="Comfortaa"/>
            </a:endParaRPr>
          </a:p>
        </p:txBody>
      </p:sp>
      <p:sp>
        <p:nvSpPr>
          <p:cNvPr id="443" name="Google Shape;443;h6a67bc926a97b7af_0_434"/>
          <p:cNvSpPr txBox="1"/>
          <p:nvPr/>
        </p:nvSpPr>
        <p:spPr>
          <a:xfrm>
            <a:off x="7334925" y="3687345"/>
            <a:ext cx="897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—-=1</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h6a67bc926a97b7af_0_406"/>
          <p:cNvSpPr/>
          <p:nvPr/>
        </p:nvSpPr>
        <p:spPr>
          <a:xfrm>
            <a:off x="4881050" y="800450"/>
            <a:ext cx="35616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49" name="Google Shape;449;h6a67bc926a97b7af_0_406"/>
          <p:cNvSpPr/>
          <p:nvPr/>
        </p:nvSpPr>
        <p:spPr>
          <a:xfrm>
            <a:off x="3209050" y="800450"/>
            <a:ext cx="16719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50" name="Google Shape;450;h6a67bc926a97b7af_0_406"/>
          <p:cNvSpPr/>
          <p:nvPr/>
        </p:nvSpPr>
        <p:spPr>
          <a:xfrm>
            <a:off x="14323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51" name="Google Shape;451;h6a67bc926a97b7af_0_406"/>
          <p:cNvSpPr/>
          <p:nvPr/>
        </p:nvSpPr>
        <p:spPr>
          <a:xfrm>
            <a:off x="2776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52" name="Google Shape;452;h6a67bc926a97b7af_0_406"/>
          <p:cNvSpPr/>
          <p:nvPr/>
        </p:nvSpPr>
        <p:spPr>
          <a:xfrm>
            <a:off x="1454625" y="858800"/>
            <a:ext cx="109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53" name="Google Shape;453;h6a67bc926a97b7af_0_406"/>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solidFill>
                  <a:srgbClr val="FF0000"/>
                </a:solidFill>
              </a:rPr>
              <a:t>Backward Pass</a:t>
            </a:r>
            <a:endParaRPr>
              <a:solidFill>
                <a:srgbClr val="FF0000"/>
              </a:solidFill>
            </a:endParaRPr>
          </a:p>
        </p:txBody>
      </p:sp>
      <p:sp>
        <p:nvSpPr>
          <p:cNvPr id="454" name="Google Shape;454;h6a67bc926a97b7af_0_406"/>
          <p:cNvSpPr/>
          <p:nvPr/>
        </p:nvSpPr>
        <p:spPr>
          <a:xfrm>
            <a:off x="299925" y="858800"/>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55" name="Google Shape;455;h6a67bc926a97b7af_0_406"/>
          <p:cNvSpPr txBox="1"/>
          <p:nvPr/>
        </p:nvSpPr>
        <p:spPr>
          <a:xfrm>
            <a:off x="1454625" y="882050"/>
            <a:ext cx="1127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2x</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a:t>
            </a:r>
            <a:endParaRPr sz="2000">
              <a:solidFill>
                <a:srgbClr val="434343"/>
              </a:solidFill>
              <a:latin typeface="Comfortaa"/>
              <a:ea typeface="Comfortaa"/>
              <a:cs typeface="Comfortaa"/>
              <a:sym typeface="Comfortaa"/>
            </a:endParaRPr>
          </a:p>
        </p:txBody>
      </p:sp>
      <p:sp>
        <p:nvSpPr>
          <p:cNvPr id="456" name="Google Shape;456;h6a67bc926a97b7af_0_406"/>
          <p:cNvSpPr txBox="1"/>
          <p:nvPr/>
        </p:nvSpPr>
        <p:spPr>
          <a:xfrm>
            <a:off x="277600" y="1189850"/>
            <a:ext cx="112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v(x) = x²</a:t>
            </a:r>
            <a:endParaRPr b="1" sz="2000">
              <a:solidFill>
                <a:srgbClr val="434343"/>
              </a:solidFill>
              <a:latin typeface="Comfortaa"/>
              <a:ea typeface="Comfortaa"/>
              <a:cs typeface="Comfortaa"/>
              <a:sym typeface="Comfortaa"/>
            </a:endParaRPr>
          </a:p>
        </p:txBody>
      </p:sp>
      <p:sp>
        <p:nvSpPr>
          <p:cNvPr id="457" name="Google Shape;457;h6a67bc926a97b7af_0_406"/>
          <p:cNvSpPr txBox="1"/>
          <p:nvPr/>
        </p:nvSpPr>
        <p:spPr>
          <a:xfrm>
            <a:off x="3209050" y="1131500"/>
            <a:ext cx="1702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f(x) = u(v(x))</a:t>
            </a:r>
            <a:endParaRPr b="1" sz="2000">
              <a:solidFill>
                <a:srgbClr val="434343"/>
              </a:solidFill>
              <a:latin typeface="Comfortaa"/>
              <a:ea typeface="Comfortaa"/>
              <a:cs typeface="Comfortaa"/>
              <a:sym typeface="Comfortaa"/>
            </a:endParaRPr>
          </a:p>
        </p:txBody>
      </p:sp>
      <p:sp>
        <p:nvSpPr>
          <p:cNvPr id="458" name="Google Shape;458;h6a67bc926a97b7af_0_406"/>
          <p:cNvSpPr txBox="1"/>
          <p:nvPr/>
        </p:nvSpPr>
        <p:spPr>
          <a:xfrm>
            <a:off x="5119475" y="823700"/>
            <a:ext cx="339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df     du  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 . —- = -1.2.a = -2.a</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    dv   dx</a:t>
            </a:r>
            <a:endParaRPr sz="2000">
              <a:solidFill>
                <a:srgbClr val="434343"/>
              </a:solidFill>
              <a:latin typeface="Comfortaa"/>
              <a:ea typeface="Comfortaa"/>
              <a:cs typeface="Comfortaa"/>
              <a:sym typeface="Comfortaa"/>
            </a:endParaRPr>
          </a:p>
        </p:txBody>
      </p:sp>
      <p:sp>
        <p:nvSpPr>
          <p:cNvPr id="459" name="Google Shape;459;h6a67bc926a97b7af_0_406"/>
          <p:cNvSpPr txBox="1"/>
          <p:nvPr/>
        </p:nvSpPr>
        <p:spPr>
          <a:xfrm>
            <a:off x="1432300" y="2251375"/>
            <a:ext cx="1042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du             </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-1</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dy</a:t>
            </a:r>
            <a:endParaRPr sz="2000">
              <a:solidFill>
                <a:srgbClr val="434343"/>
              </a:solidFill>
              <a:latin typeface="Comfortaa"/>
              <a:ea typeface="Comfortaa"/>
              <a:cs typeface="Comfortaa"/>
              <a:sym typeface="Comfortaa"/>
            </a:endParaRPr>
          </a:p>
        </p:txBody>
      </p:sp>
      <p:sp>
        <p:nvSpPr>
          <p:cNvPr id="460" name="Google Shape;460;h6a67bc926a97b7af_0_406"/>
          <p:cNvSpPr txBox="1"/>
          <p:nvPr/>
        </p:nvSpPr>
        <p:spPr>
          <a:xfrm>
            <a:off x="277600" y="2559175"/>
            <a:ext cx="115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u(y) = -y</a:t>
            </a:r>
            <a:endParaRPr b="1"/>
          </a:p>
        </p:txBody>
      </p:sp>
      <p:sp>
        <p:nvSpPr>
          <p:cNvPr id="461" name="Google Shape;461;h6a67bc926a97b7af_0_406"/>
          <p:cNvSpPr/>
          <p:nvPr/>
        </p:nvSpPr>
        <p:spPr>
          <a:xfrm>
            <a:off x="3625025" y="3110125"/>
            <a:ext cx="64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x</a:t>
            </a:r>
            <a:endParaRPr sz="2300">
              <a:latin typeface="Comfortaa"/>
              <a:ea typeface="Comfortaa"/>
              <a:cs typeface="Comfortaa"/>
              <a:sym typeface="Comfortaa"/>
            </a:endParaRPr>
          </a:p>
        </p:txBody>
      </p:sp>
      <p:sp>
        <p:nvSpPr>
          <p:cNvPr id="462" name="Google Shape;462;h6a67bc926a97b7af_0_406"/>
          <p:cNvSpPr/>
          <p:nvPr/>
        </p:nvSpPr>
        <p:spPr>
          <a:xfrm>
            <a:off x="5267075" y="3110125"/>
            <a:ext cx="109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v=x²</a:t>
            </a:r>
            <a:endParaRPr sz="2300">
              <a:latin typeface="Comfortaa"/>
              <a:ea typeface="Comfortaa"/>
              <a:cs typeface="Comfortaa"/>
              <a:sym typeface="Comfortaa"/>
            </a:endParaRPr>
          </a:p>
        </p:txBody>
      </p:sp>
      <p:sp>
        <p:nvSpPr>
          <p:cNvPr id="463" name="Google Shape;463;h6a67bc926a97b7af_0_406"/>
          <p:cNvSpPr/>
          <p:nvPr/>
        </p:nvSpPr>
        <p:spPr>
          <a:xfrm>
            <a:off x="7162275" y="3110125"/>
            <a:ext cx="12429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u=-v</a:t>
            </a:r>
            <a:endParaRPr sz="2300">
              <a:latin typeface="Comfortaa"/>
              <a:ea typeface="Comfortaa"/>
              <a:cs typeface="Comfortaa"/>
              <a:sym typeface="Comfortaa"/>
            </a:endParaRPr>
          </a:p>
        </p:txBody>
      </p:sp>
      <p:cxnSp>
        <p:nvCxnSpPr>
          <p:cNvPr id="464" name="Google Shape;464;h6a67bc926a97b7af_0_406"/>
          <p:cNvCxnSpPr>
            <a:stCxn id="461" idx="6"/>
            <a:endCxn id="462" idx="2"/>
          </p:cNvCxnSpPr>
          <p:nvPr/>
        </p:nvCxnSpPr>
        <p:spPr>
          <a:xfrm>
            <a:off x="4269725" y="3432475"/>
            <a:ext cx="997500" cy="0"/>
          </a:xfrm>
          <a:prstGeom prst="straightConnector1">
            <a:avLst/>
          </a:prstGeom>
          <a:noFill/>
          <a:ln cap="flat" cmpd="sng" w="28575">
            <a:solidFill>
              <a:schemeClr val="dk2"/>
            </a:solidFill>
            <a:prstDash val="solid"/>
            <a:round/>
            <a:headEnd len="med" w="med" type="none"/>
            <a:tailEnd len="med" w="med" type="stealth"/>
          </a:ln>
        </p:spPr>
      </p:cxnSp>
      <p:cxnSp>
        <p:nvCxnSpPr>
          <p:cNvPr id="465" name="Google Shape;465;h6a67bc926a97b7af_0_406"/>
          <p:cNvCxnSpPr>
            <a:stCxn id="462" idx="6"/>
            <a:endCxn id="463" idx="2"/>
          </p:cNvCxnSpPr>
          <p:nvPr/>
        </p:nvCxnSpPr>
        <p:spPr>
          <a:xfrm>
            <a:off x="6361775" y="3432475"/>
            <a:ext cx="800400" cy="0"/>
          </a:xfrm>
          <a:prstGeom prst="straightConnector1">
            <a:avLst/>
          </a:prstGeom>
          <a:noFill/>
          <a:ln cap="flat" cmpd="sng" w="28575">
            <a:solidFill>
              <a:schemeClr val="dk2"/>
            </a:solidFill>
            <a:prstDash val="solid"/>
            <a:round/>
            <a:headEnd len="med" w="med" type="none"/>
            <a:tailEnd len="med" w="med" type="stealth"/>
          </a:ln>
        </p:spPr>
      </p:cxnSp>
      <p:sp>
        <p:nvSpPr>
          <p:cNvPr id="466" name="Google Shape;466;h6a67bc926a97b7af_0_406"/>
          <p:cNvSpPr txBox="1"/>
          <p:nvPr/>
        </p:nvSpPr>
        <p:spPr>
          <a:xfrm>
            <a:off x="3568975" y="2521475"/>
            <a:ext cx="897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x=2</a:t>
            </a:r>
            <a:endParaRPr sz="3000">
              <a:solidFill>
                <a:srgbClr val="434343"/>
              </a:solidFill>
              <a:latin typeface="Comfortaa"/>
              <a:ea typeface="Comfortaa"/>
              <a:cs typeface="Comfortaa"/>
              <a:sym typeface="Comfortaa"/>
            </a:endParaRPr>
          </a:p>
        </p:txBody>
      </p:sp>
      <p:sp>
        <p:nvSpPr>
          <p:cNvPr id="467" name="Google Shape;467;h6a67bc926a97b7af_0_406"/>
          <p:cNvSpPr txBox="1"/>
          <p:nvPr/>
        </p:nvSpPr>
        <p:spPr>
          <a:xfrm>
            <a:off x="5389625" y="2463625"/>
            <a:ext cx="849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v=4</a:t>
            </a:r>
            <a:endParaRPr sz="3000">
              <a:solidFill>
                <a:srgbClr val="434343"/>
              </a:solidFill>
              <a:latin typeface="Comfortaa"/>
              <a:ea typeface="Comfortaa"/>
              <a:cs typeface="Comfortaa"/>
              <a:sym typeface="Comfortaa"/>
            </a:endParaRPr>
          </a:p>
        </p:txBody>
      </p:sp>
      <p:sp>
        <p:nvSpPr>
          <p:cNvPr id="468" name="Google Shape;468;h6a67bc926a97b7af_0_406"/>
          <p:cNvSpPr txBox="1"/>
          <p:nvPr/>
        </p:nvSpPr>
        <p:spPr>
          <a:xfrm>
            <a:off x="7237428" y="2521475"/>
            <a:ext cx="109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u=-4</a:t>
            </a:r>
            <a:endParaRPr sz="3000">
              <a:solidFill>
                <a:srgbClr val="434343"/>
              </a:solidFill>
              <a:latin typeface="Comfortaa"/>
              <a:ea typeface="Comfortaa"/>
              <a:cs typeface="Comfortaa"/>
              <a:sym typeface="Comfortaa"/>
            </a:endParaRPr>
          </a:p>
        </p:txBody>
      </p:sp>
      <p:sp>
        <p:nvSpPr>
          <p:cNvPr id="469" name="Google Shape;469;h6a67bc926a97b7af_0_406"/>
          <p:cNvSpPr txBox="1"/>
          <p:nvPr/>
        </p:nvSpPr>
        <p:spPr>
          <a:xfrm>
            <a:off x="6439677" y="3458145"/>
            <a:ext cx="722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FF0000"/>
                </a:solidFill>
                <a:latin typeface="Comfortaa"/>
                <a:ea typeface="Comfortaa"/>
                <a:cs typeface="Comfortaa"/>
                <a:sym typeface="Comfortaa"/>
              </a:rPr>
              <a:t>du</a:t>
            </a:r>
            <a:endParaRPr>
              <a:solidFill>
                <a:srgbClr val="FF0000"/>
              </a:solidFill>
              <a:latin typeface="Comfortaa"/>
              <a:ea typeface="Comfortaa"/>
              <a:cs typeface="Comfortaa"/>
              <a:sym typeface="Comfortaa"/>
            </a:endParaRPr>
          </a:p>
          <a:p>
            <a:pPr indent="0" lvl="0" marL="0" rtl="0" algn="l">
              <a:spcBef>
                <a:spcPts val="0"/>
              </a:spcBef>
              <a:spcAft>
                <a:spcPts val="0"/>
              </a:spcAft>
              <a:buNone/>
            </a:pPr>
            <a:r>
              <a:rPr lang="pt-BR">
                <a:solidFill>
                  <a:srgbClr val="FF0000"/>
                </a:solidFill>
                <a:latin typeface="Comfortaa"/>
                <a:ea typeface="Comfortaa"/>
                <a:cs typeface="Comfortaa"/>
                <a:sym typeface="Comfortaa"/>
              </a:rPr>
              <a:t>—-=-1</a:t>
            </a:r>
            <a:endParaRPr>
              <a:solidFill>
                <a:srgbClr val="FF0000"/>
              </a:solidFill>
              <a:latin typeface="Comfortaa"/>
              <a:ea typeface="Comfortaa"/>
              <a:cs typeface="Comfortaa"/>
              <a:sym typeface="Comfortaa"/>
            </a:endParaRPr>
          </a:p>
          <a:p>
            <a:pPr indent="0" lvl="0" marL="0" rtl="0" algn="l">
              <a:spcBef>
                <a:spcPts val="0"/>
              </a:spcBef>
              <a:spcAft>
                <a:spcPts val="0"/>
              </a:spcAft>
              <a:buNone/>
            </a:pPr>
            <a:r>
              <a:rPr lang="pt-BR">
                <a:solidFill>
                  <a:srgbClr val="FF0000"/>
                </a:solidFill>
                <a:latin typeface="Comfortaa"/>
                <a:ea typeface="Comfortaa"/>
                <a:cs typeface="Comfortaa"/>
                <a:sym typeface="Comfortaa"/>
              </a:rPr>
              <a:t>dv</a:t>
            </a:r>
            <a:endParaRPr>
              <a:solidFill>
                <a:srgbClr val="FF0000"/>
              </a:solidFill>
              <a:latin typeface="Comfortaa"/>
              <a:ea typeface="Comfortaa"/>
              <a:cs typeface="Comfortaa"/>
              <a:sym typeface="Comfortaa"/>
            </a:endParaRPr>
          </a:p>
        </p:txBody>
      </p:sp>
      <p:sp>
        <p:nvSpPr>
          <p:cNvPr id="470" name="Google Shape;470;h6a67bc926a97b7af_0_406"/>
          <p:cNvSpPr txBox="1"/>
          <p:nvPr/>
        </p:nvSpPr>
        <p:spPr>
          <a:xfrm>
            <a:off x="5414225" y="3687345"/>
            <a:ext cx="897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—-=-1</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dv</a:t>
            </a:r>
            <a:endParaRPr sz="2000">
              <a:solidFill>
                <a:srgbClr val="FF0000"/>
              </a:solidFill>
              <a:latin typeface="Comfortaa"/>
              <a:ea typeface="Comfortaa"/>
              <a:cs typeface="Comfortaa"/>
              <a:sym typeface="Comfortaa"/>
            </a:endParaRPr>
          </a:p>
        </p:txBody>
      </p:sp>
      <p:sp>
        <p:nvSpPr>
          <p:cNvPr id="471" name="Google Shape;471;h6a67bc926a97b7af_0_406"/>
          <p:cNvSpPr txBox="1"/>
          <p:nvPr/>
        </p:nvSpPr>
        <p:spPr>
          <a:xfrm>
            <a:off x="4426101" y="3458145"/>
            <a:ext cx="684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FF0000"/>
                </a:solidFill>
                <a:latin typeface="Comfortaa"/>
                <a:ea typeface="Comfortaa"/>
                <a:cs typeface="Comfortaa"/>
                <a:sym typeface="Comfortaa"/>
              </a:rPr>
              <a:t>dv</a:t>
            </a:r>
            <a:endParaRPr>
              <a:solidFill>
                <a:srgbClr val="FF0000"/>
              </a:solidFill>
              <a:latin typeface="Comfortaa"/>
              <a:ea typeface="Comfortaa"/>
              <a:cs typeface="Comfortaa"/>
              <a:sym typeface="Comfortaa"/>
            </a:endParaRPr>
          </a:p>
          <a:p>
            <a:pPr indent="0" lvl="0" marL="0" rtl="0" algn="l">
              <a:spcBef>
                <a:spcPts val="0"/>
              </a:spcBef>
              <a:spcAft>
                <a:spcPts val="0"/>
              </a:spcAft>
              <a:buNone/>
            </a:pPr>
            <a:r>
              <a:rPr lang="pt-BR">
                <a:solidFill>
                  <a:srgbClr val="FF0000"/>
                </a:solidFill>
                <a:latin typeface="Comfortaa"/>
                <a:ea typeface="Comfortaa"/>
                <a:cs typeface="Comfortaa"/>
                <a:sym typeface="Comfortaa"/>
              </a:rPr>
              <a:t>—-=4</a:t>
            </a:r>
            <a:endParaRPr>
              <a:solidFill>
                <a:srgbClr val="FF0000"/>
              </a:solidFill>
              <a:latin typeface="Comfortaa"/>
              <a:ea typeface="Comfortaa"/>
              <a:cs typeface="Comfortaa"/>
              <a:sym typeface="Comfortaa"/>
            </a:endParaRPr>
          </a:p>
          <a:p>
            <a:pPr indent="0" lvl="0" marL="0" rtl="0" algn="l">
              <a:spcBef>
                <a:spcPts val="0"/>
              </a:spcBef>
              <a:spcAft>
                <a:spcPts val="0"/>
              </a:spcAft>
              <a:buNone/>
            </a:pPr>
            <a:r>
              <a:rPr lang="pt-BR">
                <a:solidFill>
                  <a:srgbClr val="FF0000"/>
                </a:solidFill>
                <a:latin typeface="Comfortaa"/>
                <a:ea typeface="Comfortaa"/>
                <a:cs typeface="Comfortaa"/>
                <a:sym typeface="Comfortaa"/>
              </a:rPr>
              <a:t>dx</a:t>
            </a:r>
            <a:endParaRPr>
              <a:solidFill>
                <a:srgbClr val="FF0000"/>
              </a:solidFill>
              <a:latin typeface="Comfortaa"/>
              <a:ea typeface="Comfortaa"/>
              <a:cs typeface="Comfortaa"/>
              <a:sym typeface="Comfortaa"/>
            </a:endParaRPr>
          </a:p>
        </p:txBody>
      </p:sp>
      <p:sp>
        <p:nvSpPr>
          <p:cNvPr id="472" name="Google Shape;472;h6a67bc926a97b7af_0_406"/>
          <p:cNvSpPr/>
          <p:nvPr/>
        </p:nvSpPr>
        <p:spPr>
          <a:xfrm flipH="1">
            <a:off x="4880950" y="4650900"/>
            <a:ext cx="1761900" cy="492600"/>
          </a:xfrm>
          <a:prstGeom prst="rightArrow">
            <a:avLst>
              <a:gd fmla="val 50000" name="adj1"/>
              <a:gd fmla="val 50000" name="adj2"/>
            </a:avLst>
          </a:prstGeom>
          <a:solidFill>
            <a:srgbClr val="EA9999"/>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latin typeface="Comfortaa"/>
              <a:ea typeface="Comfortaa"/>
              <a:cs typeface="Comfortaa"/>
              <a:sym typeface="Comfortaa"/>
            </a:endParaRPr>
          </a:p>
        </p:txBody>
      </p:sp>
      <p:sp>
        <p:nvSpPr>
          <p:cNvPr id="473" name="Google Shape;473;h6a67bc926a97b7af_0_406"/>
          <p:cNvSpPr txBox="1"/>
          <p:nvPr/>
        </p:nvSpPr>
        <p:spPr>
          <a:xfrm>
            <a:off x="7334925" y="3687345"/>
            <a:ext cx="897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—-=1</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h6a67bc926a97b7af_0_377"/>
          <p:cNvSpPr/>
          <p:nvPr/>
        </p:nvSpPr>
        <p:spPr>
          <a:xfrm>
            <a:off x="4881050" y="800450"/>
            <a:ext cx="35616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79" name="Google Shape;479;h6a67bc926a97b7af_0_377"/>
          <p:cNvSpPr/>
          <p:nvPr/>
        </p:nvSpPr>
        <p:spPr>
          <a:xfrm>
            <a:off x="3209050" y="800450"/>
            <a:ext cx="16719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80" name="Google Shape;480;h6a67bc926a97b7af_0_377"/>
          <p:cNvSpPr/>
          <p:nvPr/>
        </p:nvSpPr>
        <p:spPr>
          <a:xfrm>
            <a:off x="14323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81" name="Google Shape;481;h6a67bc926a97b7af_0_377"/>
          <p:cNvSpPr/>
          <p:nvPr/>
        </p:nvSpPr>
        <p:spPr>
          <a:xfrm>
            <a:off x="277600" y="222812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82" name="Google Shape;482;h6a67bc926a97b7af_0_377"/>
          <p:cNvSpPr/>
          <p:nvPr/>
        </p:nvSpPr>
        <p:spPr>
          <a:xfrm>
            <a:off x="1454625" y="858800"/>
            <a:ext cx="109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83" name="Google Shape;483;h6a67bc926a97b7af_0_377"/>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solidFill>
                  <a:srgbClr val="FF0000"/>
                </a:solidFill>
              </a:rPr>
              <a:t>Backward Pass</a:t>
            </a:r>
            <a:endParaRPr>
              <a:solidFill>
                <a:srgbClr val="FF0000"/>
              </a:solidFill>
            </a:endParaRPr>
          </a:p>
        </p:txBody>
      </p:sp>
      <p:sp>
        <p:nvSpPr>
          <p:cNvPr id="484" name="Google Shape;484;h6a67bc926a97b7af_0_377"/>
          <p:cNvSpPr/>
          <p:nvPr/>
        </p:nvSpPr>
        <p:spPr>
          <a:xfrm>
            <a:off x="299925" y="858800"/>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485" name="Google Shape;485;h6a67bc926a97b7af_0_377"/>
          <p:cNvSpPr txBox="1"/>
          <p:nvPr/>
        </p:nvSpPr>
        <p:spPr>
          <a:xfrm>
            <a:off x="1454625" y="882050"/>
            <a:ext cx="1127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2x</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a:t>
            </a:r>
            <a:endParaRPr sz="2000">
              <a:solidFill>
                <a:srgbClr val="434343"/>
              </a:solidFill>
              <a:latin typeface="Comfortaa"/>
              <a:ea typeface="Comfortaa"/>
              <a:cs typeface="Comfortaa"/>
              <a:sym typeface="Comfortaa"/>
            </a:endParaRPr>
          </a:p>
        </p:txBody>
      </p:sp>
      <p:sp>
        <p:nvSpPr>
          <p:cNvPr id="486" name="Google Shape;486;h6a67bc926a97b7af_0_377"/>
          <p:cNvSpPr txBox="1"/>
          <p:nvPr/>
        </p:nvSpPr>
        <p:spPr>
          <a:xfrm>
            <a:off x="277600" y="1189850"/>
            <a:ext cx="112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v(x) = x²</a:t>
            </a:r>
            <a:endParaRPr b="1" sz="2000">
              <a:solidFill>
                <a:srgbClr val="434343"/>
              </a:solidFill>
              <a:latin typeface="Comfortaa"/>
              <a:ea typeface="Comfortaa"/>
              <a:cs typeface="Comfortaa"/>
              <a:sym typeface="Comfortaa"/>
            </a:endParaRPr>
          </a:p>
        </p:txBody>
      </p:sp>
      <p:sp>
        <p:nvSpPr>
          <p:cNvPr id="487" name="Google Shape;487;h6a67bc926a97b7af_0_377"/>
          <p:cNvSpPr txBox="1"/>
          <p:nvPr/>
        </p:nvSpPr>
        <p:spPr>
          <a:xfrm>
            <a:off x="3209050" y="1131500"/>
            <a:ext cx="1702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f(x) = u(v(x))</a:t>
            </a:r>
            <a:endParaRPr b="1" sz="2000">
              <a:solidFill>
                <a:srgbClr val="434343"/>
              </a:solidFill>
              <a:latin typeface="Comfortaa"/>
              <a:ea typeface="Comfortaa"/>
              <a:cs typeface="Comfortaa"/>
              <a:sym typeface="Comfortaa"/>
            </a:endParaRPr>
          </a:p>
        </p:txBody>
      </p:sp>
      <p:sp>
        <p:nvSpPr>
          <p:cNvPr id="488" name="Google Shape;488;h6a67bc926a97b7af_0_377"/>
          <p:cNvSpPr txBox="1"/>
          <p:nvPr/>
        </p:nvSpPr>
        <p:spPr>
          <a:xfrm>
            <a:off x="5119475" y="823700"/>
            <a:ext cx="339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df     du  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 . —- = -1.2.a = -2.a</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    dv   dx</a:t>
            </a:r>
            <a:endParaRPr sz="2000">
              <a:solidFill>
                <a:srgbClr val="434343"/>
              </a:solidFill>
              <a:latin typeface="Comfortaa"/>
              <a:ea typeface="Comfortaa"/>
              <a:cs typeface="Comfortaa"/>
              <a:sym typeface="Comfortaa"/>
            </a:endParaRPr>
          </a:p>
        </p:txBody>
      </p:sp>
      <p:sp>
        <p:nvSpPr>
          <p:cNvPr id="489" name="Google Shape;489;h6a67bc926a97b7af_0_377"/>
          <p:cNvSpPr txBox="1"/>
          <p:nvPr/>
        </p:nvSpPr>
        <p:spPr>
          <a:xfrm>
            <a:off x="1432300" y="2251375"/>
            <a:ext cx="1042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du             </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-1</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dy</a:t>
            </a:r>
            <a:endParaRPr sz="2000">
              <a:solidFill>
                <a:srgbClr val="434343"/>
              </a:solidFill>
              <a:latin typeface="Comfortaa"/>
              <a:ea typeface="Comfortaa"/>
              <a:cs typeface="Comfortaa"/>
              <a:sym typeface="Comfortaa"/>
            </a:endParaRPr>
          </a:p>
        </p:txBody>
      </p:sp>
      <p:sp>
        <p:nvSpPr>
          <p:cNvPr id="490" name="Google Shape;490;h6a67bc926a97b7af_0_377"/>
          <p:cNvSpPr txBox="1"/>
          <p:nvPr/>
        </p:nvSpPr>
        <p:spPr>
          <a:xfrm>
            <a:off x="277600" y="2559175"/>
            <a:ext cx="115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u(y) = -y</a:t>
            </a:r>
            <a:endParaRPr b="1"/>
          </a:p>
        </p:txBody>
      </p:sp>
      <p:sp>
        <p:nvSpPr>
          <p:cNvPr id="491" name="Google Shape;491;h6a67bc926a97b7af_0_377"/>
          <p:cNvSpPr/>
          <p:nvPr/>
        </p:nvSpPr>
        <p:spPr>
          <a:xfrm>
            <a:off x="3625025" y="3110125"/>
            <a:ext cx="64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x</a:t>
            </a:r>
            <a:endParaRPr sz="2300">
              <a:latin typeface="Comfortaa"/>
              <a:ea typeface="Comfortaa"/>
              <a:cs typeface="Comfortaa"/>
              <a:sym typeface="Comfortaa"/>
            </a:endParaRPr>
          </a:p>
        </p:txBody>
      </p:sp>
      <p:sp>
        <p:nvSpPr>
          <p:cNvPr id="492" name="Google Shape;492;h6a67bc926a97b7af_0_377"/>
          <p:cNvSpPr/>
          <p:nvPr/>
        </p:nvSpPr>
        <p:spPr>
          <a:xfrm>
            <a:off x="5267075" y="3110125"/>
            <a:ext cx="109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v=x²</a:t>
            </a:r>
            <a:endParaRPr sz="2300">
              <a:latin typeface="Comfortaa"/>
              <a:ea typeface="Comfortaa"/>
              <a:cs typeface="Comfortaa"/>
              <a:sym typeface="Comfortaa"/>
            </a:endParaRPr>
          </a:p>
        </p:txBody>
      </p:sp>
      <p:sp>
        <p:nvSpPr>
          <p:cNvPr id="493" name="Google Shape;493;h6a67bc926a97b7af_0_377"/>
          <p:cNvSpPr/>
          <p:nvPr/>
        </p:nvSpPr>
        <p:spPr>
          <a:xfrm>
            <a:off x="7162275" y="3110125"/>
            <a:ext cx="12429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u=-v</a:t>
            </a:r>
            <a:endParaRPr sz="2300">
              <a:latin typeface="Comfortaa"/>
              <a:ea typeface="Comfortaa"/>
              <a:cs typeface="Comfortaa"/>
              <a:sym typeface="Comfortaa"/>
            </a:endParaRPr>
          </a:p>
        </p:txBody>
      </p:sp>
      <p:cxnSp>
        <p:nvCxnSpPr>
          <p:cNvPr id="494" name="Google Shape;494;h6a67bc926a97b7af_0_377"/>
          <p:cNvCxnSpPr>
            <a:stCxn id="491" idx="6"/>
            <a:endCxn id="492" idx="2"/>
          </p:cNvCxnSpPr>
          <p:nvPr/>
        </p:nvCxnSpPr>
        <p:spPr>
          <a:xfrm>
            <a:off x="4269725" y="3432475"/>
            <a:ext cx="997500" cy="0"/>
          </a:xfrm>
          <a:prstGeom prst="straightConnector1">
            <a:avLst/>
          </a:prstGeom>
          <a:noFill/>
          <a:ln cap="flat" cmpd="sng" w="28575">
            <a:solidFill>
              <a:schemeClr val="dk2"/>
            </a:solidFill>
            <a:prstDash val="solid"/>
            <a:round/>
            <a:headEnd len="med" w="med" type="none"/>
            <a:tailEnd len="med" w="med" type="stealth"/>
          </a:ln>
        </p:spPr>
      </p:cxnSp>
      <p:cxnSp>
        <p:nvCxnSpPr>
          <p:cNvPr id="495" name="Google Shape;495;h6a67bc926a97b7af_0_377"/>
          <p:cNvCxnSpPr>
            <a:stCxn id="492" idx="6"/>
            <a:endCxn id="493" idx="2"/>
          </p:cNvCxnSpPr>
          <p:nvPr/>
        </p:nvCxnSpPr>
        <p:spPr>
          <a:xfrm>
            <a:off x="6361775" y="3432475"/>
            <a:ext cx="800400" cy="0"/>
          </a:xfrm>
          <a:prstGeom prst="straightConnector1">
            <a:avLst/>
          </a:prstGeom>
          <a:noFill/>
          <a:ln cap="flat" cmpd="sng" w="28575">
            <a:solidFill>
              <a:schemeClr val="dk2"/>
            </a:solidFill>
            <a:prstDash val="solid"/>
            <a:round/>
            <a:headEnd len="med" w="med" type="none"/>
            <a:tailEnd len="med" w="med" type="stealth"/>
          </a:ln>
        </p:spPr>
      </p:cxnSp>
      <p:sp>
        <p:nvSpPr>
          <p:cNvPr id="496" name="Google Shape;496;h6a67bc926a97b7af_0_377"/>
          <p:cNvSpPr txBox="1"/>
          <p:nvPr/>
        </p:nvSpPr>
        <p:spPr>
          <a:xfrm>
            <a:off x="3568975" y="2521475"/>
            <a:ext cx="897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x=2</a:t>
            </a:r>
            <a:endParaRPr sz="3000">
              <a:solidFill>
                <a:srgbClr val="434343"/>
              </a:solidFill>
              <a:latin typeface="Comfortaa"/>
              <a:ea typeface="Comfortaa"/>
              <a:cs typeface="Comfortaa"/>
              <a:sym typeface="Comfortaa"/>
            </a:endParaRPr>
          </a:p>
        </p:txBody>
      </p:sp>
      <p:sp>
        <p:nvSpPr>
          <p:cNvPr id="497" name="Google Shape;497;h6a67bc926a97b7af_0_377"/>
          <p:cNvSpPr txBox="1"/>
          <p:nvPr/>
        </p:nvSpPr>
        <p:spPr>
          <a:xfrm>
            <a:off x="5389625" y="2463625"/>
            <a:ext cx="849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v=4</a:t>
            </a:r>
            <a:endParaRPr sz="3000">
              <a:solidFill>
                <a:srgbClr val="434343"/>
              </a:solidFill>
              <a:latin typeface="Comfortaa"/>
              <a:ea typeface="Comfortaa"/>
              <a:cs typeface="Comfortaa"/>
              <a:sym typeface="Comfortaa"/>
            </a:endParaRPr>
          </a:p>
        </p:txBody>
      </p:sp>
      <p:sp>
        <p:nvSpPr>
          <p:cNvPr id="498" name="Google Shape;498;h6a67bc926a97b7af_0_377"/>
          <p:cNvSpPr txBox="1"/>
          <p:nvPr/>
        </p:nvSpPr>
        <p:spPr>
          <a:xfrm>
            <a:off x="7237428" y="2521475"/>
            <a:ext cx="109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u=-4</a:t>
            </a:r>
            <a:endParaRPr sz="3000">
              <a:solidFill>
                <a:srgbClr val="434343"/>
              </a:solidFill>
              <a:latin typeface="Comfortaa"/>
              <a:ea typeface="Comfortaa"/>
              <a:cs typeface="Comfortaa"/>
              <a:sym typeface="Comfortaa"/>
            </a:endParaRPr>
          </a:p>
        </p:txBody>
      </p:sp>
      <p:sp>
        <p:nvSpPr>
          <p:cNvPr id="499" name="Google Shape;499;h6a67bc926a97b7af_0_377"/>
          <p:cNvSpPr txBox="1"/>
          <p:nvPr/>
        </p:nvSpPr>
        <p:spPr>
          <a:xfrm>
            <a:off x="6439677" y="3458145"/>
            <a:ext cx="722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FF0000"/>
                </a:solidFill>
                <a:latin typeface="Comfortaa"/>
                <a:ea typeface="Comfortaa"/>
                <a:cs typeface="Comfortaa"/>
                <a:sym typeface="Comfortaa"/>
              </a:rPr>
              <a:t>du</a:t>
            </a:r>
            <a:endParaRPr>
              <a:solidFill>
                <a:srgbClr val="FF0000"/>
              </a:solidFill>
              <a:latin typeface="Comfortaa"/>
              <a:ea typeface="Comfortaa"/>
              <a:cs typeface="Comfortaa"/>
              <a:sym typeface="Comfortaa"/>
            </a:endParaRPr>
          </a:p>
          <a:p>
            <a:pPr indent="0" lvl="0" marL="0" rtl="0" algn="l">
              <a:spcBef>
                <a:spcPts val="0"/>
              </a:spcBef>
              <a:spcAft>
                <a:spcPts val="0"/>
              </a:spcAft>
              <a:buNone/>
            </a:pPr>
            <a:r>
              <a:rPr lang="pt-BR">
                <a:solidFill>
                  <a:srgbClr val="FF0000"/>
                </a:solidFill>
                <a:latin typeface="Comfortaa"/>
                <a:ea typeface="Comfortaa"/>
                <a:cs typeface="Comfortaa"/>
                <a:sym typeface="Comfortaa"/>
              </a:rPr>
              <a:t>—-=-1</a:t>
            </a:r>
            <a:endParaRPr>
              <a:solidFill>
                <a:srgbClr val="FF0000"/>
              </a:solidFill>
              <a:latin typeface="Comfortaa"/>
              <a:ea typeface="Comfortaa"/>
              <a:cs typeface="Comfortaa"/>
              <a:sym typeface="Comfortaa"/>
            </a:endParaRPr>
          </a:p>
          <a:p>
            <a:pPr indent="0" lvl="0" marL="0" rtl="0" algn="l">
              <a:spcBef>
                <a:spcPts val="0"/>
              </a:spcBef>
              <a:spcAft>
                <a:spcPts val="0"/>
              </a:spcAft>
              <a:buNone/>
            </a:pPr>
            <a:r>
              <a:rPr lang="pt-BR">
                <a:solidFill>
                  <a:srgbClr val="FF0000"/>
                </a:solidFill>
                <a:latin typeface="Comfortaa"/>
                <a:ea typeface="Comfortaa"/>
                <a:cs typeface="Comfortaa"/>
                <a:sym typeface="Comfortaa"/>
              </a:rPr>
              <a:t>dv</a:t>
            </a:r>
            <a:endParaRPr>
              <a:solidFill>
                <a:srgbClr val="FF0000"/>
              </a:solidFill>
              <a:latin typeface="Comfortaa"/>
              <a:ea typeface="Comfortaa"/>
              <a:cs typeface="Comfortaa"/>
              <a:sym typeface="Comfortaa"/>
            </a:endParaRPr>
          </a:p>
        </p:txBody>
      </p:sp>
      <p:sp>
        <p:nvSpPr>
          <p:cNvPr id="500" name="Google Shape;500;h6a67bc926a97b7af_0_377"/>
          <p:cNvSpPr txBox="1"/>
          <p:nvPr/>
        </p:nvSpPr>
        <p:spPr>
          <a:xfrm>
            <a:off x="5414225" y="3687345"/>
            <a:ext cx="897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—-=-1</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dv</a:t>
            </a:r>
            <a:endParaRPr sz="2000">
              <a:solidFill>
                <a:srgbClr val="FF0000"/>
              </a:solidFill>
              <a:latin typeface="Comfortaa"/>
              <a:ea typeface="Comfortaa"/>
              <a:cs typeface="Comfortaa"/>
              <a:sym typeface="Comfortaa"/>
            </a:endParaRPr>
          </a:p>
        </p:txBody>
      </p:sp>
      <p:sp>
        <p:nvSpPr>
          <p:cNvPr id="501" name="Google Shape;501;h6a67bc926a97b7af_0_377"/>
          <p:cNvSpPr txBox="1"/>
          <p:nvPr/>
        </p:nvSpPr>
        <p:spPr>
          <a:xfrm>
            <a:off x="4426101" y="3458145"/>
            <a:ext cx="684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FF0000"/>
                </a:solidFill>
                <a:latin typeface="Comfortaa"/>
                <a:ea typeface="Comfortaa"/>
                <a:cs typeface="Comfortaa"/>
                <a:sym typeface="Comfortaa"/>
              </a:rPr>
              <a:t>dv</a:t>
            </a:r>
            <a:endParaRPr>
              <a:solidFill>
                <a:srgbClr val="FF0000"/>
              </a:solidFill>
              <a:latin typeface="Comfortaa"/>
              <a:ea typeface="Comfortaa"/>
              <a:cs typeface="Comfortaa"/>
              <a:sym typeface="Comfortaa"/>
            </a:endParaRPr>
          </a:p>
          <a:p>
            <a:pPr indent="0" lvl="0" marL="0" rtl="0" algn="l">
              <a:spcBef>
                <a:spcPts val="0"/>
              </a:spcBef>
              <a:spcAft>
                <a:spcPts val="0"/>
              </a:spcAft>
              <a:buNone/>
            </a:pPr>
            <a:r>
              <a:rPr lang="pt-BR">
                <a:solidFill>
                  <a:srgbClr val="FF0000"/>
                </a:solidFill>
                <a:latin typeface="Comfortaa"/>
                <a:ea typeface="Comfortaa"/>
                <a:cs typeface="Comfortaa"/>
                <a:sym typeface="Comfortaa"/>
              </a:rPr>
              <a:t>—-=4</a:t>
            </a:r>
            <a:endParaRPr>
              <a:solidFill>
                <a:srgbClr val="FF0000"/>
              </a:solidFill>
              <a:latin typeface="Comfortaa"/>
              <a:ea typeface="Comfortaa"/>
              <a:cs typeface="Comfortaa"/>
              <a:sym typeface="Comfortaa"/>
            </a:endParaRPr>
          </a:p>
          <a:p>
            <a:pPr indent="0" lvl="0" marL="0" rtl="0" algn="l">
              <a:spcBef>
                <a:spcPts val="0"/>
              </a:spcBef>
              <a:spcAft>
                <a:spcPts val="0"/>
              </a:spcAft>
              <a:buNone/>
            </a:pPr>
            <a:r>
              <a:rPr lang="pt-BR">
                <a:solidFill>
                  <a:srgbClr val="FF0000"/>
                </a:solidFill>
                <a:latin typeface="Comfortaa"/>
                <a:ea typeface="Comfortaa"/>
                <a:cs typeface="Comfortaa"/>
                <a:sym typeface="Comfortaa"/>
              </a:rPr>
              <a:t>dx</a:t>
            </a:r>
            <a:endParaRPr>
              <a:solidFill>
                <a:srgbClr val="FF0000"/>
              </a:solidFill>
              <a:latin typeface="Comfortaa"/>
              <a:ea typeface="Comfortaa"/>
              <a:cs typeface="Comfortaa"/>
              <a:sym typeface="Comfortaa"/>
            </a:endParaRPr>
          </a:p>
        </p:txBody>
      </p:sp>
      <p:sp>
        <p:nvSpPr>
          <p:cNvPr id="502" name="Google Shape;502;h6a67bc926a97b7af_0_377"/>
          <p:cNvSpPr txBox="1"/>
          <p:nvPr/>
        </p:nvSpPr>
        <p:spPr>
          <a:xfrm>
            <a:off x="3468575" y="3666825"/>
            <a:ext cx="957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—-=-4</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dx</a:t>
            </a:r>
            <a:endParaRPr sz="2000">
              <a:solidFill>
                <a:srgbClr val="FF0000"/>
              </a:solidFill>
              <a:latin typeface="Comfortaa"/>
              <a:ea typeface="Comfortaa"/>
              <a:cs typeface="Comfortaa"/>
              <a:sym typeface="Comfortaa"/>
            </a:endParaRPr>
          </a:p>
        </p:txBody>
      </p:sp>
      <p:sp>
        <p:nvSpPr>
          <p:cNvPr id="503" name="Google Shape;503;h6a67bc926a97b7af_0_377"/>
          <p:cNvSpPr/>
          <p:nvPr/>
        </p:nvSpPr>
        <p:spPr>
          <a:xfrm flipH="1">
            <a:off x="4880950" y="4650900"/>
            <a:ext cx="1761900" cy="492600"/>
          </a:xfrm>
          <a:prstGeom prst="rightArrow">
            <a:avLst>
              <a:gd fmla="val 50000" name="adj1"/>
              <a:gd fmla="val 50000" name="adj2"/>
            </a:avLst>
          </a:prstGeom>
          <a:solidFill>
            <a:srgbClr val="EA9999"/>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latin typeface="Comfortaa"/>
              <a:ea typeface="Comfortaa"/>
              <a:cs typeface="Comfortaa"/>
              <a:sym typeface="Comfortaa"/>
            </a:endParaRPr>
          </a:p>
        </p:txBody>
      </p:sp>
      <p:sp>
        <p:nvSpPr>
          <p:cNvPr id="504" name="Google Shape;504;h6a67bc926a97b7af_0_377"/>
          <p:cNvSpPr txBox="1"/>
          <p:nvPr/>
        </p:nvSpPr>
        <p:spPr>
          <a:xfrm>
            <a:off x="7334925" y="3687345"/>
            <a:ext cx="897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—-=1</a:t>
            </a:r>
            <a:endParaRPr sz="2000">
              <a:solidFill>
                <a:srgbClr val="FF0000"/>
              </a:solidFill>
              <a:latin typeface="Comfortaa"/>
              <a:ea typeface="Comfortaa"/>
              <a:cs typeface="Comfortaa"/>
              <a:sym typeface="Comfortaa"/>
            </a:endParaRPr>
          </a:p>
          <a:p>
            <a:pPr indent="0" lvl="0" marL="0" rtl="0" algn="l">
              <a:spcBef>
                <a:spcPts val="0"/>
              </a:spcBef>
              <a:spcAft>
                <a:spcPts val="0"/>
              </a:spcAft>
              <a:buNone/>
            </a:pPr>
            <a:r>
              <a:rPr lang="pt-BR" sz="2000">
                <a:solidFill>
                  <a:srgbClr val="FF0000"/>
                </a:solidFill>
                <a:latin typeface="Comfortaa"/>
                <a:ea typeface="Comfortaa"/>
                <a:cs typeface="Comfortaa"/>
                <a:sym typeface="Comfortaa"/>
              </a:rPr>
              <a:t>du</a:t>
            </a:r>
            <a:endParaRPr sz="2000">
              <a:solidFill>
                <a:srgbClr val="FF0000"/>
              </a:solidFill>
              <a:latin typeface="Comfortaa"/>
              <a:ea typeface="Comfortaa"/>
              <a:cs typeface="Comfortaa"/>
              <a:sym typeface="Comforta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h65f250d357b111bf_0_103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Computation Graphs</a:t>
            </a:r>
            <a:endParaRPr/>
          </a:p>
          <a:p>
            <a:pPr indent="0" lvl="0" marL="0" rtl="0" algn="ctr">
              <a:spcBef>
                <a:spcPts val="0"/>
              </a:spcBef>
              <a:spcAft>
                <a:spcPts val="0"/>
              </a:spcAft>
              <a:buNone/>
            </a:pPr>
            <a:r>
              <a:rPr lang="pt-BR" sz="1800"/>
              <a:t>more complex example</a:t>
            </a:r>
            <a:endParaRPr sz="1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h65f250d357b111bf_2_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1</a:t>
            </a:r>
            <a:endParaRPr/>
          </a:p>
        </p:txBody>
      </p:sp>
      <p:sp>
        <p:nvSpPr>
          <p:cNvPr id="515" name="Google Shape;515;h65f250d357b111bf_2_5"/>
          <p:cNvSpPr txBox="1"/>
          <p:nvPr>
            <p:ph idx="1" type="body"/>
          </p:nvPr>
        </p:nvSpPr>
        <p:spPr>
          <a:xfrm>
            <a:off x="311700" y="1152475"/>
            <a:ext cx="8520600" cy="67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Produce the computation graph for:</a:t>
            </a:r>
            <a:endParaRPr/>
          </a:p>
        </p:txBody>
      </p:sp>
      <p:pic>
        <p:nvPicPr>
          <p:cNvPr id="516" name="Google Shape;516;h65f250d357b111bf_2_5"/>
          <p:cNvPicPr preferRelativeResize="0"/>
          <p:nvPr>
            <p:ph idx="1" type="body"/>
          </p:nvPr>
        </p:nvPicPr>
        <p:blipFill rotWithShape="1">
          <a:blip r:embed="rId3">
            <a:alphaModFix/>
          </a:blip>
          <a:srcRect b="0" l="0" r="0" t="0"/>
          <a:stretch/>
        </p:blipFill>
        <p:spPr>
          <a:xfrm>
            <a:off x="2747750" y="1963134"/>
            <a:ext cx="3338400" cy="4383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h65f250d357b111bf_0_308"/>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pt-BR"/>
              <a:t>Example: </a:t>
            </a:r>
            <a:endParaRPr/>
          </a:p>
        </p:txBody>
      </p:sp>
      <p:pic>
        <p:nvPicPr>
          <p:cNvPr id="523" name="Google Shape;523;h65f250d357b111bf_0_308"/>
          <p:cNvPicPr preferRelativeResize="0"/>
          <p:nvPr>
            <p:ph idx="1" type="body"/>
          </p:nvPr>
        </p:nvPicPr>
        <p:blipFill rotWithShape="1">
          <a:blip r:embed="rId3">
            <a:alphaModFix/>
          </a:blip>
          <a:srcRect b="0" l="0" r="0" t="0"/>
          <a:stretch/>
        </p:blipFill>
        <p:spPr>
          <a:xfrm>
            <a:off x="2800350" y="301459"/>
            <a:ext cx="3338400" cy="438300"/>
          </a:xfrm>
          <a:prstGeom prst="rect">
            <a:avLst/>
          </a:prstGeom>
          <a:noFill/>
          <a:ln>
            <a:noFill/>
          </a:ln>
        </p:spPr>
      </p:pic>
      <p:sp>
        <p:nvSpPr>
          <p:cNvPr id="524" name="Google Shape;524;h65f250d357b111bf_0_308"/>
          <p:cNvSpPr txBox="1"/>
          <p:nvPr>
            <p:ph idx="4294967295" type="sldNum"/>
          </p:nvPr>
        </p:nvSpPr>
        <p:spPr>
          <a:xfrm>
            <a:off x="7425347" y="4844841"/>
            <a:ext cx="9840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pic>
        <p:nvPicPr>
          <p:cNvPr id="525" name="Google Shape;525;h65f250d357b111bf_0_308"/>
          <p:cNvPicPr preferRelativeResize="0"/>
          <p:nvPr/>
        </p:nvPicPr>
        <p:blipFill rotWithShape="1">
          <a:blip r:embed="rId4">
            <a:alphaModFix/>
          </a:blip>
          <a:srcRect b="0" l="0" r="0" t="0"/>
          <a:stretch/>
        </p:blipFill>
        <p:spPr>
          <a:xfrm>
            <a:off x="4572000" y="800101"/>
            <a:ext cx="1943100" cy="1390185"/>
          </a:xfrm>
          <a:prstGeom prst="rect">
            <a:avLst/>
          </a:prstGeom>
          <a:noFill/>
          <a:ln>
            <a:noFill/>
          </a:ln>
        </p:spPr>
      </p:pic>
      <p:pic>
        <p:nvPicPr>
          <p:cNvPr id="526" name="Google Shape;526;h65f250d357b111bf_0_308"/>
          <p:cNvPicPr preferRelativeResize="0"/>
          <p:nvPr/>
        </p:nvPicPr>
        <p:blipFill rotWithShape="1">
          <a:blip r:embed="rId5">
            <a:alphaModFix/>
          </a:blip>
          <a:srcRect b="0" l="0" r="0" t="0"/>
          <a:stretch/>
        </p:blipFill>
        <p:spPr>
          <a:xfrm>
            <a:off x="1314451" y="2682046"/>
            <a:ext cx="6389713" cy="2341752"/>
          </a:xfrm>
          <a:prstGeom prst="rect">
            <a:avLst/>
          </a:prstGeom>
          <a:noFill/>
          <a:ln>
            <a:noFill/>
          </a:ln>
        </p:spPr>
      </p:pic>
      <p:sp>
        <p:nvSpPr>
          <p:cNvPr id="527" name="Google Shape;527;h65f250d357b111bf_0_308"/>
          <p:cNvSpPr txBox="1"/>
          <p:nvPr/>
        </p:nvSpPr>
        <p:spPr>
          <a:xfrm>
            <a:off x="1959972" y="1215361"/>
            <a:ext cx="2021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400">
                <a:solidFill>
                  <a:schemeClr val="dk1"/>
                </a:solidFill>
                <a:latin typeface="Calibri"/>
                <a:ea typeface="Calibri"/>
                <a:cs typeface="Calibri"/>
                <a:sym typeface="Calibri"/>
              </a:rPr>
              <a:t>Computations:</a:t>
            </a:r>
            <a:endParaRPr/>
          </a:p>
        </p:txBody>
      </p:sp>
      <p:sp>
        <p:nvSpPr>
          <p:cNvPr id="528" name="Google Shape;528;h65f250d357b111bf_0_308"/>
          <p:cNvSpPr txBox="1"/>
          <p:nvPr/>
        </p:nvSpPr>
        <p:spPr>
          <a:xfrm>
            <a:off x="7210600" y="30145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h65f250d357b111bf_2_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2</a:t>
            </a:r>
            <a:endParaRPr/>
          </a:p>
        </p:txBody>
      </p:sp>
      <p:sp>
        <p:nvSpPr>
          <p:cNvPr id="534" name="Google Shape;534;h65f250d357b111bf_2_22"/>
          <p:cNvSpPr txBox="1"/>
          <p:nvPr>
            <p:ph idx="1" type="body"/>
          </p:nvPr>
        </p:nvSpPr>
        <p:spPr>
          <a:xfrm>
            <a:off x="311700" y="1152475"/>
            <a:ext cx="8520600" cy="115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Compute the </a:t>
            </a:r>
            <a:r>
              <a:rPr lang="pt-BR"/>
              <a:t>forward</a:t>
            </a:r>
            <a:r>
              <a:rPr lang="pt-BR"/>
              <a:t> pass considering: a=3, b=1, and c=-2.</a:t>
            </a:r>
            <a:endParaRPr/>
          </a:p>
        </p:txBody>
      </p:sp>
      <p:pic>
        <p:nvPicPr>
          <p:cNvPr id="535" name="Google Shape;535;h65f250d357b111bf_2_22"/>
          <p:cNvPicPr preferRelativeResize="0"/>
          <p:nvPr/>
        </p:nvPicPr>
        <p:blipFill rotWithShape="1">
          <a:blip r:embed="rId3">
            <a:alphaModFix/>
          </a:blip>
          <a:srcRect b="0" l="0" r="0" t="0"/>
          <a:stretch/>
        </p:blipFill>
        <p:spPr>
          <a:xfrm>
            <a:off x="1377138" y="2571746"/>
            <a:ext cx="6389713" cy="234175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h65f250d357b111bf_0_318"/>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pt-BR"/>
              <a:t>Example: </a:t>
            </a:r>
            <a:endParaRPr/>
          </a:p>
        </p:txBody>
      </p:sp>
      <p:pic>
        <p:nvPicPr>
          <p:cNvPr id="542" name="Google Shape;542;h65f250d357b111bf_0_318"/>
          <p:cNvPicPr preferRelativeResize="0"/>
          <p:nvPr>
            <p:ph idx="1" type="body"/>
          </p:nvPr>
        </p:nvPicPr>
        <p:blipFill rotWithShape="1">
          <a:blip r:embed="rId3">
            <a:alphaModFix/>
          </a:blip>
          <a:srcRect b="0" l="0" r="0" t="0"/>
          <a:stretch/>
        </p:blipFill>
        <p:spPr>
          <a:xfrm>
            <a:off x="2800350" y="301459"/>
            <a:ext cx="3338400" cy="438300"/>
          </a:xfrm>
          <a:prstGeom prst="rect">
            <a:avLst/>
          </a:prstGeom>
          <a:noFill/>
          <a:ln>
            <a:noFill/>
          </a:ln>
        </p:spPr>
      </p:pic>
      <p:sp>
        <p:nvSpPr>
          <p:cNvPr id="543" name="Google Shape;543;h65f250d357b111bf_0_318"/>
          <p:cNvSpPr txBox="1"/>
          <p:nvPr>
            <p:ph idx="4294967295" type="sldNum"/>
          </p:nvPr>
        </p:nvSpPr>
        <p:spPr>
          <a:xfrm>
            <a:off x="7425347" y="4844841"/>
            <a:ext cx="9840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pic>
        <p:nvPicPr>
          <p:cNvPr id="544" name="Google Shape;544;h65f250d357b111bf_0_318"/>
          <p:cNvPicPr preferRelativeResize="0"/>
          <p:nvPr/>
        </p:nvPicPr>
        <p:blipFill rotWithShape="1">
          <a:blip r:embed="rId4">
            <a:alphaModFix/>
          </a:blip>
          <a:srcRect b="0" l="0" r="0" t="0"/>
          <a:stretch/>
        </p:blipFill>
        <p:spPr>
          <a:xfrm>
            <a:off x="4572000" y="800099"/>
            <a:ext cx="1943100" cy="1390185"/>
          </a:xfrm>
          <a:prstGeom prst="rect">
            <a:avLst/>
          </a:prstGeom>
          <a:noFill/>
          <a:ln>
            <a:noFill/>
          </a:ln>
        </p:spPr>
      </p:pic>
      <p:pic>
        <p:nvPicPr>
          <p:cNvPr id="545" name="Google Shape;545;h65f250d357b111bf_0_318"/>
          <p:cNvPicPr preferRelativeResize="0"/>
          <p:nvPr/>
        </p:nvPicPr>
        <p:blipFill rotWithShape="1">
          <a:blip r:embed="rId5">
            <a:alphaModFix/>
          </a:blip>
          <a:srcRect b="0" l="0" r="0" t="0"/>
          <a:stretch/>
        </p:blipFill>
        <p:spPr>
          <a:xfrm>
            <a:off x="1074761" y="2286935"/>
            <a:ext cx="6629401" cy="2859125"/>
          </a:xfrm>
          <a:prstGeom prst="rect">
            <a:avLst/>
          </a:prstGeom>
          <a:noFill/>
          <a:ln>
            <a:noFill/>
          </a:ln>
        </p:spPr>
      </p:pic>
      <p:sp>
        <p:nvSpPr>
          <p:cNvPr id="546" name="Google Shape;546;h65f250d357b111bf_0_318"/>
          <p:cNvSpPr txBox="1"/>
          <p:nvPr/>
        </p:nvSpPr>
        <p:spPr>
          <a:xfrm>
            <a:off x="1943101" y="1218770"/>
            <a:ext cx="2021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400">
                <a:solidFill>
                  <a:schemeClr val="dk1"/>
                </a:solidFill>
                <a:latin typeface="Calibri"/>
                <a:ea typeface="Calibri"/>
                <a:cs typeface="Calibri"/>
                <a:sym typeface="Calibri"/>
              </a:rPr>
              <a:t>Computations:</a:t>
            </a:r>
            <a:endParaRPr/>
          </a:p>
        </p:txBody>
      </p:sp>
      <p:sp>
        <p:nvSpPr>
          <p:cNvPr id="547" name="Google Shape;547;h65f250d357b111bf_0_318"/>
          <p:cNvSpPr txBox="1"/>
          <p:nvPr/>
        </p:nvSpPr>
        <p:spPr>
          <a:xfrm>
            <a:off x="7210600" y="30145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h65f250d357b111bf_0_328"/>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000"/>
              <a:buFont typeface="Calibri"/>
              <a:buNone/>
            </a:pPr>
            <a:r>
              <a:rPr lang="pt-BR" sz="3000"/>
              <a:t>Backwards differentiation in computation graphs</a:t>
            </a:r>
            <a:endParaRPr/>
          </a:p>
        </p:txBody>
      </p:sp>
      <p:sp>
        <p:nvSpPr>
          <p:cNvPr id="554" name="Google Shape;554;h65f250d357b111bf_0_328"/>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3000"/>
              <a:buNone/>
            </a:pPr>
            <a:r>
              <a:rPr lang="pt-BR" sz="3000">
                <a:solidFill>
                  <a:schemeClr val="dk1"/>
                </a:solidFill>
              </a:rPr>
              <a:t>The importance of the computation graph comes from the backward pass</a:t>
            </a:r>
            <a:endParaRPr/>
          </a:p>
          <a:p>
            <a:pPr indent="-7938" lvl="0" marL="7938" rtl="0" algn="l">
              <a:lnSpc>
                <a:spcPct val="90000"/>
              </a:lnSpc>
              <a:spcBef>
                <a:spcPts val="1050"/>
              </a:spcBef>
              <a:spcAft>
                <a:spcPts val="0"/>
              </a:spcAft>
              <a:buSzPts val="3000"/>
              <a:buNone/>
            </a:pPr>
            <a:r>
              <a:rPr lang="pt-BR" sz="3000">
                <a:solidFill>
                  <a:schemeClr val="dk1"/>
                </a:solidFill>
              </a:rPr>
              <a:t>This is used to compute the derivatives that we’ll need for the weight update. </a:t>
            </a:r>
            <a:endParaRPr/>
          </a:p>
        </p:txBody>
      </p:sp>
      <p:sp>
        <p:nvSpPr>
          <p:cNvPr id="555" name="Google Shape;555;h65f250d357b111bf_0_328"/>
          <p:cNvSpPr txBox="1"/>
          <p:nvPr/>
        </p:nvSpPr>
        <p:spPr>
          <a:xfrm>
            <a:off x="7289400" y="452800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h65f250d357b111bf_0_334"/>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pt-BR"/>
              <a:t>Example</a:t>
            </a:r>
            <a:endParaRPr/>
          </a:p>
        </p:txBody>
      </p:sp>
      <p:pic>
        <p:nvPicPr>
          <p:cNvPr id="562" name="Google Shape;562;h65f250d357b111bf_0_334"/>
          <p:cNvPicPr preferRelativeResize="0"/>
          <p:nvPr>
            <p:ph idx="1" type="body"/>
          </p:nvPr>
        </p:nvPicPr>
        <p:blipFill rotWithShape="1">
          <a:blip r:embed="rId3">
            <a:alphaModFix/>
          </a:blip>
          <a:srcRect b="0" l="0" r="0" t="0"/>
          <a:stretch/>
        </p:blipFill>
        <p:spPr>
          <a:xfrm>
            <a:off x="2686050" y="340763"/>
            <a:ext cx="3338400" cy="438300"/>
          </a:xfrm>
          <a:prstGeom prst="rect">
            <a:avLst/>
          </a:prstGeom>
          <a:noFill/>
          <a:ln>
            <a:noFill/>
          </a:ln>
        </p:spPr>
      </p:pic>
      <p:sp>
        <p:nvSpPr>
          <p:cNvPr id="563" name="Google Shape;563;h65f250d357b111bf_0_334"/>
          <p:cNvSpPr txBox="1"/>
          <p:nvPr>
            <p:ph idx="4294967295" type="sldNum"/>
          </p:nvPr>
        </p:nvSpPr>
        <p:spPr>
          <a:xfrm>
            <a:off x="7425347" y="4844841"/>
            <a:ext cx="9840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pic>
        <p:nvPicPr>
          <p:cNvPr id="564" name="Google Shape;564;h65f250d357b111bf_0_334"/>
          <p:cNvPicPr preferRelativeResize="0"/>
          <p:nvPr/>
        </p:nvPicPr>
        <p:blipFill rotWithShape="1">
          <a:blip r:embed="rId4">
            <a:alphaModFix/>
          </a:blip>
          <a:srcRect b="0" l="0" r="0" t="0"/>
          <a:stretch/>
        </p:blipFill>
        <p:spPr>
          <a:xfrm>
            <a:off x="3572069" y="999976"/>
            <a:ext cx="2305050" cy="1649141"/>
          </a:xfrm>
          <a:prstGeom prst="rect">
            <a:avLst/>
          </a:prstGeom>
          <a:noFill/>
          <a:ln>
            <a:noFill/>
          </a:ln>
        </p:spPr>
      </p:pic>
      <p:sp>
        <p:nvSpPr>
          <p:cNvPr id="565" name="Google Shape;565;h65f250d357b111bf_0_334"/>
          <p:cNvSpPr/>
          <p:nvPr/>
        </p:nvSpPr>
        <p:spPr>
          <a:xfrm>
            <a:off x="1066800" y="3861518"/>
            <a:ext cx="7594200" cy="1004700"/>
          </a:xfrm>
          <a:prstGeom prst="rect">
            <a:avLst/>
          </a:prstGeom>
          <a:blipFill rotWithShape="1">
            <a:blip r:embed="rId5">
              <a:alphaModFix/>
            </a:blip>
            <a:stretch>
              <a:fillRect b="-12349" l="-134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350">
                <a:latin typeface="Calibri"/>
                <a:ea typeface="Calibri"/>
                <a:cs typeface="Calibri"/>
                <a:sym typeface="Calibri"/>
              </a:rPr>
              <a:t> </a:t>
            </a:r>
            <a:endParaRPr/>
          </a:p>
        </p:txBody>
      </p:sp>
      <p:sp>
        <p:nvSpPr>
          <p:cNvPr id="566" name="Google Shape;566;h65f250d357b111bf_0_334"/>
          <p:cNvSpPr txBox="1"/>
          <p:nvPr/>
        </p:nvSpPr>
        <p:spPr>
          <a:xfrm>
            <a:off x="1066800" y="2965550"/>
            <a:ext cx="5486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400">
                <a:solidFill>
                  <a:schemeClr val="dk1"/>
                </a:solidFill>
                <a:latin typeface="Calibri"/>
                <a:ea typeface="Calibri"/>
                <a:cs typeface="Calibri"/>
                <a:sym typeface="Calibri"/>
              </a:rPr>
              <a:t>We want:</a:t>
            </a:r>
            <a:endParaRPr i="1" sz="2400">
              <a:solidFill>
                <a:schemeClr val="dk1"/>
              </a:solidFill>
              <a:latin typeface="Calibri"/>
              <a:ea typeface="Calibri"/>
              <a:cs typeface="Calibri"/>
              <a:sym typeface="Calibri"/>
            </a:endParaRPr>
          </a:p>
        </p:txBody>
      </p:sp>
      <p:pic>
        <p:nvPicPr>
          <p:cNvPr id="567" name="Google Shape;567;h65f250d357b111bf_0_334"/>
          <p:cNvPicPr preferRelativeResize="0"/>
          <p:nvPr/>
        </p:nvPicPr>
        <p:blipFill rotWithShape="1">
          <a:blip r:embed="rId6">
            <a:alphaModFix/>
          </a:blip>
          <a:srcRect b="0" l="0" r="0" t="0"/>
          <a:stretch/>
        </p:blipFill>
        <p:spPr>
          <a:xfrm>
            <a:off x="2819400" y="2883838"/>
            <a:ext cx="2583709" cy="625091"/>
          </a:xfrm>
          <a:prstGeom prst="rect">
            <a:avLst/>
          </a:prstGeom>
          <a:noFill/>
          <a:ln>
            <a:noFill/>
          </a:ln>
        </p:spPr>
      </p:pic>
      <p:sp>
        <p:nvSpPr>
          <p:cNvPr id="568" name="Google Shape;568;h65f250d357b111bf_0_334"/>
          <p:cNvSpPr txBox="1"/>
          <p:nvPr/>
        </p:nvSpPr>
        <p:spPr>
          <a:xfrm>
            <a:off x="7210600" y="30145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h65f250d357b111bf_0_345"/>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The chain rule</a:t>
            </a:r>
            <a:endParaRPr/>
          </a:p>
        </p:txBody>
      </p:sp>
      <p:sp>
        <p:nvSpPr>
          <p:cNvPr id="575" name="Google Shape;575;h65f250d357b111bf_0_345"/>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fontScale="77500" lnSpcReduction="20000"/>
          </a:bodyPr>
          <a:lstStyle/>
          <a:p>
            <a:pPr indent="-7938" lvl="0" marL="7938" rtl="0" algn="l">
              <a:lnSpc>
                <a:spcPct val="90000"/>
              </a:lnSpc>
              <a:spcBef>
                <a:spcPts val="0"/>
              </a:spcBef>
              <a:spcAft>
                <a:spcPts val="0"/>
              </a:spcAft>
              <a:buSzPct val="93333"/>
              <a:buNone/>
            </a:pPr>
            <a:r>
              <a:rPr lang="pt-BR"/>
              <a:t>Computing the derivative of a composite function:</a:t>
            </a:r>
            <a:endParaRPr/>
          </a:p>
          <a:p>
            <a:pPr indent="-7938" lvl="0" marL="7938" rtl="0" algn="l">
              <a:lnSpc>
                <a:spcPct val="90000"/>
              </a:lnSpc>
              <a:spcBef>
                <a:spcPts val="1050"/>
              </a:spcBef>
              <a:spcAft>
                <a:spcPts val="0"/>
              </a:spcAft>
              <a:buSzPct val="93333"/>
              <a:buNone/>
            </a:pPr>
            <a:r>
              <a:t/>
            </a:r>
            <a:endParaRPr/>
          </a:p>
          <a:p>
            <a:pPr indent="-7938" lvl="0" marL="7938" rtl="0" algn="l">
              <a:lnSpc>
                <a:spcPct val="90000"/>
              </a:lnSpc>
              <a:spcBef>
                <a:spcPts val="1050"/>
              </a:spcBef>
              <a:spcAft>
                <a:spcPts val="0"/>
              </a:spcAft>
              <a:buSzPct val="93333"/>
              <a:buNone/>
            </a:pPr>
            <a:r>
              <a:rPr i="1" lang="pt-BR">
                <a:latin typeface="Times New Roman"/>
                <a:ea typeface="Times New Roman"/>
                <a:cs typeface="Times New Roman"/>
                <a:sym typeface="Times New Roman"/>
              </a:rPr>
              <a:t>f </a:t>
            </a:r>
            <a:r>
              <a:rPr lang="pt-BR">
                <a:latin typeface="Times New Roman"/>
                <a:ea typeface="Times New Roman"/>
                <a:cs typeface="Times New Roman"/>
                <a:sym typeface="Times New Roman"/>
              </a:rPr>
              <a:t>(</a:t>
            </a:r>
            <a:r>
              <a:rPr i="1" lang="pt-BR">
                <a:latin typeface="Times New Roman"/>
                <a:ea typeface="Times New Roman"/>
                <a:cs typeface="Times New Roman"/>
                <a:sym typeface="Times New Roman"/>
              </a:rPr>
              <a:t>x</a:t>
            </a:r>
            <a:r>
              <a:rPr lang="pt-BR">
                <a:latin typeface="Times New Roman"/>
                <a:ea typeface="Times New Roman"/>
                <a:cs typeface="Times New Roman"/>
                <a:sym typeface="Times New Roman"/>
              </a:rPr>
              <a:t>) = </a:t>
            </a:r>
            <a:r>
              <a:rPr i="1" lang="pt-BR">
                <a:latin typeface="Times New Roman"/>
                <a:ea typeface="Times New Roman"/>
                <a:cs typeface="Times New Roman"/>
                <a:sym typeface="Times New Roman"/>
              </a:rPr>
              <a:t>u</a:t>
            </a:r>
            <a:r>
              <a:rPr lang="pt-BR">
                <a:latin typeface="Times New Roman"/>
                <a:ea typeface="Times New Roman"/>
                <a:cs typeface="Times New Roman"/>
                <a:sym typeface="Times New Roman"/>
              </a:rPr>
              <a:t>(</a:t>
            </a:r>
            <a:r>
              <a:rPr i="1" lang="pt-BR">
                <a:latin typeface="Times New Roman"/>
                <a:ea typeface="Times New Roman"/>
                <a:cs typeface="Times New Roman"/>
                <a:sym typeface="Times New Roman"/>
              </a:rPr>
              <a:t>v</a:t>
            </a:r>
            <a:r>
              <a:rPr lang="pt-BR">
                <a:latin typeface="Times New Roman"/>
                <a:ea typeface="Times New Roman"/>
                <a:cs typeface="Times New Roman"/>
                <a:sym typeface="Times New Roman"/>
              </a:rPr>
              <a:t>(</a:t>
            </a:r>
            <a:r>
              <a:rPr i="1" lang="pt-BR">
                <a:latin typeface="Times New Roman"/>
                <a:ea typeface="Times New Roman"/>
                <a:cs typeface="Times New Roman"/>
                <a:sym typeface="Times New Roman"/>
              </a:rPr>
              <a:t>x</a:t>
            </a:r>
            <a:r>
              <a:rPr lang="pt-BR">
                <a:latin typeface="Times New Roman"/>
                <a:ea typeface="Times New Roman"/>
                <a:cs typeface="Times New Roman"/>
                <a:sym typeface="Times New Roman"/>
              </a:rPr>
              <a:t>))</a:t>
            </a:r>
            <a:endParaRPr/>
          </a:p>
          <a:p>
            <a:pPr indent="-7938" lvl="0" marL="7938" rtl="0" algn="l">
              <a:lnSpc>
                <a:spcPct val="90000"/>
              </a:lnSpc>
              <a:spcBef>
                <a:spcPts val="1050"/>
              </a:spcBef>
              <a:spcAft>
                <a:spcPts val="0"/>
              </a:spcAft>
              <a:buSzPct val="93333"/>
              <a:buNone/>
            </a:pPr>
            <a:r>
              <a:t/>
            </a:r>
            <a:endParaRPr>
              <a:latin typeface="Times New Roman"/>
              <a:ea typeface="Times New Roman"/>
              <a:cs typeface="Times New Roman"/>
              <a:sym typeface="Times New Roman"/>
            </a:endParaRPr>
          </a:p>
          <a:p>
            <a:pPr indent="-7938" lvl="0" marL="7938" rtl="0" algn="l">
              <a:lnSpc>
                <a:spcPct val="90000"/>
              </a:lnSpc>
              <a:spcBef>
                <a:spcPts val="1050"/>
              </a:spcBef>
              <a:spcAft>
                <a:spcPts val="0"/>
              </a:spcAft>
              <a:buSzPct val="93333"/>
              <a:buNone/>
            </a:pPr>
            <a:r>
              <a:t/>
            </a:r>
            <a:endParaRPr i="1">
              <a:latin typeface="Times New Roman"/>
              <a:ea typeface="Times New Roman"/>
              <a:cs typeface="Times New Roman"/>
              <a:sym typeface="Times New Roman"/>
            </a:endParaRPr>
          </a:p>
          <a:p>
            <a:pPr indent="-7938" lvl="0" marL="7938" rtl="0" algn="l">
              <a:lnSpc>
                <a:spcPct val="90000"/>
              </a:lnSpc>
              <a:spcBef>
                <a:spcPts val="1050"/>
              </a:spcBef>
              <a:spcAft>
                <a:spcPts val="0"/>
              </a:spcAft>
              <a:buSzPct val="93333"/>
              <a:buNone/>
            </a:pPr>
            <a:r>
              <a:rPr i="1" lang="pt-BR">
                <a:latin typeface="Times New Roman"/>
                <a:ea typeface="Times New Roman"/>
                <a:cs typeface="Times New Roman"/>
                <a:sym typeface="Times New Roman"/>
              </a:rPr>
              <a:t>f </a:t>
            </a:r>
            <a:r>
              <a:rPr lang="pt-BR">
                <a:latin typeface="Times New Roman"/>
                <a:ea typeface="Times New Roman"/>
                <a:cs typeface="Times New Roman"/>
                <a:sym typeface="Times New Roman"/>
              </a:rPr>
              <a:t>(</a:t>
            </a:r>
            <a:r>
              <a:rPr i="1" lang="pt-BR">
                <a:latin typeface="Times New Roman"/>
                <a:ea typeface="Times New Roman"/>
                <a:cs typeface="Times New Roman"/>
                <a:sym typeface="Times New Roman"/>
              </a:rPr>
              <a:t>x</a:t>
            </a:r>
            <a:r>
              <a:rPr lang="pt-BR">
                <a:latin typeface="Times New Roman"/>
                <a:ea typeface="Times New Roman"/>
                <a:cs typeface="Times New Roman"/>
                <a:sym typeface="Times New Roman"/>
              </a:rPr>
              <a:t>) = </a:t>
            </a:r>
            <a:r>
              <a:rPr i="1" lang="pt-BR">
                <a:latin typeface="Times New Roman"/>
                <a:ea typeface="Times New Roman"/>
                <a:cs typeface="Times New Roman"/>
                <a:sym typeface="Times New Roman"/>
              </a:rPr>
              <a:t>u(v(w(x)</a:t>
            </a:r>
            <a:r>
              <a:rPr lang="pt-BR">
                <a:latin typeface="Times New Roman"/>
                <a:ea typeface="Times New Roman"/>
                <a:cs typeface="Times New Roman"/>
                <a:sym typeface="Times New Roman"/>
              </a:rPr>
              <a:t>)) </a:t>
            </a:r>
            <a:endParaRPr/>
          </a:p>
          <a:p>
            <a:pPr indent="-7938" lvl="0" marL="7938" rtl="0" algn="l">
              <a:lnSpc>
                <a:spcPct val="90000"/>
              </a:lnSpc>
              <a:spcBef>
                <a:spcPts val="1050"/>
              </a:spcBef>
              <a:spcAft>
                <a:spcPts val="0"/>
              </a:spcAft>
              <a:buSzPct val="93333"/>
              <a:buNone/>
            </a:pPr>
            <a:r>
              <a:rPr lang="pt-BR">
                <a:latin typeface="Times New Roman"/>
                <a:ea typeface="Times New Roman"/>
                <a:cs typeface="Times New Roman"/>
                <a:sym typeface="Times New Roman"/>
              </a:rPr>
              <a:t> </a:t>
            </a:r>
            <a:endParaRPr/>
          </a:p>
          <a:p>
            <a:pPr indent="-7938" lvl="0" marL="7938" rtl="0" algn="l">
              <a:lnSpc>
                <a:spcPct val="90000"/>
              </a:lnSpc>
              <a:spcBef>
                <a:spcPts val="1050"/>
              </a:spcBef>
              <a:spcAft>
                <a:spcPts val="0"/>
              </a:spcAft>
              <a:buSzPct val="93333"/>
              <a:buNone/>
            </a:pPr>
            <a:r>
              <a:t/>
            </a:r>
            <a:endParaRPr/>
          </a:p>
          <a:p>
            <a:pPr indent="-7938" lvl="0" marL="7938" rtl="0" algn="l">
              <a:lnSpc>
                <a:spcPct val="90000"/>
              </a:lnSpc>
              <a:spcBef>
                <a:spcPts val="1050"/>
              </a:spcBef>
              <a:spcAft>
                <a:spcPts val="0"/>
              </a:spcAft>
              <a:buSzPct val="93333"/>
              <a:buNone/>
            </a:pPr>
            <a:r>
              <a:t/>
            </a:r>
            <a:endParaRPr/>
          </a:p>
        </p:txBody>
      </p:sp>
      <p:pic>
        <p:nvPicPr>
          <p:cNvPr id="576" name="Google Shape;576;h65f250d357b111bf_0_345"/>
          <p:cNvPicPr preferRelativeResize="0"/>
          <p:nvPr/>
        </p:nvPicPr>
        <p:blipFill rotWithShape="1">
          <a:blip r:embed="rId3">
            <a:alphaModFix/>
          </a:blip>
          <a:srcRect b="0" l="0" r="0" t="0"/>
          <a:stretch/>
        </p:blipFill>
        <p:spPr>
          <a:xfrm>
            <a:off x="3911620" y="2056073"/>
            <a:ext cx="2205227" cy="801900"/>
          </a:xfrm>
          <a:prstGeom prst="rect">
            <a:avLst/>
          </a:prstGeom>
          <a:noFill/>
          <a:ln>
            <a:noFill/>
          </a:ln>
        </p:spPr>
      </p:pic>
      <p:pic>
        <p:nvPicPr>
          <p:cNvPr id="577" name="Google Shape;577;h65f250d357b111bf_0_345"/>
          <p:cNvPicPr preferRelativeResize="0"/>
          <p:nvPr/>
        </p:nvPicPr>
        <p:blipFill rotWithShape="1">
          <a:blip r:embed="rId4">
            <a:alphaModFix/>
          </a:blip>
          <a:srcRect b="0" l="0" r="0" t="0"/>
          <a:stretch/>
        </p:blipFill>
        <p:spPr>
          <a:xfrm>
            <a:off x="3911619" y="3342611"/>
            <a:ext cx="2940301" cy="801900"/>
          </a:xfrm>
          <a:prstGeom prst="rect">
            <a:avLst/>
          </a:prstGeom>
          <a:noFill/>
          <a:ln>
            <a:noFill/>
          </a:ln>
        </p:spPr>
      </p:pic>
      <p:sp>
        <p:nvSpPr>
          <p:cNvPr id="578" name="Google Shape;578;h65f250d357b111bf_0_345"/>
          <p:cNvSpPr txBox="1"/>
          <p:nvPr/>
        </p:nvSpPr>
        <p:spPr>
          <a:xfrm>
            <a:off x="7210600" y="30145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pic>
        <p:nvPicPr>
          <p:cNvPr id="584" name="Google Shape;584;h65f250d357b111bf_0_353"/>
          <p:cNvPicPr preferRelativeResize="0"/>
          <p:nvPr/>
        </p:nvPicPr>
        <p:blipFill rotWithShape="1">
          <a:blip r:embed="rId3">
            <a:alphaModFix/>
          </a:blip>
          <a:srcRect b="0" l="0" r="15860" t="0"/>
          <a:stretch/>
        </p:blipFill>
        <p:spPr>
          <a:xfrm>
            <a:off x="3657600" y="2400301"/>
            <a:ext cx="971550" cy="893987"/>
          </a:xfrm>
          <a:prstGeom prst="rect">
            <a:avLst/>
          </a:prstGeom>
          <a:noFill/>
          <a:ln>
            <a:noFill/>
          </a:ln>
        </p:spPr>
      </p:pic>
      <p:sp>
        <p:nvSpPr>
          <p:cNvPr id="585" name="Google Shape;585;h65f250d357b111bf_0_353"/>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pt-BR"/>
              <a:t>Example</a:t>
            </a:r>
            <a:endParaRPr/>
          </a:p>
        </p:txBody>
      </p:sp>
      <p:pic>
        <p:nvPicPr>
          <p:cNvPr id="586" name="Google Shape;586;h65f250d357b111bf_0_353"/>
          <p:cNvPicPr preferRelativeResize="0"/>
          <p:nvPr>
            <p:ph idx="1" type="body"/>
          </p:nvPr>
        </p:nvPicPr>
        <p:blipFill rotWithShape="1">
          <a:blip r:embed="rId4">
            <a:alphaModFix/>
          </a:blip>
          <a:srcRect b="0" l="0" r="0" t="0"/>
          <a:stretch/>
        </p:blipFill>
        <p:spPr>
          <a:xfrm>
            <a:off x="2686050" y="340763"/>
            <a:ext cx="3338400" cy="438300"/>
          </a:xfrm>
          <a:prstGeom prst="rect">
            <a:avLst/>
          </a:prstGeom>
          <a:noFill/>
          <a:ln>
            <a:noFill/>
          </a:ln>
        </p:spPr>
      </p:pic>
      <p:sp>
        <p:nvSpPr>
          <p:cNvPr id="587" name="Google Shape;587;h65f250d357b111bf_0_353"/>
          <p:cNvSpPr txBox="1"/>
          <p:nvPr>
            <p:ph idx="4294967295" type="sldNum"/>
          </p:nvPr>
        </p:nvSpPr>
        <p:spPr>
          <a:xfrm>
            <a:off x="7425347" y="4844841"/>
            <a:ext cx="9840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pic>
        <p:nvPicPr>
          <p:cNvPr id="588" name="Google Shape;588;h65f250d357b111bf_0_353"/>
          <p:cNvPicPr preferRelativeResize="0"/>
          <p:nvPr/>
        </p:nvPicPr>
        <p:blipFill rotWithShape="1">
          <a:blip r:embed="rId5">
            <a:alphaModFix/>
          </a:blip>
          <a:srcRect b="0" l="0" r="0" t="0"/>
          <a:stretch/>
        </p:blipFill>
        <p:spPr>
          <a:xfrm>
            <a:off x="381000" y="1090022"/>
            <a:ext cx="2305050" cy="1649141"/>
          </a:xfrm>
          <a:prstGeom prst="rect">
            <a:avLst/>
          </a:prstGeom>
          <a:noFill/>
          <a:ln>
            <a:noFill/>
          </a:ln>
        </p:spPr>
      </p:pic>
      <p:pic>
        <p:nvPicPr>
          <p:cNvPr id="589" name="Google Shape;589;h65f250d357b111bf_0_353"/>
          <p:cNvPicPr preferRelativeResize="0"/>
          <p:nvPr/>
        </p:nvPicPr>
        <p:blipFill rotWithShape="1">
          <a:blip r:embed="rId6">
            <a:alphaModFix/>
          </a:blip>
          <a:srcRect b="0" l="0" r="59145" t="0"/>
          <a:stretch/>
        </p:blipFill>
        <p:spPr>
          <a:xfrm>
            <a:off x="3600452" y="3355225"/>
            <a:ext cx="1129934" cy="1795954"/>
          </a:xfrm>
          <a:prstGeom prst="rect">
            <a:avLst/>
          </a:prstGeom>
          <a:noFill/>
          <a:ln>
            <a:noFill/>
          </a:ln>
        </p:spPr>
      </p:pic>
      <p:pic>
        <p:nvPicPr>
          <p:cNvPr id="590" name="Google Shape;590;h65f250d357b111bf_0_353"/>
          <p:cNvPicPr preferRelativeResize="0"/>
          <p:nvPr/>
        </p:nvPicPr>
        <p:blipFill rotWithShape="1">
          <a:blip r:embed="rId7">
            <a:alphaModFix/>
          </a:blip>
          <a:srcRect b="0" l="80722" r="0" t="0"/>
          <a:stretch/>
        </p:blipFill>
        <p:spPr>
          <a:xfrm>
            <a:off x="4730385" y="2375476"/>
            <a:ext cx="222615" cy="893989"/>
          </a:xfrm>
          <a:prstGeom prst="rect">
            <a:avLst/>
          </a:prstGeom>
          <a:noFill/>
          <a:ln>
            <a:noFill/>
          </a:ln>
        </p:spPr>
      </p:pic>
      <p:pic>
        <p:nvPicPr>
          <p:cNvPr id="591" name="Google Shape;591;h65f250d357b111bf_0_353"/>
          <p:cNvPicPr preferRelativeResize="0"/>
          <p:nvPr/>
        </p:nvPicPr>
        <p:blipFill rotWithShape="1">
          <a:blip r:embed="rId8">
            <a:alphaModFix/>
          </a:blip>
          <a:srcRect b="0" l="44081" r="0" t="0"/>
          <a:stretch/>
        </p:blipFill>
        <p:spPr>
          <a:xfrm>
            <a:off x="4705350" y="3300639"/>
            <a:ext cx="1546567" cy="1795953"/>
          </a:xfrm>
          <a:prstGeom prst="rect">
            <a:avLst/>
          </a:prstGeom>
          <a:noFill/>
          <a:ln>
            <a:noFill/>
          </a:ln>
        </p:spPr>
      </p:pic>
      <p:sp>
        <p:nvSpPr>
          <p:cNvPr id="592" name="Google Shape;592;h65f250d357b111bf_0_353"/>
          <p:cNvSpPr txBox="1"/>
          <p:nvPr/>
        </p:nvSpPr>
        <p:spPr>
          <a:xfrm>
            <a:off x="7210600" y="30145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h65f250d357b111bf_0_365"/>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pt-BR"/>
              <a:t>Example</a:t>
            </a:r>
            <a:endParaRPr/>
          </a:p>
        </p:txBody>
      </p:sp>
      <p:pic>
        <p:nvPicPr>
          <p:cNvPr id="599" name="Google Shape;599;h65f250d357b111bf_0_365"/>
          <p:cNvPicPr preferRelativeResize="0"/>
          <p:nvPr>
            <p:ph idx="1" type="body"/>
          </p:nvPr>
        </p:nvPicPr>
        <p:blipFill rotWithShape="1">
          <a:blip r:embed="rId3">
            <a:alphaModFix/>
          </a:blip>
          <a:srcRect b="0" l="0" r="0" t="0"/>
          <a:stretch/>
        </p:blipFill>
        <p:spPr>
          <a:xfrm>
            <a:off x="381000" y="823160"/>
            <a:ext cx="3338400" cy="438300"/>
          </a:xfrm>
          <a:prstGeom prst="rect">
            <a:avLst/>
          </a:prstGeom>
          <a:noFill/>
          <a:ln>
            <a:noFill/>
          </a:ln>
        </p:spPr>
      </p:pic>
      <p:sp>
        <p:nvSpPr>
          <p:cNvPr id="600" name="Google Shape;600;h65f250d357b111bf_0_365"/>
          <p:cNvSpPr txBox="1"/>
          <p:nvPr>
            <p:ph idx="4294967295" type="sldNum"/>
          </p:nvPr>
        </p:nvSpPr>
        <p:spPr>
          <a:xfrm>
            <a:off x="7425347" y="4844841"/>
            <a:ext cx="9840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pic>
        <p:nvPicPr>
          <p:cNvPr id="601" name="Google Shape;601;h65f250d357b111bf_0_365"/>
          <p:cNvPicPr preferRelativeResize="0"/>
          <p:nvPr/>
        </p:nvPicPr>
        <p:blipFill rotWithShape="1">
          <a:blip r:embed="rId4">
            <a:alphaModFix/>
          </a:blip>
          <a:srcRect b="0" l="0" r="0" t="0"/>
          <a:stretch/>
        </p:blipFill>
        <p:spPr>
          <a:xfrm>
            <a:off x="304800" y="1284372"/>
            <a:ext cx="2305050" cy="1649141"/>
          </a:xfrm>
          <a:prstGeom prst="rect">
            <a:avLst/>
          </a:prstGeom>
          <a:noFill/>
          <a:ln>
            <a:noFill/>
          </a:ln>
        </p:spPr>
      </p:pic>
      <p:pic>
        <p:nvPicPr>
          <p:cNvPr id="602" name="Google Shape;602;h65f250d357b111bf_0_365"/>
          <p:cNvPicPr preferRelativeResize="0"/>
          <p:nvPr/>
        </p:nvPicPr>
        <p:blipFill rotWithShape="1">
          <a:blip r:embed="rId5">
            <a:alphaModFix/>
          </a:blip>
          <a:srcRect b="0" l="0" r="0" t="0"/>
          <a:stretch/>
        </p:blipFill>
        <p:spPr>
          <a:xfrm>
            <a:off x="3200400" y="2409969"/>
            <a:ext cx="4953001" cy="2452764"/>
          </a:xfrm>
          <a:prstGeom prst="rect">
            <a:avLst/>
          </a:prstGeom>
          <a:noFill/>
          <a:ln>
            <a:noFill/>
          </a:ln>
        </p:spPr>
      </p:pic>
      <p:pic>
        <p:nvPicPr>
          <p:cNvPr id="603" name="Google Shape;603;h65f250d357b111bf_0_365"/>
          <p:cNvPicPr preferRelativeResize="0"/>
          <p:nvPr/>
        </p:nvPicPr>
        <p:blipFill rotWithShape="1">
          <a:blip r:embed="rId6">
            <a:alphaModFix/>
          </a:blip>
          <a:srcRect b="0" l="0" r="0" t="0"/>
          <a:stretch/>
        </p:blipFill>
        <p:spPr>
          <a:xfrm>
            <a:off x="4972051" y="280768"/>
            <a:ext cx="2305051" cy="1496786"/>
          </a:xfrm>
          <a:prstGeom prst="rect">
            <a:avLst/>
          </a:prstGeom>
          <a:noFill/>
          <a:ln>
            <a:noFill/>
          </a:ln>
        </p:spPr>
      </p:pic>
      <p:sp>
        <p:nvSpPr>
          <p:cNvPr id="604" name="Google Shape;604;h65f250d357b111bf_0_365"/>
          <p:cNvSpPr txBox="1"/>
          <p:nvPr/>
        </p:nvSpPr>
        <p:spPr>
          <a:xfrm>
            <a:off x="7210600" y="30145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h65f250d357b111bf_0_375"/>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pt-BR"/>
              <a:t>Example</a:t>
            </a:r>
            <a:endParaRPr/>
          </a:p>
        </p:txBody>
      </p:sp>
      <p:pic>
        <p:nvPicPr>
          <p:cNvPr id="611" name="Google Shape;611;h65f250d357b111bf_0_375"/>
          <p:cNvPicPr preferRelativeResize="0"/>
          <p:nvPr>
            <p:ph idx="1" type="body"/>
          </p:nvPr>
        </p:nvPicPr>
        <p:blipFill rotWithShape="1">
          <a:blip r:embed="rId3">
            <a:alphaModFix/>
          </a:blip>
          <a:srcRect b="0" l="0" r="0" t="0"/>
          <a:stretch/>
        </p:blipFill>
        <p:spPr>
          <a:xfrm>
            <a:off x="1826724" y="914402"/>
            <a:ext cx="5688900" cy="3602400"/>
          </a:xfrm>
          <a:prstGeom prst="rect">
            <a:avLst/>
          </a:prstGeom>
          <a:noFill/>
          <a:ln>
            <a:noFill/>
          </a:ln>
        </p:spPr>
      </p:pic>
      <p:pic>
        <p:nvPicPr>
          <p:cNvPr id="612" name="Google Shape;612;h65f250d357b111bf_0_375"/>
          <p:cNvPicPr preferRelativeResize="0"/>
          <p:nvPr/>
        </p:nvPicPr>
        <p:blipFill rotWithShape="1">
          <a:blip r:embed="rId4">
            <a:alphaModFix/>
          </a:blip>
          <a:srcRect b="0" l="0" r="0" t="0"/>
          <a:stretch/>
        </p:blipFill>
        <p:spPr>
          <a:xfrm>
            <a:off x="3893863" y="138037"/>
            <a:ext cx="1504948" cy="977241"/>
          </a:xfrm>
          <a:prstGeom prst="rect">
            <a:avLst/>
          </a:prstGeom>
          <a:noFill/>
          <a:ln>
            <a:noFill/>
          </a:ln>
        </p:spPr>
      </p:pic>
      <p:pic>
        <p:nvPicPr>
          <p:cNvPr id="613" name="Google Shape;613;h65f250d357b111bf_0_375"/>
          <p:cNvPicPr preferRelativeResize="0"/>
          <p:nvPr/>
        </p:nvPicPr>
        <p:blipFill rotWithShape="1">
          <a:blip r:embed="rId5">
            <a:alphaModFix/>
          </a:blip>
          <a:srcRect b="0" l="0" r="0" t="0"/>
          <a:stretch/>
        </p:blipFill>
        <p:spPr>
          <a:xfrm>
            <a:off x="6198542" y="81749"/>
            <a:ext cx="2453610" cy="1391599"/>
          </a:xfrm>
          <a:prstGeom prst="rect">
            <a:avLst/>
          </a:prstGeom>
          <a:noFill/>
          <a:ln>
            <a:noFill/>
          </a:ln>
        </p:spPr>
      </p:pic>
      <p:sp>
        <p:nvSpPr>
          <p:cNvPr id="614" name="Google Shape;614;h65f250d357b111bf_0_375"/>
          <p:cNvSpPr/>
          <p:nvPr/>
        </p:nvSpPr>
        <p:spPr>
          <a:xfrm>
            <a:off x="2590800" y="4248150"/>
            <a:ext cx="4834500" cy="596700"/>
          </a:xfrm>
          <a:prstGeom prst="rect">
            <a:avLst/>
          </a:prstGeom>
          <a:solidFill>
            <a:schemeClr val="lt1"/>
          </a:solidFill>
          <a:ln cap="flat"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615" name="Google Shape;615;h65f250d357b111bf_0_375"/>
          <p:cNvSpPr/>
          <p:nvPr/>
        </p:nvSpPr>
        <p:spPr>
          <a:xfrm>
            <a:off x="4604692" y="3607746"/>
            <a:ext cx="4463100" cy="977100"/>
          </a:xfrm>
          <a:prstGeom prst="rect">
            <a:avLst/>
          </a:prstGeom>
          <a:solidFill>
            <a:schemeClr val="lt1"/>
          </a:solidFill>
          <a:ln cap="flat"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616" name="Google Shape;616;h65f250d357b111bf_0_375"/>
          <p:cNvSpPr txBox="1"/>
          <p:nvPr/>
        </p:nvSpPr>
        <p:spPr>
          <a:xfrm>
            <a:off x="204550" y="458485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h65f250d357b111bf_2_29"/>
          <p:cNvSpPr txBox="1"/>
          <p:nvPr>
            <p:ph type="title"/>
          </p:nvPr>
        </p:nvSpPr>
        <p:spPr>
          <a:xfrm>
            <a:off x="311700" y="89847"/>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3</a:t>
            </a:r>
            <a:endParaRPr/>
          </a:p>
        </p:txBody>
      </p:sp>
      <p:sp>
        <p:nvSpPr>
          <p:cNvPr id="622" name="Google Shape;622;h65f250d357b111bf_2_29"/>
          <p:cNvSpPr txBox="1"/>
          <p:nvPr>
            <p:ph idx="1" type="body"/>
          </p:nvPr>
        </p:nvSpPr>
        <p:spPr>
          <a:xfrm>
            <a:off x="311700" y="797300"/>
            <a:ext cx="3779400" cy="115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Compute the backward pass for the graph:</a:t>
            </a:r>
            <a:endParaRPr/>
          </a:p>
        </p:txBody>
      </p:sp>
      <p:pic>
        <p:nvPicPr>
          <p:cNvPr id="623" name="Google Shape;623;h65f250d357b111bf_2_29"/>
          <p:cNvPicPr preferRelativeResize="0"/>
          <p:nvPr>
            <p:ph idx="1" type="body"/>
          </p:nvPr>
        </p:nvPicPr>
        <p:blipFill rotWithShape="1">
          <a:blip r:embed="rId3">
            <a:alphaModFix/>
          </a:blip>
          <a:srcRect b="0" l="0" r="0" t="0"/>
          <a:stretch/>
        </p:blipFill>
        <p:spPr>
          <a:xfrm>
            <a:off x="3405274" y="1506252"/>
            <a:ext cx="5688900" cy="3602400"/>
          </a:xfrm>
          <a:prstGeom prst="rect">
            <a:avLst/>
          </a:prstGeom>
          <a:noFill/>
          <a:ln>
            <a:noFill/>
          </a:ln>
        </p:spPr>
      </p:pic>
      <p:pic>
        <p:nvPicPr>
          <p:cNvPr id="624" name="Google Shape;624;h65f250d357b111bf_2_29"/>
          <p:cNvPicPr preferRelativeResize="0"/>
          <p:nvPr/>
        </p:nvPicPr>
        <p:blipFill rotWithShape="1">
          <a:blip r:embed="rId4">
            <a:alphaModFix/>
          </a:blip>
          <a:srcRect b="0" l="0" r="0" t="0"/>
          <a:stretch/>
        </p:blipFill>
        <p:spPr>
          <a:xfrm>
            <a:off x="3893863" y="138037"/>
            <a:ext cx="1504948" cy="977241"/>
          </a:xfrm>
          <a:prstGeom prst="rect">
            <a:avLst/>
          </a:prstGeom>
          <a:noFill/>
          <a:ln>
            <a:noFill/>
          </a:ln>
        </p:spPr>
      </p:pic>
      <p:pic>
        <p:nvPicPr>
          <p:cNvPr id="625" name="Google Shape;625;h65f250d357b111bf_2_29"/>
          <p:cNvPicPr preferRelativeResize="0"/>
          <p:nvPr/>
        </p:nvPicPr>
        <p:blipFill rotWithShape="1">
          <a:blip r:embed="rId5">
            <a:alphaModFix/>
          </a:blip>
          <a:srcRect b="0" l="0" r="0" t="0"/>
          <a:stretch/>
        </p:blipFill>
        <p:spPr>
          <a:xfrm>
            <a:off x="6198542" y="81749"/>
            <a:ext cx="2453610" cy="139159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h65f250d357b111bf_0_386"/>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b="0" lang="pt-BR"/>
              <a:t>Example</a:t>
            </a:r>
            <a:endParaRPr/>
          </a:p>
        </p:txBody>
      </p:sp>
      <p:pic>
        <p:nvPicPr>
          <p:cNvPr id="632" name="Google Shape;632;h65f250d357b111bf_0_386"/>
          <p:cNvPicPr preferRelativeResize="0"/>
          <p:nvPr>
            <p:ph idx="1" type="body"/>
          </p:nvPr>
        </p:nvPicPr>
        <p:blipFill rotWithShape="1">
          <a:blip r:embed="rId3">
            <a:alphaModFix/>
          </a:blip>
          <a:srcRect b="0" l="0" r="0" t="0"/>
          <a:stretch/>
        </p:blipFill>
        <p:spPr>
          <a:xfrm>
            <a:off x="1545128" y="886566"/>
            <a:ext cx="6053700" cy="4137300"/>
          </a:xfrm>
          <a:prstGeom prst="rect">
            <a:avLst/>
          </a:prstGeom>
          <a:noFill/>
          <a:ln>
            <a:noFill/>
          </a:ln>
        </p:spPr>
      </p:pic>
      <p:sp>
        <p:nvSpPr>
          <p:cNvPr id="633" name="Google Shape;633;h65f250d357b111bf_0_386"/>
          <p:cNvSpPr txBox="1"/>
          <p:nvPr/>
        </p:nvSpPr>
        <p:spPr>
          <a:xfrm>
            <a:off x="7210600" y="301450"/>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h65f250d357b111bf_0_502"/>
          <p:cNvSpPr txBox="1"/>
          <p:nvPr>
            <p:ph type="title"/>
          </p:nvPr>
        </p:nvSpPr>
        <p:spPr>
          <a:xfrm>
            <a:off x="311700" y="33425"/>
            <a:ext cx="8520600" cy="56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sz="3300"/>
              <a:t>Two-Layer Network with scalar output</a:t>
            </a:r>
            <a:endParaRPr sz="3100"/>
          </a:p>
        </p:txBody>
      </p:sp>
      <p:sp>
        <p:nvSpPr>
          <p:cNvPr id="639" name="Google Shape;639;h65f250d357b111bf_0_502"/>
          <p:cNvSpPr/>
          <p:nvPr/>
        </p:nvSpPr>
        <p:spPr>
          <a:xfrm rot="5400000">
            <a:off x="1883300" y="1356725"/>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640" name="Google Shape;640;h65f250d357b111bf_0_502"/>
          <p:cNvSpPr txBox="1"/>
          <p:nvPr/>
        </p:nvSpPr>
        <p:spPr>
          <a:xfrm>
            <a:off x="1251338" y="974325"/>
            <a:ext cx="14655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input layer</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sz="1600">
                <a:solidFill>
                  <a:srgbClr val="0000FF"/>
                </a:solidFill>
                <a:latin typeface="Comfortaa"/>
                <a:ea typeface="Comfortaa"/>
                <a:cs typeface="Comfortaa"/>
                <a:sym typeface="Comfortaa"/>
              </a:rPr>
              <a:t>(vector x)</a:t>
            </a:r>
            <a:endParaRPr sz="1600">
              <a:solidFill>
                <a:srgbClr val="0000FF"/>
              </a:solidFill>
              <a:latin typeface="Comfortaa"/>
              <a:ea typeface="Comfortaa"/>
              <a:cs typeface="Comfortaa"/>
              <a:sym typeface="Comfortaa"/>
            </a:endParaRPr>
          </a:p>
        </p:txBody>
      </p:sp>
      <p:sp>
        <p:nvSpPr>
          <p:cNvPr id="641" name="Google Shape;641;h65f250d357b111bf_0_502"/>
          <p:cNvSpPr/>
          <p:nvPr/>
        </p:nvSpPr>
        <p:spPr>
          <a:xfrm rot="5400000">
            <a:off x="4884075" y="1154284"/>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642" name="Google Shape;642;h65f250d357b111bf_0_502"/>
          <p:cNvSpPr txBox="1"/>
          <p:nvPr/>
        </p:nvSpPr>
        <p:spPr>
          <a:xfrm>
            <a:off x="4153275" y="802484"/>
            <a:ext cx="1663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hidden units</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a:solidFill>
                  <a:srgbClr val="0000FF"/>
                </a:solidFill>
                <a:latin typeface="Comfortaa"/>
                <a:ea typeface="Comfortaa"/>
                <a:cs typeface="Comfortaa"/>
                <a:sym typeface="Comfortaa"/>
              </a:rPr>
              <a:t>(</a:t>
            </a:r>
            <a:r>
              <a:rPr lang="pt-BR" sz="1600">
                <a:solidFill>
                  <a:srgbClr val="0000FF"/>
                </a:solidFill>
                <a:latin typeface="Comfortaa"/>
                <a:ea typeface="Comfortaa"/>
                <a:cs typeface="Comfortaa"/>
                <a:sym typeface="Comfortaa"/>
              </a:rPr>
              <a:t>σ nodes</a:t>
            </a:r>
            <a:r>
              <a:rPr lang="pt-BR">
                <a:solidFill>
                  <a:srgbClr val="0000FF"/>
                </a:solidFill>
                <a:latin typeface="Comfortaa"/>
                <a:ea typeface="Comfortaa"/>
                <a:cs typeface="Comfortaa"/>
                <a:sym typeface="Comfortaa"/>
              </a:rPr>
              <a:t>)</a:t>
            </a:r>
            <a:endParaRPr>
              <a:solidFill>
                <a:srgbClr val="0000FF"/>
              </a:solidFill>
              <a:latin typeface="Comfortaa"/>
              <a:ea typeface="Comfortaa"/>
              <a:cs typeface="Comfortaa"/>
              <a:sym typeface="Comfortaa"/>
            </a:endParaRPr>
          </a:p>
        </p:txBody>
      </p:sp>
      <p:sp>
        <p:nvSpPr>
          <p:cNvPr id="643" name="Google Shape;643;h65f250d357b111bf_0_502"/>
          <p:cNvSpPr/>
          <p:nvPr/>
        </p:nvSpPr>
        <p:spPr>
          <a:xfrm rot="5400000">
            <a:off x="7149875" y="1432175"/>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644" name="Google Shape;644;h65f250d357b111bf_0_502"/>
          <p:cNvSpPr txBox="1"/>
          <p:nvPr/>
        </p:nvSpPr>
        <p:spPr>
          <a:xfrm>
            <a:off x="6419075" y="1004925"/>
            <a:ext cx="1663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output layer</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a:solidFill>
                  <a:srgbClr val="0000FF"/>
                </a:solidFill>
                <a:latin typeface="Comfortaa"/>
                <a:ea typeface="Comfortaa"/>
                <a:cs typeface="Comfortaa"/>
                <a:sym typeface="Comfortaa"/>
              </a:rPr>
              <a:t>(</a:t>
            </a:r>
            <a:r>
              <a:rPr lang="pt-BR" sz="1600">
                <a:solidFill>
                  <a:srgbClr val="0000FF"/>
                </a:solidFill>
                <a:latin typeface="Comfortaa"/>
                <a:ea typeface="Comfortaa"/>
                <a:cs typeface="Comfortaa"/>
                <a:sym typeface="Comfortaa"/>
              </a:rPr>
              <a:t>σ node</a:t>
            </a:r>
            <a:r>
              <a:rPr lang="pt-BR">
                <a:solidFill>
                  <a:srgbClr val="0000FF"/>
                </a:solidFill>
                <a:latin typeface="Comfortaa"/>
                <a:ea typeface="Comfortaa"/>
                <a:cs typeface="Comfortaa"/>
                <a:sym typeface="Comfortaa"/>
              </a:rPr>
              <a:t>)</a:t>
            </a:r>
            <a:endParaRPr>
              <a:solidFill>
                <a:srgbClr val="0000FF"/>
              </a:solidFill>
              <a:latin typeface="Comfortaa"/>
              <a:ea typeface="Comfortaa"/>
              <a:cs typeface="Comfortaa"/>
              <a:sym typeface="Comfortaa"/>
            </a:endParaRPr>
          </a:p>
        </p:txBody>
      </p:sp>
      <p:sp>
        <p:nvSpPr>
          <p:cNvPr id="645" name="Google Shape;645;h65f250d357b111bf_0_502"/>
          <p:cNvSpPr txBox="1"/>
          <p:nvPr/>
        </p:nvSpPr>
        <p:spPr>
          <a:xfrm>
            <a:off x="107425" y="4658825"/>
            <a:ext cx="25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adapted from (Jurafsky, 2026)</a:t>
            </a:r>
            <a:endParaRPr sz="1200">
              <a:solidFill>
                <a:srgbClr val="434343"/>
              </a:solidFill>
              <a:latin typeface="Comfortaa"/>
              <a:ea typeface="Comfortaa"/>
              <a:cs typeface="Comfortaa"/>
              <a:sym typeface="Comfortaa"/>
            </a:endParaRPr>
          </a:p>
        </p:txBody>
      </p:sp>
      <p:pic>
        <p:nvPicPr>
          <p:cNvPr id="646" name="Google Shape;646;h65f250d357b111bf_0_502"/>
          <p:cNvPicPr preferRelativeResize="0"/>
          <p:nvPr/>
        </p:nvPicPr>
        <p:blipFill>
          <a:blip r:embed="rId3">
            <a:alphaModFix/>
          </a:blip>
          <a:stretch>
            <a:fillRect/>
          </a:stretch>
        </p:blipFill>
        <p:spPr>
          <a:xfrm>
            <a:off x="4034405" y="4133326"/>
            <a:ext cx="2107012" cy="439800"/>
          </a:xfrm>
          <a:prstGeom prst="rect">
            <a:avLst/>
          </a:prstGeom>
          <a:noFill/>
          <a:ln>
            <a:noFill/>
          </a:ln>
        </p:spPr>
      </p:pic>
      <p:pic>
        <p:nvPicPr>
          <p:cNvPr id="647" name="Google Shape;647;h65f250d357b111bf_0_502"/>
          <p:cNvPicPr preferRelativeResize="0"/>
          <p:nvPr/>
        </p:nvPicPr>
        <p:blipFill>
          <a:blip r:embed="rId4">
            <a:alphaModFix/>
          </a:blip>
          <a:stretch>
            <a:fillRect/>
          </a:stretch>
        </p:blipFill>
        <p:spPr>
          <a:xfrm>
            <a:off x="6765800" y="3346875"/>
            <a:ext cx="1380357" cy="878400"/>
          </a:xfrm>
          <a:prstGeom prst="rect">
            <a:avLst/>
          </a:prstGeom>
          <a:noFill/>
          <a:ln>
            <a:noFill/>
          </a:ln>
        </p:spPr>
      </p:pic>
      <p:sp>
        <p:nvSpPr>
          <p:cNvPr id="648" name="Google Shape;648;h65f250d357b111bf_0_502"/>
          <p:cNvSpPr txBox="1"/>
          <p:nvPr/>
        </p:nvSpPr>
        <p:spPr>
          <a:xfrm>
            <a:off x="3860975" y="4713750"/>
            <a:ext cx="24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could be a ReLU or tanh</a:t>
            </a:r>
            <a:endParaRPr>
              <a:solidFill>
                <a:srgbClr val="434343"/>
              </a:solidFill>
              <a:latin typeface="Comfortaa"/>
              <a:ea typeface="Comfortaa"/>
              <a:cs typeface="Comfortaa"/>
              <a:sym typeface="Comfortaa"/>
            </a:endParaRPr>
          </a:p>
        </p:txBody>
      </p:sp>
      <p:grpSp>
        <p:nvGrpSpPr>
          <p:cNvPr id="649" name="Google Shape;649;h65f250d357b111bf_0_502"/>
          <p:cNvGrpSpPr/>
          <p:nvPr/>
        </p:nvGrpSpPr>
        <p:grpSpPr>
          <a:xfrm>
            <a:off x="1629113" y="1673881"/>
            <a:ext cx="5397013" cy="2926314"/>
            <a:chOff x="1629113" y="1673881"/>
            <a:chExt cx="5397013" cy="2926314"/>
          </a:xfrm>
        </p:grpSpPr>
        <p:sp>
          <p:nvSpPr>
            <p:cNvPr id="650" name="Google Shape;650;h65f250d357b111bf_0_502"/>
            <p:cNvSpPr/>
            <p:nvPr/>
          </p:nvSpPr>
          <p:spPr>
            <a:xfrm>
              <a:off x="1629113" y="2689627"/>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651" name="Google Shape;651;h65f250d357b111bf_0_502"/>
            <p:cNvSpPr/>
            <p:nvPr/>
          </p:nvSpPr>
          <p:spPr>
            <a:xfrm>
              <a:off x="1629132" y="3265600"/>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652" name="Google Shape;652;h65f250d357b111bf_0_502"/>
            <p:cNvSpPr/>
            <p:nvPr/>
          </p:nvSpPr>
          <p:spPr>
            <a:xfrm>
              <a:off x="1629132" y="4093795"/>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653" name="Google Shape;653;h65f250d357b111bf_0_502"/>
            <p:cNvSpPr/>
            <p:nvPr/>
          </p:nvSpPr>
          <p:spPr>
            <a:xfrm>
              <a:off x="1629113" y="2113644"/>
              <a:ext cx="506400" cy="506400"/>
            </a:xfrm>
            <a:prstGeom prst="ellipse">
              <a:avLst/>
            </a:prstGeom>
            <a:solidFill>
              <a:srgbClr val="FFFFFF"/>
            </a:solidFill>
            <a:ln cap="flat" cmpd="sng" w="26825">
              <a:solidFill>
                <a:srgbClr val="000000"/>
              </a:solidFill>
              <a:prstDash val="dash"/>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654" name="Google Shape;654;h65f250d357b111bf_0_502"/>
            <p:cNvSpPr txBox="1"/>
            <p:nvPr/>
          </p:nvSpPr>
          <p:spPr>
            <a:xfrm>
              <a:off x="1629126" y="2199716"/>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grpSp>
          <p:nvGrpSpPr>
            <p:cNvPr id="655" name="Google Shape;655;h65f250d357b111bf_0_502"/>
            <p:cNvGrpSpPr/>
            <p:nvPr/>
          </p:nvGrpSpPr>
          <p:grpSpPr>
            <a:xfrm>
              <a:off x="1753845" y="3865858"/>
              <a:ext cx="288564" cy="74448"/>
              <a:chOff x="3272500" y="3440675"/>
              <a:chExt cx="372100" cy="96000"/>
            </a:xfrm>
          </p:grpSpPr>
          <p:sp>
            <p:nvSpPr>
              <p:cNvPr id="656" name="Google Shape;656;h65f250d357b111bf_0_502"/>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657" name="Google Shape;657;h65f250d357b111bf_0_502"/>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658" name="Google Shape;658;h65f250d357b111bf_0_502"/>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659" name="Google Shape;659;h65f250d357b111bf_0_502"/>
            <p:cNvSpPr/>
            <p:nvPr/>
          </p:nvSpPr>
          <p:spPr>
            <a:xfrm>
              <a:off x="4686288" y="29211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2</a:t>
              </a:r>
              <a:endParaRPr b="0" baseline="-25000" sz="1241" strike="noStrike">
                <a:latin typeface="Arial"/>
                <a:ea typeface="Arial"/>
                <a:cs typeface="Arial"/>
                <a:sym typeface="Arial"/>
              </a:endParaRPr>
            </a:p>
          </p:txBody>
        </p:sp>
        <p:sp>
          <p:nvSpPr>
            <p:cNvPr id="660" name="Google Shape;660;h65f250d357b111bf_0_502"/>
            <p:cNvSpPr/>
            <p:nvPr/>
          </p:nvSpPr>
          <p:spPr>
            <a:xfrm>
              <a:off x="4656738" y="23046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1</a:t>
              </a:r>
              <a:endParaRPr b="0" baseline="-25000" sz="1241" strike="noStrike">
                <a:latin typeface="Arial"/>
                <a:ea typeface="Arial"/>
                <a:cs typeface="Arial"/>
                <a:sym typeface="Arial"/>
              </a:endParaRPr>
            </a:p>
          </p:txBody>
        </p:sp>
        <p:sp>
          <p:nvSpPr>
            <p:cNvPr id="661" name="Google Shape;661;h65f250d357b111bf_0_502"/>
            <p:cNvSpPr/>
            <p:nvPr/>
          </p:nvSpPr>
          <p:spPr>
            <a:xfrm>
              <a:off x="4686288" y="352631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3</a:t>
              </a:r>
              <a:endParaRPr b="0" baseline="-25000" sz="1241" strike="noStrike">
                <a:latin typeface="Arial"/>
                <a:ea typeface="Arial"/>
                <a:cs typeface="Arial"/>
                <a:sym typeface="Arial"/>
              </a:endParaRPr>
            </a:p>
          </p:txBody>
        </p:sp>
        <p:cxnSp>
          <p:nvCxnSpPr>
            <p:cNvPr id="662" name="Google Shape;662;h65f250d357b111bf_0_502"/>
            <p:cNvCxnSpPr>
              <a:stCxn id="654" idx="3"/>
              <a:endCxn id="660" idx="1"/>
            </p:cNvCxnSpPr>
            <p:nvPr/>
          </p:nvCxnSpPr>
          <p:spPr>
            <a:xfrm>
              <a:off x="2135526" y="2366816"/>
              <a:ext cx="2595300" cy="12000"/>
            </a:xfrm>
            <a:prstGeom prst="straightConnector1">
              <a:avLst/>
            </a:prstGeom>
            <a:noFill/>
            <a:ln cap="flat" cmpd="sng" w="20500">
              <a:solidFill>
                <a:srgbClr val="B7B7B7"/>
              </a:solidFill>
              <a:prstDash val="solid"/>
              <a:round/>
              <a:headEnd len="sm" w="sm" type="none"/>
              <a:tailEnd len="med" w="med" type="triangle"/>
            </a:ln>
          </p:spPr>
        </p:cxnSp>
        <p:cxnSp>
          <p:nvCxnSpPr>
            <p:cNvPr id="663" name="Google Shape;663;h65f250d357b111bf_0_502"/>
            <p:cNvCxnSpPr>
              <a:stCxn id="650" idx="6"/>
            </p:cNvCxnSpPr>
            <p:nvPr/>
          </p:nvCxnSpPr>
          <p:spPr>
            <a:xfrm flipH="1" rot="10800000">
              <a:off x="2135513" y="2503027"/>
              <a:ext cx="2515500" cy="439800"/>
            </a:xfrm>
            <a:prstGeom prst="straightConnector1">
              <a:avLst/>
            </a:prstGeom>
            <a:noFill/>
            <a:ln cap="flat" cmpd="sng" w="20500">
              <a:solidFill>
                <a:srgbClr val="B7B7B7"/>
              </a:solidFill>
              <a:prstDash val="solid"/>
              <a:round/>
              <a:headEnd len="sm" w="sm" type="none"/>
              <a:tailEnd len="med" w="med" type="triangle"/>
            </a:ln>
          </p:spPr>
        </p:cxnSp>
        <p:cxnSp>
          <p:nvCxnSpPr>
            <p:cNvPr id="664" name="Google Shape;664;h65f250d357b111bf_0_502"/>
            <p:cNvCxnSpPr>
              <a:stCxn id="651" idx="6"/>
            </p:cNvCxnSpPr>
            <p:nvPr/>
          </p:nvCxnSpPr>
          <p:spPr>
            <a:xfrm flipH="1" rot="10800000">
              <a:off x="2135532" y="2640400"/>
              <a:ext cx="2529300" cy="878400"/>
            </a:xfrm>
            <a:prstGeom prst="straightConnector1">
              <a:avLst/>
            </a:prstGeom>
            <a:noFill/>
            <a:ln cap="flat" cmpd="sng" w="20500">
              <a:solidFill>
                <a:srgbClr val="B7B7B7"/>
              </a:solidFill>
              <a:prstDash val="solid"/>
              <a:round/>
              <a:headEnd len="sm" w="sm" type="none"/>
              <a:tailEnd len="med" w="med" type="triangle"/>
            </a:ln>
          </p:spPr>
        </p:cxnSp>
        <p:cxnSp>
          <p:nvCxnSpPr>
            <p:cNvPr id="665" name="Google Shape;665;h65f250d357b111bf_0_502"/>
            <p:cNvCxnSpPr>
              <a:stCxn id="652" idx="6"/>
              <a:endCxn id="660" idx="3"/>
            </p:cNvCxnSpPr>
            <p:nvPr/>
          </p:nvCxnSpPr>
          <p:spPr>
            <a:xfrm flipH="1" rot="10800000">
              <a:off x="2135532" y="2736895"/>
              <a:ext cx="2595300" cy="1610100"/>
            </a:xfrm>
            <a:prstGeom prst="straightConnector1">
              <a:avLst/>
            </a:prstGeom>
            <a:noFill/>
            <a:ln cap="flat" cmpd="sng" w="20500">
              <a:solidFill>
                <a:srgbClr val="B7B7B7"/>
              </a:solidFill>
              <a:prstDash val="solid"/>
              <a:round/>
              <a:headEnd len="sm" w="sm" type="none"/>
              <a:tailEnd len="med" w="med" type="triangle"/>
            </a:ln>
          </p:spPr>
        </p:cxnSp>
        <p:cxnSp>
          <p:nvCxnSpPr>
            <p:cNvPr id="666" name="Google Shape;666;h65f250d357b111bf_0_502"/>
            <p:cNvCxnSpPr>
              <a:stCxn id="650" idx="6"/>
            </p:cNvCxnSpPr>
            <p:nvPr/>
          </p:nvCxnSpPr>
          <p:spPr>
            <a:xfrm>
              <a:off x="2135513" y="2942827"/>
              <a:ext cx="2550000" cy="165300"/>
            </a:xfrm>
            <a:prstGeom prst="straightConnector1">
              <a:avLst/>
            </a:prstGeom>
            <a:noFill/>
            <a:ln cap="flat" cmpd="sng" w="20500">
              <a:solidFill>
                <a:srgbClr val="666666"/>
              </a:solidFill>
              <a:prstDash val="solid"/>
              <a:round/>
              <a:headEnd len="sm" w="sm" type="none"/>
              <a:tailEnd len="med" w="med" type="triangle"/>
            </a:ln>
          </p:spPr>
        </p:cxnSp>
        <p:cxnSp>
          <p:nvCxnSpPr>
            <p:cNvPr id="667" name="Google Shape;667;h65f250d357b111bf_0_502"/>
            <p:cNvCxnSpPr>
              <a:stCxn id="651" idx="6"/>
            </p:cNvCxnSpPr>
            <p:nvPr/>
          </p:nvCxnSpPr>
          <p:spPr>
            <a:xfrm flipH="1" rot="10800000">
              <a:off x="2135532" y="3232000"/>
              <a:ext cx="2543100" cy="286800"/>
            </a:xfrm>
            <a:prstGeom prst="straightConnector1">
              <a:avLst/>
            </a:prstGeom>
            <a:noFill/>
            <a:ln cap="flat" cmpd="sng" w="20500">
              <a:solidFill>
                <a:srgbClr val="666666"/>
              </a:solidFill>
              <a:prstDash val="solid"/>
              <a:round/>
              <a:headEnd len="sm" w="sm" type="none"/>
              <a:tailEnd len="med" w="med" type="triangle"/>
            </a:ln>
          </p:spPr>
        </p:cxnSp>
        <p:cxnSp>
          <p:nvCxnSpPr>
            <p:cNvPr id="668" name="Google Shape;668;h65f250d357b111bf_0_502"/>
            <p:cNvCxnSpPr>
              <a:stCxn id="652" idx="6"/>
              <a:endCxn id="659" idx="3"/>
            </p:cNvCxnSpPr>
            <p:nvPr/>
          </p:nvCxnSpPr>
          <p:spPr>
            <a:xfrm flipH="1" rot="10800000">
              <a:off x="2135532" y="3353395"/>
              <a:ext cx="2625000" cy="993600"/>
            </a:xfrm>
            <a:prstGeom prst="straightConnector1">
              <a:avLst/>
            </a:prstGeom>
            <a:noFill/>
            <a:ln cap="flat" cmpd="sng" w="20500">
              <a:solidFill>
                <a:srgbClr val="666666"/>
              </a:solidFill>
              <a:prstDash val="solid"/>
              <a:round/>
              <a:headEnd len="sm" w="sm" type="none"/>
              <a:tailEnd len="med" w="med" type="triangle"/>
            </a:ln>
          </p:spPr>
        </p:cxnSp>
        <p:cxnSp>
          <p:nvCxnSpPr>
            <p:cNvPr id="669" name="Google Shape;669;h65f250d357b111bf_0_502"/>
            <p:cNvCxnSpPr>
              <a:stCxn id="654" idx="3"/>
              <a:endCxn id="659" idx="1"/>
            </p:cNvCxnSpPr>
            <p:nvPr/>
          </p:nvCxnSpPr>
          <p:spPr>
            <a:xfrm>
              <a:off x="2135526" y="2366816"/>
              <a:ext cx="2625000" cy="628500"/>
            </a:xfrm>
            <a:prstGeom prst="straightConnector1">
              <a:avLst/>
            </a:prstGeom>
            <a:noFill/>
            <a:ln cap="flat" cmpd="sng" w="20500">
              <a:solidFill>
                <a:srgbClr val="666666"/>
              </a:solidFill>
              <a:prstDash val="solid"/>
              <a:round/>
              <a:headEnd len="sm" w="sm" type="none"/>
              <a:tailEnd len="med" w="med" type="triangle"/>
            </a:ln>
          </p:spPr>
        </p:cxnSp>
        <p:cxnSp>
          <p:nvCxnSpPr>
            <p:cNvPr id="670" name="Google Shape;670;h65f250d357b111bf_0_502"/>
            <p:cNvCxnSpPr>
              <a:stCxn id="654" idx="3"/>
              <a:endCxn id="661" idx="1"/>
            </p:cNvCxnSpPr>
            <p:nvPr/>
          </p:nvCxnSpPr>
          <p:spPr>
            <a:xfrm>
              <a:off x="2135526" y="2366816"/>
              <a:ext cx="2625000" cy="1233600"/>
            </a:xfrm>
            <a:prstGeom prst="straightConnector1">
              <a:avLst/>
            </a:prstGeom>
            <a:noFill/>
            <a:ln cap="flat" cmpd="sng" w="20500">
              <a:solidFill>
                <a:srgbClr val="000000"/>
              </a:solidFill>
              <a:prstDash val="solid"/>
              <a:round/>
              <a:headEnd len="sm" w="sm" type="none"/>
              <a:tailEnd len="med" w="med" type="triangle"/>
            </a:ln>
          </p:spPr>
        </p:cxnSp>
        <p:cxnSp>
          <p:nvCxnSpPr>
            <p:cNvPr id="671" name="Google Shape;671;h65f250d357b111bf_0_502"/>
            <p:cNvCxnSpPr>
              <a:stCxn id="652" idx="6"/>
              <a:endCxn id="661" idx="3"/>
            </p:cNvCxnSpPr>
            <p:nvPr/>
          </p:nvCxnSpPr>
          <p:spPr>
            <a:xfrm flipH="1" rot="10800000">
              <a:off x="2135532" y="3958495"/>
              <a:ext cx="2625000" cy="388500"/>
            </a:xfrm>
            <a:prstGeom prst="straightConnector1">
              <a:avLst/>
            </a:prstGeom>
            <a:noFill/>
            <a:ln cap="flat" cmpd="sng" w="20500">
              <a:solidFill>
                <a:srgbClr val="000000"/>
              </a:solidFill>
              <a:prstDash val="solid"/>
              <a:round/>
              <a:headEnd len="sm" w="sm" type="none"/>
              <a:tailEnd len="med" w="med" type="triangle"/>
            </a:ln>
          </p:spPr>
        </p:cxnSp>
        <p:cxnSp>
          <p:nvCxnSpPr>
            <p:cNvPr id="672" name="Google Shape;672;h65f250d357b111bf_0_502"/>
            <p:cNvCxnSpPr>
              <a:stCxn id="650" idx="6"/>
            </p:cNvCxnSpPr>
            <p:nvPr/>
          </p:nvCxnSpPr>
          <p:spPr>
            <a:xfrm>
              <a:off x="2135513" y="2942827"/>
              <a:ext cx="2529300" cy="777300"/>
            </a:xfrm>
            <a:prstGeom prst="straightConnector1">
              <a:avLst/>
            </a:prstGeom>
            <a:noFill/>
            <a:ln cap="flat" cmpd="sng" w="20500">
              <a:solidFill>
                <a:srgbClr val="000000"/>
              </a:solidFill>
              <a:prstDash val="solid"/>
              <a:round/>
              <a:headEnd len="sm" w="sm" type="none"/>
              <a:tailEnd len="med" w="med" type="triangle"/>
            </a:ln>
          </p:spPr>
        </p:cxnSp>
        <p:cxnSp>
          <p:nvCxnSpPr>
            <p:cNvPr id="673" name="Google Shape;673;h65f250d357b111bf_0_502"/>
            <p:cNvCxnSpPr>
              <a:stCxn id="651" idx="6"/>
            </p:cNvCxnSpPr>
            <p:nvPr/>
          </p:nvCxnSpPr>
          <p:spPr>
            <a:xfrm>
              <a:off x="2135532" y="3518800"/>
              <a:ext cx="2543100" cy="318300"/>
            </a:xfrm>
            <a:prstGeom prst="straightConnector1">
              <a:avLst/>
            </a:prstGeom>
            <a:noFill/>
            <a:ln cap="flat" cmpd="sng" w="20500">
              <a:solidFill>
                <a:srgbClr val="000000"/>
              </a:solidFill>
              <a:prstDash val="solid"/>
              <a:round/>
              <a:headEnd len="sm" w="sm" type="none"/>
              <a:tailEnd len="med" w="med" type="triangle"/>
            </a:ln>
          </p:spPr>
        </p:cxnSp>
        <p:cxnSp>
          <p:nvCxnSpPr>
            <p:cNvPr id="674" name="Google Shape;674;h65f250d357b111bf_0_502"/>
            <p:cNvCxnSpPr>
              <a:stCxn id="660" idx="6"/>
            </p:cNvCxnSpPr>
            <p:nvPr/>
          </p:nvCxnSpPr>
          <p:spPr>
            <a:xfrm>
              <a:off x="5163138" y="2557894"/>
              <a:ext cx="1774800" cy="461100"/>
            </a:xfrm>
            <a:prstGeom prst="straightConnector1">
              <a:avLst/>
            </a:prstGeom>
            <a:noFill/>
            <a:ln cap="flat" cmpd="sng" w="20500">
              <a:solidFill>
                <a:srgbClr val="666666"/>
              </a:solidFill>
              <a:prstDash val="solid"/>
              <a:round/>
              <a:headEnd len="sm" w="sm" type="none"/>
              <a:tailEnd len="med" w="med" type="triangle"/>
            </a:ln>
          </p:spPr>
        </p:cxnSp>
        <p:cxnSp>
          <p:nvCxnSpPr>
            <p:cNvPr id="675" name="Google Shape;675;h65f250d357b111bf_0_502"/>
            <p:cNvCxnSpPr>
              <a:stCxn id="659" idx="6"/>
            </p:cNvCxnSpPr>
            <p:nvPr/>
          </p:nvCxnSpPr>
          <p:spPr>
            <a:xfrm flipH="1" rot="10800000">
              <a:off x="5192688" y="3126994"/>
              <a:ext cx="1759500" cy="47400"/>
            </a:xfrm>
            <a:prstGeom prst="straightConnector1">
              <a:avLst/>
            </a:prstGeom>
            <a:noFill/>
            <a:ln cap="flat" cmpd="sng" w="20500">
              <a:solidFill>
                <a:srgbClr val="666666"/>
              </a:solidFill>
              <a:prstDash val="solid"/>
              <a:round/>
              <a:headEnd len="sm" w="sm" type="none"/>
              <a:tailEnd len="med" w="med" type="triangle"/>
            </a:ln>
          </p:spPr>
        </p:cxnSp>
        <p:cxnSp>
          <p:nvCxnSpPr>
            <p:cNvPr id="676" name="Google Shape;676;h65f250d357b111bf_0_502"/>
            <p:cNvCxnSpPr>
              <a:stCxn id="661" idx="6"/>
            </p:cNvCxnSpPr>
            <p:nvPr/>
          </p:nvCxnSpPr>
          <p:spPr>
            <a:xfrm flipH="1" rot="10800000">
              <a:off x="5192688" y="3227219"/>
              <a:ext cx="1738500" cy="552300"/>
            </a:xfrm>
            <a:prstGeom prst="straightConnector1">
              <a:avLst/>
            </a:prstGeom>
            <a:noFill/>
            <a:ln cap="flat" cmpd="sng" w="20500">
              <a:solidFill>
                <a:srgbClr val="666666"/>
              </a:solidFill>
              <a:prstDash val="solid"/>
              <a:round/>
              <a:headEnd len="sm" w="sm" type="none"/>
              <a:tailEnd len="med" w="med" type="triangle"/>
            </a:ln>
          </p:spPr>
        </p:cxnSp>
        <p:sp>
          <p:nvSpPr>
            <p:cNvPr id="677" name="Google Shape;677;h65f250d357b111bf_0_502"/>
            <p:cNvSpPr/>
            <p:nvPr/>
          </p:nvSpPr>
          <p:spPr>
            <a:xfrm>
              <a:off x="4651013" y="1673881"/>
              <a:ext cx="506400" cy="506400"/>
            </a:xfrm>
            <a:prstGeom prst="ellipse">
              <a:avLst/>
            </a:prstGeom>
            <a:solidFill>
              <a:srgbClr val="FFFFFF"/>
            </a:solidFill>
            <a:ln cap="flat" cmpd="sng" w="26825">
              <a:solidFill>
                <a:srgbClr val="000000"/>
              </a:solidFill>
              <a:prstDash val="dash"/>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678" name="Google Shape;678;h65f250d357b111bf_0_502"/>
            <p:cNvSpPr txBox="1"/>
            <p:nvPr/>
          </p:nvSpPr>
          <p:spPr>
            <a:xfrm>
              <a:off x="4651026" y="1759954"/>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679" name="Google Shape;679;h65f250d357b111bf_0_502"/>
            <p:cNvCxnSpPr>
              <a:stCxn id="678" idx="3"/>
            </p:cNvCxnSpPr>
            <p:nvPr/>
          </p:nvCxnSpPr>
          <p:spPr>
            <a:xfrm>
              <a:off x="5157426" y="1927054"/>
              <a:ext cx="1868700" cy="1020900"/>
            </a:xfrm>
            <a:prstGeom prst="straightConnector1">
              <a:avLst/>
            </a:prstGeom>
            <a:noFill/>
            <a:ln cap="flat" cmpd="sng" w="20500">
              <a:solidFill>
                <a:srgbClr val="666666"/>
              </a:solidFill>
              <a:prstDash val="solid"/>
              <a:round/>
              <a:headEnd len="sm" w="sm" type="none"/>
              <a:tailEnd len="med" w="med" type="triangle"/>
            </a:ln>
          </p:spPr>
        </p:cxnSp>
      </p:grpSp>
      <p:sp>
        <p:nvSpPr>
          <p:cNvPr id="680" name="Google Shape;680;h65f250d357b111bf_0_502"/>
          <p:cNvSpPr/>
          <p:nvPr/>
        </p:nvSpPr>
        <p:spPr>
          <a:xfrm>
            <a:off x="6952088" y="28737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σ</a:t>
            </a:r>
            <a:endParaRPr b="0" sz="1241" strike="noStrike">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h65f250d357b111bf_0_60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Multi-layer Notation</a:t>
            </a:r>
            <a:endParaRPr/>
          </a:p>
        </p:txBody>
      </p:sp>
      <p:sp>
        <p:nvSpPr>
          <p:cNvPr id="686" name="Google Shape;686;h65f250d357b111bf_0_600"/>
          <p:cNvSpPr txBox="1"/>
          <p:nvPr/>
        </p:nvSpPr>
        <p:spPr>
          <a:xfrm>
            <a:off x="6583350" y="4720400"/>
            <a:ext cx="25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adapted from (Jurafsky, 2026)</a:t>
            </a:r>
            <a:endParaRPr sz="1200">
              <a:solidFill>
                <a:srgbClr val="434343"/>
              </a:solidFill>
              <a:latin typeface="Comfortaa"/>
              <a:ea typeface="Comfortaa"/>
              <a:cs typeface="Comfortaa"/>
              <a:sym typeface="Comfortaa"/>
            </a:endParaRPr>
          </a:p>
        </p:txBody>
      </p:sp>
      <p:sp>
        <p:nvSpPr>
          <p:cNvPr id="687" name="Google Shape;687;h65f250d357b111bf_0_600"/>
          <p:cNvSpPr/>
          <p:nvPr/>
        </p:nvSpPr>
        <p:spPr>
          <a:xfrm>
            <a:off x="1629113" y="2689627"/>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688" name="Google Shape;688;h65f250d357b111bf_0_600"/>
          <p:cNvSpPr/>
          <p:nvPr/>
        </p:nvSpPr>
        <p:spPr>
          <a:xfrm>
            <a:off x="1629132" y="3265600"/>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689" name="Google Shape;689;h65f250d357b111bf_0_600"/>
          <p:cNvSpPr/>
          <p:nvPr/>
        </p:nvSpPr>
        <p:spPr>
          <a:xfrm>
            <a:off x="1629132" y="4093795"/>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690" name="Google Shape;690;h65f250d357b111bf_0_600"/>
          <p:cNvSpPr/>
          <p:nvPr/>
        </p:nvSpPr>
        <p:spPr>
          <a:xfrm>
            <a:off x="1629113" y="2113644"/>
            <a:ext cx="506400" cy="506400"/>
          </a:xfrm>
          <a:prstGeom prst="ellipse">
            <a:avLst/>
          </a:prstGeom>
          <a:solidFill>
            <a:srgbClr val="FFFFFF"/>
          </a:solidFill>
          <a:ln cap="flat" cmpd="sng" w="26825">
            <a:solidFill>
              <a:srgbClr val="000000"/>
            </a:solidFill>
            <a:prstDash val="dash"/>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691" name="Google Shape;691;h65f250d357b111bf_0_600"/>
          <p:cNvSpPr txBox="1"/>
          <p:nvPr/>
        </p:nvSpPr>
        <p:spPr>
          <a:xfrm>
            <a:off x="1629126" y="2199716"/>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grpSp>
        <p:nvGrpSpPr>
          <p:cNvPr id="692" name="Google Shape;692;h65f250d357b111bf_0_600"/>
          <p:cNvGrpSpPr/>
          <p:nvPr/>
        </p:nvGrpSpPr>
        <p:grpSpPr>
          <a:xfrm>
            <a:off x="1753845" y="3865858"/>
            <a:ext cx="288564" cy="74448"/>
            <a:chOff x="3272500" y="3440675"/>
            <a:chExt cx="372100" cy="96000"/>
          </a:xfrm>
        </p:grpSpPr>
        <p:sp>
          <p:nvSpPr>
            <p:cNvPr id="693" name="Google Shape;693;h65f250d357b111bf_0_600"/>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694" name="Google Shape;694;h65f250d357b111bf_0_600"/>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695" name="Google Shape;695;h65f250d357b111bf_0_600"/>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696" name="Google Shape;696;h65f250d357b111bf_0_600"/>
          <p:cNvSpPr/>
          <p:nvPr/>
        </p:nvSpPr>
        <p:spPr>
          <a:xfrm>
            <a:off x="4686288" y="29211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2</a:t>
            </a:r>
            <a:endParaRPr b="0" baseline="-25000" sz="1241" strike="noStrike">
              <a:latin typeface="Arial"/>
              <a:ea typeface="Arial"/>
              <a:cs typeface="Arial"/>
              <a:sym typeface="Arial"/>
            </a:endParaRPr>
          </a:p>
        </p:txBody>
      </p:sp>
      <p:sp>
        <p:nvSpPr>
          <p:cNvPr id="697" name="Google Shape;697;h65f250d357b111bf_0_600"/>
          <p:cNvSpPr/>
          <p:nvPr/>
        </p:nvSpPr>
        <p:spPr>
          <a:xfrm rot="5400000">
            <a:off x="1837913" y="1528653"/>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698" name="Google Shape;698;h65f250d357b111bf_0_600"/>
          <p:cNvSpPr/>
          <p:nvPr/>
        </p:nvSpPr>
        <p:spPr>
          <a:xfrm rot="5400000">
            <a:off x="4838688" y="1125553"/>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699" name="Google Shape;699;h65f250d357b111bf_0_600"/>
          <p:cNvSpPr txBox="1"/>
          <p:nvPr/>
        </p:nvSpPr>
        <p:spPr>
          <a:xfrm>
            <a:off x="3264660" y="4675903"/>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700" name="Google Shape;700;h65f250d357b111bf_0_600"/>
          <p:cNvSpPr/>
          <p:nvPr/>
        </p:nvSpPr>
        <p:spPr>
          <a:xfrm>
            <a:off x="4656738" y="23046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1</a:t>
            </a:r>
            <a:endParaRPr b="0" baseline="-25000" sz="1241" strike="noStrike">
              <a:latin typeface="Arial"/>
              <a:ea typeface="Arial"/>
              <a:cs typeface="Arial"/>
              <a:sym typeface="Arial"/>
            </a:endParaRPr>
          </a:p>
        </p:txBody>
      </p:sp>
      <p:sp>
        <p:nvSpPr>
          <p:cNvPr id="701" name="Google Shape;701;h65f250d357b111bf_0_600"/>
          <p:cNvSpPr/>
          <p:nvPr/>
        </p:nvSpPr>
        <p:spPr>
          <a:xfrm>
            <a:off x="4686288" y="352631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3</a:t>
            </a:r>
            <a:endParaRPr b="0" baseline="-25000" sz="1241" strike="noStrike">
              <a:latin typeface="Arial"/>
              <a:ea typeface="Arial"/>
              <a:cs typeface="Arial"/>
              <a:sym typeface="Arial"/>
            </a:endParaRPr>
          </a:p>
        </p:txBody>
      </p:sp>
      <p:cxnSp>
        <p:nvCxnSpPr>
          <p:cNvPr id="702" name="Google Shape;702;h65f250d357b111bf_0_600"/>
          <p:cNvCxnSpPr>
            <a:stCxn id="691" idx="3"/>
            <a:endCxn id="700" idx="1"/>
          </p:cNvCxnSpPr>
          <p:nvPr/>
        </p:nvCxnSpPr>
        <p:spPr>
          <a:xfrm>
            <a:off x="2135526" y="2366816"/>
            <a:ext cx="2595300" cy="12000"/>
          </a:xfrm>
          <a:prstGeom prst="straightConnector1">
            <a:avLst/>
          </a:prstGeom>
          <a:noFill/>
          <a:ln cap="flat" cmpd="sng" w="20500">
            <a:solidFill>
              <a:srgbClr val="B7B7B7"/>
            </a:solidFill>
            <a:prstDash val="solid"/>
            <a:round/>
            <a:headEnd len="sm" w="sm" type="none"/>
            <a:tailEnd len="med" w="med" type="triangle"/>
          </a:ln>
        </p:spPr>
      </p:cxnSp>
      <p:cxnSp>
        <p:nvCxnSpPr>
          <p:cNvPr id="703" name="Google Shape;703;h65f250d357b111bf_0_600"/>
          <p:cNvCxnSpPr>
            <a:stCxn id="687" idx="6"/>
          </p:cNvCxnSpPr>
          <p:nvPr/>
        </p:nvCxnSpPr>
        <p:spPr>
          <a:xfrm flipH="1" rot="10800000">
            <a:off x="2135513" y="2503027"/>
            <a:ext cx="2515500" cy="439800"/>
          </a:xfrm>
          <a:prstGeom prst="straightConnector1">
            <a:avLst/>
          </a:prstGeom>
          <a:noFill/>
          <a:ln cap="flat" cmpd="sng" w="20500">
            <a:solidFill>
              <a:srgbClr val="B7B7B7"/>
            </a:solidFill>
            <a:prstDash val="solid"/>
            <a:round/>
            <a:headEnd len="sm" w="sm" type="none"/>
            <a:tailEnd len="med" w="med" type="triangle"/>
          </a:ln>
        </p:spPr>
      </p:cxnSp>
      <p:cxnSp>
        <p:nvCxnSpPr>
          <p:cNvPr id="704" name="Google Shape;704;h65f250d357b111bf_0_600"/>
          <p:cNvCxnSpPr>
            <a:stCxn id="688" idx="6"/>
          </p:cNvCxnSpPr>
          <p:nvPr/>
        </p:nvCxnSpPr>
        <p:spPr>
          <a:xfrm flipH="1" rot="10800000">
            <a:off x="2135532" y="2640400"/>
            <a:ext cx="2529300" cy="878400"/>
          </a:xfrm>
          <a:prstGeom prst="straightConnector1">
            <a:avLst/>
          </a:prstGeom>
          <a:noFill/>
          <a:ln cap="flat" cmpd="sng" w="20500">
            <a:solidFill>
              <a:srgbClr val="B7B7B7"/>
            </a:solidFill>
            <a:prstDash val="solid"/>
            <a:round/>
            <a:headEnd len="sm" w="sm" type="none"/>
            <a:tailEnd len="med" w="med" type="triangle"/>
          </a:ln>
        </p:spPr>
      </p:cxnSp>
      <p:cxnSp>
        <p:nvCxnSpPr>
          <p:cNvPr id="705" name="Google Shape;705;h65f250d357b111bf_0_600"/>
          <p:cNvCxnSpPr>
            <a:stCxn id="689" idx="6"/>
            <a:endCxn id="700" idx="3"/>
          </p:cNvCxnSpPr>
          <p:nvPr/>
        </p:nvCxnSpPr>
        <p:spPr>
          <a:xfrm flipH="1" rot="10800000">
            <a:off x="2135532" y="2736895"/>
            <a:ext cx="2595300" cy="1610100"/>
          </a:xfrm>
          <a:prstGeom prst="straightConnector1">
            <a:avLst/>
          </a:prstGeom>
          <a:noFill/>
          <a:ln cap="flat" cmpd="sng" w="20500">
            <a:solidFill>
              <a:srgbClr val="B7B7B7"/>
            </a:solidFill>
            <a:prstDash val="solid"/>
            <a:round/>
            <a:headEnd len="sm" w="sm" type="none"/>
            <a:tailEnd len="med" w="med" type="triangle"/>
          </a:ln>
        </p:spPr>
      </p:cxnSp>
      <p:cxnSp>
        <p:nvCxnSpPr>
          <p:cNvPr id="706" name="Google Shape;706;h65f250d357b111bf_0_600"/>
          <p:cNvCxnSpPr>
            <a:stCxn id="687" idx="6"/>
          </p:cNvCxnSpPr>
          <p:nvPr/>
        </p:nvCxnSpPr>
        <p:spPr>
          <a:xfrm>
            <a:off x="2135513" y="2942827"/>
            <a:ext cx="2550000" cy="165300"/>
          </a:xfrm>
          <a:prstGeom prst="straightConnector1">
            <a:avLst/>
          </a:prstGeom>
          <a:noFill/>
          <a:ln cap="flat" cmpd="sng" w="20500">
            <a:solidFill>
              <a:srgbClr val="666666"/>
            </a:solidFill>
            <a:prstDash val="solid"/>
            <a:round/>
            <a:headEnd len="sm" w="sm" type="none"/>
            <a:tailEnd len="med" w="med" type="triangle"/>
          </a:ln>
        </p:spPr>
      </p:cxnSp>
      <p:cxnSp>
        <p:nvCxnSpPr>
          <p:cNvPr id="707" name="Google Shape;707;h65f250d357b111bf_0_600"/>
          <p:cNvCxnSpPr>
            <a:stCxn id="688" idx="6"/>
          </p:cNvCxnSpPr>
          <p:nvPr/>
        </p:nvCxnSpPr>
        <p:spPr>
          <a:xfrm flipH="1" rot="10800000">
            <a:off x="2135532" y="3232000"/>
            <a:ext cx="2543100" cy="286800"/>
          </a:xfrm>
          <a:prstGeom prst="straightConnector1">
            <a:avLst/>
          </a:prstGeom>
          <a:noFill/>
          <a:ln cap="flat" cmpd="sng" w="20500">
            <a:solidFill>
              <a:srgbClr val="666666"/>
            </a:solidFill>
            <a:prstDash val="solid"/>
            <a:round/>
            <a:headEnd len="sm" w="sm" type="none"/>
            <a:tailEnd len="med" w="med" type="triangle"/>
          </a:ln>
        </p:spPr>
      </p:cxnSp>
      <p:cxnSp>
        <p:nvCxnSpPr>
          <p:cNvPr id="708" name="Google Shape;708;h65f250d357b111bf_0_600"/>
          <p:cNvCxnSpPr>
            <a:stCxn id="689" idx="6"/>
            <a:endCxn id="696" idx="3"/>
          </p:cNvCxnSpPr>
          <p:nvPr/>
        </p:nvCxnSpPr>
        <p:spPr>
          <a:xfrm flipH="1" rot="10800000">
            <a:off x="2135532" y="3353395"/>
            <a:ext cx="2625000" cy="993600"/>
          </a:xfrm>
          <a:prstGeom prst="straightConnector1">
            <a:avLst/>
          </a:prstGeom>
          <a:noFill/>
          <a:ln cap="flat" cmpd="sng" w="20500">
            <a:solidFill>
              <a:srgbClr val="666666"/>
            </a:solidFill>
            <a:prstDash val="solid"/>
            <a:round/>
            <a:headEnd len="sm" w="sm" type="none"/>
            <a:tailEnd len="med" w="med" type="triangle"/>
          </a:ln>
        </p:spPr>
      </p:cxnSp>
      <p:cxnSp>
        <p:nvCxnSpPr>
          <p:cNvPr id="709" name="Google Shape;709;h65f250d357b111bf_0_600"/>
          <p:cNvCxnSpPr>
            <a:stCxn id="691" idx="3"/>
            <a:endCxn id="696" idx="1"/>
          </p:cNvCxnSpPr>
          <p:nvPr/>
        </p:nvCxnSpPr>
        <p:spPr>
          <a:xfrm>
            <a:off x="2135526" y="2366816"/>
            <a:ext cx="2625000" cy="628500"/>
          </a:xfrm>
          <a:prstGeom prst="straightConnector1">
            <a:avLst/>
          </a:prstGeom>
          <a:noFill/>
          <a:ln cap="flat" cmpd="sng" w="20500">
            <a:solidFill>
              <a:srgbClr val="666666"/>
            </a:solidFill>
            <a:prstDash val="solid"/>
            <a:round/>
            <a:headEnd len="sm" w="sm" type="none"/>
            <a:tailEnd len="med" w="med" type="triangle"/>
          </a:ln>
        </p:spPr>
      </p:cxnSp>
      <p:cxnSp>
        <p:nvCxnSpPr>
          <p:cNvPr id="710" name="Google Shape;710;h65f250d357b111bf_0_600"/>
          <p:cNvCxnSpPr>
            <a:stCxn id="691" idx="3"/>
            <a:endCxn id="701" idx="1"/>
          </p:cNvCxnSpPr>
          <p:nvPr/>
        </p:nvCxnSpPr>
        <p:spPr>
          <a:xfrm>
            <a:off x="2135526" y="2366816"/>
            <a:ext cx="2625000" cy="1233600"/>
          </a:xfrm>
          <a:prstGeom prst="straightConnector1">
            <a:avLst/>
          </a:prstGeom>
          <a:noFill/>
          <a:ln cap="flat" cmpd="sng" w="20500">
            <a:solidFill>
              <a:srgbClr val="000000"/>
            </a:solidFill>
            <a:prstDash val="solid"/>
            <a:round/>
            <a:headEnd len="sm" w="sm" type="none"/>
            <a:tailEnd len="med" w="med" type="triangle"/>
          </a:ln>
        </p:spPr>
      </p:cxnSp>
      <p:cxnSp>
        <p:nvCxnSpPr>
          <p:cNvPr id="711" name="Google Shape;711;h65f250d357b111bf_0_600"/>
          <p:cNvCxnSpPr>
            <a:stCxn id="689" idx="6"/>
            <a:endCxn id="701" idx="3"/>
          </p:cNvCxnSpPr>
          <p:nvPr/>
        </p:nvCxnSpPr>
        <p:spPr>
          <a:xfrm flipH="1" rot="10800000">
            <a:off x="2135532" y="3958495"/>
            <a:ext cx="2625000" cy="388500"/>
          </a:xfrm>
          <a:prstGeom prst="straightConnector1">
            <a:avLst/>
          </a:prstGeom>
          <a:noFill/>
          <a:ln cap="flat" cmpd="sng" w="20500">
            <a:solidFill>
              <a:srgbClr val="000000"/>
            </a:solidFill>
            <a:prstDash val="solid"/>
            <a:round/>
            <a:headEnd len="sm" w="sm" type="none"/>
            <a:tailEnd len="med" w="med" type="triangle"/>
          </a:ln>
        </p:spPr>
      </p:cxnSp>
      <p:cxnSp>
        <p:nvCxnSpPr>
          <p:cNvPr id="712" name="Google Shape;712;h65f250d357b111bf_0_600"/>
          <p:cNvCxnSpPr>
            <a:stCxn id="687" idx="6"/>
          </p:cNvCxnSpPr>
          <p:nvPr/>
        </p:nvCxnSpPr>
        <p:spPr>
          <a:xfrm>
            <a:off x="2135513" y="2942827"/>
            <a:ext cx="2529300" cy="777300"/>
          </a:xfrm>
          <a:prstGeom prst="straightConnector1">
            <a:avLst/>
          </a:prstGeom>
          <a:noFill/>
          <a:ln cap="flat" cmpd="sng" w="20500">
            <a:solidFill>
              <a:srgbClr val="000000"/>
            </a:solidFill>
            <a:prstDash val="solid"/>
            <a:round/>
            <a:headEnd len="sm" w="sm" type="none"/>
            <a:tailEnd len="med" w="med" type="triangle"/>
          </a:ln>
        </p:spPr>
      </p:cxnSp>
      <p:cxnSp>
        <p:nvCxnSpPr>
          <p:cNvPr id="713" name="Google Shape;713;h65f250d357b111bf_0_600"/>
          <p:cNvCxnSpPr>
            <a:stCxn id="688" idx="6"/>
          </p:cNvCxnSpPr>
          <p:nvPr/>
        </p:nvCxnSpPr>
        <p:spPr>
          <a:xfrm>
            <a:off x="2135532" y="3518800"/>
            <a:ext cx="2543100" cy="318300"/>
          </a:xfrm>
          <a:prstGeom prst="straightConnector1">
            <a:avLst/>
          </a:prstGeom>
          <a:noFill/>
          <a:ln cap="flat" cmpd="sng" w="20500">
            <a:solidFill>
              <a:srgbClr val="000000"/>
            </a:solidFill>
            <a:prstDash val="solid"/>
            <a:round/>
            <a:headEnd len="sm" w="sm" type="none"/>
            <a:tailEnd len="med" w="med" type="triangle"/>
          </a:ln>
        </p:spPr>
      </p:cxnSp>
      <p:sp>
        <p:nvSpPr>
          <p:cNvPr id="714" name="Google Shape;714;h65f250d357b111bf_0_600"/>
          <p:cNvSpPr/>
          <p:nvPr/>
        </p:nvSpPr>
        <p:spPr>
          <a:xfrm>
            <a:off x="6952088" y="28737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σ</a:t>
            </a:r>
            <a:endParaRPr b="0" sz="1241" strike="noStrike">
              <a:latin typeface="Arial"/>
              <a:ea typeface="Arial"/>
              <a:cs typeface="Arial"/>
              <a:sym typeface="Arial"/>
            </a:endParaRPr>
          </a:p>
        </p:txBody>
      </p:sp>
      <p:cxnSp>
        <p:nvCxnSpPr>
          <p:cNvPr id="715" name="Google Shape;715;h65f250d357b111bf_0_600"/>
          <p:cNvCxnSpPr>
            <a:stCxn id="700" idx="6"/>
          </p:cNvCxnSpPr>
          <p:nvPr/>
        </p:nvCxnSpPr>
        <p:spPr>
          <a:xfrm>
            <a:off x="5163138" y="2557894"/>
            <a:ext cx="1774800" cy="461100"/>
          </a:xfrm>
          <a:prstGeom prst="straightConnector1">
            <a:avLst/>
          </a:prstGeom>
          <a:noFill/>
          <a:ln cap="flat" cmpd="sng" w="20500">
            <a:solidFill>
              <a:srgbClr val="666666"/>
            </a:solidFill>
            <a:prstDash val="solid"/>
            <a:round/>
            <a:headEnd len="sm" w="sm" type="none"/>
            <a:tailEnd len="med" w="med" type="triangle"/>
          </a:ln>
        </p:spPr>
      </p:cxnSp>
      <p:cxnSp>
        <p:nvCxnSpPr>
          <p:cNvPr id="716" name="Google Shape;716;h65f250d357b111bf_0_600"/>
          <p:cNvCxnSpPr>
            <a:stCxn id="696" idx="6"/>
            <a:endCxn id="714" idx="2"/>
          </p:cNvCxnSpPr>
          <p:nvPr/>
        </p:nvCxnSpPr>
        <p:spPr>
          <a:xfrm flipH="1" rot="10800000">
            <a:off x="5192688" y="3126994"/>
            <a:ext cx="1759500" cy="47400"/>
          </a:xfrm>
          <a:prstGeom prst="straightConnector1">
            <a:avLst/>
          </a:prstGeom>
          <a:noFill/>
          <a:ln cap="flat" cmpd="sng" w="20500">
            <a:solidFill>
              <a:srgbClr val="666666"/>
            </a:solidFill>
            <a:prstDash val="solid"/>
            <a:round/>
            <a:headEnd len="sm" w="sm" type="none"/>
            <a:tailEnd len="med" w="med" type="triangle"/>
          </a:ln>
        </p:spPr>
      </p:cxnSp>
      <p:cxnSp>
        <p:nvCxnSpPr>
          <p:cNvPr id="717" name="Google Shape;717;h65f250d357b111bf_0_600"/>
          <p:cNvCxnSpPr>
            <a:stCxn id="701" idx="6"/>
          </p:cNvCxnSpPr>
          <p:nvPr/>
        </p:nvCxnSpPr>
        <p:spPr>
          <a:xfrm flipH="1" rot="10800000">
            <a:off x="5192688" y="3227219"/>
            <a:ext cx="1738500" cy="552300"/>
          </a:xfrm>
          <a:prstGeom prst="straightConnector1">
            <a:avLst/>
          </a:prstGeom>
          <a:noFill/>
          <a:ln cap="flat" cmpd="sng" w="20500">
            <a:solidFill>
              <a:srgbClr val="666666"/>
            </a:solidFill>
            <a:prstDash val="solid"/>
            <a:round/>
            <a:headEnd len="sm" w="sm" type="none"/>
            <a:tailEnd len="med" w="med" type="triangle"/>
          </a:ln>
        </p:spPr>
      </p:cxnSp>
      <p:sp>
        <p:nvSpPr>
          <p:cNvPr id="718" name="Google Shape;718;h65f250d357b111bf_0_600"/>
          <p:cNvSpPr txBox="1"/>
          <p:nvPr/>
        </p:nvSpPr>
        <p:spPr>
          <a:xfrm>
            <a:off x="5747085" y="4093803"/>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719" name="Google Shape;719;h65f250d357b111bf_0_600"/>
          <p:cNvSpPr/>
          <p:nvPr/>
        </p:nvSpPr>
        <p:spPr>
          <a:xfrm rot="5400000">
            <a:off x="7104488" y="1604103"/>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720" name="Google Shape;720;h65f250d357b111bf_0_600"/>
          <p:cNvSpPr txBox="1"/>
          <p:nvPr/>
        </p:nvSpPr>
        <p:spPr>
          <a:xfrm>
            <a:off x="1623860" y="12539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[0]</a:t>
            </a:r>
            <a:endParaRPr baseline="30000" sz="1800">
              <a:solidFill>
                <a:srgbClr val="0000FF"/>
              </a:solidFill>
              <a:latin typeface="Comfortaa"/>
              <a:ea typeface="Comfortaa"/>
              <a:cs typeface="Comfortaa"/>
              <a:sym typeface="Comfortaa"/>
            </a:endParaRPr>
          </a:p>
        </p:txBody>
      </p:sp>
      <p:sp>
        <p:nvSpPr>
          <p:cNvPr id="721" name="Google Shape;721;h65f250d357b111bf_0_600"/>
          <p:cNvSpPr txBox="1"/>
          <p:nvPr/>
        </p:nvSpPr>
        <p:spPr>
          <a:xfrm>
            <a:off x="4595085" y="8975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722" name="Google Shape;722;h65f250d357b111bf_0_600"/>
          <p:cNvSpPr txBox="1"/>
          <p:nvPr/>
        </p:nvSpPr>
        <p:spPr>
          <a:xfrm>
            <a:off x="6834635" y="13367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723" name="Google Shape;723;h65f250d357b111bf_0_600"/>
          <p:cNvSpPr/>
          <p:nvPr/>
        </p:nvSpPr>
        <p:spPr>
          <a:xfrm flipH="1" rot="5400000">
            <a:off x="3398388" y="3440028"/>
            <a:ext cx="125100" cy="24147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724" name="Google Shape;724;h65f250d357b111bf_0_600"/>
          <p:cNvSpPr/>
          <p:nvPr/>
        </p:nvSpPr>
        <p:spPr>
          <a:xfrm flipH="1" rot="5400000">
            <a:off x="6056413" y="3204453"/>
            <a:ext cx="125100" cy="16917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725" name="Google Shape;725;h65f250d357b111bf_0_600"/>
          <p:cNvSpPr txBox="1"/>
          <p:nvPr/>
        </p:nvSpPr>
        <p:spPr>
          <a:xfrm>
            <a:off x="3124248" y="191351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b</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726" name="Google Shape;726;h65f250d357b111bf_0_600"/>
          <p:cNvSpPr txBox="1"/>
          <p:nvPr/>
        </p:nvSpPr>
        <p:spPr>
          <a:xfrm>
            <a:off x="5776923" y="188796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b</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727" name="Google Shape;727;h65f250d357b111bf_0_600"/>
          <p:cNvSpPr/>
          <p:nvPr/>
        </p:nvSpPr>
        <p:spPr>
          <a:xfrm>
            <a:off x="4651013" y="1673881"/>
            <a:ext cx="506400" cy="506400"/>
          </a:xfrm>
          <a:prstGeom prst="ellipse">
            <a:avLst/>
          </a:prstGeom>
          <a:solidFill>
            <a:srgbClr val="FFFFFF"/>
          </a:solidFill>
          <a:ln cap="flat" cmpd="sng" w="26825">
            <a:solidFill>
              <a:srgbClr val="000000"/>
            </a:solidFill>
            <a:prstDash val="dash"/>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728" name="Google Shape;728;h65f250d357b111bf_0_600"/>
          <p:cNvSpPr txBox="1"/>
          <p:nvPr/>
        </p:nvSpPr>
        <p:spPr>
          <a:xfrm>
            <a:off x="4651026" y="1759954"/>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729" name="Google Shape;729;h65f250d357b111bf_0_600"/>
          <p:cNvCxnSpPr>
            <a:stCxn id="728" idx="3"/>
            <a:endCxn id="714" idx="1"/>
          </p:cNvCxnSpPr>
          <p:nvPr/>
        </p:nvCxnSpPr>
        <p:spPr>
          <a:xfrm>
            <a:off x="5157426" y="1927054"/>
            <a:ext cx="1868700" cy="1020900"/>
          </a:xfrm>
          <a:prstGeom prst="straightConnector1">
            <a:avLst/>
          </a:prstGeom>
          <a:noFill/>
          <a:ln cap="flat" cmpd="sng" w="20500">
            <a:solidFill>
              <a:srgbClr val="666666"/>
            </a:solidFill>
            <a:prstDash val="solid"/>
            <a:round/>
            <a:headEnd len="sm" w="sm" type="none"/>
            <a:tailEnd len="med" w="med" type="triangl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h36ece97b36a83fc5_0_259"/>
          <p:cNvSpPr txBox="1"/>
          <p:nvPr/>
        </p:nvSpPr>
        <p:spPr>
          <a:xfrm>
            <a:off x="6583350" y="4720400"/>
            <a:ext cx="25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adapted from (Jurafsky, 2026)</a:t>
            </a:r>
            <a:endParaRPr sz="1200">
              <a:solidFill>
                <a:srgbClr val="434343"/>
              </a:solidFill>
              <a:latin typeface="Comfortaa"/>
              <a:ea typeface="Comfortaa"/>
              <a:cs typeface="Comfortaa"/>
              <a:sym typeface="Comfortaa"/>
            </a:endParaRPr>
          </a:p>
        </p:txBody>
      </p:sp>
      <p:sp>
        <p:nvSpPr>
          <p:cNvPr id="735" name="Google Shape;735;h36ece97b36a83fc5_0_259"/>
          <p:cNvSpPr/>
          <p:nvPr/>
        </p:nvSpPr>
        <p:spPr>
          <a:xfrm>
            <a:off x="1629113" y="2689627"/>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736" name="Google Shape;736;h36ece97b36a83fc5_0_259"/>
          <p:cNvSpPr/>
          <p:nvPr/>
        </p:nvSpPr>
        <p:spPr>
          <a:xfrm>
            <a:off x="1629132" y="3265600"/>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737" name="Google Shape;737;h36ece97b36a83fc5_0_259"/>
          <p:cNvSpPr/>
          <p:nvPr/>
        </p:nvSpPr>
        <p:spPr>
          <a:xfrm>
            <a:off x="1629132" y="4093795"/>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738" name="Google Shape;738;h36ece97b36a83fc5_0_259"/>
          <p:cNvSpPr/>
          <p:nvPr/>
        </p:nvSpPr>
        <p:spPr>
          <a:xfrm>
            <a:off x="1629113" y="2113644"/>
            <a:ext cx="506400" cy="506400"/>
          </a:xfrm>
          <a:prstGeom prst="ellipse">
            <a:avLst/>
          </a:prstGeom>
          <a:solidFill>
            <a:srgbClr val="FFFFFF"/>
          </a:solidFill>
          <a:ln cap="flat" cmpd="sng" w="26825">
            <a:solidFill>
              <a:srgbClr val="000000"/>
            </a:solidFill>
            <a:prstDash val="dash"/>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739" name="Google Shape;739;h36ece97b36a83fc5_0_259"/>
          <p:cNvSpPr txBox="1"/>
          <p:nvPr/>
        </p:nvSpPr>
        <p:spPr>
          <a:xfrm>
            <a:off x="1629126" y="2199716"/>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grpSp>
        <p:nvGrpSpPr>
          <p:cNvPr id="740" name="Google Shape;740;h36ece97b36a83fc5_0_259"/>
          <p:cNvGrpSpPr/>
          <p:nvPr/>
        </p:nvGrpSpPr>
        <p:grpSpPr>
          <a:xfrm>
            <a:off x="1753845" y="3865858"/>
            <a:ext cx="288564" cy="74448"/>
            <a:chOff x="3272500" y="3440675"/>
            <a:chExt cx="372100" cy="96000"/>
          </a:xfrm>
        </p:grpSpPr>
        <p:sp>
          <p:nvSpPr>
            <p:cNvPr id="741" name="Google Shape;741;h36ece97b36a83fc5_0_259"/>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742" name="Google Shape;742;h36ece97b36a83fc5_0_259"/>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743" name="Google Shape;743;h36ece97b36a83fc5_0_259"/>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744" name="Google Shape;744;h36ece97b36a83fc5_0_259"/>
          <p:cNvSpPr/>
          <p:nvPr/>
        </p:nvSpPr>
        <p:spPr>
          <a:xfrm>
            <a:off x="4686288" y="29211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2</a:t>
            </a:r>
            <a:endParaRPr b="0" baseline="-25000" sz="1241" strike="noStrike">
              <a:latin typeface="Arial"/>
              <a:ea typeface="Arial"/>
              <a:cs typeface="Arial"/>
              <a:sym typeface="Arial"/>
            </a:endParaRPr>
          </a:p>
        </p:txBody>
      </p:sp>
      <p:sp>
        <p:nvSpPr>
          <p:cNvPr id="745" name="Google Shape;745;h36ece97b36a83fc5_0_259"/>
          <p:cNvSpPr/>
          <p:nvPr/>
        </p:nvSpPr>
        <p:spPr>
          <a:xfrm rot="5400000">
            <a:off x="1837913" y="1528653"/>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746" name="Google Shape;746;h36ece97b36a83fc5_0_259"/>
          <p:cNvSpPr/>
          <p:nvPr/>
        </p:nvSpPr>
        <p:spPr>
          <a:xfrm rot="5400000">
            <a:off x="4838688" y="1125553"/>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747" name="Google Shape;747;h36ece97b36a83fc5_0_259"/>
          <p:cNvSpPr txBox="1"/>
          <p:nvPr/>
        </p:nvSpPr>
        <p:spPr>
          <a:xfrm>
            <a:off x="3264660" y="4675903"/>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748" name="Google Shape;748;h36ece97b36a83fc5_0_259"/>
          <p:cNvSpPr/>
          <p:nvPr/>
        </p:nvSpPr>
        <p:spPr>
          <a:xfrm>
            <a:off x="4656738" y="23046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1</a:t>
            </a:r>
            <a:endParaRPr b="0" baseline="-25000" sz="1241" strike="noStrike">
              <a:latin typeface="Arial"/>
              <a:ea typeface="Arial"/>
              <a:cs typeface="Arial"/>
              <a:sym typeface="Arial"/>
            </a:endParaRPr>
          </a:p>
        </p:txBody>
      </p:sp>
      <p:sp>
        <p:nvSpPr>
          <p:cNvPr id="749" name="Google Shape;749;h36ece97b36a83fc5_0_259"/>
          <p:cNvSpPr/>
          <p:nvPr/>
        </p:nvSpPr>
        <p:spPr>
          <a:xfrm>
            <a:off x="4686288" y="352631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3</a:t>
            </a:r>
            <a:endParaRPr b="0" baseline="-25000" sz="1241" strike="noStrike">
              <a:latin typeface="Arial"/>
              <a:ea typeface="Arial"/>
              <a:cs typeface="Arial"/>
              <a:sym typeface="Arial"/>
            </a:endParaRPr>
          </a:p>
        </p:txBody>
      </p:sp>
      <p:cxnSp>
        <p:nvCxnSpPr>
          <p:cNvPr id="750" name="Google Shape;750;h36ece97b36a83fc5_0_259"/>
          <p:cNvCxnSpPr>
            <a:stCxn id="739" idx="3"/>
            <a:endCxn id="748" idx="1"/>
          </p:cNvCxnSpPr>
          <p:nvPr/>
        </p:nvCxnSpPr>
        <p:spPr>
          <a:xfrm>
            <a:off x="2135526" y="2366816"/>
            <a:ext cx="2595300" cy="12000"/>
          </a:xfrm>
          <a:prstGeom prst="straightConnector1">
            <a:avLst/>
          </a:prstGeom>
          <a:noFill/>
          <a:ln cap="flat" cmpd="sng" w="20500">
            <a:solidFill>
              <a:srgbClr val="B7B7B7"/>
            </a:solidFill>
            <a:prstDash val="solid"/>
            <a:round/>
            <a:headEnd len="sm" w="sm" type="none"/>
            <a:tailEnd len="med" w="med" type="triangle"/>
          </a:ln>
        </p:spPr>
      </p:cxnSp>
      <p:cxnSp>
        <p:nvCxnSpPr>
          <p:cNvPr id="751" name="Google Shape;751;h36ece97b36a83fc5_0_259"/>
          <p:cNvCxnSpPr>
            <a:stCxn id="735" idx="6"/>
          </p:cNvCxnSpPr>
          <p:nvPr/>
        </p:nvCxnSpPr>
        <p:spPr>
          <a:xfrm flipH="1" rot="10800000">
            <a:off x="2135513" y="2503027"/>
            <a:ext cx="2515500" cy="439800"/>
          </a:xfrm>
          <a:prstGeom prst="straightConnector1">
            <a:avLst/>
          </a:prstGeom>
          <a:noFill/>
          <a:ln cap="flat" cmpd="sng" w="20500">
            <a:solidFill>
              <a:srgbClr val="B7B7B7"/>
            </a:solidFill>
            <a:prstDash val="solid"/>
            <a:round/>
            <a:headEnd len="sm" w="sm" type="none"/>
            <a:tailEnd len="med" w="med" type="triangle"/>
          </a:ln>
        </p:spPr>
      </p:cxnSp>
      <p:cxnSp>
        <p:nvCxnSpPr>
          <p:cNvPr id="752" name="Google Shape;752;h36ece97b36a83fc5_0_259"/>
          <p:cNvCxnSpPr>
            <a:stCxn id="736" idx="6"/>
          </p:cNvCxnSpPr>
          <p:nvPr/>
        </p:nvCxnSpPr>
        <p:spPr>
          <a:xfrm flipH="1" rot="10800000">
            <a:off x="2135532" y="2640400"/>
            <a:ext cx="2529300" cy="878400"/>
          </a:xfrm>
          <a:prstGeom prst="straightConnector1">
            <a:avLst/>
          </a:prstGeom>
          <a:noFill/>
          <a:ln cap="flat" cmpd="sng" w="20500">
            <a:solidFill>
              <a:srgbClr val="B7B7B7"/>
            </a:solidFill>
            <a:prstDash val="solid"/>
            <a:round/>
            <a:headEnd len="sm" w="sm" type="none"/>
            <a:tailEnd len="med" w="med" type="triangle"/>
          </a:ln>
        </p:spPr>
      </p:cxnSp>
      <p:cxnSp>
        <p:nvCxnSpPr>
          <p:cNvPr id="753" name="Google Shape;753;h36ece97b36a83fc5_0_259"/>
          <p:cNvCxnSpPr>
            <a:stCxn id="737" idx="6"/>
            <a:endCxn id="748" idx="3"/>
          </p:cNvCxnSpPr>
          <p:nvPr/>
        </p:nvCxnSpPr>
        <p:spPr>
          <a:xfrm flipH="1" rot="10800000">
            <a:off x="2135532" y="2736895"/>
            <a:ext cx="2595300" cy="1610100"/>
          </a:xfrm>
          <a:prstGeom prst="straightConnector1">
            <a:avLst/>
          </a:prstGeom>
          <a:noFill/>
          <a:ln cap="flat" cmpd="sng" w="20500">
            <a:solidFill>
              <a:srgbClr val="B7B7B7"/>
            </a:solidFill>
            <a:prstDash val="solid"/>
            <a:round/>
            <a:headEnd len="sm" w="sm" type="none"/>
            <a:tailEnd len="med" w="med" type="triangle"/>
          </a:ln>
        </p:spPr>
      </p:cxnSp>
      <p:cxnSp>
        <p:nvCxnSpPr>
          <p:cNvPr id="754" name="Google Shape;754;h36ece97b36a83fc5_0_259"/>
          <p:cNvCxnSpPr>
            <a:stCxn id="735" idx="6"/>
          </p:cNvCxnSpPr>
          <p:nvPr/>
        </p:nvCxnSpPr>
        <p:spPr>
          <a:xfrm>
            <a:off x="2135513" y="2942827"/>
            <a:ext cx="2550000" cy="165300"/>
          </a:xfrm>
          <a:prstGeom prst="straightConnector1">
            <a:avLst/>
          </a:prstGeom>
          <a:noFill/>
          <a:ln cap="flat" cmpd="sng" w="20500">
            <a:solidFill>
              <a:srgbClr val="666666"/>
            </a:solidFill>
            <a:prstDash val="solid"/>
            <a:round/>
            <a:headEnd len="sm" w="sm" type="none"/>
            <a:tailEnd len="med" w="med" type="triangle"/>
          </a:ln>
        </p:spPr>
      </p:cxnSp>
      <p:cxnSp>
        <p:nvCxnSpPr>
          <p:cNvPr id="755" name="Google Shape;755;h36ece97b36a83fc5_0_259"/>
          <p:cNvCxnSpPr>
            <a:stCxn id="736" idx="6"/>
          </p:cNvCxnSpPr>
          <p:nvPr/>
        </p:nvCxnSpPr>
        <p:spPr>
          <a:xfrm flipH="1" rot="10800000">
            <a:off x="2135532" y="3232000"/>
            <a:ext cx="2543100" cy="286800"/>
          </a:xfrm>
          <a:prstGeom prst="straightConnector1">
            <a:avLst/>
          </a:prstGeom>
          <a:noFill/>
          <a:ln cap="flat" cmpd="sng" w="20500">
            <a:solidFill>
              <a:srgbClr val="666666"/>
            </a:solidFill>
            <a:prstDash val="solid"/>
            <a:round/>
            <a:headEnd len="sm" w="sm" type="none"/>
            <a:tailEnd len="med" w="med" type="triangle"/>
          </a:ln>
        </p:spPr>
      </p:cxnSp>
      <p:cxnSp>
        <p:nvCxnSpPr>
          <p:cNvPr id="756" name="Google Shape;756;h36ece97b36a83fc5_0_259"/>
          <p:cNvCxnSpPr>
            <a:stCxn id="737" idx="6"/>
            <a:endCxn id="744" idx="3"/>
          </p:cNvCxnSpPr>
          <p:nvPr/>
        </p:nvCxnSpPr>
        <p:spPr>
          <a:xfrm flipH="1" rot="10800000">
            <a:off x="2135532" y="3353395"/>
            <a:ext cx="2625000" cy="993600"/>
          </a:xfrm>
          <a:prstGeom prst="straightConnector1">
            <a:avLst/>
          </a:prstGeom>
          <a:noFill/>
          <a:ln cap="flat" cmpd="sng" w="20500">
            <a:solidFill>
              <a:srgbClr val="666666"/>
            </a:solidFill>
            <a:prstDash val="solid"/>
            <a:round/>
            <a:headEnd len="sm" w="sm" type="none"/>
            <a:tailEnd len="med" w="med" type="triangle"/>
          </a:ln>
        </p:spPr>
      </p:cxnSp>
      <p:cxnSp>
        <p:nvCxnSpPr>
          <p:cNvPr id="757" name="Google Shape;757;h36ece97b36a83fc5_0_259"/>
          <p:cNvCxnSpPr>
            <a:stCxn id="739" idx="3"/>
            <a:endCxn id="744" idx="1"/>
          </p:cNvCxnSpPr>
          <p:nvPr/>
        </p:nvCxnSpPr>
        <p:spPr>
          <a:xfrm>
            <a:off x="2135526" y="2366816"/>
            <a:ext cx="2625000" cy="628500"/>
          </a:xfrm>
          <a:prstGeom prst="straightConnector1">
            <a:avLst/>
          </a:prstGeom>
          <a:noFill/>
          <a:ln cap="flat" cmpd="sng" w="20500">
            <a:solidFill>
              <a:srgbClr val="666666"/>
            </a:solidFill>
            <a:prstDash val="solid"/>
            <a:round/>
            <a:headEnd len="sm" w="sm" type="none"/>
            <a:tailEnd len="med" w="med" type="triangle"/>
          </a:ln>
        </p:spPr>
      </p:cxnSp>
      <p:cxnSp>
        <p:nvCxnSpPr>
          <p:cNvPr id="758" name="Google Shape;758;h36ece97b36a83fc5_0_259"/>
          <p:cNvCxnSpPr>
            <a:stCxn id="739" idx="3"/>
            <a:endCxn id="749" idx="1"/>
          </p:cNvCxnSpPr>
          <p:nvPr/>
        </p:nvCxnSpPr>
        <p:spPr>
          <a:xfrm>
            <a:off x="2135526" y="2366816"/>
            <a:ext cx="2625000" cy="1233600"/>
          </a:xfrm>
          <a:prstGeom prst="straightConnector1">
            <a:avLst/>
          </a:prstGeom>
          <a:noFill/>
          <a:ln cap="flat" cmpd="sng" w="20500">
            <a:solidFill>
              <a:srgbClr val="000000"/>
            </a:solidFill>
            <a:prstDash val="solid"/>
            <a:round/>
            <a:headEnd len="sm" w="sm" type="none"/>
            <a:tailEnd len="med" w="med" type="triangle"/>
          </a:ln>
        </p:spPr>
      </p:cxnSp>
      <p:cxnSp>
        <p:nvCxnSpPr>
          <p:cNvPr id="759" name="Google Shape;759;h36ece97b36a83fc5_0_259"/>
          <p:cNvCxnSpPr>
            <a:stCxn id="737" idx="6"/>
            <a:endCxn id="749" idx="3"/>
          </p:cNvCxnSpPr>
          <p:nvPr/>
        </p:nvCxnSpPr>
        <p:spPr>
          <a:xfrm flipH="1" rot="10800000">
            <a:off x="2135532" y="3958495"/>
            <a:ext cx="2625000" cy="388500"/>
          </a:xfrm>
          <a:prstGeom prst="straightConnector1">
            <a:avLst/>
          </a:prstGeom>
          <a:noFill/>
          <a:ln cap="flat" cmpd="sng" w="20500">
            <a:solidFill>
              <a:srgbClr val="000000"/>
            </a:solidFill>
            <a:prstDash val="solid"/>
            <a:round/>
            <a:headEnd len="sm" w="sm" type="none"/>
            <a:tailEnd len="med" w="med" type="triangle"/>
          </a:ln>
        </p:spPr>
      </p:cxnSp>
      <p:cxnSp>
        <p:nvCxnSpPr>
          <p:cNvPr id="760" name="Google Shape;760;h36ece97b36a83fc5_0_259"/>
          <p:cNvCxnSpPr>
            <a:stCxn id="735" idx="6"/>
          </p:cNvCxnSpPr>
          <p:nvPr/>
        </p:nvCxnSpPr>
        <p:spPr>
          <a:xfrm>
            <a:off x="2135513" y="2942827"/>
            <a:ext cx="2529300" cy="777300"/>
          </a:xfrm>
          <a:prstGeom prst="straightConnector1">
            <a:avLst/>
          </a:prstGeom>
          <a:noFill/>
          <a:ln cap="flat" cmpd="sng" w="20500">
            <a:solidFill>
              <a:srgbClr val="000000"/>
            </a:solidFill>
            <a:prstDash val="solid"/>
            <a:round/>
            <a:headEnd len="sm" w="sm" type="none"/>
            <a:tailEnd len="med" w="med" type="triangle"/>
          </a:ln>
        </p:spPr>
      </p:cxnSp>
      <p:cxnSp>
        <p:nvCxnSpPr>
          <p:cNvPr id="761" name="Google Shape;761;h36ece97b36a83fc5_0_259"/>
          <p:cNvCxnSpPr>
            <a:stCxn id="736" idx="6"/>
          </p:cNvCxnSpPr>
          <p:nvPr/>
        </p:nvCxnSpPr>
        <p:spPr>
          <a:xfrm>
            <a:off x="2135532" y="3518800"/>
            <a:ext cx="2543100" cy="318300"/>
          </a:xfrm>
          <a:prstGeom prst="straightConnector1">
            <a:avLst/>
          </a:prstGeom>
          <a:noFill/>
          <a:ln cap="flat" cmpd="sng" w="20500">
            <a:solidFill>
              <a:srgbClr val="000000"/>
            </a:solidFill>
            <a:prstDash val="solid"/>
            <a:round/>
            <a:headEnd len="sm" w="sm" type="none"/>
            <a:tailEnd len="med" w="med" type="triangle"/>
          </a:ln>
        </p:spPr>
      </p:cxnSp>
      <p:sp>
        <p:nvSpPr>
          <p:cNvPr id="762" name="Google Shape;762;h36ece97b36a83fc5_0_259"/>
          <p:cNvSpPr/>
          <p:nvPr/>
        </p:nvSpPr>
        <p:spPr>
          <a:xfrm>
            <a:off x="6952088" y="28737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σ</a:t>
            </a:r>
            <a:endParaRPr b="0" sz="1241" strike="noStrike">
              <a:latin typeface="Arial"/>
              <a:ea typeface="Arial"/>
              <a:cs typeface="Arial"/>
              <a:sym typeface="Arial"/>
            </a:endParaRPr>
          </a:p>
        </p:txBody>
      </p:sp>
      <p:cxnSp>
        <p:nvCxnSpPr>
          <p:cNvPr id="763" name="Google Shape;763;h36ece97b36a83fc5_0_259"/>
          <p:cNvCxnSpPr>
            <a:stCxn id="748" idx="6"/>
          </p:cNvCxnSpPr>
          <p:nvPr/>
        </p:nvCxnSpPr>
        <p:spPr>
          <a:xfrm>
            <a:off x="5163138" y="2557894"/>
            <a:ext cx="1774800" cy="461100"/>
          </a:xfrm>
          <a:prstGeom prst="straightConnector1">
            <a:avLst/>
          </a:prstGeom>
          <a:noFill/>
          <a:ln cap="flat" cmpd="sng" w="20500">
            <a:solidFill>
              <a:srgbClr val="666666"/>
            </a:solidFill>
            <a:prstDash val="solid"/>
            <a:round/>
            <a:headEnd len="sm" w="sm" type="none"/>
            <a:tailEnd len="med" w="med" type="triangle"/>
          </a:ln>
        </p:spPr>
      </p:cxnSp>
      <p:cxnSp>
        <p:nvCxnSpPr>
          <p:cNvPr id="764" name="Google Shape;764;h36ece97b36a83fc5_0_259"/>
          <p:cNvCxnSpPr>
            <a:stCxn id="744" idx="6"/>
            <a:endCxn id="762" idx="2"/>
          </p:cNvCxnSpPr>
          <p:nvPr/>
        </p:nvCxnSpPr>
        <p:spPr>
          <a:xfrm flipH="1" rot="10800000">
            <a:off x="5192688" y="3126994"/>
            <a:ext cx="1759500" cy="47400"/>
          </a:xfrm>
          <a:prstGeom prst="straightConnector1">
            <a:avLst/>
          </a:prstGeom>
          <a:noFill/>
          <a:ln cap="flat" cmpd="sng" w="20500">
            <a:solidFill>
              <a:srgbClr val="666666"/>
            </a:solidFill>
            <a:prstDash val="solid"/>
            <a:round/>
            <a:headEnd len="sm" w="sm" type="none"/>
            <a:tailEnd len="med" w="med" type="triangle"/>
          </a:ln>
        </p:spPr>
      </p:cxnSp>
      <p:cxnSp>
        <p:nvCxnSpPr>
          <p:cNvPr id="765" name="Google Shape;765;h36ece97b36a83fc5_0_259"/>
          <p:cNvCxnSpPr>
            <a:stCxn id="749" idx="6"/>
          </p:cNvCxnSpPr>
          <p:nvPr/>
        </p:nvCxnSpPr>
        <p:spPr>
          <a:xfrm flipH="1" rot="10800000">
            <a:off x="5192688" y="3227219"/>
            <a:ext cx="1738500" cy="552300"/>
          </a:xfrm>
          <a:prstGeom prst="straightConnector1">
            <a:avLst/>
          </a:prstGeom>
          <a:noFill/>
          <a:ln cap="flat" cmpd="sng" w="20500">
            <a:solidFill>
              <a:srgbClr val="666666"/>
            </a:solidFill>
            <a:prstDash val="solid"/>
            <a:round/>
            <a:headEnd len="sm" w="sm" type="none"/>
            <a:tailEnd len="med" w="med" type="triangle"/>
          </a:ln>
        </p:spPr>
      </p:cxnSp>
      <p:sp>
        <p:nvSpPr>
          <p:cNvPr id="766" name="Google Shape;766;h36ece97b36a83fc5_0_259"/>
          <p:cNvSpPr txBox="1"/>
          <p:nvPr/>
        </p:nvSpPr>
        <p:spPr>
          <a:xfrm>
            <a:off x="5747085" y="4093803"/>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767" name="Google Shape;767;h36ece97b36a83fc5_0_259"/>
          <p:cNvSpPr/>
          <p:nvPr/>
        </p:nvSpPr>
        <p:spPr>
          <a:xfrm rot="5400000">
            <a:off x="7104488" y="1604103"/>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768" name="Google Shape;768;h36ece97b36a83fc5_0_259"/>
          <p:cNvSpPr txBox="1"/>
          <p:nvPr/>
        </p:nvSpPr>
        <p:spPr>
          <a:xfrm>
            <a:off x="1623860" y="12539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[0]</a:t>
            </a:r>
            <a:endParaRPr baseline="30000" sz="1800">
              <a:solidFill>
                <a:srgbClr val="0000FF"/>
              </a:solidFill>
              <a:latin typeface="Comfortaa"/>
              <a:ea typeface="Comfortaa"/>
              <a:cs typeface="Comfortaa"/>
              <a:sym typeface="Comfortaa"/>
            </a:endParaRPr>
          </a:p>
        </p:txBody>
      </p:sp>
      <p:sp>
        <p:nvSpPr>
          <p:cNvPr id="769" name="Google Shape;769;h36ece97b36a83fc5_0_259"/>
          <p:cNvSpPr txBox="1"/>
          <p:nvPr/>
        </p:nvSpPr>
        <p:spPr>
          <a:xfrm>
            <a:off x="4595085" y="8975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770" name="Google Shape;770;h36ece97b36a83fc5_0_259"/>
          <p:cNvSpPr txBox="1"/>
          <p:nvPr/>
        </p:nvSpPr>
        <p:spPr>
          <a:xfrm>
            <a:off x="6834635" y="13367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771" name="Google Shape;771;h36ece97b36a83fc5_0_259"/>
          <p:cNvSpPr/>
          <p:nvPr/>
        </p:nvSpPr>
        <p:spPr>
          <a:xfrm flipH="1" rot="5400000">
            <a:off x="3398388" y="3440028"/>
            <a:ext cx="125100" cy="24147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772" name="Google Shape;772;h36ece97b36a83fc5_0_259"/>
          <p:cNvSpPr/>
          <p:nvPr/>
        </p:nvSpPr>
        <p:spPr>
          <a:xfrm flipH="1" rot="5400000">
            <a:off x="6056413" y="3204453"/>
            <a:ext cx="125100" cy="16917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773" name="Google Shape;773;h36ece97b36a83fc5_0_259"/>
          <p:cNvSpPr txBox="1"/>
          <p:nvPr/>
        </p:nvSpPr>
        <p:spPr>
          <a:xfrm>
            <a:off x="3124248" y="191351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b</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774" name="Google Shape;774;h36ece97b36a83fc5_0_259"/>
          <p:cNvSpPr txBox="1"/>
          <p:nvPr/>
        </p:nvSpPr>
        <p:spPr>
          <a:xfrm>
            <a:off x="5776923" y="188796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b</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775" name="Google Shape;775;h36ece97b36a83fc5_0_259"/>
          <p:cNvSpPr/>
          <p:nvPr/>
        </p:nvSpPr>
        <p:spPr>
          <a:xfrm>
            <a:off x="4651013" y="1673881"/>
            <a:ext cx="506400" cy="506400"/>
          </a:xfrm>
          <a:prstGeom prst="ellipse">
            <a:avLst/>
          </a:prstGeom>
          <a:solidFill>
            <a:srgbClr val="FFFFFF"/>
          </a:solidFill>
          <a:ln cap="flat" cmpd="sng" w="26825">
            <a:solidFill>
              <a:srgbClr val="000000"/>
            </a:solidFill>
            <a:prstDash val="dash"/>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776" name="Google Shape;776;h36ece97b36a83fc5_0_259"/>
          <p:cNvSpPr txBox="1"/>
          <p:nvPr/>
        </p:nvSpPr>
        <p:spPr>
          <a:xfrm>
            <a:off x="4651026" y="1759954"/>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777" name="Google Shape;777;h36ece97b36a83fc5_0_259"/>
          <p:cNvCxnSpPr>
            <a:stCxn id="776" idx="3"/>
            <a:endCxn id="762" idx="1"/>
          </p:cNvCxnSpPr>
          <p:nvPr/>
        </p:nvCxnSpPr>
        <p:spPr>
          <a:xfrm>
            <a:off x="5157426" y="1927054"/>
            <a:ext cx="1868700" cy="1020900"/>
          </a:xfrm>
          <a:prstGeom prst="straightConnector1">
            <a:avLst/>
          </a:prstGeom>
          <a:noFill/>
          <a:ln cap="flat" cmpd="sng" w="20500">
            <a:solidFill>
              <a:srgbClr val="666666"/>
            </a:solidFill>
            <a:prstDash val="solid"/>
            <a:round/>
            <a:headEnd len="sm" w="sm" type="none"/>
            <a:tailEnd len="med" w="med" type="triangle"/>
          </a:ln>
        </p:spPr>
      </p:cxnSp>
      <p:sp>
        <p:nvSpPr>
          <p:cNvPr id="778" name="Google Shape;778;h36ece97b36a83fc5_0_259"/>
          <p:cNvSpPr/>
          <p:nvPr/>
        </p:nvSpPr>
        <p:spPr>
          <a:xfrm>
            <a:off x="1753850" y="551075"/>
            <a:ext cx="537000" cy="388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pt-BR" sz="1600">
                <a:latin typeface="Comfortaa"/>
                <a:ea typeface="Comfortaa"/>
                <a:cs typeface="Comfortaa"/>
                <a:sym typeface="Comfortaa"/>
              </a:rPr>
              <a:t>a</a:t>
            </a:r>
            <a:r>
              <a:rPr baseline="30000" lang="pt-BR" sz="1600">
                <a:latin typeface="Comfortaa"/>
                <a:ea typeface="Comfortaa"/>
                <a:cs typeface="Comfortaa"/>
                <a:sym typeface="Comfortaa"/>
              </a:rPr>
              <a:t>[0]</a:t>
            </a:r>
            <a:endParaRPr sz="1600">
              <a:solidFill>
                <a:schemeClr val="dk1"/>
              </a:solidFill>
              <a:latin typeface="Comfortaa"/>
              <a:ea typeface="Comfortaa"/>
              <a:cs typeface="Comfortaa"/>
              <a:sym typeface="Comforta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h36ece97b36a83fc5_0_308"/>
          <p:cNvSpPr txBox="1"/>
          <p:nvPr/>
        </p:nvSpPr>
        <p:spPr>
          <a:xfrm>
            <a:off x="6583350" y="4720400"/>
            <a:ext cx="25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adapted from (Jurafsky, 2026)</a:t>
            </a:r>
            <a:endParaRPr sz="1200">
              <a:solidFill>
                <a:srgbClr val="434343"/>
              </a:solidFill>
              <a:latin typeface="Comfortaa"/>
              <a:ea typeface="Comfortaa"/>
              <a:cs typeface="Comfortaa"/>
              <a:sym typeface="Comfortaa"/>
            </a:endParaRPr>
          </a:p>
        </p:txBody>
      </p:sp>
      <p:sp>
        <p:nvSpPr>
          <p:cNvPr id="784" name="Google Shape;784;h36ece97b36a83fc5_0_308"/>
          <p:cNvSpPr/>
          <p:nvPr/>
        </p:nvSpPr>
        <p:spPr>
          <a:xfrm>
            <a:off x="1629113" y="2689627"/>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785" name="Google Shape;785;h36ece97b36a83fc5_0_308"/>
          <p:cNvSpPr/>
          <p:nvPr/>
        </p:nvSpPr>
        <p:spPr>
          <a:xfrm>
            <a:off x="1629132" y="3265600"/>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786" name="Google Shape;786;h36ece97b36a83fc5_0_308"/>
          <p:cNvSpPr/>
          <p:nvPr/>
        </p:nvSpPr>
        <p:spPr>
          <a:xfrm>
            <a:off x="1629132" y="4093795"/>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787" name="Google Shape;787;h36ece97b36a83fc5_0_308"/>
          <p:cNvSpPr/>
          <p:nvPr/>
        </p:nvSpPr>
        <p:spPr>
          <a:xfrm>
            <a:off x="1629113" y="2113644"/>
            <a:ext cx="506400" cy="506400"/>
          </a:xfrm>
          <a:prstGeom prst="ellipse">
            <a:avLst/>
          </a:prstGeom>
          <a:solidFill>
            <a:srgbClr val="FFFFFF"/>
          </a:solidFill>
          <a:ln cap="flat" cmpd="sng" w="26825">
            <a:solidFill>
              <a:srgbClr val="000000"/>
            </a:solidFill>
            <a:prstDash val="dash"/>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788" name="Google Shape;788;h36ece97b36a83fc5_0_308"/>
          <p:cNvSpPr txBox="1"/>
          <p:nvPr/>
        </p:nvSpPr>
        <p:spPr>
          <a:xfrm>
            <a:off x="1629126" y="2199716"/>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grpSp>
        <p:nvGrpSpPr>
          <p:cNvPr id="789" name="Google Shape;789;h36ece97b36a83fc5_0_308"/>
          <p:cNvGrpSpPr/>
          <p:nvPr/>
        </p:nvGrpSpPr>
        <p:grpSpPr>
          <a:xfrm>
            <a:off x="1753845" y="3865858"/>
            <a:ext cx="288564" cy="74448"/>
            <a:chOff x="3272500" y="3440675"/>
            <a:chExt cx="372100" cy="96000"/>
          </a:xfrm>
        </p:grpSpPr>
        <p:sp>
          <p:nvSpPr>
            <p:cNvPr id="790" name="Google Shape;790;h36ece97b36a83fc5_0_308"/>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791" name="Google Shape;791;h36ece97b36a83fc5_0_308"/>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792" name="Google Shape;792;h36ece97b36a83fc5_0_308"/>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793" name="Google Shape;793;h36ece97b36a83fc5_0_308"/>
          <p:cNvSpPr/>
          <p:nvPr/>
        </p:nvSpPr>
        <p:spPr>
          <a:xfrm>
            <a:off x="4686288" y="29211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2</a:t>
            </a:r>
            <a:endParaRPr b="0" baseline="-25000" sz="1241" strike="noStrike">
              <a:latin typeface="Arial"/>
              <a:ea typeface="Arial"/>
              <a:cs typeface="Arial"/>
              <a:sym typeface="Arial"/>
            </a:endParaRPr>
          </a:p>
        </p:txBody>
      </p:sp>
      <p:sp>
        <p:nvSpPr>
          <p:cNvPr id="794" name="Google Shape;794;h36ece97b36a83fc5_0_308"/>
          <p:cNvSpPr/>
          <p:nvPr/>
        </p:nvSpPr>
        <p:spPr>
          <a:xfrm rot="5400000">
            <a:off x="1837913" y="1528653"/>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795" name="Google Shape;795;h36ece97b36a83fc5_0_308"/>
          <p:cNvSpPr/>
          <p:nvPr/>
        </p:nvSpPr>
        <p:spPr>
          <a:xfrm rot="5400000">
            <a:off x="4838688" y="1125553"/>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796" name="Google Shape;796;h36ece97b36a83fc5_0_308"/>
          <p:cNvSpPr txBox="1"/>
          <p:nvPr/>
        </p:nvSpPr>
        <p:spPr>
          <a:xfrm>
            <a:off x="3264660" y="4675903"/>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797" name="Google Shape;797;h36ece97b36a83fc5_0_308"/>
          <p:cNvSpPr/>
          <p:nvPr/>
        </p:nvSpPr>
        <p:spPr>
          <a:xfrm>
            <a:off x="4656738" y="23046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1</a:t>
            </a:r>
            <a:endParaRPr b="0" baseline="-25000" sz="1241" strike="noStrike">
              <a:latin typeface="Arial"/>
              <a:ea typeface="Arial"/>
              <a:cs typeface="Arial"/>
              <a:sym typeface="Arial"/>
            </a:endParaRPr>
          </a:p>
        </p:txBody>
      </p:sp>
      <p:sp>
        <p:nvSpPr>
          <p:cNvPr id="798" name="Google Shape;798;h36ece97b36a83fc5_0_308"/>
          <p:cNvSpPr/>
          <p:nvPr/>
        </p:nvSpPr>
        <p:spPr>
          <a:xfrm>
            <a:off x="4686288" y="352631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3</a:t>
            </a:r>
            <a:endParaRPr b="0" baseline="-25000" sz="1241" strike="noStrike">
              <a:latin typeface="Arial"/>
              <a:ea typeface="Arial"/>
              <a:cs typeface="Arial"/>
              <a:sym typeface="Arial"/>
            </a:endParaRPr>
          </a:p>
        </p:txBody>
      </p:sp>
      <p:cxnSp>
        <p:nvCxnSpPr>
          <p:cNvPr id="799" name="Google Shape;799;h36ece97b36a83fc5_0_308"/>
          <p:cNvCxnSpPr>
            <a:stCxn id="788" idx="3"/>
            <a:endCxn id="797" idx="1"/>
          </p:cNvCxnSpPr>
          <p:nvPr/>
        </p:nvCxnSpPr>
        <p:spPr>
          <a:xfrm>
            <a:off x="2135526" y="2366816"/>
            <a:ext cx="2595300" cy="12000"/>
          </a:xfrm>
          <a:prstGeom prst="straightConnector1">
            <a:avLst/>
          </a:prstGeom>
          <a:noFill/>
          <a:ln cap="flat" cmpd="sng" w="20500">
            <a:solidFill>
              <a:srgbClr val="B7B7B7"/>
            </a:solidFill>
            <a:prstDash val="solid"/>
            <a:round/>
            <a:headEnd len="sm" w="sm" type="none"/>
            <a:tailEnd len="med" w="med" type="triangle"/>
          </a:ln>
        </p:spPr>
      </p:cxnSp>
      <p:cxnSp>
        <p:nvCxnSpPr>
          <p:cNvPr id="800" name="Google Shape;800;h36ece97b36a83fc5_0_308"/>
          <p:cNvCxnSpPr>
            <a:stCxn id="784" idx="6"/>
          </p:cNvCxnSpPr>
          <p:nvPr/>
        </p:nvCxnSpPr>
        <p:spPr>
          <a:xfrm flipH="1" rot="10800000">
            <a:off x="2135513" y="2503027"/>
            <a:ext cx="2515500" cy="439800"/>
          </a:xfrm>
          <a:prstGeom prst="straightConnector1">
            <a:avLst/>
          </a:prstGeom>
          <a:noFill/>
          <a:ln cap="flat" cmpd="sng" w="20500">
            <a:solidFill>
              <a:srgbClr val="B7B7B7"/>
            </a:solidFill>
            <a:prstDash val="solid"/>
            <a:round/>
            <a:headEnd len="sm" w="sm" type="none"/>
            <a:tailEnd len="med" w="med" type="triangle"/>
          </a:ln>
        </p:spPr>
      </p:cxnSp>
      <p:cxnSp>
        <p:nvCxnSpPr>
          <p:cNvPr id="801" name="Google Shape;801;h36ece97b36a83fc5_0_308"/>
          <p:cNvCxnSpPr>
            <a:stCxn id="785" idx="6"/>
          </p:cNvCxnSpPr>
          <p:nvPr/>
        </p:nvCxnSpPr>
        <p:spPr>
          <a:xfrm flipH="1" rot="10800000">
            <a:off x="2135532" y="2640400"/>
            <a:ext cx="2529300" cy="878400"/>
          </a:xfrm>
          <a:prstGeom prst="straightConnector1">
            <a:avLst/>
          </a:prstGeom>
          <a:noFill/>
          <a:ln cap="flat" cmpd="sng" w="20500">
            <a:solidFill>
              <a:srgbClr val="B7B7B7"/>
            </a:solidFill>
            <a:prstDash val="solid"/>
            <a:round/>
            <a:headEnd len="sm" w="sm" type="none"/>
            <a:tailEnd len="med" w="med" type="triangle"/>
          </a:ln>
        </p:spPr>
      </p:cxnSp>
      <p:cxnSp>
        <p:nvCxnSpPr>
          <p:cNvPr id="802" name="Google Shape;802;h36ece97b36a83fc5_0_308"/>
          <p:cNvCxnSpPr>
            <a:stCxn id="786" idx="6"/>
            <a:endCxn id="797" idx="3"/>
          </p:cNvCxnSpPr>
          <p:nvPr/>
        </p:nvCxnSpPr>
        <p:spPr>
          <a:xfrm flipH="1" rot="10800000">
            <a:off x="2135532" y="2736895"/>
            <a:ext cx="2595300" cy="1610100"/>
          </a:xfrm>
          <a:prstGeom prst="straightConnector1">
            <a:avLst/>
          </a:prstGeom>
          <a:noFill/>
          <a:ln cap="flat" cmpd="sng" w="20500">
            <a:solidFill>
              <a:srgbClr val="B7B7B7"/>
            </a:solidFill>
            <a:prstDash val="solid"/>
            <a:round/>
            <a:headEnd len="sm" w="sm" type="none"/>
            <a:tailEnd len="med" w="med" type="triangle"/>
          </a:ln>
        </p:spPr>
      </p:cxnSp>
      <p:cxnSp>
        <p:nvCxnSpPr>
          <p:cNvPr id="803" name="Google Shape;803;h36ece97b36a83fc5_0_308"/>
          <p:cNvCxnSpPr>
            <a:stCxn id="784" idx="6"/>
          </p:cNvCxnSpPr>
          <p:nvPr/>
        </p:nvCxnSpPr>
        <p:spPr>
          <a:xfrm>
            <a:off x="2135513" y="2942827"/>
            <a:ext cx="2550000" cy="165300"/>
          </a:xfrm>
          <a:prstGeom prst="straightConnector1">
            <a:avLst/>
          </a:prstGeom>
          <a:noFill/>
          <a:ln cap="flat" cmpd="sng" w="20500">
            <a:solidFill>
              <a:srgbClr val="666666"/>
            </a:solidFill>
            <a:prstDash val="solid"/>
            <a:round/>
            <a:headEnd len="sm" w="sm" type="none"/>
            <a:tailEnd len="med" w="med" type="triangle"/>
          </a:ln>
        </p:spPr>
      </p:cxnSp>
      <p:cxnSp>
        <p:nvCxnSpPr>
          <p:cNvPr id="804" name="Google Shape;804;h36ece97b36a83fc5_0_308"/>
          <p:cNvCxnSpPr>
            <a:stCxn id="785" idx="6"/>
          </p:cNvCxnSpPr>
          <p:nvPr/>
        </p:nvCxnSpPr>
        <p:spPr>
          <a:xfrm flipH="1" rot="10800000">
            <a:off x="2135532" y="3232000"/>
            <a:ext cx="2543100" cy="286800"/>
          </a:xfrm>
          <a:prstGeom prst="straightConnector1">
            <a:avLst/>
          </a:prstGeom>
          <a:noFill/>
          <a:ln cap="flat" cmpd="sng" w="20500">
            <a:solidFill>
              <a:srgbClr val="666666"/>
            </a:solidFill>
            <a:prstDash val="solid"/>
            <a:round/>
            <a:headEnd len="sm" w="sm" type="none"/>
            <a:tailEnd len="med" w="med" type="triangle"/>
          </a:ln>
        </p:spPr>
      </p:cxnSp>
      <p:cxnSp>
        <p:nvCxnSpPr>
          <p:cNvPr id="805" name="Google Shape;805;h36ece97b36a83fc5_0_308"/>
          <p:cNvCxnSpPr>
            <a:stCxn id="786" idx="6"/>
            <a:endCxn id="793" idx="3"/>
          </p:cNvCxnSpPr>
          <p:nvPr/>
        </p:nvCxnSpPr>
        <p:spPr>
          <a:xfrm flipH="1" rot="10800000">
            <a:off x="2135532" y="3353395"/>
            <a:ext cx="2625000" cy="993600"/>
          </a:xfrm>
          <a:prstGeom prst="straightConnector1">
            <a:avLst/>
          </a:prstGeom>
          <a:noFill/>
          <a:ln cap="flat" cmpd="sng" w="20500">
            <a:solidFill>
              <a:srgbClr val="666666"/>
            </a:solidFill>
            <a:prstDash val="solid"/>
            <a:round/>
            <a:headEnd len="sm" w="sm" type="none"/>
            <a:tailEnd len="med" w="med" type="triangle"/>
          </a:ln>
        </p:spPr>
      </p:cxnSp>
      <p:cxnSp>
        <p:nvCxnSpPr>
          <p:cNvPr id="806" name="Google Shape;806;h36ece97b36a83fc5_0_308"/>
          <p:cNvCxnSpPr>
            <a:stCxn id="788" idx="3"/>
            <a:endCxn id="793" idx="1"/>
          </p:cNvCxnSpPr>
          <p:nvPr/>
        </p:nvCxnSpPr>
        <p:spPr>
          <a:xfrm>
            <a:off x="2135526" y="2366816"/>
            <a:ext cx="2625000" cy="628500"/>
          </a:xfrm>
          <a:prstGeom prst="straightConnector1">
            <a:avLst/>
          </a:prstGeom>
          <a:noFill/>
          <a:ln cap="flat" cmpd="sng" w="20500">
            <a:solidFill>
              <a:srgbClr val="666666"/>
            </a:solidFill>
            <a:prstDash val="solid"/>
            <a:round/>
            <a:headEnd len="sm" w="sm" type="none"/>
            <a:tailEnd len="med" w="med" type="triangle"/>
          </a:ln>
        </p:spPr>
      </p:cxnSp>
      <p:cxnSp>
        <p:nvCxnSpPr>
          <p:cNvPr id="807" name="Google Shape;807;h36ece97b36a83fc5_0_308"/>
          <p:cNvCxnSpPr>
            <a:stCxn id="788" idx="3"/>
            <a:endCxn id="798" idx="1"/>
          </p:cNvCxnSpPr>
          <p:nvPr/>
        </p:nvCxnSpPr>
        <p:spPr>
          <a:xfrm>
            <a:off x="2135526" y="2366816"/>
            <a:ext cx="2625000" cy="1233600"/>
          </a:xfrm>
          <a:prstGeom prst="straightConnector1">
            <a:avLst/>
          </a:prstGeom>
          <a:noFill/>
          <a:ln cap="flat" cmpd="sng" w="20500">
            <a:solidFill>
              <a:srgbClr val="000000"/>
            </a:solidFill>
            <a:prstDash val="solid"/>
            <a:round/>
            <a:headEnd len="sm" w="sm" type="none"/>
            <a:tailEnd len="med" w="med" type="triangle"/>
          </a:ln>
        </p:spPr>
      </p:cxnSp>
      <p:cxnSp>
        <p:nvCxnSpPr>
          <p:cNvPr id="808" name="Google Shape;808;h36ece97b36a83fc5_0_308"/>
          <p:cNvCxnSpPr>
            <a:stCxn id="786" idx="6"/>
            <a:endCxn id="798" idx="3"/>
          </p:cNvCxnSpPr>
          <p:nvPr/>
        </p:nvCxnSpPr>
        <p:spPr>
          <a:xfrm flipH="1" rot="10800000">
            <a:off x="2135532" y="3958495"/>
            <a:ext cx="2625000" cy="388500"/>
          </a:xfrm>
          <a:prstGeom prst="straightConnector1">
            <a:avLst/>
          </a:prstGeom>
          <a:noFill/>
          <a:ln cap="flat" cmpd="sng" w="20500">
            <a:solidFill>
              <a:srgbClr val="000000"/>
            </a:solidFill>
            <a:prstDash val="solid"/>
            <a:round/>
            <a:headEnd len="sm" w="sm" type="none"/>
            <a:tailEnd len="med" w="med" type="triangle"/>
          </a:ln>
        </p:spPr>
      </p:cxnSp>
      <p:cxnSp>
        <p:nvCxnSpPr>
          <p:cNvPr id="809" name="Google Shape;809;h36ece97b36a83fc5_0_308"/>
          <p:cNvCxnSpPr>
            <a:stCxn id="784" idx="6"/>
          </p:cNvCxnSpPr>
          <p:nvPr/>
        </p:nvCxnSpPr>
        <p:spPr>
          <a:xfrm>
            <a:off x="2135513" y="2942827"/>
            <a:ext cx="2529300" cy="777300"/>
          </a:xfrm>
          <a:prstGeom prst="straightConnector1">
            <a:avLst/>
          </a:prstGeom>
          <a:noFill/>
          <a:ln cap="flat" cmpd="sng" w="20500">
            <a:solidFill>
              <a:srgbClr val="000000"/>
            </a:solidFill>
            <a:prstDash val="solid"/>
            <a:round/>
            <a:headEnd len="sm" w="sm" type="none"/>
            <a:tailEnd len="med" w="med" type="triangle"/>
          </a:ln>
        </p:spPr>
      </p:cxnSp>
      <p:cxnSp>
        <p:nvCxnSpPr>
          <p:cNvPr id="810" name="Google Shape;810;h36ece97b36a83fc5_0_308"/>
          <p:cNvCxnSpPr>
            <a:stCxn id="785" idx="6"/>
          </p:cNvCxnSpPr>
          <p:nvPr/>
        </p:nvCxnSpPr>
        <p:spPr>
          <a:xfrm>
            <a:off x="2135532" y="3518800"/>
            <a:ext cx="2543100" cy="318300"/>
          </a:xfrm>
          <a:prstGeom prst="straightConnector1">
            <a:avLst/>
          </a:prstGeom>
          <a:noFill/>
          <a:ln cap="flat" cmpd="sng" w="20500">
            <a:solidFill>
              <a:srgbClr val="000000"/>
            </a:solidFill>
            <a:prstDash val="solid"/>
            <a:round/>
            <a:headEnd len="sm" w="sm" type="none"/>
            <a:tailEnd len="med" w="med" type="triangle"/>
          </a:ln>
        </p:spPr>
      </p:cxnSp>
      <p:sp>
        <p:nvSpPr>
          <p:cNvPr id="811" name="Google Shape;811;h36ece97b36a83fc5_0_308"/>
          <p:cNvSpPr/>
          <p:nvPr/>
        </p:nvSpPr>
        <p:spPr>
          <a:xfrm>
            <a:off x="6952088" y="28737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σ</a:t>
            </a:r>
            <a:endParaRPr b="0" sz="1241" strike="noStrike">
              <a:latin typeface="Arial"/>
              <a:ea typeface="Arial"/>
              <a:cs typeface="Arial"/>
              <a:sym typeface="Arial"/>
            </a:endParaRPr>
          </a:p>
        </p:txBody>
      </p:sp>
      <p:cxnSp>
        <p:nvCxnSpPr>
          <p:cNvPr id="812" name="Google Shape;812;h36ece97b36a83fc5_0_308"/>
          <p:cNvCxnSpPr>
            <a:stCxn id="797" idx="6"/>
          </p:cNvCxnSpPr>
          <p:nvPr/>
        </p:nvCxnSpPr>
        <p:spPr>
          <a:xfrm>
            <a:off x="5163138" y="2557894"/>
            <a:ext cx="1774800" cy="461100"/>
          </a:xfrm>
          <a:prstGeom prst="straightConnector1">
            <a:avLst/>
          </a:prstGeom>
          <a:noFill/>
          <a:ln cap="flat" cmpd="sng" w="20500">
            <a:solidFill>
              <a:srgbClr val="666666"/>
            </a:solidFill>
            <a:prstDash val="solid"/>
            <a:round/>
            <a:headEnd len="sm" w="sm" type="none"/>
            <a:tailEnd len="med" w="med" type="triangle"/>
          </a:ln>
        </p:spPr>
      </p:cxnSp>
      <p:cxnSp>
        <p:nvCxnSpPr>
          <p:cNvPr id="813" name="Google Shape;813;h36ece97b36a83fc5_0_308"/>
          <p:cNvCxnSpPr>
            <a:stCxn id="793" idx="6"/>
            <a:endCxn id="811" idx="2"/>
          </p:cNvCxnSpPr>
          <p:nvPr/>
        </p:nvCxnSpPr>
        <p:spPr>
          <a:xfrm flipH="1" rot="10800000">
            <a:off x="5192688" y="3126994"/>
            <a:ext cx="1759500" cy="47400"/>
          </a:xfrm>
          <a:prstGeom prst="straightConnector1">
            <a:avLst/>
          </a:prstGeom>
          <a:noFill/>
          <a:ln cap="flat" cmpd="sng" w="20500">
            <a:solidFill>
              <a:srgbClr val="666666"/>
            </a:solidFill>
            <a:prstDash val="solid"/>
            <a:round/>
            <a:headEnd len="sm" w="sm" type="none"/>
            <a:tailEnd len="med" w="med" type="triangle"/>
          </a:ln>
        </p:spPr>
      </p:cxnSp>
      <p:cxnSp>
        <p:nvCxnSpPr>
          <p:cNvPr id="814" name="Google Shape;814;h36ece97b36a83fc5_0_308"/>
          <p:cNvCxnSpPr>
            <a:stCxn id="798" idx="6"/>
          </p:cNvCxnSpPr>
          <p:nvPr/>
        </p:nvCxnSpPr>
        <p:spPr>
          <a:xfrm flipH="1" rot="10800000">
            <a:off x="5192688" y="3227219"/>
            <a:ext cx="1738500" cy="552300"/>
          </a:xfrm>
          <a:prstGeom prst="straightConnector1">
            <a:avLst/>
          </a:prstGeom>
          <a:noFill/>
          <a:ln cap="flat" cmpd="sng" w="20500">
            <a:solidFill>
              <a:srgbClr val="666666"/>
            </a:solidFill>
            <a:prstDash val="solid"/>
            <a:round/>
            <a:headEnd len="sm" w="sm" type="none"/>
            <a:tailEnd len="med" w="med" type="triangle"/>
          </a:ln>
        </p:spPr>
      </p:cxnSp>
      <p:sp>
        <p:nvSpPr>
          <p:cNvPr id="815" name="Google Shape;815;h36ece97b36a83fc5_0_308"/>
          <p:cNvSpPr txBox="1"/>
          <p:nvPr/>
        </p:nvSpPr>
        <p:spPr>
          <a:xfrm>
            <a:off x="5747085" y="4093803"/>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816" name="Google Shape;816;h36ece97b36a83fc5_0_308"/>
          <p:cNvSpPr/>
          <p:nvPr/>
        </p:nvSpPr>
        <p:spPr>
          <a:xfrm rot="5400000">
            <a:off x="7104488" y="1604103"/>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17" name="Google Shape;817;h36ece97b36a83fc5_0_308"/>
          <p:cNvSpPr txBox="1"/>
          <p:nvPr/>
        </p:nvSpPr>
        <p:spPr>
          <a:xfrm>
            <a:off x="1623860" y="12539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[0]</a:t>
            </a:r>
            <a:endParaRPr baseline="30000" sz="1800">
              <a:solidFill>
                <a:srgbClr val="0000FF"/>
              </a:solidFill>
              <a:latin typeface="Comfortaa"/>
              <a:ea typeface="Comfortaa"/>
              <a:cs typeface="Comfortaa"/>
              <a:sym typeface="Comfortaa"/>
            </a:endParaRPr>
          </a:p>
        </p:txBody>
      </p:sp>
      <p:sp>
        <p:nvSpPr>
          <p:cNvPr id="818" name="Google Shape;818;h36ece97b36a83fc5_0_308"/>
          <p:cNvSpPr txBox="1"/>
          <p:nvPr/>
        </p:nvSpPr>
        <p:spPr>
          <a:xfrm>
            <a:off x="4595085" y="8975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819" name="Google Shape;819;h36ece97b36a83fc5_0_308"/>
          <p:cNvSpPr txBox="1"/>
          <p:nvPr/>
        </p:nvSpPr>
        <p:spPr>
          <a:xfrm>
            <a:off x="6834635" y="13367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820" name="Google Shape;820;h36ece97b36a83fc5_0_308"/>
          <p:cNvSpPr/>
          <p:nvPr/>
        </p:nvSpPr>
        <p:spPr>
          <a:xfrm flipH="1" rot="5400000">
            <a:off x="3398388" y="3440028"/>
            <a:ext cx="125100" cy="24147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21" name="Google Shape;821;h36ece97b36a83fc5_0_308"/>
          <p:cNvSpPr/>
          <p:nvPr/>
        </p:nvSpPr>
        <p:spPr>
          <a:xfrm flipH="1" rot="5400000">
            <a:off x="6056413" y="3204453"/>
            <a:ext cx="125100" cy="16917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22" name="Google Shape;822;h36ece97b36a83fc5_0_308"/>
          <p:cNvSpPr txBox="1"/>
          <p:nvPr/>
        </p:nvSpPr>
        <p:spPr>
          <a:xfrm>
            <a:off x="3124248" y="191351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b</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823" name="Google Shape;823;h36ece97b36a83fc5_0_308"/>
          <p:cNvSpPr txBox="1"/>
          <p:nvPr/>
        </p:nvSpPr>
        <p:spPr>
          <a:xfrm>
            <a:off x="5776923" y="188796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b</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824" name="Google Shape;824;h36ece97b36a83fc5_0_308"/>
          <p:cNvSpPr/>
          <p:nvPr/>
        </p:nvSpPr>
        <p:spPr>
          <a:xfrm>
            <a:off x="4651013" y="1673881"/>
            <a:ext cx="506400" cy="506400"/>
          </a:xfrm>
          <a:prstGeom prst="ellipse">
            <a:avLst/>
          </a:prstGeom>
          <a:solidFill>
            <a:srgbClr val="FFFFFF"/>
          </a:solidFill>
          <a:ln cap="flat" cmpd="sng" w="26825">
            <a:solidFill>
              <a:srgbClr val="000000"/>
            </a:solidFill>
            <a:prstDash val="dash"/>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825" name="Google Shape;825;h36ece97b36a83fc5_0_308"/>
          <p:cNvSpPr txBox="1"/>
          <p:nvPr/>
        </p:nvSpPr>
        <p:spPr>
          <a:xfrm>
            <a:off x="4651026" y="1759954"/>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826" name="Google Shape;826;h36ece97b36a83fc5_0_308"/>
          <p:cNvCxnSpPr>
            <a:stCxn id="825" idx="3"/>
            <a:endCxn id="811" idx="1"/>
          </p:cNvCxnSpPr>
          <p:nvPr/>
        </p:nvCxnSpPr>
        <p:spPr>
          <a:xfrm>
            <a:off x="5157426" y="1927054"/>
            <a:ext cx="1868700" cy="1020900"/>
          </a:xfrm>
          <a:prstGeom prst="straightConnector1">
            <a:avLst/>
          </a:prstGeom>
          <a:noFill/>
          <a:ln cap="flat" cmpd="sng" w="20500">
            <a:solidFill>
              <a:srgbClr val="666666"/>
            </a:solidFill>
            <a:prstDash val="solid"/>
            <a:round/>
            <a:headEnd len="sm" w="sm" type="none"/>
            <a:tailEnd len="med" w="med" type="triangle"/>
          </a:ln>
        </p:spPr>
      </p:cxnSp>
      <p:sp>
        <p:nvSpPr>
          <p:cNvPr id="827" name="Google Shape;827;h36ece97b36a83fc5_0_308"/>
          <p:cNvSpPr/>
          <p:nvPr/>
        </p:nvSpPr>
        <p:spPr>
          <a:xfrm>
            <a:off x="1753850" y="551075"/>
            <a:ext cx="537000" cy="388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pt-BR" sz="1600">
                <a:latin typeface="Comfortaa"/>
                <a:ea typeface="Comfortaa"/>
                <a:cs typeface="Comfortaa"/>
                <a:sym typeface="Comfortaa"/>
              </a:rPr>
              <a:t>a</a:t>
            </a:r>
            <a:r>
              <a:rPr baseline="30000" lang="pt-BR" sz="1600">
                <a:latin typeface="Comfortaa"/>
                <a:ea typeface="Comfortaa"/>
                <a:cs typeface="Comfortaa"/>
                <a:sym typeface="Comfortaa"/>
              </a:rPr>
              <a:t>[0]</a:t>
            </a:r>
            <a:endParaRPr sz="1600">
              <a:solidFill>
                <a:schemeClr val="dk1"/>
              </a:solidFill>
              <a:latin typeface="Comfortaa"/>
              <a:ea typeface="Comfortaa"/>
              <a:cs typeface="Comfortaa"/>
              <a:sym typeface="Comfortaa"/>
            </a:endParaRPr>
          </a:p>
        </p:txBody>
      </p:sp>
      <p:sp>
        <p:nvSpPr>
          <p:cNvPr id="828" name="Google Shape;828;h36ece97b36a83fc5_0_308"/>
          <p:cNvSpPr/>
          <p:nvPr/>
        </p:nvSpPr>
        <p:spPr>
          <a:xfrm>
            <a:off x="4280700" y="54550"/>
            <a:ext cx="1565700" cy="878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pt-BR" sz="1600">
                <a:latin typeface="Comfortaa"/>
                <a:ea typeface="Comfortaa"/>
                <a:cs typeface="Comfortaa"/>
                <a:sym typeface="Comfortaa"/>
              </a:rPr>
              <a:t>a</a:t>
            </a:r>
            <a:r>
              <a:rPr baseline="30000" lang="pt-BR" sz="1600">
                <a:latin typeface="Comfortaa"/>
                <a:ea typeface="Comfortaa"/>
                <a:cs typeface="Comfortaa"/>
                <a:sym typeface="Comfortaa"/>
              </a:rPr>
              <a:t>[1]</a:t>
            </a:r>
            <a:r>
              <a:rPr lang="pt-BR" sz="1600">
                <a:latin typeface="Comfortaa"/>
                <a:ea typeface="Comfortaa"/>
                <a:cs typeface="Comfortaa"/>
                <a:sym typeface="Comfortaa"/>
              </a:rPr>
              <a:t>=g</a:t>
            </a:r>
            <a:r>
              <a:rPr baseline="30000" lang="pt-BR" sz="1600">
                <a:latin typeface="Comfortaa"/>
                <a:ea typeface="Comfortaa"/>
                <a:cs typeface="Comfortaa"/>
                <a:sym typeface="Comfortaa"/>
              </a:rPr>
              <a:t>[1]</a:t>
            </a:r>
            <a:r>
              <a:rPr lang="pt-BR" sz="1600">
                <a:latin typeface="Comfortaa"/>
                <a:ea typeface="Comfortaa"/>
                <a:cs typeface="Comfortaa"/>
                <a:sym typeface="Comfortaa"/>
              </a:rPr>
              <a:t>(z</a:t>
            </a:r>
            <a:r>
              <a:rPr baseline="30000" lang="pt-BR" sz="1600">
                <a:latin typeface="Comfortaa"/>
                <a:ea typeface="Comfortaa"/>
                <a:cs typeface="Comfortaa"/>
                <a:sym typeface="Comfortaa"/>
              </a:rPr>
              <a:t>[1]</a:t>
            </a:r>
            <a:r>
              <a:rPr lang="pt-BR" sz="1600">
                <a:latin typeface="Comfortaa"/>
                <a:ea typeface="Comfortaa"/>
                <a:cs typeface="Comfortaa"/>
                <a:sym typeface="Comfortaa"/>
              </a:rPr>
              <a:t>)</a:t>
            </a:r>
            <a:endParaRPr sz="1100">
              <a:latin typeface="Comfortaa"/>
              <a:ea typeface="Comfortaa"/>
              <a:cs typeface="Comfortaa"/>
              <a:sym typeface="Comfortaa"/>
            </a:endParaRPr>
          </a:p>
          <a:p>
            <a:pPr indent="0" lvl="0" marL="0" rtl="0" algn="l">
              <a:spcBef>
                <a:spcPts val="0"/>
              </a:spcBef>
              <a:spcAft>
                <a:spcPts val="0"/>
              </a:spcAft>
              <a:buNone/>
            </a:pPr>
            <a:r>
              <a:t/>
            </a:r>
            <a:endParaRPr sz="1600">
              <a:latin typeface="Comfortaa"/>
              <a:ea typeface="Comfortaa"/>
              <a:cs typeface="Comfortaa"/>
              <a:sym typeface="Comfortaa"/>
            </a:endParaRPr>
          </a:p>
          <a:p>
            <a:pPr indent="0" lvl="0" marL="0" rtl="0" algn="l">
              <a:spcBef>
                <a:spcPts val="0"/>
              </a:spcBef>
              <a:spcAft>
                <a:spcPts val="0"/>
              </a:spcAft>
              <a:buNone/>
            </a:pPr>
            <a:r>
              <a:rPr lang="pt-BR" sz="1600">
                <a:latin typeface="Comfortaa"/>
                <a:ea typeface="Comfortaa"/>
                <a:cs typeface="Comfortaa"/>
                <a:sym typeface="Comfortaa"/>
              </a:rPr>
              <a:t>z</a:t>
            </a:r>
            <a:r>
              <a:rPr baseline="30000" lang="pt-BR" sz="1600">
                <a:solidFill>
                  <a:schemeClr val="dk1"/>
                </a:solidFill>
                <a:latin typeface="Comfortaa"/>
                <a:ea typeface="Comfortaa"/>
                <a:cs typeface="Comfortaa"/>
                <a:sym typeface="Comfortaa"/>
              </a:rPr>
              <a:t>[1]</a:t>
            </a:r>
            <a:r>
              <a:rPr lang="pt-BR" sz="1600">
                <a:latin typeface="Comfortaa"/>
                <a:ea typeface="Comfortaa"/>
                <a:cs typeface="Comfortaa"/>
                <a:sym typeface="Comfortaa"/>
              </a:rPr>
              <a:t>=W</a:t>
            </a:r>
            <a:r>
              <a:rPr baseline="30000" lang="pt-BR" sz="1600">
                <a:solidFill>
                  <a:schemeClr val="dk1"/>
                </a:solidFill>
                <a:latin typeface="Comfortaa"/>
                <a:ea typeface="Comfortaa"/>
                <a:cs typeface="Comfortaa"/>
                <a:sym typeface="Comfortaa"/>
              </a:rPr>
              <a:t>[1]</a:t>
            </a:r>
            <a:r>
              <a:rPr lang="pt-BR" sz="1600">
                <a:latin typeface="Comfortaa"/>
                <a:ea typeface="Comfortaa"/>
                <a:cs typeface="Comfortaa"/>
                <a:sym typeface="Comfortaa"/>
              </a:rPr>
              <a:t>a</a:t>
            </a:r>
            <a:r>
              <a:rPr baseline="30000" lang="pt-BR" sz="1600">
                <a:solidFill>
                  <a:schemeClr val="dk1"/>
                </a:solidFill>
                <a:latin typeface="Comfortaa"/>
                <a:ea typeface="Comfortaa"/>
                <a:cs typeface="Comfortaa"/>
                <a:sym typeface="Comfortaa"/>
              </a:rPr>
              <a:t>[0]</a:t>
            </a:r>
            <a:r>
              <a:rPr lang="pt-BR" sz="1600">
                <a:latin typeface="Comfortaa"/>
                <a:ea typeface="Comfortaa"/>
                <a:cs typeface="Comfortaa"/>
                <a:sym typeface="Comfortaa"/>
              </a:rPr>
              <a:t>+b</a:t>
            </a:r>
            <a:r>
              <a:rPr baseline="30000" lang="pt-BR" sz="1600">
                <a:solidFill>
                  <a:schemeClr val="dk1"/>
                </a:solidFill>
                <a:latin typeface="Comfortaa"/>
                <a:ea typeface="Comfortaa"/>
                <a:cs typeface="Comfortaa"/>
                <a:sym typeface="Comfortaa"/>
              </a:rPr>
              <a:t>[1]</a:t>
            </a:r>
            <a:endParaRPr sz="1600">
              <a:solidFill>
                <a:schemeClr val="dk1"/>
              </a:solidFill>
              <a:latin typeface="Comfortaa"/>
              <a:ea typeface="Comfortaa"/>
              <a:cs typeface="Comfortaa"/>
              <a:sym typeface="Comfortaa"/>
            </a:endParaRPr>
          </a:p>
        </p:txBody>
      </p:sp>
      <p:sp>
        <p:nvSpPr>
          <p:cNvPr id="829" name="Google Shape;829;h36ece97b36a83fc5_0_308"/>
          <p:cNvSpPr txBox="1"/>
          <p:nvPr/>
        </p:nvSpPr>
        <p:spPr>
          <a:xfrm>
            <a:off x="3283350" y="384925"/>
            <a:ext cx="881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100">
                <a:solidFill>
                  <a:srgbClr val="9900FF"/>
                </a:solidFill>
                <a:latin typeface="Comfortaa"/>
                <a:ea typeface="Comfortaa"/>
                <a:cs typeface="Comfortaa"/>
                <a:sym typeface="Comfortaa"/>
              </a:rPr>
              <a:t>e.g., ReLU</a:t>
            </a:r>
            <a:endParaRPr>
              <a:solidFill>
                <a:srgbClr val="9900FF"/>
              </a:solidFill>
            </a:endParaRPr>
          </a:p>
        </p:txBody>
      </p:sp>
      <p:sp>
        <p:nvSpPr>
          <p:cNvPr id="830" name="Google Shape;830;h36ece97b36a83fc5_0_308"/>
          <p:cNvSpPr/>
          <p:nvPr/>
        </p:nvSpPr>
        <p:spPr>
          <a:xfrm flipH="1">
            <a:off x="4164454" y="429625"/>
            <a:ext cx="787492" cy="165304"/>
          </a:xfrm>
          <a:custGeom>
            <a:rect b="b" l="l" r="r" t="t"/>
            <a:pathLst>
              <a:path extrusionOk="0" h="6136" w="51244">
                <a:moveTo>
                  <a:pt x="3569" y="0"/>
                </a:moveTo>
                <a:cubicBezTo>
                  <a:pt x="3569" y="993"/>
                  <a:pt x="-4377" y="5250"/>
                  <a:pt x="3569" y="5959"/>
                </a:cubicBezTo>
                <a:cubicBezTo>
                  <a:pt x="11515" y="6668"/>
                  <a:pt x="43298" y="4540"/>
                  <a:pt x="51244" y="4256"/>
                </a:cubicBezTo>
              </a:path>
            </a:pathLst>
          </a:custGeom>
          <a:noFill/>
          <a:ln cap="flat" cmpd="sng" w="28575">
            <a:solidFill>
              <a:srgbClr val="9900FF"/>
            </a:solidFill>
            <a:prstDash val="solid"/>
            <a:round/>
            <a:headEnd len="med" w="med" type="none"/>
            <a:tailEnd len="med" w="med" type="none"/>
          </a:ln>
        </p:spPr>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h36ece97b36a83fc5_0_362"/>
          <p:cNvSpPr txBox="1"/>
          <p:nvPr/>
        </p:nvSpPr>
        <p:spPr>
          <a:xfrm>
            <a:off x="6583350" y="4720400"/>
            <a:ext cx="25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adapted from (Jurafsky, 2026)</a:t>
            </a:r>
            <a:endParaRPr sz="1200">
              <a:solidFill>
                <a:srgbClr val="434343"/>
              </a:solidFill>
              <a:latin typeface="Comfortaa"/>
              <a:ea typeface="Comfortaa"/>
              <a:cs typeface="Comfortaa"/>
              <a:sym typeface="Comfortaa"/>
            </a:endParaRPr>
          </a:p>
        </p:txBody>
      </p:sp>
      <p:sp>
        <p:nvSpPr>
          <p:cNvPr id="836" name="Google Shape;836;h36ece97b36a83fc5_0_362"/>
          <p:cNvSpPr/>
          <p:nvPr/>
        </p:nvSpPr>
        <p:spPr>
          <a:xfrm>
            <a:off x="1629113" y="2689627"/>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837" name="Google Shape;837;h36ece97b36a83fc5_0_362"/>
          <p:cNvSpPr/>
          <p:nvPr/>
        </p:nvSpPr>
        <p:spPr>
          <a:xfrm>
            <a:off x="1629132" y="3265600"/>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838" name="Google Shape;838;h36ece97b36a83fc5_0_362"/>
          <p:cNvSpPr/>
          <p:nvPr/>
        </p:nvSpPr>
        <p:spPr>
          <a:xfrm>
            <a:off x="1629132" y="4093795"/>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839" name="Google Shape;839;h36ece97b36a83fc5_0_362"/>
          <p:cNvSpPr/>
          <p:nvPr/>
        </p:nvSpPr>
        <p:spPr>
          <a:xfrm>
            <a:off x="1629113" y="2113644"/>
            <a:ext cx="506400" cy="506400"/>
          </a:xfrm>
          <a:prstGeom prst="ellipse">
            <a:avLst/>
          </a:prstGeom>
          <a:solidFill>
            <a:srgbClr val="FFFFFF"/>
          </a:solidFill>
          <a:ln cap="flat" cmpd="sng" w="26825">
            <a:solidFill>
              <a:srgbClr val="000000"/>
            </a:solidFill>
            <a:prstDash val="dash"/>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840" name="Google Shape;840;h36ece97b36a83fc5_0_362"/>
          <p:cNvSpPr txBox="1"/>
          <p:nvPr/>
        </p:nvSpPr>
        <p:spPr>
          <a:xfrm>
            <a:off x="1629126" y="2199716"/>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grpSp>
        <p:nvGrpSpPr>
          <p:cNvPr id="841" name="Google Shape;841;h36ece97b36a83fc5_0_362"/>
          <p:cNvGrpSpPr/>
          <p:nvPr/>
        </p:nvGrpSpPr>
        <p:grpSpPr>
          <a:xfrm>
            <a:off x="1753845" y="3865858"/>
            <a:ext cx="288564" cy="74448"/>
            <a:chOff x="3272500" y="3440675"/>
            <a:chExt cx="372100" cy="96000"/>
          </a:xfrm>
        </p:grpSpPr>
        <p:sp>
          <p:nvSpPr>
            <p:cNvPr id="842" name="Google Shape;842;h36ece97b36a83fc5_0_362"/>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843" name="Google Shape;843;h36ece97b36a83fc5_0_362"/>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844" name="Google Shape;844;h36ece97b36a83fc5_0_362"/>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845" name="Google Shape;845;h36ece97b36a83fc5_0_362"/>
          <p:cNvSpPr/>
          <p:nvPr/>
        </p:nvSpPr>
        <p:spPr>
          <a:xfrm>
            <a:off x="4686288" y="29211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2</a:t>
            </a:r>
            <a:endParaRPr b="0" baseline="-25000" sz="1241" strike="noStrike">
              <a:latin typeface="Arial"/>
              <a:ea typeface="Arial"/>
              <a:cs typeface="Arial"/>
              <a:sym typeface="Arial"/>
            </a:endParaRPr>
          </a:p>
        </p:txBody>
      </p:sp>
      <p:sp>
        <p:nvSpPr>
          <p:cNvPr id="846" name="Google Shape;846;h36ece97b36a83fc5_0_362"/>
          <p:cNvSpPr/>
          <p:nvPr/>
        </p:nvSpPr>
        <p:spPr>
          <a:xfrm rot="5400000">
            <a:off x="1837913" y="1528653"/>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47" name="Google Shape;847;h36ece97b36a83fc5_0_362"/>
          <p:cNvSpPr/>
          <p:nvPr/>
        </p:nvSpPr>
        <p:spPr>
          <a:xfrm rot="5400000">
            <a:off x="4838688" y="1125553"/>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48" name="Google Shape;848;h36ece97b36a83fc5_0_362"/>
          <p:cNvSpPr txBox="1"/>
          <p:nvPr/>
        </p:nvSpPr>
        <p:spPr>
          <a:xfrm>
            <a:off x="3264660" y="4675903"/>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849" name="Google Shape;849;h36ece97b36a83fc5_0_362"/>
          <p:cNvSpPr/>
          <p:nvPr/>
        </p:nvSpPr>
        <p:spPr>
          <a:xfrm>
            <a:off x="4656738" y="23046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1</a:t>
            </a:r>
            <a:endParaRPr b="0" baseline="-25000" sz="1241" strike="noStrike">
              <a:latin typeface="Arial"/>
              <a:ea typeface="Arial"/>
              <a:cs typeface="Arial"/>
              <a:sym typeface="Arial"/>
            </a:endParaRPr>
          </a:p>
        </p:txBody>
      </p:sp>
      <p:sp>
        <p:nvSpPr>
          <p:cNvPr id="850" name="Google Shape;850;h36ece97b36a83fc5_0_362"/>
          <p:cNvSpPr/>
          <p:nvPr/>
        </p:nvSpPr>
        <p:spPr>
          <a:xfrm>
            <a:off x="4686288" y="352631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r>
              <a:rPr baseline="-25000" lang="pt-BR">
                <a:solidFill>
                  <a:schemeClr val="dk1"/>
                </a:solidFill>
              </a:rPr>
              <a:t>3</a:t>
            </a:r>
            <a:endParaRPr b="0" baseline="-25000" sz="1241" strike="noStrike">
              <a:latin typeface="Arial"/>
              <a:ea typeface="Arial"/>
              <a:cs typeface="Arial"/>
              <a:sym typeface="Arial"/>
            </a:endParaRPr>
          </a:p>
        </p:txBody>
      </p:sp>
      <p:cxnSp>
        <p:nvCxnSpPr>
          <p:cNvPr id="851" name="Google Shape;851;h36ece97b36a83fc5_0_362"/>
          <p:cNvCxnSpPr>
            <a:stCxn id="840" idx="3"/>
            <a:endCxn id="849" idx="1"/>
          </p:cNvCxnSpPr>
          <p:nvPr/>
        </p:nvCxnSpPr>
        <p:spPr>
          <a:xfrm>
            <a:off x="2135526" y="2366816"/>
            <a:ext cx="2595300" cy="12000"/>
          </a:xfrm>
          <a:prstGeom prst="straightConnector1">
            <a:avLst/>
          </a:prstGeom>
          <a:noFill/>
          <a:ln cap="flat" cmpd="sng" w="20500">
            <a:solidFill>
              <a:srgbClr val="B7B7B7"/>
            </a:solidFill>
            <a:prstDash val="solid"/>
            <a:round/>
            <a:headEnd len="sm" w="sm" type="none"/>
            <a:tailEnd len="med" w="med" type="triangle"/>
          </a:ln>
        </p:spPr>
      </p:cxnSp>
      <p:cxnSp>
        <p:nvCxnSpPr>
          <p:cNvPr id="852" name="Google Shape;852;h36ece97b36a83fc5_0_362"/>
          <p:cNvCxnSpPr>
            <a:stCxn id="836" idx="6"/>
          </p:cNvCxnSpPr>
          <p:nvPr/>
        </p:nvCxnSpPr>
        <p:spPr>
          <a:xfrm flipH="1" rot="10800000">
            <a:off x="2135513" y="2503027"/>
            <a:ext cx="2515500" cy="439800"/>
          </a:xfrm>
          <a:prstGeom prst="straightConnector1">
            <a:avLst/>
          </a:prstGeom>
          <a:noFill/>
          <a:ln cap="flat" cmpd="sng" w="20500">
            <a:solidFill>
              <a:srgbClr val="B7B7B7"/>
            </a:solidFill>
            <a:prstDash val="solid"/>
            <a:round/>
            <a:headEnd len="sm" w="sm" type="none"/>
            <a:tailEnd len="med" w="med" type="triangle"/>
          </a:ln>
        </p:spPr>
      </p:cxnSp>
      <p:cxnSp>
        <p:nvCxnSpPr>
          <p:cNvPr id="853" name="Google Shape;853;h36ece97b36a83fc5_0_362"/>
          <p:cNvCxnSpPr>
            <a:stCxn id="837" idx="6"/>
          </p:cNvCxnSpPr>
          <p:nvPr/>
        </p:nvCxnSpPr>
        <p:spPr>
          <a:xfrm flipH="1" rot="10800000">
            <a:off x="2135532" y="2640400"/>
            <a:ext cx="2529300" cy="878400"/>
          </a:xfrm>
          <a:prstGeom prst="straightConnector1">
            <a:avLst/>
          </a:prstGeom>
          <a:noFill/>
          <a:ln cap="flat" cmpd="sng" w="20500">
            <a:solidFill>
              <a:srgbClr val="B7B7B7"/>
            </a:solidFill>
            <a:prstDash val="solid"/>
            <a:round/>
            <a:headEnd len="sm" w="sm" type="none"/>
            <a:tailEnd len="med" w="med" type="triangle"/>
          </a:ln>
        </p:spPr>
      </p:cxnSp>
      <p:cxnSp>
        <p:nvCxnSpPr>
          <p:cNvPr id="854" name="Google Shape;854;h36ece97b36a83fc5_0_362"/>
          <p:cNvCxnSpPr>
            <a:stCxn id="838" idx="6"/>
            <a:endCxn id="849" idx="3"/>
          </p:cNvCxnSpPr>
          <p:nvPr/>
        </p:nvCxnSpPr>
        <p:spPr>
          <a:xfrm flipH="1" rot="10800000">
            <a:off x="2135532" y="2736895"/>
            <a:ext cx="2595300" cy="1610100"/>
          </a:xfrm>
          <a:prstGeom prst="straightConnector1">
            <a:avLst/>
          </a:prstGeom>
          <a:noFill/>
          <a:ln cap="flat" cmpd="sng" w="20500">
            <a:solidFill>
              <a:srgbClr val="B7B7B7"/>
            </a:solidFill>
            <a:prstDash val="solid"/>
            <a:round/>
            <a:headEnd len="sm" w="sm" type="none"/>
            <a:tailEnd len="med" w="med" type="triangle"/>
          </a:ln>
        </p:spPr>
      </p:cxnSp>
      <p:cxnSp>
        <p:nvCxnSpPr>
          <p:cNvPr id="855" name="Google Shape;855;h36ece97b36a83fc5_0_362"/>
          <p:cNvCxnSpPr>
            <a:stCxn id="836" idx="6"/>
          </p:cNvCxnSpPr>
          <p:nvPr/>
        </p:nvCxnSpPr>
        <p:spPr>
          <a:xfrm>
            <a:off x="2135513" y="2942827"/>
            <a:ext cx="2550000" cy="165300"/>
          </a:xfrm>
          <a:prstGeom prst="straightConnector1">
            <a:avLst/>
          </a:prstGeom>
          <a:noFill/>
          <a:ln cap="flat" cmpd="sng" w="20500">
            <a:solidFill>
              <a:srgbClr val="666666"/>
            </a:solidFill>
            <a:prstDash val="solid"/>
            <a:round/>
            <a:headEnd len="sm" w="sm" type="none"/>
            <a:tailEnd len="med" w="med" type="triangle"/>
          </a:ln>
        </p:spPr>
      </p:cxnSp>
      <p:cxnSp>
        <p:nvCxnSpPr>
          <p:cNvPr id="856" name="Google Shape;856;h36ece97b36a83fc5_0_362"/>
          <p:cNvCxnSpPr>
            <a:stCxn id="837" idx="6"/>
          </p:cNvCxnSpPr>
          <p:nvPr/>
        </p:nvCxnSpPr>
        <p:spPr>
          <a:xfrm flipH="1" rot="10800000">
            <a:off x="2135532" y="3232000"/>
            <a:ext cx="2543100" cy="286800"/>
          </a:xfrm>
          <a:prstGeom prst="straightConnector1">
            <a:avLst/>
          </a:prstGeom>
          <a:noFill/>
          <a:ln cap="flat" cmpd="sng" w="20500">
            <a:solidFill>
              <a:srgbClr val="666666"/>
            </a:solidFill>
            <a:prstDash val="solid"/>
            <a:round/>
            <a:headEnd len="sm" w="sm" type="none"/>
            <a:tailEnd len="med" w="med" type="triangle"/>
          </a:ln>
        </p:spPr>
      </p:cxnSp>
      <p:cxnSp>
        <p:nvCxnSpPr>
          <p:cNvPr id="857" name="Google Shape;857;h36ece97b36a83fc5_0_362"/>
          <p:cNvCxnSpPr>
            <a:stCxn id="838" idx="6"/>
            <a:endCxn id="845" idx="3"/>
          </p:cNvCxnSpPr>
          <p:nvPr/>
        </p:nvCxnSpPr>
        <p:spPr>
          <a:xfrm flipH="1" rot="10800000">
            <a:off x="2135532" y="3353395"/>
            <a:ext cx="2625000" cy="993600"/>
          </a:xfrm>
          <a:prstGeom prst="straightConnector1">
            <a:avLst/>
          </a:prstGeom>
          <a:noFill/>
          <a:ln cap="flat" cmpd="sng" w="20500">
            <a:solidFill>
              <a:srgbClr val="666666"/>
            </a:solidFill>
            <a:prstDash val="solid"/>
            <a:round/>
            <a:headEnd len="sm" w="sm" type="none"/>
            <a:tailEnd len="med" w="med" type="triangle"/>
          </a:ln>
        </p:spPr>
      </p:cxnSp>
      <p:cxnSp>
        <p:nvCxnSpPr>
          <p:cNvPr id="858" name="Google Shape;858;h36ece97b36a83fc5_0_362"/>
          <p:cNvCxnSpPr>
            <a:stCxn id="840" idx="3"/>
            <a:endCxn id="845" idx="1"/>
          </p:cNvCxnSpPr>
          <p:nvPr/>
        </p:nvCxnSpPr>
        <p:spPr>
          <a:xfrm>
            <a:off x="2135526" y="2366816"/>
            <a:ext cx="2625000" cy="628500"/>
          </a:xfrm>
          <a:prstGeom prst="straightConnector1">
            <a:avLst/>
          </a:prstGeom>
          <a:noFill/>
          <a:ln cap="flat" cmpd="sng" w="20500">
            <a:solidFill>
              <a:srgbClr val="666666"/>
            </a:solidFill>
            <a:prstDash val="solid"/>
            <a:round/>
            <a:headEnd len="sm" w="sm" type="none"/>
            <a:tailEnd len="med" w="med" type="triangle"/>
          </a:ln>
        </p:spPr>
      </p:cxnSp>
      <p:cxnSp>
        <p:nvCxnSpPr>
          <p:cNvPr id="859" name="Google Shape;859;h36ece97b36a83fc5_0_362"/>
          <p:cNvCxnSpPr>
            <a:stCxn id="840" idx="3"/>
            <a:endCxn id="850" idx="1"/>
          </p:cNvCxnSpPr>
          <p:nvPr/>
        </p:nvCxnSpPr>
        <p:spPr>
          <a:xfrm>
            <a:off x="2135526" y="2366816"/>
            <a:ext cx="2625000" cy="1233600"/>
          </a:xfrm>
          <a:prstGeom prst="straightConnector1">
            <a:avLst/>
          </a:prstGeom>
          <a:noFill/>
          <a:ln cap="flat" cmpd="sng" w="20500">
            <a:solidFill>
              <a:srgbClr val="000000"/>
            </a:solidFill>
            <a:prstDash val="solid"/>
            <a:round/>
            <a:headEnd len="sm" w="sm" type="none"/>
            <a:tailEnd len="med" w="med" type="triangle"/>
          </a:ln>
        </p:spPr>
      </p:cxnSp>
      <p:cxnSp>
        <p:nvCxnSpPr>
          <p:cNvPr id="860" name="Google Shape;860;h36ece97b36a83fc5_0_362"/>
          <p:cNvCxnSpPr>
            <a:stCxn id="838" idx="6"/>
            <a:endCxn id="850" idx="3"/>
          </p:cNvCxnSpPr>
          <p:nvPr/>
        </p:nvCxnSpPr>
        <p:spPr>
          <a:xfrm flipH="1" rot="10800000">
            <a:off x="2135532" y="3958495"/>
            <a:ext cx="2625000" cy="388500"/>
          </a:xfrm>
          <a:prstGeom prst="straightConnector1">
            <a:avLst/>
          </a:prstGeom>
          <a:noFill/>
          <a:ln cap="flat" cmpd="sng" w="20500">
            <a:solidFill>
              <a:srgbClr val="000000"/>
            </a:solidFill>
            <a:prstDash val="solid"/>
            <a:round/>
            <a:headEnd len="sm" w="sm" type="none"/>
            <a:tailEnd len="med" w="med" type="triangle"/>
          </a:ln>
        </p:spPr>
      </p:cxnSp>
      <p:cxnSp>
        <p:nvCxnSpPr>
          <p:cNvPr id="861" name="Google Shape;861;h36ece97b36a83fc5_0_362"/>
          <p:cNvCxnSpPr>
            <a:stCxn id="836" idx="6"/>
          </p:cNvCxnSpPr>
          <p:nvPr/>
        </p:nvCxnSpPr>
        <p:spPr>
          <a:xfrm>
            <a:off x="2135513" y="2942827"/>
            <a:ext cx="2529300" cy="777300"/>
          </a:xfrm>
          <a:prstGeom prst="straightConnector1">
            <a:avLst/>
          </a:prstGeom>
          <a:noFill/>
          <a:ln cap="flat" cmpd="sng" w="20500">
            <a:solidFill>
              <a:srgbClr val="000000"/>
            </a:solidFill>
            <a:prstDash val="solid"/>
            <a:round/>
            <a:headEnd len="sm" w="sm" type="none"/>
            <a:tailEnd len="med" w="med" type="triangle"/>
          </a:ln>
        </p:spPr>
      </p:cxnSp>
      <p:cxnSp>
        <p:nvCxnSpPr>
          <p:cNvPr id="862" name="Google Shape;862;h36ece97b36a83fc5_0_362"/>
          <p:cNvCxnSpPr>
            <a:stCxn id="837" idx="6"/>
          </p:cNvCxnSpPr>
          <p:nvPr/>
        </p:nvCxnSpPr>
        <p:spPr>
          <a:xfrm>
            <a:off x="2135532" y="3518800"/>
            <a:ext cx="2543100" cy="318300"/>
          </a:xfrm>
          <a:prstGeom prst="straightConnector1">
            <a:avLst/>
          </a:prstGeom>
          <a:noFill/>
          <a:ln cap="flat" cmpd="sng" w="20500">
            <a:solidFill>
              <a:srgbClr val="000000"/>
            </a:solidFill>
            <a:prstDash val="solid"/>
            <a:round/>
            <a:headEnd len="sm" w="sm" type="none"/>
            <a:tailEnd len="med" w="med" type="triangle"/>
          </a:ln>
        </p:spPr>
      </p:cxnSp>
      <p:sp>
        <p:nvSpPr>
          <p:cNvPr id="863" name="Google Shape;863;h36ece97b36a83fc5_0_362"/>
          <p:cNvSpPr/>
          <p:nvPr/>
        </p:nvSpPr>
        <p:spPr>
          <a:xfrm>
            <a:off x="6952088" y="28737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σ</a:t>
            </a:r>
            <a:endParaRPr b="0" sz="1241" strike="noStrike">
              <a:latin typeface="Arial"/>
              <a:ea typeface="Arial"/>
              <a:cs typeface="Arial"/>
              <a:sym typeface="Arial"/>
            </a:endParaRPr>
          </a:p>
        </p:txBody>
      </p:sp>
      <p:cxnSp>
        <p:nvCxnSpPr>
          <p:cNvPr id="864" name="Google Shape;864;h36ece97b36a83fc5_0_362"/>
          <p:cNvCxnSpPr>
            <a:stCxn id="849" idx="6"/>
          </p:cNvCxnSpPr>
          <p:nvPr/>
        </p:nvCxnSpPr>
        <p:spPr>
          <a:xfrm>
            <a:off x="5163138" y="2557894"/>
            <a:ext cx="1774800" cy="461100"/>
          </a:xfrm>
          <a:prstGeom prst="straightConnector1">
            <a:avLst/>
          </a:prstGeom>
          <a:noFill/>
          <a:ln cap="flat" cmpd="sng" w="20500">
            <a:solidFill>
              <a:srgbClr val="666666"/>
            </a:solidFill>
            <a:prstDash val="solid"/>
            <a:round/>
            <a:headEnd len="sm" w="sm" type="none"/>
            <a:tailEnd len="med" w="med" type="triangle"/>
          </a:ln>
        </p:spPr>
      </p:cxnSp>
      <p:cxnSp>
        <p:nvCxnSpPr>
          <p:cNvPr id="865" name="Google Shape;865;h36ece97b36a83fc5_0_362"/>
          <p:cNvCxnSpPr>
            <a:stCxn id="845" idx="6"/>
            <a:endCxn id="863" idx="2"/>
          </p:cNvCxnSpPr>
          <p:nvPr/>
        </p:nvCxnSpPr>
        <p:spPr>
          <a:xfrm flipH="1" rot="10800000">
            <a:off x="5192688" y="3126994"/>
            <a:ext cx="1759500" cy="47400"/>
          </a:xfrm>
          <a:prstGeom prst="straightConnector1">
            <a:avLst/>
          </a:prstGeom>
          <a:noFill/>
          <a:ln cap="flat" cmpd="sng" w="20500">
            <a:solidFill>
              <a:srgbClr val="666666"/>
            </a:solidFill>
            <a:prstDash val="solid"/>
            <a:round/>
            <a:headEnd len="sm" w="sm" type="none"/>
            <a:tailEnd len="med" w="med" type="triangle"/>
          </a:ln>
        </p:spPr>
      </p:cxnSp>
      <p:cxnSp>
        <p:nvCxnSpPr>
          <p:cNvPr id="866" name="Google Shape;866;h36ece97b36a83fc5_0_362"/>
          <p:cNvCxnSpPr>
            <a:stCxn id="850" idx="6"/>
          </p:cNvCxnSpPr>
          <p:nvPr/>
        </p:nvCxnSpPr>
        <p:spPr>
          <a:xfrm flipH="1" rot="10800000">
            <a:off x="5192688" y="3227219"/>
            <a:ext cx="1738500" cy="552300"/>
          </a:xfrm>
          <a:prstGeom prst="straightConnector1">
            <a:avLst/>
          </a:prstGeom>
          <a:noFill/>
          <a:ln cap="flat" cmpd="sng" w="20500">
            <a:solidFill>
              <a:srgbClr val="666666"/>
            </a:solidFill>
            <a:prstDash val="solid"/>
            <a:round/>
            <a:headEnd len="sm" w="sm" type="none"/>
            <a:tailEnd len="med" w="med" type="triangle"/>
          </a:ln>
        </p:spPr>
      </p:cxnSp>
      <p:sp>
        <p:nvSpPr>
          <p:cNvPr id="867" name="Google Shape;867;h36ece97b36a83fc5_0_362"/>
          <p:cNvSpPr txBox="1"/>
          <p:nvPr/>
        </p:nvSpPr>
        <p:spPr>
          <a:xfrm>
            <a:off x="5747085" y="4093803"/>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868" name="Google Shape;868;h36ece97b36a83fc5_0_362"/>
          <p:cNvSpPr/>
          <p:nvPr/>
        </p:nvSpPr>
        <p:spPr>
          <a:xfrm rot="5400000">
            <a:off x="7104488" y="1604103"/>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69" name="Google Shape;869;h36ece97b36a83fc5_0_362"/>
          <p:cNvSpPr txBox="1"/>
          <p:nvPr/>
        </p:nvSpPr>
        <p:spPr>
          <a:xfrm>
            <a:off x="1623860" y="12539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[0]</a:t>
            </a:r>
            <a:endParaRPr baseline="30000" sz="1800">
              <a:solidFill>
                <a:srgbClr val="0000FF"/>
              </a:solidFill>
              <a:latin typeface="Comfortaa"/>
              <a:ea typeface="Comfortaa"/>
              <a:cs typeface="Comfortaa"/>
              <a:sym typeface="Comfortaa"/>
            </a:endParaRPr>
          </a:p>
        </p:txBody>
      </p:sp>
      <p:sp>
        <p:nvSpPr>
          <p:cNvPr id="870" name="Google Shape;870;h36ece97b36a83fc5_0_362"/>
          <p:cNvSpPr txBox="1"/>
          <p:nvPr/>
        </p:nvSpPr>
        <p:spPr>
          <a:xfrm>
            <a:off x="4595085" y="8975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871" name="Google Shape;871;h36ece97b36a83fc5_0_362"/>
          <p:cNvSpPr txBox="1"/>
          <p:nvPr/>
        </p:nvSpPr>
        <p:spPr>
          <a:xfrm>
            <a:off x="6834635" y="13367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872" name="Google Shape;872;h36ece97b36a83fc5_0_362"/>
          <p:cNvSpPr/>
          <p:nvPr/>
        </p:nvSpPr>
        <p:spPr>
          <a:xfrm flipH="1" rot="5400000">
            <a:off x="3398388" y="3440028"/>
            <a:ext cx="125100" cy="24147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73" name="Google Shape;873;h36ece97b36a83fc5_0_362"/>
          <p:cNvSpPr/>
          <p:nvPr/>
        </p:nvSpPr>
        <p:spPr>
          <a:xfrm flipH="1" rot="5400000">
            <a:off x="6056413" y="3204453"/>
            <a:ext cx="125100" cy="16917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74" name="Google Shape;874;h36ece97b36a83fc5_0_362"/>
          <p:cNvSpPr txBox="1"/>
          <p:nvPr/>
        </p:nvSpPr>
        <p:spPr>
          <a:xfrm>
            <a:off x="3124248" y="191351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b</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875" name="Google Shape;875;h36ece97b36a83fc5_0_362"/>
          <p:cNvSpPr txBox="1"/>
          <p:nvPr/>
        </p:nvSpPr>
        <p:spPr>
          <a:xfrm>
            <a:off x="5776923" y="188796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b</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876" name="Google Shape;876;h36ece97b36a83fc5_0_362"/>
          <p:cNvSpPr/>
          <p:nvPr/>
        </p:nvSpPr>
        <p:spPr>
          <a:xfrm>
            <a:off x="4651013" y="1673881"/>
            <a:ext cx="506400" cy="506400"/>
          </a:xfrm>
          <a:prstGeom prst="ellipse">
            <a:avLst/>
          </a:prstGeom>
          <a:solidFill>
            <a:srgbClr val="FFFFFF"/>
          </a:solidFill>
          <a:ln cap="flat" cmpd="sng" w="26825">
            <a:solidFill>
              <a:srgbClr val="000000"/>
            </a:solidFill>
            <a:prstDash val="dash"/>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877" name="Google Shape;877;h36ece97b36a83fc5_0_362"/>
          <p:cNvSpPr txBox="1"/>
          <p:nvPr/>
        </p:nvSpPr>
        <p:spPr>
          <a:xfrm>
            <a:off x="4651026" y="1759954"/>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878" name="Google Shape;878;h36ece97b36a83fc5_0_362"/>
          <p:cNvCxnSpPr>
            <a:stCxn id="877" idx="3"/>
            <a:endCxn id="863" idx="1"/>
          </p:cNvCxnSpPr>
          <p:nvPr/>
        </p:nvCxnSpPr>
        <p:spPr>
          <a:xfrm>
            <a:off x="5157426" y="1927054"/>
            <a:ext cx="1868700" cy="1020900"/>
          </a:xfrm>
          <a:prstGeom prst="straightConnector1">
            <a:avLst/>
          </a:prstGeom>
          <a:noFill/>
          <a:ln cap="flat" cmpd="sng" w="20500">
            <a:solidFill>
              <a:srgbClr val="666666"/>
            </a:solidFill>
            <a:prstDash val="solid"/>
            <a:round/>
            <a:headEnd len="sm" w="sm" type="none"/>
            <a:tailEnd len="med" w="med" type="triangle"/>
          </a:ln>
        </p:spPr>
      </p:cxnSp>
      <p:sp>
        <p:nvSpPr>
          <p:cNvPr id="879" name="Google Shape;879;h36ece97b36a83fc5_0_362"/>
          <p:cNvSpPr/>
          <p:nvPr/>
        </p:nvSpPr>
        <p:spPr>
          <a:xfrm>
            <a:off x="1753850" y="551075"/>
            <a:ext cx="537000" cy="388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pt-BR" sz="1600">
                <a:latin typeface="Comfortaa"/>
                <a:ea typeface="Comfortaa"/>
                <a:cs typeface="Comfortaa"/>
                <a:sym typeface="Comfortaa"/>
              </a:rPr>
              <a:t>a</a:t>
            </a:r>
            <a:r>
              <a:rPr baseline="30000" lang="pt-BR" sz="1600">
                <a:latin typeface="Comfortaa"/>
                <a:ea typeface="Comfortaa"/>
                <a:cs typeface="Comfortaa"/>
                <a:sym typeface="Comfortaa"/>
              </a:rPr>
              <a:t>[0]</a:t>
            </a:r>
            <a:endParaRPr sz="1600">
              <a:solidFill>
                <a:schemeClr val="dk1"/>
              </a:solidFill>
              <a:latin typeface="Comfortaa"/>
              <a:ea typeface="Comfortaa"/>
              <a:cs typeface="Comfortaa"/>
              <a:sym typeface="Comfortaa"/>
            </a:endParaRPr>
          </a:p>
        </p:txBody>
      </p:sp>
      <p:sp>
        <p:nvSpPr>
          <p:cNvPr id="880" name="Google Shape;880;h36ece97b36a83fc5_0_362"/>
          <p:cNvSpPr/>
          <p:nvPr/>
        </p:nvSpPr>
        <p:spPr>
          <a:xfrm>
            <a:off x="4280700" y="54550"/>
            <a:ext cx="1565700" cy="878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pt-BR" sz="1600">
                <a:latin typeface="Comfortaa"/>
                <a:ea typeface="Comfortaa"/>
                <a:cs typeface="Comfortaa"/>
                <a:sym typeface="Comfortaa"/>
              </a:rPr>
              <a:t>a</a:t>
            </a:r>
            <a:r>
              <a:rPr baseline="30000" lang="pt-BR" sz="1600">
                <a:latin typeface="Comfortaa"/>
                <a:ea typeface="Comfortaa"/>
                <a:cs typeface="Comfortaa"/>
                <a:sym typeface="Comfortaa"/>
              </a:rPr>
              <a:t>[1]</a:t>
            </a:r>
            <a:r>
              <a:rPr lang="pt-BR" sz="1600">
                <a:latin typeface="Comfortaa"/>
                <a:ea typeface="Comfortaa"/>
                <a:cs typeface="Comfortaa"/>
                <a:sym typeface="Comfortaa"/>
              </a:rPr>
              <a:t>=g</a:t>
            </a:r>
            <a:r>
              <a:rPr baseline="30000" lang="pt-BR" sz="1600">
                <a:latin typeface="Comfortaa"/>
                <a:ea typeface="Comfortaa"/>
                <a:cs typeface="Comfortaa"/>
                <a:sym typeface="Comfortaa"/>
              </a:rPr>
              <a:t>[1]</a:t>
            </a:r>
            <a:r>
              <a:rPr lang="pt-BR" sz="1600">
                <a:latin typeface="Comfortaa"/>
                <a:ea typeface="Comfortaa"/>
                <a:cs typeface="Comfortaa"/>
                <a:sym typeface="Comfortaa"/>
              </a:rPr>
              <a:t>(z</a:t>
            </a:r>
            <a:r>
              <a:rPr baseline="30000" lang="pt-BR" sz="1600">
                <a:latin typeface="Comfortaa"/>
                <a:ea typeface="Comfortaa"/>
                <a:cs typeface="Comfortaa"/>
                <a:sym typeface="Comfortaa"/>
              </a:rPr>
              <a:t>[1]</a:t>
            </a:r>
            <a:r>
              <a:rPr lang="pt-BR" sz="1600">
                <a:latin typeface="Comfortaa"/>
                <a:ea typeface="Comfortaa"/>
                <a:cs typeface="Comfortaa"/>
                <a:sym typeface="Comfortaa"/>
              </a:rPr>
              <a:t>)</a:t>
            </a:r>
            <a:endParaRPr sz="1100">
              <a:latin typeface="Comfortaa"/>
              <a:ea typeface="Comfortaa"/>
              <a:cs typeface="Comfortaa"/>
              <a:sym typeface="Comfortaa"/>
            </a:endParaRPr>
          </a:p>
          <a:p>
            <a:pPr indent="0" lvl="0" marL="0" rtl="0" algn="l">
              <a:spcBef>
                <a:spcPts val="0"/>
              </a:spcBef>
              <a:spcAft>
                <a:spcPts val="0"/>
              </a:spcAft>
              <a:buNone/>
            </a:pPr>
            <a:r>
              <a:t/>
            </a:r>
            <a:endParaRPr sz="1600">
              <a:latin typeface="Comfortaa"/>
              <a:ea typeface="Comfortaa"/>
              <a:cs typeface="Comfortaa"/>
              <a:sym typeface="Comfortaa"/>
            </a:endParaRPr>
          </a:p>
          <a:p>
            <a:pPr indent="0" lvl="0" marL="0" rtl="0" algn="l">
              <a:spcBef>
                <a:spcPts val="0"/>
              </a:spcBef>
              <a:spcAft>
                <a:spcPts val="0"/>
              </a:spcAft>
              <a:buNone/>
            </a:pPr>
            <a:r>
              <a:rPr lang="pt-BR" sz="1600">
                <a:latin typeface="Comfortaa"/>
                <a:ea typeface="Comfortaa"/>
                <a:cs typeface="Comfortaa"/>
                <a:sym typeface="Comfortaa"/>
              </a:rPr>
              <a:t>z</a:t>
            </a:r>
            <a:r>
              <a:rPr baseline="30000" lang="pt-BR" sz="1600">
                <a:solidFill>
                  <a:schemeClr val="dk1"/>
                </a:solidFill>
                <a:latin typeface="Comfortaa"/>
                <a:ea typeface="Comfortaa"/>
                <a:cs typeface="Comfortaa"/>
                <a:sym typeface="Comfortaa"/>
              </a:rPr>
              <a:t>[1]</a:t>
            </a:r>
            <a:r>
              <a:rPr lang="pt-BR" sz="1600">
                <a:latin typeface="Comfortaa"/>
                <a:ea typeface="Comfortaa"/>
                <a:cs typeface="Comfortaa"/>
                <a:sym typeface="Comfortaa"/>
              </a:rPr>
              <a:t>=W</a:t>
            </a:r>
            <a:r>
              <a:rPr baseline="30000" lang="pt-BR" sz="1600">
                <a:solidFill>
                  <a:schemeClr val="dk1"/>
                </a:solidFill>
                <a:latin typeface="Comfortaa"/>
                <a:ea typeface="Comfortaa"/>
                <a:cs typeface="Comfortaa"/>
                <a:sym typeface="Comfortaa"/>
              </a:rPr>
              <a:t>[1]</a:t>
            </a:r>
            <a:r>
              <a:rPr lang="pt-BR" sz="1600">
                <a:latin typeface="Comfortaa"/>
                <a:ea typeface="Comfortaa"/>
                <a:cs typeface="Comfortaa"/>
                <a:sym typeface="Comfortaa"/>
              </a:rPr>
              <a:t>a</a:t>
            </a:r>
            <a:r>
              <a:rPr baseline="30000" lang="pt-BR" sz="1600">
                <a:solidFill>
                  <a:schemeClr val="dk1"/>
                </a:solidFill>
                <a:latin typeface="Comfortaa"/>
                <a:ea typeface="Comfortaa"/>
                <a:cs typeface="Comfortaa"/>
                <a:sym typeface="Comfortaa"/>
              </a:rPr>
              <a:t>[0]</a:t>
            </a:r>
            <a:r>
              <a:rPr lang="pt-BR" sz="1600">
                <a:latin typeface="Comfortaa"/>
                <a:ea typeface="Comfortaa"/>
                <a:cs typeface="Comfortaa"/>
                <a:sym typeface="Comfortaa"/>
              </a:rPr>
              <a:t>+b</a:t>
            </a:r>
            <a:r>
              <a:rPr baseline="30000" lang="pt-BR" sz="1600">
                <a:solidFill>
                  <a:schemeClr val="dk1"/>
                </a:solidFill>
                <a:latin typeface="Comfortaa"/>
                <a:ea typeface="Comfortaa"/>
                <a:cs typeface="Comfortaa"/>
                <a:sym typeface="Comfortaa"/>
              </a:rPr>
              <a:t>[1]</a:t>
            </a:r>
            <a:endParaRPr sz="1600">
              <a:solidFill>
                <a:schemeClr val="dk1"/>
              </a:solidFill>
              <a:latin typeface="Comfortaa"/>
              <a:ea typeface="Comfortaa"/>
              <a:cs typeface="Comfortaa"/>
              <a:sym typeface="Comfortaa"/>
            </a:endParaRPr>
          </a:p>
        </p:txBody>
      </p:sp>
      <p:sp>
        <p:nvSpPr>
          <p:cNvPr id="881" name="Google Shape;881;h36ece97b36a83fc5_0_362"/>
          <p:cNvSpPr txBox="1"/>
          <p:nvPr/>
        </p:nvSpPr>
        <p:spPr>
          <a:xfrm>
            <a:off x="3283350" y="384925"/>
            <a:ext cx="881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100">
                <a:solidFill>
                  <a:srgbClr val="9900FF"/>
                </a:solidFill>
                <a:latin typeface="Comfortaa"/>
                <a:ea typeface="Comfortaa"/>
                <a:cs typeface="Comfortaa"/>
                <a:sym typeface="Comfortaa"/>
              </a:rPr>
              <a:t>e.g., ReLU</a:t>
            </a:r>
            <a:endParaRPr>
              <a:solidFill>
                <a:srgbClr val="9900FF"/>
              </a:solidFill>
            </a:endParaRPr>
          </a:p>
        </p:txBody>
      </p:sp>
      <p:sp>
        <p:nvSpPr>
          <p:cNvPr id="882" name="Google Shape;882;h36ece97b36a83fc5_0_362"/>
          <p:cNvSpPr/>
          <p:nvPr/>
        </p:nvSpPr>
        <p:spPr>
          <a:xfrm flipH="1">
            <a:off x="4164454" y="429625"/>
            <a:ext cx="787492" cy="165304"/>
          </a:xfrm>
          <a:custGeom>
            <a:rect b="b" l="l" r="r" t="t"/>
            <a:pathLst>
              <a:path extrusionOk="0" h="6136" w="51244">
                <a:moveTo>
                  <a:pt x="3569" y="0"/>
                </a:moveTo>
                <a:cubicBezTo>
                  <a:pt x="3569" y="993"/>
                  <a:pt x="-4377" y="5250"/>
                  <a:pt x="3569" y="5959"/>
                </a:cubicBezTo>
                <a:cubicBezTo>
                  <a:pt x="11515" y="6668"/>
                  <a:pt x="43298" y="4540"/>
                  <a:pt x="51244" y="4256"/>
                </a:cubicBezTo>
              </a:path>
            </a:pathLst>
          </a:custGeom>
          <a:noFill/>
          <a:ln cap="flat" cmpd="sng" w="28575">
            <a:solidFill>
              <a:srgbClr val="9900FF"/>
            </a:solidFill>
            <a:prstDash val="solid"/>
            <a:round/>
            <a:headEnd len="med" w="med" type="none"/>
            <a:tailEnd len="med" w="med" type="none"/>
          </a:ln>
        </p:spPr>
      </p:sp>
      <p:sp>
        <p:nvSpPr>
          <p:cNvPr id="883" name="Google Shape;883;h36ece97b36a83fc5_0_362"/>
          <p:cNvSpPr/>
          <p:nvPr/>
        </p:nvSpPr>
        <p:spPr>
          <a:xfrm>
            <a:off x="6475950" y="99125"/>
            <a:ext cx="1565700" cy="1292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pt-BR" sz="1600">
                <a:latin typeface="Comfortaa"/>
                <a:ea typeface="Comfortaa"/>
                <a:cs typeface="Comfortaa"/>
                <a:sym typeface="Comfortaa"/>
              </a:rPr>
              <a:t>y=a</a:t>
            </a:r>
            <a:r>
              <a:rPr baseline="30000" lang="pt-BR" sz="1600">
                <a:latin typeface="Comfortaa"/>
                <a:ea typeface="Comfortaa"/>
                <a:cs typeface="Comfortaa"/>
                <a:sym typeface="Comfortaa"/>
              </a:rPr>
              <a:t>[2]</a:t>
            </a:r>
            <a:endParaRPr baseline="30000" sz="1600">
              <a:latin typeface="Comfortaa"/>
              <a:ea typeface="Comfortaa"/>
              <a:cs typeface="Comfortaa"/>
              <a:sym typeface="Comfortaa"/>
            </a:endParaRPr>
          </a:p>
          <a:p>
            <a:pPr indent="0" lvl="0" marL="0" rtl="0" algn="l">
              <a:spcBef>
                <a:spcPts val="0"/>
              </a:spcBef>
              <a:spcAft>
                <a:spcPts val="0"/>
              </a:spcAft>
              <a:buNone/>
            </a:pPr>
            <a:r>
              <a:t/>
            </a:r>
            <a:endParaRPr sz="1600">
              <a:latin typeface="Comfortaa"/>
              <a:ea typeface="Comfortaa"/>
              <a:cs typeface="Comfortaa"/>
              <a:sym typeface="Comfortaa"/>
            </a:endParaRPr>
          </a:p>
          <a:p>
            <a:pPr indent="0" lvl="0" marL="0" rtl="0" algn="l">
              <a:spcBef>
                <a:spcPts val="0"/>
              </a:spcBef>
              <a:spcAft>
                <a:spcPts val="0"/>
              </a:spcAft>
              <a:buNone/>
            </a:pPr>
            <a:r>
              <a:rPr lang="pt-BR" sz="1600">
                <a:latin typeface="Comfortaa"/>
                <a:ea typeface="Comfortaa"/>
                <a:cs typeface="Comfortaa"/>
                <a:sym typeface="Comfortaa"/>
              </a:rPr>
              <a:t>a</a:t>
            </a:r>
            <a:r>
              <a:rPr baseline="30000" lang="pt-BR" sz="1600">
                <a:latin typeface="Comfortaa"/>
                <a:ea typeface="Comfortaa"/>
                <a:cs typeface="Comfortaa"/>
                <a:sym typeface="Comfortaa"/>
              </a:rPr>
              <a:t>[2]</a:t>
            </a:r>
            <a:r>
              <a:rPr lang="pt-BR" sz="1600">
                <a:latin typeface="Comfortaa"/>
                <a:ea typeface="Comfortaa"/>
                <a:cs typeface="Comfortaa"/>
                <a:sym typeface="Comfortaa"/>
              </a:rPr>
              <a:t>=g</a:t>
            </a:r>
            <a:r>
              <a:rPr baseline="30000" lang="pt-BR" sz="1600">
                <a:latin typeface="Comfortaa"/>
                <a:ea typeface="Comfortaa"/>
                <a:cs typeface="Comfortaa"/>
                <a:sym typeface="Comfortaa"/>
              </a:rPr>
              <a:t>[2]</a:t>
            </a:r>
            <a:r>
              <a:rPr lang="pt-BR" sz="1600">
                <a:latin typeface="Comfortaa"/>
                <a:ea typeface="Comfortaa"/>
                <a:cs typeface="Comfortaa"/>
                <a:sym typeface="Comfortaa"/>
              </a:rPr>
              <a:t>(z</a:t>
            </a:r>
            <a:r>
              <a:rPr baseline="30000" lang="pt-BR" sz="1600">
                <a:latin typeface="Comfortaa"/>
                <a:ea typeface="Comfortaa"/>
                <a:cs typeface="Comfortaa"/>
                <a:sym typeface="Comfortaa"/>
              </a:rPr>
              <a:t>[2]</a:t>
            </a:r>
            <a:r>
              <a:rPr lang="pt-BR" sz="1600">
                <a:latin typeface="Comfortaa"/>
                <a:ea typeface="Comfortaa"/>
                <a:cs typeface="Comfortaa"/>
                <a:sym typeface="Comfortaa"/>
              </a:rPr>
              <a:t>)</a:t>
            </a:r>
            <a:endParaRPr sz="1600">
              <a:latin typeface="Comfortaa"/>
              <a:ea typeface="Comfortaa"/>
              <a:cs typeface="Comfortaa"/>
              <a:sym typeface="Comfortaa"/>
            </a:endParaRPr>
          </a:p>
          <a:p>
            <a:pPr indent="0" lvl="0" marL="0" rtl="0" algn="l">
              <a:spcBef>
                <a:spcPts val="0"/>
              </a:spcBef>
              <a:spcAft>
                <a:spcPts val="0"/>
              </a:spcAft>
              <a:buNone/>
            </a:pPr>
            <a:r>
              <a:t/>
            </a:r>
            <a:endParaRPr sz="1600">
              <a:latin typeface="Comfortaa"/>
              <a:ea typeface="Comfortaa"/>
              <a:cs typeface="Comfortaa"/>
              <a:sym typeface="Comfortaa"/>
            </a:endParaRPr>
          </a:p>
          <a:p>
            <a:pPr indent="0" lvl="0" marL="0" rtl="0" algn="l">
              <a:spcBef>
                <a:spcPts val="0"/>
              </a:spcBef>
              <a:spcAft>
                <a:spcPts val="0"/>
              </a:spcAft>
              <a:buNone/>
            </a:pPr>
            <a:r>
              <a:rPr lang="pt-BR" sz="1600">
                <a:latin typeface="Comfortaa"/>
                <a:ea typeface="Comfortaa"/>
                <a:cs typeface="Comfortaa"/>
                <a:sym typeface="Comfortaa"/>
              </a:rPr>
              <a:t>z</a:t>
            </a:r>
            <a:r>
              <a:rPr baseline="30000" lang="pt-BR" sz="1600">
                <a:solidFill>
                  <a:schemeClr val="dk1"/>
                </a:solidFill>
                <a:latin typeface="Comfortaa"/>
                <a:ea typeface="Comfortaa"/>
                <a:cs typeface="Comfortaa"/>
                <a:sym typeface="Comfortaa"/>
              </a:rPr>
              <a:t>[2]</a:t>
            </a:r>
            <a:r>
              <a:rPr lang="pt-BR" sz="1600">
                <a:latin typeface="Comfortaa"/>
                <a:ea typeface="Comfortaa"/>
                <a:cs typeface="Comfortaa"/>
                <a:sym typeface="Comfortaa"/>
              </a:rPr>
              <a:t>=W</a:t>
            </a:r>
            <a:r>
              <a:rPr baseline="30000" lang="pt-BR" sz="1600">
                <a:solidFill>
                  <a:schemeClr val="dk1"/>
                </a:solidFill>
                <a:latin typeface="Comfortaa"/>
                <a:ea typeface="Comfortaa"/>
                <a:cs typeface="Comfortaa"/>
                <a:sym typeface="Comfortaa"/>
              </a:rPr>
              <a:t>[2]</a:t>
            </a:r>
            <a:r>
              <a:rPr lang="pt-BR" sz="1600">
                <a:latin typeface="Comfortaa"/>
                <a:ea typeface="Comfortaa"/>
                <a:cs typeface="Comfortaa"/>
                <a:sym typeface="Comfortaa"/>
              </a:rPr>
              <a:t>a</a:t>
            </a:r>
            <a:r>
              <a:rPr baseline="30000" lang="pt-BR" sz="1600">
                <a:solidFill>
                  <a:schemeClr val="dk1"/>
                </a:solidFill>
                <a:latin typeface="Comfortaa"/>
                <a:ea typeface="Comfortaa"/>
                <a:cs typeface="Comfortaa"/>
                <a:sym typeface="Comfortaa"/>
              </a:rPr>
              <a:t>[1]</a:t>
            </a:r>
            <a:r>
              <a:rPr lang="pt-BR" sz="1600">
                <a:latin typeface="Comfortaa"/>
                <a:ea typeface="Comfortaa"/>
                <a:cs typeface="Comfortaa"/>
                <a:sym typeface="Comfortaa"/>
              </a:rPr>
              <a:t>+b</a:t>
            </a:r>
            <a:r>
              <a:rPr baseline="30000" lang="pt-BR" sz="1600">
                <a:solidFill>
                  <a:schemeClr val="dk1"/>
                </a:solidFill>
                <a:latin typeface="Comfortaa"/>
                <a:ea typeface="Comfortaa"/>
                <a:cs typeface="Comfortaa"/>
                <a:sym typeface="Comfortaa"/>
              </a:rPr>
              <a:t>[2]</a:t>
            </a:r>
            <a:endParaRPr sz="1600">
              <a:solidFill>
                <a:schemeClr val="dk1"/>
              </a:solidFill>
              <a:latin typeface="Comfortaa"/>
              <a:ea typeface="Comfortaa"/>
              <a:cs typeface="Comfortaa"/>
              <a:sym typeface="Comfortaa"/>
            </a:endParaRPr>
          </a:p>
        </p:txBody>
      </p:sp>
      <p:sp>
        <p:nvSpPr>
          <p:cNvPr id="884" name="Google Shape;884;h36ece97b36a83fc5_0_362"/>
          <p:cNvSpPr txBox="1"/>
          <p:nvPr/>
        </p:nvSpPr>
        <p:spPr>
          <a:xfrm>
            <a:off x="8041650" y="685875"/>
            <a:ext cx="1081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100">
                <a:solidFill>
                  <a:srgbClr val="9900FF"/>
                </a:solidFill>
                <a:latin typeface="Comfortaa"/>
                <a:ea typeface="Comfortaa"/>
                <a:cs typeface="Comfortaa"/>
                <a:sym typeface="Comfortaa"/>
              </a:rPr>
              <a:t>e.g., sigmoid or sofmax</a:t>
            </a:r>
            <a:endParaRPr sz="1100">
              <a:solidFill>
                <a:srgbClr val="9900FF"/>
              </a:solidFill>
              <a:latin typeface="Comfortaa"/>
              <a:ea typeface="Comfortaa"/>
              <a:cs typeface="Comfortaa"/>
              <a:sym typeface="Comfortaa"/>
            </a:endParaRPr>
          </a:p>
        </p:txBody>
      </p:sp>
      <p:sp>
        <p:nvSpPr>
          <p:cNvPr id="885" name="Google Shape;885;h36ece97b36a83fc5_0_362"/>
          <p:cNvSpPr/>
          <p:nvPr/>
        </p:nvSpPr>
        <p:spPr>
          <a:xfrm>
            <a:off x="7066100" y="929375"/>
            <a:ext cx="1050000" cy="170700"/>
          </a:xfrm>
          <a:custGeom>
            <a:rect b="b" l="l" r="r" t="t"/>
            <a:pathLst>
              <a:path extrusionOk="0" h="6828" w="42000">
                <a:moveTo>
                  <a:pt x="0" y="851"/>
                </a:moveTo>
                <a:cubicBezTo>
                  <a:pt x="2176" y="1844"/>
                  <a:pt x="6054" y="6953"/>
                  <a:pt x="13054" y="6811"/>
                </a:cubicBezTo>
                <a:cubicBezTo>
                  <a:pt x="20054" y="6669"/>
                  <a:pt x="37176" y="1135"/>
                  <a:pt x="42000" y="0"/>
                </a:cubicBezTo>
              </a:path>
            </a:pathLst>
          </a:custGeom>
          <a:noFill/>
          <a:ln cap="flat" cmpd="sng" w="28575">
            <a:solidFill>
              <a:srgbClr val="9900FF"/>
            </a:solidFill>
            <a:prstDash val="solid"/>
            <a:round/>
            <a:headEnd len="med" w="med" type="none"/>
            <a:tailEnd len="med" w="med" type="none"/>
          </a:ln>
        </p:spPr>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h65f250d357b111bf_0_810"/>
          <p:cNvSpPr txBox="1"/>
          <p:nvPr>
            <p:ph type="title"/>
          </p:nvPr>
        </p:nvSpPr>
        <p:spPr>
          <a:xfrm>
            <a:off x="311700" y="1092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Recognizing Images</a:t>
            </a:r>
            <a:endParaRPr/>
          </a:p>
        </p:txBody>
      </p:sp>
      <p:pic>
        <p:nvPicPr>
          <p:cNvPr id="891" name="Google Shape;891;h65f250d357b111bf_0_810"/>
          <p:cNvPicPr preferRelativeResize="0"/>
          <p:nvPr/>
        </p:nvPicPr>
        <p:blipFill>
          <a:blip r:embed="rId3">
            <a:alphaModFix/>
          </a:blip>
          <a:stretch>
            <a:fillRect/>
          </a:stretch>
        </p:blipFill>
        <p:spPr>
          <a:xfrm>
            <a:off x="1175575" y="735700"/>
            <a:ext cx="6792845" cy="3820975"/>
          </a:xfrm>
          <a:prstGeom prst="rect">
            <a:avLst/>
          </a:prstGeom>
          <a:noFill/>
          <a:ln>
            <a:noFill/>
          </a:ln>
        </p:spPr>
      </p:pic>
      <p:sp>
        <p:nvSpPr>
          <p:cNvPr id="892" name="Google Shape;892;h65f250d357b111bf_0_810"/>
          <p:cNvSpPr txBox="1"/>
          <p:nvPr/>
        </p:nvSpPr>
        <p:spPr>
          <a:xfrm>
            <a:off x="296100" y="4610400"/>
            <a:ext cx="85518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700" u="sng">
                <a:solidFill>
                  <a:schemeClr val="hlink"/>
                </a:solidFill>
                <a:hlinkClick r:id="rId4"/>
              </a:rPr>
              <a:t>https://www.3blue1brown.com/lessons/neural-networks/</a:t>
            </a:r>
            <a:endParaRPr sz="1700">
              <a:solidFill>
                <a:srgbClr val="434343"/>
              </a:solidFill>
            </a:endParaRPr>
          </a:p>
        </p:txBody>
      </p:sp>
      <p:pic>
        <p:nvPicPr>
          <p:cNvPr id="893" name="Google Shape;893;h65f250d357b111bf_0_810"/>
          <p:cNvPicPr preferRelativeResize="0"/>
          <p:nvPr/>
        </p:nvPicPr>
        <p:blipFill>
          <a:blip r:embed="rId5">
            <a:alphaModFix/>
          </a:blip>
          <a:stretch>
            <a:fillRect/>
          </a:stretch>
        </p:blipFill>
        <p:spPr>
          <a:xfrm>
            <a:off x="6377100" y="109274"/>
            <a:ext cx="2376277" cy="5727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h65f250d357b111bf_0_8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3100"/>
              <a:t>What is backpropagation really doing?</a:t>
            </a:r>
            <a:endParaRPr sz="3100"/>
          </a:p>
        </p:txBody>
      </p:sp>
      <p:pic>
        <p:nvPicPr>
          <p:cNvPr id="899" name="Google Shape;899;h65f250d357b111bf_0_870"/>
          <p:cNvPicPr preferRelativeResize="0"/>
          <p:nvPr/>
        </p:nvPicPr>
        <p:blipFill>
          <a:blip r:embed="rId3">
            <a:alphaModFix/>
          </a:blip>
          <a:stretch>
            <a:fillRect/>
          </a:stretch>
        </p:blipFill>
        <p:spPr>
          <a:xfrm>
            <a:off x="1703425" y="1181800"/>
            <a:ext cx="5737150" cy="3227150"/>
          </a:xfrm>
          <a:prstGeom prst="rect">
            <a:avLst/>
          </a:prstGeom>
          <a:noFill/>
          <a:ln>
            <a:noFill/>
          </a:ln>
        </p:spPr>
      </p:pic>
      <p:pic>
        <p:nvPicPr>
          <p:cNvPr id="900" name="Google Shape;900;h65f250d357b111bf_0_870"/>
          <p:cNvPicPr preferRelativeResize="0"/>
          <p:nvPr/>
        </p:nvPicPr>
        <p:blipFill>
          <a:blip r:embed="rId4">
            <a:alphaModFix/>
          </a:blip>
          <a:stretch>
            <a:fillRect/>
          </a:stretch>
        </p:blipFill>
        <p:spPr>
          <a:xfrm>
            <a:off x="6849050" y="109275"/>
            <a:ext cx="1904325" cy="458975"/>
          </a:xfrm>
          <a:prstGeom prst="rect">
            <a:avLst/>
          </a:prstGeom>
          <a:noFill/>
          <a:ln>
            <a:noFill/>
          </a:ln>
        </p:spPr>
      </p:pic>
      <p:sp>
        <p:nvSpPr>
          <p:cNvPr id="901" name="Google Shape;901;h65f250d357b111bf_0_870"/>
          <p:cNvSpPr txBox="1"/>
          <p:nvPr/>
        </p:nvSpPr>
        <p:spPr>
          <a:xfrm>
            <a:off x="2268900" y="4477275"/>
            <a:ext cx="460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5"/>
              </a:rPr>
              <a:t>https://www.3blue1brown.com/lessons/backpropagation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h65f250d357b111bf_0_88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Cost vs Loss</a:t>
            </a:r>
            <a:endParaRPr/>
          </a:p>
        </p:txBody>
      </p:sp>
      <p:sp>
        <p:nvSpPr>
          <p:cNvPr id="907" name="Google Shape;907;h65f250d357b111bf_0_88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1800"/>
              <a:t>Loss Function (or Error Function)</a:t>
            </a:r>
            <a:r>
              <a:rPr lang="pt-BR" sz="1800"/>
              <a:t>: Quantifies how wrong a model's prediction is on a single training example.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pt-BR" sz="1800"/>
              <a:t>Cost Function (or Objective Function)</a:t>
            </a:r>
            <a:r>
              <a:rPr lang="pt-BR" sz="1800"/>
              <a:t>: Quantifies the average (or total) error across the entire dataset or mini-batch.</a:t>
            </a:r>
            <a:endParaRPr sz="18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h65f250d357b111bf_0_88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Cost</a:t>
            </a:r>
            <a:endParaRPr/>
          </a:p>
        </p:txBody>
      </p:sp>
      <p:pic>
        <p:nvPicPr>
          <p:cNvPr id="913" name="Google Shape;913;h65f250d357b111bf_0_887"/>
          <p:cNvPicPr preferRelativeResize="0"/>
          <p:nvPr/>
        </p:nvPicPr>
        <p:blipFill>
          <a:blip r:embed="rId3">
            <a:alphaModFix/>
          </a:blip>
          <a:stretch>
            <a:fillRect/>
          </a:stretch>
        </p:blipFill>
        <p:spPr>
          <a:xfrm>
            <a:off x="1325825" y="1189429"/>
            <a:ext cx="6492350" cy="3651925"/>
          </a:xfrm>
          <a:prstGeom prst="rect">
            <a:avLst/>
          </a:prstGeom>
          <a:noFill/>
          <a:ln>
            <a:noFill/>
          </a:ln>
        </p:spPr>
      </p:pic>
      <p:pic>
        <p:nvPicPr>
          <p:cNvPr id="914" name="Google Shape;914;h65f250d357b111bf_0_887"/>
          <p:cNvPicPr preferRelativeResize="0"/>
          <p:nvPr/>
        </p:nvPicPr>
        <p:blipFill>
          <a:blip r:embed="rId4">
            <a:alphaModFix/>
          </a:blip>
          <a:stretch>
            <a:fillRect/>
          </a:stretch>
        </p:blipFill>
        <p:spPr>
          <a:xfrm>
            <a:off x="6849050" y="109275"/>
            <a:ext cx="1904325" cy="4589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h65f250d357b111bf_0_89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How Weight Affects Cost</a:t>
            </a:r>
            <a:endParaRPr/>
          </a:p>
        </p:txBody>
      </p:sp>
      <p:pic>
        <p:nvPicPr>
          <p:cNvPr id="920" name="Google Shape;920;h65f250d357b111bf_0_893"/>
          <p:cNvPicPr preferRelativeResize="0"/>
          <p:nvPr/>
        </p:nvPicPr>
        <p:blipFill>
          <a:blip r:embed="rId3">
            <a:alphaModFix/>
          </a:blip>
          <a:stretch>
            <a:fillRect/>
          </a:stretch>
        </p:blipFill>
        <p:spPr>
          <a:xfrm>
            <a:off x="884313" y="1190275"/>
            <a:ext cx="7375373" cy="3530201"/>
          </a:xfrm>
          <a:prstGeom prst="rect">
            <a:avLst/>
          </a:prstGeom>
          <a:noFill/>
          <a:ln>
            <a:noFill/>
          </a:ln>
        </p:spPr>
      </p:pic>
      <p:sp>
        <p:nvSpPr>
          <p:cNvPr id="921" name="Google Shape;921;h65f250d357b111bf_0_893"/>
          <p:cNvSpPr txBox="1"/>
          <p:nvPr/>
        </p:nvSpPr>
        <p:spPr>
          <a:xfrm>
            <a:off x="1550550" y="4743300"/>
            <a:ext cx="604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see animation: </a:t>
            </a:r>
            <a:r>
              <a:rPr lang="pt-BR" u="sng">
                <a:solidFill>
                  <a:schemeClr val="hlink"/>
                </a:solidFill>
                <a:hlinkClick r:id="rId4"/>
              </a:rPr>
              <a:t>https://www.3blue1brown.com/lessons/backpropagation</a:t>
            </a:r>
            <a:endParaRPr sz="3000">
              <a:solidFill>
                <a:srgbClr val="434343"/>
              </a:solidFill>
              <a:latin typeface="Comfortaa"/>
              <a:ea typeface="Comfortaa"/>
              <a:cs typeface="Comfortaa"/>
              <a:sym typeface="Comfortaa"/>
            </a:endParaRPr>
          </a:p>
        </p:txBody>
      </p:sp>
      <p:pic>
        <p:nvPicPr>
          <p:cNvPr id="922" name="Google Shape;922;h65f250d357b111bf_0_893"/>
          <p:cNvPicPr preferRelativeResize="0"/>
          <p:nvPr/>
        </p:nvPicPr>
        <p:blipFill>
          <a:blip r:embed="rId5">
            <a:alphaModFix/>
          </a:blip>
          <a:stretch>
            <a:fillRect/>
          </a:stretch>
        </p:blipFill>
        <p:spPr>
          <a:xfrm>
            <a:off x="6849050" y="109275"/>
            <a:ext cx="1904325" cy="4589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h65f250d357b111bf_0_900"/>
          <p:cNvSpPr/>
          <p:nvPr/>
        </p:nvSpPr>
        <p:spPr>
          <a:xfrm>
            <a:off x="313038" y="2595602"/>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928" name="Google Shape;928;h65f250d357b111bf_0_900"/>
          <p:cNvSpPr/>
          <p:nvPr/>
        </p:nvSpPr>
        <p:spPr>
          <a:xfrm>
            <a:off x="313057" y="3171575"/>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929" name="Google Shape;929;h65f250d357b111bf_0_900"/>
          <p:cNvSpPr/>
          <p:nvPr/>
        </p:nvSpPr>
        <p:spPr>
          <a:xfrm>
            <a:off x="313057" y="3999770"/>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930" name="Google Shape;930;h65f250d357b111bf_0_900"/>
          <p:cNvSpPr/>
          <p:nvPr/>
        </p:nvSpPr>
        <p:spPr>
          <a:xfrm>
            <a:off x="313038" y="201961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931" name="Google Shape;931;h65f250d357b111bf_0_900"/>
          <p:cNvSpPr txBox="1"/>
          <p:nvPr/>
        </p:nvSpPr>
        <p:spPr>
          <a:xfrm>
            <a:off x="313051" y="2105691"/>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grpSp>
        <p:nvGrpSpPr>
          <p:cNvPr id="932" name="Google Shape;932;h65f250d357b111bf_0_900"/>
          <p:cNvGrpSpPr/>
          <p:nvPr/>
        </p:nvGrpSpPr>
        <p:grpSpPr>
          <a:xfrm>
            <a:off x="437770" y="3771833"/>
            <a:ext cx="288564" cy="74448"/>
            <a:chOff x="3272500" y="3440675"/>
            <a:chExt cx="372100" cy="96000"/>
          </a:xfrm>
        </p:grpSpPr>
        <p:sp>
          <p:nvSpPr>
            <p:cNvPr id="933" name="Google Shape;933;h65f250d357b111bf_0_900"/>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934" name="Google Shape;934;h65f250d357b111bf_0_900"/>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935" name="Google Shape;935;h65f250d357b111bf_0_900"/>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936" name="Google Shape;936;h65f250d357b111bf_0_900"/>
          <p:cNvSpPr/>
          <p:nvPr/>
        </p:nvSpPr>
        <p:spPr>
          <a:xfrm>
            <a:off x="3370213" y="282716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sp>
        <p:nvSpPr>
          <p:cNvPr id="937" name="Google Shape;937;h65f250d357b111bf_0_900"/>
          <p:cNvSpPr/>
          <p:nvPr/>
        </p:nvSpPr>
        <p:spPr>
          <a:xfrm rot="5400000">
            <a:off x="521838" y="1434628"/>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938" name="Google Shape;938;h65f250d357b111bf_0_900"/>
          <p:cNvSpPr/>
          <p:nvPr/>
        </p:nvSpPr>
        <p:spPr>
          <a:xfrm rot="5400000">
            <a:off x="3522613" y="1434628"/>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939" name="Google Shape;939;h65f250d357b111bf_0_900"/>
          <p:cNvSpPr txBox="1"/>
          <p:nvPr/>
        </p:nvSpPr>
        <p:spPr>
          <a:xfrm>
            <a:off x="1948585" y="4581878"/>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940" name="Google Shape;940;h65f250d357b111bf_0_900"/>
          <p:cNvSpPr/>
          <p:nvPr/>
        </p:nvSpPr>
        <p:spPr>
          <a:xfrm>
            <a:off x="3340663" y="221066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sp>
        <p:nvSpPr>
          <p:cNvPr id="941" name="Google Shape;941;h65f250d357b111bf_0_900"/>
          <p:cNvSpPr/>
          <p:nvPr/>
        </p:nvSpPr>
        <p:spPr>
          <a:xfrm>
            <a:off x="3370213" y="34322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cxnSp>
        <p:nvCxnSpPr>
          <p:cNvPr id="942" name="Google Shape;942;h65f250d357b111bf_0_900"/>
          <p:cNvCxnSpPr>
            <a:stCxn id="931" idx="3"/>
            <a:endCxn id="940" idx="1"/>
          </p:cNvCxnSpPr>
          <p:nvPr/>
        </p:nvCxnSpPr>
        <p:spPr>
          <a:xfrm>
            <a:off x="819451" y="2272791"/>
            <a:ext cx="2595300" cy="12000"/>
          </a:xfrm>
          <a:prstGeom prst="straightConnector1">
            <a:avLst/>
          </a:prstGeom>
          <a:noFill/>
          <a:ln cap="flat" cmpd="sng" w="20500">
            <a:solidFill>
              <a:srgbClr val="B7B7B7"/>
            </a:solidFill>
            <a:prstDash val="solid"/>
            <a:round/>
            <a:headEnd len="sm" w="sm" type="none"/>
            <a:tailEnd len="med" w="med" type="triangle"/>
          </a:ln>
        </p:spPr>
      </p:cxnSp>
      <p:cxnSp>
        <p:nvCxnSpPr>
          <p:cNvPr id="943" name="Google Shape;943;h65f250d357b111bf_0_900"/>
          <p:cNvCxnSpPr>
            <a:stCxn id="927" idx="6"/>
          </p:cNvCxnSpPr>
          <p:nvPr/>
        </p:nvCxnSpPr>
        <p:spPr>
          <a:xfrm flipH="1" rot="10800000">
            <a:off x="819438" y="2409002"/>
            <a:ext cx="2515500" cy="439800"/>
          </a:xfrm>
          <a:prstGeom prst="straightConnector1">
            <a:avLst/>
          </a:prstGeom>
          <a:noFill/>
          <a:ln cap="flat" cmpd="sng" w="20500">
            <a:solidFill>
              <a:srgbClr val="B7B7B7"/>
            </a:solidFill>
            <a:prstDash val="solid"/>
            <a:round/>
            <a:headEnd len="sm" w="sm" type="none"/>
            <a:tailEnd len="med" w="med" type="triangle"/>
          </a:ln>
        </p:spPr>
      </p:cxnSp>
      <p:cxnSp>
        <p:nvCxnSpPr>
          <p:cNvPr id="944" name="Google Shape;944;h65f250d357b111bf_0_900"/>
          <p:cNvCxnSpPr>
            <a:stCxn id="928" idx="6"/>
          </p:cNvCxnSpPr>
          <p:nvPr/>
        </p:nvCxnSpPr>
        <p:spPr>
          <a:xfrm flipH="1" rot="10800000">
            <a:off x="819457" y="2546375"/>
            <a:ext cx="2529300" cy="878400"/>
          </a:xfrm>
          <a:prstGeom prst="straightConnector1">
            <a:avLst/>
          </a:prstGeom>
          <a:noFill/>
          <a:ln cap="flat" cmpd="sng" w="20500">
            <a:solidFill>
              <a:srgbClr val="B7B7B7"/>
            </a:solidFill>
            <a:prstDash val="solid"/>
            <a:round/>
            <a:headEnd len="sm" w="sm" type="none"/>
            <a:tailEnd len="med" w="med" type="triangle"/>
          </a:ln>
        </p:spPr>
      </p:cxnSp>
      <p:cxnSp>
        <p:nvCxnSpPr>
          <p:cNvPr id="945" name="Google Shape;945;h65f250d357b111bf_0_900"/>
          <p:cNvCxnSpPr>
            <a:stCxn id="929" idx="6"/>
            <a:endCxn id="940" idx="3"/>
          </p:cNvCxnSpPr>
          <p:nvPr/>
        </p:nvCxnSpPr>
        <p:spPr>
          <a:xfrm flipH="1" rot="10800000">
            <a:off x="819457" y="2642870"/>
            <a:ext cx="2595300" cy="1610100"/>
          </a:xfrm>
          <a:prstGeom prst="straightConnector1">
            <a:avLst/>
          </a:prstGeom>
          <a:noFill/>
          <a:ln cap="flat" cmpd="sng" w="20500">
            <a:solidFill>
              <a:srgbClr val="B7B7B7"/>
            </a:solidFill>
            <a:prstDash val="solid"/>
            <a:round/>
            <a:headEnd len="sm" w="sm" type="none"/>
            <a:tailEnd len="med" w="med" type="triangle"/>
          </a:ln>
        </p:spPr>
      </p:cxnSp>
      <p:cxnSp>
        <p:nvCxnSpPr>
          <p:cNvPr id="946" name="Google Shape;946;h65f250d357b111bf_0_900"/>
          <p:cNvCxnSpPr>
            <a:stCxn id="927" idx="6"/>
          </p:cNvCxnSpPr>
          <p:nvPr/>
        </p:nvCxnSpPr>
        <p:spPr>
          <a:xfrm>
            <a:off x="819438" y="2848802"/>
            <a:ext cx="2550000" cy="165300"/>
          </a:xfrm>
          <a:prstGeom prst="straightConnector1">
            <a:avLst/>
          </a:prstGeom>
          <a:noFill/>
          <a:ln cap="flat" cmpd="sng" w="20500">
            <a:solidFill>
              <a:srgbClr val="666666"/>
            </a:solidFill>
            <a:prstDash val="solid"/>
            <a:round/>
            <a:headEnd len="sm" w="sm" type="none"/>
            <a:tailEnd len="med" w="med" type="triangle"/>
          </a:ln>
        </p:spPr>
      </p:cxnSp>
      <p:cxnSp>
        <p:nvCxnSpPr>
          <p:cNvPr id="947" name="Google Shape;947;h65f250d357b111bf_0_900"/>
          <p:cNvCxnSpPr>
            <a:stCxn id="928" idx="6"/>
          </p:cNvCxnSpPr>
          <p:nvPr/>
        </p:nvCxnSpPr>
        <p:spPr>
          <a:xfrm flipH="1" rot="10800000">
            <a:off x="819457" y="3137975"/>
            <a:ext cx="2543100" cy="286800"/>
          </a:xfrm>
          <a:prstGeom prst="straightConnector1">
            <a:avLst/>
          </a:prstGeom>
          <a:noFill/>
          <a:ln cap="flat" cmpd="sng" w="20500">
            <a:solidFill>
              <a:srgbClr val="666666"/>
            </a:solidFill>
            <a:prstDash val="solid"/>
            <a:round/>
            <a:headEnd len="sm" w="sm" type="none"/>
            <a:tailEnd len="med" w="med" type="triangle"/>
          </a:ln>
        </p:spPr>
      </p:cxnSp>
      <p:cxnSp>
        <p:nvCxnSpPr>
          <p:cNvPr id="948" name="Google Shape;948;h65f250d357b111bf_0_900"/>
          <p:cNvCxnSpPr>
            <a:stCxn id="929" idx="6"/>
            <a:endCxn id="936" idx="3"/>
          </p:cNvCxnSpPr>
          <p:nvPr/>
        </p:nvCxnSpPr>
        <p:spPr>
          <a:xfrm flipH="1" rot="10800000">
            <a:off x="819457" y="3259370"/>
            <a:ext cx="2625000" cy="993600"/>
          </a:xfrm>
          <a:prstGeom prst="straightConnector1">
            <a:avLst/>
          </a:prstGeom>
          <a:noFill/>
          <a:ln cap="flat" cmpd="sng" w="20500">
            <a:solidFill>
              <a:srgbClr val="666666"/>
            </a:solidFill>
            <a:prstDash val="solid"/>
            <a:round/>
            <a:headEnd len="sm" w="sm" type="none"/>
            <a:tailEnd len="med" w="med" type="triangle"/>
          </a:ln>
        </p:spPr>
      </p:cxnSp>
      <p:cxnSp>
        <p:nvCxnSpPr>
          <p:cNvPr id="949" name="Google Shape;949;h65f250d357b111bf_0_900"/>
          <p:cNvCxnSpPr>
            <a:stCxn id="931" idx="3"/>
            <a:endCxn id="936" idx="1"/>
          </p:cNvCxnSpPr>
          <p:nvPr/>
        </p:nvCxnSpPr>
        <p:spPr>
          <a:xfrm>
            <a:off x="819451" y="2272791"/>
            <a:ext cx="2625000" cy="628500"/>
          </a:xfrm>
          <a:prstGeom prst="straightConnector1">
            <a:avLst/>
          </a:prstGeom>
          <a:noFill/>
          <a:ln cap="flat" cmpd="sng" w="20500">
            <a:solidFill>
              <a:srgbClr val="666666"/>
            </a:solidFill>
            <a:prstDash val="solid"/>
            <a:round/>
            <a:headEnd len="sm" w="sm" type="none"/>
            <a:tailEnd len="med" w="med" type="triangle"/>
          </a:ln>
        </p:spPr>
      </p:cxnSp>
      <p:cxnSp>
        <p:nvCxnSpPr>
          <p:cNvPr id="950" name="Google Shape;950;h65f250d357b111bf_0_900"/>
          <p:cNvCxnSpPr>
            <a:stCxn id="931" idx="3"/>
            <a:endCxn id="941" idx="1"/>
          </p:cNvCxnSpPr>
          <p:nvPr/>
        </p:nvCxnSpPr>
        <p:spPr>
          <a:xfrm>
            <a:off x="819451" y="2272791"/>
            <a:ext cx="2625000" cy="1233600"/>
          </a:xfrm>
          <a:prstGeom prst="straightConnector1">
            <a:avLst/>
          </a:prstGeom>
          <a:noFill/>
          <a:ln cap="flat" cmpd="sng" w="20500">
            <a:solidFill>
              <a:srgbClr val="000000"/>
            </a:solidFill>
            <a:prstDash val="solid"/>
            <a:round/>
            <a:headEnd len="sm" w="sm" type="none"/>
            <a:tailEnd len="med" w="med" type="triangle"/>
          </a:ln>
        </p:spPr>
      </p:cxnSp>
      <p:cxnSp>
        <p:nvCxnSpPr>
          <p:cNvPr id="951" name="Google Shape;951;h65f250d357b111bf_0_900"/>
          <p:cNvCxnSpPr>
            <a:stCxn id="929" idx="6"/>
            <a:endCxn id="941" idx="3"/>
          </p:cNvCxnSpPr>
          <p:nvPr/>
        </p:nvCxnSpPr>
        <p:spPr>
          <a:xfrm flipH="1" rot="10800000">
            <a:off x="819457" y="3864470"/>
            <a:ext cx="2625000" cy="388500"/>
          </a:xfrm>
          <a:prstGeom prst="straightConnector1">
            <a:avLst/>
          </a:prstGeom>
          <a:noFill/>
          <a:ln cap="flat" cmpd="sng" w="20500">
            <a:solidFill>
              <a:srgbClr val="000000"/>
            </a:solidFill>
            <a:prstDash val="solid"/>
            <a:round/>
            <a:headEnd len="sm" w="sm" type="none"/>
            <a:tailEnd len="med" w="med" type="triangle"/>
          </a:ln>
        </p:spPr>
      </p:cxnSp>
      <p:cxnSp>
        <p:nvCxnSpPr>
          <p:cNvPr id="952" name="Google Shape;952;h65f250d357b111bf_0_900"/>
          <p:cNvCxnSpPr>
            <a:stCxn id="927" idx="6"/>
          </p:cNvCxnSpPr>
          <p:nvPr/>
        </p:nvCxnSpPr>
        <p:spPr>
          <a:xfrm>
            <a:off x="819438" y="2848802"/>
            <a:ext cx="2529300" cy="777300"/>
          </a:xfrm>
          <a:prstGeom prst="straightConnector1">
            <a:avLst/>
          </a:prstGeom>
          <a:noFill/>
          <a:ln cap="flat" cmpd="sng" w="20500">
            <a:solidFill>
              <a:srgbClr val="000000"/>
            </a:solidFill>
            <a:prstDash val="solid"/>
            <a:round/>
            <a:headEnd len="sm" w="sm" type="none"/>
            <a:tailEnd len="med" w="med" type="triangle"/>
          </a:ln>
        </p:spPr>
      </p:cxnSp>
      <p:cxnSp>
        <p:nvCxnSpPr>
          <p:cNvPr id="953" name="Google Shape;953;h65f250d357b111bf_0_900"/>
          <p:cNvCxnSpPr>
            <a:stCxn id="928" idx="6"/>
          </p:cNvCxnSpPr>
          <p:nvPr/>
        </p:nvCxnSpPr>
        <p:spPr>
          <a:xfrm>
            <a:off x="819457" y="3424775"/>
            <a:ext cx="2543100" cy="318300"/>
          </a:xfrm>
          <a:prstGeom prst="straightConnector1">
            <a:avLst/>
          </a:prstGeom>
          <a:noFill/>
          <a:ln cap="flat" cmpd="sng" w="20500">
            <a:solidFill>
              <a:srgbClr val="000000"/>
            </a:solidFill>
            <a:prstDash val="solid"/>
            <a:round/>
            <a:headEnd len="sm" w="sm" type="none"/>
            <a:tailEnd len="med" w="med" type="triangle"/>
          </a:ln>
        </p:spPr>
      </p:cxnSp>
      <p:sp>
        <p:nvSpPr>
          <p:cNvPr id="954" name="Google Shape;954;h65f250d357b111bf_0_900"/>
          <p:cNvSpPr/>
          <p:nvPr/>
        </p:nvSpPr>
        <p:spPr>
          <a:xfrm>
            <a:off x="5636013" y="277976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σ</a:t>
            </a:r>
            <a:endParaRPr b="0" sz="1241" strike="noStrike">
              <a:latin typeface="Arial"/>
              <a:ea typeface="Arial"/>
              <a:cs typeface="Arial"/>
              <a:sym typeface="Arial"/>
            </a:endParaRPr>
          </a:p>
        </p:txBody>
      </p:sp>
      <p:cxnSp>
        <p:nvCxnSpPr>
          <p:cNvPr id="955" name="Google Shape;955;h65f250d357b111bf_0_900"/>
          <p:cNvCxnSpPr>
            <a:stCxn id="940" idx="6"/>
          </p:cNvCxnSpPr>
          <p:nvPr/>
        </p:nvCxnSpPr>
        <p:spPr>
          <a:xfrm>
            <a:off x="3847063" y="2463869"/>
            <a:ext cx="1774800" cy="461100"/>
          </a:xfrm>
          <a:prstGeom prst="straightConnector1">
            <a:avLst/>
          </a:prstGeom>
          <a:noFill/>
          <a:ln cap="flat" cmpd="sng" w="20500">
            <a:solidFill>
              <a:srgbClr val="666666"/>
            </a:solidFill>
            <a:prstDash val="solid"/>
            <a:round/>
            <a:headEnd len="sm" w="sm" type="none"/>
            <a:tailEnd len="med" w="med" type="triangle"/>
          </a:ln>
        </p:spPr>
      </p:cxnSp>
      <p:cxnSp>
        <p:nvCxnSpPr>
          <p:cNvPr id="956" name="Google Shape;956;h65f250d357b111bf_0_900"/>
          <p:cNvCxnSpPr>
            <a:stCxn id="936" idx="6"/>
            <a:endCxn id="954" idx="2"/>
          </p:cNvCxnSpPr>
          <p:nvPr/>
        </p:nvCxnSpPr>
        <p:spPr>
          <a:xfrm flipH="1" rot="10800000">
            <a:off x="3876613" y="3032969"/>
            <a:ext cx="1759500" cy="47400"/>
          </a:xfrm>
          <a:prstGeom prst="straightConnector1">
            <a:avLst/>
          </a:prstGeom>
          <a:noFill/>
          <a:ln cap="flat" cmpd="sng" w="20500">
            <a:solidFill>
              <a:srgbClr val="666666"/>
            </a:solidFill>
            <a:prstDash val="solid"/>
            <a:round/>
            <a:headEnd len="sm" w="sm" type="none"/>
            <a:tailEnd len="med" w="med" type="triangle"/>
          </a:ln>
        </p:spPr>
      </p:cxnSp>
      <p:cxnSp>
        <p:nvCxnSpPr>
          <p:cNvPr id="957" name="Google Shape;957;h65f250d357b111bf_0_900"/>
          <p:cNvCxnSpPr>
            <a:stCxn id="941" idx="6"/>
          </p:cNvCxnSpPr>
          <p:nvPr/>
        </p:nvCxnSpPr>
        <p:spPr>
          <a:xfrm flipH="1" rot="10800000">
            <a:off x="3876613" y="3133194"/>
            <a:ext cx="1738500" cy="552300"/>
          </a:xfrm>
          <a:prstGeom prst="straightConnector1">
            <a:avLst/>
          </a:prstGeom>
          <a:noFill/>
          <a:ln cap="flat" cmpd="sng" w="20500">
            <a:solidFill>
              <a:srgbClr val="666666"/>
            </a:solidFill>
            <a:prstDash val="solid"/>
            <a:round/>
            <a:headEnd len="sm" w="sm" type="none"/>
            <a:tailEnd len="med" w="med" type="triangle"/>
          </a:ln>
        </p:spPr>
      </p:cxnSp>
      <p:sp>
        <p:nvSpPr>
          <p:cNvPr id="958" name="Google Shape;958;h65f250d357b111bf_0_900"/>
          <p:cNvSpPr txBox="1"/>
          <p:nvPr/>
        </p:nvSpPr>
        <p:spPr>
          <a:xfrm>
            <a:off x="4431010" y="3999778"/>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959" name="Google Shape;959;h65f250d357b111bf_0_900"/>
          <p:cNvSpPr/>
          <p:nvPr/>
        </p:nvSpPr>
        <p:spPr>
          <a:xfrm rot="5400000">
            <a:off x="5788413" y="1510078"/>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960" name="Google Shape;960;h65f250d357b111bf_0_900"/>
          <p:cNvSpPr txBox="1"/>
          <p:nvPr/>
        </p:nvSpPr>
        <p:spPr>
          <a:xfrm>
            <a:off x="307785" y="115996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[0]</a:t>
            </a:r>
            <a:endParaRPr baseline="30000" sz="1800">
              <a:solidFill>
                <a:srgbClr val="0000FF"/>
              </a:solidFill>
              <a:latin typeface="Comfortaa"/>
              <a:ea typeface="Comfortaa"/>
              <a:cs typeface="Comfortaa"/>
              <a:sym typeface="Comfortaa"/>
            </a:endParaRPr>
          </a:p>
        </p:txBody>
      </p:sp>
      <p:sp>
        <p:nvSpPr>
          <p:cNvPr id="961" name="Google Shape;961;h65f250d357b111bf_0_900"/>
          <p:cNvSpPr txBox="1"/>
          <p:nvPr/>
        </p:nvSpPr>
        <p:spPr>
          <a:xfrm>
            <a:off x="3279010" y="120666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962" name="Google Shape;962;h65f250d357b111bf_0_900"/>
          <p:cNvSpPr txBox="1"/>
          <p:nvPr/>
        </p:nvSpPr>
        <p:spPr>
          <a:xfrm>
            <a:off x="5518560" y="124276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963" name="Google Shape;963;h65f250d357b111bf_0_900"/>
          <p:cNvSpPr/>
          <p:nvPr/>
        </p:nvSpPr>
        <p:spPr>
          <a:xfrm flipH="1" rot="5400000">
            <a:off x="2082313" y="3346003"/>
            <a:ext cx="125100" cy="24147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964" name="Google Shape;964;h65f250d357b111bf_0_900"/>
          <p:cNvSpPr/>
          <p:nvPr/>
        </p:nvSpPr>
        <p:spPr>
          <a:xfrm flipH="1" rot="5400000">
            <a:off x="4740338" y="3110428"/>
            <a:ext cx="125100" cy="16917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965" name="Google Shape;965;h65f250d357b111bf_0_900"/>
          <p:cNvSpPr txBox="1"/>
          <p:nvPr/>
        </p:nvSpPr>
        <p:spPr>
          <a:xfrm>
            <a:off x="1808173" y="18194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b</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966" name="Google Shape;966;h65f250d357b111bf_0_900"/>
          <p:cNvSpPr txBox="1"/>
          <p:nvPr/>
        </p:nvSpPr>
        <p:spPr>
          <a:xfrm>
            <a:off x="4488048" y="218116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b</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967" name="Google Shape;967;h65f250d357b111bf_0_90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Multi-layer Notation</a:t>
            </a:r>
            <a:endParaRPr/>
          </a:p>
        </p:txBody>
      </p:sp>
      <p:pic>
        <p:nvPicPr>
          <p:cNvPr id="968" name="Google Shape;968;h65f250d357b111bf_0_900"/>
          <p:cNvPicPr preferRelativeResize="0"/>
          <p:nvPr/>
        </p:nvPicPr>
        <p:blipFill>
          <a:blip r:embed="rId3">
            <a:alphaModFix/>
          </a:blip>
          <a:stretch>
            <a:fillRect/>
          </a:stretch>
        </p:blipFill>
        <p:spPr>
          <a:xfrm>
            <a:off x="6368300" y="1355514"/>
            <a:ext cx="2734047" cy="3260126"/>
          </a:xfrm>
          <a:prstGeom prst="rect">
            <a:avLst/>
          </a:prstGeom>
          <a:noFill/>
          <a:ln>
            <a:noFill/>
          </a:ln>
        </p:spPr>
      </p:pic>
      <p:pic>
        <p:nvPicPr>
          <p:cNvPr id="969" name="Google Shape;969;h65f250d357b111bf_0_900"/>
          <p:cNvPicPr preferRelativeResize="0"/>
          <p:nvPr/>
        </p:nvPicPr>
        <p:blipFill>
          <a:blip r:embed="rId4">
            <a:alphaModFix/>
          </a:blip>
          <a:stretch>
            <a:fillRect/>
          </a:stretch>
        </p:blipFill>
        <p:spPr>
          <a:xfrm>
            <a:off x="6849050" y="109275"/>
            <a:ext cx="1904325" cy="4589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pic>
        <p:nvPicPr>
          <p:cNvPr id="974" name="Google Shape;974;h65f250d357b111bf_0_949"/>
          <p:cNvPicPr preferRelativeResize="0"/>
          <p:nvPr/>
        </p:nvPicPr>
        <p:blipFill>
          <a:blip r:embed="rId3">
            <a:alphaModFix/>
          </a:blip>
          <a:stretch>
            <a:fillRect/>
          </a:stretch>
        </p:blipFill>
        <p:spPr>
          <a:xfrm>
            <a:off x="6368301" y="656134"/>
            <a:ext cx="2734051" cy="4380958"/>
          </a:xfrm>
          <a:prstGeom prst="rect">
            <a:avLst/>
          </a:prstGeom>
          <a:noFill/>
          <a:ln>
            <a:noFill/>
          </a:ln>
        </p:spPr>
      </p:pic>
      <p:sp>
        <p:nvSpPr>
          <p:cNvPr id="975" name="Google Shape;975;h65f250d357b111bf_0_949"/>
          <p:cNvSpPr/>
          <p:nvPr/>
        </p:nvSpPr>
        <p:spPr>
          <a:xfrm>
            <a:off x="313038" y="2595602"/>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976" name="Google Shape;976;h65f250d357b111bf_0_949"/>
          <p:cNvSpPr/>
          <p:nvPr/>
        </p:nvSpPr>
        <p:spPr>
          <a:xfrm>
            <a:off x="313057" y="3171575"/>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977" name="Google Shape;977;h65f250d357b111bf_0_949"/>
          <p:cNvSpPr/>
          <p:nvPr/>
        </p:nvSpPr>
        <p:spPr>
          <a:xfrm>
            <a:off x="313057" y="3999770"/>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978" name="Google Shape;978;h65f250d357b111bf_0_949"/>
          <p:cNvSpPr/>
          <p:nvPr/>
        </p:nvSpPr>
        <p:spPr>
          <a:xfrm>
            <a:off x="313038" y="201961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979" name="Google Shape;979;h65f250d357b111bf_0_949"/>
          <p:cNvSpPr txBox="1"/>
          <p:nvPr/>
        </p:nvSpPr>
        <p:spPr>
          <a:xfrm>
            <a:off x="313051" y="2105691"/>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grpSp>
        <p:nvGrpSpPr>
          <p:cNvPr id="980" name="Google Shape;980;h65f250d357b111bf_0_949"/>
          <p:cNvGrpSpPr/>
          <p:nvPr/>
        </p:nvGrpSpPr>
        <p:grpSpPr>
          <a:xfrm>
            <a:off x="437770" y="3771833"/>
            <a:ext cx="288564" cy="74448"/>
            <a:chOff x="3272500" y="3440675"/>
            <a:chExt cx="372100" cy="96000"/>
          </a:xfrm>
        </p:grpSpPr>
        <p:sp>
          <p:nvSpPr>
            <p:cNvPr id="981" name="Google Shape;981;h65f250d357b111bf_0_949"/>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982" name="Google Shape;982;h65f250d357b111bf_0_949"/>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983" name="Google Shape;983;h65f250d357b111bf_0_949"/>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984" name="Google Shape;984;h65f250d357b111bf_0_949"/>
          <p:cNvSpPr/>
          <p:nvPr/>
        </p:nvSpPr>
        <p:spPr>
          <a:xfrm>
            <a:off x="3370213" y="282716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sp>
        <p:nvSpPr>
          <p:cNvPr id="985" name="Google Shape;985;h65f250d357b111bf_0_949"/>
          <p:cNvSpPr/>
          <p:nvPr/>
        </p:nvSpPr>
        <p:spPr>
          <a:xfrm rot="5400000">
            <a:off x="521838" y="1434628"/>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986" name="Google Shape;986;h65f250d357b111bf_0_949"/>
          <p:cNvSpPr/>
          <p:nvPr/>
        </p:nvSpPr>
        <p:spPr>
          <a:xfrm rot="5400000">
            <a:off x="3522613" y="1434628"/>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987" name="Google Shape;987;h65f250d357b111bf_0_949"/>
          <p:cNvSpPr txBox="1"/>
          <p:nvPr/>
        </p:nvSpPr>
        <p:spPr>
          <a:xfrm>
            <a:off x="1948585" y="4581878"/>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988" name="Google Shape;988;h65f250d357b111bf_0_949"/>
          <p:cNvSpPr/>
          <p:nvPr/>
        </p:nvSpPr>
        <p:spPr>
          <a:xfrm>
            <a:off x="3340663" y="221066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sp>
        <p:nvSpPr>
          <p:cNvPr id="989" name="Google Shape;989;h65f250d357b111bf_0_949"/>
          <p:cNvSpPr/>
          <p:nvPr/>
        </p:nvSpPr>
        <p:spPr>
          <a:xfrm>
            <a:off x="3370213" y="343229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cxnSp>
        <p:nvCxnSpPr>
          <p:cNvPr id="990" name="Google Shape;990;h65f250d357b111bf_0_949"/>
          <p:cNvCxnSpPr>
            <a:stCxn id="979" idx="3"/>
            <a:endCxn id="988" idx="1"/>
          </p:cNvCxnSpPr>
          <p:nvPr/>
        </p:nvCxnSpPr>
        <p:spPr>
          <a:xfrm>
            <a:off x="819451" y="2272791"/>
            <a:ext cx="2595300" cy="12000"/>
          </a:xfrm>
          <a:prstGeom prst="straightConnector1">
            <a:avLst/>
          </a:prstGeom>
          <a:noFill/>
          <a:ln cap="flat" cmpd="sng" w="20500">
            <a:solidFill>
              <a:srgbClr val="B7B7B7"/>
            </a:solidFill>
            <a:prstDash val="solid"/>
            <a:round/>
            <a:headEnd len="sm" w="sm" type="none"/>
            <a:tailEnd len="med" w="med" type="triangle"/>
          </a:ln>
        </p:spPr>
      </p:cxnSp>
      <p:cxnSp>
        <p:nvCxnSpPr>
          <p:cNvPr id="991" name="Google Shape;991;h65f250d357b111bf_0_949"/>
          <p:cNvCxnSpPr>
            <a:stCxn id="975" idx="6"/>
          </p:cNvCxnSpPr>
          <p:nvPr/>
        </p:nvCxnSpPr>
        <p:spPr>
          <a:xfrm flipH="1" rot="10800000">
            <a:off x="819438" y="2409002"/>
            <a:ext cx="2515500" cy="439800"/>
          </a:xfrm>
          <a:prstGeom prst="straightConnector1">
            <a:avLst/>
          </a:prstGeom>
          <a:noFill/>
          <a:ln cap="flat" cmpd="sng" w="20500">
            <a:solidFill>
              <a:srgbClr val="B7B7B7"/>
            </a:solidFill>
            <a:prstDash val="solid"/>
            <a:round/>
            <a:headEnd len="sm" w="sm" type="none"/>
            <a:tailEnd len="med" w="med" type="triangle"/>
          </a:ln>
        </p:spPr>
      </p:cxnSp>
      <p:cxnSp>
        <p:nvCxnSpPr>
          <p:cNvPr id="992" name="Google Shape;992;h65f250d357b111bf_0_949"/>
          <p:cNvCxnSpPr>
            <a:stCxn id="976" idx="6"/>
          </p:cNvCxnSpPr>
          <p:nvPr/>
        </p:nvCxnSpPr>
        <p:spPr>
          <a:xfrm flipH="1" rot="10800000">
            <a:off x="819457" y="2546375"/>
            <a:ext cx="2529300" cy="878400"/>
          </a:xfrm>
          <a:prstGeom prst="straightConnector1">
            <a:avLst/>
          </a:prstGeom>
          <a:noFill/>
          <a:ln cap="flat" cmpd="sng" w="20500">
            <a:solidFill>
              <a:srgbClr val="B7B7B7"/>
            </a:solidFill>
            <a:prstDash val="solid"/>
            <a:round/>
            <a:headEnd len="sm" w="sm" type="none"/>
            <a:tailEnd len="med" w="med" type="triangle"/>
          </a:ln>
        </p:spPr>
      </p:cxnSp>
      <p:cxnSp>
        <p:nvCxnSpPr>
          <p:cNvPr id="993" name="Google Shape;993;h65f250d357b111bf_0_949"/>
          <p:cNvCxnSpPr>
            <a:stCxn id="977" idx="6"/>
            <a:endCxn id="988" idx="3"/>
          </p:cNvCxnSpPr>
          <p:nvPr/>
        </p:nvCxnSpPr>
        <p:spPr>
          <a:xfrm flipH="1" rot="10800000">
            <a:off x="819457" y="2642870"/>
            <a:ext cx="2595300" cy="1610100"/>
          </a:xfrm>
          <a:prstGeom prst="straightConnector1">
            <a:avLst/>
          </a:prstGeom>
          <a:noFill/>
          <a:ln cap="flat" cmpd="sng" w="20500">
            <a:solidFill>
              <a:srgbClr val="B7B7B7"/>
            </a:solidFill>
            <a:prstDash val="solid"/>
            <a:round/>
            <a:headEnd len="sm" w="sm" type="none"/>
            <a:tailEnd len="med" w="med" type="triangle"/>
          </a:ln>
        </p:spPr>
      </p:cxnSp>
      <p:cxnSp>
        <p:nvCxnSpPr>
          <p:cNvPr id="994" name="Google Shape;994;h65f250d357b111bf_0_949"/>
          <p:cNvCxnSpPr>
            <a:stCxn id="975" idx="6"/>
          </p:cNvCxnSpPr>
          <p:nvPr/>
        </p:nvCxnSpPr>
        <p:spPr>
          <a:xfrm>
            <a:off x="819438" y="2848802"/>
            <a:ext cx="2550000" cy="165300"/>
          </a:xfrm>
          <a:prstGeom prst="straightConnector1">
            <a:avLst/>
          </a:prstGeom>
          <a:noFill/>
          <a:ln cap="flat" cmpd="sng" w="20500">
            <a:solidFill>
              <a:srgbClr val="666666"/>
            </a:solidFill>
            <a:prstDash val="solid"/>
            <a:round/>
            <a:headEnd len="sm" w="sm" type="none"/>
            <a:tailEnd len="med" w="med" type="triangle"/>
          </a:ln>
        </p:spPr>
      </p:cxnSp>
      <p:cxnSp>
        <p:nvCxnSpPr>
          <p:cNvPr id="995" name="Google Shape;995;h65f250d357b111bf_0_949"/>
          <p:cNvCxnSpPr>
            <a:stCxn id="976" idx="6"/>
          </p:cNvCxnSpPr>
          <p:nvPr/>
        </p:nvCxnSpPr>
        <p:spPr>
          <a:xfrm flipH="1" rot="10800000">
            <a:off x="819457" y="3137975"/>
            <a:ext cx="2543100" cy="286800"/>
          </a:xfrm>
          <a:prstGeom prst="straightConnector1">
            <a:avLst/>
          </a:prstGeom>
          <a:noFill/>
          <a:ln cap="flat" cmpd="sng" w="20500">
            <a:solidFill>
              <a:srgbClr val="666666"/>
            </a:solidFill>
            <a:prstDash val="solid"/>
            <a:round/>
            <a:headEnd len="sm" w="sm" type="none"/>
            <a:tailEnd len="med" w="med" type="triangle"/>
          </a:ln>
        </p:spPr>
      </p:cxnSp>
      <p:cxnSp>
        <p:nvCxnSpPr>
          <p:cNvPr id="996" name="Google Shape;996;h65f250d357b111bf_0_949"/>
          <p:cNvCxnSpPr>
            <a:stCxn id="977" idx="6"/>
            <a:endCxn id="984" idx="3"/>
          </p:cNvCxnSpPr>
          <p:nvPr/>
        </p:nvCxnSpPr>
        <p:spPr>
          <a:xfrm flipH="1" rot="10800000">
            <a:off x="819457" y="3259370"/>
            <a:ext cx="2625000" cy="993600"/>
          </a:xfrm>
          <a:prstGeom prst="straightConnector1">
            <a:avLst/>
          </a:prstGeom>
          <a:noFill/>
          <a:ln cap="flat" cmpd="sng" w="20500">
            <a:solidFill>
              <a:srgbClr val="666666"/>
            </a:solidFill>
            <a:prstDash val="solid"/>
            <a:round/>
            <a:headEnd len="sm" w="sm" type="none"/>
            <a:tailEnd len="med" w="med" type="triangle"/>
          </a:ln>
        </p:spPr>
      </p:cxnSp>
      <p:cxnSp>
        <p:nvCxnSpPr>
          <p:cNvPr id="997" name="Google Shape;997;h65f250d357b111bf_0_949"/>
          <p:cNvCxnSpPr>
            <a:stCxn id="979" idx="3"/>
            <a:endCxn id="984" idx="1"/>
          </p:cNvCxnSpPr>
          <p:nvPr/>
        </p:nvCxnSpPr>
        <p:spPr>
          <a:xfrm>
            <a:off x="819451" y="2272791"/>
            <a:ext cx="2625000" cy="628500"/>
          </a:xfrm>
          <a:prstGeom prst="straightConnector1">
            <a:avLst/>
          </a:prstGeom>
          <a:noFill/>
          <a:ln cap="flat" cmpd="sng" w="20500">
            <a:solidFill>
              <a:srgbClr val="666666"/>
            </a:solidFill>
            <a:prstDash val="solid"/>
            <a:round/>
            <a:headEnd len="sm" w="sm" type="none"/>
            <a:tailEnd len="med" w="med" type="triangle"/>
          </a:ln>
        </p:spPr>
      </p:cxnSp>
      <p:cxnSp>
        <p:nvCxnSpPr>
          <p:cNvPr id="998" name="Google Shape;998;h65f250d357b111bf_0_949"/>
          <p:cNvCxnSpPr>
            <a:stCxn id="979" idx="3"/>
            <a:endCxn id="989" idx="1"/>
          </p:cNvCxnSpPr>
          <p:nvPr/>
        </p:nvCxnSpPr>
        <p:spPr>
          <a:xfrm>
            <a:off x="819451" y="2272791"/>
            <a:ext cx="2625000" cy="1233600"/>
          </a:xfrm>
          <a:prstGeom prst="straightConnector1">
            <a:avLst/>
          </a:prstGeom>
          <a:noFill/>
          <a:ln cap="flat" cmpd="sng" w="20500">
            <a:solidFill>
              <a:srgbClr val="000000"/>
            </a:solidFill>
            <a:prstDash val="solid"/>
            <a:round/>
            <a:headEnd len="sm" w="sm" type="none"/>
            <a:tailEnd len="med" w="med" type="triangle"/>
          </a:ln>
        </p:spPr>
      </p:cxnSp>
      <p:cxnSp>
        <p:nvCxnSpPr>
          <p:cNvPr id="999" name="Google Shape;999;h65f250d357b111bf_0_949"/>
          <p:cNvCxnSpPr>
            <a:stCxn id="977" idx="6"/>
            <a:endCxn id="989" idx="3"/>
          </p:cNvCxnSpPr>
          <p:nvPr/>
        </p:nvCxnSpPr>
        <p:spPr>
          <a:xfrm flipH="1" rot="10800000">
            <a:off x="819457" y="3864470"/>
            <a:ext cx="2625000" cy="388500"/>
          </a:xfrm>
          <a:prstGeom prst="straightConnector1">
            <a:avLst/>
          </a:prstGeom>
          <a:noFill/>
          <a:ln cap="flat" cmpd="sng" w="20500">
            <a:solidFill>
              <a:srgbClr val="000000"/>
            </a:solidFill>
            <a:prstDash val="solid"/>
            <a:round/>
            <a:headEnd len="sm" w="sm" type="none"/>
            <a:tailEnd len="med" w="med" type="triangle"/>
          </a:ln>
        </p:spPr>
      </p:cxnSp>
      <p:cxnSp>
        <p:nvCxnSpPr>
          <p:cNvPr id="1000" name="Google Shape;1000;h65f250d357b111bf_0_949"/>
          <p:cNvCxnSpPr>
            <a:stCxn id="975" idx="6"/>
          </p:cNvCxnSpPr>
          <p:nvPr/>
        </p:nvCxnSpPr>
        <p:spPr>
          <a:xfrm>
            <a:off x="819438" y="2848802"/>
            <a:ext cx="2529300" cy="777300"/>
          </a:xfrm>
          <a:prstGeom prst="straightConnector1">
            <a:avLst/>
          </a:prstGeom>
          <a:noFill/>
          <a:ln cap="flat" cmpd="sng" w="20500">
            <a:solidFill>
              <a:srgbClr val="000000"/>
            </a:solidFill>
            <a:prstDash val="solid"/>
            <a:round/>
            <a:headEnd len="sm" w="sm" type="none"/>
            <a:tailEnd len="med" w="med" type="triangle"/>
          </a:ln>
        </p:spPr>
      </p:cxnSp>
      <p:cxnSp>
        <p:nvCxnSpPr>
          <p:cNvPr id="1001" name="Google Shape;1001;h65f250d357b111bf_0_949"/>
          <p:cNvCxnSpPr>
            <a:stCxn id="976" idx="6"/>
          </p:cNvCxnSpPr>
          <p:nvPr/>
        </p:nvCxnSpPr>
        <p:spPr>
          <a:xfrm>
            <a:off x="819457" y="3424775"/>
            <a:ext cx="2543100" cy="318300"/>
          </a:xfrm>
          <a:prstGeom prst="straightConnector1">
            <a:avLst/>
          </a:prstGeom>
          <a:noFill/>
          <a:ln cap="flat" cmpd="sng" w="20500">
            <a:solidFill>
              <a:srgbClr val="000000"/>
            </a:solidFill>
            <a:prstDash val="solid"/>
            <a:round/>
            <a:headEnd len="sm" w="sm" type="none"/>
            <a:tailEnd len="med" w="med" type="triangle"/>
          </a:ln>
        </p:spPr>
      </p:cxnSp>
      <p:sp>
        <p:nvSpPr>
          <p:cNvPr id="1002" name="Google Shape;1002;h65f250d357b111bf_0_949"/>
          <p:cNvSpPr/>
          <p:nvPr/>
        </p:nvSpPr>
        <p:spPr>
          <a:xfrm>
            <a:off x="5636013" y="277976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σ</a:t>
            </a:r>
            <a:endParaRPr b="0" sz="1241" strike="noStrike">
              <a:latin typeface="Arial"/>
              <a:ea typeface="Arial"/>
              <a:cs typeface="Arial"/>
              <a:sym typeface="Arial"/>
            </a:endParaRPr>
          </a:p>
        </p:txBody>
      </p:sp>
      <p:cxnSp>
        <p:nvCxnSpPr>
          <p:cNvPr id="1003" name="Google Shape;1003;h65f250d357b111bf_0_949"/>
          <p:cNvCxnSpPr>
            <a:stCxn id="988" idx="6"/>
          </p:cNvCxnSpPr>
          <p:nvPr/>
        </p:nvCxnSpPr>
        <p:spPr>
          <a:xfrm>
            <a:off x="3847063" y="2463869"/>
            <a:ext cx="1774800" cy="461100"/>
          </a:xfrm>
          <a:prstGeom prst="straightConnector1">
            <a:avLst/>
          </a:prstGeom>
          <a:noFill/>
          <a:ln cap="flat" cmpd="sng" w="20500">
            <a:solidFill>
              <a:srgbClr val="666666"/>
            </a:solidFill>
            <a:prstDash val="solid"/>
            <a:round/>
            <a:headEnd len="sm" w="sm" type="none"/>
            <a:tailEnd len="med" w="med" type="triangle"/>
          </a:ln>
        </p:spPr>
      </p:cxnSp>
      <p:cxnSp>
        <p:nvCxnSpPr>
          <p:cNvPr id="1004" name="Google Shape;1004;h65f250d357b111bf_0_949"/>
          <p:cNvCxnSpPr>
            <a:stCxn id="984" idx="6"/>
            <a:endCxn id="1002" idx="2"/>
          </p:cNvCxnSpPr>
          <p:nvPr/>
        </p:nvCxnSpPr>
        <p:spPr>
          <a:xfrm flipH="1" rot="10800000">
            <a:off x="3876613" y="3032969"/>
            <a:ext cx="1759500" cy="47400"/>
          </a:xfrm>
          <a:prstGeom prst="straightConnector1">
            <a:avLst/>
          </a:prstGeom>
          <a:noFill/>
          <a:ln cap="flat" cmpd="sng" w="20500">
            <a:solidFill>
              <a:srgbClr val="666666"/>
            </a:solidFill>
            <a:prstDash val="solid"/>
            <a:round/>
            <a:headEnd len="sm" w="sm" type="none"/>
            <a:tailEnd len="med" w="med" type="triangle"/>
          </a:ln>
        </p:spPr>
      </p:cxnSp>
      <p:cxnSp>
        <p:nvCxnSpPr>
          <p:cNvPr id="1005" name="Google Shape;1005;h65f250d357b111bf_0_949"/>
          <p:cNvCxnSpPr>
            <a:stCxn id="989" idx="6"/>
          </p:cNvCxnSpPr>
          <p:nvPr/>
        </p:nvCxnSpPr>
        <p:spPr>
          <a:xfrm flipH="1" rot="10800000">
            <a:off x="3876613" y="3133194"/>
            <a:ext cx="1738500" cy="552300"/>
          </a:xfrm>
          <a:prstGeom prst="straightConnector1">
            <a:avLst/>
          </a:prstGeom>
          <a:noFill/>
          <a:ln cap="flat" cmpd="sng" w="20500">
            <a:solidFill>
              <a:srgbClr val="666666"/>
            </a:solidFill>
            <a:prstDash val="solid"/>
            <a:round/>
            <a:headEnd len="sm" w="sm" type="none"/>
            <a:tailEnd len="med" w="med" type="triangle"/>
          </a:ln>
        </p:spPr>
      </p:cxnSp>
      <p:sp>
        <p:nvSpPr>
          <p:cNvPr id="1006" name="Google Shape;1006;h65f250d357b111bf_0_949"/>
          <p:cNvSpPr txBox="1"/>
          <p:nvPr/>
        </p:nvSpPr>
        <p:spPr>
          <a:xfrm>
            <a:off x="4431010" y="3999778"/>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1007" name="Google Shape;1007;h65f250d357b111bf_0_949"/>
          <p:cNvSpPr/>
          <p:nvPr/>
        </p:nvSpPr>
        <p:spPr>
          <a:xfrm rot="5400000">
            <a:off x="5788413" y="1510078"/>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008" name="Google Shape;1008;h65f250d357b111bf_0_949"/>
          <p:cNvSpPr txBox="1"/>
          <p:nvPr/>
        </p:nvSpPr>
        <p:spPr>
          <a:xfrm>
            <a:off x="307785" y="115996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[0]</a:t>
            </a:r>
            <a:endParaRPr baseline="30000" sz="1800">
              <a:solidFill>
                <a:srgbClr val="0000FF"/>
              </a:solidFill>
              <a:latin typeface="Comfortaa"/>
              <a:ea typeface="Comfortaa"/>
              <a:cs typeface="Comfortaa"/>
              <a:sym typeface="Comfortaa"/>
            </a:endParaRPr>
          </a:p>
        </p:txBody>
      </p:sp>
      <p:sp>
        <p:nvSpPr>
          <p:cNvPr id="1009" name="Google Shape;1009;h65f250d357b111bf_0_949"/>
          <p:cNvSpPr txBox="1"/>
          <p:nvPr/>
        </p:nvSpPr>
        <p:spPr>
          <a:xfrm>
            <a:off x="3279010" y="120666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1010" name="Google Shape;1010;h65f250d357b111bf_0_949"/>
          <p:cNvSpPr txBox="1"/>
          <p:nvPr/>
        </p:nvSpPr>
        <p:spPr>
          <a:xfrm>
            <a:off x="5518560" y="124276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a</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1011" name="Google Shape;1011;h65f250d357b111bf_0_949"/>
          <p:cNvSpPr/>
          <p:nvPr/>
        </p:nvSpPr>
        <p:spPr>
          <a:xfrm flipH="1" rot="5400000">
            <a:off x="2082313" y="3346003"/>
            <a:ext cx="125100" cy="24147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012" name="Google Shape;1012;h65f250d357b111bf_0_949"/>
          <p:cNvSpPr/>
          <p:nvPr/>
        </p:nvSpPr>
        <p:spPr>
          <a:xfrm flipH="1" rot="5400000">
            <a:off x="4740338" y="3110428"/>
            <a:ext cx="125100" cy="16917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013" name="Google Shape;1013;h65f250d357b111bf_0_949"/>
          <p:cNvSpPr txBox="1"/>
          <p:nvPr/>
        </p:nvSpPr>
        <p:spPr>
          <a:xfrm>
            <a:off x="1808173" y="1819490"/>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b</a:t>
            </a:r>
            <a:r>
              <a:rPr baseline="30000" lang="pt-BR" sz="1800">
                <a:solidFill>
                  <a:srgbClr val="0000FF"/>
                </a:solidFill>
                <a:latin typeface="Comfortaa"/>
                <a:ea typeface="Comfortaa"/>
                <a:cs typeface="Comfortaa"/>
                <a:sym typeface="Comfortaa"/>
              </a:rPr>
              <a:t>[1]</a:t>
            </a:r>
            <a:endParaRPr baseline="30000" sz="1800">
              <a:solidFill>
                <a:srgbClr val="0000FF"/>
              </a:solidFill>
              <a:latin typeface="Comfortaa"/>
              <a:ea typeface="Comfortaa"/>
              <a:cs typeface="Comfortaa"/>
              <a:sym typeface="Comfortaa"/>
            </a:endParaRPr>
          </a:p>
        </p:txBody>
      </p:sp>
      <p:sp>
        <p:nvSpPr>
          <p:cNvPr id="1014" name="Google Shape;1014;h65f250d357b111bf_0_949"/>
          <p:cNvSpPr txBox="1"/>
          <p:nvPr/>
        </p:nvSpPr>
        <p:spPr>
          <a:xfrm>
            <a:off x="4488048" y="2181165"/>
            <a:ext cx="62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b</a:t>
            </a:r>
            <a:r>
              <a:rPr baseline="30000" lang="pt-BR" sz="1800">
                <a:solidFill>
                  <a:srgbClr val="0000FF"/>
                </a:solidFill>
                <a:latin typeface="Comfortaa"/>
                <a:ea typeface="Comfortaa"/>
                <a:cs typeface="Comfortaa"/>
                <a:sym typeface="Comfortaa"/>
              </a:rPr>
              <a:t>[2]</a:t>
            </a:r>
            <a:endParaRPr baseline="30000" sz="1800">
              <a:solidFill>
                <a:srgbClr val="0000FF"/>
              </a:solidFill>
              <a:latin typeface="Comfortaa"/>
              <a:ea typeface="Comfortaa"/>
              <a:cs typeface="Comfortaa"/>
              <a:sym typeface="Comfortaa"/>
            </a:endParaRPr>
          </a:p>
        </p:txBody>
      </p:sp>
      <p:sp>
        <p:nvSpPr>
          <p:cNvPr id="1015" name="Google Shape;1015;h65f250d357b111bf_0_9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Multi-layer Notation</a:t>
            </a:r>
            <a:endParaRPr/>
          </a:p>
        </p:txBody>
      </p:sp>
      <p:pic>
        <p:nvPicPr>
          <p:cNvPr id="1016" name="Google Shape;1016;h65f250d357b111bf_0_949"/>
          <p:cNvPicPr preferRelativeResize="0"/>
          <p:nvPr/>
        </p:nvPicPr>
        <p:blipFill>
          <a:blip r:embed="rId4">
            <a:alphaModFix/>
          </a:blip>
          <a:stretch>
            <a:fillRect/>
          </a:stretch>
        </p:blipFill>
        <p:spPr>
          <a:xfrm>
            <a:off x="6849050" y="109275"/>
            <a:ext cx="1904325" cy="4589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h65f250d357b111bf_0_997"/>
          <p:cNvSpPr txBox="1"/>
          <p:nvPr>
            <p:ph type="title"/>
          </p:nvPr>
        </p:nvSpPr>
        <p:spPr>
          <a:xfrm>
            <a:off x="311700" y="51024"/>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How Weight Affects Cost</a:t>
            </a:r>
            <a:endParaRPr/>
          </a:p>
        </p:txBody>
      </p:sp>
      <p:sp>
        <p:nvSpPr>
          <p:cNvPr id="1022" name="Google Shape;1022;h65f250d357b111bf_0_997"/>
          <p:cNvSpPr txBox="1"/>
          <p:nvPr/>
        </p:nvSpPr>
        <p:spPr>
          <a:xfrm>
            <a:off x="1550550" y="4743300"/>
            <a:ext cx="604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see animation: </a:t>
            </a:r>
            <a:r>
              <a:rPr lang="pt-BR" u="sng">
                <a:solidFill>
                  <a:schemeClr val="hlink"/>
                </a:solidFill>
                <a:hlinkClick r:id="rId3"/>
              </a:rPr>
              <a:t>https://www.3blue1brown.com/lessons/backpropagation</a:t>
            </a:r>
            <a:endParaRPr sz="3000">
              <a:solidFill>
                <a:srgbClr val="434343"/>
              </a:solidFill>
              <a:latin typeface="Comfortaa"/>
              <a:ea typeface="Comfortaa"/>
              <a:cs typeface="Comfortaa"/>
              <a:sym typeface="Comfortaa"/>
            </a:endParaRPr>
          </a:p>
        </p:txBody>
      </p:sp>
      <p:pic>
        <p:nvPicPr>
          <p:cNvPr id="1023" name="Google Shape;1023;h65f250d357b111bf_0_997"/>
          <p:cNvPicPr preferRelativeResize="0"/>
          <p:nvPr/>
        </p:nvPicPr>
        <p:blipFill>
          <a:blip r:embed="rId4">
            <a:alphaModFix/>
          </a:blip>
          <a:stretch>
            <a:fillRect/>
          </a:stretch>
        </p:blipFill>
        <p:spPr>
          <a:xfrm>
            <a:off x="6849050" y="109275"/>
            <a:ext cx="1904325" cy="458975"/>
          </a:xfrm>
          <a:prstGeom prst="rect">
            <a:avLst/>
          </a:prstGeom>
          <a:noFill/>
          <a:ln>
            <a:noFill/>
          </a:ln>
        </p:spPr>
      </p:pic>
      <p:pic>
        <p:nvPicPr>
          <p:cNvPr id="1024" name="Google Shape;1024;h65f250d357b111bf_0_997"/>
          <p:cNvPicPr preferRelativeResize="0"/>
          <p:nvPr/>
        </p:nvPicPr>
        <p:blipFill>
          <a:blip r:embed="rId5">
            <a:alphaModFix/>
          </a:blip>
          <a:stretch>
            <a:fillRect/>
          </a:stretch>
        </p:blipFill>
        <p:spPr>
          <a:xfrm>
            <a:off x="2828688" y="733150"/>
            <a:ext cx="3486624" cy="397334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h65f250d357b111bf_0_1060"/>
          <p:cNvSpPr/>
          <p:nvPr/>
        </p:nvSpPr>
        <p:spPr>
          <a:xfrm>
            <a:off x="1949595" y="3196038"/>
            <a:ext cx="20100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030" name="Google Shape;1030;h65f250d357b111bf_0_1060"/>
          <p:cNvSpPr/>
          <p:nvPr/>
        </p:nvSpPr>
        <p:spPr>
          <a:xfrm>
            <a:off x="277588" y="3196038"/>
            <a:ext cx="16719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031" name="Google Shape;1031;h65f250d357b111bf_0_1060"/>
          <p:cNvSpPr/>
          <p:nvPr/>
        </p:nvSpPr>
        <p:spPr>
          <a:xfrm>
            <a:off x="1432300" y="1998875"/>
            <a:ext cx="6093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032" name="Google Shape;1032;h65f250d357b111bf_0_1060"/>
          <p:cNvSpPr/>
          <p:nvPr/>
        </p:nvSpPr>
        <p:spPr>
          <a:xfrm>
            <a:off x="277600" y="1998875"/>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033" name="Google Shape;1033;h65f250d357b111bf_0_1060"/>
          <p:cNvSpPr/>
          <p:nvPr/>
        </p:nvSpPr>
        <p:spPr>
          <a:xfrm>
            <a:off x="1454625" y="787163"/>
            <a:ext cx="5871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034" name="Google Shape;1034;h65f250d357b111bf_0_1060"/>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Cost vs Computation Graph</a:t>
            </a:r>
            <a:endParaRPr/>
          </a:p>
        </p:txBody>
      </p:sp>
      <p:sp>
        <p:nvSpPr>
          <p:cNvPr id="1035" name="Google Shape;1035;h65f250d357b111bf_0_1060"/>
          <p:cNvSpPr/>
          <p:nvPr/>
        </p:nvSpPr>
        <p:spPr>
          <a:xfrm>
            <a:off x="299925" y="787163"/>
            <a:ext cx="1154700" cy="11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036" name="Google Shape;1036;h65f250d357b111bf_0_1060"/>
          <p:cNvSpPr txBox="1"/>
          <p:nvPr/>
        </p:nvSpPr>
        <p:spPr>
          <a:xfrm>
            <a:off x="1454625" y="810413"/>
            <a:ext cx="534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a:t>
            </a:r>
            <a:endParaRPr sz="2000">
              <a:solidFill>
                <a:srgbClr val="434343"/>
              </a:solidFill>
              <a:latin typeface="Comfortaa"/>
              <a:ea typeface="Comfortaa"/>
              <a:cs typeface="Comfortaa"/>
              <a:sym typeface="Comfortaa"/>
            </a:endParaRPr>
          </a:p>
        </p:txBody>
      </p:sp>
      <p:sp>
        <p:nvSpPr>
          <p:cNvPr id="1037" name="Google Shape;1037;h65f250d357b111bf_0_1060"/>
          <p:cNvSpPr txBox="1"/>
          <p:nvPr/>
        </p:nvSpPr>
        <p:spPr>
          <a:xfrm>
            <a:off x="277600" y="1118214"/>
            <a:ext cx="112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v(x) = x²</a:t>
            </a:r>
            <a:endParaRPr b="1" sz="2000">
              <a:solidFill>
                <a:srgbClr val="434343"/>
              </a:solidFill>
              <a:latin typeface="Comfortaa"/>
              <a:ea typeface="Comfortaa"/>
              <a:cs typeface="Comfortaa"/>
              <a:sym typeface="Comfortaa"/>
            </a:endParaRPr>
          </a:p>
        </p:txBody>
      </p:sp>
      <p:sp>
        <p:nvSpPr>
          <p:cNvPr id="1038" name="Google Shape;1038;h65f250d357b111bf_0_1060"/>
          <p:cNvSpPr txBox="1"/>
          <p:nvPr/>
        </p:nvSpPr>
        <p:spPr>
          <a:xfrm>
            <a:off x="277588" y="3527088"/>
            <a:ext cx="1702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f(x) = u(v(x))</a:t>
            </a:r>
            <a:endParaRPr b="1" sz="2000">
              <a:solidFill>
                <a:srgbClr val="434343"/>
              </a:solidFill>
              <a:latin typeface="Comfortaa"/>
              <a:ea typeface="Comfortaa"/>
              <a:cs typeface="Comfortaa"/>
              <a:sym typeface="Comfortaa"/>
            </a:endParaRPr>
          </a:p>
        </p:txBody>
      </p:sp>
      <p:sp>
        <p:nvSpPr>
          <p:cNvPr id="1039" name="Google Shape;1039;h65f250d357b111bf_0_1060"/>
          <p:cNvSpPr txBox="1"/>
          <p:nvPr/>
        </p:nvSpPr>
        <p:spPr>
          <a:xfrm>
            <a:off x="2188019" y="3219288"/>
            <a:ext cx="1872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df     du  dv</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 = —- . —-</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dx    dv   dx</a:t>
            </a:r>
            <a:endParaRPr sz="2000">
              <a:solidFill>
                <a:srgbClr val="434343"/>
              </a:solidFill>
              <a:latin typeface="Comfortaa"/>
              <a:ea typeface="Comfortaa"/>
              <a:cs typeface="Comfortaa"/>
              <a:sym typeface="Comfortaa"/>
            </a:endParaRPr>
          </a:p>
        </p:txBody>
      </p:sp>
      <p:sp>
        <p:nvSpPr>
          <p:cNvPr id="1040" name="Google Shape;1040;h65f250d357b111bf_0_1060"/>
          <p:cNvSpPr txBox="1"/>
          <p:nvPr/>
        </p:nvSpPr>
        <p:spPr>
          <a:xfrm>
            <a:off x="1432300" y="2022125"/>
            <a:ext cx="609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du             </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dy</a:t>
            </a:r>
            <a:endParaRPr sz="2000">
              <a:solidFill>
                <a:srgbClr val="434343"/>
              </a:solidFill>
              <a:latin typeface="Comfortaa"/>
              <a:ea typeface="Comfortaa"/>
              <a:cs typeface="Comfortaa"/>
              <a:sym typeface="Comfortaa"/>
            </a:endParaRPr>
          </a:p>
        </p:txBody>
      </p:sp>
      <p:sp>
        <p:nvSpPr>
          <p:cNvPr id="1041" name="Google Shape;1041;h65f250d357b111bf_0_1060"/>
          <p:cNvSpPr txBox="1"/>
          <p:nvPr/>
        </p:nvSpPr>
        <p:spPr>
          <a:xfrm>
            <a:off x="277600" y="2329925"/>
            <a:ext cx="115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rgbClr val="434343"/>
                </a:solidFill>
                <a:latin typeface="Comfortaa"/>
                <a:ea typeface="Comfortaa"/>
                <a:cs typeface="Comfortaa"/>
                <a:sym typeface="Comfortaa"/>
              </a:rPr>
              <a:t>u(y) = -y</a:t>
            </a:r>
            <a:endParaRPr b="1"/>
          </a:p>
        </p:txBody>
      </p:sp>
      <p:sp>
        <p:nvSpPr>
          <p:cNvPr id="1042" name="Google Shape;1042;h65f250d357b111bf_0_1060"/>
          <p:cNvSpPr/>
          <p:nvPr/>
        </p:nvSpPr>
        <p:spPr>
          <a:xfrm>
            <a:off x="236625" y="4400884"/>
            <a:ext cx="64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x</a:t>
            </a:r>
            <a:endParaRPr sz="2300">
              <a:latin typeface="Comfortaa"/>
              <a:ea typeface="Comfortaa"/>
              <a:cs typeface="Comfortaa"/>
              <a:sym typeface="Comfortaa"/>
            </a:endParaRPr>
          </a:p>
        </p:txBody>
      </p:sp>
      <p:sp>
        <p:nvSpPr>
          <p:cNvPr id="1043" name="Google Shape;1043;h65f250d357b111bf_0_1060"/>
          <p:cNvSpPr/>
          <p:nvPr/>
        </p:nvSpPr>
        <p:spPr>
          <a:xfrm>
            <a:off x="1878675" y="4400884"/>
            <a:ext cx="10947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v=x²</a:t>
            </a:r>
            <a:endParaRPr sz="2300">
              <a:latin typeface="Comfortaa"/>
              <a:ea typeface="Comfortaa"/>
              <a:cs typeface="Comfortaa"/>
              <a:sym typeface="Comfortaa"/>
            </a:endParaRPr>
          </a:p>
        </p:txBody>
      </p:sp>
      <p:sp>
        <p:nvSpPr>
          <p:cNvPr id="1044" name="Google Shape;1044;h65f250d357b111bf_0_1060"/>
          <p:cNvSpPr/>
          <p:nvPr/>
        </p:nvSpPr>
        <p:spPr>
          <a:xfrm>
            <a:off x="3773875" y="4400884"/>
            <a:ext cx="1242900" cy="6447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2300">
                <a:latin typeface="Comfortaa"/>
                <a:ea typeface="Comfortaa"/>
                <a:cs typeface="Comfortaa"/>
                <a:sym typeface="Comfortaa"/>
              </a:rPr>
              <a:t>u=-v</a:t>
            </a:r>
            <a:endParaRPr sz="2300">
              <a:latin typeface="Comfortaa"/>
              <a:ea typeface="Comfortaa"/>
              <a:cs typeface="Comfortaa"/>
              <a:sym typeface="Comfortaa"/>
            </a:endParaRPr>
          </a:p>
        </p:txBody>
      </p:sp>
      <p:cxnSp>
        <p:nvCxnSpPr>
          <p:cNvPr id="1045" name="Google Shape;1045;h65f250d357b111bf_0_1060"/>
          <p:cNvCxnSpPr>
            <a:stCxn id="1042" idx="6"/>
            <a:endCxn id="1043" idx="2"/>
          </p:cNvCxnSpPr>
          <p:nvPr/>
        </p:nvCxnSpPr>
        <p:spPr>
          <a:xfrm>
            <a:off x="881325" y="4723234"/>
            <a:ext cx="997500" cy="0"/>
          </a:xfrm>
          <a:prstGeom prst="straightConnector1">
            <a:avLst/>
          </a:prstGeom>
          <a:noFill/>
          <a:ln cap="flat" cmpd="sng" w="28575">
            <a:solidFill>
              <a:schemeClr val="dk2"/>
            </a:solidFill>
            <a:prstDash val="solid"/>
            <a:round/>
            <a:headEnd len="med" w="med" type="none"/>
            <a:tailEnd len="med" w="med" type="stealth"/>
          </a:ln>
        </p:spPr>
      </p:cxnSp>
      <p:cxnSp>
        <p:nvCxnSpPr>
          <p:cNvPr id="1046" name="Google Shape;1046;h65f250d357b111bf_0_1060"/>
          <p:cNvCxnSpPr>
            <a:stCxn id="1043" idx="6"/>
            <a:endCxn id="1044" idx="2"/>
          </p:cNvCxnSpPr>
          <p:nvPr/>
        </p:nvCxnSpPr>
        <p:spPr>
          <a:xfrm>
            <a:off x="2973375" y="4723234"/>
            <a:ext cx="800400" cy="0"/>
          </a:xfrm>
          <a:prstGeom prst="straightConnector1">
            <a:avLst/>
          </a:prstGeom>
          <a:noFill/>
          <a:ln cap="flat" cmpd="sng" w="28575">
            <a:solidFill>
              <a:schemeClr val="dk2"/>
            </a:solidFill>
            <a:prstDash val="solid"/>
            <a:round/>
            <a:headEnd len="med" w="med" type="none"/>
            <a:tailEnd len="med" w="med" type="stealth"/>
          </a:ln>
        </p:spPr>
      </p:cxnSp>
      <p:pic>
        <p:nvPicPr>
          <p:cNvPr id="1047" name="Google Shape;1047;h65f250d357b111bf_0_1060"/>
          <p:cNvPicPr preferRelativeResize="0"/>
          <p:nvPr/>
        </p:nvPicPr>
        <p:blipFill>
          <a:blip r:embed="rId3">
            <a:alphaModFix/>
          </a:blip>
          <a:stretch>
            <a:fillRect/>
          </a:stretch>
        </p:blipFill>
        <p:spPr>
          <a:xfrm>
            <a:off x="5353144" y="2693519"/>
            <a:ext cx="3706075" cy="2233226"/>
          </a:xfrm>
          <a:prstGeom prst="rect">
            <a:avLst/>
          </a:prstGeom>
          <a:noFill/>
          <a:ln>
            <a:noFill/>
          </a:ln>
        </p:spPr>
      </p:pic>
      <p:pic>
        <p:nvPicPr>
          <p:cNvPr id="1048" name="Google Shape;1048;h65f250d357b111bf_0_1060"/>
          <p:cNvPicPr preferRelativeResize="0"/>
          <p:nvPr/>
        </p:nvPicPr>
        <p:blipFill>
          <a:blip r:embed="rId4">
            <a:alphaModFix/>
          </a:blip>
          <a:stretch>
            <a:fillRect/>
          </a:stretch>
        </p:blipFill>
        <p:spPr>
          <a:xfrm>
            <a:off x="6226357" y="581650"/>
            <a:ext cx="1959648" cy="2233225"/>
          </a:xfrm>
          <a:prstGeom prst="rect">
            <a:avLst/>
          </a:prstGeom>
          <a:noFill/>
          <a:ln>
            <a:noFill/>
          </a:ln>
        </p:spPr>
      </p:pic>
      <p:sp>
        <p:nvSpPr>
          <p:cNvPr id="1049" name="Google Shape;1049;h65f250d357b111bf_0_1060"/>
          <p:cNvSpPr txBox="1"/>
          <p:nvPr/>
        </p:nvSpPr>
        <p:spPr>
          <a:xfrm>
            <a:off x="2371175" y="1819550"/>
            <a:ext cx="2774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C</a:t>
            </a:r>
            <a:r>
              <a:rPr baseline="-25000" lang="pt-BR" sz="3000">
                <a:solidFill>
                  <a:srgbClr val="434343"/>
                </a:solidFill>
                <a:latin typeface="Comfortaa"/>
                <a:ea typeface="Comfortaa"/>
                <a:cs typeface="Comfortaa"/>
                <a:sym typeface="Comfortaa"/>
              </a:rPr>
              <a:t>0</a:t>
            </a:r>
            <a:r>
              <a:rPr lang="pt-BR" sz="3000">
                <a:solidFill>
                  <a:srgbClr val="434343"/>
                </a:solidFill>
                <a:latin typeface="Comfortaa"/>
                <a:ea typeface="Comfortaa"/>
                <a:cs typeface="Comfortaa"/>
                <a:sym typeface="Comfortaa"/>
              </a:rPr>
              <a:t>(a</a:t>
            </a:r>
            <a:r>
              <a:rPr baseline="30000" lang="pt-BR" sz="3000">
                <a:solidFill>
                  <a:srgbClr val="434343"/>
                </a:solidFill>
                <a:latin typeface="Comfortaa"/>
                <a:ea typeface="Comfortaa"/>
                <a:cs typeface="Comfortaa"/>
                <a:sym typeface="Comfortaa"/>
              </a:rPr>
              <a:t>[L]</a:t>
            </a:r>
            <a:r>
              <a:rPr lang="pt-BR" sz="3000">
                <a:solidFill>
                  <a:srgbClr val="434343"/>
                </a:solidFill>
                <a:latin typeface="Comfortaa"/>
                <a:ea typeface="Comfortaa"/>
                <a:cs typeface="Comfortaa"/>
                <a:sym typeface="Comfortaa"/>
              </a:rPr>
              <a:t>(z</a:t>
            </a:r>
            <a:r>
              <a:rPr baseline="30000" lang="pt-BR" sz="3000">
                <a:solidFill>
                  <a:srgbClr val="434343"/>
                </a:solidFill>
                <a:latin typeface="Comfortaa"/>
                <a:ea typeface="Comfortaa"/>
                <a:cs typeface="Comfortaa"/>
                <a:sym typeface="Comfortaa"/>
              </a:rPr>
              <a:t>[L]</a:t>
            </a:r>
            <a:r>
              <a:rPr lang="pt-BR" sz="3000">
                <a:solidFill>
                  <a:srgbClr val="434343"/>
                </a:solidFill>
                <a:latin typeface="Comfortaa"/>
                <a:ea typeface="Comfortaa"/>
                <a:cs typeface="Comfortaa"/>
                <a:sym typeface="Comfortaa"/>
              </a:rPr>
              <a:t>(w</a:t>
            </a:r>
            <a:r>
              <a:rPr baseline="30000" lang="pt-BR" sz="3000">
                <a:solidFill>
                  <a:srgbClr val="434343"/>
                </a:solidFill>
                <a:latin typeface="Comfortaa"/>
                <a:ea typeface="Comfortaa"/>
                <a:cs typeface="Comfortaa"/>
                <a:sym typeface="Comfortaa"/>
              </a:rPr>
              <a:t>[L]</a:t>
            </a:r>
            <a:r>
              <a:rPr lang="pt-BR" sz="3000">
                <a:solidFill>
                  <a:srgbClr val="434343"/>
                </a:solidFill>
                <a:latin typeface="Comfortaa"/>
                <a:ea typeface="Comfortaa"/>
                <a:cs typeface="Comfortaa"/>
                <a:sym typeface="Comfortaa"/>
              </a:rPr>
              <a:t>))</a:t>
            </a:r>
            <a:endParaRPr sz="3000">
              <a:solidFill>
                <a:srgbClr val="434343"/>
              </a:solidFill>
              <a:latin typeface="Comfortaa"/>
              <a:ea typeface="Comfortaa"/>
              <a:cs typeface="Comfortaa"/>
              <a:sym typeface="Comfortaa"/>
            </a:endParaRPr>
          </a:p>
        </p:txBody>
      </p:sp>
      <p:pic>
        <p:nvPicPr>
          <p:cNvPr id="1050" name="Google Shape;1050;h65f250d357b111bf_0_1060"/>
          <p:cNvPicPr preferRelativeResize="0"/>
          <p:nvPr/>
        </p:nvPicPr>
        <p:blipFill>
          <a:blip r:embed="rId5">
            <a:alphaModFix/>
          </a:blip>
          <a:stretch>
            <a:fillRect/>
          </a:stretch>
        </p:blipFill>
        <p:spPr>
          <a:xfrm>
            <a:off x="7097600" y="122687"/>
            <a:ext cx="1904325" cy="4589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h65f250d357b111bf_0_1090"/>
          <p:cNvSpPr txBox="1"/>
          <p:nvPr>
            <p:ph type="title"/>
          </p:nvPr>
        </p:nvSpPr>
        <p:spPr>
          <a:xfrm>
            <a:off x="311700" y="122675"/>
            <a:ext cx="5252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Computation Graph</a:t>
            </a:r>
            <a:endParaRPr/>
          </a:p>
        </p:txBody>
      </p:sp>
      <p:pic>
        <p:nvPicPr>
          <p:cNvPr id="1056" name="Google Shape;1056;h65f250d357b111bf_0_1090"/>
          <p:cNvPicPr preferRelativeResize="0"/>
          <p:nvPr/>
        </p:nvPicPr>
        <p:blipFill>
          <a:blip r:embed="rId3">
            <a:alphaModFix/>
          </a:blip>
          <a:stretch>
            <a:fillRect/>
          </a:stretch>
        </p:blipFill>
        <p:spPr>
          <a:xfrm>
            <a:off x="7097600" y="122687"/>
            <a:ext cx="1904325" cy="458975"/>
          </a:xfrm>
          <a:prstGeom prst="rect">
            <a:avLst/>
          </a:prstGeom>
          <a:noFill/>
          <a:ln>
            <a:noFill/>
          </a:ln>
        </p:spPr>
      </p:pic>
      <p:pic>
        <p:nvPicPr>
          <p:cNvPr id="1057" name="Google Shape;1057;h65f250d357b111bf_0_1090"/>
          <p:cNvPicPr preferRelativeResize="0"/>
          <p:nvPr/>
        </p:nvPicPr>
        <p:blipFill>
          <a:blip r:embed="rId4">
            <a:alphaModFix/>
          </a:blip>
          <a:stretch>
            <a:fillRect/>
          </a:stretch>
        </p:blipFill>
        <p:spPr>
          <a:xfrm>
            <a:off x="137000" y="1127214"/>
            <a:ext cx="2734047" cy="3260126"/>
          </a:xfrm>
          <a:prstGeom prst="rect">
            <a:avLst/>
          </a:prstGeom>
          <a:noFill/>
          <a:ln>
            <a:noFill/>
          </a:ln>
        </p:spPr>
      </p:pic>
      <p:pic>
        <p:nvPicPr>
          <p:cNvPr id="1058" name="Google Shape;1058;h65f250d357b111bf_0_1090"/>
          <p:cNvPicPr preferRelativeResize="0"/>
          <p:nvPr/>
        </p:nvPicPr>
        <p:blipFill>
          <a:blip r:embed="rId5">
            <a:alphaModFix/>
          </a:blip>
          <a:stretch>
            <a:fillRect/>
          </a:stretch>
        </p:blipFill>
        <p:spPr>
          <a:xfrm>
            <a:off x="2922722" y="1127225"/>
            <a:ext cx="3810000" cy="723900"/>
          </a:xfrm>
          <a:prstGeom prst="rect">
            <a:avLst/>
          </a:prstGeom>
          <a:noFill/>
          <a:ln>
            <a:noFill/>
          </a:ln>
        </p:spPr>
      </p:pic>
      <p:pic>
        <p:nvPicPr>
          <p:cNvPr id="1059" name="Google Shape;1059;h65f250d357b111bf_0_1090"/>
          <p:cNvPicPr preferRelativeResize="0"/>
          <p:nvPr/>
        </p:nvPicPr>
        <p:blipFill>
          <a:blip r:embed="rId6">
            <a:alphaModFix/>
          </a:blip>
          <a:stretch>
            <a:fillRect/>
          </a:stretch>
        </p:blipFill>
        <p:spPr>
          <a:xfrm>
            <a:off x="2922735" y="1979250"/>
            <a:ext cx="3667125" cy="723900"/>
          </a:xfrm>
          <a:prstGeom prst="rect">
            <a:avLst/>
          </a:prstGeom>
          <a:noFill/>
          <a:ln>
            <a:noFill/>
          </a:ln>
        </p:spPr>
      </p:pic>
      <p:pic>
        <p:nvPicPr>
          <p:cNvPr id="1060" name="Google Shape;1060;h65f250d357b111bf_0_1090"/>
          <p:cNvPicPr preferRelativeResize="0"/>
          <p:nvPr/>
        </p:nvPicPr>
        <p:blipFill>
          <a:blip r:embed="rId7">
            <a:alphaModFix/>
          </a:blip>
          <a:stretch>
            <a:fillRect/>
          </a:stretch>
        </p:blipFill>
        <p:spPr>
          <a:xfrm>
            <a:off x="6508425" y="2571750"/>
            <a:ext cx="1206825" cy="863075"/>
          </a:xfrm>
          <a:prstGeom prst="rect">
            <a:avLst/>
          </a:prstGeom>
          <a:noFill/>
          <a:ln>
            <a:noFill/>
          </a:ln>
        </p:spPr>
      </p:pic>
      <p:pic>
        <p:nvPicPr>
          <p:cNvPr id="1061" name="Google Shape;1061;h65f250d357b111bf_0_1090"/>
          <p:cNvPicPr preferRelativeResize="0"/>
          <p:nvPr/>
        </p:nvPicPr>
        <p:blipFill>
          <a:blip r:embed="rId8">
            <a:alphaModFix/>
          </a:blip>
          <a:stretch>
            <a:fillRect/>
          </a:stretch>
        </p:blipFill>
        <p:spPr>
          <a:xfrm>
            <a:off x="3003297" y="3617575"/>
            <a:ext cx="4257675" cy="742950"/>
          </a:xfrm>
          <a:prstGeom prst="rect">
            <a:avLst/>
          </a:prstGeom>
          <a:noFill/>
          <a:ln>
            <a:noFill/>
          </a:ln>
        </p:spPr>
      </p:pic>
      <p:pic>
        <p:nvPicPr>
          <p:cNvPr id="1062" name="Google Shape;1062;h65f250d357b111bf_0_1090"/>
          <p:cNvPicPr preferRelativeResize="0"/>
          <p:nvPr/>
        </p:nvPicPr>
        <p:blipFill>
          <a:blip r:embed="rId9">
            <a:alphaModFix/>
          </a:blip>
          <a:stretch>
            <a:fillRect/>
          </a:stretch>
        </p:blipFill>
        <p:spPr>
          <a:xfrm>
            <a:off x="6694500" y="4360525"/>
            <a:ext cx="1698950" cy="6911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7"/>
          <p:cNvSpPr txBox="1"/>
          <p:nvPr>
            <p:ph idx="1" type="subTitle"/>
          </p:nvPr>
        </p:nvSpPr>
        <p:spPr>
          <a:xfrm>
            <a:off x="1495500" y="1959725"/>
            <a:ext cx="6153000" cy="933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000"/>
              <a:buNone/>
            </a:pPr>
            <a:r>
              <a:rPr b="1" lang="pt-BR" sz="5000">
                <a:solidFill>
                  <a:srgbClr val="FFFFFF"/>
                </a:solidFill>
              </a:rPr>
              <a:t>André Santanchè</a:t>
            </a:r>
            <a:endParaRPr b="1" sz="5000">
              <a:solidFill>
                <a:srgbClr val="FFFFFF"/>
              </a:solidFill>
            </a:endParaRPr>
          </a:p>
        </p:txBody>
      </p:sp>
      <p:sp>
        <p:nvSpPr>
          <p:cNvPr id="1068" name="Google Shape;1068;p7"/>
          <p:cNvSpPr txBox="1"/>
          <p:nvPr/>
        </p:nvSpPr>
        <p:spPr>
          <a:xfrm>
            <a:off x="2339550" y="3134950"/>
            <a:ext cx="4464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Courier New"/>
                <a:ea typeface="Courier New"/>
                <a:cs typeface="Courier New"/>
                <a:sym typeface="Courier New"/>
              </a:rPr>
              <a:t>https://www.ic.unicamp.br/~santanche/</a:t>
            </a:r>
            <a:endParaRPr b="0" i="0" sz="1400" u="none" cap="none" strike="noStrike">
              <a:solidFill>
                <a:schemeClr val="lt1"/>
              </a:solidFill>
              <a:latin typeface="Courier New"/>
              <a:ea typeface="Courier New"/>
              <a:cs typeface="Courier New"/>
              <a:sym typeface="Courier New"/>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h3dfd21779b5c0a09_0_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Acknowledgement</a:t>
            </a:r>
            <a:endParaRPr/>
          </a:p>
        </p:txBody>
      </p:sp>
      <p:sp>
        <p:nvSpPr>
          <p:cNvPr id="1074" name="Google Shape;1074;h3dfd21779b5c0a09_0_53"/>
          <p:cNvSpPr txBox="1"/>
          <p:nvPr>
            <p:ph idx="1" type="body"/>
          </p:nvPr>
        </p:nvSpPr>
        <p:spPr>
          <a:xfrm>
            <a:off x="4572000" y="11524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800"/>
              <a:t>By Jacopo Bertolotti - </a:t>
            </a:r>
            <a:r>
              <a:rPr lang="pt-BR" sz="1800" u="sng">
                <a:solidFill>
                  <a:schemeClr val="hlink"/>
                </a:solidFill>
                <a:hlinkClick r:id="rId3"/>
              </a:rPr>
              <a:t>https://twitter.com/j_bertolotti/status/1121054414066810881</a:t>
            </a:r>
            <a:r>
              <a:rPr lang="pt-BR" sz="1800"/>
              <a:t>, CC0, </a:t>
            </a:r>
            <a:r>
              <a:rPr lang="pt-BR" sz="1800" u="sng">
                <a:solidFill>
                  <a:schemeClr val="hlink"/>
                </a:solidFill>
                <a:hlinkClick r:id="rId4"/>
              </a:rPr>
              <a:t>https://commons.wikimedia.org/w/index.php?curid=78332649</a:t>
            </a:r>
            <a:endParaRPr sz="1700"/>
          </a:p>
        </p:txBody>
      </p:sp>
      <p:pic>
        <p:nvPicPr>
          <p:cNvPr id="1075" name="Google Shape;1075;h3dfd21779b5c0a09_0_53" title="Gradient_descent.gif"/>
          <p:cNvPicPr preferRelativeResize="0"/>
          <p:nvPr/>
        </p:nvPicPr>
        <p:blipFill>
          <a:blip r:embed="rId5">
            <a:alphaModFix/>
          </a:blip>
          <a:stretch>
            <a:fillRect/>
          </a:stretch>
        </p:blipFill>
        <p:spPr>
          <a:xfrm>
            <a:off x="311700" y="1392200"/>
            <a:ext cx="3971300" cy="322117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g3f6939d4d94_0_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Licença</a:t>
            </a:r>
            <a:endParaRPr/>
          </a:p>
        </p:txBody>
      </p:sp>
      <p:sp>
        <p:nvSpPr>
          <p:cNvPr id="1081" name="Google Shape;1081;g3f6939d4d94_0_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74650" lvl="0" marL="457200" rtl="0" algn="l">
              <a:lnSpc>
                <a:spcPct val="115000"/>
              </a:lnSpc>
              <a:spcBef>
                <a:spcPts val="0"/>
              </a:spcBef>
              <a:spcAft>
                <a:spcPts val="0"/>
              </a:spcAft>
              <a:buSzPts val="2300"/>
              <a:buChar char="●"/>
            </a:pPr>
            <a:r>
              <a:rPr lang="pt-BR" sz="2300"/>
              <a:t>Estes slides são concedidos sob uma Licença Creative Commons. Sob as seguintes condições: Atribuição, Uso Não-Comercial e Compartilhamento pela mesma Licença. </a:t>
            </a:r>
            <a:endParaRPr sz="2300"/>
          </a:p>
          <a:p>
            <a:pPr indent="-374650" lvl="0" marL="457200" rtl="0" algn="l">
              <a:lnSpc>
                <a:spcPct val="115000"/>
              </a:lnSpc>
              <a:spcBef>
                <a:spcPts val="0"/>
              </a:spcBef>
              <a:spcAft>
                <a:spcPts val="0"/>
              </a:spcAft>
              <a:buSzPts val="2300"/>
              <a:buChar char="●"/>
            </a:pPr>
            <a:r>
              <a:rPr lang="pt-BR" sz="2300"/>
              <a:t>Mais detalhes sobre a referida licença Creative Commons veja no link:</a:t>
            </a:r>
            <a:br>
              <a:rPr lang="pt-BR" sz="2300"/>
            </a:br>
            <a:r>
              <a:rPr lang="pt-BR" sz="2300" u="sng">
                <a:solidFill>
                  <a:schemeClr val="hlink"/>
                </a:solidFill>
                <a:hlinkClick r:id="rId3"/>
              </a:rPr>
              <a:t>http://creativecommons.org/licenses/by-nc-sa/3.0/</a:t>
            </a:r>
            <a:endParaRPr sz="23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