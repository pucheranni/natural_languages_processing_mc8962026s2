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Lst>
  <p:sldSz cy="5143500" cx="9144000"/>
  <p:notesSz cx="6858000" cy="9144000"/>
  <p:embeddedFontLst>
    <p:embeddedFont>
      <p:font typeface="Advent Pro Medium"/>
      <p:regular r:id="rId99"/>
      <p:bold r:id="rId100"/>
      <p:italic r:id="rId101"/>
      <p:boldItalic r:id="rId102"/>
    </p:embeddedFont>
    <p:embeddedFont>
      <p:font typeface="Advent Pro"/>
      <p:regular r:id="rId103"/>
      <p:bold r:id="rId104"/>
      <p:italic r:id="rId105"/>
      <p:boldItalic r:id="rId106"/>
    </p:embeddedFont>
    <p:embeddedFont>
      <p:font typeface="Comfortaa"/>
      <p:regular r:id="rId107"/>
      <p:bold r:id="rId10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09" roundtripDataSignature="AMtx7mgrZO0Z1ckceLfPvsvPx6PjgLNL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C653A15-511F-42BA-93AC-64E3973AA84D}">
  <a:tblStyle styleId="{8C653A15-511F-42BA-93AC-64E3973AA84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Comfortaa-regular.fntdata"/><Relationship Id="rId106" Type="http://schemas.openxmlformats.org/officeDocument/2006/relationships/font" Target="fonts/AdventPro-boldItalic.fntdata"/><Relationship Id="rId105" Type="http://schemas.openxmlformats.org/officeDocument/2006/relationships/font" Target="fonts/AdventPro-italic.fntdata"/><Relationship Id="rId104" Type="http://schemas.openxmlformats.org/officeDocument/2006/relationships/font" Target="fonts/AdventPro-bold.fntdata"/><Relationship Id="rId109" Type="http://customschemas.google.com/relationships/presentationmetadata" Target="metadata"/><Relationship Id="rId108" Type="http://schemas.openxmlformats.org/officeDocument/2006/relationships/font" Target="fonts/Comfortaa-bold.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AdventPro-regular.fntdata"/><Relationship Id="rId102" Type="http://schemas.openxmlformats.org/officeDocument/2006/relationships/font" Target="fonts/AdventProMedium-boldItalic.fntdata"/><Relationship Id="rId101" Type="http://schemas.openxmlformats.org/officeDocument/2006/relationships/font" Target="fonts/AdventProMedium-italic.fntdata"/><Relationship Id="rId100" Type="http://schemas.openxmlformats.org/officeDocument/2006/relationships/font" Target="fonts/AdventProMedium-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font" Target="fonts/AdventProMedium-regular.fntdata"/><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h3b987c62679a4f5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h3b987c62679a4f5d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pt-BR"/>
              <a:t>Este curso tomou como ponto de partida os slides do colega Luiz Celso Gomes-Jr, a quem agradeço. Slides reutilizados e/ou adaptados receberão o selo ao lado.</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h5972388db0d077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h5972388db0d0776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7a047440f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37a047440fb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3b987c62679a4f5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h3b987c62679a4f5d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3b987c62679a4f5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h3b987c62679a4f5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p(y|x) = \hat{y}^y(1-\hat{y})^{1-y}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3b987c62679a4f5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3b987c62679a4f5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L_{CE}(\hat{y},y) = -\ln{p(y|x)}</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\begin{align*}</a:t>
            </a:r>
            <a:endParaRPr/>
          </a:p>
          <a:p>
            <a:pPr indent="0" lvl="0" marL="0" rtl="0" algn="l">
              <a:spcBef>
                <a:spcPts val="0"/>
              </a:spcBef>
              <a:spcAft>
                <a:spcPts val="0"/>
              </a:spcAft>
              <a:buNone/>
            </a:pPr>
            <a:r>
              <a:rPr lang="pt-BR"/>
              <a:t>L_{CE}(\hat{y},y) &amp;= -\ln{p(y|x)}</a:t>
            </a:r>
            <a:endParaRPr/>
          </a:p>
          <a:p>
            <a:pPr indent="0" lvl="0" marL="0" rtl="0" algn="l">
              <a:spcBef>
                <a:spcPts val="0"/>
              </a:spcBef>
              <a:spcAft>
                <a:spcPts val="0"/>
              </a:spcAft>
              <a:buNone/>
            </a:pPr>
            <a:r>
              <a:rPr lang="pt-BR"/>
              <a:t>\\</a:t>
            </a:r>
            <a:endParaRPr/>
          </a:p>
          <a:p>
            <a:pPr indent="0" lvl="0" marL="0" rtl="0" algn="l">
              <a:spcBef>
                <a:spcPts val="0"/>
              </a:spcBef>
              <a:spcAft>
                <a:spcPts val="0"/>
              </a:spcAft>
              <a:buNone/>
            </a:pPr>
            <a:r>
              <a:rPr lang="pt-BR"/>
              <a:t>&amp;= -\ln\hat{y}^y(1-\hat{y})^{1-y}</a:t>
            </a:r>
            <a:endParaRPr/>
          </a:p>
          <a:p>
            <a:pPr indent="0" lvl="0" marL="0" rtl="0" algn="l">
              <a:spcBef>
                <a:spcPts val="0"/>
              </a:spcBef>
              <a:spcAft>
                <a:spcPts val="0"/>
              </a:spcAft>
              <a:buNone/>
            </a:pPr>
            <a:r>
              <a:rPr lang="pt-BR"/>
              <a:t>\\</a:t>
            </a:r>
            <a:endParaRPr/>
          </a:p>
          <a:p>
            <a:pPr indent="0" lvl="0" marL="0" rtl="0" algn="l">
              <a:spcBef>
                <a:spcPts val="0"/>
              </a:spcBef>
              <a:spcAft>
                <a:spcPts val="0"/>
              </a:spcAft>
              <a:buNone/>
            </a:pPr>
            <a:r>
              <a:rPr lang="pt-BR"/>
              <a:t>&amp;= - \left[ y \ln\hat{y} + (1 - y) \ln(1 - \hat{y}) \right]</a:t>
            </a:r>
            <a:endParaRPr/>
          </a:p>
          <a:p>
            <a:pPr indent="0" lvl="0" marL="0" rtl="0" algn="l">
              <a:spcBef>
                <a:spcPts val="0"/>
              </a:spcBef>
              <a:spcAft>
                <a:spcPts val="0"/>
              </a:spcAft>
              <a:buNone/>
            </a:pPr>
            <a:r>
              <a:rPr lang="pt-BR"/>
              <a:t>\end{align*}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3b987c62679a4f5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h3b987c62679a4f5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\frac{\partial L_{CE}(\hat{y},y)}{\partial w_j} = (\hat{y} - y) x_j</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h3b987c62679a4f5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h3b987c62679a4f5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\Delta w_j =  -\eta (\hat{y} - y) x_j</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\Delta w_j &amp;= -\eta \frac{\partial L_{CE}(\hat{y},y)}{\partial w_j}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-\eta (\hat{y} - y) x_j</a:t>
            </a:r>
            <a:endParaRPr/>
          </a:p>
          <a:p>
            <a:pPr indent="0" lvl="0" marL="0" rtl="0" algn="l">
              <a:spcBef>
                <a:spcPts val="0"/>
              </a:spcBef>
              <a:spcAft>
                <a:spcPts val="0"/>
              </a:spcAft>
              <a:buNone/>
            </a:pPr>
            <a:r>
              <a:rPr lang="pt-BR"/>
              <a:t>\end{align*}</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3b987c62679a4f5d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h3b987c62679a4f5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\Delta w_j = -\eta (\hat{y} - y) x_j</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w^{t+1} = w^t + \Delta w_j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w^{t+1} &amp;= w^t + \Delta w_j  </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w^t-\eta \frac{\partial L_{CE}(\hat{y},y)}{\partial w_j}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w^t - \eta (\hat{y} - y) x_j</a:t>
            </a:r>
            <a:endParaRPr/>
          </a:p>
          <a:p>
            <a:pPr indent="0" lvl="0" marL="0" rtl="0" algn="l">
              <a:spcBef>
                <a:spcPts val="0"/>
              </a:spcBef>
              <a:spcAft>
                <a:spcPts val="0"/>
              </a:spcAft>
              <a:buNone/>
            </a:pPr>
            <a:r>
              <a:rPr lang="pt-BR"/>
              <a:t>\end{align*}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h3b987c62679a4f5d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h3b987c62679a4f5d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p(y|x) &amp;=\hat{y}^y(1-\hat{y})^{1-y}</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L_{CE}(\hat{y},y) &amp;= -\ln{p(y|x)}</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\frac{\partial L_{CE}(\hat{y},y)}{\partial w_j} &amp;= (\hat{y} - y) x_j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\Delta w_j &amp;=  -\eta (\hat{y} - y) x_j</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w^{t+1} &amp;= w^t + \Delta w_j</a:t>
            </a:r>
            <a:endParaRPr/>
          </a:p>
          <a:p>
            <a:pPr indent="0" lvl="0" marL="0" rtl="0" algn="l">
              <a:spcBef>
                <a:spcPts val="0"/>
              </a:spcBef>
              <a:spcAft>
                <a:spcPts val="0"/>
              </a:spcAft>
              <a:buNone/>
            </a:pPr>
            <a:r>
              <a:rPr lang="pt-BR"/>
              <a:t>\end{align}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3b987c62679a4f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3b987c62679a4f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3b987c62679a4f5d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h3b987c62679a4f5d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h3b987c62679a4f5d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h3b987c62679a4f5d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h3b987c62679a4f5d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h3b987c62679a4f5d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\hat{y} = g \left(\sum_{i=1}^{m} x_i w_i \right)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h3b987c62679a4f5d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h3b987c62679a4f5d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\hat{y} = g \left( w_0 + \sum_{i=1}^{m} x_i w_i \right)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3b987c62679a4f5d_0_1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h3b987c62679a4f5d_0_1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h4f8be8f1b2c30e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h4f8be8f1b2c30e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h3b987c62679a4f5d_0_1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h3b987c62679a4f5d_0_1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pt-BR"/>
              <a:t>\begin{align*}</a:t>
            </a:r>
            <a:endParaRPr/>
          </a:p>
          <a:p>
            <a:pPr indent="0" lvl="0" marL="0" rtl="0" algn="l">
              <a:spcBef>
                <a:spcPts val="0"/>
              </a:spcBef>
              <a:spcAft>
                <a:spcPts val="0"/>
              </a:spcAft>
              <a:buSzPts val="1100"/>
              <a:buNone/>
            </a:pPr>
            <a:r>
              <a:rPr lang="pt-BR"/>
              <a:t>&amp; z=\beta_0+\beta_1X</a:t>
            </a:r>
            <a:endParaRPr/>
          </a:p>
          <a:p>
            <a:pPr indent="0" lvl="0" marL="0" rtl="0" algn="l">
              <a:spcBef>
                <a:spcPts val="0"/>
              </a:spcBef>
              <a:spcAft>
                <a:spcPts val="0"/>
              </a:spcAft>
              <a:buSzPts val="1100"/>
              <a:buNone/>
            </a:pPr>
            <a:r>
              <a:rPr lang="pt-BR"/>
              <a:t>\\</a:t>
            </a:r>
            <a:endParaRPr/>
          </a:p>
          <a:p>
            <a:pPr indent="0" lvl="0" marL="0" rtl="0" algn="l">
              <a:spcBef>
                <a:spcPts val="0"/>
              </a:spcBef>
              <a:spcAft>
                <a:spcPts val="0"/>
              </a:spcAft>
              <a:buSzPts val="1100"/>
              <a:buNone/>
            </a:pPr>
            <a:r>
              <a:rPr lang="pt-BR"/>
              <a:t>&amp; p(X) = \frac{1}{1 + e^{-z}}</a:t>
            </a:r>
            <a:endParaRPr/>
          </a:p>
          <a:p>
            <a:pPr indent="0" lvl="0" marL="0" rtl="0" algn="l">
              <a:spcBef>
                <a:spcPts val="0"/>
              </a:spcBef>
              <a:spcAft>
                <a:spcPts val="0"/>
              </a:spcAft>
              <a:buSzPts val="1100"/>
              <a:buNone/>
            </a:pPr>
            <a:r>
              <a:rPr lang="pt-BR"/>
              <a:t>\end{align*}</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pt-BR"/>
              <a:t>\begin{align*}</a:t>
            </a:r>
            <a:endParaRPr/>
          </a:p>
          <a:p>
            <a:pPr indent="0" lvl="0" marL="0" rtl="0" algn="l">
              <a:spcBef>
                <a:spcPts val="0"/>
              </a:spcBef>
              <a:spcAft>
                <a:spcPts val="0"/>
              </a:spcAft>
              <a:buSzPts val="1100"/>
              <a:buNone/>
            </a:pPr>
            <a:r>
              <a:rPr lang="pt-BR"/>
              <a:t>&amp; w_1 = 2.42 \ (gbc)</a:t>
            </a:r>
            <a:endParaRPr/>
          </a:p>
          <a:p>
            <a:pPr indent="0" lvl="0" marL="0" rtl="0" algn="l">
              <a:spcBef>
                <a:spcPts val="0"/>
              </a:spcBef>
              <a:spcAft>
                <a:spcPts val="0"/>
              </a:spcAft>
              <a:buSzPts val="1100"/>
              <a:buNone/>
            </a:pPr>
            <a:r>
              <a:rPr lang="pt-BR"/>
              <a:t>\\</a:t>
            </a:r>
            <a:endParaRPr/>
          </a:p>
          <a:p>
            <a:pPr indent="0" lvl="0" marL="0" rtl="0" algn="l">
              <a:spcBef>
                <a:spcPts val="0"/>
              </a:spcBef>
              <a:spcAft>
                <a:spcPts val="0"/>
              </a:spcAft>
              <a:buSzPts val="1100"/>
              <a:buNone/>
            </a:pPr>
            <a:r>
              <a:rPr lang="pt-BR"/>
              <a:t>&amp; b = -16.11 \ (intercept)</a:t>
            </a:r>
            <a:endParaRPr/>
          </a:p>
          <a:p>
            <a:pPr indent="0" lvl="0" marL="0" rtl="0" algn="l">
              <a:spcBef>
                <a:spcPts val="0"/>
              </a:spcBef>
              <a:spcAft>
                <a:spcPts val="0"/>
              </a:spcAft>
              <a:buSzPts val="1100"/>
              <a:buNone/>
            </a:pPr>
            <a:r>
              <a:rPr lang="pt-BR"/>
              <a:t>\\</a:t>
            </a:r>
            <a:endParaRPr/>
          </a:p>
          <a:p>
            <a:pPr indent="0" lvl="0" marL="0" rtl="0" algn="l">
              <a:spcBef>
                <a:spcPts val="0"/>
              </a:spcBef>
              <a:spcAft>
                <a:spcPts val="0"/>
              </a:spcAft>
              <a:buSzPts val="1100"/>
              <a:buNone/>
            </a:pPr>
            <a:r>
              <a:rPr lang="pt-BR"/>
              <a:t>&amp; z=2.42 \times x_1-16.11</a:t>
            </a:r>
            <a:endParaRPr/>
          </a:p>
          <a:p>
            <a:pPr indent="0" lvl="0" marL="0" rtl="0" algn="l">
              <a:spcBef>
                <a:spcPts val="0"/>
              </a:spcBef>
              <a:spcAft>
                <a:spcPts val="0"/>
              </a:spcAft>
              <a:buSzPts val="1100"/>
              <a:buNone/>
            </a:pPr>
            <a:r>
              <a:rPr lang="pt-BR"/>
              <a:t>\\</a:t>
            </a:r>
            <a:endParaRPr/>
          </a:p>
          <a:p>
            <a:pPr indent="0" lvl="0" marL="0" rtl="0" algn="l">
              <a:spcBef>
                <a:spcPts val="0"/>
              </a:spcBef>
              <a:spcAft>
                <a:spcPts val="0"/>
              </a:spcAft>
              <a:buSzPts val="1100"/>
              <a:buNone/>
            </a:pPr>
            <a:r>
              <a:rPr lang="pt-BR"/>
              <a:t>&amp; p(x) = \frac{1}{1 + e^{-(2.42 \times x_1-16.11)}}</a:t>
            </a:r>
            <a:endParaRPr/>
          </a:p>
          <a:p>
            <a:pPr indent="0" lvl="0" marL="0" rtl="0" algn="l">
              <a:spcBef>
                <a:spcPts val="0"/>
              </a:spcBef>
              <a:spcAft>
                <a:spcPts val="0"/>
              </a:spcAft>
              <a:buSzPts val="1100"/>
              <a:buNone/>
            </a:pPr>
            <a:r>
              <a:rPr lang="pt-BR"/>
              <a:t>\end{align*}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3b987c62679a4f5d_0_1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h3b987c62679a4f5d_0_12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h4f8be8f1b2c30ea5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h4f8be8f1b2c30ea5_0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z &amp;= -16.11+2.42 \times 7.6</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2.82</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p(x) &amp;= \frac{1}{1 + e^{-2.82}} \\</a:t>
            </a:r>
            <a:endParaRPr/>
          </a:p>
          <a:p>
            <a:pPr indent="0" lvl="0" marL="0" rtl="0" algn="l">
              <a:spcBef>
                <a:spcPts val="0"/>
              </a:spcBef>
              <a:spcAft>
                <a:spcPts val="0"/>
              </a:spcAft>
              <a:buClr>
                <a:schemeClr val="dk1"/>
              </a:buClr>
              <a:buSzPts val="1100"/>
              <a:buFont typeface="Arial"/>
              <a:buNone/>
            </a:pPr>
            <a:r>
              <a:rPr lang="pt-BR"/>
              <a:t>&amp;= 0.91</a:t>
            </a:r>
            <a:endParaRPr/>
          </a:p>
          <a:p>
            <a:pPr indent="0" lvl="0" marL="0" rtl="0" algn="l">
              <a:lnSpc>
                <a:spcPct val="100000"/>
              </a:lnSpc>
              <a:spcBef>
                <a:spcPts val="0"/>
              </a:spcBef>
              <a:spcAft>
                <a:spcPts val="0"/>
              </a:spcAft>
              <a:buSzPts val="1100"/>
              <a:buNone/>
            </a:pPr>
            <a:r>
              <a:rPr lang="pt-BR"/>
              <a:t>\end{align*}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h3b987c62679a4f5d_0_1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h3b987c62679a4f5d_0_1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h3b987c62679a4f5d_0_1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h3b987c62679a4f5d_0_13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h3b987c62679a4f5d_0_1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h3b987c62679a4f5d_0_14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h3b987c62679a4f5d_0_1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h3b987c62679a4f5d_0_15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z &amp;= -16.11+2.42 \times 7.6</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2.82</a:t>
            </a:r>
            <a:endParaRPr/>
          </a:p>
          <a:p>
            <a:pPr indent="0" lvl="0" marL="0" rtl="0" algn="l">
              <a:spcBef>
                <a:spcPts val="0"/>
              </a:spcBef>
              <a:spcAft>
                <a:spcPts val="0"/>
              </a:spcAft>
              <a:buClr>
                <a:schemeClr val="dk1"/>
              </a:buClr>
              <a:buSzPts val="1100"/>
              <a:buFont typeface="Arial"/>
              <a:buNone/>
            </a:pPr>
            <a:r>
              <a:rPr lang="pt-BR"/>
              <a:t>\end{align*}</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h3b987c62679a4f5d_0_1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2" name="Google Shape;452;h3b987c62679a4f5d_0_15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h3b987c62679a4f5d_0_1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h3b987c62679a4f5d_0_16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h3b987c62679a4f5d_0_1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2" name="Google Shape;512;h3b987c62679a4f5d_0_16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3b987c62679a4f5d_0_1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h3b987c62679a4f5d_0_17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&amp; w_0 = -33.19 \ (intercept)</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w_1 = 1.60 \ (gbc)</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w_2 = 0.47 (gs)</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z=-33.19+1.60x_1+0.47x_2</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&amp; p(x) = \frac{1}{1 + e^{-z}}</a:t>
            </a:r>
            <a:endParaRPr/>
          </a:p>
          <a:p>
            <a:pPr indent="0" lvl="0" marL="0" rtl="0" algn="l">
              <a:lnSpc>
                <a:spcPct val="100000"/>
              </a:lnSpc>
              <a:spcBef>
                <a:spcPts val="0"/>
              </a:spcBef>
              <a:spcAft>
                <a:spcPts val="0"/>
              </a:spcAft>
              <a:buSzPts val="1100"/>
              <a:buNone/>
            </a:pPr>
            <a:r>
              <a:rPr lang="pt-BR"/>
              <a:t>\end{align*}</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h3b987c62679a4f5d_0_1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5" name="Google Shape;545;h3b987c62679a4f5d_0_17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h3b987c62679a4f5d_0_1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h3b987c62679a4f5d_0_17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h3b987c62679a4f5d_0_1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2" name="Google Shape;592;h3b987c62679a4f5d_0_18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h3b987c62679a4f5d_0_18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7" name="Google Shape;617;h3b987c62679a4f5d_0_18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h3b987c62679a4f5d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h3b987c62679a4f5d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\begin{align*}</a:t>
            </a:r>
            <a:endParaRPr/>
          </a:p>
          <a:p>
            <a:pPr indent="0" lvl="0" marL="0" rtl="0" algn="l">
              <a:spcBef>
                <a:spcPts val="0"/>
              </a:spcBef>
              <a:spcAft>
                <a:spcPts val="0"/>
              </a:spcAft>
              <a:buClr>
                <a:schemeClr val="dk1"/>
              </a:buClr>
              <a:buSzPts val="1100"/>
              <a:buFont typeface="Arial"/>
              <a:buNone/>
            </a:pPr>
            <a:r>
              <a:rPr lang="pt-BR"/>
              <a:t>% Summation Form (Top)</a:t>
            </a:r>
            <a:endParaRPr/>
          </a:p>
          <a:p>
            <a:pPr indent="0" lvl="0" marL="0" rtl="0" algn="l">
              <a:spcBef>
                <a:spcPts val="0"/>
              </a:spcBef>
              <a:spcAft>
                <a:spcPts val="0"/>
              </a:spcAft>
              <a:buClr>
                <a:schemeClr val="dk1"/>
              </a:buClr>
              <a:buSzPts val="1100"/>
              <a:buFont typeface="Arial"/>
              <a:buNone/>
            </a:pPr>
            <a:r>
              <a:rPr lang="pt-BR"/>
              <a:t>&amp; \hat{y} = g \left( w_0 + \sum_{i=1}^{m} x_i w_i \right)</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 Vectorized Form (Middle)</a:t>
            </a:r>
            <a:endParaRPr/>
          </a:p>
          <a:p>
            <a:pPr indent="0" lvl="0" marL="0" rtl="0" algn="l">
              <a:spcBef>
                <a:spcPts val="0"/>
              </a:spcBef>
              <a:spcAft>
                <a:spcPts val="0"/>
              </a:spcAft>
              <a:buClr>
                <a:schemeClr val="dk1"/>
              </a:buClr>
              <a:buSzPts val="1100"/>
              <a:buFont typeface="Arial"/>
              <a:buNone/>
            </a:pPr>
            <a:r>
              <a:rPr lang="pt-BR"/>
              <a:t>&amp; \hat{y} = g \left( w_0 + \mathbf{X}^T \mathbf{W} \right)</a:t>
            </a:r>
            <a:endParaRPr/>
          </a:p>
          <a:p>
            <a:pPr indent="0" lvl="0" marL="0" rtl="0" algn="l">
              <a:spcBef>
                <a:spcPts val="0"/>
              </a:spcBef>
              <a:spcAft>
                <a:spcPts val="0"/>
              </a:spcAft>
              <a:buClr>
                <a:schemeClr val="dk1"/>
              </a:buClr>
              <a:buSzPts val="1100"/>
              <a:buFont typeface="Arial"/>
              <a:buNone/>
            </a:pPr>
            <a:r>
              <a:rPr lang="pt-BR"/>
              <a:t>\\</a:t>
            </a:r>
            <a:endParaRPr/>
          </a:p>
          <a:p>
            <a:pPr indent="0" lvl="0" marL="0" rtl="0" algn="l">
              <a:spcBef>
                <a:spcPts val="0"/>
              </a:spcBef>
              <a:spcAft>
                <a:spcPts val="0"/>
              </a:spcAft>
              <a:buClr>
                <a:schemeClr val="dk1"/>
              </a:buClr>
              <a:buSzPts val="1100"/>
              <a:buFont typeface="Arial"/>
              <a:buNone/>
            </a:pPr>
            <a:r>
              <a:rPr lang="pt-BR"/>
              <a:t>% Definitions (Bottom)</a:t>
            </a:r>
            <a:endParaRPr/>
          </a:p>
          <a:p>
            <a:pPr indent="0" lvl="0" marL="0" rtl="0" algn="l">
              <a:spcBef>
                <a:spcPts val="0"/>
              </a:spcBef>
              <a:spcAft>
                <a:spcPts val="0"/>
              </a:spcAft>
              <a:buClr>
                <a:schemeClr val="dk1"/>
              </a:buClr>
              <a:buSzPts val="1100"/>
              <a:buFont typeface="Arial"/>
              <a:buNone/>
            </a:pPr>
            <a:r>
              <a:rPr lang="pt-BR"/>
              <a:t>&amp; \text{where: } \mathbf{X} = \begin{bmatrix} x_1 \\ \vdots \\ x_m \end{bmatrix} \quad \text{and} \quad \mathbf{W} = \begin{bmatrix} w_1 \\ \vdots \\ w_m \end{bmatrix}</a:t>
            </a:r>
            <a:endParaRPr/>
          </a:p>
          <a:p>
            <a:pPr indent="0" lvl="0" marL="0" rtl="0" algn="l">
              <a:spcBef>
                <a:spcPts val="0"/>
              </a:spcBef>
              <a:spcAft>
                <a:spcPts val="0"/>
              </a:spcAft>
              <a:buNone/>
            </a:pPr>
            <a:r>
              <a:rPr lang="pt-BR"/>
              <a:t>\end{align*}</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h3b987c62679a4f5d_0_995: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649" name="Google Shape;649;h3b987c62679a4f5d_0_995: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rtl="0" algn="l">
              <a:spcBef>
                <a:spcPts val="0"/>
              </a:spcBef>
              <a:spcAft>
                <a:spcPts val="0"/>
              </a:spcAft>
              <a:buNone/>
            </a:pPr>
            <a:r>
              <a:rPr lang="pt-BR" sz="1100">
                <a:solidFill>
                  <a:schemeClr val="dk1"/>
                </a:solidFill>
                <a:latin typeface="Calibri"/>
                <a:ea typeface="Calibri"/>
                <a:cs typeface="Calibri"/>
                <a:sym typeface="Calibri"/>
              </a:rPr>
              <a:t>This example was first shown for the </a:t>
            </a:r>
            <a:r>
              <a:rPr b="0" lang="pt-BR" sz="1100">
                <a:solidFill>
                  <a:schemeClr val="dk1"/>
                </a:solidFill>
                <a:latin typeface="Calibri"/>
                <a:ea typeface="Calibri"/>
                <a:cs typeface="Calibri"/>
                <a:sym typeface="Calibri"/>
              </a:rPr>
              <a:t>perceptron</a:t>
            </a:r>
            <a:r>
              <a:rPr lang="pt-BR" sz="1100">
                <a:solidFill>
                  <a:schemeClr val="dk1"/>
                </a:solidFill>
                <a:latin typeface="Calibri"/>
                <a:ea typeface="Calibri"/>
                <a:cs typeface="Calibri"/>
                <a:sym typeface="Calibri"/>
              </a:rPr>
              <a:t>, which is a very simple neural unit that has a binary output and does </a:t>
            </a:r>
            <a:r>
              <a:rPr b="0" lang="pt-BR" sz="1100">
                <a:solidFill>
                  <a:schemeClr val="dk1"/>
                </a:solidFill>
                <a:latin typeface="Calibri"/>
                <a:ea typeface="Calibri"/>
                <a:cs typeface="Calibri"/>
                <a:sym typeface="Calibri"/>
              </a:rPr>
              <a:t>not </a:t>
            </a:r>
            <a:r>
              <a:rPr lang="pt-BR" sz="1100">
                <a:solidFill>
                  <a:schemeClr val="dk1"/>
                </a:solidFill>
                <a:latin typeface="Calibri"/>
                <a:ea typeface="Calibri"/>
                <a:cs typeface="Calibri"/>
                <a:sym typeface="Calibri"/>
              </a:rPr>
              <a:t>have a non-linear activation function.  The output </a:t>
            </a:r>
            <a:r>
              <a:rPr i="1" lang="pt-BR" sz="1100">
                <a:solidFill>
                  <a:schemeClr val="dk1"/>
                </a:solidFill>
                <a:latin typeface="Calibri"/>
                <a:ea typeface="Calibri"/>
                <a:cs typeface="Calibri"/>
                <a:sym typeface="Calibri"/>
              </a:rPr>
              <a:t>y </a:t>
            </a:r>
            <a:r>
              <a:rPr lang="pt-BR" sz="1100">
                <a:solidFill>
                  <a:schemeClr val="dk1"/>
                </a:solidFill>
                <a:latin typeface="Calibri"/>
                <a:ea typeface="Calibri"/>
                <a:cs typeface="Calibri"/>
                <a:sym typeface="Calibri"/>
              </a:rPr>
              <a:t>of a perceptron is 0 or 1, and is computed as follows (using the same weight </a:t>
            </a:r>
            <a:endParaRPr/>
          </a:p>
          <a:p>
            <a:pPr indent="0" lvl="0" marL="0" rtl="0" algn="l">
              <a:spcBef>
                <a:spcPts val="0"/>
              </a:spcBef>
              <a:spcAft>
                <a:spcPts val="0"/>
              </a:spcAft>
              <a:buNone/>
            </a:pPr>
            <a:r>
              <a:rPr i="1" lang="pt-BR" sz="1100">
                <a:solidFill>
                  <a:schemeClr val="dk1"/>
                </a:solidFill>
                <a:latin typeface="Calibri"/>
                <a:ea typeface="Calibri"/>
                <a:cs typeface="Calibri"/>
                <a:sym typeface="Calibri"/>
              </a:rPr>
              <a:t>w</a:t>
            </a:r>
            <a:r>
              <a:rPr lang="pt-BR" sz="1100">
                <a:solidFill>
                  <a:schemeClr val="dk1"/>
                </a:solidFill>
                <a:latin typeface="Calibri"/>
                <a:ea typeface="Calibri"/>
                <a:cs typeface="Calibri"/>
                <a:sym typeface="Calibri"/>
              </a:rPr>
              <a:t>, input </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 and bias </a:t>
            </a:r>
            <a:r>
              <a:rPr i="1" lang="pt-BR" sz="1100">
                <a:solidFill>
                  <a:schemeClr val="dk1"/>
                </a:solidFill>
                <a:latin typeface="Calibri"/>
                <a:ea typeface="Calibri"/>
                <a:cs typeface="Calibri"/>
                <a:sym typeface="Calibri"/>
              </a:rPr>
              <a:t>b </a:t>
            </a:r>
            <a:r>
              <a:rPr i="0" lang="pt-BR" sz="1100">
                <a:solidFill>
                  <a:schemeClr val="dk1"/>
                </a:solidFill>
                <a:latin typeface="Calibri"/>
                <a:ea typeface="Calibri"/>
                <a:cs typeface="Calibri"/>
                <a:sym typeface="Calibri"/>
              </a:rPr>
              <a:t>we've seen already</a:t>
            </a:r>
            <a:br>
              <a:rPr lang="pt-BR" sz="1100">
                <a:solidFill>
                  <a:schemeClr val="dk1"/>
                </a:solidFill>
                <a:latin typeface="Calibri"/>
                <a:ea typeface="Calibri"/>
                <a:cs typeface="Calibri"/>
                <a:sym typeface="Calibri"/>
              </a:rPr>
            </a:br>
            <a:endParaRPr/>
          </a:p>
          <a:p>
            <a:pPr indent="0" lvl="0" marL="0" marR="0" rtl="0" algn="l">
              <a:lnSpc>
                <a:spcPct val="100000"/>
              </a:lnSpc>
              <a:spcBef>
                <a:spcPts val="0"/>
              </a:spcBef>
              <a:spcAft>
                <a:spcPts val="0"/>
              </a:spcAft>
              <a:buClr>
                <a:schemeClr val="dk1"/>
              </a:buClr>
              <a:buSzPts val="800"/>
              <a:buFont typeface="Calibri"/>
              <a:buNone/>
            </a:pPr>
            <a:r>
              <a:t/>
            </a:r>
            <a:endParaRPr/>
          </a:p>
          <a:p>
            <a:pPr indent="0" lvl="0" marL="0" rtl="0" algn="l">
              <a:spcBef>
                <a:spcPts val="0"/>
              </a:spcBef>
              <a:spcAft>
                <a:spcPts val="0"/>
              </a:spcAft>
              <a:buNone/>
            </a:pPr>
            <a:r>
              <a:t/>
            </a:r>
            <a:endParaRPr/>
          </a:p>
        </p:txBody>
      </p:sp>
      <p:sp>
        <p:nvSpPr>
          <p:cNvPr id="650" name="Google Shape;650;h3b987c62679a4f5d_0_995: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h3b987c62679a4f5d_0_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h3b987c62679a4f5d_0_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h3b987c62679a4f5d_0_1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h3b987c62679a4f5d_0_1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h3b987c62679a4f5d_0_1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h3b987c62679a4f5d_0_1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h3b987c62679a4f5d_0_1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h3b987c62679a4f5d_0_1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h1863e7f528e27f2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h1863e7f528e27f2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h1863e7f528e27f29_0_172:notes"/>
          <p:cNvSpPr txBox="1"/>
          <p:nvPr>
            <p:ph idx="1" type="body"/>
          </p:nvPr>
        </p:nvSpPr>
        <p:spPr>
          <a:xfrm>
            <a:off x="685801" y="4343401"/>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h1863e7f528e27f29_0_17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h1863e7f528e27f29_0_177: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759" name="Google Shape;759;h1863e7f528e27f29_0_177: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Why? Crucially, the perceptron is a </a:t>
            </a:r>
            <a:r>
              <a:rPr b="1" lang="pt-BR" sz="1100">
                <a:solidFill>
                  <a:schemeClr val="dk1"/>
                </a:solidFill>
                <a:latin typeface="Calibri"/>
                <a:ea typeface="Calibri"/>
                <a:cs typeface="Calibri"/>
                <a:sym typeface="Calibri"/>
              </a:rPr>
              <a:t>linear</a:t>
            </a:r>
            <a:r>
              <a:rPr lang="pt-BR" sz="1100">
                <a:solidFill>
                  <a:schemeClr val="dk1"/>
                </a:solidFill>
                <a:latin typeface="Calibri"/>
                <a:ea typeface="Calibri"/>
                <a:cs typeface="Calibri"/>
                <a:sym typeface="Calibri"/>
              </a:rPr>
              <a:t> classifier. For a two-dimensional input </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1 and </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2, the perception equation, </a:t>
            </a:r>
            <a:r>
              <a:rPr i="1" lang="pt-BR" sz="1100">
                <a:solidFill>
                  <a:schemeClr val="dk1"/>
                </a:solidFill>
                <a:latin typeface="Calibri"/>
                <a:ea typeface="Calibri"/>
                <a:cs typeface="Calibri"/>
                <a:sym typeface="Calibri"/>
              </a:rPr>
              <a:t>w</a:t>
            </a:r>
            <a:r>
              <a:rPr lang="pt-BR" sz="1100">
                <a:solidFill>
                  <a:schemeClr val="dk1"/>
                </a:solidFill>
                <a:latin typeface="Calibri"/>
                <a:ea typeface="Calibri"/>
                <a:cs typeface="Calibri"/>
                <a:sym typeface="Calibri"/>
              </a:rPr>
              <a:t>1 </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1 + </a:t>
            </a:r>
            <a:r>
              <a:rPr i="1" lang="pt-BR" sz="1100">
                <a:solidFill>
                  <a:schemeClr val="dk1"/>
                </a:solidFill>
                <a:latin typeface="Calibri"/>
                <a:ea typeface="Calibri"/>
                <a:cs typeface="Calibri"/>
                <a:sym typeface="Calibri"/>
              </a:rPr>
              <a:t>w</a:t>
            </a:r>
            <a:r>
              <a:rPr lang="pt-BR" sz="1100">
                <a:solidFill>
                  <a:schemeClr val="dk1"/>
                </a:solidFill>
                <a:latin typeface="Calibri"/>
                <a:ea typeface="Calibri"/>
                <a:cs typeface="Calibri"/>
                <a:sym typeface="Calibri"/>
              </a:rPr>
              <a:t>2 </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2 + </a:t>
            </a:r>
            <a:r>
              <a:rPr i="1" lang="pt-BR" sz="1100">
                <a:solidFill>
                  <a:schemeClr val="dk1"/>
                </a:solidFill>
                <a:latin typeface="Calibri"/>
                <a:ea typeface="Calibri"/>
                <a:cs typeface="Calibri"/>
                <a:sym typeface="Calibri"/>
              </a:rPr>
              <a:t>b </a:t>
            </a:r>
            <a:r>
              <a:rPr lang="pt-BR" sz="1100">
                <a:solidFill>
                  <a:schemeClr val="dk1"/>
                </a:solidFill>
                <a:latin typeface="Calibri"/>
                <a:ea typeface="Calibri"/>
                <a:cs typeface="Calibri"/>
                <a:sym typeface="Calibri"/>
              </a:rPr>
              <a:t>= 0 is the equation of a line. (We can see this by putting it in the standard linear format: </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2 = (−</a:t>
            </a:r>
            <a:r>
              <a:rPr i="1" lang="pt-BR" sz="1100">
                <a:solidFill>
                  <a:schemeClr val="dk1"/>
                </a:solidFill>
                <a:latin typeface="Calibri"/>
                <a:ea typeface="Calibri"/>
                <a:cs typeface="Calibri"/>
                <a:sym typeface="Calibri"/>
              </a:rPr>
              <a:t>w</a:t>
            </a:r>
            <a:r>
              <a:rPr lang="pt-BR" sz="1100">
                <a:solidFill>
                  <a:schemeClr val="dk1"/>
                </a:solidFill>
                <a:latin typeface="Calibri"/>
                <a:ea typeface="Calibri"/>
                <a:cs typeface="Calibri"/>
                <a:sym typeface="Calibri"/>
              </a:rPr>
              <a:t>1/</a:t>
            </a:r>
            <a:r>
              <a:rPr i="1" lang="pt-BR" sz="1100">
                <a:solidFill>
                  <a:schemeClr val="dk1"/>
                </a:solidFill>
                <a:latin typeface="Calibri"/>
                <a:ea typeface="Calibri"/>
                <a:cs typeface="Calibri"/>
                <a:sym typeface="Calibri"/>
              </a:rPr>
              <a:t>w</a:t>
            </a:r>
            <a:r>
              <a:rPr lang="pt-BR" sz="1100">
                <a:solidFill>
                  <a:schemeClr val="dk1"/>
                </a:solidFill>
                <a:latin typeface="Calibri"/>
                <a:ea typeface="Calibri"/>
                <a:cs typeface="Calibri"/>
                <a:sym typeface="Calibri"/>
              </a:rPr>
              <a:t>2)</a:t>
            </a:r>
            <a:r>
              <a:rPr i="1" lang="pt-BR" sz="1100">
                <a:solidFill>
                  <a:schemeClr val="dk1"/>
                </a:solidFill>
                <a:latin typeface="Calibri"/>
                <a:ea typeface="Calibri"/>
                <a:cs typeface="Calibri"/>
                <a:sym typeface="Calibri"/>
              </a:rPr>
              <a:t>x</a:t>
            </a:r>
            <a:r>
              <a:rPr lang="pt-BR" sz="1100">
                <a:solidFill>
                  <a:schemeClr val="dk1"/>
                </a:solidFill>
                <a:latin typeface="Calibri"/>
                <a:ea typeface="Calibri"/>
                <a:cs typeface="Calibri"/>
                <a:sym typeface="Calibri"/>
              </a:rPr>
              <a:t>1 + (−</a:t>
            </a:r>
            <a:r>
              <a:rPr i="1" lang="pt-BR" sz="1100">
                <a:solidFill>
                  <a:schemeClr val="dk1"/>
                </a:solidFill>
                <a:latin typeface="Calibri"/>
                <a:ea typeface="Calibri"/>
                <a:cs typeface="Calibri"/>
                <a:sym typeface="Calibri"/>
              </a:rPr>
              <a:t>b</a:t>
            </a:r>
            <a:r>
              <a:rPr lang="pt-BR" sz="1100">
                <a:solidFill>
                  <a:schemeClr val="dk1"/>
                </a:solidFill>
                <a:latin typeface="Calibri"/>
                <a:ea typeface="Calibri"/>
                <a:cs typeface="Calibri"/>
                <a:sym typeface="Calibri"/>
              </a:rPr>
              <a:t>/</a:t>
            </a:r>
            <a:r>
              <a:rPr i="1" lang="pt-BR" sz="1100">
                <a:solidFill>
                  <a:schemeClr val="dk1"/>
                </a:solidFill>
                <a:latin typeface="Calibri"/>
                <a:ea typeface="Calibri"/>
                <a:cs typeface="Calibri"/>
                <a:sym typeface="Calibri"/>
              </a:rPr>
              <a:t>w</a:t>
            </a:r>
            <a:r>
              <a:rPr lang="pt-BR" sz="1100">
                <a:solidFill>
                  <a:schemeClr val="dk1"/>
                </a:solidFill>
                <a:latin typeface="Calibri"/>
                <a:ea typeface="Calibri"/>
                <a:cs typeface="Calibri"/>
                <a:sym typeface="Calibri"/>
              </a:rPr>
              <a:t>2).)</a:t>
            </a:r>
            <a:endParaRPr/>
          </a:p>
          <a:p>
            <a:pPr indent="0" lvl="0" marL="0" marR="0" rtl="0" algn="l">
              <a:lnSpc>
                <a:spcPct val="100000"/>
              </a:lnSpc>
              <a:spcBef>
                <a:spcPts val="0"/>
              </a:spcBef>
              <a:spcAft>
                <a:spcPts val="0"/>
              </a:spcAft>
              <a:buClr>
                <a:schemeClr val="dk1"/>
              </a:buClr>
              <a:buSzPts val="800"/>
              <a:buFont typeface="Calibri"/>
              <a:buNone/>
            </a:pPr>
            <a:r>
              <a:t/>
            </a:r>
            <a:endParaRPr/>
          </a:p>
          <a:p>
            <a:pPr indent="0" lvl="0" marL="0" marR="0" rtl="0" algn="l">
              <a:lnSpc>
                <a:spcPct val="100000"/>
              </a:lnSpc>
              <a:spcBef>
                <a:spcPts val="0"/>
              </a:spcBef>
              <a:spcAft>
                <a:spcPts val="0"/>
              </a:spcAft>
              <a:buClr>
                <a:schemeClr val="dk1"/>
              </a:buClr>
              <a:buSzPts val="800"/>
              <a:buFont typeface="Calibri"/>
              <a:buNone/>
            </a:pPr>
            <a:r>
              <a:rPr lang="pt-BR"/>
              <a:t>This line acts as a decision boundary in two-dimensional space in which the output 0 is assigned to all inputs lying on one side of the line, and the output 1 to all input points lying on the other side of the line </a:t>
            </a:r>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If we had more than 2 inputs, the decision boundary becomes a hyperplane instead of a line, but the idea is the same, separating the space into two categories. </a:t>
            </a:r>
            <a:endParaRPr/>
          </a:p>
          <a:p>
            <a:pPr indent="0" lvl="0" marL="0" rtl="0" algn="l">
              <a:spcBef>
                <a:spcPts val="0"/>
              </a:spcBef>
              <a:spcAft>
                <a:spcPts val="0"/>
              </a:spcAft>
              <a:buNone/>
            </a:pPr>
            <a:r>
              <a:t/>
            </a:r>
            <a:endParaRPr/>
          </a:p>
        </p:txBody>
      </p:sp>
      <p:sp>
        <p:nvSpPr>
          <p:cNvPr id="760" name="Google Shape;760;h1863e7f528e27f29_0_177: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h1863e7f528e27f29_0_18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767" name="Google Shape;767;h1863e7f528e27f29_0_183: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These figures shows the possible logical inputs (00, 01, 10, and 11) and the line drawn by one possible set of parameters for an AND and an OR classifier. Notice that there is simply no way to draw a line that separates the positive cases of XOR (01 and 10) from the negative cases (00 and 11). </a:t>
            </a:r>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CLICK </a:t>
            </a:r>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We say that XOR is not </a:t>
            </a:r>
            <a:r>
              <a:rPr b="1" lang="pt-BR" sz="1100">
                <a:solidFill>
                  <a:schemeClr val="dk1"/>
                </a:solidFill>
                <a:latin typeface="Calibri"/>
                <a:ea typeface="Calibri"/>
                <a:cs typeface="Calibri"/>
                <a:sym typeface="Calibri"/>
              </a:rPr>
              <a:t>a linearly separable</a:t>
            </a:r>
            <a:r>
              <a:rPr b="0" lang="pt-BR" sz="1100">
                <a:solidFill>
                  <a:schemeClr val="dk1"/>
                </a:solidFill>
                <a:latin typeface="Calibri"/>
                <a:ea typeface="Calibri"/>
                <a:cs typeface="Calibri"/>
                <a:sym typeface="Calibri"/>
              </a:rPr>
              <a:t> </a:t>
            </a:r>
            <a:r>
              <a:rPr lang="pt-BR" sz="1100">
                <a:solidFill>
                  <a:schemeClr val="dk1"/>
                </a:solidFill>
                <a:latin typeface="Calibri"/>
                <a:ea typeface="Calibri"/>
                <a:cs typeface="Calibri"/>
                <a:sym typeface="Calibri"/>
              </a:rPr>
              <a:t>function. Of course we could draw a boundary with a curve, or some other function, but not a single line. </a:t>
            </a:r>
            <a:endParaRPr/>
          </a:p>
          <a:p>
            <a:pPr indent="0" lvl="0" marL="0" rtl="0" algn="l">
              <a:spcBef>
                <a:spcPts val="0"/>
              </a:spcBef>
              <a:spcAft>
                <a:spcPts val="0"/>
              </a:spcAft>
              <a:buNone/>
            </a:pPr>
            <a:r>
              <a:t/>
            </a:r>
            <a:endParaRPr/>
          </a:p>
        </p:txBody>
      </p:sp>
      <p:sp>
        <p:nvSpPr>
          <p:cNvPr id="768" name="Google Shape;768;h1863e7f528e27f29_0_183: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h1863e7f528e27f29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h1863e7f528e27f29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h1863e7f528e27f29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h1863e7f528e27f29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h1863e7f528e27f29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h1863e7f528e27f29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h1863e7f528e27f29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h1863e7f528e27f29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h1863e7f528e27f29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h1863e7f528e27f29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h1863e7f528e27f29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h1863e7f528e27f29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h1863e7f528e27f29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h1863e7f528e27f29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200">
                <a:solidFill>
                  <a:schemeClr val="dk1"/>
                </a:solidFill>
                <a:latin typeface="Calibri"/>
                <a:ea typeface="Calibri"/>
                <a:cs typeface="Calibri"/>
                <a:sym typeface="Calibri"/>
              </a:rPr>
              <a:t>Let’s see an example of how to compute XOR using two layers of ReLU-based units.</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pt-BR" sz="1200">
                <a:solidFill>
                  <a:schemeClr val="dk1"/>
                </a:solidFill>
                <a:latin typeface="Calibri"/>
                <a:ea typeface="Calibri"/>
                <a:cs typeface="Calibri"/>
                <a:sym typeface="Calibri"/>
              </a:rPr>
              <a:t>The middle layer (called </a:t>
            </a:r>
            <a:r>
              <a:rPr i="1" lang="pt-BR" sz="1200">
                <a:solidFill>
                  <a:schemeClr val="dk1"/>
                </a:solidFill>
                <a:latin typeface="Calibri"/>
                <a:ea typeface="Calibri"/>
                <a:cs typeface="Calibri"/>
                <a:sym typeface="Calibri"/>
              </a:rPr>
              <a:t>h</a:t>
            </a:r>
            <a:r>
              <a:rPr lang="pt-BR" sz="1200">
                <a:solidFill>
                  <a:schemeClr val="dk1"/>
                </a:solidFill>
                <a:latin typeface="Calibri"/>
                <a:ea typeface="Calibri"/>
                <a:cs typeface="Calibri"/>
                <a:sym typeface="Calibri"/>
              </a:rPr>
              <a:t>) has two units, and the output layer (called </a:t>
            </a:r>
            <a:r>
              <a:rPr i="1" lang="pt-BR" sz="1200">
                <a:solidFill>
                  <a:schemeClr val="dk1"/>
                </a:solidFill>
                <a:latin typeface="Calibri"/>
                <a:ea typeface="Calibri"/>
                <a:cs typeface="Calibri"/>
                <a:sym typeface="Calibri"/>
              </a:rPr>
              <a:t>y</a:t>
            </a:r>
            <a:r>
              <a:rPr lang="pt-BR" sz="1200">
                <a:solidFill>
                  <a:schemeClr val="dk1"/>
                </a:solidFill>
                <a:latin typeface="Calibri"/>
                <a:ea typeface="Calibri"/>
                <a:cs typeface="Calibri"/>
                <a:sym typeface="Calibri"/>
              </a:rPr>
              <a:t>) has one unit.  These weights and biases will computes XOR.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900">
              <a:solidFill>
                <a:schemeClr val="dk1"/>
              </a:solidFill>
              <a:latin typeface="Calibri"/>
              <a:ea typeface="Calibri"/>
              <a:cs typeface="Calibri"/>
              <a:sym typeface="Calibri"/>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pt-BR" sz="1200">
                <a:solidFill>
                  <a:schemeClr val="dk1"/>
                </a:solidFill>
                <a:latin typeface="Calibri"/>
                <a:ea typeface="Calibri"/>
                <a:cs typeface="Calibri"/>
                <a:sym typeface="Calibri"/>
              </a:rPr>
              <a:t>Consider input x = [0, 0] ]. If we multiply each input value by the appropriate weight, sum, and then add the bias </a:t>
            </a:r>
            <a:r>
              <a:rPr i="1" lang="pt-BR" sz="1200">
                <a:solidFill>
                  <a:schemeClr val="dk1"/>
                </a:solidFill>
                <a:latin typeface="Calibri"/>
                <a:ea typeface="Calibri"/>
                <a:cs typeface="Calibri"/>
                <a:sym typeface="Calibri"/>
              </a:rPr>
              <a:t>b</a:t>
            </a:r>
            <a:r>
              <a:rPr lang="pt-BR" sz="1200">
                <a:solidFill>
                  <a:schemeClr val="dk1"/>
                </a:solidFill>
                <a:latin typeface="Calibri"/>
                <a:ea typeface="Calibri"/>
                <a:cs typeface="Calibri"/>
                <a:sym typeface="Calibri"/>
              </a:rPr>
              <a:t>, DO THIS ON SLIDE  we get the vector [0 -1]  apply the ReLU and we get [0 0], and the final value is 0.</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h1863e7f528e27f29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h1863e7f528e27f29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h1863e7f528e27f29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h1863e7f528e27f29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h1863e7f528e27f29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h1863e7f528e27f29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h1863e7f528e27f29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h1863e7f528e27f29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h4f8be8f1b2c30ea5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h4f8be8f1b2c30ea5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h3b987c62679a4f5d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h3b987c62679a4f5d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h3b987c62679a4f5d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h3b987c62679a4f5d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h3b987c62679a4f5d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h3b987c62679a4f5d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3f6939d4d9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0" name="Google Shape;1220;g3f6939d4d94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h3b987c62679a4f5d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h3b987c62679a4f5d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h3b987c62679a4f5d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h3b987c62679a4f5d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h3b987c62679a4f5d_0_1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h3b987c62679a4f5d_0_1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f(x)=\ln(1+e^x)</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h3b987c62679a4f5d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7" name="Google Shape;1247;h3b987c62679a4f5d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h3b987c62679a4f5d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3" name="Google Shape;1253;h3b987c62679a4f5d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h3b987c62679a4f5d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h3b987c62679a4f5d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h3b987c62679a4f5d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5" name="Google Shape;1265;h3b987c62679a4f5d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h3b987c62679a4f5d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h3b987c62679a4f5d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h3b987c62679a4f5d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7" name="Google Shape;1277;h3b987c62679a4f5d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h3b987c62679a4f5d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h3b987c62679a4f5d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h3b987c62679a4f5d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h3b987c62679a4f5d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h3b987c62679a4f5d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5" name="Google Shape;1295;h3b987c62679a4f5d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h3b987c62679a4f5d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2" name="Google Shape;1302;h3b987c62679a4f5d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h3b987c62679a4f5d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h3b987c62679a4f5d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h4f8be8f1b2c30ea5_0_15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1975">
            <a:solidFill>
              <a:srgbClr val="000000"/>
            </a:solidFill>
            <a:prstDash val="solid"/>
            <a:round/>
            <a:headEnd len="sm" w="sm" type="none"/>
            <a:tailEnd len="sm" w="sm" type="none"/>
          </a:ln>
        </p:spPr>
      </p:sp>
      <p:sp>
        <p:nvSpPr>
          <p:cNvPr id="1314" name="Google Shape;1314;h4f8be8f1b2c30ea5_0_159:notes"/>
          <p:cNvSpPr txBox="1"/>
          <p:nvPr>
            <p:ph idx="1" type="body"/>
          </p:nvPr>
        </p:nvSpPr>
        <p:spPr>
          <a:xfrm>
            <a:off x="685801" y="4343401"/>
            <a:ext cx="5486400" cy="4114800"/>
          </a:xfrm>
          <a:prstGeom prst="rect">
            <a:avLst/>
          </a:prstGeom>
          <a:noFill/>
          <a:ln>
            <a:noFill/>
          </a:ln>
        </p:spPr>
        <p:txBody>
          <a:bodyPr anchorCtr="0" anchor="t" bIns="45550" lIns="91100" spcFirstLastPara="1" rIns="91100" wrap="square" tIns="45550">
            <a:noAutofit/>
          </a:bodyPr>
          <a:lstStyle/>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A feedforward network is a multilayer network in which the units are connected with no cycles; the outputs from units in each layer are passed to units in the next higher layer, and no outputs are passed back to lower layers. </a:t>
            </a:r>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For historical reasons feed-forward netowrks can also be called multi-layer perceptrons or MLPs (although they aren't technically composed of perceptrons any more).</a:t>
            </a:r>
            <a:endParaRPr/>
          </a:p>
          <a:p>
            <a:pPr indent="0" lvl="0" marL="0" marR="0" rtl="0" algn="l">
              <a:lnSpc>
                <a:spcPct val="100000"/>
              </a:lnSpc>
              <a:spcBef>
                <a:spcPts val="0"/>
              </a:spcBef>
              <a:spcAft>
                <a:spcPts val="0"/>
              </a:spcAft>
              <a:buClr>
                <a:schemeClr val="dk1"/>
              </a:buClr>
              <a:buSzPts val="800"/>
              <a:buFont typeface="Calibri"/>
              <a:buNone/>
            </a:pPr>
            <a:r>
              <a:t/>
            </a:r>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Calibri"/>
              <a:buNone/>
            </a:pPr>
            <a:r>
              <a:rPr lang="pt-BR" sz="1100">
                <a:solidFill>
                  <a:schemeClr val="dk1"/>
                </a:solidFill>
                <a:latin typeface="Calibri"/>
                <a:ea typeface="Calibri"/>
                <a:cs typeface="Calibri"/>
                <a:sym typeface="Calibri"/>
              </a:rPr>
              <a:t>Simple feedforward networks have three kinds of nodes: input units, hidden units, and output units.</a:t>
            </a:r>
            <a:endParaRPr/>
          </a:p>
        </p:txBody>
      </p:sp>
      <p:sp>
        <p:nvSpPr>
          <p:cNvPr id="1315" name="Google Shape;1315;h4f8be8f1b2c30ea5_0_159:notes"/>
          <p:cNvSpPr txBox="1"/>
          <p:nvPr>
            <p:ph idx="12" type="sldNum"/>
          </p:nvPr>
        </p:nvSpPr>
        <p:spPr>
          <a:xfrm>
            <a:off x="3884613" y="8685214"/>
            <a:ext cx="2971800" cy="457200"/>
          </a:xfrm>
          <a:prstGeom prst="rect">
            <a:avLst/>
          </a:prstGeom>
          <a:noFill/>
          <a:ln>
            <a:noFill/>
          </a:ln>
        </p:spPr>
        <p:txBody>
          <a:bodyPr anchorCtr="0" anchor="b" bIns="45550" lIns="91100" spcFirstLastPara="1" rIns="91100" wrap="square" tIns="45550">
            <a:noAutofit/>
          </a:bodyPr>
          <a:lstStyle/>
          <a:p>
            <a:pPr indent="0" lvl="0" marL="0" rtl="0" algn="r">
              <a:spcBef>
                <a:spcPts val="0"/>
              </a:spcBef>
              <a:spcAft>
                <a:spcPts val="0"/>
              </a:spcAft>
              <a:buNone/>
            </a:pPr>
            <a:fld id="{00000000-1234-1234-1234-123412341234}" type="slidenum">
              <a:rPr lang="pt-BR" sz="1300"/>
              <a:t>‹#›</a:t>
            </a:fld>
            <a:endParaRPr sz="1300"/>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h4f8be8f1b2c30ea5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3" name="Google Shape;1323;h4f8be8f1b2c30ea5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h4f8be8f1b2c30ea5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2" name="Google Shape;1352;h4f8be8f1b2c30ea5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h4f8be8f1b2c30ea5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4" name="Google Shape;1384;h4f8be8f1b2c30ea5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h4f8be8f1b2c30ea5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h4f8be8f1b2c30ea5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h4f8be8f1b2c30ea5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2" name="Google Shape;1452;h4f8be8f1b2c30ea5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softmax(z_i)=\frac{e^{z_i}}{\sum_{j=1}^ke^{z_j}}</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7" name="Shape 1457"/>
        <p:cNvGrpSpPr/>
        <p:nvPr/>
      </p:nvGrpSpPr>
      <p:grpSpPr>
        <a:xfrm>
          <a:off x="0" y="0"/>
          <a:ext cx="0" cy="0"/>
          <a:chOff x="0" y="0"/>
          <a:chExt cx="0" cy="0"/>
        </a:xfrm>
      </p:grpSpPr>
      <p:sp>
        <p:nvSpPr>
          <p:cNvPr id="1458" name="Google Shape;1458;h4f8be8f1b2c30ea5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9" name="Google Shape;1459;h4f8be8f1b2c30ea5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softmax(z)=\left[ \frac{e^{z_1}}{\sum_{j=1}^ke^{z_j}}, \frac{e^{z_2}}{\sum_{j=1}^ke^{z_j}}, ..., \frac{e^{z_n}}{\sum_{j=1}^ke^{z_j}}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softmax(z_i)=\frac{e^{z_i}}{\sum_{j=1}^ke^{z_j}} \ \  1 \le i \le k</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h4f8be8f1b2c30ea5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h4f8be8f1b2c30ea5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pt-BR" sz="1200">
                <a:solidFill>
                  <a:schemeClr val="dk1"/>
                </a:solidFill>
                <a:latin typeface="Calibri"/>
                <a:ea typeface="Calibri"/>
                <a:cs typeface="Calibri"/>
                <a:sym typeface="Calibri"/>
              </a:rPr>
              <a:t>We're showing the activation function here as sigma, but it can be the sigmoid, tanh, or ReLU activation function we defined earlier.</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pt-BR" sz="1200">
                <a:solidFill>
                  <a:schemeClr val="dk1"/>
                </a:solidFill>
                <a:latin typeface="Calibri"/>
                <a:ea typeface="Calibri"/>
                <a:cs typeface="Calibri"/>
                <a:sym typeface="Calibri"/>
              </a:rPr>
              <a:t>Notice that we’re applying the σ function here to a vector, allowing σ(·), to apply to a vector element-wise, so </a:t>
            </a:r>
            <a:r>
              <a:rPr i="1" lang="pt-BR" sz="1200">
                <a:solidFill>
                  <a:schemeClr val="dk1"/>
                </a:solidFill>
                <a:latin typeface="Calibri"/>
                <a:ea typeface="Calibri"/>
                <a:cs typeface="Calibri"/>
                <a:sym typeface="Calibri"/>
              </a:rPr>
              <a:t>g</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1,</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2,</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3] = [</a:t>
            </a:r>
            <a:r>
              <a:rPr i="1" lang="pt-BR" sz="1200">
                <a:solidFill>
                  <a:schemeClr val="dk1"/>
                </a:solidFill>
                <a:latin typeface="Calibri"/>
                <a:ea typeface="Calibri"/>
                <a:cs typeface="Calibri"/>
                <a:sym typeface="Calibri"/>
              </a:rPr>
              <a:t>g</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1),</a:t>
            </a:r>
            <a:r>
              <a:rPr i="1" lang="pt-BR" sz="1200">
                <a:solidFill>
                  <a:schemeClr val="dk1"/>
                </a:solidFill>
                <a:latin typeface="Calibri"/>
                <a:ea typeface="Calibri"/>
                <a:cs typeface="Calibri"/>
                <a:sym typeface="Calibri"/>
              </a:rPr>
              <a:t>g</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2),</a:t>
            </a:r>
            <a:r>
              <a:rPr i="1" lang="pt-BR" sz="1200">
                <a:solidFill>
                  <a:schemeClr val="dk1"/>
                </a:solidFill>
                <a:latin typeface="Calibri"/>
                <a:ea typeface="Calibri"/>
                <a:cs typeface="Calibri"/>
                <a:sym typeface="Calibri"/>
              </a:rPr>
              <a:t>g</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3)]. </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pt-BR" sz="1200">
                <a:solidFill>
                  <a:schemeClr val="dk1"/>
                </a:solidFill>
                <a:latin typeface="Calibri"/>
                <a:ea typeface="Calibri"/>
                <a:cs typeface="Calibri"/>
                <a:sym typeface="Calibri"/>
              </a:rPr>
              <a:t>As we saw in the lecture on XOR, the resulting value </a:t>
            </a:r>
            <a:r>
              <a:rPr i="1" lang="pt-BR" sz="1200">
                <a:solidFill>
                  <a:schemeClr val="dk1"/>
                </a:solidFill>
                <a:latin typeface="Calibri"/>
                <a:ea typeface="Calibri"/>
                <a:cs typeface="Calibri"/>
                <a:sym typeface="Calibri"/>
              </a:rPr>
              <a:t>h </a:t>
            </a:r>
            <a:r>
              <a:rPr lang="pt-BR" sz="1200">
                <a:solidFill>
                  <a:schemeClr val="dk1"/>
                </a:solidFill>
                <a:latin typeface="Calibri"/>
                <a:ea typeface="Calibri"/>
                <a:cs typeface="Calibri"/>
                <a:sym typeface="Calibri"/>
              </a:rPr>
              <a:t>(for </a:t>
            </a:r>
            <a:r>
              <a:rPr i="1" lang="pt-BR" sz="1200">
                <a:solidFill>
                  <a:schemeClr val="dk1"/>
                </a:solidFill>
                <a:latin typeface="Calibri"/>
                <a:ea typeface="Calibri"/>
                <a:cs typeface="Calibri"/>
                <a:sym typeface="Calibri"/>
              </a:rPr>
              <a:t>hidden</a:t>
            </a:r>
            <a:r>
              <a:rPr lang="pt-BR" sz="1200">
                <a:solidFill>
                  <a:schemeClr val="dk1"/>
                </a:solidFill>
                <a:latin typeface="Calibri"/>
                <a:ea typeface="Calibri"/>
                <a:cs typeface="Calibri"/>
                <a:sym typeface="Calibri"/>
              </a:rPr>
              <a:t>) forms a </a:t>
            </a:r>
            <a:r>
              <a:rPr i="1" lang="pt-BR" sz="1200">
                <a:solidFill>
                  <a:schemeClr val="dk1"/>
                </a:solidFill>
                <a:latin typeface="Calibri"/>
                <a:ea typeface="Calibri"/>
                <a:cs typeface="Calibri"/>
                <a:sym typeface="Calibri"/>
              </a:rPr>
              <a:t>representation </a:t>
            </a:r>
            <a:r>
              <a:rPr lang="pt-BR" sz="1200">
                <a:solidFill>
                  <a:schemeClr val="dk1"/>
                </a:solidFill>
                <a:latin typeface="Calibri"/>
                <a:ea typeface="Calibri"/>
                <a:cs typeface="Calibri"/>
                <a:sym typeface="Calibri"/>
              </a:rPr>
              <a:t>of the input. The role of the output layer is to take this new representation </a:t>
            </a:r>
            <a:r>
              <a:rPr i="1" lang="pt-BR" sz="1200">
                <a:solidFill>
                  <a:schemeClr val="dk1"/>
                </a:solidFill>
                <a:latin typeface="Calibri"/>
                <a:ea typeface="Calibri"/>
                <a:cs typeface="Calibri"/>
                <a:sym typeface="Calibri"/>
              </a:rPr>
              <a:t>h </a:t>
            </a:r>
            <a:r>
              <a:rPr lang="pt-BR" sz="1200">
                <a:solidFill>
                  <a:schemeClr val="dk1"/>
                </a:solidFill>
                <a:latin typeface="Calibri"/>
                <a:ea typeface="Calibri"/>
                <a:cs typeface="Calibri"/>
                <a:sym typeface="Calibri"/>
              </a:rPr>
              <a:t>and compute a final output. This output could be a real- valued number, but in many cases the goal of the network is to make some sort of classification decision, and so we will focus on the case of classification. </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pt-BR" sz="1200">
                <a:solidFill>
                  <a:schemeClr val="dk1"/>
                </a:solidFill>
                <a:latin typeface="Calibri"/>
                <a:ea typeface="Calibri"/>
                <a:cs typeface="Calibri"/>
                <a:sym typeface="Calibri"/>
              </a:rPr>
              <a:t>If we are doing a binary task like sentiment classification, we might have a single output node, and its value </a:t>
            </a:r>
            <a:r>
              <a:rPr i="1" lang="pt-BR" sz="1200">
                <a:solidFill>
                  <a:schemeClr val="dk1"/>
                </a:solidFill>
                <a:latin typeface="Calibri"/>
                <a:ea typeface="Calibri"/>
                <a:cs typeface="Calibri"/>
                <a:sym typeface="Calibri"/>
              </a:rPr>
              <a:t>y </a:t>
            </a:r>
            <a:r>
              <a:rPr lang="pt-BR" sz="1200">
                <a:solidFill>
                  <a:schemeClr val="dk1"/>
                </a:solidFill>
                <a:latin typeface="Calibri"/>
                <a:ea typeface="Calibri"/>
                <a:cs typeface="Calibri"/>
                <a:sym typeface="Calibri"/>
              </a:rPr>
              <a:t>is the probability of positive versus negative sentiment. </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pt-BR" sz="1200">
                <a:solidFill>
                  <a:schemeClr val="dk1"/>
                </a:solidFill>
                <a:latin typeface="Calibri"/>
                <a:ea typeface="Calibri"/>
                <a:cs typeface="Calibri"/>
                <a:sym typeface="Calibri"/>
              </a:rPr>
              <a:t>The output layer has a weight matrix </a:t>
            </a:r>
            <a:r>
              <a:rPr i="1" lang="pt-BR" sz="1200">
                <a:solidFill>
                  <a:schemeClr val="dk1"/>
                </a:solidFill>
                <a:latin typeface="Calibri"/>
                <a:ea typeface="Calibri"/>
                <a:cs typeface="Calibri"/>
                <a:sym typeface="Calibri"/>
              </a:rPr>
              <a:t>U</a:t>
            </a:r>
            <a:r>
              <a:rPr lang="pt-BR" sz="1200">
                <a:solidFill>
                  <a:schemeClr val="dk1"/>
                </a:solidFill>
                <a:latin typeface="Calibri"/>
                <a:ea typeface="Calibri"/>
                <a:cs typeface="Calibri"/>
                <a:sym typeface="Calibri"/>
              </a:rPr>
              <a:t>, but some models don’t include a bias vector </a:t>
            </a:r>
            <a:r>
              <a:rPr i="1" lang="pt-BR" sz="1200">
                <a:solidFill>
                  <a:schemeClr val="dk1"/>
                </a:solidFill>
                <a:latin typeface="Calibri"/>
                <a:ea typeface="Calibri"/>
                <a:cs typeface="Calibri"/>
                <a:sym typeface="Calibri"/>
              </a:rPr>
              <a:t>b </a:t>
            </a:r>
            <a:r>
              <a:rPr lang="pt-BR" sz="1200">
                <a:solidFill>
                  <a:schemeClr val="dk1"/>
                </a:solidFill>
                <a:latin typeface="Calibri"/>
                <a:ea typeface="Calibri"/>
                <a:cs typeface="Calibri"/>
                <a:sym typeface="Calibri"/>
              </a:rPr>
              <a:t>in the output layer, so we’ll simplify by eliminating the bias vector in this example. The weight matrix is multiplied by its input vector (</a:t>
            </a:r>
            <a:r>
              <a:rPr i="1" lang="pt-BR" sz="1200">
                <a:solidFill>
                  <a:schemeClr val="dk1"/>
                </a:solidFill>
                <a:latin typeface="Calibri"/>
                <a:ea typeface="Calibri"/>
                <a:cs typeface="Calibri"/>
                <a:sym typeface="Calibri"/>
              </a:rPr>
              <a:t>h</a:t>
            </a:r>
            <a:r>
              <a:rPr lang="pt-BR" sz="1200">
                <a:solidFill>
                  <a:schemeClr val="dk1"/>
                </a:solidFill>
                <a:latin typeface="Calibri"/>
                <a:ea typeface="Calibri"/>
                <a:cs typeface="Calibri"/>
                <a:sym typeface="Calibri"/>
              </a:rPr>
              <a:t>) to produce the intermediate output </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Uh </a:t>
            </a:r>
            <a:endParaRPr sz="900">
              <a:solidFill>
                <a:schemeClr val="dk1"/>
              </a:solidFill>
              <a:latin typeface="Calibri"/>
              <a:ea typeface="Calibri"/>
              <a:cs typeface="Calibri"/>
              <a:sym typeface="Calibri"/>
            </a:endParaRPr>
          </a:p>
          <a:p>
            <a:pPr indent="0" lvl="0" marL="0" rtl="0" algn="l">
              <a:spcBef>
                <a:spcPts val="0"/>
              </a:spcBef>
              <a:spcAft>
                <a:spcPts val="0"/>
              </a:spcAft>
              <a:buNone/>
            </a:pPr>
            <a:r>
              <a:rPr lang="pt-BR" sz="1200">
                <a:solidFill>
                  <a:schemeClr val="dk1"/>
                </a:solidFill>
                <a:latin typeface="Calibri"/>
                <a:ea typeface="Calibri"/>
                <a:cs typeface="Calibri"/>
                <a:sym typeface="Calibri"/>
              </a:rPr>
              <a:t>And then we use the sigmoid to turn this into a probability.</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h1863e7f528e27f29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4" name="Google Shape;1514;h1863e7f528e27f29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pt-BR" sz="1200">
                <a:solidFill>
                  <a:schemeClr val="dk1"/>
                </a:solidFill>
                <a:latin typeface="Calibri"/>
                <a:ea typeface="Calibri"/>
                <a:cs typeface="Calibri"/>
                <a:sym typeface="Calibri"/>
              </a:rPr>
              <a:t>We're showing the activation function here as sigma, but it can be the sigmoid, tanh, or ReLU activation function we defined earlier.</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pt-BR" sz="1200">
                <a:solidFill>
                  <a:schemeClr val="dk1"/>
                </a:solidFill>
                <a:latin typeface="Calibri"/>
                <a:ea typeface="Calibri"/>
                <a:cs typeface="Calibri"/>
                <a:sym typeface="Calibri"/>
              </a:rPr>
              <a:t>Notice that we’re applying the σ function here to a vector, allowing σ(·), to apply to a vector element-wise, so </a:t>
            </a:r>
            <a:r>
              <a:rPr i="1" lang="pt-BR" sz="1200">
                <a:solidFill>
                  <a:schemeClr val="dk1"/>
                </a:solidFill>
                <a:latin typeface="Calibri"/>
                <a:ea typeface="Calibri"/>
                <a:cs typeface="Calibri"/>
                <a:sym typeface="Calibri"/>
              </a:rPr>
              <a:t>g</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1,</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2,</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3] = [</a:t>
            </a:r>
            <a:r>
              <a:rPr i="1" lang="pt-BR" sz="1200">
                <a:solidFill>
                  <a:schemeClr val="dk1"/>
                </a:solidFill>
                <a:latin typeface="Calibri"/>
                <a:ea typeface="Calibri"/>
                <a:cs typeface="Calibri"/>
                <a:sym typeface="Calibri"/>
              </a:rPr>
              <a:t>g</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1),</a:t>
            </a:r>
            <a:r>
              <a:rPr i="1" lang="pt-BR" sz="1200">
                <a:solidFill>
                  <a:schemeClr val="dk1"/>
                </a:solidFill>
                <a:latin typeface="Calibri"/>
                <a:ea typeface="Calibri"/>
                <a:cs typeface="Calibri"/>
                <a:sym typeface="Calibri"/>
              </a:rPr>
              <a:t>g</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2),</a:t>
            </a:r>
            <a:r>
              <a:rPr i="1" lang="pt-BR" sz="1200">
                <a:solidFill>
                  <a:schemeClr val="dk1"/>
                </a:solidFill>
                <a:latin typeface="Calibri"/>
                <a:ea typeface="Calibri"/>
                <a:cs typeface="Calibri"/>
                <a:sym typeface="Calibri"/>
              </a:rPr>
              <a:t>g</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3)]. </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pt-BR" sz="1200">
                <a:solidFill>
                  <a:schemeClr val="dk1"/>
                </a:solidFill>
                <a:latin typeface="Calibri"/>
                <a:ea typeface="Calibri"/>
                <a:cs typeface="Calibri"/>
                <a:sym typeface="Calibri"/>
              </a:rPr>
              <a:t>As we saw in the lecture on XOR, the resulting value </a:t>
            </a:r>
            <a:r>
              <a:rPr i="1" lang="pt-BR" sz="1200">
                <a:solidFill>
                  <a:schemeClr val="dk1"/>
                </a:solidFill>
                <a:latin typeface="Calibri"/>
                <a:ea typeface="Calibri"/>
                <a:cs typeface="Calibri"/>
                <a:sym typeface="Calibri"/>
              </a:rPr>
              <a:t>h </a:t>
            </a:r>
            <a:r>
              <a:rPr lang="pt-BR" sz="1200">
                <a:solidFill>
                  <a:schemeClr val="dk1"/>
                </a:solidFill>
                <a:latin typeface="Calibri"/>
                <a:ea typeface="Calibri"/>
                <a:cs typeface="Calibri"/>
                <a:sym typeface="Calibri"/>
              </a:rPr>
              <a:t>(for </a:t>
            </a:r>
            <a:r>
              <a:rPr i="1" lang="pt-BR" sz="1200">
                <a:solidFill>
                  <a:schemeClr val="dk1"/>
                </a:solidFill>
                <a:latin typeface="Calibri"/>
                <a:ea typeface="Calibri"/>
                <a:cs typeface="Calibri"/>
                <a:sym typeface="Calibri"/>
              </a:rPr>
              <a:t>hidden</a:t>
            </a:r>
            <a:r>
              <a:rPr lang="pt-BR" sz="1200">
                <a:solidFill>
                  <a:schemeClr val="dk1"/>
                </a:solidFill>
                <a:latin typeface="Calibri"/>
                <a:ea typeface="Calibri"/>
                <a:cs typeface="Calibri"/>
                <a:sym typeface="Calibri"/>
              </a:rPr>
              <a:t>) forms a </a:t>
            </a:r>
            <a:r>
              <a:rPr i="1" lang="pt-BR" sz="1200">
                <a:solidFill>
                  <a:schemeClr val="dk1"/>
                </a:solidFill>
                <a:latin typeface="Calibri"/>
                <a:ea typeface="Calibri"/>
                <a:cs typeface="Calibri"/>
                <a:sym typeface="Calibri"/>
              </a:rPr>
              <a:t>representation </a:t>
            </a:r>
            <a:r>
              <a:rPr lang="pt-BR" sz="1200">
                <a:solidFill>
                  <a:schemeClr val="dk1"/>
                </a:solidFill>
                <a:latin typeface="Calibri"/>
                <a:ea typeface="Calibri"/>
                <a:cs typeface="Calibri"/>
                <a:sym typeface="Calibri"/>
              </a:rPr>
              <a:t>of the input. The role of the output layer is to take this new representation </a:t>
            </a:r>
            <a:r>
              <a:rPr i="1" lang="pt-BR" sz="1200">
                <a:solidFill>
                  <a:schemeClr val="dk1"/>
                </a:solidFill>
                <a:latin typeface="Calibri"/>
                <a:ea typeface="Calibri"/>
                <a:cs typeface="Calibri"/>
                <a:sym typeface="Calibri"/>
              </a:rPr>
              <a:t>h </a:t>
            </a:r>
            <a:r>
              <a:rPr lang="pt-BR" sz="1200">
                <a:solidFill>
                  <a:schemeClr val="dk1"/>
                </a:solidFill>
                <a:latin typeface="Calibri"/>
                <a:ea typeface="Calibri"/>
                <a:cs typeface="Calibri"/>
                <a:sym typeface="Calibri"/>
              </a:rPr>
              <a:t>and compute a final output. This output could be a real- valued number, but in many cases the goal of the network is to make some sort of classification decision, and so we will focus on the case of classification. </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lang="pt-BR" sz="1200">
                <a:solidFill>
                  <a:schemeClr val="dk1"/>
                </a:solidFill>
                <a:latin typeface="Calibri"/>
                <a:ea typeface="Calibri"/>
                <a:cs typeface="Calibri"/>
                <a:sym typeface="Calibri"/>
              </a:rPr>
              <a:t>If we are doing a binary task like sentiment classification, we might have a single output node, and its value </a:t>
            </a:r>
            <a:r>
              <a:rPr i="1" lang="pt-BR" sz="1200">
                <a:solidFill>
                  <a:schemeClr val="dk1"/>
                </a:solidFill>
                <a:latin typeface="Calibri"/>
                <a:ea typeface="Calibri"/>
                <a:cs typeface="Calibri"/>
                <a:sym typeface="Calibri"/>
              </a:rPr>
              <a:t>y </a:t>
            </a:r>
            <a:r>
              <a:rPr lang="pt-BR" sz="1200">
                <a:solidFill>
                  <a:schemeClr val="dk1"/>
                </a:solidFill>
                <a:latin typeface="Calibri"/>
                <a:ea typeface="Calibri"/>
                <a:cs typeface="Calibri"/>
                <a:sym typeface="Calibri"/>
              </a:rPr>
              <a:t>is the probability of positive versus negative sentiment. </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pt-BR" sz="1200">
                <a:solidFill>
                  <a:schemeClr val="dk1"/>
                </a:solidFill>
                <a:latin typeface="Calibri"/>
                <a:ea typeface="Calibri"/>
                <a:cs typeface="Calibri"/>
                <a:sym typeface="Calibri"/>
              </a:rPr>
              <a:t>The output layer has a weight matrix </a:t>
            </a:r>
            <a:r>
              <a:rPr i="1" lang="pt-BR" sz="1200">
                <a:solidFill>
                  <a:schemeClr val="dk1"/>
                </a:solidFill>
                <a:latin typeface="Calibri"/>
                <a:ea typeface="Calibri"/>
                <a:cs typeface="Calibri"/>
                <a:sym typeface="Calibri"/>
              </a:rPr>
              <a:t>U</a:t>
            </a:r>
            <a:r>
              <a:rPr lang="pt-BR" sz="1200">
                <a:solidFill>
                  <a:schemeClr val="dk1"/>
                </a:solidFill>
                <a:latin typeface="Calibri"/>
                <a:ea typeface="Calibri"/>
                <a:cs typeface="Calibri"/>
                <a:sym typeface="Calibri"/>
              </a:rPr>
              <a:t>, but some models don’t include a bias vector </a:t>
            </a:r>
            <a:r>
              <a:rPr i="1" lang="pt-BR" sz="1200">
                <a:solidFill>
                  <a:schemeClr val="dk1"/>
                </a:solidFill>
                <a:latin typeface="Calibri"/>
                <a:ea typeface="Calibri"/>
                <a:cs typeface="Calibri"/>
                <a:sym typeface="Calibri"/>
              </a:rPr>
              <a:t>b </a:t>
            </a:r>
            <a:r>
              <a:rPr lang="pt-BR" sz="1200">
                <a:solidFill>
                  <a:schemeClr val="dk1"/>
                </a:solidFill>
                <a:latin typeface="Calibri"/>
                <a:ea typeface="Calibri"/>
                <a:cs typeface="Calibri"/>
                <a:sym typeface="Calibri"/>
              </a:rPr>
              <a:t>in the output layer, so we’ll simplify by eliminating the bias vector in this example. The weight matrix is multiplied by its input vector (</a:t>
            </a:r>
            <a:r>
              <a:rPr i="1" lang="pt-BR" sz="1200">
                <a:solidFill>
                  <a:schemeClr val="dk1"/>
                </a:solidFill>
                <a:latin typeface="Calibri"/>
                <a:ea typeface="Calibri"/>
                <a:cs typeface="Calibri"/>
                <a:sym typeface="Calibri"/>
              </a:rPr>
              <a:t>h</a:t>
            </a:r>
            <a:r>
              <a:rPr lang="pt-BR" sz="1200">
                <a:solidFill>
                  <a:schemeClr val="dk1"/>
                </a:solidFill>
                <a:latin typeface="Calibri"/>
                <a:ea typeface="Calibri"/>
                <a:cs typeface="Calibri"/>
                <a:sym typeface="Calibri"/>
              </a:rPr>
              <a:t>) to produce the intermediate output </a:t>
            </a: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i="1" lang="pt-BR" sz="1200">
                <a:solidFill>
                  <a:schemeClr val="dk1"/>
                </a:solidFill>
                <a:latin typeface="Calibri"/>
                <a:ea typeface="Calibri"/>
                <a:cs typeface="Calibri"/>
                <a:sym typeface="Calibri"/>
              </a:rPr>
              <a:t>z</a:t>
            </a:r>
            <a:r>
              <a:rPr lang="pt-BR" sz="1200">
                <a:solidFill>
                  <a:schemeClr val="dk1"/>
                </a:solidFill>
                <a:latin typeface="Calibri"/>
                <a:ea typeface="Calibri"/>
                <a:cs typeface="Calibri"/>
                <a:sym typeface="Calibri"/>
              </a:rPr>
              <a:t>=</a:t>
            </a:r>
            <a:r>
              <a:rPr i="1" lang="pt-BR" sz="1200">
                <a:solidFill>
                  <a:schemeClr val="dk1"/>
                </a:solidFill>
                <a:latin typeface="Calibri"/>
                <a:ea typeface="Calibri"/>
                <a:cs typeface="Calibri"/>
                <a:sym typeface="Calibri"/>
              </a:rPr>
              <a:t>Uh </a:t>
            </a:r>
            <a:endParaRPr sz="900">
              <a:solidFill>
                <a:schemeClr val="dk1"/>
              </a:solidFill>
              <a:latin typeface="Calibri"/>
              <a:ea typeface="Calibri"/>
              <a:cs typeface="Calibri"/>
              <a:sym typeface="Calibri"/>
            </a:endParaRPr>
          </a:p>
          <a:p>
            <a:pPr indent="0" lvl="0" marL="0" rtl="0" algn="l">
              <a:spcBef>
                <a:spcPts val="0"/>
              </a:spcBef>
              <a:spcAft>
                <a:spcPts val="0"/>
              </a:spcAft>
              <a:buNone/>
            </a:pPr>
            <a:r>
              <a:rPr lang="pt-BR" sz="1200">
                <a:solidFill>
                  <a:schemeClr val="dk1"/>
                </a:solidFill>
                <a:latin typeface="Calibri"/>
                <a:ea typeface="Calibri"/>
                <a:cs typeface="Calibri"/>
                <a:sym typeface="Calibri"/>
              </a:rPr>
              <a:t>And then we use the sigmoid to turn this into a probability.</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1" name="Shape 1561"/>
        <p:cNvGrpSpPr/>
        <p:nvPr/>
      </p:nvGrpSpPr>
      <p:grpSpPr>
        <a:xfrm>
          <a:off x="0" y="0"/>
          <a:ext cx="0" cy="0"/>
          <a:chOff x="0" y="0"/>
          <a:chExt cx="0" cy="0"/>
        </a:xfrm>
      </p:grpSpPr>
      <p:sp>
        <p:nvSpPr>
          <p:cNvPr id="1562" name="Google Shape;1562;h1863e7f528e27f29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3" name="Google Shape;1563;h1863e7f528e27f29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h1863e7f528e27f29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1" name="Google Shape;1571;h1863e7f528e27f29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7" name="Google Shape;157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1" name="Shape 1581"/>
        <p:cNvGrpSpPr/>
        <p:nvPr/>
      </p:nvGrpSpPr>
      <p:grpSpPr>
        <a:xfrm>
          <a:off x="0" y="0"/>
          <a:ext cx="0" cy="0"/>
          <a:chOff x="0" y="0"/>
          <a:chExt cx="0" cy="0"/>
        </a:xfrm>
      </p:grpSpPr>
      <p:sp>
        <p:nvSpPr>
          <p:cNvPr id="1582" name="Google Shape;1582;h3b987c62679a4f5d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3" name="Google Shape;1583;h3b987c62679a4f5d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h1863e7f528e27f2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0" name="Google Shape;1590;h1863e7f528e27f2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h3b987c62679a4f5d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7" name="Google Shape;1597;h3b987c62679a4f5d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h4f8be8f1b2c30ea5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4" name="Google Shape;1604;h4f8be8f1b2c30ea5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h6554fdb7a5da33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1" name="Google Shape;1611;h6554fdb7a5da33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h6554fdb7a5da3374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8" name="Google Shape;1618;h6554fdb7a5da3374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g3f6939d4d9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5" name="Google Shape;1625;g3f6939d4d94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6F6476"/>
        </a:solidFill>
      </p:bgPr>
    </p:bg>
    <p:spTree>
      <p:nvGrpSpPr>
        <p:cNvPr id="9" name="Shape 9"/>
        <p:cNvGrpSpPr/>
        <p:nvPr/>
      </p:nvGrpSpPr>
      <p:grpSpPr>
        <a:xfrm>
          <a:off x="0" y="0"/>
          <a:ext cx="0" cy="0"/>
          <a:chOff x="0" y="0"/>
          <a:chExt cx="0" cy="0"/>
        </a:xfrm>
      </p:grpSpPr>
      <p:sp>
        <p:nvSpPr>
          <p:cNvPr id="10" name="Google Shape;1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4000"/>
              <a:buNone/>
              <a:defRPr sz="4000">
                <a:solidFill>
                  <a:schemeClr val="lt1"/>
                </a:solidFill>
              </a:defRPr>
            </a:lvl1pPr>
            <a:lvl2pPr lvl="1" algn="ctr">
              <a:lnSpc>
                <a:spcPct val="100000"/>
              </a:lnSpc>
              <a:spcBef>
                <a:spcPts val="0"/>
              </a:spcBef>
              <a:spcAft>
                <a:spcPts val="0"/>
              </a:spcAft>
              <a:buClr>
                <a:schemeClr val="lt1"/>
              </a:buClr>
              <a:buSzPts val="5200"/>
              <a:buNone/>
              <a:defRPr sz="5200">
                <a:solidFill>
                  <a:schemeClr val="lt1"/>
                </a:solidFill>
              </a:defRPr>
            </a:lvl2pPr>
            <a:lvl3pPr lvl="2" algn="ctr">
              <a:lnSpc>
                <a:spcPct val="100000"/>
              </a:lnSpc>
              <a:spcBef>
                <a:spcPts val="0"/>
              </a:spcBef>
              <a:spcAft>
                <a:spcPts val="0"/>
              </a:spcAft>
              <a:buClr>
                <a:schemeClr val="lt1"/>
              </a:buClr>
              <a:buSzPts val="5200"/>
              <a:buNone/>
              <a:defRPr sz="5200">
                <a:solidFill>
                  <a:schemeClr val="lt1"/>
                </a:solidFill>
              </a:defRPr>
            </a:lvl3pPr>
            <a:lvl4pPr lvl="3" algn="ctr">
              <a:lnSpc>
                <a:spcPct val="100000"/>
              </a:lnSpc>
              <a:spcBef>
                <a:spcPts val="0"/>
              </a:spcBef>
              <a:spcAft>
                <a:spcPts val="0"/>
              </a:spcAft>
              <a:buClr>
                <a:schemeClr val="lt1"/>
              </a:buClr>
              <a:buSzPts val="5200"/>
              <a:buNone/>
              <a:defRPr sz="5200">
                <a:solidFill>
                  <a:schemeClr val="lt1"/>
                </a:solidFill>
              </a:defRPr>
            </a:lvl4pPr>
            <a:lvl5pPr lvl="4" algn="ctr">
              <a:lnSpc>
                <a:spcPct val="100000"/>
              </a:lnSpc>
              <a:spcBef>
                <a:spcPts val="0"/>
              </a:spcBef>
              <a:spcAft>
                <a:spcPts val="0"/>
              </a:spcAft>
              <a:buClr>
                <a:schemeClr val="lt1"/>
              </a:buClr>
              <a:buSzPts val="5200"/>
              <a:buNone/>
              <a:defRPr sz="5200">
                <a:solidFill>
                  <a:schemeClr val="lt1"/>
                </a:solidFill>
              </a:defRPr>
            </a:lvl5pPr>
            <a:lvl6pPr lvl="5" algn="ctr">
              <a:lnSpc>
                <a:spcPct val="100000"/>
              </a:lnSpc>
              <a:spcBef>
                <a:spcPts val="0"/>
              </a:spcBef>
              <a:spcAft>
                <a:spcPts val="0"/>
              </a:spcAft>
              <a:buClr>
                <a:schemeClr val="lt1"/>
              </a:buClr>
              <a:buSzPts val="5200"/>
              <a:buNone/>
              <a:defRPr sz="5200">
                <a:solidFill>
                  <a:schemeClr val="lt1"/>
                </a:solidFill>
              </a:defRPr>
            </a:lvl6pPr>
            <a:lvl7pPr lvl="6" algn="ctr">
              <a:lnSpc>
                <a:spcPct val="100000"/>
              </a:lnSpc>
              <a:spcBef>
                <a:spcPts val="0"/>
              </a:spcBef>
              <a:spcAft>
                <a:spcPts val="0"/>
              </a:spcAft>
              <a:buClr>
                <a:schemeClr val="lt1"/>
              </a:buClr>
              <a:buSzPts val="5200"/>
              <a:buNone/>
              <a:defRPr sz="5200">
                <a:solidFill>
                  <a:schemeClr val="lt1"/>
                </a:solidFill>
              </a:defRPr>
            </a:lvl7pPr>
            <a:lvl8pPr lvl="7" algn="ctr">
              <a:lnSpc>
                <a:spcPct val="100000"/>
              </a:lnSpc>
              <a:spcBef>
                <a:spcPts val="0"/>
              </a:spcBef>
              <a:spcAft>
                <a:spcPts val="0"/>
              </a:spcAft>
              <a:buClr>
                <a:schemeClr val="lt1"/>
              </a:buClr>
              <a:buSzPts val="5200"/>
              <a:buNone/>
              <a:defRPr sz="5200">
                <a:solidFill>
                  <a:schemeClr val="lt1"/>
                </a:solidFill>
              </a:defRPr>
            </a:lvl8pPr>
            <a:lvl9pPr lvl="8" algn="ctr">
              <a:lnSpc>
                <a:spcPct val="100000"/>
              </a:lnSpc>
              <a:spcBef>
                <a:spcPts val="0"/>
              </a:spcBef>
              <a:spcAft>
                <a:spcPts val="0"/>
              </a:spcAft>
              <a:buClr>
                <a:schemeClr val="lt1"/>
              </a:buClr>
              <a:buSzPts val="5200"/>
              <a:buNone/>
              <a:defRPr sz="5200">
                <a:solidFill>
                  <a:schemeClr val="lt1"/>
                </a:solidFill>
              </a:defRPr>
            </a:lvl9pPr>
          </a:lstStyle>
          <a:p/>
        </p:txBody>
      </p:sp>
      <p:sp>
        <p:nvSpPr>
          <p:cNvPr id="11" name="Google Shape;1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B7B7B7"/>
              </a:buClr>
              <a:buSzPts val="2000"/>
              <a:buNone/>
              <a:defRPr sz="2000">
                <a:solidFill>
                  <a:srgbClr val="B7B7B7"/>
                </a:solidFill>
              </a:defRPr>
            </a:lvl1pPr>
            <a:lvl2pPr lvl="1" algn="ctr">
              <a:lnSpc>
                <a:spcPct val="100000"/>
              </a:lnSpc>
              <a:spcBef>
                <a:spcPts val="0"/>
              </a:spcBef>
              <a:spcAft>
                <a:spcPts val="0"/>
              </a:spcAft>
              <a:buClr>
                <a:srgbClr val="B7B7B7"/>
              </a:buClr>
              <a:buSzPts val="2000"/>
              <a:buNone/>
              <a:defRPr sz="2000">
                <a:solidFill>
                  <a:srgbClr val="B7B7B7"/>
                </a:solidFill>
              </a:defRPr>
            </a:lvl2pPr>
            <a:lvl3pPr lvl="2" algn="ctr">
              <a:lnSpc>
                <a:spcPct val="100000"/>
              </a:lnSpc>
              <a:spcBef>
                <a:spcPts val="0"/>
              </a:spcBef>
              <a:spcAft>
                <a:spcPts val="0"/>
              </a:spcAft>
              <a:buClr>
                <a:srgbClr val="B7B7B7"/>
              </a:buClr>
              <a:buSzPts val="2000"/>
              <a:buNone/>
              <a:defRPr sz="2000">
                <a:solidFill>
                  <a:srgbClr val="B7B7B7"/>
                </a:solidFill>
              </a:defRPr>
            </a:lvl3pPr>
            <a:lvl4pPr lvl="3" algn="ctr">
              <a:lnSpc>
                <a:spcPct val="100000"/>
              </a:lnSpc>
              <a:spcBef>
                <a:spcPts val="0"/>
              </a:spcBef>
              <a:spcAft>
                <a:spcPts val="0"/>
              </a:spcAft>
              <a:buClr>
                <a:srgbClr val="B7B7B7"/>
              </a:buClr>
              <a:buSzPts val="2000"/>
              <a:buNone/>
              <a:defRPr sz="2000">
                <a:solidFill>
                  <a:srgbClr val="B7B7B7"/>
                </a:solidFill>
              </a:defRPr>
            </a:lvl4pPr>
            <a:lvl5pPr lvl="4" algn="ctr">
              <a:lnSpc>
                <a:spcPct val="100000"/>
              </a:lnSpc>
              <a:spcBef>
                <a:spcPts val="0"/>
              </a:spcBef>
              <a:spcAft>
                <a:spcPts val="0"/>
              </a:spcAft>
              <a:buClr>
                <a:srgbClr val="B7B7B7"/>
              </a:buClr>
              <a:buSzPts val="2000"/>
              <a:buNone/>
              <a:defRPr sz="2000">
                <a:solidFill>
                  <a:srgbClr val="B7B7B7"/>
                </a:solidFill>
              </a:defRPr>
            </a:lvl5pPr>
            <a:lvl6pPr lvl="5" algn="ctr">
              <a:lnSpc>
                <a:spcPct val="100000"/>
              </a:lnSpc>
              <a:spcBef>
                <a:spcPts val="0"/>
              </a:spcBef>
              <a:spcAft>
                <a:spcPts val="0"/>
              </a:spcAft>
              <a:buClr>
                <a:srgbClr val="B7B7B7"/>
              </a:buClr>
              <a:buSzPts val="2000"/>
              <a:buNone/>
              <a:defRPr sz="2000">
                <a:solidFill>
                  <a:srgbClr val="B7B7B7"/>
                </a:solidFill>
              </a:defRPr>
            </a:lvl6pPr>
            <a:lvl7pPr lvl="6" algn="ctr">
              <a:lnSpc>
                <a:spcPct val="100000"/>
              </a:lnSpc>
              <a:spcBef>
                <a:spcPts val="0"/>
              </a:spcBef>
              <a:spcAft>
                <a:spcPts val="0"/>
              </a:spcAft>
              <a:buClr>
                <a:srgbClr val="B7B7B7"/>
              </a:buClr>
              <a:buSzPts val="2000"/>
              <a:buNone/>
              <a:defRPr sz="2000">
                <a:solidFill>
                  <a:srgbClr val="B7B7B7"/>
                </a:solidFill>
              </a:defRPr>
            </a:lvl7pPr>
            <a:lvl8pPr lvl="7" algn="ctr">
              <a:lnSpc>
                <a:spcPct val="100000"/>
              </a:lnSpc>
              <a:spcBef>
                <a:spcPts val="0"/>
              </a:spcBef>
              <a:spcAft>
                <a:spcPts val="0"/>
              </a:spcAft>
              <a:buClr>
                <a:srgbClr val="B7B7B7"/>
              </a:buClr>
              <a:buSzPts val="2000"/>
              <a:buNone/>
              <a:defRPr sz="2000">
                <a:solidFill>
                  <a:srgbClr val="B7B7B7"/>
                </a:solidFill>
              </a:defRPr>
            </a:lvl8pPr>
            <a:lvl9pPr lvl="8" algn="ctr">
              <a:lnSpc>
                <a:spcPct val="100000"/>
              </a:lnSpc>
              <a:spcBef>
                <a:spcPts val="0"/>
              </a:spcBef>
              <a:spcAft>
                <a:spcPts val="0"/>
              </a:spcAft>
              <a:buClr>
                <a:srgbClr val="B7B7B7"/>
              </a:buClr>
              <a:buSzPts val="2000"/>
              <a:buNone/>
              <a:defRPr sz="2000">
                <a:solidFill>
                  <a:srgbClr val="B7B7B7"/>
                </a:solidFill>
              </a:defRPr>
            </a:lvl9pPr>
          </a:lstStyle>
          <a:p/>
        </p:txBody>
      </p:sp>
      <p:sp>
        <p:nvSpPr>
          <p:cNvPr id="12" name="Google Shape;1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419100" lvl="0" marL="457200" algn="l">
              <a:lnSpc>
                <a:spcPct val="115000"/>
              </a:lnSpc>
              <a:spcBef>
                <a:spcPts val="0"/>
              </a:spcBef>
              <a:spcAft>
                <a:spcPts val="0"/>
              </a:spcAft>
              <a:buSzPts val="3000"/>
              <a:buChar char="●"/>
              <a:defRPr/>
            </a:lvl1pPr>
            <a:lvl2pPr indent="-381000" lvl="1" marL="914400" algn="l">
              <a:lnSpc>
                <a:spcPct val="115000"/>
              </a:lnSpc>
              <a:spcBef>
                <a:spcPts val="1600"/>
              </a:spcBef>
              <a:spcAft>
                <a:spcPts val="0"/>
              </a:spcAft>
              <a:buSzPts val="2400"/>
              <a:buChar char="○"/>
              <a:defRPr/>
            </a:lvl2pPr>
            <a:lvl3pPr indent="-342900" lvl="2" marL="1371600" algn="l">
              <a:lnSpc>
                <a:spcPct val="115000"/>
              </a:lnSpc>
              <a:spcBef>
                <a:spcPts val="1600"/>
              </a:spcBef>
              <a:spcAft>
                <a:spcPts val="0"/>
              </a:spcAft>
              <a:buSzPts val="18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 name="Shape 20"/>
        <p:cNvGrpSpPr/>
        <p:nvPr/>
      </p:nvGrpSpPr>
      <p:grpSpPr>
        <a:xfrm>
          <a:off x="0" y="0"/>
          <a:ext cx="0" cy="0"/>
          <a:chOff x="0" y="0"/>
          <a:chExt cx="0" cy="0"/>
        </a:xfrm>
      </p:grpSpPr>
      <p:sp>
        <p:nvSpPr>
          <p:cNvPr id="21" name="Google Shape;21;p12"/>
          <p:cNvSpPr/>
          <p:nvPr/>
        </p:nvSpPr>
        <p:spPr>
          <a:xfrm>
            <a:off x="0" y="-125"/>
            <a:ext cx="4572000" cy="5143500"/>
          </a:xfrm>
          <a:prstGeom prst="rect">
            <a:avLst/>
          </a:prstGeom>
          <a:solidFill>
            <a:srgbClr val="6F647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B2E2C"/>
              </a:solidFill>
              <a:latin typeface="Arial"/>
              <a:ea typeface="Arial"/>
              <a:cs typeface="Arial"/>
              <a:sym typeface="Arial"/>
            </a:endParaRPr>
          </a:p>
        </p:txBody>
      </p:sp>
      <p:sp>
        <p:nvSpPr>
          <p:cNvPr id="22" name="Google Shape;22;p1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3000"/>
              <a:buNone/>
              <a:defRPr sz="30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p:txBody>
      </p:sp>
      <p:sp>
        <p:nvSpPr>
          <p:cNvPr id="23" name="Google Shape;23;p1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D9D9D9"/>
              </a:buClr>
              <a:buSzPts val="1400"/>
              <a:buNone/>
              <a:defRPr sz="1400">
                <a:solidFill>
                  <a:srgbClr val="D9D9D9"/>
                </a:solidFill>
              </a:defRPr>
            </a:lvl1pPr>
            <a:lvl2pPr lvl="1" algn="ctr">
              <a:lnSpc>
                <a:spcPct val="100000"/>
              </a:lnSpc>
              <a:spcBef>
                <a:spcPts val="0"/>
              </a:spcBef>
              <a:spcAft>
                <a:spcPts val="0"/>
              </a:spcAft>
              <a:buClr>
                <a:srgbClr val="D9D9D9"/>
              </a:buClr>
              <a:buSzPts val="2400"/>
              <a:buNone/>
              <a:defRPr>
                <a:solidFill>
                  <a:srgbClr val="D9D9D9"/>
                </a:solidFill>
              </a:defRPr>
            </a:lvl2pPr>
            <a:lvl3pPr lvl="2" algn="ctr">
              <a:lnSpc>
                <a:spcPct val="100000"/>
              </a:lnSpc>
              <a:spcBef>
                <a:spcPts val="0"/>
              </a:spcBef>
              <a:spcAft>
                <a:spcPts val="0"/>
              </a:spcAft>
              <a:buClr>
                <a:srgbClr val="D9D9D9"/>
              </a:buClr>
              <a:buSzPts val="1800"/>
              <a:buNone/>
              <a:defRPr>
                <a:solidFill>
                  <a:srgbClr val="D9D9D9"/>
                </a:solidFill>
              </a:defRPr>
            </a:lvl3pPr>
            <a:lvl4pPr lvl="3" algn="ctr">
              <a:lnSpc>
                <a:spcPct val="100000"/>
              </a:lnSpc>
              <a:spcBef>
                <a:spcPts val="0"/>
              </a:spcBef>
              <a:spcAft>
                <a:spcPts val="0"/>
              </a:spcAft>
              <a:buClr>
                <a:srgbClr val="D9D9D9"/>
              </a:buClr>
              <a:buSzPts val="1400"/>
              <a:buNone/>
              <a:defRPr>
                <a:solidFill>
                  <a:srgbClr val="D9D9D9"/>
                </a:solidFill>
              </a:defRPr>
            </a:lvl4pPr>
            <a:lvl5pPr lvl="4" algn="ctr">
              <a:lnSpc>
                <a:spcPct val="100000"/>
              </a:lnSpc>
              <a:spcBef>
                <a:spcPts val="0"/>
              </a:spcBef>
              <a:spcAft>
                <a:spcPts val="0"/>
              </a:spcAft>
              <a:buClr>
                <a:srgbClr val="D9D9D9"/>
              </a:buClr>
              <a:buSzPts val="1400"/>
              <a:buNone/>
              <a:defRPr>
                <a:solidFill>
                  <a:srgbClr val="D9D9D9"/>
                </a:solidFill>
              </a:defRPr>
            </a:lvl5pPr>
            <a:lvl6pPr lvl="5" algn="ctr">
              <a:lnSpc>
                <a:spcPct val="100000"/>
              </a:lnSpc>
              <a:spcBef>
                <a:spcPts val="0"/>
              </a:spcBef>
              <a:spcAft>
                <a:spcPts val="0"/>
              </a:spcAft>
              <a:buClr>
                <a:srgbClr val="D9D9D9"/>
              </a:buClr>
              <a:buSzPts val="1400"/>
              <a:buNone/>
              <a:defRPr>
                <a:solidFill>
                  <a:srgbClr val="D9D9D9"/>
                </a:solidFill>
              </a:defRPr>
            </a:lvl6pPr>
            <a:lvl7pPr lvl="6" algn="ctr">
              <a:lnSpc>
                <a:spcPct val="100000"/>
              </a:lnSpc>
              <a:spcBef>
                <a:spcPts val="0"/>
              </a:spcBef>
              <a:spcAft>
                <a:spcPts val="0"/>
              </a:spcAft>
              <a:buClr>
                <a:srgbClr val="D9D9D9"/>
              </a:buClr>
              <a:buSzPts val="1400"/>
              <a:buNone/>
              <a:defRPr>
                <a:solidFill>
                  <a:srgbClr val="D9D9D9"/>
                </a:solidFill>
              </a:defRPr>
            </a:lvl7pPr>
            <a:lvl8pPr lvl="7" algn="ctr">
              <a:lnSpc>
                <a:spcPct val="100000"/>
              </a:lnSpc>
              <a:spcBef>
                <a:spcPts val="0"/>
              </a:spcBef>
              <a:spcAft>
                <a:spcPts val="0"/>
              </a:spcAft>
              <a:buClr>
                <a:srgbClr val="D9D9D9"/>
              </a:buClr>
              <a:buSzPts val="1400"/>
              <a:buNone/>
              <a:defRPr>
                <a:solidFill>
                  <a:srgbClr val="D9D9D9"/>
                </a:solidFill>
              </a:defRPr>
            </a:lvl8pPr>
            <a:lvl9pPr lvl="8" algn="ctr">
              <a:lnSpc>
                <a:spcPct val="100000"/>
              </a:lnSpc>
              <a:spcBef>
                <a:spcPts val="0"/>
              </a:spcBef>
              <a:spcAft>
                <a:spcPts val="0"/>
              </a:spcAft>
              <a:buClr>
                <a:srgbClr val="D9D9D9"/>
              </a:buClr>
              <a:buSzPts val="1400"/>
              <a:buNone/>
              <a:defRPr>
                <a:solidFill>
                  <a:srgbClr val="D9D9D9"/>
                </a:solidFill>
              </a:defRPr>
            </a:lvl9pPr>
          </a:lstStyle>
          <a:p/>
        </p:txBody>
      </p:sp>
      <p:sp>
        <p:nvSpPr>
          <p:cNvPr id="24" name="Google Shape;24;p1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419100" lvl="0" marL="457200" algn="l">
              <a:lnSpc>
                <a:spcPct val="115000"/>
              </a:lnSpc>
              <a:spcBef>
                <a:spcPts val="0"/>
              </a:spcBef>
              <a:spcAft>
                <a:spcPts val="0"/>
              </a:spcAft>
              <a:buClr>
                <a:schemeClr val="dk1"/>
              </a:buClr>
              <a:buSzPts val="3000"/>
              <a:buChar char="●"/>
              <a:defRPr>
                <a:solidFill>
                  <a:schemeClr val="dk1"/>
                </a:solidFill>
              </a:defRPr>
            </a:lvl1pPr>
            <a:lvl2pPr indent="-381000" lvl="1" marL="914400" algn="l">
              <a:lnSpc>
                <a:spcPct val="115000"/>
              </a:lnSpc>
              <a:spcBef>
                <a:spcPts val="1600"/>
              </a:spcBef>
              <a:spcAft>
                <a:spcPts val="0"/>
              </a:spcAft>
              <a:buClr>
                <a:schemeClr val="dk1"/>
              </a:buClr>
              <a:buSzPts val="2400"/>
              <a:buChar char="○"/>
              <a:defRPr>
                <a:solidFill>
                  <a:schemeClr val="dk1"/>
                </a:solidFill>
              </a:defRPr>
            </a:lvl2pPr>
            <a:lvl3pPr indent="-342900" lvl="2" marL="1371600" algn="l">
              <a:lnSpc>
                <a:spcPct val="115000"/>
              </a:lnSpc>
              <a:spcBef>
                <a:spcPts val="1600"/>
              </a:spcBef>
              <a:spcAft>
                <a:spcPts val="0"/>
              </a:spcAft>
              <a:buClr>
                <a:schemeClr val="dk1"/>
              </a:buClr>
              <a:buSzPts val="1800"/>
              <a:buChar char="■"/>
              <a:defRPr>
                <a:solidFill>
                  <a:schemeClr val="dk1"/>
                </a:solidFill>
              </a:defRPr>
            </a:lvl3pPr>
            <a:lvl4pPr indent="-317500" lvl="3" marL="1828800" algn="l">
              <a:lnSpc>
                <a:spcPct val="115000"/>
              </a:lnSpc>
              <a:spcBef>
                <a:spcPts val="1600"/>
              </a:spcBef>
              <a:spcAft>
                <a:spcPts val="0"/>
              </a:spcAft>
              <a:buClr>
                <a:schemeClr val="dk1"/>
              </a:buClr>
              <a:buSzPts val="1400"/>
              <a:buChar char="●"/>
              <a:defRPr>
                <a:solidFill>
                  <a:schemeClr val="dk1"/>
                </a:solidFill>
              </a:defRPr>
            </a:lvl4pPr>
            <a:lvl5pPr indent="-317500" lvl="4" marL="2286000" algn="l">
              <a:lnSpc>
                <a:spcPct val="115000"/>
              </a:lnSpc>
              <a:spcBef>
                <a:spcPts val="1600"/>
              </a:spcBef>
              <a:spcAft>
                <a:spcPts val="0"/>
              </a:spcAft>
              <a:buClr>
                <a:schemeClr val="dk1"/>
              </a:buClr>
              <a:buSzPts val="1400"/>
              <a:buChar char="○"/>
              <a:defRPr>
                <a:solidFill>
                  <a:schemeClr val="dk1"/>
                </a:solidFill>
              </a:defRPr>
            </a:lvl5pPr>
            <a:lvl6pPr indent="-317500" lvl="5" marL="2743200" algn="l">
              <a:lnSpc>
                <a:spcPct val="115000"/>
              </a:lnSpc>
              <a:spcBef>
                <a:spcPts val="1600"/>
              </a:spcBef>
              <a:spcAft>
                <a:spcPts val="0"/>
              </a:spcAft>
              <a:buClr>
                <a:schemeClr val="dk1"/>
              </a:buClr>
              <a:buSzPts val="1400"/>
              <a:buChar char="■"/>
              <a:defRPr>
                <a:solidFill>
                  <a:schemeClr val="dk1"/>
                </a:solidFill>
              </a:defRPr>
            </a:lvl6pPr>
            <a:lvl7pPr indent="-317500" lvl="6" marL="3200400" algn="l">
              <a:lnSpc>
                <a:spcPct val="115000"/>
              </a:lnSpc>
              <a:spcBef>
                <a:spcPts val="1600"/>
              </a:spcBef>
              <a:spcAft>
                <a:spcPts val="0"/>
              </a:spcAft>
              <a:buClr>
                <a:schemeClr val="dk1"/>
              </a:buClr>
              <a:buSzPts val="1400"/>
              <a:buChar char="●"/>
              <a:defRPr>
                <a:solidFill>
                  <a:schemeClr val="dk1"/>
                </a:solidFill>
              </a:defRPr>
            </a:lvl7pPr>
            <a:lvl8pPr indent="-317500" lvl="7" marL="3657600" algn="l">
              <a:lnSpc>
                <a:spcPct val="115000"/>
              </a:lnSpc>
              <a:spcBef>
                <a:spcPts val="1600"/>
              </a:spcBef>
              <a:spcAft>
                <a:spcPts val="0"/>
              </a:spcAft>
              <a:buClr>
                <a:schemeClr val="dk1"/>
              </a:buClr>
              <a:buSzPts val="1400"/>
              <a:buChar char="○"/>
              <a:defRPr>
                <a:solidFill>
                  <a:schemeClr val="dk1"/>
                </a:solidFill>
              </a:defRPr>
            </a:lvl8pPr>
            <a:lvl9pPr indent="-317500" lvl="8" marL="4114800" algn="l">
              <a:lnSpc>
                <a:spcPct val="115000"/>
              </a:lnSpc>
              <a:spcBef>
                <a:spcPts val="1600"/>
              </a:spcBef>
              <a:spcAft>
                <a:spcPts val="1600"/>
              </a:spcAft>
              <a:buClr>
                <a:schemeClr val="dk1"/>
              </a:buClr>
              <a:buSzPts val="1400"/>
              <a:buChar char="■"/>
              <a:defRPr>
                <a:solidFill>
                  <a:schemeClr val="dk1"/>
                </a:solidFill>
              </a:defRPr>
            </a:lvl9pPr>
          </a:lstStyle>
          <a:p/>
        </p:txBody>
      </p:sp>
      <p:sp>
        <p:nvSpPr>
          <p:cNvPr id="25" name="Google Shape;2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1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1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0" name="Google Shape;3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1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1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7" name="Google Shape;3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1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3000"/>
              <a:buNone/>
              <a:defRPr/>
            </a:lvl1pPr>
          </a:lstStyle>
          <a:p/>
        </p:txBody>
      </p:sp>
      <p:sp>
        <p:nvSpPr>
          <p:cNvPr id="43" name="Google Shape;4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419100" lvl="0" marL="457200" algn="ctr">
              <a:lnSpc>
                <a:spcPct val="115000"/>
              </a:lnSpc>
              <a:spcBef>
                <a:spcPts val="0"/>
              </a:spcBef>
              <a:spcAft>
                <a:spcPts val="0"/>
              </a:spcAft>
              <a:buSzPts val="3000"/>
              <a:buChar char="●"/>
              <a:defRPr/>
            </a:lvl1pPr>
            <a:lvl2pPr indent="-381000" lvl="1" marL="914400" algn="ctr">
              <a:lnSpc>
                <a:spcPct val="115000"/>
              </a:lnSpc>
              <a:spcBef>
                <a:spcPts val="1600"/>
              </a:spcBef>
              <a:spcAft>
                <a:spcPts val="0"/>
              </a:spcAft>
              <a:buSzPts val="2400"/>
              <a:buChar char="○"/>
              <a:defRPr/>
            </a:lvl2pPr>
            <a:lvl3pPr indent="-342900" lvl="2" marL="1371600" algn="ctr">
              <a:lnSpc>
                <a:spcPct val="115000"/>
              </a:lnSpc>
              <a:spcBef>
                <a:spcPts val="1600"/>
              </a:spcBef>
              <a:spcAft>
                <a:spcPts val="0"/>
              </a:spcAft>
              <a:buSzPts val="18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50" name="Shape 50"/>
        <p:cNvGrpSpPr/>
        <p:nvPr/>
      </p:nvGrpSpPr>
      <p:grpSpPr>
        <a:xfrm>
          <a:off x="0" y="0"/>
          <a:ext cx="0" cy="0"/>
          <a:chOff x="0" y="0"/>
          <a:chExt cx="0" cy="0"/>
        </a:xfrm>
      </p:grpSpPr>
      <p:sp>
        <p:nvSpPr>
          <p:cNvPr id="51" name="Google Shape;51;p20"/>
          <p:cNvSpPr txBox="1"/>
          <p:nvPr>
            <p:ph type="title"/>
          </p:nvPr>
        </p:nvSpPr>
        <p:spPr>
          <a:xfrm>
            <a:off x="457172" y="205014"/>
            <a:ext cx="8228700" cy="858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3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20"/>
          <p:cNvSpPr txBox="1"/>
          <p:nvPr>
            <p:ph idx="1" type="body"/>
          </p:nvPr>
        </p:nvSpPr>
        <p:spPr>
          <a:xfrm>
            <a:off x="457172" y="1203631"/>
            <a:ext cx="8228700" cy="339480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3000"/>
              <a:buNone/>
              <a:defRPr/>
            </a:lvl1pPr>
            <a:lvl2pPr indent="-228600" lvl="1" marL="914400" algn="l">
              <a:lnSpc>
                <a:spcPct val="115000"/>
              </a:lnSpc>
              <a:spcBef>
                <a:spcPts val="1600"/>
              </a:spcBef>
              <a:spcAft>
                <a:spcPts val="0"/>
              </a:spcAft>
              <a:buSzPts val="2400"/>
              <a:buNone/>
              <a:defRPr/>
            </a:lvl2pPr>
            <a:lvl3pPr indent="-228600" lvl="2" marL="1371600" algn="l">
              <a:lnSpc>
                <a:spcPct val="115000"/>
              </a:lnSpc>
              <a:spcBef>
                <a:spcPts val="1600"/>
              </a:spcBef>
              <a:spcAft>
                <a:spcPts val="0"/>
              </a:spcAft>
              <a:buSzPts val="1800"/>
              <a:buNone/>
              <a:defRPr/>
            </a:lvl3pPr>
            <a:lvl4pPr indent="-228600" lvl="3" marL="1828800" algn="l">
              <a:lnSpc>
                <a:spcPct val="115000"/>
              </a:lnSpc>
              <a:spcBef>
                <a:spcPts val="1600"/>
              </a:spcBef>
              <a:spcAft>
                <a:spcPts val="0"/>
              </a:spcAft>
              <a:buSzPts val="1400"/>
              <a:buNone/>
              <a:defRPr/>
            </a:lvl4pPr>
            <a:lvl5pPr indent="-228600" lvl="4" marL="2286000" algn="l">
              <a:lnSpc>
                <a:spcPct val="115000"/>
              </a:lnSpc>
              <a:spcBef>
                <a:spcPts val="1600"/>
              </a:spcBef>
              <a:spcAft>
                <a:spcPts val="0"/>
              </a:spcAft>
              <a:buSzPts val="1400"/>
              <a:buNone/>
              <a:defRPr/>
            </a:lvl5pPr>
            <a:lvl6pPr indent="-228600" lvl="5" marL="2743200" algn="l">
              <a:lnSpc>
                <a:spcPct val="115000"/>
              </a:lnSpc>
              <a:spcBef>
                <a:spcPts val="1600"/>
              </a:spcBef>
              <a:spcAft>
                <a:spcPts val="0"/>
              </a:spcAft>
              <a:buSzPts val="1400"/>
              <a:buNone/>
              <a:defRPr/>
            </a:lvl6pPr>
            <a:lvl7pPr indent="-228600" lvl="6" marL="3200400" algn="l">
              <a:lnSpc>
                <a:spcPct val="115000"/>
              </a:lnSpc>
              <a:spcBef>
                <a:spcPts val="1600"/>
              </a:spcBef>
              <a:spcAft>
                <a:spcPts val="0"/>
              </a:spcAft>
              <a:buSzPts val="1400"/>
              <a:buNone/>
              <a:defRPr/>
            </a:lvl7pPr>
            <a:lvl8pPr indent="-228600" lvl="7" marL="3657600" algn="l">
              <a:lnSpc>
                <a:spcPct val="115000"/>
              </a:lnSpc>
              <a:spcBef>
                <a:spcPts val="1600"/>
              </a:spcBef>
              <a:spcAft>
                <a:spcPts val="0"/>
              </a:spcAft>
              <a:buSzPts val="1400"/>
              <a:buNone/>
              <a:defRPr/>
            </a:lvl8pPr>
            <a:lvl9pPr indent="-228600" lvl="8" marL="4114800" algn="l">
              <a:lnSpc>
                <a:spcPct val="115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53" name="Shape 53"/>
        <p:cNvGrpSpPr/>
        <p:nvPr/>
      </p:nvGrpSpPr>
      <p:grpSpPr>
        <a:xfrm>
          <a:off x="0" y="0"/>
          <a:ext cx="0" cy="0"/>
          <a:chOff x="0" y="0"/>
          <a:chExt cx="0" cy="0"/>
        </a:xfrm>
      </p:grpSpPr>
      <p:sp>
        <p:nvSpPr>
          <p:cNvPr id="54" name="Google Shape;54;h3b987c62679a4f5d_0_1057"/>
          <p:cNvSpPr txBox="1"/>
          <p:nvPr>
            <p:ph type="title"/>
          </p:nvPr>
        </p:nvSpPr>
        <p:spPr>
          <a:xfrm>
            <a:off x="822960" y="119702"/>
            <a:ext cx="7543800" cy="6804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 name="Google Shape;55;h3b987c62679a4f5d_0_1057"/>
          <p:cNvSpPr txBox="1"/>
          <p:nvPr>
            <p:ph idx="1" type="body"/>
          </p:nvPr>
        </p:nvSpPr>
        <p:spPr>
          <a:xfrm>
            <a:off x="822962" y="1200150"/>
            <a:ext cx="7543800" cy="3429000"/>
          </a:xfrm>
          <a:prstGeom prst="rect">
            <a:avLst/>
          </a:prstGeom>
          <a:noFill/>
          <a:ln>
            <a:noFill/>
          </a:ln>
        </p:spPr>
        <p:txBody>
          <a:bodyPr anchorCtr="0" anchor="t" bIns="45700" lIns="0" spcFirstLastPara="1" rIns="0" wrap="square" tIns="45700">
            <a:normAutofit/>
          </a:bodyPr>
          <a:lstStyle>
            <a:lvl1pPr indent="-228600" lvl="0" marL="457200" algn="l">
              <a:lnSpc>
                <a:spcPct val="90000"/>
              </a:lnSpc>
              <a:spcBef>
                <a:spcPts val="900"/>
              </a:spcBef>
              <a:spcAft>
                <a:spcPts val="0"/>
              </a:spcAft>
              <a:buSzPts val="2800"/>
              <a:buNone/>
              <a:defRPr sz="2800"/>
            </a:lvl1pPr>
            <a:lvl2pPr indent="-381000" lvl="1" marL="914400" algn="l">
              <a:lnSpc>
                <a:spcPct val="90000"/>
              </a:lnSpc>
              <a:spcBef>
                <a:spcPts val="150"/>
              </a:spcBef>
              <a:spcAft>
                <a:spcPts val="0"/>
              </a:spcAft>
              <a:buSzPts val="2400"/>
              <a:buChar char="○"/>
              <a:defRPr sz="2400"/>
            </a:lvl2pPr>
            <a:lvl3pPr indent="-355600" lvl="2" marL="1371600" algn="l">
              <a:lnSpc>
                <a:spcPct val="90000"/>
              </a:lnSpc>
              <a:spcBef>
                <a:spcPts val="300"/>
              </a:spcBef>
              <a:spcAft>
                <a:spcPts val="0"/>
              </a:spcAft>
              <a:buSzPts val="2000"/>
              <a:buChar char="■"/>
              <a:defRPr sz="2000"/>
            </a:lvl3pPr>
            <a:lvl4pPr indent="-330200" lvl="3" marL="1828800" algn="l">
              <a:lnSpc>
                <a:spcPct val="90000"/>
              </a:lnSpc>
              <a:spcBef>
                <a:spcPts val="300"/>
              </a:spcBef>
              <a:spcAft>
                <a:spcPts val="0"/>
              </a:spcAft>
              <a:buSzPts val="1600"/>
              <a:buChar char="●"/>
              <a:defRPr sz="1600"/>
            </a:lvl4pPr>
            <a:lvl5pPr indent="-317500" lvl="4" marL="2286000" algn="l">
              <a:lnSpc>
                <a:spcPct val="90000"/>
              </a:lnSpc>
              <a:spcBef>
                <a:spcPts val="300"/>
              </a:spcBef>
              <a:spcAft>
                <a:spcPts val="0"/>
              </a:spcAft>
              <a:buSzPts val="1400"/>
              <a:buChar char="○"/>
              <a:defRPr sz="1400">
                <a:latin typeface="Calibri"/>
                <a:ea typeface="Calibri"/>
                <a:cs typeface="Calibri"/>
                <a:sym typeface="Calibri"/>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56" name="Google Shape;56;h3b987c62679a4f5d_0_1057"/>
          <p:cNvSpPr txBox="1"/>
          <p:nvPr>
            <p:ph idx="10" type="dt"/>
          </p:nvPr>
        </p:nvSpPr>
        <p:spPr>
          <a:xfrm>
            <a:off x="822964" y="4844841"/>
            <a:ext cx="18543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h3b987c62679a4f5d_0_1057"/>
          <p:cNvSpPr txBox="1"/>
          <p:nvPr>
            <p:ph idx="11" type="ftr"/>
          </p:nvPr>
        </p:nvSpPr>
        <p:spPr>
          <a:xfrm>
            <a:off x="2764640" y="5029203"/>
            <a:ext cx="3617100" cy="89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6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h3b987c62679a4f5d_0_1057"/>
          <p:cNvSpPr txBox="1"/>
          <p:nvPr>
            <p:ph idx="12" type="sldNum"/>
          </p:nvPr>
        </p:nvSpPr>
        <p:spPr>
          <a:xfrm>
            <a:off x="7425347" y="4844841"/>
            <a:ext cx="9840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extLst>
    <p:ext uri="{DCECCB84-F9BA-43D5-87BE-67443E8EF086}">
      <p15:sldGuideLst>
        <p15:guide id="1" orient="horz" pos="1620">
          <p15:clr>
            <a:srgbClr val="FBAE40"/>
          </p15:clr>
        </p15:guide>
        <p15:guide id="2" pos="216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3E7EA"/>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400"/>
              <a:buFont typeface="Comfortaa"/>
              <a:buNone/>
              <a:defRPr b="1" i="0" sz="3400" u="none" cap="none" strike="noStrike">
                <a:solidFill>
                  <a:schemeClr val="dk1"/>
                </a:solidFill>
                <a:latin typeface="Comfortaa"/>
                <a:ea typeface="Comfortaa"/>
                <a:cs typeface="Comfortaa"/>
                <a:sym typeface="Comfortaa"/>
              </a:defRPr>
            </a:lvl1pPr>
            <a:lvl2pPr lvl="1"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2pPr>
            <a:lvl3pPr lvl="2"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3pPr>
            <a:lvl4pPr lvl="3"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4pPr>
            <a:lvl5pPr lvl="4"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5pPr>
            <a:lvl6pPr lvl="5"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6pPr>
            <a:lvl7pPr lvl="6"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7pPr>
            <a:lvl8pPr lvl="7"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8pPr>
            <a:lvl9pPr lvl="8" marR="0" rtl="0" algn="l">
              <a:lnSpc>
                <a:spcPct val="100000"/>
              </a:lnSpc>
              <a:spcBef>
                <a:spcPts val="0"/>
              </a:spcBef>
              <a:spcAft>
                <a:spcPts val="0"/>
              </a:spcAft>
              <a:buClr>
                <a:schemeClr val="dk1"/>
              </a:buClr>
              <a:buSzPts val="2800"/>
              <a:buFont typeface="Comfortaa"/>
              <a:buNone/>
              <a:defRPr b="1" i="0" sz="2800" u="none" cap="none" strike="noStrike">
                <a:solidFill>
                  <a:schemeClr val="dk1"/>
                </a:solidFill>
                <a:latin typeface="Comfortaa"/>
                <a:ea typeface="Comfortaa"/>
                <a:cs typeface="Comfortaa"/>
                <a:sym typeface="Comfortaa"/>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419100" lvl="0" marL="457200" marR="0" rtl="0" algn="l">
              <a:lnSpc>
                <a:spcPct val="115000"/>
              </a:lnSpc>
              <a:spcBef>
                <a:spcPts val="0"/>
              </a:spcBef>
              <a:spcAft>
                <a:spcPts val="0"/>
              </a:spcAft>
              <a:buClr>
                <a:srgbClr val="434343"/>
              </a:buClr>
              <a:buSzPts val="3000"/>
              <a:buFont typeface="Comfortaa"/>
              <a:buChar char="●"/>
              <a:defRPr b="0" i="0" sz="3000" u="none" cap="none" strike="noStrike">
                <a:solidFill>
                  <a:srgbClr val="434343"/>
                </a:solidFill>
                <a:latin typeface="Comfortaa"/>
                <a:ea typeface="Comfortaa"/>
                <a:cs typeface="Comfortaa"/>
                <a:sym typeface="Comfortaa"/>
              </a:defRPr>
            </a:lvl1pPr>
            <a:lvl2pPr indent="-381000" lvl="1" marL="914400" marR="0" rtl="0" algn="l">
              <a:lnSpc>
                <a:spcPct val="115000"/>
              </a:lnSpc>
              <a:spcBef>
                <a:spcPts val="1600"/>
              </a:spcBef>
              <a:spcAft>
                <a:spcPts val="0"/>
              </a:spcAft>
              <a:buClr>
                <a:srgbClr val="434343"/>
              </a:buClr>
              <a:buSzPts val="2400"/>
              <a:buFont typeface="Comfortaa"/>
              <a:buChar char="○"/>
              <a:defRPr b="0" i="0" sz="2400" u="none" cap="none" strike="noStrike">
                <a:solidFill>
                  <a:srgbClr val="434343"/>
                </a:solidFill>
                <a:latin typeface="Comfortaa"/>
                <a:ea typeface="Comfortaa"/>
                <a:cs typeface="Comfortaa"/>
                <a:sym typeface="Comfortaa"/>
              </a:defRPr>
            </a:lvl2pPr>
            <a:lvl3pPr indent="-342900" lvl="2" marL="1371600" marR="0" rtl="0" algn="l">
              <a:lnSpc>
                <a:spcPct val="115000"/>
              </a:lnSpc>
              <a:spcBef>
                <a:spcPts val="1600"/>
              </a:spcBef>
              <a:spcAft>
                <a:spcPts val="0"/>
              </a:spcAft>
              <a:buClr>
                <a:srgbClr val="666666"/>
              </a:buClr>
              <a:buSzPts val="1800"/>
              <a:buFont typeface="Comfortaa"/>
              <a:buChar char="■"/>
              <a:defRPr b="0" i="0" sz="1800" u="none" cap="none" strike="noStrike">
                <a:solidFill>
                  <a:srgbClr val="666666"/>
                </a:solidFill>
                <a:latin typeface="Comfortaa"/>
                <a:ea typeface="Comfortaa"/>
                <a:cs typeface="Comfortaa"/>
                <a:sym typeface="Comfortaa"/>
              </a:defRPr>
            </a:lvl3pPr>
            <a:lvl4pPr indent="-317500" lvl="3" marL="1828800" marR="0" rtl="0" algn="l">
              <a:lnSpc>
                <a:spcPct val="115000"/>
              </a:lnSpc>
              <a:spcBef>
                <a:spcPts val="1600"/>
              </a:spcBef>
              <a:spcAft>
                <a:spcPts val="0"/>
              </a:spcAft>
              <a:buClr>
                <a:srgbClr val="666666"/>
              </a:buClr>
              <a:buSzPts val="1400"/>
              <a:buFont typeface="Comfortaa"/>
              <a:buChar char="●"/>
              <a:defRPr b="0" i="0" sz="1400" u="none" cap="none" strike="noStrike">
                <a:solidFill>
                  <a:srgbClr val="666666"/>
                </a:solidFill>
                <a:latin typeface="Comfortaa"/>
                <a:ea typeface="Comfortaa"/>
                <a:cs typeface="Comfortaa"/>
                <a:sym typeface="Comfortaa"/>
              </a:defRPr>
            </a:lvl4pPr>
            <a:lvl5pPr indent="-317500" lvl="4" marL="2286000" marR="0" rtl="0" algn="l">
              <a:lnSpc>
                <a:spcPct val="115000"/>
              </a:lnSpc>
              <a:spcBef>
                <a:spcPts val="1600"/>
              </a:spcBef>
              <a:spcAft>
                <a:spcPts val="0"/>
              </a:spcAft>
              <a:buClr>
                <a:srgbClr val="666666"/>
              </a:buClr>
              <a:buSzPts val="1400"/>
              <a:buFont typeface="Comfortaa"/>
              <a:buChar char="○"/>
              <a:defRPr b="0" i="0" sz="1400" u="none" cap="none" strike="noStrike">
                <a:solidFill>
                  <a:srgbClr val="666666"/>
                </a:solidFill>
                <a:latin typeface="Comfortaa"/>
                <a:ea typeface="Comfortaa"/>
                <a:cs typeface="Comfortaa"/>
                <a:sym typeface="Comfortaa"/>
              </a:defRPr>
            </a:lvl5pPr>
            <a:lvl6pPr indent="-317500" lvl="5" marL="2743200" marR="0" rtl="0" algn="l">
              <a:lnSpc>
                <a:spcPct val="115000"/>
              </a:lnSpc>
              <a:spcBef>
                <a:spcPts val="1600"/>
              </a:spcBef>
              <a:spcAft>
                <a:spcPts val="0"/>
              </a:spcAft>
              <a:buClr>
                <a:srgbClr val="666666"/>
              </a:buClr>
              <a:buSzPts val="1400"/>
              <a:buFont typeface="Comfortaa"/>
              <a:buChar char="■"/>
              <a:defRPr b="0" i="0" sz="1400" u="none" cap="none" strike="noStrike">
                <a:solidFill>
                  <a:srgbClr val="666666"/>
                </a:solidFill>
                <a:latin typeface="Comfortaa"/>
                <a:ea typeface="Comfortaa"/>
                <a:cs typeface="Comfortaa"/>
                <a:sym typeface="Comfortaa"/>
              </a:defRPr>
            </a:lvl6pPr>
            <a:lvl7pPr indent="-317500" lvl="6" marL="3200400" marR="0" rtl="0" algn="l">
              <a:lnSpc>
                <a:spcPct val="115000"/>
              </a:lnSpc>
              <a:spcBef>
                <a:spcPts val="1600"/>
              </a:spcBef>
              <a:spcAft>
                <a:spcPts val="0"/>
              </a:spcAft>
              <a:buClr>
                <a:srgbClr val="999999"/>
              </a:buClr>
              <a:buSzPts val="1400"/>
              <a:buFont typeface="Comfortaa"/>
              <a:buChar char="●"/>
              <a:defRPr b="0" i="0" sz="1400" u="none" cap="none" strike="noStrike">
                <a:solidFill>
                  <a:srgbClr val="999999"/>
                </a:solidFill>
                <a:latin typeface="Comfortaa"/>
                <a:ea typeface="Comfortaa"/>
                <a:cs typeface="Comfortaa"/>
                <a:sym typeface="Comfortaa"/>
              </a:defRPr>
            </a:lvl7pPr>
            <a:lvl8pPr indent="-317500" lvl="7" marL="3657600" marR="0" rtl="0" algn="l">
              <a:lnSpc>
                <a:spcPct val="115000"/>
              </a:lnSpc>
              <a:spcBef>
                <a:spcPts val="1600"/>
              </a:spcBef>
              <a:spcAft>
                <a:spcPts val="0"/>
              </a:spcAft>
              <a:buClr>
                <a:srgbClr val="999999"/>
              </a:buClr>
              <a:buSzPts val="1400"/>
              <a:buFont typeface="Comfortaa"/>
              <a:buChar char="○"/>
              <a:defRPr b="0" i="0" sz="1400" u="none" cap="none" strike="noStrike">
                <a:solidFill>
                  <a:srgbClr val="999999"/>
                </a:solidFill>
                <a:latin typeface="Comfortaa"/>
                <a:ea typeface="Comfortaa"/>
                <a:cs typeface="Comfortaa"/>
                <a:sym typeface="Comfortaa"/>
              </a:defRPr>
            </a:lvl8pPr>
            <a:lvl9pPr indent="-317500" lvl="8" marL="4114800" marR="0" rtl="0" algn="l">
              <a:lnSpc>
                <a:spcPct val="115000"/>
              </a:lnSpc>
              <a:spcBef>
                <a:spcPts val="1600"/>
              </a:spcBef>
              <a:spcAft>
                <a:spcPts val="1600"/>
              </a:spcAft>
              <a:buClr>
                <a:srgbClr val="999999"/>
              </a:buClr>
              <a:buSzPts val="1400"/>
              <a:buFont typeface="Comfortaa"/>
              <a:buChar char="■"/>
              <a:defRPr b="0" i="0" sz="1400" u="none" cap="none" strike="noStrike">
                <a:solidFill>
                  <a:srgbClr val="999999"/>
                </a:solidFill>
                <a:latin typeface="Comfortaa"/>
                <a:ea typeface="Comfortaa"/>
                <a:cs typeface="Comfortaa"/>
                <a:sym typeface="Comfortaa"/>
              </a:defRPr>
            </a:lvl9pPr>
          </a:lstStyle>
          <a:p/>
        </p:txBody>
      </p:sp>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hyperlink" Target="https://pessoal.dainf.ct.utfpr.edu.br/lcjunior/" TargetMode="External"/><Relationship Id="rId5" Type="http://schemas.openxmlformats.org/officeDocument/2006/relationships/image" Target="../media/image12.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eb.stanford.edu/class/cs124/" TargetMode="External"/><Relationship Id="rId4" Type="http://schemas.openxmlformats.org/officeDocument/2006/relationships/hyperlink" Target="https://web.stanford.edu/~jurafsky/slp3/" TargetMode="External"/><Relationship Id="rId5"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hyperlink" Target="https://santanche.github.io/nlp2learn/machine-learning/logistic-regression/simulati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hyperlink" Target="https://youtu.be/aircAruvnKk?si=dXsjeYu0sFc-eoFv" TargetMode="External"/><Relationship Id="rId5" Type="http://schemas.openxmlformats.org/officeDocument/2006/relationships/image" Target="../media/image22.png"/><Relationship Id="rId6" Type="http://schemas.openxmlformats.org/officeDocument/2006/relationships/hyperlink" Target="https://youtu.be/CqOfi41LfDw?si=KkASDA7PCG6RRld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7.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31.png"/><Relationship Id="rId5" Type="http://schemas.openxmlformats.org/officeDocument/2006/relationships/image" Target="../media/image19.png"/><Relationship Id="rId6" Type="http://schemas.openxmlformats.org/officeDocument/2006/relationships/image" Target="../media/image23.png"/><Relationship Id="rId7"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image" Target="../media/image30.png"/><Relationship Id="rId5"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34.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36.png"/><Relationship Id="rId4" Type="http://schemas.openxmlformats.org/officeDocument/2006/relationships/image" Target="../media/image14.png"/><Relationship Id="rId5"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3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image" Target="../media/image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 Id="rId3" Type="http://schemas.openxmlformats.org/officeDocument/2006/relationships/image" Target="../media/image5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3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hyperlink" Target="https://santanche.github.io/nlp2learn/machine-learning/neural-network/essential/simulation/index.html" TargetMode="External"/><Relationship Id="rId4"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 Id="rId3" Type="http://schemas.openxmlformats.org/officeDocument/2006/relationships/image" Target="../media/image40.png"/><Relationship Id="rId4" Type="http://schemas.openxmlformats.org/officeDocument/2006/relationships/image" Target="../media/image4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 Id="rId3" Type="http://schemas.openxmlformats.org/officeDocument/2006/relationships/image" Target="../media/image4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 Id="rId3" Type="http://schemas.openxmlformats.org/officeDocument/2006/relationships/image" Target="../media/image48.png"/><Relationship Id="rId4" Type="http://schemas.openxmlformats.org/officeDocument/2006/relationships/image" Target="../media/image4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 Id="rId3" Type="http://schemas.openxmlformats.org/officeDocument/2006/relationships/image" Target="../media/image4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 Id="rId3" Type="http://schemas.openxmlformats.org/officeDocument/2006/relationships/image" Target="../media/image5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 Id="rId3" Type="http://schemas.openxmlformats.org/officeDocument/2006/relationships/image" Target="../media/image4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 Id="rId3" Type="http://schemas.openxmlformats.org/officeDocument/2006/relationships/image" Target="../media/image5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image" Target="../media/image4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 Id="rId3" Type="http://schemas.openxmlformats.org/officeDocument/2006/relationships/image" Target="../media/image6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 Id="rId3" Type="http://schemas.openxmlformats.org/officeDocument/2006/relationships/image" Target="../media/image5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 Id="rId3" Type="http://schemas.openxmlformats.org/officeDocument/2006/relationships/image" Target="../media/image5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 Id="rId3" Type="http://schemas.openxmlformats.org/officeDocument/2006/relationships/image" Target="../media/image56.png"/><Relationship Id="rId4" Type="http://schemas.openxmlformats.org/officeDocument/2006/relationships/image" Target="../media/image5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 Id="rId3" Type="http://schemas.openxmlformats.org/officeDocument/2006/relationships/image" Target="../media/image6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 Id="rId3" Type="http://schemas.openxmlformats.org/officeDocument/2006/relationships/image" Target="../media/image6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6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 Id="rId3" Type="http://schemas.openxmlformats.org/officeDocument/2006/relationships/image" Target="../media/image6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 Id="rId3" Type="http://schemas.openxmlformats.org/officeDocument/2006/relationships/image" Target="../media/image6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 Id="rId3" Type="http://schemas.openxmlformats.org/officeDocument/2006/relationships/image" Target="../media/image6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7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69.png"/><Relationship Id="rId4" Type="http://schemas.openxmlformats.org/officeDocument/2006/relationships/image" Target="../media/image6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1.xml"/><Relationship Id="rId3" Type="http://schemas.openxmlformats.org/officeDocument/2006/relationships/image" Target="../media/image53.png"/><Relationship Id="rId4" Type="http://schemas.openxmlformats.org/officeDocument/2006/relationships/image" Target="../media/image6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 Id="rId3" Type="http://schemas.openxmlformats.org/officeDocument/2006/relationships/image" Target="../media/image53.png"/><Relationship Id="rId4" Type="http://schemas.openxmlformats.org/officeDocument/2006/relationships/image" Target="../media/image7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 Id="rId3" Type="http://schemas.openxmlformats.org/officeDocument/2006/relationships/image" Target="../media/image67.png"/><Relationship Id="rId4" Type="http://schemas.openxmlformats.org/officeDocument/2006/relationships/hyperlink" Target="https://www.3blue1brown.com/lessons/neural-networks/" TargetMode="External"/><Relationship Id="rId5" Type="http://schemas.openxmlformats.org/officeDocument/2006/relationships/image" Target="../media/image7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6.xml"/><Relationship Id="rId3" Type="http://schemas.openxmlformats.org/officeDocument/2006/relationships/hyperlink" Target="https://ai-artificial-intelligence.webyes.com.br/most-used-activation-functions-in-neural-networks/" TargetMode="External"/><Relationship Id="rId4" Type="http://schemas.openxmlformats.org/officeDocument/2006/relationships/image" Target="../media/image6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7.xml"/><Relationship Id="rId3" Type="http://schemas.openxmlformats.org/officeDocument/2006/relationships/hyperlink" Target="https://commons.wikimedia.org/w/index.php?curid=150411524" TargetMode="External"/><Relationship Id="rId4" Type="http://schemas.openxmlformats.org/officeDocument/2006/relationships/image" Target="../media/image48.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8.xml"/><Relationship Id="rId3" Type="http://schemas.openxmlformats.org/officeDocument/2006/relationships/hyperlink" Target="https://commons.wikimedia.org/w/index.php?curid=28761830" TargetMode="External"/><Relationship Id="rId4" Type="http://schemas.openxmlformats.org/officeDocument/2006/relationships/image" Target="../media/image7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9.xml"/><Relationship Id="rId3" Type="http://schemas.openxmlformats.org/officeDocument/2006/relationships/hyperlink" Target="https://commons.wikimedia.org/w/index.php?curid=5084582" TargetMode="External"/><Relationship Id="rId4" Type="http://schemas.openxmlformats.org/officeDocument/2006/relationships/image" Target="../media/image3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0.xml"/><Relationship Id="rId3" Type="http://schemas.openxmlformats.org/officeDocument/2006/relationships/hyperlink" Target="https://commons.wikimedia.org/w/index.php?curid=60535469" TargetMode="External"/><Relationship Id="rId4" Type="http://schemas.openxmlformats.org/officeDocument/2006/relationships/image" Target="../media/image3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1.xml"/><Relationship Id="rId3" Type="http://schemas.openxmlformats.org/officeDocument/2006/relationships/hyperlink" Target="https://scikit-learn.org/stable/auto_examples/classification/plot_classifier_comparison.html" TargetMode="External"/><Relationship Id="rId4" Type="http://schemas.openxmlformats.org/officeDocument/2006/relationships/image" Target="../media/image5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hyperlink" Target="http://creativecommons.org/licenses/by-nc-sa/3.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p:nvPr/>
        </p:nvSpPr>
        <p:spPr>
          <a:xfrm>
            <a:off x="4449625" y="4177875"/>
            <a:ext cx="28647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p:nvPr/>
        </p:nvSpPr>
        <p:spPr>
          <a:xfrm>
            <a:off x="4449625" y="3958575"/>
            <a:ext cx="13551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p:nvPr/>
        </p:nvSpPr>
        <p:spPr>
          <a:xfrm>
            <a:off x="4449625" y="4397175"/>
            <a:ext cx="2477400" cy="219300"/>
          </a:xfrm>
          <a:prstGeom prst="rect">
            <a:avLst/>
          </a:prstGeom>
          <a:solidFill>
            <a:srgbClr val="E3E7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
          <p:cNvSpPr txBox="1"/>
          <p:nvPr/>
        </p:nvSpPr>
        <p:spPr>
          <a:xfrm>
            <a:off x="4400875" y="3866000"/>
            <a:ext cx="2958300" cy="75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André Santanchè</a:t>
            </a:r>
            <a:endParaRPr b="0" i="0" sz="1400" u="none" cap="none" strike="noStrike">
              <a:solidFill>
                <a:srgbClr val="BF3730"/>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Laboratory of Information Systems - LIS</a:t>
            </a:r>
            <a:endParaRPr b="0" i="0" sz="1400" u="none" cap="none" strike="noStrike">
              <a:solidFill>
                <a:schemeClr val="dk1"/>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dk1"/>
                </a:solidFill>
                <a:latin typeface="Advent Pro Medium"/>
                <a:ea typeface="Advent Pro Medium"/>
                <a:cs typeface="Advent Pro Medium"/>
                <a:sym typeface="Advent Pro Medium"/>
              </a:rPr>
              <a:t>Instituto de Computação - UNICAMP</a:t>
            </a:r>
            <a:endParaRPr b="0" i="0" sz="1400" u="none" cap="none" strike="noStrike">
              <a:solidFill>
                <a:schemeClr val="dk1"/>
              </a:solidFill>
              <a:latin typeface="Advent Pro Medium"/>
              <a:ea typeface="Advent Pro Medium"/>
              <a:cs typeface="Advent Pro Medium"/>
              <a:sym typeface="Advent Pro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dvent Pro Medium"/>
              <a:ea typeface="Advent Pro Medium"/>
              <a:cs typeface="Advent Pro Medium"/>
              <a:sym typeface="Advent Pro Medium"/>
            </a:endParaRPr>
          </a:p>
        </p:txBody>
      </p:sp>
      <p:sp>
        <p:nvSpPr>
          <p:cNvPr id="67" name="Google Shape;67;p2"/>
          <p:cNvSpPr txBox="1"/>
          <p:nvPr/>
        </p:nvSpPr>
        <p:spPr>
          <a:xfrm>
            <a:off x="4295300" y="311000"/>
            <a:ext cx="4763400" cy="225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pt-BR" sz="1200" u="none" cap="none" strike="noStrike">
                <a:solidFill>
                  <a:srgbClr val="EFEFEF"/>
                </a:solidFill>
                <a:latin typeface="Advent Pro"/>
                <a:ea typeface="Advent Pro"/>
                <a:cs typeface="Advent Pro"/>
                <a:sym typeface="Advent Pro"/>
              </a:rPr>
              <a:t>NATURAL LANGUAGE PROCESSING</a:t>
            </a:r>
            <a:endParaRPr b="1" i="0" sz="1200" u="none" cap="none" strike="noStrike">
              <a:solidFill>
                <a:srgbClr val="EFEFEF"/>
              </a:solidFill>
              <a:latin typeface="Advent Pro"/>
              <a:ea typeface="Advent Pro"/>
              <a:cs typeface="Advent Pro"/>
              <a:sym typeface="Advent Pro"/>
            </a:endParaRPr>
          </a:p>
          <a:p>
            <a:pPr indent="0" lvl="0" marL="0" marR="0" rtl="0" algn="l">
              <a:lnSpc>
                <a:spcPct val="100000"/>
              </a:lnSpc>
              <a:spcBef>
                <a:spcPts val="0"/>
              </a:spcBef>
              <a:spcAft>
                <a:spcPts val="0"/>
              </a:spcAft>
              <a:buClr>
                <a:srgbClr val="000000"/>
              </a:buClr>
              <a:buSzPts val="4800"/>
              <a:buFont typeface="Arial"/>
              <a:buNone/>
            </a:pPr>
            <a:r>
              <a:rPr b="1" lang="pt-BR" sz="4800">
                <a:solidFill>
                  <a:srgbClr val="FFFFFF"/>
                </a:solidFill>
                <a:latin typeface="Advent Pro"/>
                <a:ea typeface="Advent Pro"/>
                <a:cs typeface="Advent Pro"/>
                <a:sym typeface="Advent Pro"/>
              </a:rPr>
              <a:t>Neural Networks for NLP</a:t>
            </a:r>
            <a:endParaRPr b="1" i="0" sz="4800" u="none" cap="none" strike="noStrike">
              <a:solidFill>
                <a:srgbClr val="FFFFFF"/>
              </a:solidFill>
              <a:latin typeface="Advent Pro"/>
              <a:ea typeface="Advent Pro"/>
              <a:cs typeface="Advent Pro"/>
              <a:sym typeface="Advent Pro"/>
            </a:endParaRPr>
          </a:p>
        </p:txBody>
      </p:sp>
      <p:sp>
        <p:nvSpPr>
          <p:cNvPr id="68" name="Google Shape;68;p2"/>
          <p:cNvSpPr txBox="1"/>
          <p:nvPr/>
        </p:nvSpPr>
        <p:spPr>
          <a:xfrm>
            <a:off x="4400875" y="4648400"/>
            <a:ext cx="2326500" cy="27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pt-BR" sz="1100">
                <a:solidFill>
                  <a:schemeClr val="lt1"/>
                </a:solidFill>
                <a:latin typeface="Advent Pro"/>
                <a:ea typeface="Advent Pro"/>
                <a:cs typeface="Advent Pro"/>
                <a:sym typeface="Advent Pro"/>
              </a:rPr>
              <a:t>October</a:t>
            </a:r>
            <a:r>
              <a:rPr b="1" i="0" lang="pt-BR" sz="1100" u="none" cap="none" strike="noStrike">
                <a:solidFill>
                  <a:schemeClr val="lt1"/>
                </a:solidFill>
                <a:latin typeface="Advent Pro"/>
                <a:ea typeface="Advent Pro"/>
                <a:cs typeface="Advent Pro"/>
                <a:sym typeface="Advent Pro"/>
              </a:rPr>
              <a:t> 2026</a:t>
            </a:r>
            <a:endParaRPr b="1" i="0" sz="1100" u="none" cap="none" strike="noStrike">
              <a:solidFill>
                <a:schemeClr val="lt1"/>
              </a:solidFill>
              <a:latin typeface="Advent Pro"/>
              <a:ea typeface="Advent Pro"/>
              <a:cs typeface="Advent Pro"/>
              <a:sym typeface="Advent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h3b987c62679a4f5d_0_117"/>
          <p:cNvSpPr txBox="1"/>
          <p:nvPr>
            <p:ph type="title"/>
          </p:nvPr>
        </p:nvSpPr>
        <p:spPr>
          <a:xfrm>
            <a:off x="311700" y="124447"/>
            <a:ext cx="8520600" cy="57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400"/>
              <a:buNone/>
            </a:pPr>
            <a:r>
              <a:rPr lang="pt-BR"/>
              <a:t>Acknowledgments</a:t>
            </a:r>
            <a:endParaRPr/>
          </a:p>
        </p:txBody>
      </p:sp>
      <p:pic>
        <p:nvPicPr>
          <p:cNvPr id="74" name="Google Shape;74;h3b987c62679a4f5d_0_117"/>
          <p:cNvPicPr preferRelativeResize="0"/>
          <p:nvPr/>
        </p:nvPicPr>
        <p:blipFill>
          <a:blip r:embed="rId3">
            <a:alphaModFix/>
          </a:blip>
          <a:stretch>
            <a:fillRect/>
          </a:stretch>
        </p:blipFill>
        <p:spPr>
          <a:xfrm>
            <a:off x="1575500" y="2055748"/>
            <a:ext cx="2899225" cy="2402566"/>
          </a:xfrm>
          <a:prstGeom prst="rect">
            <a:avLst/>
          </a:prstGeom>
          <a:noFill/>
          <a:ln cap="flat" cmpd="sng" w="19050">
            <a:solidFill>
              <a:schemeClr val="dk2"/>
            </a:solidFill>
            <a:prstDash val="solid"/>
            <a:round/>
            <a:headEnd len="sm" w="sm" type="none"/>
            <a:tailEnd len="sm" w="sm" type="none"/>
          </a:ln>
        </p:spPr>
      </p:pic>
      <p:sp>
        <p:nvSpPr>
          <p:cNvPr id="75" name="Google Shape;75;h3b987c62679a4f5d_0_117"/>
          <p:cNvSpPr txBox="1"/>
          <p:nvPr/>
        </p:nvSpPr>
        <p:spPr>
          <a:xfrm>
            <a:off x="1749750" y="4549000"/>
            <a:ext cx="5644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u="sng">
                <a:solidFill>
                  <a:schemeClr val="hlink"/>
                </a:solidFill>
                <a:latin typeface="Comfortaa"/>
                <a:ea typeface="Comfortaa"/>
                <a:cs typeface="Comfortaa"/>
                <a:sym typeface="Comfortaa"/>
                <a:hlinkClick r:id="rId4"/>
              </a:rPr>
              <a:t>https://pessoal.dainf.ct.utfpr.edu.br/lcjunior/</a:t>
            </a:r>
            <a:endParaRPr sz="1800">
              <a:solidFill>
                <a:srgbClr val="434343"/>
              </a:solidFill>
              <a:latin typeface="Comfortaa"/>
              <a:ea typeface="Comfortaa"/>
              <a:cs typeface="Comfortaa"/>
              <a:sym typeface="Comfortaa"/>
            </a:endParaRPr>
          </a:p>
        </p:txBody>
      </p:sp>
      <p:pic>
        <p:nvPicPr>
          <p:cNvPr id="76" name="Google Shape;76;h3b987c62679a4f5d_0_117"/>
          <p:cNvPicPr preferRelativeResize="0"/>
          <p:nvPr/>
        </p:nvPicPr>
        <p:blipFill>
          <a:blip r:embed="rId5">
            <a:alphaModFix/>
          </a:blip>
          <a:stretch>
            <a:fillRect/>
          </a:stretch>
        </p:blipFill>
        <p:spPr>
          <a:xfrm>
            <a:off x="7822376" y="895438"/>
            <a:ext cx="952500" cy="962025"/>
          </a:xfrm>
          <a:prstGeom prst="rect">
            <a:avLst/>
          </a:prstGeom>
          <a:noFill/>
          <a:ln>
            <a:noFill/>
          </a:ln>
        </p:spPr>
      </p:pic>
      <p:sp>
        <p:nvSpPr>
          <p:cNvPr id="77" name="Google Shape;77;h3b987c62679a4f5d_0_117"/>
          <p:cNvSpPr txBox="1"/>
          <p:nvPr>
            <p:ph idx="1" type="body"/>
          </p:nvPr>
        </p:nvSpPr>
        <p:spPr>
          <a:xfrm>
            <a:off x="311700" y="781100"/>
            <a:ext cx="7425000" cy="119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1700"/>
              <a:t>This course took the slides of my colleague Luiz Celso Gomes-Jr—to whom I extend my thanks—as a starting point. Slides that have been reused and/or adapted will bear the seal shown here.</a:t>
            </a:r>
            <a:endParaRPr sz="1700"/>
          </a:p>
        </p:txBody>
      </p:sp>
      <p:pic>
        <p:nvPicPr>
          <p:cNvPr id="78" name="Google Shape;78;h3b987c62679a4f5d_0_117" title="13a - Neural Networks for NLP.png"/>
          <p:cNvPicPr preferRelativeResize="0"/>
          <p:nvPr/>
        </p:nvPicPr>
        <p:blipFill>
          <a:blip r:embed="rId6">
            <a:alphaModFix/>
          </a:blip>
          <a:stretch>
            <a:fillRect/>
          </a:stretch>
        </p:blipFill>
        <p:spPr>
          <a:xfrm>
            <a:off x="4681775" y="2059113"/>
            <a:ext cx="3201423" cy="240257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h5972388db0d07763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Acknowledgments</a:t>
            </a:r>
            <a:endParaRPr/>
          </a:p>
        </p:txBody>
      </p:sp>
      <p:sp>
        <p:nvSpPr>
          <p:cNvPr id="84" name="Google Shape;84;h5972388db0d07763_0_0"/>
          <p:cNvSpPr txBox="1"/>
          <p:nvPr>
            <p:ph idx="1" type="body"/>
          </p:nvPr>
        </p:nvSpPr>
        <p:spPr>
          <a:xfrm>
            <a:off x="229625" y="3696850"/>
            <a:ext cx="4403100" cy="136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000"/>
              <a:buNone/>
            </a:pPr>
            <a:r>
              <a:rPr lang="pt-BR" sz="1600"/>
              <a:t>CS 124: From Languages to Information</a:t>
            </a:r>
            <a:endParaRPr sz="1600"/>
          </a:p>
          <a:p>
            <a:pPr indent="0" lvl="0" marL="0" rtl="0" algn="l">
              <a:lnSpc>
                <a:spcPct val="115000"/>
              </a:lnSpc>
              <a:spcBef>
                <a:spcPts val="0"/>
              </a:spcBef>
              <a:spcAft>
                <a:spcPts val="0"/>
              </a:spcAft>
              <a:buSzPts val="3000"/>
              <a:buNone/>
            </a:pPr>
            <a:r>
              <a:rPr lang="pt-BR" sz="1600"/>
              <a:t>Dan Jurafsky</a:t>
            </a:r>
            <a:endParaRPr sz="1600"/>
          </a:p>
          <a:p>
            <a:pPr indent="0" lvl="0" marL="0" rtl="0" algn="l">
              <a:lnSpc>
                <a:spcPct val="115000"/>
              </a:lnSpc>
              <a:spcBef>
                <a:spcPts val="0"/>
              </a:spcBef>
              <a:spcAft>
                <a:spcPts val="0"/>
              </a:spcAft>
              <a:buSzPts val="3000"/>
              <a:buNone/>
            </a:pPr>
            <a:r>
              <a:rPr lang="pt-BR" sz="1600"/>
              <a:t>Winter 2026</a:t>
            </a:r>
            <a:endParaRPr sz="1600"/>
          </a:p>
          <a:p>
            <a:pPr indent="0" lvl="0" marL="0" rtl="0" algn="l">
              <a:lnSpc>
                <a:spcPct val="115000"/>
              </a:lnSpc>
              <a:spcBef>
                <a:spcPts val="0"/>
              </a:spcBef>
              <a:spcAft>
                <a:spcPts val="0"/>
              </a:spcAft>
              <a:buSzPts val="3000"/>
              <a:buNone/>
            </a:pPr>
            <a:r>
              <a:rPr lang="pt-BR" sz="1600" u="sng">
                <a:solidFill>
                  <a:schemeClr val="hlink"/>
                </a:solidFill>
                <a:hlinkClick r:id="rId3"/>
              </a:rPr>
              <a:t>https://web.stanford.edu/class/cs124/</a:t>
            </a:r>
            <a:endParaRPr sz="1600"/>
          </a:p>
        </p:txBody>
      </p:sp>
      <p:sp>
        <p:nvSpPr>
          <p:cNvPr id="85" name="Google Shape;85;h5972388db0d07763_0_0"/>
          <p:cNvSpPr txBox="1"/>
          <p:nvPr/>
        </p:nvSpPr>
        <p:spPr>
          <a:xfrm>
            <a:off x="5079700" y="1495650"/>
            <a:ext cx="3584100" cy="269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pt-BR" sz="1600" u="none" cap="none" strike="noStrike">
                <a:solidFill>
                  <a:srgbClr val="434343"/>
                </a:solidFill>
                <a:latin typeface="Comfortaa"/>
                <a:ea typeface="Comfortaa"/>
                <a:cs typeface="Comfortaa"/>
                <a:sym typeface="Comfortaa"/>
              </a:rPr>
              <a:t>Jurafsky, D. and Martin, J. H. (2025). </a:t>
            </a:r>
            <a:r>
              <a:rPr b="1" i="0" lang="pt-BR" sz="1600" u="none" cap="none" strike="noStrike">
                <a:solidFill>
                  <a:srgbClr val="434343"/>
                </a:solidFill>
                <a:latin typeface="Comfortaa"/>
                <a:ea typeface="Comfortaa"/>
                <a:cs typeface="Comfortaa"/>
                <a:sym typeface="Comfortaa"/>
              </a:rPr>
              <a:t>Speech and Language Processing: An Introduction to Natural Language Processing, Computational Linguistics, and Speech Recognition with Language Models</a:t>
            </a:r>
            <a:r>
              <a:rPr b="0" i="0" lang="pt-BR" sz="1600" u="none" cap="none" strike="noStrike">
                <a:solidFill>
                  <a:srgbClr val="434343"/>
                </a:solidFill>
                <a:latin typeface="Comfortaa"/>
                <a:ea typeface="Comfortaa"/>
                <a:cs typeface="Comfortaa"/>
                <a:sym typeface="Comfortaa"/>
              </a:rPr>
              <a:t>. 3rd edition. </a:t>
            </a:r>
            <a:r>
              <a:rPr b="0" i="0" lang="pt-BR" sz="1600" u="sng" cap="none" strike="noStrike">
                <a:solidFill>
                  <a:schemeClr val="accent5"/>
                </a:solidFill>
                <a:latin typeface="Comfortaa"/>
                <a:ea typeface="Comfortaa"/>
                <a:cs typeface="Comfortaa"/>
                <a:sym typeface="Comfortaa"/>
                <a:hlinkClick r:id="rId4">
                  <a:extLst>
                    <a:ext uri="{A12FA001-AC4F-418D-AE19-62706E023703}">
                      <ahyp:hlinkClr val="tx"/>
                    </a:ext>
                  </a:extLst>
                </a:hlinkClick>
              </a:rPr>
              <a:t>https://web.stanford.edu/~jurafsky/slp3/</a:t>
            </a:r>
            <a:endParaRPr b="0" i="0" sz="3000" u="none" cap="none" strike="noStrike">
              <a:solidFill>
                <a:srgbClr val="434343"/>
              </a:solidFill>
              <a:latin typeface="Comfortaa"/>
              <a:ea typeface="Comfortaa"/>
              <a:cs typeface="Comfortaa"/>
              <a:sym typeface="Comfortaa"/>
            </a:endParaRPr>
          </a:p>
        </p:txBody>
      </p:sp>
      <p:pic>
        <p:nvPicPr>
          <p:cNvPr id="86" name="Google Shape;86;h5972388db0d07763_0_0"/>
          <p:cNvPicPr preferRelativeResize="0"/>
          <p:nvPr/>
        </p:nvPicPr>
        <p:blipFill>
          <a:blip r:embed="rId5">
            <a:alphaModFix/>
          </a:blip>
          <a:stretch>
            <a:fillRect/>
          </a:stretch>
        </p:blipFill>
        <p:spPr>
          <a:xfrm>
            <a:off x="320663" y="1322525"/>
            <a:ext cx="4221024" cy="23743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7a047440fb_0_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000"/>
              <a:buNone/>
            </a:pPr>
            <a:r>
              <a:rPr lang="pt-BR"/>
              <a:t>Logistic Regression</a:t>
            </a:r>
            <a:endParaRPr/>
          </a:p>
        </p:txBody>
      </p:sp>
      <p:sp>
        <p:nvSpPr>
          <p:cNvPr id="92" name="Google Shape;92;g37a047440fb_0_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000"/>
              <a:buNone/>
            </a:pPr>
            <a:r>
              <a:rPr lang="pt-BR"/>
              <a:t>Revision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h3b987c62679a4f5d_0_8"/>
          <p:cNvSpPr/>
          <p:nvPr/>
        </p:nvSpPr>
        <p:spPr>
          <a:xfrm>
            <a:off x="6801649" y="1208975"/>
            <a:ext cx="756300" cy="766200"/>
          </a:xfrm>
          <a:prstGeom prst="ellipse">
            <a:avLst/>
          </a:prstGeom>
          <a:solidFill>
            <a:srgbClr val="FFFFFF"/>
          </a:solidFill>
          <a:ln cap="flat" cmpd="sng" w="2977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l">
              <a:lnSpc>
                <a:spcPct val="100000"/>
              </a:lnSpc>
              <a:spcBef>
                <a:spcPts val="0"/>
              </a:spcBef>
              <a:spcAft>
                <a:spcPts val="0"/>
              </a:spcAft>
              <a:buClr>
                <a:srgbClr val="000000"/>
              </a:buClr>
              <a:buSzPts val="1093"/>
              <a:buFont typeface="Arial"/>
              <a:buNone/>
            </a:pPr>
            <a:r>
              <a:rPr b="0" i="0" lang="pt-BR" sz="1093" u="none" cap="none" strike="noStrike">
                <a:solidFill>
                  <a:srgbClr val="000000"/>
                </a:solidFill>
                <a:latin typeface="Arial"/>
                <a:ea typeface="Arial"/>
                <a:cs typeface="Arial"/>
                <a:sym typeface="Arial"/>
              </a:rPr>
              <a:t>Model</a:t>
            </a:r>
            <a:endParaRPr b="0" i="0" sz="1093" u="none" cap="none" strike="noStrike">
              <a:solidFill>
                <a:srgbClr val="000000"/>
              </a:solidFill>
              <a:latin typeface="Arial"/>
              <a:ea typeface="Arial"/>
              <a:cs typeface="Arial"/>
              <a:sym typeface="Arial"/>
            </a:endParaRPr>
          </a:p>
        </p:txBody>
      </p:sp>
      <p:sp>
        <p:nvSpPr>
          <p:cNvPr id="98" name="Google Shape;98;h3b987c62679a4f5d_0_8"/>
          <p:cNvSpPr/>
          <p:nvPr/>
        </p:nvSpPr>
        <p:spPr>
          <a:xfrm>
            <a:off x="6277664" y="1795055"/>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Classification Function</a:t>
            </a:r>
            <a:endParaRPr b="0" i="0" sz="1093" u="none" cap="none" strike="noStrike">
              <a:solidFill>
                <a:srgbClr val="000000"/>
              </a:solidFill>
              <a:latin typeface="Arial"/>
              <a:ea typeface="Arial"/>
              <a:cs typeface="Arial"/>
              <a:sym typeface="Arial"/>
            </a:endParaRPr>
          </a:p>
        </p:txBody>
      </p:sp>
      <p:sp>
        <p:nvSpPr>
          <p:cNvPr id="99" name="Google Shape;99;h3b987c62679a4f5d_0_8"/>
          <p:cNvSpPr/>
          <p:nvPr/>
        </p:nvSpPr>
        <p:spPr>
          <a:xfrm>
            <a:off x="6257047" y="3570935"/>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Objective Function</a:t>
            </a:r>
            <a:endParaRPr b="0" i="0" sz="1093" u="none" cap="none" strike="noStrike">
              <a:solidFill>
                <a:srgbClr val="000000"/>
              </a:solidFill>
              <a:latin typeface="Arial"/>
              <a:ea typeface="Arial"/>
              <a:cs typeface="Arial"/>
              <a:sym typeface="Arial"/>
            </a:endParaRPr>
          </a:p>
        </p:txBody>
      </p:sp>
      <p:cxnSp>
        <p:nvCxnSpPr>
          <p:cNvPr id="100" name="Google Shape;100;h3b987c62679a4f5d_0_8"/>
          <p:cNvCxnSpPr>
            <a:stCxn id="98" idx="2"/>
            <a:endCxn id="99" idx="0"/>
          </p:cNvCxnSpPr>
          <p:nvPr/>
        </p:nvCxnSpPr>
        <p:spPr>
          <a:xfrm flipH="1">
            <a:off x="6780914" y="2158655"/>
            <a:ext cx="20700" cy="1412400"/>
          </a:xfrm>
          <a:prstGeom prst="straightConnector1">
            <a:avLst/>
          </a:prstGeom>
          <a:noFill/>
          <a:ln cap="flat" cmpd="sng" w="29775">
            <a:solidFill>
              <a:schemeClr val="dk2"/>
            </a:solidFill>
            <a:prstDash val="solid"/>
            <a:round/>
            <a:headEnd len="sm" w="sm" type="none"/>
            <a:tailEnd len="med" w="med" type="triangle"/>
          </a:ln>
        </p:spPr>
      </p:cxnSp>
      <p:sp>
        <p:nvSpPr>
          <p:cNvPr id="101" name="Google Shape;101;h3b987c62679a4f5d_0_8"/>
          <p:cNvSpPr/>
          <p:nvPr/>
        </p:nvSpPr>
        <p:spPr>
          <a:xfrm>
            <a:off x="7860794" y="2513392"/>
            <a:ext cx="1047900" cy="363600"/>
          </a:xfrm>
          <a:prstGeom prst="roundRect">
            <a:avLst>
              <a:gd fmla="val 26225" name="adj"/>
            </a:avLst>
          </a:prstGeom>
          <a:solidFill>
            <a:srgbClr val="FFFFFF"/>
          </a:solidFill>
          <a:ln cap="flat" cmpd="sng" w="2232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Optimization</a:t>
            </a:r>
            <a:endParaRPr sz="1093"/>
          </a:p>
          <a:p>
            <a:pPr indent="0" lvl="0" marL="0" marR="0" rtl="0" algn="ctr">
              <a:lnSpc>
                <a:spcPct val="100000"/>
              </a:lnSpc>
              <a:spcBef>
                <a:spcPts val="0"/>
              </a:spcBef>
              <a:spcAft>
                <a:spcPts val="0"/>
              </a:spcAft>
              <a:buClr>
                <a:srgbClr val="000000"/>
              </a:buClr>
              <a:buSzPts val="1093"/>
              <a:buFont typeface="Arial"/>
              <a:buNone/>
            </a:pPr>
            <a:r>
              <a:rPr lang="pt-BR" sz="1093"/>
              <a:t>Algorithm</a:t>
            </a:r>
            <a:endParaRPr sz="1093"/>
          </a:p>
        </p:txBody>
      </p:sp>
      <p:cxnSp>
        <p:nvCxnSpPr>
          <p:cNvPr id="102" name="Google Shape;102;h3b987c62679a4f5d_0_8"/>
          <p:cNvCxnSpPr>
            <a:stCxn id="99" idx="3"/>
            <a:endCxn id="101" idx="2"/>
          </p:cNvCxnSpPr>
          <p:nvPr/>
        </p:nvCxnSpPr>
        <p:spPr>
          <a:xfrm flipH="1" rot="10800000">
            <a:off x="7304947" y="2877035"/>
            <a:ext cx="1079700" cy="875700"/>
          </a:xfrm>
          <a:prstGeom prst="straightConnector1">
            <a:avLst/>
          </a:prstGeom>
          <a:noFill/>
          <a:ln cap="flat" cmpd="sng" w="29775">
            <a:solidFill>
              <a:schemeClr val="dk2"/>
            </a:solidFill>
            <a:prstDash val="solid"/>
            <a:round/>
            <a:headEnd len="sm" w="sm" type="none"/>
            <a:tailEnd len="med" w="med" type="triangle"/>
          </a:ln>
        </p:spPr>
      </p:cxnSp>
      <p:cxnSp>
        <p:nvCxnSpPr>
          <p:cNvPr id="103" name="Google Shape;103;h3b987c62679a4f5d_0_8"/>
          <p:cNvCxnSpPr>
            <a:stCxn id="101" idx="0"/>
            <a:endCxn id="98" idx="3"/>
          </p:cNvCxnSpPr>
          <p:nvPr/>
        </p:nvCxnSpPr>
        <p:spPr>
          <a:xfrm rot="10800000">
            <a:off x="7325444" y="1976992"/>
            <a:ext cx="1059300" cy="536400"/>
          </a:xfrm>
          <a:prstGeom prst="straightConnector1">
            <a:avLst/>
          </a:prstGeom>
          <a:noFill/>
          <a:ln cap="flat" cmpd="sng" w="29775">
            <a:solidFill>
              <a:schemeClr val="dk2"/>
            </a:solidFill>
            <a:prstDash val="solid"/>
            <a:round/>
            <a:headEnd len="sm" w="sm" type="none"/>
            <a:tailEnd len="med" w="med" type="triangle"/>
          </a:ln>
        </p:spPr>
      </p:cxnSp>
      <p:sp>
        <p:nvSpPr>
          <p:cNvPr id="104" name="Google Shape;104;h3b987c62679a4f5d_0_8"/>
          <p:cNvSpPr/>
          <p:nvPr/>
        </p:nvSpPr>
        <p:spPr>
          <a:xfrm>
            <a:off x="4572000" y="2544973"/>
            <a:ext cx="1185000" cy="363600"/>
          </a:xfrm>
          <a:prstGeom prst="roundRect">
            <a:avLst>
              <a:gd fmla="val 40544" name="adj"/>
            </a:avLst>
          </a:prstGeom>
          <a:solidFill>
            <a:srgbClr val="FFFFFF"/>
          </a:solidFill>
          <a:ln cap="flat" cmpd="sng" w="29775">
            <a:solidFill>
              <a:schemeClr val="dk2"/>
            </a:solidFill>
            <a:prstDash val="solid"/>
            <a:round/>
            <a:headEnd len="sm" w="sm" type="none"/>
            <a:tailEnd len="sm" w="sm" type="none"/>
          </a:ln>
        </p:spPr>
        <p:txBody>
          <a:bodyPr anchorCtr="0" anchor="ctr" bIns="71400" lIns="71400" spcFirstLastPara="1" rIns="71400" wrap="square" tIns="71400">
            <a:noAutofit/>
          </a:bodyPr>
          <a:lstStyle/>
          <a:p>
            <a:pPr indent="0" lvl="0" marL="0" marR="0" rtl="0" algn="ctr">
              <a:lnSpc>
                <a:spcPct val="100000"/>
              </a:lnSpc>
              <a:spcBef>
                <a:spcPts val="0"/>
              </a:spcBef>
              <a:spcAft>
                <a:spcPts val="0"/>
              </a:spcAft>
              <a:buClr>
                <a:srgbClr val="000000"/>
              </a:buClr>
              <a:buSzPts val="1093"/>
              <a:buFont typeface="Arial"/>
              <a:buNone/>
            </a:pPr>
            <a:r>
              <a:rPr lang="pt-BR" sz="1093"/>
              <a:t>Feature Representation</a:t>
            </a:r>
            <a:endParaRPr b="0" i="0" sz="1093" u="none" cap="none" strike="noStrike">
              <a:solidFill>
                <a:srgbClr val="000000"/>
              </a:solidFill>
              <a:latin typeface="Arial"/>
              <a:ea typeface="Arial"/>
              <a:cs typeface="Arial"/>
              <a:sym typeface="Arial"/>
            </a:endParaRPr>
          </a:p>
        </p:txBody>
      </p:sp>
      <p:cxnSp>
        <p:nvCxnSpPr>
          <p:cNvPr id="105" name="Google Shape;105;h3b987c62679a4f5d_0_8"/>
          <p:cNvCxnSpPr>
            <a:stCxn id="104" idx="3"/>
            <a:endCxn id="98" idx="1"/>
          </p:cNvCxnSpPr>
          <p:nvPr/>
        </p:nvCxnSpPr>
        <p:spPr>
          <a:xfrm flipH="1" rot="10800000">
            <a:off x="5757000" y="1976773"/>
            <a:ext cx="520800" cy="750000"/>
          </a:xfrm>
          <a:prstGeom prst="straightConnector1">
            <a:avLst/>
          </a:prstGeom>
          <a:noFill/>
          <a:ln cap="flat" cmpd="sng" w="29775">
            <a:solidFill>
              <a:schemeClr val="dk2"/>
            </a:solidFill>
            <a:prstDash val="dash"/>
            <a:round/>
            <a:headEnd len="sm" w="sm" type="none"/>
            <a:tailEnd len="med" w="med" type="triangle"/>
          </a:ln>
        </p:spPr>
      </p:cxnSp>
      <p:cxnSp>
        <p:nvCxnSpPr>
          <p:cNvPr id="106" name="Google Shape;106;h3b987c62679a4f5d_0_8"/>
          <p:cNvCxnSpPr>
            <a:stCxn id="104" idx="3"/>
            <a:endCxn id="99" idx="1"/>
          </p:cNvCxnSpPr>
          <p:nvPr/>
        </p:nvCxnSpPr>
        <p:spPr>
          <a:xfrm>
            <a:off x="5757000" y="2726773"/>
            <a:ext cx="500100" cy="1026000"/>
          </a:xfrm>
          <a:prstGeom prst="straightConnector1">
            <a:avLst/>
          </a:prstGeom>
          <a:noFill/>
          <a:ln cap="flat" cmpd="sng" w="29775">
            <a:solidFill>
              <a:schemeClr val="dk2"/>
            </a:solidFill>
            <a:prstDash val="dash"/>
            <a:round/>
            <a:headEnd len="sm" w="sm" type="none"/>
            <a:tailEnd len="med" w="med" type="triangle"/>
          </a:ln>
        </p:spPr>
      </p:cxnSp>
      <p:sp>
        <p:nvSpPr>
          <p:cNvPr id="107" name="Google Shape;107;h3b987c62679a4f5d_0_8"/>
          <p:cNvSpPr txBox="1"/>
          <p:nvPr>
            <p:ph type="title"/>
          </p:nvPr>
        </p:nvSpPr>
        <p:spPr>
          <a:xfrm>
            <a:off x="265500" y="2025900"/>
            <a:ext cx="4045200" cy="1091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Classification</a:t>
            </a:r>
            <a:endParaRPr/>
          </a:p>
          <a:p>
            <a:pPr indent="0" lvl="0" marL="0" rtl="0" algn="ctr">
              <a:spcBef>
                <a:spcPts val="0"/>
              </a:spcBef>
              <a:spcAft>
                <a:spcPts val="0"/>
              </a:spcAft>
              <a:buNone/>
            </a:pPr>
            <a:r>
              <a:rPr lang="pt-BR"/>
              <a:t>Summary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h3b987c62679a4f5d_0_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Label Probability</a:t>
            </a:r>
            <a:endParaRPr/>
          </a:p>
          <a:p>
            <a:pPr indent="0" lvl="0" marL="0" rtl="0" algn="l">
              <a:spcBef>
                <a:spcPts val="0"/>
              </a:spcBef>
              <a:spcAft>
                <a:spcPts val="0"/>
              </a:spcAft>
              <a:buNone/>
            </a:pPr>
            <a:r>
              <a:rPr lang="pt-BR" sz="2400"/>
              <a:t>(Bernoulli Probability Mass Function - PMF)</a:t>
            </a:r>
            <a:endParaRPr sz="2400"/>
          </a:p>
        </p:txBody>
      </p:sp>
      <p:pic>
        <p:nvPicPr>
          <p:cNvPr id="113" name="Google Shape;113;h3b987c62679a4f5d_0_22"/>
          <p:cNvPicPr preferRelativeResize="0"/>
          <p:nvPr/>
        </p:nvPicPr>
        <p:blipFill>
          <a:blip r:embed="rId3">
            <a:alphaModFix/>
          </a:blip>
          <a:stretch>
            <a:fillRect/>
          </a:stretch>
        </p:blipFill>
        <p:spPr>
          <a:xfrm>
            <a:off x="311700" y="1657900"/>
            <a:ext cx="6578000" cy="809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h3b987c62679a4f5d_0_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3100"/>
              <a:t>Probability becomes Cross-Entropy Loss</a:t>
            </a:r>
            <a:endParaRPr sz="3100"/>
          </a:p>
        </p:txBody>
      </p:sp>
      <p:pic>
        <p:nvPicPr>
          <p:cNvPr id="119" name="Google Shape;119;h3b987c62679a4f5d_0_27"/>
          <p:cNvPicPr preferRelativeResize="0"/>
          <p:nvPr/>
        </p:nvPicPr>
        <p:blipFill>
          <a:blip r:embed="rId3">
            <a:alphaModFix/>
          </a:blip>
          <a:stretch>
            <a:fillRect/>
          </a:stretch>
        </p:blipFill>
        <p:spPr>
          <a:xfrm>
            <a:off x="311700" y="1291075"/>
            <a:ext cx="6578000" cy="809600"/>
          </a:xfrm>
          <a:prstGeom prst="rect">
            <a:avLst/>
          </a:prstGeom>
          <a:noFill/>
          <a:ln>
            <a:noFill/>
          </a:ln>
        </p:spPr>
      </p:pic>
      <p:pic>
        <p:nvPicPr>
          <p:cNvPr id="120" name="Google Shape;120;h3b987c62679a4f5d_0_27"/>
          <p:cNvPicPr preferRelativeResize="0"/>
          <p:nvPr/>
        </p:nvPicPr>
        <p:blipFill>
          <a:blip r:embed="rId4">
            <a:alphaModFix/>
          </a:blip>
          <a:stretch>
            <a:fillRect/>
          </a:stretch>
        </p:blipFill>
        <p:spPr>
          <a:xfrm>
            <a:off x="152400" y="2416775"/>
            <a:ext cx="6737301" cy="718437"/>
          </a:xfrm>
          <a:prstGeom prst="rect">
            <a:avLst/>
          </a:prstGeom>
          <a:noFill/>
          <a:ln>
            <a:noFill/>
          </a:ln>
        </p:spPr>
      </p:pic>
      <p:pic>
        <p:nvPicPr>
          <p:cNvPr id="121" name="Google Shape;121;h3b987c62679a4f5d_0_27"/>
          <p:cNvPicPr preferRelativeResize="0"/>
          <p:nvPr/>
        </p:nvPicPr>
        <p:blipFill>
          <a:blip r:embed="rId5">
            <a:alphaModFix/>
          </a:blip>
          <a:stretch>
            <a:fillRect/>
          </a:stretch>
        </p:blipFill>
        <p:spPr>
          <a:xfrm>
            <a:off x="4287875" y="3952000"/>
            <a:ext cx="4499999" cy="10305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h3b987c62679a4f5d_0_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900"/>
              <a:t>Loss Slope as Derivative</a:t>
            </a:r>
            <a:endParaRPr sz="2900"/>
          </a:p>
        </p:txBody>
      </p:sp>
      <p:pic>
        <p:nvPicPr>
          <p:cNvPr id="127" name="Google Shape;127;h3b987c62679a4f5d_0_34"/>
          <p:cNvPicPr preferRelativeResize="0"/>
          <p:nvPr/>
        </p:nvPicPr>
        <p:blipFill>
          <a:blip r:embed="rId3">
            <a:alphaModFix/>
          </a:blip>
          <a:stretch>
            <a:fillRect/>
          </a:stretch>
        </p:blipFill>
        <p:spPr>
          <a:xfrm>
            <a:off x="311700" y="2837650"/>
            <a:ext cx="7237749" cy="1755625"/>
          </a:xfrm>
          <a:prstGeom prst="rect">
            <a:avLst/>
          </a:prstGeom>
          <a:noFill/>
          <a:ln>
            <a:noFill/>
          </a:ln>
        </p:spPr>
      </p:pic>
      <p:pic>
        <p:nvPicPr>
          <p:cNvPr id="128" name="Google Shape;128;h3b987c62679a4f5d_0_34"/>
          <p:cNvPicPr preferRelativeResize="0"/>
          <p:nvPr/>
        </p:nvPicPr>
        <p:blipFill>
          <a:blip r:embed="rId4">
            <a:alphaModFix/>
          </a:blip>
          <a:stretch>
            <a:fillRect/>
          </a:stretch>
        </p:blipFill>
        <p:spPr>
          <a:xfrm>
            <a:off x="391625" y="1568475"/>
            <a:ext cx="6737301" cy="7184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h3b987c62679a4f5d_0_40"/>
          <p:cNvSpPr txBox="1"/>
          <p:nvPr>
            <p:ph type="title"/>
          </p:nvPr>
        </p:nvSpPr>
        <p:spPr>
          <a:xfrm>
            <a:off x="311700" y="333900"/>
            <a:ext cx="85206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900"/>
              <a:t>Decent: opposite direction to the slope with a learning rate η</a:t>
            </a:r>
            <a:endParaRPr sz="2900"/>
          </a:p>
        </p:txBody>
      </p:sp>
      <p:pic>
        <p:nvPicPr>
          <p:cNvPr id="134" name="Google Shape;134;h3b987c62679a4f5d_0_40"/>
          <p:cNvPicPr preferRelativeResize="0"/>
          <p:nvPr/>
        </p:nvPicPr>
        <p:blipFill>
          <a:blip r:embed="rId3">
            <a:alphaModFix/>
          </a:blip>
          <a:stretch>
            <a:fillRect/>
          </a:stretch>
        </p:blipFill>
        <p:spPr>
          <a:xfrm>
            <a:off x="383475" y="1577700"/>
            <a:ext cx="5626750" cy="1364850"/>
          </a:xfrm>
          <a:prstGeom prst="rect">
            <a:avLst/>
          </a:prstGeom>
          <a:noFill/>
          <a:ln>
            <a:noFill/>
          </a:ln>
        </p:spPr>
      </p:pic>
      <p:pic>
        <p:nvPicPr>
          <p:cNvPr id="135" name="Google Shape;135;h3b987c62679a4f5d_0_40"/>
          <p:cNvPicPr preferRelativeResize="0"/>
          <p:nvPr/>
        </p:nvPicPr>
        <p:blipFill>
          <a:blip r:embed="rId4">
            <a:alphaModFix/>
          </a:blip>
          <a:stretch>
            <a:fillRect/>
          </a:stretch>
        </p:blipFill>
        <p:spPr>
          <a:xfrm>
            <a:off x="5961975" y="3885950"/>
            <a:ext cx="2956476" cy="1208800"/>
          </a:xfrm>
          <a:prstGeom prst="rect">
            <a:avLst/>
          </a:prstGeom>
          <a:noFill/>
          <a:ln cap="flat" cmpd="sng" w="9525">
            <a:solidFill>
              <a:schemeClr val="dk2"/>
            </a:solidFill>
            <a:prstDash val="solid"/>
            <a:round/>
            <a:headEnd len="sm" w="sm" type="none"/>
            <a:tailEnd len="sm" w="sm" type="none"/>
          </a:ln>
        </p:spPr>
      </p:pic>
      <p:pic>
        <p:nvPicPr>
          <p:cNvPr id="136" name="Google Shape;136;h3b987c62679a4f5d_0_40"/>
          <p:cNvPicPr preferRelativeResize="0"/>
          <p:nvPr/>
        </p:nvPicPr>
        <p:blipFill>
          <a:blip r:embed="rId5">
            <a:alphaModFix/>
          </a:blip>
          <a:stretch>
            <a:fillRect/>
          </a:stretch>
        </p:blipFill>
        <p:spPr>
          <a:xfrm>
            <a:off x="311700" y="3131274"/>
            <a:ext cx="5074549" cy="664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h3b987c62679a4f5d_0_47"/>
          <p:cNvSpPr txBox="1"/>
          <p:nvPr>
            <p:ph type="title"/>
          </p:nvPr>
        </p:nvSpPr>
        <p:spPr>
          <a:xfrm>
            <a:off x="311700" y="333900"/>
            <a:ext cx="85206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900"/>
              <a:t>Learning: updating weights with the descent</a:t>
            </a:r>
            <a:endParaRPr sz="2900"/>
          </a:p>
        </p:txBody>
      </p:sp>
      <p:pic>
        <p:nvPicPr>
          <p:cNvPr id="142" name="Google Shape;142;h3b987c62679a4f5d_0_47"/>
          <p:cNvPicPr preferRelativeResize="0"/>
          <p:nvPr/>
        </p:nvPicPr>
        <p:blipFill>
          <a:blip r:embed="rId3">
            <a:alphaModFix/>
          </a:blip>
          <a:stretch>
            <a:fillRect/>
          </a:stretch>
        </p:blipFill>
        <p:spPr>
          <a:xfrm>
            <a:off x="311700" y="1577850"/>
            <a:ext cx="4900724" cy="641600"/>
          </a:xfrm>
          <a:prstGeom prst="rect">
            <a:avLst/>
          </a:prstGeom>
          <a:noFill/>
          <a:ln>
            <a:noFill/>
          </a:ln>
        </p:spPr>
      </p:pic>
      <p:pic>
        <p:nvPicPr>
          <p:cNvPr id="143" name="Google Shape;143;h3b987c62679a4f5d_0_47"/>
          <p:cNvPicPr preferRelativeResize="0"/>
          <p:nvPr/>
        </p:nvPicPr>
        <p:blipFill>
          <a:blip r:embed="rId4">
            <a:alphaModFix/>
          </a:blip>
          <a:stretch>
            <a:fillRect/>
          </a:stretch>
        </p:blipFill>
        <p:spPr>
          <a:xfrm>
            <a:off x="5488125" y="3268351"/>
            <a:ext cx="3480699" cy="1699699"/>
          </a:xfrm>
          <a:prstGeom prst="rect">
            <a:avLst/>
          </a:prstGeom>
          <a:noFill/>
          <a:ln cap="flat" cmpd="sng" w="9525">
            <a:solidFill>
              <a:schemeClr val="dk2"/>
            </a:solidFill>
            <a:prstDash val="solid"/>
            <a:round/>
            <a:headEnd len="sm" w="sm" type="none"/>
            <a:tailEnd len="sm" w="sm" type="none"/>
          </a:ln>
        </p:spPr>
      </p:pic>
      <p:pic>
        <p:nvPicPr>
          <p:cNvPr id="144" name="Google Shape;144;h3b987c62679a4f5d_0_47"/>
          <p:cNvPicPr preferRelativeResize="0"/>
          <p:nvPr/>
        </p:nvPicPr>
        <p:blipFill>
          <a:blip r:embed="rId5">
            <a:alphaModFix/>
          </a:blip>
          <a:stretch>
            <a:fillRect/>
          </a:stretch>
        </p:blipFill>
        <p:spPr>
          <a:xfrm>
            <a:off x="363400" y="2449150"/>
            <a:ext cx="4721301" cy="742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h3b987c62679a4f5d_0_54"/>
          <p:cNvSpPr txBox="1"/>
          <p:nvPr>
            <p:ph type="title"/>
          </p:nvPr>
        </p:nvSpPr>
        <p:spPr>
          <a:xfrm>
            <a:off x="311700" y="151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Short Summary</a:t>
            </a:r>
            <a:endParaRPr/>
          </a:p>
        </p:txBody>
      </p:sp>
      <p:pic>
        <p:nvPicPr>
          <p:cNvPr id="150" name="Google Shape;150;h3b987c62679a4f5d_0_54"/>
          <p:cNvPicPr preferRelativeResize="0"/>
          <p:nvPr/>
        </p:nvPicPr>
        <p:blipFill>
          <a:blip r:embed="rId3">
            <a:alphaModFix/>
          </a:blip>
          <a:stretch>
            <a:fillRect/>
          </a:stretch>
        </p:blipFill>
        <p:spPr>
          <a:xfrm>
            <a:off x="1857675" y="1130250"/>
            <a:ext cx="5428647" cy="3820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h3b987c62679a4f5d_0_0"/>
          <p:cNvSpPr txBox="1"/>
          <p:nvPr>
            <p:ph type="title"/>
          </p:nvPr>
        </p:nvSpPr>
        <p:spPr>
          <a:xfrm>
            <a:off x="265500" y="1233175"/>
            <a:ext cx="27360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sz="2800"/>
              <a:t>Simulator</a:t>
            </a:r>
            <a:endParaRPr sz="2800"/>
          </a:p>
        </p:txBody>
      </p:sp>
      <p:pic>
        <p:nvPicPr>
          <p:cNvPr id="156" name="Google Shape;156;h3b987c62679a4f5d_0_0"/>
          <p:cNvPicPr preferRelativeResize="0"/>
          <p:nvPr/>
        </p:nvPicPr>
        <p:blipFill>
          <a:blip r:embed="rId3">
            <a:alphaModFix/>
          </a:blip>
          <a:stretch>
            <a:fillRect/>
          </a:stretch>
        </p:blipFill>
        <p:spPr>
          <a:xfrm>
            <a:off x="3223653" y="1171889"/>
            <a:ext cx="5755224" cy="2799726"/>
          </a:xfrm>
          <a:prstGeom prst="rect">
            <a:avLst/>
          </a:prstGeom>
          <a:noFill/>
          <a:ln>
            <a:noFill/>
          </a:ln>
        </p:spPr>
      </p:pic>
      <p:sp>
        <p:nvSpPr>
          <p:cNvPr id="157" name="Google Shape;157;h3b987c62679a4f5d_0_0"/>
          <p:cNvSpPr txBox="1"/>
          <p:nvPr>
            <p:ph idx="1" type="subTitle"/>
          </p:nvPr>
        </p:nvSpPr>
        <p:spPr>
          <a:xfrm>
            <a:off x="265500" y="2803075"/>
            <a:ext cx="27360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sz="1200" u="sng">
                <a:solidFill>
                  <a:schemeClr val="lt2"/>
                </a:solidFill>
                <a:hlinkClick r:id="rId4">
                  <a:extLst>
                    <a:ext uri="{A12FA001-AC4F-418D-AE19-62706E023703}">
                      <ahyp:hlinkClr val="tx"/>
                    </a:ext>
                  </a:extLst>
                </a:hlinkClick>
              </a:rPr>
              <a:t>https://santanche.github.io/nlp2learn/machine-learning/logistic-regression/simulation/</a:t>
            </a:r>
            <a:endParaRPr sz="1200">
              <a:solidFill>
                <a:schemeClr val="lt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h3b987c62679a4f5d_0_10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Two Essential Videos</a:t>
            </a:r>
            <a:endParaRPr/>
          </a:p>
        </p:txBody>
      </p:sp>
      <p:grpSp>
        <p:nvGrpSpPr>
          <p:cNvPr id="163" name="Google Shape;163;h3b987c62679a4f5d_0_107"/>
          <p:cNvGrpSpPr/>
          <p:nvPr/>
        </p:nvGrpSpPr>
        <p:grpSpPr>
          <a:xfrm>
            <a:off x="4720425" y="2127875"/>
            <a:ext cx="4195250" cy="2715650"/>
            <a:chOff x="311700" y="1198150"/>
            <a:chExt cx="4195250" cy="2715650"/>
          </a:xfrm>
        </p:grpSpPr>
        <p:pic>
          <p:nvPicPr>
            <p:cNvPr id="164" name="Google Shape;164;h3b987c62679a4f5d_0_107"/>
            <p:cNvPicPr preferRelativeResize="0"/>
            <p:nvPr/>
          </p:nvPicPr>
          <p:blipFill>
            <a:blip r:embed="rId3">
              <a:alphaModFix/>
            </a:blip>
            <a:stretch>
              <a:fillRect/>
            </a:stretch>
          </p:blipFill>
          <p:spPr>
            <a:xfrm>
              <a:off x="311700" y="1198150"/>
              <a:ext cx="4195250" cy="2361650"/>
            </a:xfrm>
            <a:prstGeom prst="rect">
              <a:avLst/>
            </a:prstGeom>
            <a:noFill/>
            <a:ln>
              <a:noFill/>
            </a:ln>
          </p:spPr>
        </p:pic>
        <p:sp>
          <p:nvSpPr>
            <p:cNvPr id="165" name="Google Shape;165;h3b987c62679a4f5d_0_107"/>
            <p:cNvSpPr txBox="1"/>
            <p:nvPr/>
          </p:nvSpPr>
          <p:spPr>
            <a:xfrm>
              <a:off x="473425" y="3559800"/>
              <a:ext cx="3871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100" u="sng">
                  <a:solidFill>
                    <a:schemeClr val="hlink"/>
                  </a:solidFill>
                  <a:latin typeface="Comfortaa"/>
                  <a:ea typeface="Comfortaa"/>
                  <a:cs typeface="Comfortaa"/>
                  <a:sym typeface="Comfortaa"/>
                  <a:hlinkClick r:id="rId4"/>
                </a:rPr>
                <a:t>https://youtu.be/aircAruvnKk?si=dXsjeYu0sFc-eoFv</a:t>
              </a:r>
              <a:endParaRPr sz="1100">
                <a:solidFill>
                  <a:srgbClr val="434343"/>
                </a:solidFill>
                <a:latin typeface="Comfortaa"/>
                <a:ea typeface="Comfortaa"/>
                <a:cs typeface="Comfortaa"/>
                <a:sym typeface="Comfortaa"/>
              </a:endParaRPr>
            </a:p>
          </p:txBody>
        </p:sp>
      </p:grpSp>
      <p:grpSp>
        <p:nvGrpSpPr>
          <p:cNvPr id="166" name="Google Shape;166;h3b987c62679a4f5d_0_107"/>
          <p:cNvGrpSpPr/>
          <p:nvPr/>
        </p:nvGrpSpPr>
        <p:grpSpPr>
          <a:xfrm>
            <a:off x="239750" y="1067600"/>
            <a:ext cx="4332251" cy="2792775"/>
            <a:chOff x="4572000" y="2207250"/>
            <a:chExt cx="4332251" cy="2792775"/>
          </a:xfrm>
        </p:grpSpPr>
        <p:pic>
          <p:nvPicPr>
            <p:cNvPr id="167" name="Google Shape;167;h3b987c62679a4f5d_0_107"/>
            <p:cNvPicPr preferRelativeResize="0"/>
            <p:nvPr/>
          </p:nvPicPr>
          <p:blipFill>
            <a:blip r:embed="rId5">
              <a:alphaModFix/>
            </a:blip>
            <a:stretch>
              <a:fillRect/>
            </a:stretch>
          </p:blipFill>
          <p:spPr>
            <a:xfrm>
              <a:off x="4572000" y="2207250"/>
              <a:ext cx="4332251" cy="2438773"/>
            </a:xfrm>
            <a:prstGeom prst="rect">
              <a:avLst/>
            </a:prstGeom>
            <a:noFill/>
            <a:ln>
              <a:noFill/>
            </a:ln>
          </p:spPr>
        </p:pic>
        <p:sp>
          <p:nvSpPr>
            <p:cNvPr id="168" name="Google Shape;168;h3b987c62679a4f5d_0_107"/>
            <p:cNvSpPr txBox="1"/>
            <p:nvPr/>
          </p:nvSpPr>
          <p:spPr>
            <a:xfrm>
              <a:off x="4741925" y="4646025"/>
              <a:ext cx="3992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100" u="sng">
                  <a:solidFill>
                    <a:schemeClr val="hlink"/>
                  </a:solidFill>
                  <a:latin typeface="Comfortaa"/>
                  <a:ea typeface="Comfortaa"/>
                  <a:cs typeface="Comfortaa"/>
                  <a:sym typeface="Comfortaa"/>
                  <a:hlinkClick r:id="rId6"/>
                </a:rPr>
                <a:t>https://youtu.be/CqOfi41LfDw?si=KkASDA7PCG6RRldr</a:t>
              </a:r>
              <a:endParaRPr sz="1100">
                <a:solidFill>
                  <a:srgbClr val="434343"/>
                </a:solidFill>
                <a:latin typeface="Comfortaa"/>
                <a:ea typeface="Comfortaa"/>
                <a:cs typeface="Comfortaa"/>
                <a:sym typeface="Comfortaa"/>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h3b987c62679a4f5d_0_644"/>
          <p:cNvSpPr txBox="1"/>
          <p:nvPr>
            <p:ph type="title"/>
          </p:nvPr>
        </p:nvSpPr>
        <p:spPr>
          <a:xfrm>
            <a:off x="311700" y="150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Neural Network Unit</a:t>
            </a:r>
            <a:endParaRPr/>
          </a:p>
        </p:txBody>
      </p:sp>
      <p:pic>
        <p:nvPicPr>
          <p:cNvPr id="174" name="Google Shape;174;h3b987c62679a4f5d_0_644"/>
          <p:cNvPicPr preferRelativeResize="0"/>
          <p:nvPr/>
        </p:nvPicPr>
        <p:blipFill>
          <a:blip r:embed="rId3">
            <a:alphaModFix/>
          </a:blip>
          <a:stretch>
            <a:fillRect/>
          </a:stretch>
        </p:blipFill>
        <p:spPr>
          <a:xfrm>
            <a:off x="311700" y="1780524"/>
            <a:ext cx="3192099" cy="2029476"/>
          </a:xfrm>
          <a:prstGeom prst="rect">
            <a:avLst/>
          </a:prstGeom>
          <a:noFill/>
          <a:ln>
            <a:noFill/>
          </a:ln>
        </p:spPr>
      </p:pic>
      <p:grpSp>
        <p:nvGrpSpPr>
          <p:cNvPr id="175" name="Google Shape;175;h3b987c62679a4f5d_0_644"/>
          <p:cNvGrpSpPr/>
          <p:nvPr/>
        </p:nvGrpSpPr>
        <p:grpSpPr>
          <a:xfrm>
            <a:off x="5334446" y="1514016"/>
            <a:ext cx="3292259" cy="2486630"/>
            <a:chOff x="4586959" y="1184286"/>
            <a:chExt cx="4245337" cy="3206486"/>
          </a:xfrm>
        </p:grpSpPr>
        <p:sp>
          <p:nvSpPr>
            <p:cNvPr id="176" name="Google Shape;176;h3b987c62679a4f5d_0_644"/>
            <p:cNvSpPr/>
            <p:nvPr/>
          </p:nvSpPr>
          <p:spPr>
            <a:xfrm>
              <a:off x="4586959" y="1927011"/>
              <a:ext cx="653100" cy="6531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177" name="Google Shape;177;h3b987c62679a4f5d_0_644"/>
            <p:cNvSpPr/>
            <p:nvPr/>
          </p:nvSpPr>
          <p:spPr>
            <a:xfrm>
              <a:off x="4586984" y="2669723"/>
              <a:ext cx="653100" cy="6531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178" name="Google Shape;178;h3b987c62679a4f5d_0_644"/>
            <p:cNvSpPr/>
            <p:nvPr/>
          </p:nvSpPr>
          <p:spPr>
            <a:xfrm>
              <a:off x="4586984" y="3737672"/>
              <a:ext cx="653100" cy="6531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179" name="Google Shape;179;h3b987c62679a4f5d_0_644"/>
            <p:cNvSpPr/>
            <p:nvPr/>
          </p:nvSpPr>
          <p:spPr>
            <a:xfrm>
              <a:off x="6546291" y="2022878"/>
              <a:ext cx="1306200" cy="13062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64300" lIns="64300" spcFirstLastPara="1" rIns="64300" wrap="square" tIns="64300">
              <a:noAutofit/>
            </a:bodyPr>
            <a:lstStyle/>
            <a:p>
              <a:pPr indent="0" lvl="0" marL="0" rtl="0" algn="l">
                <a:spcBef>
                  <a:spcPts val="0"/>
                </a:spcBef>
                <a:spcAft>
                  <a:spcPts val="0"/>
                </a:spcAft>
                <a:buNone/>
              </a:pPr>
              <a:r>
                <a:t/>
              </a:r>
              <a:endParaRPr/>
            </a:p>
          </p:txBody>
        </p:sp>
        <p:cxnSp>
          <p:nvCxnSpPr>
            <p:cNvPr id="180" name="Google Shape;180;h3b987c62679a4f5d_0_644"/>
            <p:cNvCxnSpPr>
              <a:stCxn id="176" idx="6"/>
            </p:cNvCxnSpPr>
            <p:nvPr/>
          </p:nvCxnSpPr>
          <p:spPr>
            <a:xfrm>
              <a:off x="5240059" y="2253561"/>
              <a:ext cx="1306200" cy="96000"/>
            </a:xfrm>
            <a:prstGeom prst="straightConnector1">
              <a:avLst/>
            </a:prstGeom>
            <a:noFill/>
            <a:ln cap="flat" cmpd="sng" w="20500">
              <a:solidFill>
                <a:srgbClr val="000000"/>
              </a:solidFill>
              <a:prstDash val="solid"/>
              <a:round/>
              <a:headEnd len="sm" w="sm" type="none"/>
              <a:tailEnd len="med" w="med" type="triangle"/>
            </a:ln>
          </p:spPr>
        </p:cxnSp>
        <p:cxnSp>
          <p:nvCxnSpPr>
            <p:cNvPr id="181" name="Google Shape;181;h3b987c62679a4f5d_0_644"/>
            <p:cNvCxnSpPr>
              <a:stCxn id="177" idx="6"/>
              <a:endCxn id="179" idx="2"/>
            </p:cNvCxnSpPr>
            <p:nvPr/>
          </p:nvCxnSpPr>
          <p:spPr>
            <a:xfrm flipH="1" rot="10800000">
              <a:off x="5240084" y="2675873"/>
              <a:ext cx="1306200" cy="320400"/>
            </a:xfrm>
            <a:prstGeom prst="straightConnector1">
              <a:avLst/>
            </a:prstGeom>
            <a:noFill/>
            <a:ln cap="flat" cmpd="sng" w="20500">
              <a:solidFill>
                <a:srgbClr val="000000"/>
              </a:solidFill>
              <a:prstDash val="solid"/>
              <a:round/>
              <a:headEnd len="sm" w="sm" type="none"/>
              <a:tailEnd len="med" w="med" type="triangle"/>
            </a:ln>
          </p:spPr>
        </p:cxnSp>
        <p:cxnSp>
          <p:nvCxnSpPr>
            <p:cNvPr id="182" name="Google Shape;182;h3b987c62679a4f5d_0_644"/>
            <p:cNvCxnSpPr>
              <a:stCxn id="178" idx="6"/>
            </p:cNvCxnSpPr>
            <p:nvPr/>
          </p:nvCxnSpPr>
          <p:spPr>
            <a:xfrm flipH="1" rot="10800000">
              <a:off x="5240084" y="2994422"/>
              <a:ext cx="1375500" cy="1069800"/>
            </a:xfrm>
            <a:prstGeom prst="straightConnector1">
              <a:avLst/>
            </a:prstGeom>
            <a:noFill/>
            <a:ln cap="flat" cmpd="sng" w="20500">
              <a:solidFill>
                <a:srgbClr val="000000"/>
              </a:solidFill>
              <a:prstDash val="solid"/>
              <a:round/>
              <a:headEnd len="sm" w="sm" type="none"/>
              <a:tailEnd len="med" w="med" type="triangle"/>
            </a:ln>
          </p:spPr>
        </p:cxnSp>
        <p:cxnSp>
          <p:nvCxnSpPr>
            <p:cNvPr id="183" name="Google Shape;183;h3b987c62679a4f5d_0_644"/>
            <p:cNvCxnSpPr/>
            <p:nvPr/>
          </p:nvCxnSpPr>
          <p:spPr>
            <a:xfrm>
              <a:off x="7852496" y="2675957"/>
              <a:ext cx="979800" cy="0"/>
            </a:xfrm>
            <a:prstGeom prst="straightConnector1">
              <a:avLst/>
            </a:prstGeom>
            <a:noFill/>
            <a:ln cap="flat" cmpd="sng" w="20500">
              <a:solidFill>
                <a:srgbClr val="000000"/>
              </a:solidFill>
              <a:prstDash val="solid"/>
              <a:round/>
              <a:headEnd len="sm" w="sm" type="none"/>
              <a:tailEnd len="med" w="med" type="triangle"/>
            </a:ln>
          </p:spPr>
        </p:cxnSp>
        <p:cxnSp>
          <p:nvCxnSpPr>
            <p:cNvPr id="184" name="Google Shape;184;h3b987c62679a4f5d_0_644"/>
            <p:cNvCxnSpPr/>
            <p:nvPr/>
          </p:nvCxnSpPr>
          <p:spPr>
            <a:xfrm>
              <a:off x="7199393" y="2022878"/>
              <a:ext cx="0" cy="1306200"/>
            </a:xfrm>
            <a:prstGeom prst="straightConnector1">
              <a:avLst/>
            </a:prstGeom>
            <a:noFill/>
            <a:ln cap="flat" cmpd="sng" w="6700">
              <a:solidFill>
                <a:srgbClr val="000000"/>
              </a:solidFill>
              <a:prstDash val="solid"/>
              <a:round/>
              <a:headEnd len="sm" w="sm" type="none"/>
              <a:tailEnd len="sm" w="sm" type="none"/>
            </a:ln>
          </p:spPr>
        </p:cxnSp>
        <p:sp>
          <p:nvSpPr>
            <p:cNvPr id="185" name="Google Shape;185;h3b987c62679a4f5d_0_644"/>
            <p:cNvSpPr txBox="1"/>
            <p:nvPr/>
          </p:nvSpPr>
          <p:spPr>
            <a:xfrm>
              <a:off x="6743528" y="2361826"/>
              <a:ext cx="448800" cy="5961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lang="pt-BR" sz="2792"/>
                <a:t>Z</a:t>
              </a:r>
              <a:endParaRPr b="0" sz="2792" strike="noStrike">
                <a:latin typeface="Arial"/>
                <a:ea typeface="Arial"/>
                <a:cs typeface="Arial"/>
                <a:sym typeface="Arial"/>
              </a:endParaRPr>
            </a:p>
          </p:txBody>
        </p:sp>
        <p:sp>
          <p:nvSpPr>
            <p:cNvPr id="186" name="Google Shape;186;h3b987c62679a4f5d_0_644"/>
            <p:cNvSpPr txBox="1"/>
            <p:nvPr/>
          </p:nvSpPr>
          <p:spPr>
            <a:xfrm>
              <a:off x="5621977" y="1959375"/>
              <a:ext cx="379200" cy="3141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0" i="1" lang="pt-BR" sz="1241" strike="noStrike">
                  <a:latin typeface="Arial"/>
                  <a:ea typeface="Arial"/>
                  <a:cs typeface="Arial"/>
                  <a:sym typeface="Arial"/>
                </a:rPr>
                <a:t>w</a:t>
              </a:r>
              <a:r>
                <a:rPr b="0" baseline="-25000" i="1"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187" name="Google Shape;187;h3b987c62679a4f5d_0_644"/>
            <p:cNvSpPr txBox="1"/>
            <p:nvPr/>
          </p:nvSpPr>
          <p:spPr>
            <a:xfrm>
              <a:off x="5433488" y="2519031"/>
              <a:ext cx="379200" cy="3141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0" i="1" lang="pt-BR" sz="1241" strike="noStrike">
                  <a:latin typeface="Arial"/>
                  <a:ea typeface="Arial"/>
                  <a:cs typeface="Arial"/>
                  <a:sym typeface="Arial"/>
                </a:rPr>
                <a:t>w</a:t>
              </a:r>
              <a:r>
                <a:rPr b="0" baseline="-25000" i="1"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188" name="Google Shape;188;h3b987c62679a4f5d_0_644"/>
            <p:cNvSpPr txBox="1"/>
            <p:nvPr/>
          </p:nvSpPr>
          <p:spPr>
            <a:xfrm>
              <a:off x="5498688" y="3269402"/>
              <a:ext cx="379200" cy="3141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0" i="1" lang="pt-BR" sz="1241" strike="noStrike">
                  <a:latin typeface="Arial"/>
                  <a:ea typeface="Arial"/>
                  <a:cs typeface="Arial"/>
                  <a:sym typeface="Arial"/>
                </a:rPr>
                <a:t>w</a:t>
              </a:r>
              <a:r>
                <a:rPr baseline="-25000" i="1" lang="pt-BR" sz="1241"/>
                <a:t>n</a:t>
              </a:r>
              <a:endParaRPr b="0" sz="1241" strike="noStrike">
                <a:latin typeface="Arial"/>
                <a:ea typeface="Arial"/>
                <a:cs typeface="Arial"/>
                <a:sym typeface="Arial"/>
              </a:endParaRPr>
            </a:p>
          </p:txBody>
        </p:sp>
        <p:sp>
          <p:nvSpPr>
            <p:cNvPr id="189" name="Google Shape;189;h3b987c62679a4f5d_0_644"/>
            <p:cNvSpPr txBox="1"/>
            <p:nvPr/>
          </p:nvSpPr>
          <p:spPr>
            <a:xfrm>
              <a:off x="8100777" y="2304377"/>
              <a:ext cx="267900" cy="3141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lang="pt-BR" sz="1241"/>
                <a:t>y</a:t>
              </a:r>
              <a:endParaRPr b="0" sz="1241" strike="noStrike">
                <a:latin typeface="Arial"/>
                <a:ea typeface="Arial"/>
                <a:cs typeface="Arial"/>
                <a:sym typeface="Arial"/>
              </a:endParaRPr>
            </a:p>
          </p:txBody>
        </p:sp>
        <p:sp>
          <p:nvSpPr>
            <p:cNvPr id="190" name="Google Shape;190;h3b987c62679a4f5d_0_644"/>
            <p:cNvSpPr/>
            <p:nvPr/>
          </p:nvSpPr>
          <p:spPr>
            <a:xfrm>
              <a:off x="4586959" y="1184286"/>
              <a:ext cx="653100" cy="6531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91" name="Google Shape;191;h3b987c62679a4f5d_0_644"/>
            <p:cNvSpPr txBox="1"/>
            <p:nvPr/>
          </p:nvSpPr>
          <p:spPr>
            <a:xfrm>
              <a:off x="4586975" y="1295275"/>
              <a:ext cx="653100" cy="4311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192" name="Google Shape;192;h3b987c62679a4f5d_0_644"/>
            <p:cNvCxnSpPr>
              <a:stCxn id="191" idx="3"/>
              <a:endCxn id="179" idx="1"/>
            </p:cNvCxnSpPr>
            <p:nvPr/>
          </p:nvCxnSpPr>
          <p:spPr>
            <a:xfrm>
              <a:off x="5240075" y="1510825"/>
              <a:ext cx="1497600" cy="703200"/>
            </a:xfrm>
            <a:prstGeom prst="straightConnector1">
              <a:avLst/>
            </a:prstGeom>
            <a:noFill/>
            <a:ln cap="flat" cmpd="sng" w="20500">
              <a:solidFill>
                <a:srgbClr val="000000"/>
              </a:solidFill>
              <a:prstDash val="solid"/>
              <a:round/>
              <a:headEnd len="sm" w="sm" type="none"/>
              <a:tailEnd len="med" w="med" type="triangle"/>
            </a:ln>
          </p:spPr>
        </p:cxnSp>
        <p:sp>
          <p:nvSpPr>
            <p:cNvPr id="193" name="Google Shape;193;h3b987c62679a4f5d_0_644"/>
            <p:cNvSpPr txBox="1"/>
            <p:nvPr/>
          </p:nvSpPr>
          <p:spPr>
            <a:xfrm>
              <a:off x="5799277" y="1437750"/>
              <a:ext cx="379200" cy="3141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i="1" lang="pt-BR" sz="1241"/>
                <a:t>b</a:t>
              </a:r>
              <a:endParaRPr b="0" sz="1241" strike="noStrike">
                <a:latin typeface="Arial"/>
                <a:ea typeface="Arial"/>
                <a:cs typeface="Arial"/>
                <a:sym typeface="Arial"/>
              </a:endParaRPr>
            </a:p>
          </p:txBody>
        </p:sp>
        <p:grpSp>
          <p:nvGrpSpPr>
            <p:cNvPr id="194" name="Google Shape;194;h3b987c62679a4f5d_0_644"/>
            <p:cNvGrpSpPr/>
            <p:nvPr/>
          </p:nvGrpSpPr>
          <p:grpSpPr>
            <a:xfrm>
              <a:off x="4747800" y="3443750"/>
              <a:ext cx="372100" cy="96000"/>
              <a:chOff x="3272500" y="3440675"/>
              <a:chExt cx="372100" cy="96000"/>
            </a:xfrm>
          </p:grpSpPr>
          <p:sp>
            <p:nvSpPr>
              <p:cNvPr id="195" name="Google Shape;195;h3b987c62679a4f5d_0_644"/>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96" name="Google Shape;196;h3b987c62679a4f5d_0_644"/>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97" name="Google Shape;197;h3b987c62679a4f5d_0_644"/>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198" name="Google Shape;198;h3b987c62679a4f5d_0_644"/>
            <p:cNvSpPr txBox="1"/>
            <p:nvPr/>
          </p:nvSpPr>
          <p:spPr>
            <a:xfrm>
              <a:off x="7301553" y="2361826"/>
              <a:ext cx="448800" cy="5961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lang="pt-BR" sz="2792"/>
                <a:t>f</a:t>
              </a:r>
              <a:endParaRPr b="0" sz="2792" strike="noStrike">
                <a:latin typeface="Arial"/>
                <a:ea typeface="Arial"/>
                <a:cs typeface="Arial"/>
                <a:sym typeface="Arial"/>
              </a:endParaRPr>
            </a:p>
          </p:txBody>
        </p:sp>
      </p:grpSp>
      <p:sp>
        <p:nvSpPr>
          <p:cNvPr id="199" name="Google Shape;199;h3b987c62679a4f5d_0_644"/>
          <p:cNvSpPr/>
          <p:nvPr/>
        </p:nvSpPr>
        <p:spPr>
          <a:xfrm>
            <a:off x="3853975" y="2461825"/>
            <a:ext cx="813300" cy="771000"/>
          </a:xfrm>
          <a:prstGeom prst="rightArrow">
            <a:avLst>
              <a:gd fmla="val 50000" name="adj1"/>
              <a:gd fmla="val 50000" name="adj2"/>
            </a:avLst>
          </a:prstGeom>
          <a:solidFill>
            <a:schemeClr val="lt2"/>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200" name="Google Shape;200;h3b987c62679a4f5d_0_644"/>
          <p:cNvSpPr txBox="1"/>
          <p:nvPr/>
        </p:nvSpPr>
        <p:spPr>
          <a:xfrm>
            <a:off x="3514300" y="2034050"/>
            <a:ext cx="1497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inspiration</a:t>
            </a:r>
            <a:endParaRPr sz="1800">
              <a:solidFill>
                <a:srgbClr val="434343"/>
              </a:solidFill>
              <a:latin typeface="Comfortaa"/>
              <a:ea typeface="Comfortaa"/>
              <a:cs typeface="Comfortaa"/>
              <a:sym typeface="Comfortaa"/>
            </a:endParaRPr>
          </a:p>
        </p:txBody>
      </p:sp>
      <p:pic>
        <p:nvPicPr>
          <p:cNvPr id="201" name="Google Shape;201;h3b987c62679a4f5d_0_644"/>
          <p:cNvPicPr preferRelativeResize="0"/>
          <p:nvPr/>
        </p:nvPicPr>
        <p:blipFill>
          <a:blip r:embed="rId4">
            <a:alphaModFix/>
          </a:blip>
          <a:stretch>
            <a:fillRect/>
          </a:stretch>
        </p:blipFill>
        <p:spPr>
          <a:xfrm>
            <a:off x="8409025" y="150845"/>
            <a:ext cx="567030" cy="572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h3b987c62679a4f5d_0_730"/>
          <p:cNvSpPr txBox="1"/>
          <p:nvPr>
            <p:ph type="title"/>
          </p:nvPr>
        </p:nvSpPr>
        <p:spPr>
          <a:xfrm>
            <a:off x="311700" y="1138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Neural Network Unit</a:t>
            </a:r>
            <a:endParaRPr/>
          </a:p>
        </p:txBody>
      </p:sp>
      <p:sp>
        <p:nvSpPr>
          <p:cNvPr id="207" name="Google Shape;207;h3b987c62679a4f5d_0_730"/>
          <p:cNvSpPr/>
          <p:nvPr/>
        </p:nvSpPr>
        <p:spPr>
          <a:xfrm>
            <a:off x="1073412" y="1925876"/>
            <a:ext cx="525300" cy="525300"/>
          </a:xfrm>
          <a:prstGeom prst="ellipse">
            <a:avLst/>
          </a:prstGeom>
          <a:solidFill>
            <a:srgbClr val="FFFFFF"/>
          </a:solidFill>
          <a:ln cap="flat" cmpd="sng" w="27875">
            <a:solidFill>
              <a:srgbClr val="000000"/>
            </a:solidFill>
            <a:prstDash val="solid"/>
            <a:round/>
            <a:headEnd len="sm" w="sm" type="none"/>
            <a:tailEnd len="sm" w="sm" type="none"/>
          </a:ln>
        </p:spPr>
        <p:txBody>
          <a:bodyPr anchorCtr="0" anchor="ctr" bIns="46475" lIns="79350" spcFirstLastPara="1" rIns="79350" wrap="square" tIns="46475">
            <a:noAutofit/>
          </a:bodyPr>
          <a:lstStyle/>
          <a:p>
            <a:pPr indent="0" lvl="0" marL="0" marR="0" rtl="0" algn="ctr">
              <a:spcBef>
                <a:spcPts val="0"/>
              </a:spcBef>
              <a:spcAft>
                <a:spcPts val="0"/>
              </a:spcAft>
              <a:buNone/>
            </a:pPr>
            <a:r>
              <a:rPr lang="pt-BR" sz="1287"/>
              <a:t>x</a:t>
            </a:r>
            <a:r>
              <a:rPr b="0" baseline="-25000" lang="pt-BR" sz="1287" strike="noStrike">
                <a:latin typeface="Arial"/>
                <a:ea typeface="Arial"/>
                <a:cs typeface="Arial"/>
                <a:sym typeface="Arial"/>
              </a:rPr>
              <a:t>1</a:t>
            </a:r>
            <a:endParaRPr b="0" sz="1287" strike="noStrike">
              <a:latin typeface="Arial"/>
              <a:ea typeface="Arial"/>
              <a:cs typeface="Arial"/>
              <a:sym typeface="Arial"/>
            </a:endParaRPr>
          </a:p>
        </p:txBody>
      </p:sp>
      <p:sp>
        <p:nvSpPr>
          <p:cNvPr id="208" name="Google Shape;208;h3b987c62679a4f5d_0_730"/>
          <p:cNvSpPr/>
          <p:nvPr/>
        </p:nvSpPr>
        <p:spPr>
          <a:xfrm>
            <a:off x="1073432" y="2523440"/>
            <a:ext cx="525300" cy="525300"/>
          </a:xfrm>
          <a:prstGeom prst="ellipse">
            <a:avLst/>
          </a:prstGeom>
          <a:solidFill>
            <a:srgbClr val="FFFFFF"/>
          </a:solidFill>
          <a:ln cap="flat" cmpd="sng" w="27875">
            <a:solidFill>
              <a:srgbClr val="000000"/>
            </a:solidFill>
            <a:prstDash val="solid"/>
            <a:round/>
            <a:headEnd len="sm" w="sm" type="none"/>
            <a:tailEnd len="sm" w="sm" type="none"/>
          </a:ln>
        </p:spPr>
        <p:txBody>
          <a:bodyPr anchorCtr="0" anchor="ctr" bIns="46475" lIns="79350" spcFirstLastPara="1" rIns="79350" wrap="square" tIns="46475">
            <a:noAutofit/>
          </a:bodyPr>
          <a:lstStyle/>
          <a:p>
            <a:pPr indent="0" lvl="0" marL="0" marR="0" rtl="0" algn="ctr">
              <a:spcBef>
                <a:spcPts val="0"/>
              </a:spcBef>
              <a:spcAft>
                <a:spcPts val="0"/>
              </a:spcAft>
              <a:buNone/>
            </a:pPr>
            <a:r>
              <a:rPr lang="pt-BR" sz="1287"/>
              <a:t>x</a:t>
            </a:r>
            <a:r>
              <a:rPr b="0" baseline="-25000" lang="pt-BR" sz="1287" strike="noStrike">
                <a:latin typeface="Arial"/>
                <a:ea typeface="Arial"/>
                <a:cs typeface="Arial"/>
                <a:sym typeface="Arial"/>
              </a:rPr>
              <a:t>2</a:t>
            </a:r>
            <a:endParaRPr b="0" sz="1287" strike="noStrike">
              <a:latin typeface="Arial"/>
              <a:ea typeface="Arial"/>
              <a:cs typeface="Arial"/>
              <a:sym typeface="Arial"/>
            </a:endParaRPr>
          </a:p>
        </p:txBody>
      </p:sp>
      <p:sp>
        <p:nvSpPr>
          <p:cNvPr id="209" name="Google Shape;209;h3b987c62679a4f5d_0_730"/>
          <p:cNvSpPr/>
          <p:nvPr/>
        </p:nvSpPr>
        <p:spPr>
          <a:xfrm>
            <a:off x="1073432" y="3382681"/>
            <a:ext cx="525300" cy="525300"/>
          </a:xfrm>
          <a:prstGeom prst="ellipse">
            <a:avLst/>
          </a:prstGeom>
          <a:solidFill>
            <a:srgbClr val="FFFFFF"/>
          </a:solidFill>
          <a:ln cap="flat" cmpd="sng" w="27875">
            <a:solidFill>
              <a:srgbClr val="000000"/>
            </a:solidFill>
            <a:prstDash val="solid"/>
            <a:round/>
            <a:headEnd len="sm" w="sm" type="none"/>
            <a:tailEnd len="sm" w="sm" type="none"/>
          </a:ln>
        </p:spPr>
        <p:txBody>
          <a:bodyPr anchorCtr="0" anchor="ctr" bIns="46475" lIns="79350" spcFirstLastPara="1" rIns="79350" wrap="square" tIns="46475">
            <a:noAutofit/>
          </a:bodyPr>
          <a:lstStyle/>
          <a:p>
            <a:pPr indent="0" lvl="0" marL="0" marR="0" rtl="0" algn="ctr">
              <a:spcBef>
                <a:spcPts val="0"/>
              </a:spcBef>
              <a:spcAft>
                <a:spcPts val="0"/>
              </a:spcAft>
              <a:buNone/>
            </a:pPr>
            <a:r>
              <a:rPr lang="pt-BR" sz="1287"/>
              <a:t>x</a:t>
            </a:r>
            <a:r>
              <a:rPr baseline="-25000" lang="pt-BR" sz="1287"/>
              <a:t>n</a:t>
            </a:r>
            <a:endParaRPr b="0" sz="1287" strike="noStrike">
              <a:latin typeface="Arial"/>
              <a:ea typeface="Arial"/>
              <a:cs typeface="Arial"/>
              <a:sym typeface="Arial"/>
            </a:endParaRPr>
          </a:p>
        </p:txBody>
      </p:sp>
      <p:sp>
        <p:nvSpPr>
          <p:cNvPr id="210" name="Google Shape;210;h3b987c62679a4f5d_0_730"/>
          <p:cNvSpPr/>
          <p:nvPr/>
        </p:nvSpPr>
        <p:spPr>
          <a:xfrm>
            <a:off x="2649822" y="2003007"/>
            <a:ext cx="1050900" cy="1050900"/>
          </a:xfrm>
          <a:prstGeom prst="ellipse">
            <a:avLst/>
          </a:prstGeom>
          <a:solidFill>
            <a:srgbClr val="FFFFFF"/>
          </a:solidFill>
          <a:ln cap="flat" cmpd="sng" w="27875">
            <a:solidFill>
              <a:srgbClr val="000000"/>
            </a:solidFill>
            <a:prstDash val="solid"/>
            <a:round/>
            <a:headEnd len="sm" w="sm" type="none"/>
            <a:tailEnd len="sm" w="sm" type="none"/>
          </a:ln>
        </p:spPr>
        <p:txBody>
          <a:bodyPr anchorCtr="0" anchor="ctr" bIns="66750" lIns="66750" spcFirstLastPara="1" rIns="66750" wrap="square" tIns="66750">
            <a:noAutofit/>
          </a:bodyPr>
          <a:lstStyle/>
          <a:p>
            <a:pPr indent="0" lvl="0" marL="0" rtl="0" algn="l">
              <a:spcBef>
                <a:spcPts val="0"/>
              </a:spcBef>
              <a:spcAft>
                <a:spcPts val="0"/>
              </a:spcAft>
              <a:buNone/>
            </a:pPr>
            <a:r>
              <a:t/>
            </a:r>
            <a:endParaRPr/>
          </a:p>
        </p:txBody>
      </p:sp>
      <p:cxnSp>
        <p:nvCxnSpPr>
          <p:cNvPr id="211" name="Google Shape;211;h3b987c62679a4f5d_0_730"/>
          <p:cNvCxnSpPr>
            <a:stCxn id="207" idx="6"/>
          </p:cNvCxnSpPr>
          <p:nvPr/>
        </p:nvCxnSpPr>
        <p:spPr>
          <a:xfrm>
            <a:off x="1598712" y="2188526"/>
            <a:ext cx="1050900" cy="77400"/>
          </a:xfrm>
          <a:prstGeom prst="straightConnector1">
            <a:avLst/>
          </a:prstGeom>
          <a:noFill/>
          <a:ln cap="flat" cmpd="sng" w="21275">
            <a:solidFill>
              <a:srgbClr val="000000"/>
            </a:solidFill>
            <a:prstDash val="solid"/>
            <a:round/>
            <a:headEnd len="sm" w="sm" type="none"/>
            <a:tailEnd len="med" w="med" type="triangle"/>
          </a:ln>
        </p:spPr>
      </p:cxnSp>
      <p:cxnSp>
        <p:nvCxnSpPr>
          <p:cNvPr id="212" name="Google Shape;212;h3b987c62679a4f5d_0_730"/>
          <p:cNvCxnSpPr>
            <a:stCxn id="208" idx="6"/>
            <a:endCxn id="210" idx="2"/>
          </p:cNvCxnSpPr>
          <p:nvPr/>
        </p:nvCxnSpPr>
        <p:spPr>
          <a:xfrm flipH="1" rot="10800000">
            <a:off x="1598732" y="2528390"/>
            <a:ext cx="1051200" cy="257700"/>
          </a:xfrm>
          <a:prstGeom prst="straightConnector1">
            <a:avLst/>
          </a:prstGeom>
          <a:noFill/>
          <a:ln cap="flat" cmpd="sng" w="21275">
            <a:solidFill>
              <a:srgbClr val="000000"/>
            </a:solidFill>
            <a:prstDash val="solid"/>
            <a:round/>
            <a:headEnd len="sm" w="sm" type="none"/>
            <a:tailEnd len="med" w="med" type="triangle"/>
          </a:ln>
        </p:spPr>
      </p:cxnSp>
      <p:cxnSp>
        <p:nvCxnSpPr>
          <p:cNvPr id="213" name="Google Shape;213;h3b987c62679a4f5d_0_730"/>
          <p:cNvCxnSpPr>
            <a:stCxn id="209" idx="6"/>
          </p:cNvCxnSpPr>
          <p:nvPr/>
        </p:nvCxnSpPr>
        <p:spPr>
          <a:xfrm flipH="1" rot="10800000">
            <a:off x="1598732" y="2784631"/>
            <a:ext cx="1106700" cy="860700"/>
          </a:xfrm>
          <a:prstGeom prst="straightConnector1">
            <a:avLst/>
          </a:prstGeom>
          <a:noFill/>
          <a:ln cap="flat" cmpd="sng" w="21275">
            <a:solidFill>
              <a:srgbClr val="000000"/>
            </a:solidFill>
            <a:prstDash val="solid"/>
            <a:round/>
            <a:headEnd len="sm" w="sm" type="none"/>
            <a:tailEnd len="med" w="med" type="triangle"/>
          </a:ln>
        </p:spPr>
      </p:cxnSp>
      <p:cxnSp>
        <p:nvCxnSpPr>
          <p:cNvPr id="214" name="Google Shape;214;h3b987c62679a4f5d_0_730"/>
          <p:cNvCxnSpPr/>
          <p:nvPr/>
        </p:nvCxnSpPr>
        <p:spPr>
          <a:xfrm>
            <a:off x="3700749" y="2528456"/>
            <a:ext cx="788400" cy="0"/>
          </a:xfrm>
          <a:prstGeom prst="straightConnector1">
            <a:avLst/>
          </a:prstGeom>
          <a:noFill/>
          <a:ln cap="flat" cmpd="sng" w="21275">
            <a:solidFill>
              <a:srgbClr val="000000"/>
            </a:solidFill>
            <a:prstDash val="solid"/>
            <a:round/>
            <a:headEnd len="sm" w="sm" type="none"/>
            <a:tailEnd len="med" w="med" type="triangle"/>
          </a:ln>
        </p:spPr>
      </p:cxnSp>
      <p:cxnSp>
        <p:nvCxnSpPr>
          <p:cNvPr id="215" name="Google Shape;215;h3b987c62679a4f5d_0_730"/>
          <p:cNvCxnSpPr/>
          <p:nvPr/>
        </p:nvCxnSpPr>
        <p:spPr>
          <a:xfrm>
            <a:off x="3175285" y="2003007"/>
            <a:ext cx="0" cy="1050900"/>
          </a:xfrm>
          <a:prstGeom prst="straightConnector1">
            <a:avLst/>
          </a:prstGeom>
          <a:noFill/>
          <a:ln cap="flat" cmpd="sng" w="6925">
            <a:solidFill>
              <a:srgbClr val="000000"/>
            </a:solidFill>
            <a:prstDash val="solid"/>
            <a:round/>
            <a:headEnd len="sm" w="sm" type="none"/>
            <a:tailEnd len="sm" w="sm" type="none"/>
          </a:ln>
        </p:spPr>
      </p:cxnSp>
      <p:sp>
        <p:nvSpPr>
          <p:cNvPr id="216" name="Google Shape;216;h3b987c62679a4f5d_0_730"/>
          <p:cNvSpPr txBox="1"/>
          <p:nvPr/>
        </p:nvSpPr>
        <p:spPr>
          <a:xfrm>
            <a:off x="2808512" y="2275715"/>
            <a:ext cx="361200" cy="4797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lang="pt-BR" sz="2897"/>
              <a:t>Z</a:t>
            </a:r>
            <a:endParaRPr b="0" sz="2897" strike="noStrike">
              <a:latin typeface="Arial"/>
              <a:ea typeface="Arial"/>
              <a:cs typeface="Arial"/>
              <a:sym typeface="Arial"/>
            </a:endParaRPr>
          </a:p>
        </p:txBody>
      </p:sp>
      <p:sp>
        <p:nvSpPr>
          <p:cNvPr id="217" name="Google Shape;217;h3b987c62679a4f5d_0_730"/>
          <p:cNvSpPr txBox="1"/>
          <p:nvPr/>
        </p:nvSpPr>
        <p:spPr>
          <a:xfrm>
            <a:off x="1906151" y="1951915"/>
            <a:ext cx="305100" cy="2526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0" i="1" lang="pt-BR" sz="1287" strike="noStrike">
                <a:latin typeface="Arial"/>
                <a:ea typeface="Arial"/>
                <a:cs typeface="Arial"/>
                <a:sym typeface="Arial"/>
              </a:rPr>
              <a:t>w</a:t>
            </a:r>
            <a:r>
              <a:rPr b="0" baseline="-25000" i="1" lang="pt-BR" sz="1287" strike="noStrike">
                <a:latin typeface="Arial"/>
                <a:ea typeface="Arial"/>
                <a:cs typeface="Arial"/>
                <a:sym typeface="Arial"/>
              </a:rPr>
              <a:t>1</a:t>
            </a:r>
            <a:endParaRPr b="0" sz="1287" strike="noStrike">
              <a:latin typeface="Arial"/>
              <a:ea typeface="Arial"/>
              <a:cs typeface="Arial"/>
              <a:sym typeface="Arial"/>
            </a:endParaRPr>
          </a:p>
        </p:txBody>
      </p:sp>
      <p:sp>
        <p:nvSpPr>
          <p:cNvPr id="218" name="Google Shape;218;h3b987c62679a4f5d_0_730"/>
          <p:cNvSpPr txBox="1"/>
          <p:nvPr/>
        </p:nvSpPr>
        <p:spPr>
          <a:xfrm>
            <a:off x="1754499" y="2402198"/>
            <a:ext cx="305100" cy="2526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0" i="1" lang="pt-BR" sz="1287" strike="noStrike">
                <a:latin typeface="Arial"/>
                <a:ea typeface="Arial"/>
                <a:cs typeface="Arial"/>
                <a:sym typeface="Arial"/>
              </a:rPr>
              <a:t>w</a:t>
            </a:r>
            <a:r>
              <a:rPr b="0" baseline="-25000" i="1" lang="pt-BR" sz="1287" strike="noStrike">
                <a:latin typeface="Arial"/>
                <a:ea typeface="Arial"/>
                <a:cs typeface="Arial"/>
                <a:sym typeface="Arial"/>
              </a:rPr>
              <a:t>2</a:t>
            </a:r>
            <a:endParaRPr b="0" sz="1287" strike="noStrike">
              <a:latin typeface="Arial"/>
              <a:ea typeface="Arial"/>
              <a:cs typeface="Arial"/>
              <a:sym typeface="Arial"/>
            </a:endParaRPr>
          </a:p>
        </p:txBody>
      </p:sp>
      <p:sp>
        <p:nvSpPr>
          <p:cNvPr id="219" name="Google Shape;219;h3b987c62679a4f5d_0_730"/>
          <p:cNvSpPr txBox="1"/>
          <p:nvPr/>
        </p:nvSpPr>
        <p:spPr>
          <a:xfrm>
            <a:off x="1806957" y="3005924"/>
            <a:ext cx="305100" cy="2526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0" i="1" lang="pt-BR" sz="1287" strike="noStrike">
                <a:latin typeface="Arial"/>
                <a:ea typeface="Arial"/>
                <a:cs typeface="Arial"/>
                <a:sym typeface="Arial"/>
              </a:rPr>
              <a:t>w</a:t>
            </a:r>
            <a:r>
              <a:rPr baseline="-25000" i="1" lang="pt-BR" sz="1287"/>
              <a:t>n</a:t>
            </a:r>
            <a:endParaRPr b="0" sz="1287" strike="noStrike">
              <a:latin typeface="Arial"/>
              <a:ea typeface="Arial"/>
              <a:cs typeface="Arial"/>
              <a:sym typeface="Arial"/>
            </a:endParaRPr>
          </a:p>
        </p:txBody>
      </p:sp>
      <p:sp>
        <p:nvSpPr>
          <p:cNvPr id="220" name="Google Shape;220;h3b987c62679a4f5d_0_730"/>
          <p:cNvSpPr txBox="1"/>
          <p:nvPr/>
        </p:nvSpPr>
        <p:spPr>
          <a:xfrm>
            <a:off x="3900508" y="2229494"/>
            <a:ext cx="215700" cy="2526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lang="pt-BR" sz="1287"/>
              <a:t>y</a:t>
            </a:r>
            <a:endParaRPr b="0" sz="1287" strike="noStrike">
              <a:latin typeface="Arial"/>
              <a:ea typeface="Arial"/>
              <a:cs typeface="Arial"/>
              <a:sym typeface="Arial"/>
            </a:endParaRPr>
          </a:p>
        </p:txBody>
      </p:sp>
      <p:grpSp>
        <p:nvGrpSpPr>
          <p:cNvPr id="221" name="Google Shape;221;h3b987c62679a4f5d_0_730"/>
          <p:cNvGrpSpPr/>
          <p:nvPr/>
        </p:nvGrpSpPr>
        <p:grpSpPr>
          <a:xfrm>
            <a:off x="1202933" y="3146300"/>
            <a:ext cx="299392" cy="77242"/>
            <a:chOff x="3272500" y="3440675"/>
            <a:chExt cx="372100" cy="96000"/>
          </a:xfrm>
        </p:grpSpPr>
        <p:sp>
          <p:nvSpPr>
            <p:cNvPr id="222" name="Google Shape;222;h3b987c62679a4f5d_0_730"/>
            <p:cNvSpPr/>
            <p:nvPr/>
          </p:nvSpPr>
          <p:spPr>
            <a:xfrm>
              <a:off x="3272500" y="3440675"/>
              <a:ext cx="96000" cy="96000"/>
            </a:xfrm>
            <a:prstGeom prst="ellipse">
              <a:avLst/>
            </a:prstGeom>
            <a:solidFill>
              <a:schemeClr val="lt1"/>
            </a:solidFill>
            <a:ln cap="flat" cmpd="sng" w="7650">
              <a:solidFill>
                <a:schemeClr val="dk1"/>
              </a:solidFill>
              <a:prstDash val="solid"/>
              <a:round/>
              <a:headEnd len="sm" w="sm" type="none"/>
              <a:tailEnd len="sm" w="sm" type="none"/>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latin typeface="Comfortaa"/>
                <a:ea typeface="Comfortaa"/>
                <a:cs typeface="Comfortaa"/>
                <a:sym typeface="Comfortaa"/>
              </a:endParaRPr>
            </a:p>
          </p:txBody>
        </p:sp>
        <p:sp>
          <p:nvSpPr>
            <p:cNvPr id="223" name="Google Shape;223;h3b987c62679a4f5d_0_730"/>
            <p:cNvSpPr/>
            <p:nvPr/>
          </p:nvSpPr>
          <p:spPr>
            <a:xfrm>
              <a:off x="3410550" y="3440675"/>
              <a:ext cx="96000" cy="96000"/>
            </a:xfrm>
            <a:prstGeom prst="ellipse">
              <a:avLst/>
            </a:prstGeom>
            <a:solidFill>
              <a:schemeClr val="lt1"/>
            </a:solidFill>
            <a:ln cap="flat" cmpd="sng" w="7650">
              <a:solidFill>
                <a:schemeClr val="dk1"/>
              </a:solidFill>
              <a:prstDash val="solid"/>
              <a:round/>
              <a:headEnd len="sm" w="sm" type="none"/>
              <a:tailEnd len="sm" w="sm" type="none"/>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latin typeface="Comfortaa"/>
                <a:ea typeface="Comfortaa"/>
                <a:cs typeface="Comfortaa"/>
                <a:sym typeface="Comfortaa"/>
              </a:endParaRPr>
            </a:p>
          </p:txBody>
        </p:sp>
        <p:sp>
          <p:nvSpPr>
            <p:cNvPr id="224" name="Google Shape;224;h3b987c62679a4f5d_0_730"/>
            <p:cNvSpPr/>
            <p:nvPr/>
          </p:nvSpPr>
          <p:spPr>
            <a:xfrm>
              <a:off x="3548600" y="3440675"/>
              <a:ext cx="96000" cy="96000"/>
            </a:xfrm>
            <a:prstGeom prst="ellipse">
              <a:avLst/>
            </a:prstGeom>
            <a:solidFill>
              <a:schemeClr val="lt1"/>
            </a:solidFill>
            <a:ln cap="flat" cmpd="sng" w="7650">
              <a:solidFill>
                <a:schemeClr val="dk1"/>
              </a:solidFill>
              <a:prstDash val="solid"/>
              <a:round/>
              <a:headEnd len="sm" w="sm" type="none"/>
              <a:tailEnd len="sm" w="sm" type="none"/>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latin typeface="Comfortaa"/>
                <a:ea typeface="Comfortaa"/>
                <a:cs typeface="Comfortaa"/>
                <a:sym typeface="Comfortaa"/>
              </a:endParaRPr>
            </a:p>
          </p:txBody>
        </p:sp>
      </p:grpSp>
      <p:sp>
        <p:nvSpPr>
          <p:cNvPr id="225" name="Google Shape;225;h3b987c62679a4f5d_0_730"/>
          <p:cNvSpPr txBox="1"/>
          <p:nvPr/>
        </p:nvSpPr>
        <p:spPr>
          <a:xfrm>
            <a:off x="3257480" y="2275715"/>
            <a:ext cx="361200" cy="4797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lang="pt-BR" sz="2897"/>
              <a:t>f</a:t>
            </a:r>
            <a:endParaRPr b="0" sz="2897" strike="noStrike">
              <a:latin typeface="Arial"/>
              <a:ea typeface="Arial"/>
              <a:cs typeface="Arial"/>
              <a:sym typeface="Arial"/>
            </a:endParaRPr>
          </a:p>
        </p:txBody>
      </p:sp>
      <p:sp>
        <p:nvSpPr>
          <p:cNvPr id="226" name="Google Shape;226;h3b987c62679a4f5d_0_730"/>
          <p:cNvSpPr txBox="1"/>
          <p:nvPr/>
        </p:nvSpPr>
        <p:spPr>
          <a:xfrm>
            <a:off x="3700758" y="2574692"/>
            <a:ext cx="738600" cy="2529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1" lang="pt-BR" sz="1287">
                <a:solidFill>
                  <a:srgbClr val="9900FF"/>
                </a:solidFill>
              </a:rPr>
              <a:t>output</a:t>
            </a:r>
            <a:endParaRPr b="1" sz="1287" strike="noStrike">
              <a:solidFill>
                <a:srgbClr val="9900FF"/>
              </a:solidFill>
            </a:endParaRPr>
          </a:p>
        </p:txBody>
      </p:sp>
      <p:sp>
        <p:nvSpPr>
          <p:cNvPr id="227" name="Google Shape;227;h3b987c62679a4f5d_0_730"/>
          <p:cNvSpPr txBox="1"/>
          <p:nvPr/>
        </p:nvSpPr>
        <p:spPr>
          <a:xfrm>
            <a:off x="128725" y="2795902"/>
            <a:ext cx="615000" cy="2526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lang="pt-BR" sz="1287"/>
              <a:t>inputs</a:t>
            </a:r>
            <a:endParaRPr b="0" sz="1287" strike="noStrike">
              <a:latin typeface="Arial"/>
              <a:ea typeface="Arial"/>
              <a:cs typeface="Arial"/>
              <a:sym typeface="Arial"/>
            </a:endParaRPr>
          </a:p>
        </p:txBody>
      </p:sp>
      <p:sp>
        <p:nvSpPr>
          <p:cNvPr id="228" name="Google Shape;228;h3b987c62679a4f5d_0_730"/>
          <p:cNvSpPr/>
          <p:nvPr/>
        </p:nvSpPr>
        <p:spPr>
          <a:xfrm>
            <a:off x="816999" y="1799000"/>
            <a:ext cx="299400" cy="2246400"/>
          </a:xfrm>
          <a:prstGeom prst="leftBrace">
            <a:avLst>
              <a:gd fmla="val 50000" name="adj1"/>
              <a:gd fmla="val 50000" name="adj2"/>
            </a:avLst>
          </a:prstGeom>
          <a:noFill/>
          <a:ln cap="flat" cmpd="sng" w="23000">
            <a:solidFill>
              <a:schemeClr val="dk1"/>
            </a:solidFill>
            <a:prstDash val="dash"/>
            <a:round/>
            <a:headEnd len="sm" w="sm" type="none"/>
            <a:tailEnd len="sm" w="sm" type="none"/>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latin typeface="Comfortaa"/>
              <a:ea typeface="Comfortaa"/>
              <a:cs typeface="Comfortaa"/>
              <a:sym typeface="Comfortaa"/>
            </a:endParaRPr>
          </a:p>
        </p:txBody>
      </p:sp>
      <p:sp>
        <p:nvSpPr>
          <p:cNvPr id="229" name="Google Shape;229;h3b987c62679a4f5d_0_730"/>
          <p:cNvSpPr txBox="1"/>
          <p:nvPr/>
        </p:nvSpPr>
        <p:spPr>
          <a:xfrm>
            <a:off x="2469164" y="3405613"/>
            <a:ext cx="788400" cy="4797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1" lang="pt-BR" sz="1287">
                <a:solidFill>
                  <a:srgbClr val="BF3730"/>
                </a:solidFill>
              </a:rPr>
              <a:t>linear</a:t>
            </a:r>
            <a:endParaRPr b="1" sz="1287">
              <a:solidFill>
                <a:srgbClr val="BF3730"/>
              </a:solidFill>
            </a:endParaRPr>
          </a:p>
          <a:p>
            <a:pPr indent="0" lvl="0" marL="0" marR="0" rtl="0" algn="l">
              <a:spcBef>
                <a:spcPts val="0"/>
              </a:spcBef>
              <a:spcAft>
                <a:spcPts val="0"/>
              </a:spcAft>
              <a:buNone/>
            </a:pPr>
            <a:r>
              <a:rPr b="1" lang="pt-BR" sz="1287">
                <a:solidFill>
                  <a:srgbClr val="BF3730"/>
                </a:solidFill>
              </a:rPr>
              <a:t>function</a:t>
            </a:r>
            <a:endParaRPr b="1" sz="1287">
              <a:solidFill>
                <a:srgbClr val="BF3730"/>
              </a:solidFill>
            </a:endParaRPr>
          </a:p>
        </p:txBody>
      </p:sp>
      <p:cxnSp>
        <p:nvCxnSpPr>
          <p:cNvPr id="230" name="Google Shape;230;h3b987c62679a4f5d_0_730"/>
          <p:cNvCxnSpPr>
            <a:stCxn id="229" idx="0"/>
            <a:endCxn id="216" idx="2"/>
          </p:cNvCxnSpPr>
          <p:nvPr/>
        </p:nvCxnSpPr>
        <p:spPr>
          <a:xfrm flipH="1" rot="10800000">
            <a:off x="2863364" y="2755513"/>
            <a:ext cx="125700" cy="650100"/>
          </a:xfrm>
          <a:prstGeom prst="straightConnector1">
            <a:avLst/>
          </a:prstGeom>
          <a:noFill/>
          <a:ln cap="flat" cmpd="sng" w="15325">
            <a:solidFill>
              <a:srgbClr val="000000"/>
            </a:solidFill>
            <a:prstDash val="dash"/>
            <a:round/>
            <a:headEnd len="sm" w="sm" type="none"/>
            <a:tailEnd len="med" w="med" type="triangle"/>
          </a:ln>
        </p:spPr>
      </p:cxnSp>
      <p:sp>
        <p:nvSpPr>
          <p:cNvPr id="231" name="Google Shape;231;h3b987c62679a4f5d_0_730"/>
          <p:cNvSpPr txBox="1"/>
          <p:nvPr/>
        </p:nvSpPr>
        <p:spPr>
          <a:xfrm>
            <a:off x="3416158" y="3405613"/>
            <a:ext cx="947700" cy="4797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1" lang="pt-BR" sz="1287">
                <a:solidFill>
                  <a:srgbClr val="0000FF"/>
                </a:solidFill>
              </a:rPr>
              <a:t>activation</a:t>
            </a:r>
            <a:endParaRPr b="1" sz="1287">
              <a:solidFill>
                <a:srgbClr val="0000FF"/>
              </a:solidFill>
            </a:endParaRPr>
          </a:p>
          <a:p>
            <a:pPr indent="0" lvl="0" marL="0" marR="0" rtl="0" algn="l">
              <a:spcBef>
                <a:spcPts val="0"/>
              </a:spcBef>
              <a:spcAft>
                <a:spcPts val="0"/>
              </a:spcAft>
              <a:buNone/>
            </a:pPr>
            <a:r>
              <a:rPr b="1" lang="pt-BR" sz="1287">
                <a:solidFill>
                  <a:srgbClr val="0000FF"/>
                </a:solidFill>
              </a:rPr>
              <a:t>function</a:t>
            </a:r>
            <a:endParaRPr b="1" sz="1287">
              <a:solidFill>
                <a:srgbClr val="0000FF"/>
              </a:solidFill>
            </a:endParaRPr>
          </a:p>
        </p:txBody>
      </p:sp>
      <p:cxnSp>
        <p:nvCxnSpPr>
          <p:cNvPr id="232" name="Google Shape;232;h3b987c62679a4f5d_0_730"/>
          <p:cNvCxnSpPr>
            <a:endCxn id="225" idx="2"/>
          </p:cNvCxnSpPr>
          <p:nvPr/>
        </p:nvCxnSpPr>
        <p:spPr>
          <a:xfrm rot="10800000">
            <a:off x="3438080" y="2755415"/>
            <a:ext cx="393000" cy="606300"/>
          </a:xfrm>
          <a:prstGeom prst="straightConnector1">
            <a:avLst/>
          </a:prstGeom>
          <a:noFill/>
          <a:ln cap="flat" cmpd="sng" w="15325">
            <a:solidFill>
              <a:srgbClr val="000000"/>
            </a:solidFill>
            <a:prstDash val="dash"/>
            <a:round/>
            <a:headEnd len="sm" w="sm" type="none"/>
            <a:tailEnd len="med" w="med" type="triangle"/>
          </a:ln>
        </p:spPr>
      </p:cxnSp>
      <p:sp>
        <p:nvSpPr>
          <p:cNvPr id="233" name="Google Shape;233;h3b987c62679a4f5d_0_730"/>
          <p:cNvSpPr txBox="1"/>
          <p:nvPr/>
        </p:nvSpPr>
        <p:spPr>
          <a:xfrm>
            <a:off x="4802725" y="2220575"/>
            <a:ext cx="1056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9900FF"/>
                </a:solidFill>
                <a:latin typeface="Comfortaa"/>
                <a:ea typeface="Comfortaa"/>
                <a:cs typeface="Comfortaa"/>
                <a:sym typeface="Comfortaa"/>
              </a:rPr>
              <a:t>output</a:t>
            </a:r>
            <a:endParaRPr b="1" sz="1800">
              <a:solidFill>
                <a:srgbClr val="9900FF"/>
              </a:solidFill>
              <a:latin typeface="Comfortaa"/>
              <a:ea typeface="Comfortaa"/>
              <a:cs typeface="Comfortaa"/>
              <a:sym typeface="Comfortaa"/>
            </a:endParaRPr>
          </a:p>
        </p:txBody>
      </p:sp>
      <p:cxnSp>
        <p:nvCxnSpPr>
          <p:cNvPr id="234" name="Google Shape;234;h3b987c62679a4f5d_0_730"/>
          <p:cNvCxnSpPr>
            <a:stCxn id="233" idx="2"/>
          </p:cNvCxnSpPr>
          <p:nvPr/>
        </p:nvCxnSpPr>
        <p:spPr>
          <a:xfrm>
            <a:off x="5331175" y="2682275"/>
            <a:ext cx="157500" cy="456900"/>
          </a:xfrm>
          <a:prstGeom prst="straightConnector1">
            <a:avLst/>
          </a:prstGeom>
          <a:noFill/>
          <a:ln cap="flat" cmpd="sng" w="38100">
            <a:solidFill>
              <a:srgbClr val="9900FF"/>
            </a:solidFill>
            <a:prstDash val="solid"/>
            <a:round/>
            <a:headEnd len="med" w="med" type="none"/>
            <a:tailEnd len="med" w="med" type="stealth"/>
          </a:ln>
        </p:spPr>
      </p:cxnSp>
      <p:sp>
        <p:nvSpPr>
          <p:cNvPr id="235" name="Google Shape;235;h3b987c62679a4f5d_0_730"/>
          <p:cNvSpPr txBox="1"/>
          <p:nvPr/>
        </p:nvSpPr>
        <p:spPr>
          <a:xfrm>
            <a:off x="6477625" y="1799000"/>
            <a:ext cx="25533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800">
                <a:solidFill>
                  <a:srgbClr val="CC0000"/>
                </a:solidFill>
                <a:latin typeface="Comfortaa"/>
                <a:ea typeface="Comfortaa"/>
                <a:cs typeface="Comfortaa"/>
                <a:sym typeface="Comfortaa"/>
              </a:rPr>
              <a:t>linear combination of inputs</a:t>
            </a:r>
            <a:endParaRPr b="1" sz="1800">
              <a:solidFill>
                <a:srgbClr val="CC0000"/>
              </a:solidFill>
              <a:latin typeface="Comfortaa"/>
              <a:ea typeface="Comfortaa"/>
              <a:cs typeface="Comfortaa"/>
              <a:sym typeface="Comfortaa"/>
            </a:endParaRPr>
          </a:p>
        </p:txBody>
      </p:sp>
      <p:cxnSp>
        <p:nvCxnSpPr>
          <p:cNvPr id="236" name="Google Shape;236;h3b987c62679a4f5d_0_730"/>
          <p:cNvCxnSpPr/>
          <p:nvPr/>
        </p:nvCxnSpPr>
        <p:spPr>
          <a:xfrm flipH="1">
            <a:off x="7078375" y="2450725"/>
            <a:ext cx="434400" cy="559200"/>
          </a:xfrm>
          <a:prstGeom prst="straightConnector1">
            <a:avLst/>
          </a:prstGeom>
          <a:noFill/>
          <a:ln cap="flat" cmpd="sng" w="38100">
            <a:solidFill>
              <a:srgbClr val="990000"/>
            </a:solidFill>
            <a:prstDash val="solid"/>
            <a:round/>
            <a:headEnd len="med" w="med" type="none"/>
            <a:tailEnd len="med" w="med" type="stealth"/>
          </a:ln>
        </p:spPr>
      </p:cxnSp>
      <p:sp>
        <p:nvSpPr>
          <p:cNvPr id="237" name="Google Shape;237;h3b987c62679a4f5d_0_730"/>
          <p:cNvSpPr txBox="1"/>
          <p:nvPr/>
        </p:nvSpPr>
        <p:spPr>
          <a:xfrm>
            <a:off x="4535000" y="4262425"/>
            <a:ext cx="25533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800">
                <a:solidFill>
                  <a:srgbClr val="0000FF"/>
                </a:solidFill>
                <a:latin typeface="Comfortaa"/>
                <a:ea typeface="Comfortaa"/>
                <a:cs typeface="Comfortaa"/>
                <a:sym typeface="Comfortaa"/>
              </a:rPr>
              <a:t>non-</a:t>
            </a:r>
            <a:r>
              <a:rPr b="1" lang="pt-BR" sz="1800">
                <a:solidFill>
                  <a:srgbClr val="0000FF"/>
                </a:solidFill>
                <a:latin typeface="Comfortaa"/>
                <a:ea typeface="Comfortaa"/>
                <a:cs typeface="Comfortaa"/>
                <a:sym typeface="Comfortaa"/>
              </a:rPr>
              <a:t>linear activation function</a:t>
            </a:r>
            <a:endParaRPr b="1" sz="1800">
              <a:solidFill>
                <a:srgbClr val="0000FF"/>
              </a:solidFill>
              <a:latin typeface="Comfortaa"/>
              <a:ea typeface="Comfortaa"/>
              <a:cs typeface="Comfortaa"/>
              <a:sym typeface="Comfortaa"/>
            </a:endParaRPr>
          </a:p>
        </p:txBody>
      </p:sp>
      <p:cxnSp>
        <p:nvCxnSpPr>
          <p:cNvPr id="238" name="Google Shape;238;h3b987c62679a4f5d_0_730"/>
          <p:cNvCxnSpPr>
            <a:stCxn id="237" idx="0"/>
          </p:cNvCxnSpPr>
          <p:nvPr/>
        </p:nvCxnSpPr>
        <p:spPr>
          <a:xfrm flipH="1" rot="10800000">
            <a:off x="5811650" y="3537025"/>
            <a:ext cx="177300" cy="725400"/>
          </a:xfrm>
          <a:prstGeom prst="straightConnector1">
            <a:avLst/>
          </a:prstGeom>
          <a:noFill/>
          <a:ln cap="flat" cmpd="sng" w="38100">
            <a:solidFill>
              <a:srgbClr val="0000FF"/>
            </a:solidFill>
            <a:prstDash val="solid"/>
            <a:round/>
            <a:headEnd len="med" w="med" type="none"/>
            <a:tailEnd len="med" w="med" type="stealth"/>
          </a:ln>
        </p:spPr>
      </p:cxnSp>
      <p:pic>
        <p:nvPicPr>
          <p:cNvPr id="239" name="Google Shape;239;h3b987c62679a4f5d_0_730"/>
          <p:cNvPicPr preferRelativeResize="0"/>
          <p:nvPr/>
        </p:nvPicPr>
        <p:blipFill>
          <a:blip r:embed="rId3">
            <a:alphaModFix/>
          </a:blip>
          <a:stretch>
            <a:fillRect/>
          </a:stretch>
        </p:blipFill>
        <p:spPr>
          <a:xfrm>
            <a:off x="5381523" y="2837626"/>
            <a:ext cx="2294884" cy="907925"/>
          </a:xfrm>
          <a:prstGeom prst="rect">
            <a:avLst/>
          </a:prstGeom>
          <a:noFill/>
          <a:ln>
            <a:noFill/>
          </a:ln>
        </p:spPr>
      </p:pic>
      <p:pic>
        <p:nvPicPr>
          <p:cNvPr id="240" name="Google Shape;240;h3b987c62679a4f5d_0_730"/>
          <p:cNvPicPr preferRelativeResize="0"/>
          <p:nvPr/>
        </p:nvPicPr>
        <p:blipFill>
          <a:blip r:embed="rId4">
            <a:alphaModFix/>
          </a:blip>
          <a:stretch>
            <a:fillRect/>
          </a:stretch>
        </p:blipFill>
        <p:spPr>
          <a:xfrm>
            <a:off x="8409025" y="150845"/>
            <a:ext cx="567030" cy="572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h3b987c62679a4f5d_0_782"/>
          <p:cNvSpPr txBox="1"/>
          <p:nvPr>
            <p:ph type="title"/>
          </p:nvPr>
        </p:nvSpPr>
        <p:spPr>
          <a:xfrm>
            <a:off x="311700" y="1138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Neural Network Unit</a:t>
            </a:r>
            <a:endParaRPr/>
          </a:p>
        </p:txBody>
      </p:sp>
      <p:sp>
        <p:nvSpPr>
          <p:cNvPr id="246" name="Google Shape;246;h3b987c62679a4f5d_0_782"/>
          <p:cNvSpPr/>
          <p:nvPr/>
        </p:nvSpPr>
        <p:spPr>
          <a:xfrm>
            <a:off x="1073412" y="1925876"/>
            <a:ext cx="525300" cy="525300"/>
          </a:xfrm>
          <a:prstGeom prst="ellipse">
            <a:avLst/>
          </a:prstGeom>
          <a:solidFill>
            <a:srgbClr val="FFFFFF"/>
          </a:solidFill>
          <a:ln cap="flat" cmpd="sng" w="27875">
            <a:solidFill>
              <a:srgbClr val="000000"/>
            </a:solidFill>
            <a:prstDash val="solid"/>
            <a:round/>
            <a:headEnd len="sm" w="sm" type="none"/>
            <a:tailEnd len="sm" w="sm" type="none"/>
          </a:ln>
        </p:spPr>
        <p:txBody>
          <a:bodyPr anchorCtr="0" anchor="ctr" bIns="46475" lIns="79350" spcFirstLastPara="1" rIns="79350" wrap="square" tIns="46475">
            <a:noAutofit/>
          </a:bodyPr>
          <a:lstStyle/>
          <a:p>
            <a:pPr indent="0" lvl="0" marL="0" marR="0" rtl="0" algn="ctr">
              <a:spcBef>
                <a:spcPts val="0"/>
              </a:spcBef>
              <a:spcAft>
                <a:spcPts val="0"/>
              </a:spcAft>
              <a:buNone/>
            </a:pPr>
            <a:r>
              <a:rPr lang="pt-BR" sz="1287"/>
              <a:t>x</a:t>
            </a:r>
            <a:r>
              <a:rPr b="0" baseline="-25000" lang="pt-BR" sz="1287" strike="noStrike">
                <a:latin typeface="Arial"/>
                <a:ea typeface="Arial"/>
                <a:cs typeface="Arial"/>
                <a:sym typeface="Arial"/>
              </a:rPr>
              <a:t>1</a:t>
            </a:r>
            <a:endParaRPr b="0" sz="1287" strike="noStrike">
              <a:latin typeface="Arial"/>
              <a:ea typeface="Arial"/>
              <a:cs typeface="Arial"/>
              <a:sym typeface="Arial"/>
            </a:endParaRPr>
          </a:p>
        </p:txBody>
      </p:sp>
      <p:sp>
        <p:nvSpPr>
          <p:cNvPr id="247" name="Google Shape;247;h3b987c62679a4f5d_0_782"/>
          <p:cNvSpPr/>
          <p:nvPr/>
        </p:nvSpPr>
        <p:spPr>
          <a:xfrm>
            <a:off x="1073432" y="2523440"/>
            <a:ext cx="525300" cy="525300"/>
          </a:xfrm>
          <a:prstGeom prst="ellipse">
            <a:avLst/>
          </a:prstGeom>
          <a:solidFill>
            <a:srgbClr val="FFFFFF"/>
          </a:solidFill>
          <a:ln cap="flat" cmpd="sng" w="27875">
            <a:solidFill>
              <a:srgbClr val="000000"/>
            </a:solidFill>
            <a:prstDash val="solid"/>
            <a:round/>
            <a:headEnd len="sm" w="sm" type="none"/>
            <a:tailEnd len="sm" w="sm" type="none"/>
          </a:ln>
        </p:spPr>
        <p:txBody>
          <a:bodyPr anchorCtr="0" anchor="ctr" bIns="46475" lIns="79350" spcFirstLastPara="1" rIns="79350" wrap="square" tIns="46475">
            <a:noAutofit/>
          </a:bodyPr>
          <a:lstStyle/>
          <a:p>
            <a:pPr indent="0" lvl="0" marL="0" marR="0" rtl="0" algn="ctr">
              <a:spcBef>
                <a:spcPts val="0"/>
              </a:spcBef>
              <a:spcAft>
                <a:spcPts val="0"/>
              </a:spcAft>
              <a:buNone/>
            </a:pPr>
            <a:r>
              <a:rPr lang="pt-BR" sz="1287"/>
              <a:t>x</a:t>
            </a:r>
            <a:r>
              <a:rPr b="0" baseline="-25000" lang="pt-BR" sz="1287" strike="noStrike">
                <a:latin typeface="Arial"/>
                <a:ea typeface="Arial"/>
                <a:cs typeface="Arial"/>
                <a:sym typeface="Arial"/>
              </a:rPr>
              <a:t>2</a:t>
            </a:r>
            <a:endParaRPr b="0" sz="1287" strike="noStrike">
              <a:latin typeface="Arial"/>
              <a:ea typeface="Arial"/>
              <a:cs typeface="Arial"/>
              <a:sym typeface="Arial"/>
            </a:endParaRPr>
          </a:p>
        </p:txBody>
      </p:sp>
      <p:sp>
        <p:nvSpPr>
          <p:cNvPr id="248" name="Google Shape;248;h3b987c62679a4f5d_0_782"/>
          <p:cNvSpPr/>
          <p:nvPr/>
        </p:nvSpPr>
        <p:spPr>
          <a:xfrm>
            <a:off x="1073432" y="3382681"/>
            <a:ext cx="525300" cy="525300"/>
          </a:xfrm>
          <a:prstGeom prst="ellipse">
            <a:avLst/>
          </a:prstGeom>
          <a:solidFill>
            <a:srgbClr val="FFFFFF"/>
          </a:solidFill>
          <a:ln cap="flat" cmpd="sng" w="27875">
            <a:solidFill>
              <a:srgbClr val="000000"/>
            </a:solidFill>
            <a:prstDash val="solid"/>
            <a:round/>
            <a:headEnd len="sm" w="sm" type="none"/>
            <a:tailEnd len="sm" w="sm" type="none"/>
          </a:ln>
        </p:spPr>
        <p:txBody>
          <a:bodyPr anchorCtr="0" anchor="ctr" bIns="46475" lIns="79350" spcFirstLastPara="1" rIns="79350" wrap="square" tIns="46475">
            <a:noAutofit/>
          </a:bodyPr>
          <a:lstStyle/>
          <a:p>
            <a:pPr indent="0" lvl="0" marL="0" marR="0" rtl="0" algn="ctr">
              <a:spcBef>
                <a:spcPts val="0"/>
              </a:spcBef>
              <a:spcAft>
                <a:spcPts val="0"/>
              </a:spcAft>
              <a:buNone/>
            </a:pPr>
            <a:r>
              <a:rPr lang="pt-BR" sz="1287"/>
              <a:t>x</a:t>
            </a:r>
            <a:r>
              <a:rPr baseline="-25000" lang="pt-BR" sz="1287"/>
              <a:t>n</a:t>
            </a:r>
            <a:endParaRPr b="0" sz="1287" strike="noStrike">
              <a:latin typeface="Arial"/>
              <a:ea typeface="Arial"/>
              <a:cs typeface="Arial"/>
              <a:sym typeface="Arial"/>
            </a:endParaRPr>
          </a:p>
        </p:txBody>
      </p:sp>
      <p:sp>
        <p:nvSpPr>
          <p:cNvPr id="249" name="Google Shape;249;h3b987c62679a4f5d_0_782"/>
          <p:cNvSpPr/>
          <p:nvPr/>
        </p:nvSpPr>
        <p:spPr>
          <a:xfrm>
            <a:off x="2649822" y="2003007"/>
            <a:ext cx="1050900" cy="1050900"/>
          </a:xfrm>
          <a:prstGeom prst="ellipse">
            <a:avLst/>
          </a:prstGeom>
          <a:solidFill>
            <a:srgbClr val="FFFFFF"/>
          </a:solidFill>
          <a:ln cap="flat" cmpd="sng" w="27875">
            <a:solidFill>
              <a:srgbClr val="000000"/>
            </a:solidFill>
            <a:prstDash val="solid"/>
            <a:round/>
            <a:headEnd len="sm" w="sm" type="none"/>
            <a:tailEnd len="sm" w="sm" type="none"/>
          </a:ln>
        </p:spPr>
        <p:txBody>
          <a:bodyPr anchorCtr="0" anchor="ctr" bIns="66750" lIns="66750" spcFirstLastPara="1" rIns="66750" wrap="square" tIns="66750">
            <a:noAutofit/>
          </a:bodyPr>
          <a:lstStyle/>
          <a:p>
            <a:pPr indent="0" lvl="0" marL="0" rtl="0" algn="l">
              <a:spcBef>
                <a:spcPts val="0"/>
              </a:spcBef>
              <a:spcAft>
                <a:spcPts val="0"/>
              </a:spcAft>
              <a:buNone/>
            </a:pPr>
            <a:r>
              <a:t/>
            </a:r>
            <a:endParaRPr/>
          </a:p>
        </p:txBody>
      </p:sp>
      <p:cxnSp>
        <p:nvCxnSpPr>
          <p:cNvPr id="250" name="Google Shape;250;h3b987c62679a4f5d_0_782"/>
          <p:cNvCxnSpPr>
            <a:stCxn id="246" idx="6"/>
          </p:cNvCxnSpPr>
          <p:nvPr/>
        </p:nvCxnSpPr>
        <p:spPr>
          <a:xfrm>
            <a:off x="1598712" y="2188526"/>
            <a:ext cx="1050900" cy="77400"/>
          </a:xfrm>
          <a:prstGeom prst="straightConnector1">
            <a:avLst/>
          </a:prstGeom>
          <a:noFill/>
          <a:ln cap="flat" cmpd="sng" w="21275">
            <a:solidFill>
              <a:srgbClr val="000000"/>
            </a:solidFill>
            <a:prstDash val="solid"/>
            <a:round/>
            <a:headEnd len="sm" w="sm" type="none"/>
            <a:tailEnd len="med" w="med" type="triangle"/>
          </a:ln>
        </p:spPr>
      </p:cxnSp>
      <p:cxnSp>
        <p:nvCxnSpPr>
          <p:cNvPr id="251" name="Google Shape;251;h3b987c62679a4f5d_0_782"/>
          <p:cNvCxnSpPr>
            <a:stCxn id="247" idx="6"/>
            <a:endCxn id="249" idx="2"/>
          </p:cNvCxnSpPr>
          <p:nvPr/>
        </p:nvCxnSpPr>
        <p:spPr>
          <a:xfrm flipH="1" rot="10800000">
            <a:off x="1598732" y="2528390"/>
            <a:ext cx="1051200" cy="257700"/>
          </a:xfrm>
          <a:prstGeom prst="straightConnector1">
            <a:avLst/>
          </a:prstGeom>
          <a:noFill/>
          <a:ln cap="flat" cmpd="sng" w="21275">
            <a:solidFill>
              <a:srgbClr val="000000"/>
            </a:solidFill>
            <a:prstDash val="solid"/>
            <a:round/>
            <a:headEnd len="sm" w="sm" type="none"/>
            <a:tailEnd len="med" w="med" type="triangle"/>
          </a:ln>
        </p:spPr>
      </p:cxnSp>
      <p:cxnSp>
        <p:nvCxnSpPr>
          <p:cNvPr id="252" name="Google Shape;252;h3b987c62679a4f5d_0_782"/>
          <p:cNvCxnSpPr>
            <a:stCxn id="248" idx="6"/>
          </p:cNvCxnSpPr>
          <p:nvPr/>
        </p:nvCxnSpPr>
        <p:spPr>
          <a:xfrm flipH="1" rot="10800000">
            <a:off x="1598732" y="2784631"/>
            <a:ext cx="1106700" cy="860700"/>
          </a:xfrm>
          <a:prstGeom prst="straightConnector1">
            <a:avLst/>
          </a:prstGeom>
          <a:noFill/>
          <a:ln cap="flat" cmpd="sng" w="21275">
            <a:solidFill>
              <a:srgbClr val="000000"/>
            </a:solidFill>
            <a:prstDash val="solid"/>
            <a:round/>
            <a:headEnd len="sm" w="sm" type="none"/>
            <a:tailEnd len="med" w="med" type="triangle"/>
          </a:ln>
        </p:spPr>
      </p:cxnSp>
      <p:cxnSp>
        <p:nvCxnSpPr>
          <p:cNvPr id="253" name="Google Shape;253;h3b987c62679a4f5d_0_782"/>
          <p:cNvCxnSpPr/>
          <p:nvPr/>
        </p:nvCxnSpPr>
        <p:spPr>
          <a:xfrm>
            <a:off x="3700749" y="2528456"/>
            <a:ext cx="788400" cy="0"/>
          </a:xfrm>
          <a:prstGeom prst="straightConnector1">
            <a:avLst/>
          </a:prstGeom>
          <a:noFill/>
          <a:ln cap="flat" cmpd="sng" w="21275">
            <a:solidFill>
              <a:srgbClr val="000000"/>
            </a:solidFill>
            <a:prstDash val="solid"/>
            <a:round/>
            <a:headEnd len="sm" w="sm" type="none"/>
            <a:tailEnd len="med" w="med" type="triangle"/>
          </a:ln>
        </p:spPr>
      </p:cxnSp>
      <p:cxnSp>
        <p:nvCxnSpPr>
          <p:cNvPr id="254" name="Google Shape;254;h3b987c62679a4f5d_0_782"/>
          <p:cNvCxnSpPr/>
          <p:nvPr/>
        </p:nvCxnSpPr>
        <p:spPr>
          <a:xfrm>
            <a:off x="3175285" y="2003007"/>
            <a:ext cx="0" cy="1050900"/>
          </a:xfrm>
          <a:prstGeom prst="straightConnector1">
            <a:avLst/>
          </a:prstGeom>
          <a:noFill/>
          <a:ln cap="flat" cmpd="sng" w="6925">
            <a:solidFill>
              <a:srgbClr val="000000"/>
            </a:solidFill>
            <a:prstDash val="solid"/>
            <a:round/>
            <a:headEnd len="sm" w="sm" type="none"/>
            <a:tailEnd len="sm" w="sm" type="none"/>
          </a:ln>
        </p:spPr>
      </p:cxnSp>
      <p:sp>
        <p:nvSpPr>
          <p:cNvPr id="255" name="Google Shape;255;h3b987c62679a4f5d_0_782"/>
          <p:cNvSpPr txBox="1"/>
          <p:nvPr/>
        </p:nvSpPr>
        <p:spPr>
          <a:xfrm>
            <a:off x="2808512" y="2275715"/>
            <a:ext cx="361200" cy="4797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lang="pt-BR" sz="2897"/>
              <a:t>Z</a:t>
            </a:r>
            <a:endParaRPr b="0" sz="2897" strike="noStrike">
              <a:latin typeface="Arial"/>
              <a:ea typeface="Arial"/>
              <a:cs typeface="Arial"/>
              <a:sym typeface="Arial"/>
            </a:endParaRPr>
          </a:p>
        </p:txBody>
      </p:sp>
      <p:sp>
        <p:nvSpPr>
          <p:cNvPr id="256" name="Google Shape;256;h3b987c62679a4f5d_0_782"/>
          <p:cNvSpPr txBox="1"/>
          <p:nvPr/>
        </p:nvSpPr>
        <p:spPr>
          <a:xfrm>
            <a:off x="1906151" y="1951915"/>
            <a:ext cx="305100" cy="2526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0" i="1" lang="pt-BR" sz="1287" strike="noStrike">
                <a:latin typeface="Arial"/>
                <a:ea typeface="Arial"/>
                <a:cs typeface="Arial"/>
                <a:sym typeface="Arial"/>
              </a:rPr>
              <a:t>w</a:t>
            </a:r>
            <a:r>
              <a:rPr b="0" baseline="-25000" i="1" lang="pt-BR" sz="1287" strike="noStrike">
                <a:latin typeface="Arial"/>
                <a:ea typeface="Arial"/>
                <a:cs typeface="Arial"/>
                <a:sym typeface="Arial"/>
              </a:rPr>
              <a:t>1</a:t>
            </a:r>
            <a:endParaRPr b="0" sz="1287" strike="noStrike">
              <a:latin typeface="Arial"/>
              <a:ea typeface="Arial"/>
              <a:cs typeface="Arial"/>
              <a:sym typeface="Arial"/>
            </a:endParaRPr>
          </a:p>
        </p:txBody>
      </p:sp>
      <p:sp>
        <p:nvSpPr>
          <p:cNvPr id="257" name="Google Shape;257;h3b987c62679a4f5d_0_782"/>
          <p:cNvSpPr txBox="1"/>
          <p:nvPr/>
        </p:nvSpPr>
        <p:spPr>
          <a:xfrm>
            <a:off x="1754499" y="2402198"/>
            <a:ext cx="305100" cy="2526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0" i="1" lang="pt-BR" sz="1287" strike="noStrike">
                <a:latin typeface="Arial"/>
                <a:ea typeface="Arial"/>
                <a:cs typeface="Arial"/>
                <a:sym typeface="Arial"/>
              </a:rPr>
              <a:t>w</a:t>
            </a:r>
            <a:r>
              <a:rPr b="0" baseline="-25000" i="1" lang="pt-BR" sz="1287" strike="noStrike">
                <a:latin typeface="Arial"/>
                <a:ea typeface="Arial"/>
                <a:cs typeface="Arial"/>
                <a:sym typeface="Arial"/>
              </a:rPr>
              <a:t>2</a:t>
            </a:r>
            <a:endParaRPr b="0" sz="1287" strike="noStrike">
              <a:latin typeface="Arial"/>
              <a:ea typeface="Arial"/>
              <a:cs typeface="Arial"/>
              <a:sym typeface="Arial"/>
            </a:endParaRPr>
          </a:p>
        </p:txBody>
      </p:sp>
      <p:sp>
        <p:nvSpPr>
          <p:cNvPr id="258" name="Google Shape;258;h3b987c62679a4f5d_0_782"/>
          <p:cNvSpPr txBox="1"/>
          <p:nvPr/>
        </p:nvSpPr>
        <p:spPr>
          <a:xfrm>
            <a:off x="1806957" y="3005924"/>
            <a:ext cx="305100" cy="2526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0" i="1" lang="pt-BR" sz="1287" strike="noStrike">
                <a:latin typeface="Arial"/>
                <a:ea typeface="Arial"/>
                <a:cs typeface="Arial"/>
                <a:sym typeface="Arial"/>
              </a:rPr>
              <a:t>w</a:t>
            </a:r>
            <a:r>
              <a:rPr baseline="-25000" i="1" lang="pt-BR" sz="1287"/>
              <a:t>n</a:t>
            </a:r>
            <a:endParaRPr b="0" sz="1287" strike="noStrike">
              <a:latin typeface="Arial"/>
              <a:ea typeface="Arial"/>
              <a:cs typeface="Arial"/>
              <a:sym typeface="Arial"/>
            </a:endParaRPr>
          </a:p>
        </p:txBody>
      </p:sp>
      <p:sp>
        <p:nvSpPr>
          <p:cNvPr id="259" name="Google Shape;259;h3b987c62679a4f5d_0_782"/>
          <p:cNvSpPr txBox="1"/>
          <p:nvPr/>
        </p:nvSpPr>
        <p:spPr>
          <a:xfrm>
            <a:off x="3900508" y="2229494"/>
            <a:ext cx="215700" cy="2526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lang="pt-BR" sz="1287"/>
              <a:t>y</a:t>
            </a:r>
            <a:endParaRPr b="0" sz="1287" strike="noStrike">
              <a:latin typeface="Arial"/>
              <a:ea typeface="Arial"/>
              <a:cs typeface="Arial"/>
              <a:sym typeface="Arial"/>
            </a:endParaRPr>
          </a:p>
        </p:txBody>
      </p:sp>
      <p:sp>
        <p:nvSpPr>
          <p:cNvPr id="260" name="Google Shape;260;h3b987c62679a4f5d_0_782"/>
          <p:cNvSpPr/>
          <p:nvPr/>
        </p:nvSpPr>
        <p:spPr>
          <a:xfrm>
            <a:off x="1073412" y="1328301"/>
            <a:ext cx="525300" cy="525300"/>
          </a:xfrm>
          <a:prstGeom prst="ellipse">
            <a:avLst/>
          </a:prstGeom>
          <a:solidFill>
            <a:srgbClr val="FFFFFF"/>
          </a:solidFill>
          <a:ln cap="flat" cmpd="sng" w="27875">
            <a:solidFill>
              <a:srgbClr val="000000"/>
            </a:solidFill>
            <a:prstDash val="solid"/>
            <a:round/>
            <a:headEnd len="sm" w="sm" type="none"/>
            <a:tailEnd len="sm" w="sm" type="none"/>
          </a:ln>
        </p:spPr>
        <p:txBody>
          <a:bodyPr anchorCtr="0" anchor="ctr" bIns="46475" lIns="79350" spcFirstLastPara="1" rIns="79350" wrap="square" tIns="46475">
            <a:noAutofit/>
          </a:bodyPr>
          <a:lstStyle/>
          <a:p>
            <a:pPr indent="0" lvl="0" marL="0" marR="0" rtl="0" algn="ctr">
              <a:spcBef>
                <a:spcPts val="0"/>
              </a:spcBef>
              <a:spcAft>
                <a:spcPts val="0"/>
              </a:spcAft>
              <a:buNone/>
            </a:pPr>
            <a:r>
              <a:t/>
            </a:r>
            <a:endParaRPr b="0" sz="1287" strike="noStrike">
              <a:latin typeface="Arial"/>
              <a:ea typeface="Arial"/>
              <a:cs typeface="Arial"/>
              <a:sym typeface="Arial"/>
            </a:endParaRPr>
          </a:p>
        </p:txBody>
      </p:sp>
      <p:sp>
        <p:nvSpPr>
          <p:cNvPr id="261" name="Google Shape;261;h3b987c62679a4f5d_0_782"/>
          <p:cNvSpPr txBox="1"/>
          <p:nvPr/>
        </p:nvSpPr>
        <p:spPr>
          <a:xfrm>
            <a:off x="1073425" y="1417600"/>
            <a:ext cx="525600" cy="346800"/>
          </a:xfrm>
          <a:prstGeom prst="rect">
            <a:avLst/>
          </a:prstGeom>
          <a:noFill/>
          <a:ln>
            <a:noFill/>
          </a:ln>
        </p:spPr>
        <p:txBody>
          <a:bodyPr anchorCtr="0" anchor="t" bIns="73550" lIns="73550" spcFirstLastPara="1" rIns="73550" wrap="square" tIns="73550">
            <a:spAutoFit/>
          </a:bodyPr>
          <a:lstStyle/>
          <a:p>
            <a:pPr indent="0" lvl="0" marL="0" rtl="0" algn="ctr">
              <a:spcBef>
                <a:spcPts val="0"/>
              </a:spcBef>
              <a:spcAft>
                <a:spcPts val="0"/>
              </a:spcAft>
              <a:buNone/>
            </a:pPr>
            <a:r>
              <a:rPr lang="pt-BR" sz="1287">
                <a:solidFill>
                  <a:schemeClr val="dk1"/>
                </a:solidFill>
              </a:rPr>
              <a:t>x</a:t>
            </a:r>
            <a:r>
              <a:rPr baseline="-25000" lang="pt-BR" sz="1287">
                <a:solidFill>
                  <a:schemeClr val="dk1"/>
                </a:solidFill>
              </a:rPr>
              <a:t>0</a:t>
            </a:r>
            <a:r>
              <a:rPr lang="pt-BR" sz="1287">
                <a:solidFill>
                  <a:schemeClr val="dk1"/>
                </a:solidFill>
              </a:rPr>
              <a:t>=1</a:t>
            </a:r>
            <a:endParaRPr sz="1287">
              <a:solidFill>
                <a:schemeClr val="dk1"/>
              </a:solidFill>
            </a:endParaRPr>
          </a:p>
        </p:txBody>
      </p:sp>
      <p:cxnSp>
        <p:nvCxnSpPr>
          <p:cNvPr id="262" name="Google Shape;262;h3b987c62679a4f5d_0_782"/>
          <p:cNvCxnSpPr>
            <a:stCxn id="261" idx="3"/>
            <a:endCxn id="249" idx="1"/>
          </p:cNvCxnSpPr>
          <p:nvPr/>
        </p:nvCxnSpPr>
        <p:spPr>
          <a:xfrm>
            <a:off x="1599025" y="1591000"/>
            <a:ext cx="1204800" cy="565800"/>
          </a:xfrm>
          <a:prstGeom prst="straightConnector1">
            <a:avLst/>
          </a:prstGeom>
          <a:noFill/>
          <a:ln cap="flat" cmpd="sng" w="21275">
            <a:solidFill>
              <a:srgbClr val="000000"/>
            </a:solidFill>
            <a:prstDash val="solid"/>
            <a:round/>
            <a:headEnd len="sm" w="sm" type="none"/>
            <a:tailEnd len="med" w="med" type="triangle"/>
          </a:ln>
        </p:spPr>
      </p:cxnSp>
      <p:grpSp>
        <p:nvGrpSpPr>
          <p:cNvPr id="263" name="Google Shape;263;h3b987c62679a4f5d_0_782"/>
          <p:cNvGrpSpPr/>
          <p:nvPr/>
        </p:nvGrpSpPr>
        <p:grpSpPr>
          <a:xfrm>
            <a:off x="1202933" y="3146300"/>
            <a:ext cx="299392" cy="77242"/>
            <a:chOff x="3272500" y="3440675"/>
            <a:chExt cx="372100" cy="96000"/>
          </a:xfrm>
        </p:grpSpPr>
        <p:sp>
          <p:nvSpPr>
            <p:cNvPr id="264" name="Google Shape;264;h3b987c62679a4f5d_0_782"/>
            <p:cNvSpPr/>
            <p:nvPr/>
          </p:nvSpPr>
          <p:spPr>
            <a:xfrm>
              <a:off x="3272500" y="3440675"/>
              <a:ext cx="96000" cy="96000"/>
            </a:xfrm>
            <a:prstGeom prst="ellipse">
              <a:avLst/>
            </a:prstGeom>
            <a:solidFill>
              <a:schemeClr val="lt1"/>
            </a:solidFill>
            <a:ln cap="flat" cmpd="sng" w="7650">
              <a:solidFill>
                <a:schemeClr val="dk1"/>
              </a:solidFill>
              <a:prstDash val="solid"/>
              <a:round/>
              <a:headEnd len="sm" w="sm" type="none"/>
              <a:tailEnd len="sm" w="sm" type="none"/>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latin typeface="Comfortaa"/>
                <a:ea typeface="Comfortaa"/>
                <a:cs typeface="Comfortaa"/>
                <a:sym typeface="Comfortaa"/>
              </a:endParaRPr>
            </a:p>
          </p:txBody>
        </p:sp>
        <p:sp>
          <p:nvSpPr>
            <p:cNvPr id="265" name="Google Shape;265;h3b987c62679a4f5d_0_782"/>
            <p:cNvSpPr/>
            <p:nvPr/>
          </p:nvSpPr>
          <p:spPr>
            <a:xfrm>
              <a:off x="3410550" y="3440675"/>
              <a:ext cx="96000" cy="96000"/>
            </a:xfrm>
            <a:prstGeom prst="ellipse">
              <a:avLst/>
            </a:prstGeom>
            <a:solidFill>
              <a:schemeClr val="lt1"/>
            </a:solidFill>
            <a:ln cap="flat" cmpd="sng" w="7650">
              <a:solidFill>
                <a:schemeClr val="dk1"/>
              </a:solidFill>
              <a:prstDash val="solid"/>
              <a:round/>
              <a:headEnd len="sm" w="sm" type="none"/>
              <a:tailEnd len="sm" w="sm" type="none"/>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latin typeface="Comfortaa"/>
                <a:ea typeface="Comfortaa"/>
                <a:cs typeface="Comfortaa"/>
                <a:sym typeface="Comfortaa"/>
              </a:endParaRPr>
            </a:p>
          </p:txBody>
        </p:sp>
        <p:sp>
          <p:nvSpPr>
            <p:cNvPr id="266" name="Google Shape;266;h3b987c62679a4f5d_0_782"/>
            <p:cNvSpPr/>
            <p:nvPr/>
          </p:nvSpPr>
          <p:spPr>
            <a:xfrm>
              <a:off x="3548600" y="3440675"/>
              <a:ext cx="96000" cy="96000"/>
            </a:xfrm>
            <a:prstGeom prst="ellipse">
              <a:avLst/>
            </a:prstGeom>
            <a:solidFill>
              <a:schemeClr val="lt1"/>
            </a:solidFill>
            <a:ln cap="flat" cmpd="sng" w="7650">
              <a:solidFill>
                <a:schemeClr val="dk1"/>
              </a:solidFill>
              <a:prstDash val="solid"/>
              <a:round/>
              <a:headEnd len="sm" w="sm" type="none"/>
              <a:tailEnd len="sm" w="sm" type="none"/>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latin typeface="Comfortaa"/>
                <a:ea typeface="Comfortaa"/>
                <a:cs typeface="Comfortaa"/>
                <a:sym typeface="Comfortaa"/>
              </a:endParaRPr>
            </a:p>
          </p:txBody>
        </p:sp>
      </p:grpSp>
      <p:sp>
        <p:nvSpPr>
          <p:cNvPr id="267" name="Google Shape;267;h3b987c62679a4f5d_0_782"/>
          <p:cNvSpPr txBox="1"/>
          <p:nvPr/>
        </p:nvSpPr>
        <p:spPr>
          <a:xfrm>
            <a:off x="3257480" y="2275715"/>
            <a:ext cx="361200" cy="4797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lang="pt-BR" sz="2897"/>
              <a:t>f</a:t>
            </a:r>
            <a:endParaRPr b="0" sz="2897" strike="noStrike">
              <a:latin typeface="Arial"/>
              <a:ea typeface="Arial"/>
              <a:cs typeface="Arial"/>
              <a:sym typeface="Arial"/>
            </a:endParaRPr>
          </a:p>
        </p:txBody>
      </p:sp>
      <p:sp>
        <p:nvSpPr>
          <p:cNvPr id="268" name="Google Shape;268;h3b987c62679a4f5d_0_782"/>
          <p:cNvSpPr txBox="1"/>
          <p:nvPr/>
        </p:nvSpPr>
        <p:spPr>
          <a:xfrm>
            <a:off x="3700758" y="2574692"/>
            <a:ext cx="738600" cy="2529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1" lang="pt-BR" sz="1287">
                <a:solidFill>
                  <a:srgbClr val="9900FF"/>
                </a:solidFill>
              </a:rPr>
              <a:t>output</a:t>
            </a:r>
            <a:endParaRPr b="1" sz="1287" strike="noStrike">
              <a:solidFill>
                <a:srgbClr val="9900FF"/>
              </a:solidFill>
            </a:endParaRPr>
          </a:p>
        </p:txBody>
      </p:sp>
      <p:sp>
        <p:nvSpPr>
          <p:cNvPr id="269" name="Google Shape;269;h3b987c62679a4f5d_0_782"/>
          <p:cNvSpPr txBox="1"/>
          <p:nvPr/>
        </p:nvSpPr>
        <p:spPr>
          <a:xfrm>
            <a:off x="156700" y="2587727"/>
            <a:ext cx="615000" cy="2526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lang="pt-BR" sz="1287"/>
              <a:t>inputs</a:t>
            </a:r>
            <a:endParaRPr b="0" sz="1287" strike="noStrike">
              <a:latin typeface="Arial"/>
              <a:ea typeface="Arial"/>
              <a:cs typeface="Arial"/>
              <a:sym typeface="Arial"/>
            </a:endParaRPr>
          </a:p>
        </p:txBody>
      </p:sp>
      <p:sp>
        <p:nvSpPr>
          <p:cNvPr id="270" name="Google Shape;270;h3b987c62679a4f5d_0_782"/>
          <p:cNvSpPr/>
          <p:nvPr/>
        </p:nvSpPr>
        <p:spPr>
          <a:xfrm>
            <a:off x="816990" y="1356975"/>
            <a:ext cx="299400" cy="2688300"/>
          </a:xfrm>
          <a:prstGeom prst="leftBrace">
            <a:avLst>
              <a:gd fmla="val 50000" name="adj1"/>
              <a:gd fmla="val 50000" name="adj2"/>
            </a:avLst>
          </a:prstGeom>
          <a:noFill/>
          <a:ln cap="flat" cmpd="sng" w="23000">
            <a:solidFill>
              <a:schemeClr val="dk1"/>
            </a:solidFill>
            <a:prstDash val="dash"/>
            <a:round/>
            <a:headEnd len="sm" w="sm" type="none"/>
            <a:tailEnd len="sm" w="sm" type="none"/>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latin typeface="Comfortaa"/>
              <a:ea typeface="Comfortaa"/>
              <a:cs typeface="Comfortaa"/>
              <a:sym typeface="Comfortaa"/>
            </a:endParaRPr>
          </a:p>
        </p:txBody>
      </p:sp>
      <p:sp>
        <p:nvSpPr>
          <p:cNvPr id="271" name="Google Shape;271;h3b987c62679a4f5d_0_782"/>
          <p:cNvSpPr txBox="1"/>
          <p:nvPr/>
        </p:nvSpPr>
        <p:spPr>
          <a:xfrm>
            <a:off x="2469164" y="3405613"/>
            <a:ext cx="788400" cy="4797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1" lang="pt-BR" sz="1287">
                <a:solidFill>
                  <a:srgbClr val="BF3730"/>
                </a:solidFill>
              </a:rPr>
              <a:t>linear</a:t>
            </a:r>
            <a:endParaRPr b="1" sz="1287">
              <a:solidFill>
                <a:srgbClr val="BF3730"/>
              </a:solidFill>
            </a:endParaRPr>
          </a:p>
          <a:p>
            <a:pPr indent="0" lvl="0" marL="0" marR="0" rtl="0" algn="l">
              <a:spcBef>
                <a:spcPts val="0"/>
              </a:spcBef>
              <a:spcAft>
                <a:spcPts val="0"/>
              </a:spcAft>
              <a:buNone/>
            </a:pPr>
            <a:r>
              <a:rPr b="1" lang="pt-BR" sz="1287">
                <a:solidFill>
                  <a:srgbClr val="BF3730"/>
                </a:solidFill>
              </a:rPr>
              <a:t>function</a:t>
            </a:r>
            <a:endParaRPr b="1" sz="1287">
              <a:solidFill>
                <a:srgbClr val="BF3730"/>
              </a:solidFill>
            </a:endParaRPr>
          </a:p>
        </p:txBody>
      </p:sp>
      <p:cxnSp>
        <p:nvCxnSpPr>
          <p:cNvPr id="272" name="Google Shape;272;h3b987c62679a4f5d_0_782"/>
          <p:cNvCxnSpPr>
            <a:stCxn id="271" idx="0"/>
            <a:endCxn id="255" idx="2"/>
          </p:cNvCxnSpPr>
          <p:nvPr/>
        </p:nvCxnSpPr>
        <p:spPr>
          <a:xfrm flipH="1" rot="10800000">
            <a:off x="2863364" y="2755513"/>
            <a:ext cx="125700" cy="650100"/>
          </a:xfrm>
          <a:prstGeom prst="straightConnector1">
            <a:avLst/>
          </a:prstGeom>
          <a:noFill/>
          <a:ln cap="flat" cmpd="sng" w="15325">
            <a:solidFill>
              <a:srgbClr val="000000"/>
            </a:solidFill>
            <a:prstDash val="dash"/>
            <a:round/>
            <a:headEnd len="sm" w="sm" type="none"/>
            <a:tailEnd len="med" w="med" type="triangle"/>
          </a:ln>
        </p:spPr>
      </p:cxnSp>
      <p:sp>
        <p:nvSpPr>
          <p:cNvPr id="273" name="Google Shape;273;h3b987c62679a4f5d_0_782"/>
          <p:cNvSpPr txBox="1"/>
          <p:nvPr/>
        </p:nvSpPr>
        <p:spPr>
          <a:xfrm>
            <a:off x="3416158" y="3405613"/>
            <a:ext cx="947700" cy="4797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1" lang="pt-BR" sz="1287">
                <a:solidFill>
                  <a:srgbClr val="0000FF"/>
                </a:solidFill>
              </a:rPr>
              <a:t>activation</a:t>
            </a:r>
            <a:endParaRPr b="1" sz="1287">
              <a:solidFill>
                <a:srgbClr val="0000FF"/>
              </a:solidFill>
            </a:endParaRPr>
          </a:p>
          <a:p>
            <a:pPr indent="0" lvl="0" marL="0" marR="0" rtl="0" algn="l">
              <a:spcBef>
                <a:spcPts val="0"/>
              </a:spcBef>
              <a:spcAft>
                <a:spcPts val="0"/>
              </a:spcAft>
              <a:buNone/>
            </a:pPr>
            <a:r>
              <a:rPr b="1" lang="pt-BR" sz="1287">
                <a:solidFill>
                  <a:srgbClr val="0000FF"/>
                </a:solidFill>
              </a:rPr>
              <a:t>function</a:t>
            </a:r>
            <a:endParaRPr b="1" sz="1287">
              <a:solidFill>
                <a:srgbClr val="0000FF"/>
              </a:solidFill>
            </a:endParaRPr>
          </a:p>
        </p:txBody>
      </p:sp>
      <p:cxnSp>
        <p:nvCxnSpPr>
          <p:cNvPr id="274" name="Google Shape;274;h3b987c62679a4f5d_0_782"/>
          <p:cNvCxnSpPr>
            <a:endCxn id="267" idx="2"/>
          </p:cNvCxnSpPr>
          <p:nvPr/>
        </p:nvCxnSpPr>
        <p:spPr>
          <a:xfrm rot="10800000">
            <a:off x="3438080" y="2755415"/>
            <a:ext cx="393000" cy="606300"/>
          </a:xfrm>
          <a:prstGeom prst="straightConnector1">
            <a:avLst/>
          </a:prstGeom>
          <a:noFill/>
          <a:ln cap="flat" cmpd="sng" w="15325">
            <a:solidFill>
              <a:srgbClr val="000000"/>
            </a:solidFill>
            <a:prstDash val="dash"/>
            <a:round/>
            <a:headEnd len="sm" w="sm" type="none"/>
            <a:tailEnd len="med" w="med" type="triangle"/>
          </a:ln>
        </p:spPr>
      </p:cxnSp>
      <p:pic>
        <p:nvPicPr>
          <p:cNvPr id="275" name="Google Shape;275;h3b987c62679a4f5d_0_782"/>
          <p:cNvPicPr preferRelativeResize="0"/>
          <p:nvPr/>
        </p:nvPicPr>
        <p:blipFill>
          <a:blip r:embed="rId3">
            <a:alphaModFix/>
          </a:blip>
          <a:stretch>
            <a:fillRect/>
          </a:stretch>
        </p:blipFill>
        <p:spPr>
          <a:xfrm>
            <a:off x="5381523" y="2854525"/>
            <a:ext cx="3016884" cy="907925"/>
          </a:xfrm>
          <a:prstGeom prst="rect">
            <a:avLst/>
          </a:prstGeom>
          <a:noFill/>
          <a:ln>
            <a:noFill/>
          </a:ln>
        </p:spPr>
      </p:pic>
      <p:sp>
        <p:nvSpPr>
          <p:cNvPr id="276" name="Google Shape;276;h3b987c62679a4f5d_0_782"/>
          <p:cNvSpPr txBox="1"/>
          <p:nvPr/>
        </p:nvSpPr>
        <p:spPr>
          <a:xfrm>
            <a:off x="4802725" y="2220575"/>
            <a:ext cx="1056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9900FF"/>
                </a:solidFill>
                <a:latin typeface="Comfortaa"/>
                <a:ea typeface="Comfortaa"/>
                <a:cs typeface="Comfortaa"/>
                <a:sym typeface="Comfortaa"/>
              </a:rPr>
              <a:t>output</a:t>
            </a:r>
            <a:endParaRPr b="1" sz="1800">
              <a:solidFill>
                <a:srgbClr val="9900FF"/>
              </a:solidFill>
              <a:latin typeface="Comfortaa"/>
              <a:ea typeface="Comfortaa"/>
              <a:cs typeface="Comfortaa"/>
              <a:sym typeface="Comfortaa"/>
            </a:endParaRPr>
          </a:p>
        </p:txBody>
      </p:sp>
      <p:cxnSp>
        <p:nvCxnSpPr>
          <p:cNvPr id="277" name="Google Shape;277;h3b987c62679a4f5d_0_782"/>
          <p:cNvCxnSpPr>
            <a:stCxn id="276" idx="2"/>
          </p:cNvCxnSpPr>
          <p:nvPr/>
        </p:nvCxnSpPr>
        <p:spPr>
          <a:xfrm>
            <a:off x="5331175" y="2682275"/>
            <a:ext cx="157500" cy="456900"/>
          </a:xfrm>
          <a:prstGeom prst="straightConnector1">
            <a:avLst/>
          </a:prstGeom>
          <a:noFill/>
          <a:ln cap="flat" cmpd="sng" w="38100">
            <a:solidFill>
              <a:srgbClr val="9900FF"/>
            </a:solidFill>
            <a:prstDash val="solid"/>
            <a:round/>
            <a:headEnd len="med" w="med" type="none"/>
            <a:tailEnd len="med" w="med" type="stealth"/>
          </a:ln>
        </p:spPr>
      </p:cxnSp>
      <p:sp>
        <p:nvSpPr>
          <p:cNvPr id="278" name="Google Shape;278;h3b987c62679a4f5d_0_782"/>
          <p:cNvSpPr txBox="1"/>
          <p:nvPr/>
        </p:nvSpPr>
        <p:spPr>
          <a:xfrm>
            <a:off x="6477625" y="1799000"/>
            <a:ext cx="25533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800">
                <a:solidFill>
                  <a:srgbClr val="CC0000"/>
                </a:solidFill>
                <a:latin typeface="Comfortaa"/>
                <a:ea typeface="Comfortaa"/>
                <a:cs typeface="Comfortaa"/>
                <a:sym typeface="Comfortaa"/>
              </a:rPr>
              <a:t>linear combination of inputs</a:t>
            </a:r>
            <a:endParaRPr b="1" sz="1800">
              <a:solidFill>
                <a:srgbClr val="CC0000"/>
              </a:solidFill>
              <a:latin typeface="Comfortaa"/>
              <a:ea typeface="Comfortaa"/>
              <a:cs typeface="Comfortaa"/>
              <a:sym typeface="Comfortaa"/>
            </a:endParaRPr>
          </a:p>
        </p:txBody>
      </p:sp>
      <p:cxnSp>
        <p:nvCxnSpPr>
          <p:cNvPr id="279" name="Google Shape;279;h3b987c62679a4f5d_0_782"/>
          <p:cNvCxnSpPr/>
          <p:nvPr/>
        </p:nvCxnSpPr>
        <p:spPr>
          <a:xfrm flipH="1">
            <a:off x="7508575" y="2450725"/>
            <a:ext cx="4200" cy="418800"/>
          </a:xfrm>
          <a:prstGeom prst="straightConnector1">
            <a:avLst/>
          </a:prstGeom>
          <a:noFill/>
          <a:ln cap="flat" cmpd="sng" w="38100">
            <a:solidFill>
              <a:srgbClr val="990000"/>
            </a:solidFill>
            <a:prstDash val="solid"/>
            <a:round/>
            <a:headEnd len="med" w="med" type="none"/>
            <a:tailEnd len="med" w="med" type="stealth"/>
          </a:ln>
        </p:spPr>
      </p:cxnSp>
      <p:sp>
        <p:nvSpPr>
          <p:cNvPr id="280" name="Google Shape;280;h3b987c62679a4f5d_0_782"/>
          <p:cNvSpPr txBox="1"/>
          <p:nvPr/>
        </p:nvSpPr>
        <p:spPr>
          <a:xfrm>
            <a:off x="4535000" y="4262425"/>
            <a:ext cx="25533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1800">
                <a:solidFill>
                  <a:srgbClr val="0000FF"/>
                </a:solidFill>
                <a:latin typeface="Comfortaa"/>
                <a:ea typeface="Comfortaa"/>
                <a:cs typeface="Comfortaa"/>
                <a:sym typeface="Comfortaa"/>
              </a:rPr>
              <a:t>non-linear activation function</a:t>
            </a:r>
            <a:endParaRPr b="1" sz="1800">
              <a:solidFill>
                <a:srgbClr val="0000FF"/>
              </a:solidFill>
              <a:latin typeface="Comfortaa"/>
              <a:ea typeface="Comfortaa"/>
              <a:cs typeface="Comfortaa"/>
              <a:sym typeface="Comfortaa"/>
            </a:endParaRPr>
          </a:p>
        </p:txBody>
      </p:sp>
      <p:cxnSp>
        <p:nvCxnSpPr>
          <p:cNvPr id="281" name="Google Shape;281;h3b987c62679a4f5d_0_782"/>
          <p:cNvCxnSpPr>
            <a:stCxn id="280" idx="0"/>
          </p:cNvCxnSpPr>
          <p:nvPr/>
        </p:nvCxnSpPr>
        <p:spPr>
          <a:xfrm flipH="1" rot="10800000">
            <a:off x="5811650" y="3537025"/>
            <a:ext cx="177300" cy="725400"/>
          </a:xfrm>
          <a:prstGeom prst="straightConnector1">
            <a:avLst/>
          </a:prstGeom>
          <a:noFill/>
          <a:ln cap="flat" cmpd="sng" w="38100">
            <a:solidFill>
              <a:srgbClr val="0000FF"/>
            </a:solidFill>
            <a:prstDash val="solid"/>
            <a:round/>
            <a:headEnd len="med" w="med" type="none"/>
            <a:tailEnd len="med" w="med" type="stealth"/>
          </a:ln>
        </p:spPr>
      </p:cxnSp>
      <p:sp>
        <p:nvSpPr>
          <p:cNvPr id="282" name="Google Shape;282;h3b987c62679a4f5d_0_782"/>
          <p:cNvSpPr txBox="1"/>
          <p:nvPr/>
        </p:nvSpPr>
        <p:spPr>
          <a:xfrm>
            <a:off x="7122175" y="4045275"/>
            <a:ext cx="738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7A348"/>
                </a:solidFill>
                <a:latin typeface="Comfortaa"/>
                <a:ea typeface="Comfortaa"/>
                <a:cs typeface="Comfortaa"/>
                <a:sym typeface="Comfortaa"/>
              </a:rPr>
              <a:t>bias</a:t>
            </a:r>
            <a:endParaRPr b="1" sz="1800">
              <a:solidFill>
                <a:srgbClr val="07A348"/>
              </a:solidFill>
              <a:latin typeface="Comfortaa"/>
              <a:ea typeface="Comfortaa"/>
              <a:cs typeface="Comfortaa"/>
              <a:sym typeface="Comfortaa"/>
            </a:endParaRPr>
          </a:p>
        </p:txBody>
      </p:sp>
      <p:cxnSp>
        <p:nvCxnSpPr>
          <p:cNvPr id="283" name="Google Shape;283;h3b987c62679a4f5d_0_782"/>
          <p:cNvCxnSpPr/>
          <p:nvPr/>
        </p:nvCxnSpPr>
        <p:spPr>
          <a:xfrm rot="10800000">
            <a:off x="6679500" y="3480625"/>
            <a:ext cx="507300" cy="591900"/>
          </a:xfrm>
          <a:prstGeom prst="straightConnector1">
            <a:avLst/>
          </a:prstGeom>
          <a:noFill/>
          <a:ln cap="flat" cmpd="sng" w="38100">
            <a:solidFill>
              <a:srgbClr val="07A348"/>
            </a:solidFill>
            <a:prstDash val="solid"/>
            <a:round/>
            <a:headEnd len="med" w="med" type="none"/>
            <a:tailEnd len="med" w="med" type="stealth"/>
          </a:ln>
        </p:spPr>
      </p:cxnSp>
      <p:sp>
        <p:nvSpPr>
          <p:cNvPr id="284" name="Google Shape;284;h3b987c62679a4f5d_0_782"/>
          <p:cNvSpPr txBox="1"/>
          <p:nvPr/>
        </p:nvSpPr>
        <p:spPr>
          <a:xfrm>
            <a:off x="1999526" y="1501640"/>
            <a:ext cx="305100" cy="2526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0" i="1" lang="pt-BR" sz="1287" strike="noStrike">
                <a:latin typeface="Arial"/>
                <a:ea typeface="Arial"/>
                <a:cs typeface="Arial"/>
                <a:sym typeface="Arial"/>
              </a:rPr>
              <a:t>w</a:t>
            </a:r>
            <a:r>
              <a:rPr baseline="-25000" i="1" lang="pt-BR" sz="1287"/>
              <a:t>0</a:t>
            </a:r>
            <a:endParaRPr b="0" sz="1287" strike="noStrike">
              <a:latin typeface="Arial"/>
              <a:ea typeface="Arial"/>
              <a:cs typeface="Arial"/>
              <a:sym typeface="Arial"/>
            </a:endParaRPr>
          </a:p>
        </p:txBody>
      </p:sp>
      <p:sp>
        <p:nvSpPr>
          <p:cNvPr id="285" name="Google Shape;285;h3b987c62679a4f5d_0_782"/>
          <p:cNvSpPr txBox="1"/>
          <p:nvPr/>
        </p:nvSpPr>
        <p:spPr>
          <a:xfrm>
            <a:off x="2211250" y="1354700"/>
            <a:ext cx="507300" cy="252600"/>
          </a:xfrm>
          <a:prstGeom prst="rect">
            <a:avLst/>
          </a:prstGeom>
          <a:noFill/>
          <a:ln>
            <a:noFill/>
          </a:ln>
        </p:spPr>
        <p:txBody>
          <a:bodyPr anchorCtr="0" anchor="t" bIns="32850" lIns="65700" spcFirstLastPara="1" rIns="65700" wrap="square" tIns="32850">
            <a:noAutofit/>
          </a:bodyPr>
          <a:lstStyle/>
          <a:p>
            <a:pPr indent="0" lvl="0" marL="0" marR="0" rtl="0" algn="l">
              <a:spcBef>
                <a:spcPts val="0"/>
              </a:spcBef>
              <a:spcAft>
                <a:spcPts val="0"/>
              </a:spcAft>
              <a:buNone/>
            </a:pPr>
            <a:r>
              <a:rPr b="1" lang="pt-BR" sz="1287">
                <a:solidFill>
                  <a:srgbClr val="07A348"/>
                </a:solidFill>
              </a:rPr>
              <a:t>bias</a:t>
            </a:r>
            <a:endParaRPr b="1" sz="1287" strike="noStrike">
              <a:solidFill>
                <a:srgbClr val="07A348"/>
              </a:solidFill>
            </a:endParaRPr>
          </a:p>
        </p:txBody>
      </p:sp>
      <p:pic>
        <p:nvPicPr>
          <p:cNvPr id="286" name="Google Shape;286;h3b987c62679a4f5d_0_782"/>
          <p:cNvPicPr preferRelativeResize="0"/>
          <p:nvPr/>
        </p:nvPicPr>
        <p:blipFill>
          <a:blip r:embed="rId4">
            <a:alphaModFix/>
          </a:blip>
          <a:stretch>
            <a:fillRect/>
          </a:stretch>
        </p:blipFill>
        <p:spPr>
          <a:xfrm>
            <a:off x="8409025" y="150845"/>
            <a:ext cx="567030" cy="572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h3b987c62679a4f5d_0_117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Zombie Logistic Regression</a:t>
            </a:r>
            <a:endParaRPr/>
          </a:p>
        </p:txBody>
      </p:sp>
      <p:sp>
        <p:nvSpPr>
          <p:cNvPr id="292" name="Google Shape;292;h3b987c62679a4f5d_0_1176"/>
          <p:cNvSpPr txBox="1"/>
          <p:nvPr/>
        </p:nvSpPr>
        <p:spPr>
          <a:xfrm>
            <a:off x="476375" y="1830400"/>
            <a:ext cx="3113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600"/>
              </a:spcAft>
              <a:buClr>
                <a:srgbClr val="000000"/>
              </a:buClr>
              <a:buSzPts val="1800"/>
              <a:buFont typeface="Arial"/>
              <a:buNone/>
            </a:pPr>
            <a:r>
              <a:rPr b="1" i="0" lang="pt-BR" sz="1800" u="none" cap="none" strike="noStrike">
                <a:solidFill>
                  <a:schemeClr val="dk1"/>
                </a:solidFill>
                <a:latin typeface="Arial"/>
                <a:ea typeface="Arial"/>
                <a:cs typeface="Arial"/>
                <a:sym typeface="Arial"/>
              </a:rPr>
              <a:t>GBC</a:t>
            </a:r>
            <a:r>
              <a:rPr b="0" i="0" lang="pt-BR" sz="1800" u="none" cap="none" strike="noStrike">
                <a:solidFill>
                  <a:schemeClr val="dk2"/>
                </a:solidFill>
                <a:latin typeface="Arial"/>
                <a:ea typeface="Arial"/>
                <a:cs typeface="Arial"/>
                <a:sym typeface="Arial"/>
              </a:rPr>
              <a:t> - Green Blood Cells</a:t>
            </a:r>
            <a:endParaRPr b="0" i="0" sz="1400" u="none" cap="none" strike="noStrike">
              <a:solidFill>
                <a:srgbClr val="000000"/>
              </a:solidFill>
              <a:latin typeface="Arial"/>
              <a:ea typeface="Arial"/>
              <a:cs typeface="Arial"/>
              <a:sym typeface="Arial"/>
            </a:endParaRPr>
          </a:p>
        </p:txBody>
      </p:sp>
      <p:pic>
        <p:nvPicPr>
          <p:cNvPr id="293" name="Google Shape;293;h3b987c62679a4f5d_0_1176"/>
          <p:cNvPicPr preferRelativeResize="0"/>
          <p:nvPr/>
        </p:nvPicPr>
        <p:blipFill rotWithShape="1">
          <a:blip r:embed="rId3">
            <a:alphaModFix/>
          </a:blip>
          <a:srcRect b="0" l="0" r="0" t="0"/>
          <a:stretch/>
        </p:blipFill>
        <p:spPr>
          <a:xfrm>
            <a:off x="1391475" y="2292092"/>
            <a:ext cx="1039100" cy="530382"/>
          </a:xfrm>
          <a:prstGeom prst="rect">
            <a:avLst/>
          </a:prstGeom>
          <a:noFill/>
          <a:ln>
            <a:noFill/>
          </a:ln>
        </p:spPr>
      </p:pic>
      <p:pic>
        <p:nvPicPr>
          <p:cNvPr id="294" name="Google Shape;294;h3b987c62679a4f5d_0_1176"/>
          <p:cNvPicPr preferRelativeResize="0"/>
          <p:nvPr/>
        </p:nvPicPr>
        <p:blipFill>
          <a:blip r:embed="rId4">
            <a:alphaModFix/>
          </a:blip>
          <a:stretch>
            <a:fillRect/>
          </a:stretch>
        </p:blipFill>
        <p:spPr>
          <a:xfrm>
            <a:off x="3742475" y="1170125"/>
            <a:ext cx="4419041" cy="3820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h4f8be8f1b2c30ea5_0_0"/>
          <p:cNvSpPr/>
          <p:nvPr/>
        </p:nvSpPr>
        <p:spPr>
          <a:xfrm>
            <a:off x="5314700" y="656342"/>
            <a:ext cx="3089700" cy="11205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pic>
        <p:nvPicPr>
          <p:cNvPr id="300" name="Google Shape;300;h4f8be8f1b2c30ea5_0_0"/>
          <p:cNvPicPr preferRelativeResize="0"/>
          <p:nvPr/>
        </p:nvPicPr>
        <p:blipFill>
          <a:blip r:embed="rId3">
            <a:alphaModFix/>
          </a:blip>
          <a:stretch>
            <a:fillRect/>
          </a:stretch>
        </p:blipFill>
        <p:spPr>
          <a:xfrm>
            <a:off x="510025" y="2256690"/>
            <a:ext cx="2367796" cy="408828"/>
          </a:xfrm>
          <a:prstGeom prst="rect">
            <a:avLst/>
          </a:prstGeom>
          <a:noFill/>
          <a:ln>
            <a:noFill/>
          </a:ln>
        </p:spPr>
      </p:pic>
      <p:pic>
        <p:nvPicPr>
          <p:cNvPr id="301" name="Google Shape;301;h4f8be8f1b2c30ea5_0_0"/>
          <p:cNvPicPr preferRelativeResize="0"/>
          <p:nvPr/>
        </p:nvPicPr>
        <p:blipFill>
          <a:blip r:embed="rId4">
            <a:alphaModFix/>
          </a:blip>
          <a:stretch>
            <a:fillRect/>
          </a:stretch>
        </p:blipFill>
        <p:spPr>
          <a:xfrm>
            <a:off x="478000" y="3177015"/>
            <a:ext cx="3458004" cy="1737519"/>
          </a:xfrm>
          <a:prstGeom prst="rect">
            <a:avLst/>
          </a:prstGeom>
          <a:noFill/>
          <a:ln>
            <a:noFill/>
          </a:ln>
        </p:spPr>
      </p:pic>
      <p:pic>
        <p:nvPicPr>
          <p:cNvPr id="302" name="Google Shape;302;h4f8be8f1b2c30ea5_0_0"/>
          <p:cNvPicPr preferRelativeResize="0"/>
          <p:nvPr/>
        </p:nvPicPr>
        <p:blipFill>
          <a:blip r:embed="rId5">
            <a:alphaModFix/>
          </a:blip>
          <a:stretch>
            <a:fillRect/>
          </a:stretch>
        </p:blipFill>
        <p:spPr>
          <a:xfrm>
            <a:off x="5437169" y="790729"/>
            <a:ext cx="2844762" cy="851725"/>
          </a:xfrm>
          <a:prstGeom prst="rect">
            <a:avLst/>
          </a:prstGeom>
          <a:noFill/>
          <a:ln>
            <a:noFill/>
          </a:ln>
        </p:spPr>
      </p:pic>
      <p:pic>
        <p:nvPicPr>
          <p:cNvPr id="303" name="Google Shape;303;h4f8be8f1b2c30ea5_0_0"/>
          <p:cNvPicPr preferRelativeResize="0"/>
          <p:nvPr/>
        </p:nvPicPr>
        <p:blipFill>
          <a:blip r:embed="rId6">
            <a:alphaModFix/>
          </a:blip>
          <a:stretch>
            <a:fillRect/>
          </a:stretch>
        </p:blipFill>
        <p:spPr>
          <a:xfrm>
            <a:off x="4906090" y="3767947"/>
            <a:ext cx="3713522" cy="885794"/>
          </a:xfrm>
          <a:prstGeom prst="rect">
            <a:avLst/>
          </a:prstGeom>
          <a:noFill/>
          <a:ln>
            <a:noFill/>
          </a:ln>
        </p:spPr>
      </p:pic>
      <p:pic>
        <p:nvPicPr>
          <p:cNvPr id="304" name="Google Shape;304;h4f8be8f1b2c30ea5_0_0"/>
          <p:cNvPicPr preferRelativeResize="0"/>
          <p:nvPr/>
        </p:nvPicPr>
        <p:blipFill>
          <a:blip r:embed="rId7">
            <a:alphaModFix/>
          </a:blip>
          <a:stretch>
            <a:fillRect/>
          </a:stretch>
        </p:blipFill>
        <p:spPr>
          <a:xfrm>
            <a:off x="4970115" y="1865606"/>
            <a:ext cx="3952005" cy="885794"/>
          </a:xfrm>
          <a:prstGeom prst="rect">
            <a:avLst/>
          </a:prstGeom>
          <a:noFill/>
          <a:ln>
            <a:noFill/>
          </a:ln>
        </p:spPr>
      </p:pic>
      <p:sp>
        <p:nvSpPr>
          <p:cNvPr id="305" name="Google Shape;305;h4f8be8f1b2c30ea5_0_0"/>
          <p:cNvSpPr txBox="1"/>
          <p:nvPr>
            <p:ph type="title"/>
          </p:nvPr>
        </p:nvSpPr>
        <p:spPr>
          <a:xfrm>
            <a:off x="409575" y="12226"/>
            <a:ext cx="4045200" cy="50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t-BR"/>
              <a:t>Linear</a:t>
            </a:r>
            <a:endParaRPr/>
          </a:p>
        </p:txBody>
      </p:sp>
      <p:sp>
        <p:nvSpPr>
          <p:cNvPr id="306" name="Google Shape;306;h4f8be8f1b2c30ea5_0_0"/>
          <p:cNvSpPr txBox="1"/>
          <p:nvPr>
            <p:ph idx="2" type="body"/>
          </p:nvPr>
        </p:nvSpPr>
        <p:spPr>
          <a:xfrm>
            <a:off x="4906100" y="4225"/>
            <a:ext cx="3837000" cy="50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pt-BR"/>
              <a:t>Logistic</a:t>
            </a:r>
            <a:endParaRPr b="1"/>
          </a:p>
        </p:txBody>
      </p:sp>
      <p:cxnSp>
        <p:nvCxnSpPr>
          <p:cNvPr id="307" name="Google Shape;307;h4f8be8f1b2c30ea5_0_0"/>
          <p:cNvCxnSpPr/>
          <p:nvPr/>
        </p:nvCxnSpPr>
        <p:spPr>
          <a:xfrm>
            <a:off x="4570400" y="2953550"/>
            <a:ext cx="4578300" cy="0"/>
          </a:xfrm>
          <a:prstGeom prst="straightConnector1">
            <a:avLst/>
          </a:prstGeom>
          <a:noFill/>
          <a:ln cap="flat" cmpd="sng" w="38100">
            <a:solidFill>
              <a:schemeClr val="dk2"/>
            </a:solidFill>
            <a:prstDash val="solid"/>
            <a:round/>
            <a:headEnd len="med" w="med" type="none"/>
            <a:tailEnd len="med" w="med" type="none"/>
          </a:ln>
        </p:spPr>
      </p:cxnSp>
      <p:cxnSp>
        <p:nvCxnSpPr>
          <p:cNvPr id="308" name="Google Shape;308;h4f8be8f1b2c30ea5_0_0"/>
          <p:cNvCxnSpPr/>
          <p:nvPr/>
        </p:nvCxnSpPr>
        <p:spPr>
          <a:xfrm rot="10800000">
            <a:off x="8075" y="2953550"/>
            <a:ext cx="4530300" cy="0"/>
          </a:xfrm>
          <a:prstGeom prst="straightConnector1">
            <a:avLst/>
          </a:prstGeom>
          <a:noFill/>
          <a:ln cap="flat" cmpd="sng" w="38100">
            <a:solidFill>
              <a:schemeClr val="lt2"/>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h3b987c62679a4f5d_0_1185"/>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grpSp>
        <p:nvGrpSpPr>
          <p:cNvPr id="314" name="Google Shape;314;h3b987c62679a4f5d_0_1185"/>
          <p:cNvGrpSpPr/>
          <p:nvPr/>
        </p:nvGrpSpPr>
        <p:grpSpPr>
          <a:xfrm>
            <a:off x="2989575" y="1000000"/>
            <a:ext cx="5842725" cy="3820987"/>
            <a:chOff x="2187475" y="1019975"/>
            <a:chExt cx="5842725" cy="3820987"/>
          </a:xfrm>
        </p:grpSpPr>
        <p:pic>
          <p:nvPicPr>
            <p:cNvPr id="315" name="Google Shape;315;h3b987c62679a4f5d_0_1185"/>
            <p:cNvPicPr preferRelativeResize="0"/>
            <p:nvPr/>
          </p:nvPicPr>
          <p:blipFill>
            <a:blip r:embed="rId3">
              <a:alphaModFix/>
            </a:blip>
            <a:stretch>
              <a:fillRect/>
            </a:stretch>
          </p:blipFill>
          <p:spPr>
            <a:xfrm>
              <a:off x="3611100" y="1019975"/>
              <a:ext cx="4419051" cy="3820987"/>
            </a:xfrm>
            <a:prstGeom prst="rect">
              <a:avLst/>
            </a:prstGeom>
            <a:noFill/>
            <a:ln>
              <a:noFill/>
            </a:ln>
          </p:spPr>
        </p:pic>
        <p:sp>
          <p:nvSpPr>
            <p:cNvPr id="316" name="Google Shape;316;h3b987c62679a4f5d_0_1185"/>
            <p:cNvSpPr/>
            <p:nvPr/>
          </p:nvSpPr>
          <p:spPr>
            <a:xfrm>
              <a:off x="3369275" y="1090825"/>
              <a:ext cx="199200" cy="3555600"/>
            </a:xfrm>
            <a:prstGeom prst="leftBrace">
              <a:avLst>
                <a:gd fmla="val 50000" name="adj1"/>
                <a:gd fmla="val 50000" name="adj2"/>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h3b987c62679a4f5d_0_1185"/>
            <p:cNvSpPr txBox="1"/>
            <p:nvPr/>
          </p:nvSpPr>
          <p:spPr>
            <a:xfrm>
              <a:off x="2187475" y="2634025"/>
              <a:ext cx="1160700" cy="6156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Probability</a:t>
              </a:r>
              <a:endParaRPr b="1" i="0" sz="1400" u="none" cap="none" strike="noStrike">
                <a:solidFill>
                  <a:srgbClr val="0000FF"/>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400"/>
                <a:buFont typeface="Arial"/>
                <a:buNone/>
              </a:pPr>
              <a:r>
                <a:rPr b="1" lang="pt-BR">
                  <a:solidFill>
                    <a:srgbClr val="0000FF"/>
                  </a:solidFill>
                </a:rPr>
                <a:t>p</a:t>
              </a:r>
              <a:r>
                <a:rPr b="1" i="0" lang="pt-BR" sz="1400" u="none" cap="none" strike="noStrike">
                  <a:solidFill>
                    <a:srgbClr val="0000FF"/>
                  </a:solidFill>
                  <a:latin typeface="Arial"/>
                  <a:ea typeface="Arial"/>
                  <a:cs typeface="Arial"/>
                  <a:sym typeface="Arial"/>
                </a:rPr>
                <a:t>(X)</a:t>
              </a:r>
              <a:endParaRPr b="1" i="0" sz="1400" u="none" cap="none" strike="noStrike">
                <a:solidFill>
                  <a:srgbClr val="0000FF"/>
                </a:solidFill>
                <a:latin typeface="Arial"/>
                <a:ea typeface="Arial"/>
                <a:cs typeface="Arial"/>
                <a:sym typeface="Arial"/>
              </a:endParaRPr>
            </a:p>
          </p:txBody>
        </p:sp>
        <p:sp>
          <p:nvSpPr>
            <p:cNvPr id="318" name="Google Shape;318;h3b987c62679a4f5d_0_1185"/>
            <p:cNvSpPr/>
            <p:nvPr/>
          </p:nvSpPr>
          <p:spPr>
            <a:xfrm>
              <a:off x="3980800" y="1126075"/>
              <a:ext cx="4000500" cy="3369900"/>
            </a:xfrm>
            <a:custGeom>
              <a:rect b="b" l="l" r="r" t="t"/>
              <a:pathLst>
                <a:path extrusionOk="0" h="134796" w="160020">
                  <a:moveTo>
                    <a:pt x="0" y="134796"/>
                  </a:moveTo>
                  <a:cubicBezTo>
                    <a:pt x="7554" y="133022"/>
                    <a:pt x="33042" y="136175"/>
                    <a:pt x="45326" y="124154"/>
                  </a:cubicBezTo>
                  <a:cubicBezTo>
                    <a:pt x="57610" y="112133"/>
                    <a:pt x="64639" y="81981"/>
                    <a:pt x="73704" y="62668"/>
                  </a:cubicBezTo>
                  <a:cubicBezTo>
                    <a:pt x="82769" y="43355"/>
                    <a:pt x="85331" y="18722"/>
                    <a:pt x="99717" y="8277"/>
                  </a:cubicBezTo>
                  <a:cubicBezTo>
                    <a:pt x="114103" y="-2168"/>
                    <a:pt x="149970" y="1380"/>
                    <a:pt x="160020" y="0"/>
                  </a:cubicBezTo>
                </a:path>
              </a:pathLst>
            </a:custGeom>
            <a:noFill/>
            <a:ln cap="flat" cmpd="sng" w="28575">
              <a:solidFill>
                <a:schemeClr val="dk2"/>
              </a:solidFill>
              <a:prstDash val="solid"/>
              <a:round/>
              <a:headEnd len="med" w="med" type="none"/>
              <a:tailEnd len="med" w="med" type="none"/>
            </a:ln>
          </p:spPr>
        </p:sp>
        <p:cxnSp>
          <p:nvCxnSpPr>
            <p:cNvPr id="319" name="Google Shape;319;h3b987c62679a4f5d_0_1185"/>
            <p:cNvCxnSpPr/>
            <p:nvPr/>
          </p:nvCxnSpPr>
          <p:spPr>
            <a:xfrm>
              <a:off x="3962925" y="2768500"/>
              <a:ext cx="4041900" cy="0"/>
            </a:xfrm>
            <a:prstGeom prst="straightConnector1">
              <a:avLst/>
            </a:prstGeom>
            <a:noFill/>
            <a:ln cap="flat" cmpd="sng" w="38100">
              <a:solidFill>
                <a:schemeClr val="dk2"/>
              </a:solidFill>
              <a:prstDash val="solid"/>
              <a:round/>
              <a:headEnd len="med" w="med" type="none"/>
              <a:tailEnd len="med" w="med" type="none"/>
            </a:ln>
          </p:spPr>
        </p:cxnSp>
        <p:sp>
          <p:nvSpPr>
            <p:cNvPr id="320" name="Google Shape;320;h3b987c62679a4f5d_0_1185"/>
            <p:cNvSpPr/>
            <p:nvPr/>
          </p:nvSpPr>
          <p:spPr>
            <a:xfrm>
              <a:off x="6430850" y="2056600"/>
              <a:ext cx="435000" cy="515100"/>
            </a:xfrm>
            <a:prstGeom prst="upArrow">
              <a:avLst>
                <a:gd fmla="val 50000" name="adj1"/>
                <a:gd fmla="val 50000" name="adj2"/>
              </a:avLst>
            </a:prstGeom>
            <a:solidFill>
              <a:srgbClr val="F4CCCC"/>
            </a:solidFill>
            <a:ln cap="flat" cmpd="sng" w="28575">
              <a:solidFill>
                <a:srgbClr val="DB2E2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21" name="Google Shape;321;h3b987c62679a4f5d_0_1185"/>
            <p:cNvSpPr/>
            <p:nvPr/>
          </p:nvSpPr>
          <p:spPr>
            <a:xfrm flipH="1" rot="10800000">
              <a:off x="6430850" y="2865525"/>
              <a:ext cx="435000" cy="515100"/>
            </a:xfrm>
            <a:prstGeom prst="upArrow">
              <a:avLst>
                <a:gd fmla="val 50000" name="adj1"/>
                <a:gd fmla="val 50000" name="adj2"/>
              </a:avLst>
            </a:prstGeom>
            <a:solidFill>
              <a:srgbClr val="A4C2F4"/>
            </a:solid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322" name="Google Shape;322;h3b987c62679a4f5d_0_1185"/>
            <p:cNvSpPr txBox="1"/>
            <p:nvPr/>
          </p:nvSpPr>
          <p:spPr>
            <a:xfrm>
              <a:off x="4018300" y="2122000"/>
              <a:ext cx="743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0.5</a:t>
              </a:r>
              <a:endParaRPr sz="3000">
                <a:solidFill>
                  <a:srgbClr val="434343"/>
                </a:solidFill>
                <a:latin typeface="Comfortaa"/>
                <a:ea typeface="Comfortaa"/>
                <a:cs typeface="Comfortaa"/>
                <a:sym typeface="Comfortaa"/>
              </a:endParaRPr>
            </a:p>
          </p:txBody>
        </p:sp>
        <p:sp>
          <p:nvSpPr>
            <p:cNvPr id="323" name="Google Shape;323;h3b987c62679a4f5d_0_1185"/>
            <p:cNvSpPr txBox="1"/>
            <p:nvPr/>
          </p:nvSpPr>
          <p:spPr>
            <a:xfrm>
              <a:off x="6755200" y="1716475"/>
              <a:ext cx="127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DB2E2C"/>
                  </a:solidFill>
                  <a:latin typeface="Comfortaa"/>
                  <a:ea typeface="Comfortaa"/>
                  <a:cs typeface="Comfortaa"/>
                  <a:sym typeface="Comfortaa"/>
                </a:rPr>
                <a:t>technological</a:t>
              </a:r>
              <a:endParaRPr b="1" sz="1200">
                <a:solidFill>
                  <a:srgbClr val="DB2E2C"/>
                </a:solidFill>
                <a:latin typeface="Comfortaa"/>
                <a:ea typeface="Comfortaa"/>
                <a:cs typeface="Comfortaa"/>
                <a:sym typeface="Comfortaa"/>
              </a:endParaRPr>
            </a:p>
          </p:txBody>
        </p:sp>
        <p:sp>
          <p:nvSpPr>
            <p:cNvPr id="324" name="Google Shape;324;h3b987c62679a4f5d_0_1185"/>
            <p:cNvSpPr txBox="1"/>
            <p:nvPr/>
          </p:nvSpPr>
          <p:spPr>
            <a:xfrm>
              <a:off x="6755200" y="3340150"/>
              <a:ext cx="949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0000CC"/>
                  </a:solidFill>
                  <a:latin typeface="Comfortaa"/>
                  <a:ea typeface="Comfortaa"/>
                  <a:cs typeface="Comfortaa"/>
                  <a:sym typeface="Comfortaa"/>
                </a:rPr>
                <a:t>chemical</a:t>
              </a:r>
              <a:endParaRPr b="1" sz="1200">
                <a:solidFill>
                  <a:srgbClr val="0000CC"/>
                </a:solidFill>
                <a:latin typeface="Comfortaa"/>
                <a:ea typeface="Comfortaa"/>
                <a:cs typeface="Comfortaa"/>
                <a:sym typeface="Comfortaa"/>
              </a:endParaRPr>
            </a:p>
          </p:txBody>
        </p:sp>
      </p:grpSp>
      <p:pic>
        <p:nvPicPr>
          <p:cNvPr id="325" name="Google Shape;325;h3b987c62679a4f5d_0_1185"/>
          <p:cNvPicPr preferRelativeResize="0"/>
          <p:nvPr/>
        </p:nvPicPr>
        <p:blipFill>
          <a:blip r:embed="rId4">
            <a:alphaModFix/>
          </a:blip>
          <a:stretch>
            <a:fillRect/>
          </a:stretch>
        </p:blipFill>
        <p:spPr>
          <a:xfrm>
            <a:off x="118997" y="1299625"/>
            <a:ext cx="2116774" cy="1065800"/>
          </a:xfrm>
          <a:prstGeom prst="rect">
            <a:avLst/>
          </a:prstGeom>
          <a:noFill/>
          <a:ln>
            <a:noFill/>
          </a:ln>
        </p:spPr>
      </p:pic>
      <p:pic>
        <p:nvPicPr>
          <p:cNvPr id="326" name="Google Shape;326;h3b987c62679a4f5d_0_1185"/>
          <p:cNvPicPr preferRelativeResize="0"/>
          <p:nvPr/>
        </p:nvPicPr>
        <p:blipFill>
          <a:blip r:embed="rId5">
            <a:alphaModFix/>
          </a:blip>
          <a:stretch>
            <a:fillRect/>
          </a:stretch>
        </p:blipFill>
        <p:spPr>
          <a:xfrm>
            <a:off x="119000" y="3017075"/>
            <a:ext cx="3882700" cy="20319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h3b987c62679a4f5d_0_1249"/>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grpSp>
        <p:nvGrpSpPr>
          <p:cNvPr id="332" name="Google Shape;332;h3b987c62679a4f5d_0_1249"/>
          <p:cNvGrpSpPr/>
          <p:nvPr/>
        </p:nvGrpSpPr>
        <p:grpSpPr>
          <a:xfrm>
            <a:off x="4173650" y="1019975"/>
            <a:ext cx="4658650" cy="3979100"/>
            <a:chOff x="3371550" y="1019975"/>
            <a:chExt cx="4658650" cy="3979100"/>
          </a:xfrm>
        </p:grpSpPr>
        <p:pic>
          <p:nvPicPr>
            <p:cNvPr id="333" name="Google Shape;333;h3b987c62679a4f5d_0_1249"/>
            <p:cNvPicPr preferRelativeResize="0"/>
            <p:nvPr/>
          </p:nvPicPr>
          <p:blipFill>
            <a:blip r:embed="rId3">
              <a:alphaModFix/>
            </a:blip>
            <a:stretch>
              <a:fillRect/>
            </a:stretch>
          </p:blipFill>
          <p:spPr>
            <a:xfrm>
              <a:off x="3611100" y="1019975"/>
              <a:ext cx="4419051" cy="3820987"/>
            </a:xfrm>
            <a:prstGeom prst="rect">
              <a:avLst/>
            </a:prstGeom>
            <a:noFill/>
            <a:ln>
              <a:noFill/>
            </a:ln>
          </p:spPr>
        </p:pic>
        <p:sp>
          <p:nvSpPr>
            <p:cNvPr id="334" name="Google Shape;334;h3b987c62679a4f5d_0_1249"/>
            <p:cNvSpPr/>
            <p:nvPr/>
          </p:nvSpPr>
          <p:spPr>
            <a:xfrm>
              <a:off x="3980800" y="1126075"/>
              <a:ext cx="4000500" cy="3369900"/>
            </a:xfrm>
            <a:custGeom>
              <a:rect b="b" l="l" r="r" t="t"/>
              <a:pathLst>
                <a:path extrusionOk="0" h="134796" w="160020">
                  <a:moveTo>
                    <a:pt x="0" y="134796"/>
                  </a:moveTo>
                  <a:cubicBezTo>
                    <a:pt x="7554" y="133022"/>
                    <a:pt x="33042" y="136175"/>
                    <a:pt x="45326" y="124154"/>
                  </a:cubicBezTo>
                  <a:cubicBezTo>
                    <a:pt x="57610" y="112133"/>
                    <a:pt x="64639" y="81981"/>
                    <a:pt x="73704" y="62668"/>
                  </a:cubicBezTo>
                  <a:cubicBezTo>
                    <a:pt x="82769" y="43355"/>
                    <a:pt x="85331" y="18722"/>
                    <a:pt x="99717" y="8277"/>
                  </a:cubicBezTo>
                  <a:cubicBezTo>
                    <a:pt x="114103" y="-2168"/>
                    <a:pt x="149970" y="1380"/>
                    <a:pt x="160020" y="0"/>
                  </a:cubicBezTo>
                </a:path>
              </a:pathLst>
            </a:custGeom>
            <a:noFill/>
            <a:ln cap="flat" cmpd="sng" w="28575">
              <a:solidFill>
                <a:schemeClr val="dk2"/>
              </a:solidFill>
              <a:prstDash val="solid"/>
              <a:round/>
              <a:headEnd len="med" w="med" type="none"/>
              <a:tailEnd len="med" w="med" type="none"/>
            </a:ln>
          </p:spPr>
        </p:sp>
        <p:cxnSp>
          <p:nvCxnSpPr>
            <p:cNvPr id="335" name="Google Shape;335;h3b987c62679a4f5d_0_1249"/>
            <p:cNvCxnSpPr/>
            <p:nvPr/>
          </p:nvCxnSpPr>
          <p:spPr>
            <a:xfrm>
              <a:off x="3962925" y="2768500"/>
              <a:ext cx="4041900" cy="0"/>
            </a:xfrm>
            <a:prstGeom prst="straightConnector1">
              <a:avLst/>
            </a:prstGeom>
            <a:noFill/>
            <a:ln cap="flat" cmpd="sng" w="38100">
              <a:solidFill>
                <a:schemeClr val="dk2"/>
              </a:solidFill>
              <a:prstDash val="solid"/>
              <a:round/>
              <a:headEnd len="med" w="med" type="none"/>
              <a:tailEnd len="med" w="med" type="none"/>
            </a:ln>
          </p:spPr>
        </p:cxnSp>
        <p:sp>
          <p:nvSpPr>
            <p:cNvPr id="336" name="Google Shape;336;h3b987c62679a4f5d_0_1249"/>
            <p:cNvSpPr txBox="1"/>
            <p:nvPr/>
          </p:nvSpPr>
          <p:spPr>
            <a:xfrm>
              <a:off x="4018300" y="2122000"/>
              <a:ext cx="743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0.5</a:t>
              </a:r>
              <a:endParaRPr sz="3000">
                <a:solidFill>
                  <a:srgbClr val="434343"/>
                </a:solidFill>
                <a:latin typeface="Comfortaa"/>
                <a:ea typeface="Comfortaa"/>
                <a:cs typeface="Comfortaa"/>
                <a:sym typeface="Comfortaa"/>
              </a:endParaRPr>
            </a:p>
          </p:txBody>
        </p:sp>
        <p:sp>
          <p:nvSpPr>
            <p:cNvPr id="337" name="Google Shape;337;h3b987c62679a4f5d_0_1249"/>
            <p:cNvSpPr txBox="1"/>
            <p:nvPr/>
          </p:nvSpPr>
          <p:spPr>
            <a:xfrm>
              <a:off x="6755200" y="1716475"/>
              <a:ext cx="127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DB2E2C"/>
                  </a:solidFill>
                  <a:latin typeface="Comfortaa"/>
                  <a:ea typeface="Comfortaa"/>
                  <a:cs typeface="Comfortaa"/>
                  <a:sym typeface="Comfortaa"/>
                </a:rPr>
                <a:t>technological</a:t>
              </a:r>
              <a:endParaRPr b="1" sz="1200">
                <a:solidFill>
                  <a:srgbClr val="DB2E2C"/>
                </a:solidFill>
                <a:latin typeface="Comfortaa"/>
                <a:ea typeface="Comfortaa"/>
                <a:cs typeface="Comfortaa"/>
                <a:sym typeface="Comfortaa"/>
              </a:endParaRPr>
            </a:p>
          </p:txBody>
        </p:sp>
        <p:sp>
          <p:nvSpPr>
            <p:cNvPr id="338" name="Google Shape;338;h3b987c62679a4f5d_0_1249"/>
            <p:cNvSpPr txBox="1"/>
            <p:nvPr/>
          </p:nvSpPr>
          <p:spPr>
            <a:xfrm>
              <a:off x="6755200" y="3340150"/>
              <a:ext cx="949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0000CC"/>
                  </a:solidFill>
                  <a:latin typeface="Comfortaa"/>
                  <a:ea typeface="Comfortaa"/>
                  <a:cs typeface="Comfortaa"/>
                  <a:sym typeface="Comfortaa"/>
                </a:rPr>
                <a:t>chemical</a:t>
              </a:r>
              <a:endParaRPr b="1" sz="1200">
                <a:solidFill>
                  <a:srgbClr val="0000CC"/>
                </a:solidFill>
                <a:latin typeface="Comfortaa"/>
                <a:ea typeface="Comfortaa"/>
                <a:cs typeface="Comfortaa"/>
                <a:sym typeface="Comfortaa"/>
              </a:endParaRPr>
            </a:p>
          </p:txBody>
        </p:sp>
        <p:sp>
          <p:nvSpPr>
            <p:cNvPr id="339" name="Google Shape;339;h3b987c62679a4f5d_0_1249"/>
            <p:cNvSpPr/>
            <p:nvPr/>
          </p:nvSpPr>
          <p:spPr>
            <a:xfrm>
              <a:off x="6286508" y="1290698"/>
              <a:ext cx="199200" cy="199200"/>
            </a:xfrm>
            <a:prstGeom prst="ellipse">
              <a:avLst/>
            </a:prstGeom>
            <a:noFill/>
            <a:ln cap="flat" cmpd="sng" w="3810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cxnSp>
          <p:nvCxnSpPr>
            <p:cNvPr id="340" name="Google Shape;340;h3b987c62679a4f5d_0_1249"/>
            <p:cNvCxnSpPr>
              <a:stCxn id="339" idx="4"/>
            </p:cNvCxnSpPr>
            <p:nvPr/>
          </p:nvCxnSpPr>
          <p:spPr>
            <a:xfrm>
              <a:off x="6386108" y="1489898"/>
              <a:ext cx="0" cy="3107100"/>
            </a:xfrm>
            <a:prstGeom prst="straightConnector1">
              <a:avLst/>
            </a:prstGeom>
            <a:noFill/>
            <a:ln cap="flat" cmpd="sng" w="28575">
              <a:solidFill>
                <a:srgbClr val="9900FF"/>
              </a:solidFill>
              <a:prstDash val="dash"/>
              <a:round/>
              <a:headEnd len="med" w="med" type="none"/>
              <a:tailEnd len="med" w="med" type="none"/>
            </a:ln>
          </p:spPr>
        </p:cxnSp>
        <p:cxnSp>
          <p:nvCxnSpPr>
            <p:cNvPr id="341" name="Google Shape;341;h3b987c62679a4f5d_0_1249"/>
            <p:cNvCxnSpPr>
              <a:stCxn id="339" idx="2"/>
            </p:cNvCxnSpPr>
            <p:nvPr/>
          </p:nvCxnSpPr>
          <p:spPr>
            <a:xfrm rot="10800000">
              <a:off x="3934208" y="1390298"/>
              <a:ext cx="2352300" cy="0"/>
            </a:xfrm>
            <a:prstGeom prst="straightConnector1">
              <a:avLst/>
            </a:prstGeom>
            <a:noFill/>
            <a:ln cap="flat" cmpd="sng" w="28575">
              <a:solidFill>
                <a:srgbClr val="9900FF"/>
              </a:solidFill>
              <a:prstDash val="dash"/>
              <a:round/>
              <a:headEnd len="med" w="med" type="none"/>
              <a:tailEnd len="med" w="med" type="none"/>
            </a:ln>
          </p:spPr>
        </p:cxnSp>
        <p:sp>
          <p:nvSpPr>
            <p:cNvPr id="342" name="Google Shape;342;h3b987c62679a4f5d_0_1249"/>
            <p:cNvSpPr txBox="1"/>
            <p:nvPr/>
          </p:nvSpPr>
          <p:spPr>
            <a:xfrm>
              <a:off x="6150000" y="4537375"/>
              <a:ext cx="4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9900FF"/>
                  </a:solidFill>
                  <a:latin typeface="Comfortaa"/>
                  <a:ea typeface="Comfortaa"/>
                  <a:cs typeface="Comfortaa"/>
                  <a:sym typeface="Comfortaa"/>
                </a:rPr>
                <a:t>7.6</a:t>
              </a:r>
              <a:endParaRPr b="1" sz="1800">
                <a:solidFill>
                  <a:srgbClr val="9900FF"/>
                </a:solidFill>
                <a:latin typeface="Comfortaa"/>
                <a:ea typeface="Comfortaa"/>
                <a:cs typeface="Comfortaa"/>
                <a:sym typeface="Comfortaa"/>
              </a:endParaRPr>
            </a:p>
          </p:txBody>
        </p:sp>
        <p:sp>
          <p:nvSpPr>
            <p:cNvPr id="343" name="Google Shape;343;h3b987c62679a4f5d_0_1249"/>
            <p:cNvSpPr txBox="1"/>
            <p:nvPr/>
          </p:nvSpPr>
          <p:spPr>
            <a:xfrm>
              <a:off x="3371550" y="1159450"/>
              <a:ext cx="68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9900FF"/>
                  </a:solidFill>
                  <a:latin typeface="Comfortaa"/>
                  <a:ea typeface="Comfortaa"/>
                  <a:cs typeface="Comfortaa"/>
                  <a:sym typeface="Comfortaa"/>
                </a:rPr>
                <a:t>0.9</a:t>
              </a:r>
              <a:r>
                <a:rPr b="1" lang="pt-BR" sz="1800">
                  <a:solidFill>
                    <a:srgbClr val="9900FF"/>
                  </a:solidFill>
                  <a:latin typeface="Comfortaa"/>
                  <a:ea typeface="Comfortaa"/>
                  <a:cs typeface="Comfortaa"/>
                  <a:sym typeface="Comfortaa"/>
                </a:rPr>
                <a:t>1</a:t>
              </a:r>
              <a:endParaRPr b="1" sz="1800">
                <a:solidFill>
                  <a:srgbClr val="9900FF"/>
                </a:solidFill>
                <a:latin typeface="Comfortaa"/>
                <a:ea typeface="Comfortaa"/>
                <a:cs typeface="Comfortaa"/>
                <a:sym typeface="Comfortaa"/>
              </a:endParaRPr>
            </a:p>
          </p:txBody>
        </p:sp>
      </p:grpSp>
      <p:sp>
        <p:nvSpPr>
          <p:cNvPr id="344" name="Google Shape;344;h3b987c62679a4f5d_0_1249"/>
          <p:cNvSpPr txBox="1"/>
          <p:nvPr/>
        </p:nvSpPr>
        <p:spPr>
          <a:xfrm>
            <a:off x="113275" y="3354650"/>
            <a:ext cx="1731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x=[x</a:t>
            </a:r>
            <a:r>
              <a:rPr baseline="-25000" lang="pt-BR" sz="2200">
                <a:solidFill>
                  <a:srgbClr val="434343"/>
                </a:solidFill>
                <a:latin typeface="Courier New"/>
                <a:ea typeface="Courier New"/>
                <a:cs typeface="Courier New"/>
                <a:sym typeface="Courier New"/>
              </a:rPr>
              <a:t>1</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w=[w</a:t>
            </a:r>
            <a:r>
              <a:rPr baseline="-25000" lang="pt-BR" sz="2200">
                <a:solidFill>
                  <a:srgbClr val="434343"/>
                </a:solidFill>
                <a:latin typeface="Courier New"/>
                <a:ea typeface="Courier New"/>
                <a:cs typeface="Courier New"/>
                <a:sym typeface="Courier New"/>
              </a:rPr>
              <a:t>1</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b</a:t>
            </a:r>
            <a:endParaRPr sz="2200">
              <a:solidFill>
                <a:srgbClr val="434343"/>
              </a:solidFill>
              <a:latin typeface="Courier New"/>
              <a:ea typeface="Courier New"/>
              <a:cs typeface="Courier New"/>
              <a:sym typeface="Courier New"/>
            </a:endParaRPr>
          </a:p>
        </p:txBody>
      </p:sp>
      <p:pic>
        <p:nvPicPr>
          <p:cNvPr id="345" name="Google Shape;345;h3b987c62679a4f5d_0_1249"/>
          <p:cNvPicPr preferRelativeResize="0"/>
          <p:nvPr/>
        </p:nvPicPr>
        <p:blipFill>
          <a:blip r:embed="rId4">
            <a:alphaModFix/>
          </a:blip>
          <a:stretch>
            <a:fillRect/>
          </a:stretch>
        </p:blipFill>
        <p:spPr>
          <a:xfrm>
            <a:off x="113275" y="1019975"/>
            <a:ext cx="3882700" cy="20319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h4f8be8f1b2c30ea5_0_109"/>
          <p:cNvSpPr txBox="1"/>
          <p:nvPr/>
        </p:nvSpPr>
        <p:spPr>
          <a:xfrm>
            <a:off x="113275" y="3354650"/>
            <a:ext cx="1731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x=[7.6]</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w=[2.42]</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b=-16.11</a:t>
            </a:r>
            <a:endParaRPr sz="2200">
              <a:solidFill>
                <a:srgbClr val="434343"/>
              </a:solidFill>
              <a:latin typeface="Courier New"/>
              <a:ea typeface="Courier New"/>
              <a:cs typeface="Courier New"/>
              <a:sym typeface="Courier New"/>
            </a:endParaRPr>
          </a:p>
        </p:txBody>
      </p:sp>
      <p:pic>
        <p:nvPicPr>
          <p:cNvPr id="351" name="Google Shape;351;h4f8be8f1b2c30ea5_0_109"/>
          <p:cNvPicPr preferRelativeResize="0"/>
          <p:nvPr/>
        </p:nvPicPr>
        <p:blipFill>
          <a:blip r:embed="rId3">
            <a:alphaModFix/>
          </a:blip>
          <a:stretch>
            <a:fillRect/>
          </a:stretch>
        </p:blipFill>
        <p:spPr>
          <a:xfrm>
            <a:off x="113275" y="1019975"/>
            <a:ext cx="3854500" cy="1989425"/>
          </a:xfrm>
          <a:prstGeom prst="rect">
            <a:avLst/>
          </a:prstGeom>
          <a:noFill/>
          <a:ln>
            <a:noFill/>
          </a:ln>
        </p:spPr>
      </p:pic>
      <p:sp>
        <p:nvSpPr>
          <p:cNvPr id="352" name="Google Shape;352;h4f8be8f1b2c30ea5_0_109"/>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grpSp>
        <p:nvGrpSpPr>
          <p:cNvPr id="353" name="Google Shape;353;h4f8be8f1b2c30ea5_0_109"/>
          <p:cNvGrpSpPr/>
          <p:nvPr/>
        </p:nvGrpSpPr>
        <p:grpSpPr>
          <a:xfrm>
            <a:off x="4173650" y="1019975"/>
            <a:ext cx="4658650" cy="3979100"/>
            <a:chOff x="3371550" y="1019975"/>
            <a:chExt cx="4658650" cy="3979100"/>
          </a:xfrm>
        </p:grpSpPr>
        <p:pic>
          <p:nvPicPr>
            <p:cNvPr id="354" name="Google Shape;354;h4f8be8f1b2c30ea5_0_109"/>
            <p:cNvPicPr preferRelativeResize="0"/>
            <p:nvPr/>
          </p:nvPicPr>
          <p:blipFill>
            <a:blip r:embed="rId4">
              <a:alphaModFix/>
            </a:blip>
            <a:stretch>
              <a:fillRect/>
            </a:stretch>
          </p:blipFill>
          <p:spPr>
            <a:xfrm>
              <a:off x="3611100" y="1019975"/>
              <a:ext cx="4419051" cy="3820987"/>
            </a:xfrm>
            <a:prstGeom prst="rect">
              <a:avLst/>
            </a:prstGeom>
            <a:noFill/>
            <a:ln>
              <a:noFill/>
            </a:ln>
          </p:spPr>
        </p:pic>
        <p:sp>
          <p:nvSpPr>
            <p:cNvPr id="355" name="Google Shape;355;h4f8be8f1b2c30ea5_0_109"/>
            <p:cNvSpPr/>
            <p:nvPr/>
          </p:nvSpPr>
          <p:spPr>
            <a:xfrm>
              <a:off x="3980800" y="1126075"/>
              <a:ext cx="4000500" cy="3369900"/>
            </a:xfrm>
            <a:custGeom>
              <a:rect b="b" l="l" r="r" t="t"/>
              <a:pathLst>
                <a:path extrusionOk="0" h="134796" w="160020">
                  <a:moveTo>
                    <a:pt x="0" y="134796"/>
                  </a:moveTo>
                  <a:cubicBezTo>
                    <a:pt x="7554" y="133022"/>
                    <a:pt x="33042" y="136175"/>
                    <a:pt x="45326" y="124154"/>
                  </a:cubicBezTo>
                  <a:cubicBezTo>
                    <a:pt x="57610" y="112133"/>
                    <a:pt x="64639" y="81981"/>
                    <a:pt x="73704" y="62668"/>
                  </a:cubicBezTo>
                  <a:cubicBezTo>
                    <a:pt x="82769" y="43355"/>
                    <a:pt x="85331" y="18722"/>
                    <a:pt x="99717" y="8277"/>
                  </a:cubicBezTo>
                  <a:cubicBezTo>
                    <a:pt x="114103" y="-2168"/>
                    <a:pt x="149970" y="1380"/>
                    <a:pt x="160020" y="0"/>
                  </a:cubicBezTo>
                </a:path>
              </a:pathLst>
            </a:custGeom>
            <a:noFill/>
            <a:ln cap="flat" cmpd="sng" w="28575">
              <a:solidFill>
                <a:schemeClr val="dk2"/>
              </a:solidFill>
              <a:prstDash val="solid"/>
              <a:round/>
              <a:headEnd len="med" w="med" type="none"/>
              <a:tailEnd len="med" w="med" type="none"/>
            </a:ln>
          </p:spPr>
        </p:sp>
        <p:cxnSp>
          <p:nvCxnSpPr>
            <p:cNvPr id="356" name="Google Shape;356;h4f8be8f1b2c30ea5_0_109"/>
            <p:cNvCxnSpPr/>
            <p:nvPr/>
          </p:nvCxnSpPr>
          <p:spPr>
            <a:xfrm>
              <a:off x="3962925" y="2768500"/>
              <a:ext cx="4041900" cy="0"/>
            </a:xfrm>
            <a:prstGeom prst="straightConnector1">
              <a:avLst/>
            </a:prstGeom>
            <a:noFill/>
            <a:ln cap="flat" cmpd="sng" w="38100">
              <a:solidFill>
                <a:schemeClr val="dk2"/>
              </a:solidFill>
              <a:prstDash val="solid"/>
              <a:round/>
              <a:headEnd len="med" w="med" type="none"/>
              <a:tailEnd len="med" w="med" type="none"/>
            </a:ln>
          </p:spPr>
        </p:cxnSp>
        <p:sp>
          <p:nvSpPr>
            <p:cNvPr id="357" name="Google Shape;357;h4f8be8f1b2c30ea5_0_109"/>
            <p:cNvSpPr txBox="1"/>
            <p:nvPr/>
          </p:nvSpPr>
          <p:spPr>
            <a:xfrm>
              <a:off x="4018300" y="2122000"/>
              <a:ext cx="743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0.5</a:t>
              </a:r>
              <a:endParaRPr sz="3000">
                <a:solidFill>
                  <a:srgbClr val="434343"/>
                </a:solidFill>
                <a:latin typeface="Comfortaa"/>
                <a:ea typeface="Comfortaa"/>
                <a:cs typeface="Comfortaa"/>
                <a:sym typeface="Comfortaa"/>
              </a:endParaRPr>
            </a:p>
          </p:txBody>
        </p:sp>
        <p:sp>
          <p:nvSpPr>
            <p:cNvPr id="358" name="Google Shape;358;h4f8be8f1b2c30ea5_0_109"/>
            <p:cNvSpPr txBox="1"/>
            <p:nvPr/>
          </p:nvSpPr>
          <p:spPr>
            <a:xfrm>
              <a:off x="6755200" y="1716475"/>
              <a:ext cx="1275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DB2E2C"/>
                  </a:solidFill>
                  <a:latin typeface="Comfortaa"/>
                  <a:ea typeface="Comfortaa"/>
                  <a:cs typeface="Comfortaa"/>
                  <a:sym typeface="Comfortaa"/>
                </a:rPr>
                <a:t>technological</a:t>
              </a:r>
              <a:endParaRPr b="1" sz="1200">
                <a:solidFill>
                  <a:srgbClr val="DB2E2C"/>
                </a:solidFill>
                <a:latin typeface="Comfortaa"/>
                <a:ea typeface="Comfortaa"/>
                <a:cs typeface="Comfortaa"/>
                <a:sym typeface="Comfortaa"/>
              </a:endParaRPr>
            </a:p>
          </p:txBody>
        </p:sp>
        <p:sp>
          <p:nvSpPr>
            <p:cNvPr id="359" name="Google Shape;359;h4f8be8f1b2c30ea5_0_109"/>
            <p:cNvSpPr txBox="1"/>
            <p:nvPr/>
          </p:nvSpPr>
          <p:spPr>
            <a:xfrm>
              <a:off x="6755200" y="3340150"/>
              <a:ext cx="949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200">
                  <a:solidFill>
                    <a:srgbClr val="0000CC"/>
                  </a:solidFill>
                  <a:latin typeface="Comfortaa"/>
                  <a:ea typeface="Comfortaa"/>
                  <a:cs typeface="Comfortaa"/>
                  <a:sym typeface="Comfortaa"/>
                </a:rPr>
                <a:t>chemical</a:t>
              </a:r>
              <a:endParaRPr b="1" sz="1200">
                <a:solidFill>
                  <a:srgbClr val="0000CC"/>
                </a:solidFill>
                <a:latin typeface="Comfortaa"/>
                <a:ea typeface="Comfortaa"/>
                <a:cs typeface="Comfortaa"/>
                <a:sym typeface="Comfortaa"/>
              </a:endParaRPr>
            </a:p>
          </p:txBody>
        </p:sp>
        <p:sp>
          <p:nvSpPr>
            <p:cNvPr id="360" name="Google Shape;360;h4f8be8f1b2c30ea5_0_109"/>
            <p:cNvSpPr/>
            <p:nvPr/>
          </p:nvSpPr>
          <p:spPr>
            <a:xfrm>
              <a:off x="6286508" y="1290698"/>
              <a:ext cx="199200" cy="199200"/>
            </a:xfrm>
            <a:prstGeom prst="ellipse">
              <a:avLst/>
            </a:prstGeom>
            <a:noFill/>
            <a:ln cap="flat" cmpd="sng" w="3810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cxnSp>
          <p:nvCxnSpPr>
            <p:cNvPr id="361" name="Google Shape;361;h4f8be8f1b2c30ea5_0_109"/>
            <p:cNvCxnSpPr>
              <a:stCxn id="360" idx="4"/>
            </p:cNvCxnSpPr>
            <p:nvPr/>
          </p:nvCxnSpPr>
          <p:spPr>
            <a:xfrm>
              <a:off x="6386108" y="1489898"/>
              <a:ext cx="0" cy="3107100"/>
            </a:xfrm>
            <a:prstGeom prst="straightConnector1">
              <a:avLst/>
            </a:prstGeom>
            <a:noFill/>
            <a:ln cap="flat" cmpd="sng" w="28575">
              <a:solidFill>
                <a:srgbClr val="9900FF"/>
              </a:solidFill>
              <a:prstDash val="dash"/>
              <a:round/>
              <a:headEnd len="med" w="med" type="none"/>
              <a:tailEnd len="med" w="med" type="none"/>
            </a:ln>
          </p:spPr>
        </p:cxnSp>
        <p:cxnSp>
          <p:nvCxnSpPr>
            <p:cNvPr id="362" name="Google Shape;362;h4f8be8f1b2c30ea5_0_109"/>
            <p:cNvCxnSpPr>
              <a:stCxn id="360" idx="2"/>
            </p:cNvCxnSpPr>
            <p:nvPr/>
          </p:nvCxnSpPr>
          <p:spPr>
            <a:xfrm rot="10800000">
              <a:off x="3934208" y="1390298"/>
              <a:ext cx="2352300" cy="0"/>
            </a:xfrm>
            <a:prstGeom prst="straightConnector1">
              <a:avLst/>
            </a:prstGeom>
            <a:noFill/>
            <a:ln cap="flat" cmpd="sng" w="28575">
              <a:solidFill>
                <a:srgbClr val="9900FF"/>
              </a:solidFill>
              <a:prstDash val="dash"/>
              <a:round/>
              <a:headEnd len="med" w="med" type="none"/>
              <a:tailEnd len="med" w="med" type="none"/>
            </a:ln>
          </p:spPr>
        </p:cxnSp>
        <p:sp>
          <p:nvSpPr>
            <p:cNvPr id="363" name="Google Shape;363;h4f8be8f1b2c30ea5_0_109"/>
            <p:cNvSpPr txBox="1"/>
            <p:nvPr/>
          </p:nvSpPr>
          <p:spPr>
            <a:xfrm>
              <a:off x="6150000" y="4537375"/>
              <a:ext cx="47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9900FF"/>
                  </a:solidFill>
                  <a:latin typeface="Comfortaa"/>
                  <a:ea typeface="Comfortaa"/>
                  <a:cs typeface="Comfortaa"/>
                  <a:sym typeface="Comfortaa"/>
                </a:rPr>
                <a:t>7.6</a:t>
              </a:r>
              <a:endParaRPr b="1" sz="1800">
                <a:solidFill>
                  <a:srgbClr val="9900FF"/>
                </a:solidFill>
                <a:latin typeface="Comfortaa"/>
                <a:ea typeface="Comfortaa"/>
                <a:cs typeface="Comfortaa"/>
                <a:sym typeface="Comfortaa"/>
              </a:endParaRPr>
            </a:p>
          </p:txBody>
        </p:sp>
        <p:sp>
          <p:nvSpPr>
            <p:cNvPr id="364" name="Google Shape;364;h4f8be8f1b2c30ea5_0_109"/>
            <p:cNvSpPr txBox="1"/>
            <p:nvPr/>
          </p:nvSpPr>
          <p:spPr>
            <a:xfrm>
              <a:off x="3371550" y="1159450"/>
              <a:ext cx="68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9900FF"/>
                  </a:solidFill>
                  <a:latin typeface="Comfortaa"/>
                  <a:ea typeface="Comfortaa"/>
                  <a:cs typeface="Comfortaa"/>
                  <a:sym typeface="Comfortaa"/>
                </a:rPr>
                <a:t>0.91</a:t>
              </a:r>
              <a:endParaRPr b="1" sz="1800">
                <a:solidFill>
                  <a:srgbClr val="9900FF"/>
                </a:solidFill>
                <a:latin typeface="Comfortaa"/>
                <a:ea typeface="Comfortaa"/>
                <a:cs typeface="Comfortaa"/>
                <a:sym typeface="Comfortaa"/>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h3b987c62679a4f5d_0_1292"/>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Sigmoid Activation Function</a:t>
            </a:r>
            <a:endParaRPr/>
          </a:p>
        </p:txBody>
      </p:sp>
      <p:sp>
        <p:nvSpPr>
          <p:cNvPr id="370" name="Google Shape;370;h3b987c62679a4f5d_0_1292"/>
          <p:cNvSpPr txBox="1"/>
          <p:nvPr/>
        </p:nvSpPr>
        <p:spPr>
          <a:xfrm>
            <a:off x="311700" y="1601725"/>
            <a:ext cx="1731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a:t>
            </a:r>
            <a:r>
              <a:rPr lang="pt-BR" sz="2200">
                <a:solidFill>
                  <a:srgbClr val="434343"/>
                </a:solidFill>
                <a:latin typeface="Courier New"/>
                <a:ea typeface="Courier New"/>
                <a:cs typeface="Courier New"/>
                <a:sym typeface="Courier New"/>
              </a:rPr>
              <a:t>=</a:t>
            </a:r>
            <a:r>
              <a:rPr lang="pt-BR" sz="2200">
                <a:solidFill>
                  <a:srgbClr val="434343"/>
                </a:solidFill>
                <a:latin typeface="Courier New"/>
                <a:ea typeface="Courier New"/>
                <a:cs typeface="Courier New"/>
                <a:sym typeface="Courier New"/>
              </a:rPr>
              <a:t>[7.6]</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w=[2.42]</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b=-16.11</a:t>
            </a:r>
            <a:endParaRPr sz="2200">
              <a:solidFill>
                <a:srgbClr val="434343"/>
              </a:solidFill>
              <a:latin typeface="Courier New"/>
              <a:ea typeface="Courier New"/>
              <a:cs typeface="Courier New"/>
              <a:sym typeface="Courier New"/>
            </a:endParaRPr>
          </a:p>
        </p:txBody>
      </p:sp>
      <p:sp>
        <p:nvSpPr>
          <p:cNvPr id="371" name="Google Shape;371;h3b987c62679a4f5d_0_1292"/>
          <p:cNvSpPr/>
          <p:nvPr/>
        </p:nvSpPr>
        <p:spPr>
          <a:xfrm>
            <a:off x="4530603" y="3629800"/>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0" baseline="-25000" lang="pt-BR" sz="1935" strike="noStrike">
                <a:latin typeface="Arial"/>
                <a:ea typeface="Arial"/>
                <a:cs typeface="Arial"/>
                <a:sym typeface="Arial"/>
              </a:rPr>
              <a:t>1</a:t>
            </a:r>
            <a:endParaRPr b="0" sz="1935" strike="noStrike">
              <a:latin typeface="Arial"/>
              <a:ea typeface="Arial"/>
              <a:cs typeface="Arial"/>
              <a:sym typeface="Arial"/>
            </a:endParaRPr>
          </a:p>
        </p:txBody>
      </p:sp>
      <p:sp>
        <p:nvSpPr>
          <p:cNvPr id="372" name="Google Shape;372;h3b987c62679a4f5d_0_1292"/>
          <p:cNvSpPr/>
          <p:nvPr/>
        </p:nvSpPr>
        <p:spPr>
          <a:xfrm>
            <a:off x="6667430" y="3669384"/>
            <a:ext cx="785400" cy="785400"/>
          </a:xfrm>
          <a:prstGeom prst="ellipse">
            <a:avLst/>
          </a:prstGeom>
          <a:solidFill>
            <a:srgbClr val="FFFFFF"/>
          </a:solidFill>
          <a:ln cap="flat" cmpd="sng" w="20800">
            <a:solidFill>
              <a:srgbClr val="000000"/>
            </a:solidFill>
            <a:prstDash val="solid"/>
            <a:round/>
            <a:headEnd len="sm" w="sm" type="none"/>
            <a:tailEnd len="sm" w="sm" type="none"/>
          </a:ln>
        </p:spPr>
        <p:txBody>
          <a:bodyPr anchorCtr="0" anchor="ctr" bIns="49875" lIns="49875" spcFirstLastPara="1" rIns="49875" wrap="square" tIns="49875">
            <a:noAutofit/>
          </a:bodyPr>
          <a:lstStyle/>
          <a:p>
            <a:pPr indent="0" lvl="0" marL="0" rtl="0" algn="l">
              <a:spcBef>
                <a:spcPts val="0"/>
              </a:spcBef>
              <a:spcAft>
                <a:spcPts val="0"/>
              </a:spcAft>
              <a:buNone/>
            </a:pPr>
            <a:r>
              <a:t/>
            </a:r>
            <a:endParaRPr/>
          </a:p>
        </p:txBody>
      </p:sp>
      <p:cxnSp>
        <p:nvCxnSpPr>
          <p:cNvPr id="373" name="Google Shape;373;h3b987c62679a4f5d_0_1292"/>
          <p:cNvCxnSpPr>
            <a:stCxn id="371" idx="6"/>
            <a:endCxn id="372" idx="2"/>
          </p:cNvCxnSpPr>
          <p:nvPr/>
        </p:nvCxnSpPr>
        <p:spPr>
          <a:xfrm>
            <a:off x="5132403" y="3930850"/>
            <a:ext cx="1535100" cy="131100"/>
          </a:xfrm>
          <a:prstGeom prst="straightConnector1">
            <a:avLst/>
          </a:prstGeom>
          <a:noFill/>
          <a:ln cap="flat" cmpd="sng" w="28575">
            <a:solidFill>
              <a:srgbClr val="000000"/>
            </a:solidFill>
            <a:prstDash val="solid"/>
            <a:round/>
            <a:headEnd len="sm" w="sm" type="none"/>
            <a:tailEnd len="med" w="med" type="triangle"/>
          </a:ln>
        </p:spPr>
      </p:cxnSp>
      <p:cxnSp>
        <p:nvCxnSpPr>
          <p:cNvPr id="374" name="Google Shape;374;h3b987c62679a4f5d_0_1292"/>
          <p:cNvCxnSpPr/>
          <p:nvPr/>
        </p:nvCxnSpPr>
        <p:spPr>
          <a:xfrm>
            <a:off x="7452981" y="4062146"/>
            <a:ext cx="1011900" cy="0"/>
          </a:xfrm>
          <a:prstGeom prst="straightConnector1">
            <a:avLst/>
          </a:prstGeom>
          <a:noFill/>
          <a:ln cap="flat" cmpd="sng" w="28575">
            <a:solidFill>
              <a:srgbClr val="000000"/>
            </a:solidFill>
            <a:prstDash val="solid"/>
            <a:round/>
            <a:headEnd len="sm" w="sm" type="none"/>
            <a:tailEnd len="med" w="med" type="triangle"/>
          </a:ln>
        </p:spPr>
      </p:cxnSp>
      <p:cxnSp>
        <p:nvCxnSpPr>
          <p:cNvPr id="375" name="Google Shape;375;h3b987c62679a4f5d_0_1292"/>
          <p:cNvCxnSpPr/>
          <p:nvPr/>
        </p:nvCxnSpPr>
        <p:spPr>
          <a:xfrm>
            <a:off x="7060205" y="3669384"/>
            <a:ext cx="0" cy="785400"/>
          </a:xfrm>
          <a:prstGeom prst="straightConnector1">
            <a:avLst/>
          </a:prstGeom>
          <a:noFill/>
          <a:ln cap="flat" cmpd="sng" w="5200">
            <a:solidFill>
              <a:srgbClr val="000000"/>
            </a:solidFill>
            <a:prstDash val="solid"/>
            <a:round/>
            <a:headEnd len="sm" w="sm" type="none"/>
            <a:tailEnd len="sm" w="sm" type="none"/>
          </a:ln>
        </p:spPr>
      </p:cxnSp>
      <p:sp>
        <p:nvSpPr>
          <p:cNvPr id="376" name="Google Shape;376;h3b987c62679a4f5d_0_1292"/>
          <p:cNvSpPr txBox="1"/>
          <p:nvPr/>
        </p:nvSpPr>
        <p:spPr>
          <a:xfrm>
            <a:off x="6786048"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Z</a:t>
            </a:r>
            <a:endParaRPr b="0" sz="2165" strike="noStrike">
              <a:latin typeface="Arial"/>
              <a:ea typeface="Arial"/>
              <a:cs typeface="Arial"/>
              <a:sym typeface="Arial"/>
            </a:endParaRPr>
          </a:p>
        </p:txBody>
      </p:sp>
      <p:sp>
        <p:nvSpPr>
          <p:cNvPr id="377" name="Google Shape;377;h3b987c62679a4f5d_0_1292"/>
          <p:cNvSpPr txBox="1"/>
          <p:nvPr/>
        </p:nvSpPr>
        <p:spPr>
          <a:xfrm>
            <a:off x="7724101" y="3669375"/>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1900"/>
              <a:t>y</a:t>
            </a:r>
            <a:endParaRPr b="0" sz="1900" strike="noStrike">
              <a:latin typeface="Arial"/>
              <a:ea typeface="Arial"/>
              <a:cs typeface="Arial"/>
              <a:sym typeface="Arial"/>
            </a:endParaRPr>
          </a:p>
        </p:txBody>
      </p:sp>
      <p:sp>
        <p:nvSpPr>
          <p:cNvPr id="378" name="Google Shape;378;h3b987c62679a4f5d_0_1292"/>
          <p:cNvSpPr/>
          <p:nvPr/>
        </p:nvSpPr>
        <p:spPr>
          <a:xfrm>
            <a:off x="4552541" y="2571751"/>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t/>
            </a:r>
            <a:endParaRPr b="0" sz="1475" strike="noStrike">
              <a:latin typeface="Arial"/>
              <a:ea typeface="Arial"/>
              <a:cs typeface="Arial"/>
              <a:sym typeface="Arial"/>
            </a:endParaRPr>
          </a:p>
        </p:txBody>
      </p:sp>
      <p:sp>
        <p:nvSpPr>
          <p:cNvPr id="379" name="Google Shape;379;h3b987c62679a4f5d_0_1292"/>
          <p:cNvSpPr txBox="1"/>
          <p:nvPr/>
        </p:nvSpPr>
        <p:spPr>
          <a:xfrm>
            <a:off x="4514475" y="2610579"/>
            <a:ext cx="714600" cy="468000"/>
          </a:xfrm>
          <a:prstGeom prst="rect">
            <a:avLst/>
          </a:prstGeom>
          <a:noFill/>
          <a:ln>
            <a:noFill/>
          </a:ln>
        </p:spPr>
        <p:txBody>
          <a:bodyPr anchorCtr="0" anchor="t" bIns="84275" lIns="84275" spcFirstLastPara="1" rIns="84275" wrap="square" tIns="84275">
            <a:spAutoFit/>
          </a:bodyPr>
          <a:lstStyle/>
          <a:p>
            <a:pPr indent="0" lvl="0" marL="0" rtl="0" algn="ctr">
              <a:spcBef>
                <a:spcPts val="0"/>
              </a:spcBef>
              <a:spcAft>
                <a:spcPts val="0"/>
              </a:spcAft>
              <a:buNone/>
            </a:pPr>
            <a:r>
              <a:rPr lang="pt-BR" sz="1935">
                <a:solidFill>
                  <a:schemeClr val="dk1"/>
                </a:solidFill>
              </a:rPr>
              <a:t>x</a:t>
            </a:r>
            <a:r>
              <a:rPr baseline="-25000" lang="pt-BR" sz="1935">
                <a:solidFill>
                  <a:schemeClr val="dk1"/>
                </a:solidFill>
              </a:rPr>
              <a:t>0</a:t>
            </a:r>
            <a:r>
              <a:rPr lang="pt-BR" sz="1935">
                <a:solidFill>
                  <a:schemeClr val="dk1"/>
                </a:solidFill>
              </a:rPr>
              <a:t>=1</a:t>
            </a:r>
            <a:endParaRPr sz="1935">
              <a:solidFill>
                <a:schemeClr val="dk1"/>
              </a:solidFill>
            </a:endParaRPr>
          </a:p>
        </p:txBody>
      </p:sp>
      <p:cxnSp>
        <p:nvCxnSpPr>
          <p:cNvPr id="380" name="Google Shape;380;h3b987c62679a4f5d_0_1292"/>
          <p:cNvCxnSpPr>
            <a:stCxn id="379" idx="3"/>
          </p:cNvCxnSpPr>
          <p:nvPr/>
        </p:nvCxnSpPr>
        <p:spPr>
          <a:xfrm>
            <a:off x="5229075" y="2844579"/>
            <a:ext cx="1471500" cy="1015200"/>
          </a:xfrm>
          <a:prstGeom prst="straightConnector1">
            <a:avLst/>
          </a:prstGeom>
          <a:noFill/>
          <a:ln cap="flat" cmpd="sng" w="28575">
            <a:solidFill>
              <a:srgbClr val="000000"/>
            </a:solidFill>
            <a:prstDash val="solid"/>
            <a:round/>
            <a:headEnd len="sm" w="sm" type="none"/>
            <a:tailEnd len="med" w="med" type="triangle"/>
          </a:ln>
        </p:spPr>
      </p:cxnSp>
      <p:sp>
        <p:nvSpPr>
          <p:cNvPr id="381" name="Google Shape;381;h3b987c62679a4f5d_0_1292"/>
          <p:cNvSpPr txBox="1"/>
          <p:nvPr/>
        </p:nvSpPr>
        <p:spPr>
          <a:xfrm>
            <a:off x="7121644"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f</a:t>
            </a:r>
            <a:endParaRPr b="0" sz="2165" strike="noStrike">
              <a:latin typeface="Arial"/>
              <a:ea typeface="Arial"/>
              <a:cs typeface="Arial"/>
              <a:sym typeface="Arial"/>
            </a:endParaRPr>
          </a:p>
        </p:txBody>
      </p:sp>
      <p:sp>
        <p:nvSpPr>
          <p:cNvPr id="382" name="Google Shape;382;h3b987c62679a4f5d_0_1292"/>
          <p:cNvSpPr txBox="1"/>
          <p:nvPr/>
        </p:nvSpPr>
        <p:spPr>
          <a:xfrm>
            <a:off x="5715250" y="2802325"/>
            <a:ext cx="27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b</a:t>
            </a:r>
            <a:endParaRPr sz="1800">
              <a:solidFill>
                <a:schemeClr val="dk1"/>
              </a:solidFill>
            </a:endParaRPr>
          </a:p>
        </p:txBody>
      </p:sp>
      <p:sp>
        <p:nvSpPr>
          <p:cNvPr id="383" name="Google Shape;383;h3b987c62679a4f5d_0_1292"/>
          <p:cNvSpPr txBox="1"/>
          <p:nvPr/>
        </p:nvSpPr>
        <p:spPr>
          <a:xfrm>
            <a:off x="5561671" y="3524750"/>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w</a:t>
            </a:r>
            <a:r>
              <a:rPr baseline="-25000" lang="pt-BR" sz="1800">
                <a:solidFill>
                  <a:schemeClr val="dk1"/>
                </a:solidFill>
              </a:rPr>
              <a:t>1</a:t>
            </a:r>
            <a:endParaRPr baseline="-25000" sz="18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h3b987c62679a4f5d_0_1382"/>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sp>
        <p:nvSpPr>
          <p:cNvPr id="389" name="Google Shape;389;h3b987c62679a4f5d_0_1382"/>
          <p:cNvSpPr txBox="1"/>
          <p:nvPr/>
        </p:nvSpPr>
        <p:spPr>
          <a:xfrm>
            <a:off x="311700" y="1601725"/>
            <a:ext cx="1731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a:t>
            </a:r>
            <a:r>
              <a:rPr lang="pt-BR" sz="2200">
                <a:solidFill>
                  <a:srgbClr val="434343"/>
                </a:solidFill>
                <a:latin typeface="Courier New"/>
                <a:ea typeface="Courier New"/>
                <a:cs typeface="Courier New"/>
                <a:sym typeface="Courier New"/>
              </a:rPr>
              <a:t>=[</a:t>
            </a:r>
            <a:r>
              <a:rPr b="1" lang="pt-BR" sz="2200">
                <a:solidFill>
                  <a:srgbClr val="FF0000"/>
                </a:solidFill>
                <a:latin typeface="Courier New"/>
                <a:ea typeface="Courier New"/>
                <a:cs typeface="Courier New"/>
                <a:sym typeface="Courier New"/>
              </a:rPr>
              <a:t>7.6</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w=[2.42]</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b=-16.11</a:t>
            </a:r>
            <a:endParaRPr sz="2200">
              <a:solidFill>
                <a:srgbClr val="434343"/>
              </a:solidFill>
              <a:latin typeface="Courier New"/>
              <a:ea typeface="Courier New"/>
              <a:cs typeface="Courier New"/>
              <a:sym typeface="Courier New"/>
            </a:endParaRPr>
          </a:p>
        </p:txBody>
      </p:sp>
      <p:sp>
        <p:nvSpPr>
          <p:cNvPr id="390" name="Google Shape;390;h3b987c62679a4f5d_0_1382"/>
          <p:cNvSpPr/>
          <p:nvPr/>
        </p:nvSpPr>
        <p:spPr>
          <a:xfrm>
            <a:off x="4530603" y="3629800"/>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0" baseline="-25000" lang="pt-BR" sz="1935" strike="noStrike">
                <a:latin typeface="Arial"/>
                <a:ea typeface="Arial"/>
                <a:cs typeface="Arial"/>
                <a:sym typeface="Arial"/>
              </a:rPr>
              <a:t>1</a:t>
            </a:r>
            <a:endParaRPr b="0" sz="1935" strike="noStrike">
              <a:latin typeface="Arial"/>
              <a:ea typeface="Arial"/>
              <a:cs typeface="Arial"/>
              <a:sym typeface="Arial"/>
            </a:endParaRPr>
          </a:p>
        </p:txBody>
      </p:sp>
      <p:sp>
        <p:nvSpPr>
          <p:cNvPr id="391" name="Google Shape;391;h3b987c62679a4f5d_0_1382"/>
          <p:cNvSpPr/>
          <p:nvPr/>
        </p:nvSpPr>
        <p:spPr>
          <a:xfrm>
            <a:off x="6667430" y="3669384"/>
            <a:ext cx="785400" cy="785400"/>
          </a:xfrm>
          <a:prstGeom prst="ellipse">
            <a:avLst/>
          </a:prstGeom>
          <a:solidFill>
            <a:srgbClr val="FFFFFF"/>
          </a:solidFill>
          <a:ln cap="flat" cmpd="sng" w="20800">
            <a:solidFill>
              <a:srgbClr val="000000"/>
            </a:solidFill>
            <a:prstDash val="solid"/>
            <a:round/>
            <a:headEnd len="sm" w="sm" type="none"/>
            <a:tailEnd len="sm" w="sm" type="none"/>
          </a:ln>
        </p:spPr>
        <p:txBody>
          <a:bodyPr anchorCtr="0" anchor="ctr" bIns="49875" lIns="49875" spcFirstLastPara="1" rIns="49875" wrap="square" tIns="49875">
            <a:noAutofit/>
          </a:bodyPr>
          <a:lstStyle/>
          <a:p>
            <a:pPr indent="0" lvl="0" marL="0" rtl="0" algn="l">
              <a:spcBef>
                <a:spcPts val="0"/>
              </a:spcBef>
              <a:spcAft>
                <a:spcPts val="0"/>
              </a:spcAft>
              <a:buNone/>
            </a:pPr>
            <a:r>
              <a:t/>
            </a:r>
            <a:endParaRPr/>
          </a:p>
        </p:txBody>
      </p:sp>
      <p:cxnSp>
        <p:nvCxnSpPr>
          <p:cNvPr id="392" name="Google Shape;392;h3b987c62679a4f5d_0_1382"/>
          <p:cNvCxnSpPr>
            <a:stCxn id="390" idx="6"/>
            <a:endCxn id="391" idx="2"/>
          </p:cNvCxnSpPr>
          <p:nvPr/>
        </p:nvCxnSpPr>
        <p:spPr>
          <a:xfrm>
            <a:off x="5132403" y="3930850"/>
            <a:ext cx="1535100" cy="131100"/>
          </a:xfrm>
          <a:prstGeom prst="straightConnector1">
            <a:avLst/>
          </a:prstGeom>
          <a:noFill/>
          <a:ln cap="flat" cmpd="sng" w="28575">
            <a:solidFill>
              <a:srgbClr val="000000"/>
            </a:solidFill>
            <a:prstDash val="solid"/>
            <a:round/>
            <a:headEnd len="sm" w="sm" type="none"/>
            <a:tailEnd len="med" w="med" type="triangle"/>
          </a:ln>
        </p:spPr>
      </p:cxnSp>
      <p:cxnSp>
        <p:nvCxnSpPr>
          <p:cNvPr id="393" name="Google Shape;393;h3b987c62679a4f5d_0_1382"/>
          <p:cNvCxnSpPr/>
          <p:nvPr/>
        </p:nvCxnSpPr>
        <p:spPr>
          <a:xfrm>
            <a:off x="7452981" y="4062146"/>
            <a:ext cx="1011900" cy="0"/>
          </a:xfrm>
          <a:prstGeom prst="straightConnector1">
            <a:avLst/>
          </a:prstGeom>
          <a:noFill/>
          <a:ln cap="flat" cmpd="sng" w="28575">
            <a:solidFill>
              <a:srgbClr val="000000"/>
            </a:solidFill>
            <a:prstDash val="solid"/>
            <a:round/>
            <a:headEnd len="sm" w="sm" type="none"/>
            <a:tailEnd len="med" w="med" type="triangle"/>
          </a:ln>
        </p:spPr>
      </p:cxnSp>
      <p:cxnSp>
        <p:nvCxnSpPr>
          <p:cNvPr id="394" name="Google Shape;394;h3b987c62679a4f5d_0_1382"/>
          <p:cNvCxnSpPr/>
          <p:nvPr/>
        </p:nvCxnSpPr>
        <p:spPr>
          <a:xfrm>
            <a:off x="7060205" y="3669384"/>
            <a:ext cx="0" cy="785400"/>
          </a:xfrm>
          <a:prstGeom prst="straightConnector1">
            <a:avLst/>
          </a:prstGeom>
          <a:noFill/>
          <a:ln cap="flat" cmpd="sng" w="5200">
            <a:solidFill>
              <a:srgbClr val="000000"/>
            </a:solidFill>
            <a:prstDash val="solid"/>
            <a:round/>
            <a:headEnd len="sm" w="sm" type="none"/>
            <a:tailEnd len="sm" w="sm" type="none"/>
          </a:ln>
        </p:spPr>
      </p:cxnSp>
      <p:sp>
        <p:nvSpPr>
          <p:cNvPr id="395" name="Google Shape;395;h3b987c62679a4f5d_0_1382"/>
          <p:cNvSpPr txBox="1"/>
          <p:nvPr/>
        </p:nvSpPr>
        <p:spPr>
          <a:xfrm>
            <a:off x="6786048"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Z</a:t>
            </a:r>
            <a:endParaRPr b="0" sz="2165" strike="noStrike">
              <a:latin typeface="Arial"/>
              <a:ea typeface="Arial"/>
              <a:cs typeface="Arial"/>
              <a:sym typeface="Arial"/>
            </a:endParaRPr>
          </a:p>
        </p:txBody>
      </p:sp>
      <p:sp>
        <p:nvSpPr>
          <p:cNvPr id="396" name="Google Shape;396;h3b987c62679a4f5d_0_1382"/>
          <p:cNvSpPr txBox="1"/>
          <p:nvPr/>
        </p:nvSpPr>
        <p:spPr>
          <a:xfrm>
            <a:off x="7724101" y="3669375"/>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1900"/>
              <a:t>y</a:t>
            </a:r>
            <a:endParaRPr b="0" sz="1900" strike="noStrike">
              <a:latin typeface="Arial"/>
              <a:ea typeface="Arial"/>
              <a:cs typeface="Arial"/>
              <a:sym typeface="Arial"/>
            </a:endParaRPr>
          </a:p>
        </p:txBody>
      </p:sp>
      <p:sp>
        <p:nvSpPr>
          <p:cNvPr id="397" name="Google Shape;397;h3b987c62679a4f5d_0_1382"/>
          <p:cNvSpPr/>
          <p:nvPr/>
        </p:nvSpPr>
        <p:spPr>
          <a:xfrm>
            <a:off x="4552541" y="2571751"/>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t/>
            </a:r>
            <a:endParaRPr b="0" sz="1475" strike="noStrike">
              <a:latin typeface="Arial"/>
              <a:ea typeface="Arial"/>
              <a:cs typeface="Arial"/>
              <a:sym typeface="Arial"/>
            </a:endParaRPr>
          </a:p>
        </p:txBody>
      </p:sp>
      <p:sp>
        <p:nvSpPr>
          <p:cNvPr id="398" name="Google Shape;398;h3b987c62679a4f5d_0_1382"/>
          <p:cNvSpPr txBox="1"/>
          <p:nvPr/>
        </p:nvSpPr>
        <p:spPr>
          <a:xfrm>
            <a:off x="4514475" y="2610579"/>
            <a:ext cx="714600" cy="468000"/>
          </a:xfrm>
          <a:prstGeom prst="rect">
            <a:avLst/>
          </a:prstGeom>
          <a:noFill/>
          <a:ln>
            <a:noFill/>
          </a:ln>
        </p:spPr>
        <p:txBody>
          <a:bodyPr anchorCtr="0" anchor="t" bIns="84275" lIns="84275" spcFirstLastPara="1" rIns="84275" wrap="square" tIns="84275">
            <a:spAutoFit/>
          </a:bodyPr>
          <a:lstStyle/>
          <a:p>
            <a:pPr indent="0" lvl="0" marL="0" rtl="0" algn="ctr">
              <a:spcBef>
                <a:spcPts val="0"/>
              </a:spcBef>
              <a:spcAft>
                <a:spcPts val="0"/>
              </a:spcAft>
              <a:buNone/>
            </a:pPr>
            <a:r>
              <a:rPr lang="pt-BR" sz="1935">
                <a:solidFill>
                  <a:schemeClr val="dk1"/>
                </a:solidFill>
              </a:rPr>
              <a:t>x</a:t>
            </a:r>
            <a:r>
              <a:rPr baseline="-25000" lang="pt-BR" sz="1935">
                <a:solidFill>
                  <a:schemeClr val="dk1"/>
                </a:solidFill>
              </a:rPr>
              <a:t>0</a:t>
            </a:r>
            <a:r>
              <a:rPr lang="pt-BR" sz="1935">
                <a:solidFill>
                  <a:schemeClr val="dk1"/>
                </a:solidFill>
              </a:rPr>
              <a:t>=1</a:t>
            </a:r>
            <a:endParaRPr sz="1935">
              <a:solidFill>
                <a:schemeClr val="dk1"/>
              </a:solidFill>
            </a:endParaRPr>
          </a:p>
        </p:txBody>
      </p:sp>
      <p:cxnSp>
        <p:nvCxnSpPr>
          <p:cNvPr id="399" name="Google Shape;399;h3b987c62679a4f5d_0_1382"/>
          <p:cNvCxnSpPr>
            <a:stCxn id="398" idx="3"/>
          </p:cNvCxnSpPr>
          <p:nvPr/>
        </p:nvCxnSpPr>
        <p:spPr>
          <a:xfrm>
            <a:off x="5229075" y="2844579"/>
            <a:ext cx="1471500" cy="1015200"/>
          </a:xfrm>
          <a:prstGeom prst="straightConnector1">
            <a:avLst/>
          </a:prstGeom>
          <a:noFill/>
          <a:ln cap="flat" cmpd="sng" w="28575">
            <a:solidFill>
              <a:srgbClr val="000000"/>
            </a:solidFill>
            <a:prstDash val="solid"/>
            <a:round/>
            <a:headEnd len="sm" w="sm" type="none"/>
            <a:tailEnd len="med" w="med" type="triangle"/>
          </a:ln>
        </p:spPr>
      </p:cxnSp>
      <p:sp>
        <p:nvSpPr>
          <p:cNvPr id="400" name="Google Shape;400;h3b987c62679a4f5d_0_1382"/>
          <p:cNvSpPr txBox="1"/>
          <p:nvPr/>
        </p:nvSpPr>
        <p:spPr>
          <a:xfrm>
            <a:off x="7121644"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f</a:t>
            </a:r>
            <a:endParaRPr b="0" sz="2165" strike="noStrike">
              <a:latin typeface="Arial"/>
              <a:ea typeface="Arial"/>
              <a:cs typeface="Arial"/>
              <a:sym typeface="Arial"/>
            </a:endParaRPr>
          </a:p>
        </p:txBody>
      </p:sp>
      <p:sp>
        <p:nvSpPr>
          <p:cNvPr id="401" name="Google Shape;401;h3b987c62679a4f5d_0_1382"/>
          <p:cNvSpPr txBox="1"/>
          <p:nvPr/>
        </p:nvSpPr>
        <p:spPr>
          <a:xfrm>
            <a:off x="4046750" y="3700000"/>
            <a:ext cx="5058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7.6</a:t>
            </a:r>
            <a:endParaRPr b="1" sz="1800">
              <a:solidFill>
                <a:srgbClr val="FF0000"/>
              </a:solidFill>
            </a:endParaRPr>
          </a:p>
        </p:txBody>
      </p:sp>
      <p:sp>
        <p:nvSpPr>
          <p:cNvPr id="402" name="Google Shape;402;h3b987c62679a4f5d_0_1382"/>
          <p:cNvSpPr txBox="1"/>
          <p:nvPr/>
        </p:nvSpPr>
        <p:spPr>
          <a:xfrm>
            <a:off x="4157150" y="2641950"/>
            <a:ext cx="395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1</a:t>
            </a:r>
            <a:endParaRPr b="1" sz="1800">
              <a:solidFill>
                <a:srgbClr val="FF0000"/>
              </a:solidFill>
            </a:endParaRPr>
          </a:p>
        </p:txBody>
      </p:sp>
      <p:sp>
        <p:nvSpPr>
          <p:cNvPr id="403" name="Google Shape;403;h3b987c62679a4f5d_0_1382"/>
          <p:cNvSpPr txBox="1"/>
          <p:nvPr/>
        </p:nvSpPr>
        <p:spPr>
          <a:xfrm>
            <a:off x="5715250" y="2802325"/>
            <a:ext cx="27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b</a:t>
            </a:r>
            <a:endParaRPr sz="1800">
              <a:solidFill>
                <a:schemeClr val="dk1"/>
              </a:solidFill>
            </a:endParaRPr>
          </a:p>
        </p:txBody>
      </p:sp>
      <p:sp>
        <p:nvSpPr>
          <p:cNvPr id="404" name="Google Shape;404;h3b987c62679a4f5d_0_1382"/>
          <p:cNvSpPr txBox="1"/>
          <p:nvPr/>
        </p:nvSpPr>
        <p:spPr>
          <a:xfrm>
            <a:off x="5561671" y="3524750"/>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w</a:t>
            </a:r>
            <a:r>
              <a:rPr baseline="-25000" lang="pt-BR" sz="1800">
                <a:solidFill>
                  <a:schemeClr val="dk1"/>
                </a:solidFill>
              </a:rPr>
              <a:t>1</a:t>
            </a:r>
            <a:endParaRPr baseline="-25000" sz="18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h3b987c62679a4f5d_0_1420"/>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sp>
        <p:nvSpPr>
          <p:cNvPr id="410" name="Google Shape;410;h3b987c62679a4f5d_0_1420"/>
          <p:cNvSpPr/>
          <p:nvPr/>
        </p:nvSpPr>
        <p:spPr>
          <a:xfrm>
            <a:off x="4530603" y="3629800"/>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0" baseline="-25000" lang="pt-BR" sz="1935" strike="noStrike">
                <a:latin typeface="Arial"/>
                <a:ea typeface="Arial"/>
                <a:cs typeface="Arial"/>
                <a:sym typeface="Arial"/>
              </a:rPr>
              <a:t>1</a:t>
            </a:r>
            <a:endParaRPr b="0" sz="1935" strike="noStrike">
              <a:latin typeface="Arial"/>
              <a:ea typeface="Arial"/>
              <a:cs typeface="Arial"/>
              <a:sym typeface="Arial"/>
            </a:endParaRPr>
          </a:p>
        </p:txBody>
      </p:sp>
      <p:sp>
        <p:nvSpPr>
          <p:cNvPr id="411" name="Google Shape;411;h3b987c62679a4f5d_0_1420"/>
          <p:cNvSpPr/>
          <p:nvPr/>
        </p:nvSpPr>
        <p:spPr>
          <a:xfrm>
            <a:off x="6667430" y="3669384"/>
            <a:ext cx="785400" cy="785400"/>
          </a:xfrm>
          <a:prstGeom prst="ellipse">
            <a:avLst/>
          </a:prstGeom>
          <a:solidFill>
            <a:srgbClr val="FFFFFF"/>
          </a:solidFill>
          <a:ln cap="flat" cmpd="sng" w="20800">
            <a:solidFill>
              <a:srgbClr val="000000"/>
            </a:solidFill>
            <a:prstDash val="solid"/>
            <a:round/>
            <a:headEnd len="sm" w="sm" type="none"/>
            <a:tailEnd len="sm" w="sm" type="none"/>
          </a:ln>
        </p:spPr>
        <p:txBody>
          <a:bodyPr anchorCtr="0" anchor="ctr" bIns="49875" lIns="49875" spcFirstLastPara="1" rIns="49875" wrap="square" tIns="49875">
            <a:noAutofit/>
          </a:bodyPr>
          <a:lstStyle/>
          <a:p>
            <a:pPr indent="0" lvl="0" marL="0" rtl="0" algn="l">
              <a:spcBef>
                <a:spcPts val="0"/>
              </a:spcBef>
              <a:spcAft>
                <a:spcPts val="0"/>
              </a:spcAft>
              <a:buNone/>
            </a:pPr>
            <a:r>
              <a:t/>
            </a:r>
            <a:endParaRPr/>
          </a:p>
        </p:txBody>
      </p:sp>
      <p:cxnSp>
        <p:nvCxnSpPr>
          <p:cNvPr id="412" name="Google Shape;412;h3b987c62679a4f5d_0_1420"/>
          <p:cNvCxnSpPr>
            <a:stCxn id="410" idx="6"/>
            <a:endCxn id="411" idx="2"/>
          </p:cNvCxnSpPr>
          <p:nvPr/>
        </p:nvCxnSpPr>
        <p:spPr>
          <a:xfrm>
            <a:off x="5132403" y="3930850"/>
            <a:ext cx="1535100" cy="131100"/>
          </a:xfrm>
          <a:prstGeom prst="straightConnector1">
            <a:avLst/>
          </a:prstGeom>
          <a:noFill/>
          <a:ln cap="flat" cmpd="sng" w="28575">
            <a:solidFill>
              <a:srgbClr val="000000"/>
            </a:solidFill>
            <a:prstDash val="solid"/>
            <a:round/>
            <a:headEnd len="sm" w="sm" type="none"/>
            <a:tailEnd len="med" w="med" type="triangle"/>
          </a:ln>
        </p:spPr>
      </p:cxnSp>
      <p:cxnSp>
        <p:nvCxnSpPr>
          <p:cNvPr id="413" name="Google Shape;413;h3b987c62679a4f5d_0_1420"/>
          <p:cNvCxnSpPr/>
          <p:nvPr/>
        </p:nvCxnSpPr>
        <p:spPr>
          <a:xfrm>
            <a:off x="7452981" y="4062146"/>
            <a:ext cx="1011900" cy="0"/>
          </a:xfrm>
          <a:prstGeom prst="straightConnector1">
            <a:avLst/>
          </a:prstGeom>
          <a:noFill/>
          <a:ln cap="flat" cmpd="sng" w="28575">
            <a:solidFill>
              <a:srgbClr val="000000"/>
            </a:solidFill>
            <a:prstDash val="solid"/>
            <a:round/>
            <a:headEnd len="sm" w="sm" type="none"/>
            <a:tailEnd len="med" w="med" type="triangle"/>
          </a:ln>
        </p:spPr>
      </p:cxnSp>
      <p:cxnSp>
        <p:nvCxnSpPr>
          <p:cNvPr id="414" name="Google Shape;414;h3b987c62679a4f5d_0_1420"/>
          <p:cNvCxnSpPr/>
          <p:nvPr/>
        </p:nvCxnSpPr>
        <p:spPr>
          <a:xfrm>
            <a:off x="7060205" y="3669384"/>
            <a:ext cx="0" cy="785400"/>
          </a:xfrm>
          <a:prstGeom prst="straightConnector1">
            <a:avLst/>
          </a:prstGeom>
          <a:noFill/>
          <a:ln cap="flat" cmpd="sng" w="5200">
            <a:solidFill>
              <a:srgbClr val="000000"/>
            </a:solidFill>
            <a:prstDash val="solid"/>
            <a:round/>
            <a:headEnd len="sm" w="sm" type="none"/>
            <a:tailEnd len="sm" w="sm" type="none"/>
          </a:ln>
        </p:spPr>
      </p:cxnSp>
      <p:sp>
        <p:nvSpPr>
          <p:cNvPr id="415" name="Google Shape;415;h3b987c62679a4f5d_0_1420"/>
          <p:cNvSpPr txBox="1"/>
          <p:nvPr/>
        </p:nvSpPr>
        <p:spPr>
          <a:xfrm>
            <a:off x="6786048"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Z</a:t>
            </a:r>
            <a:endParaRPr b="0" sz="2165" strike="noStrike">
              <a:latin typeface="Arial"/>
              <a:ea typeface="Arial"/>
              <a:cs typeface="Arial"/>
              <a:sym typeface="Arial"/>
            </a:endParaRPr>
          </a:p>
        </p:txBody>
      </p:sp>
      <p:sp>
        <p:nvSpPr>
          <p:cNvPr id="416" name="Google Shape;416;h3b987c62679a4f5d_0_1420"/>
          <p:cNvSpPr txBox="1"/>
          <p:nvPr/>
        </p:nvSpPr>
        <p:spPr>
          <a:xfrm>
            <a:off x="7724101" y="3669375"/>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1900"/>
              <a:t>y</a:t>
            </a:r>
            <a:endParaRPr b="0" sz="1900" strike="noStrike">
              <a:latin typeface="Arial"/>
              <a:ea typeface="Arial"/>
              <a:cs typeface="Arial"/>
              <a:sym typeface="Arial"/>
            </a:endParaRPr>
          </a:p>
        </p:txBody>
      </p:sp>
      <p:sp>
        <p:nvSpPr>
          <p:cNvPr id="417" name="Google Shape;417;h3b987c62679a4f5d_0_1420"/>
          <p:cNvSpPr/>
          <p:nvPr/>
        </p:nvSpPr>
        <p:spPr>
          <a:xfrm>
            <a:off x="4552541" y="2571751"/>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t/>
            </a:r>
            <a:endParaRPr b="0" sz="1475" strike="noStrike">
              <a:latin typeface="Arial"/>
              <a:ea typeface="Arial"/>
              <a:cs typeface="Arial"/>
              <a:sym typeface="Arial"/>
            </a:endParaRPr>
          </a:p>
        </p:txBody>
      </p:sp>
      <p:sp>
        <p:nvSpPr>
          <p:cNvPr id="418" name="Google Shape;418;h3b987c62679a4f5d_0_1420"/>
          <p:cNvSpPr txBox="1"/>
          <p:nvPr/>
        </p:nvSpPr>
        <p:spPr>
          <a:xfrm>
            <a:off x="4514475" y="2610579"/>
            <a:ext cx="714600" cy="468000"/>
          </a:xfrm>
          <a:prstGeom prst="rect">
            <a:avLst/>
          </a:prstGeom>
          <a:noFill/>
          <a:ln>
            <a:noFill/>
          </a:ln>
        </p:spPr>
        <p:txBody>
          <a:bodyPr anchorCtr="0" anchor="t" bIns="84275" lIns="84275" spcFirstLastPara="1" rIns="84275" wrap="square" tIns="84275">
            <a:spAutoFit/>
          </a:bodyPr>
          <a:lstStyle/>
          <a:p>
            <a:pPr indent="0" lvl="0" marL="0" rtl="0" algn="ctr">
              <a:spcBef>
                <a:spcPts val="0"/>
              </a:spcBef>
              <a:spcAft>
                <a:spcPts val="0"/>
              </a:spcAft>
              <a:buNone/>
            </a:pPr>
            <a:r>
              <a:rPr lang="pt-BR" sz="1935">
                <a:solidFill>
                  <a:schemeClr val="dk1"/>
                </a:solidFill>
              </a:rPr>
              <a:t>x</a:t>
            </a:r>
            <a:r>
              <a:rPr baseline="-25000" lang="pt-BR" sz="1935">
                <a:solidFill>
                  <a:schemeClr val="dk1"/>
                </a:solidFill>
              </a:rPr>
              <a:t>0</a:t>
            </a:r>
            <a:r>
              <a:rPr lang="pt-BR" sz="1935">
                <a:solidFill>
                  <a:schemeClr val="dk1"/>
                </a:solidFill>
              </a:rPr>
              <a:t>=1</a:t>
            </a:r>
            <a:endParaRPr sz="1935">
              <a:solidFill>
                <a:schemeClr val="dk1"/>
              </a:solidFill>
            </a:endParaRPr>
          </a:p>
        </p:txBody>
      </p:sp>
      <p:cxnSp>
        <p:nvCxnSpPr>
          <p:cNvPr id="419" name="Google Shape;419;h3b987c62679a4f5d_0_1420"/>
          <p:cNvCxnSpPr>
            <a:stCxn id="418" idx="3"/>
          </p:cNvCxnSpPr>
          <p:nvPr/>
        </p:nvCxnSpPr>
        <p:spPr>
          <a:xfrm>
            <a:off x="5229075" y="2844579"/>
            <a:ext cx="1471500" cy="1015200"/>
          </a:xfrm>
          <a:prstGeom prst="straightConnector1">
            <a:avLst/>
          </a:prstGeom>
          <a:noFill/>
          <a:ln cap="flat" cmpd="sng" w="28575">
            <a:solidFill>
              <a:srgbClr val="000000"/>
            </a:solidFill>
            <a:prstDash val="solid"/>
            <a:round/>
            <a:headEnd len="sm" w="sm" type="none"/>
            <a:tailEnd len="med" w="med" type="triangle"/>
          </a:ln>
        </p:spPr>
      </p:cxnSp>
      <p:sp>
        <p:nvSpPr>
          <p:cNvPr id="420" name="Google Shape;420;h3b987c62679a4f5d_0_1420"/>
          <p:cNvSpPr txBox="1"/>
          <p:nvPr/>
        </p:nvSpPr>
        <p:spPr>
          <a:xfrm>
            <a:off x="7121644"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f</a:t>
            </a:r>
            <a:endParaRPr b="0" sz="2165" strike="noStrike">
              <a:latin typeface="Arial"/>
              <a:ea typeface="Arial"/>
              <a:cs typeface="Arial"/>
              <a:sym typeface="Arial"/>
            </a:endParaRPr>
          </a:p>
        </p:txBody>
      </p:sp>
      <p:sp>
        <p:nvSpPr>
          <p:cNvPr id="421" name="Google Shape;421;h3b987c62679a4f5d_0_1420"/>
          <p:cNvSpPr txBox="1"/>
          <p:nvPr/>
        </p:nvSpPr>
        <p:spPr>
          <a:xfrm>
            <a:off x="4046750" y="3700000"/>
            <a:ext cx="5058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7.6</a:t>
            </a:r>
            <a:endParaRPr b="1" sz="1800">
              <a:solidFill>
                <a:srgbClr val="FF0000"/>
              </a:solidFill>
            </a:endParaRPr>
          </a:p>
        </p:txBody>
      </p:sp>
      <p:sp>
        <p:nvSpPr>
          <p:cNvPr id="422" name="Google Shape;422;h3b987c62679a4f5d_0_1420"/>
          <p:cNvSpPr txBox="1"/>
          <p:nvPr/>
        </p:nvSpPr>
        <p:spPr>
          <a:xfrm>
            <a:off x="4157150" y="2641950"/>
            <a:ext cx="395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1</a:t>
            </a:r>
            <a:endParaRPr b="1" sz="1800">
              <a:solidFill>
                <a:srgbClr val="FF0000"/>
              </a:solidFill>
            </a:endParaRPr>
          </a:p>
        </p:txBody>
      </p:sp>
      <p:sp>
        <p:nvSpPr>
          <p:cNvPr id="423" name="Google Shape;423;h3b987c62679a4f5d_0_1420"/>
          <p:cNvSpPr txBox="1"/>
          <p:nvPr/>
        </p:nvSpPr>
        <p:spPr>
          <a:xfrm>
            <a:off x="5538825" y="2802325"/>
            <a:ext cx="85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FF"/>
                </a:solidFill>
              </a:rPr>
              <a:t>-16.11</a:t>
            </a:r>
            <a:endParaRPr b="1" sz="1800">
              <a:solidFill>
                <a:srgbClr val="0000FF"/>
              </a:solidFill>
            </a:endParaRPr>
          </a:p>
        </p:txBody>
      </p:sp>
      <p:sp>
        <p:nvSpPr>
          <p:cNvPr id="424" name="Google Shape;424;h3b987c62679a4f5d_0_1420"/>
          <p:cNvSpPr txBox="1"/>
          <p:nvPr/>
        </p:nvSpPr>
        <p:spPr>
          <a:xfrm>
            <a:off x="311700" y="1601725"/>
            <a:ext cx="1731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a:t>
            </a:r>
            <a:r>
              <a:rPr lang="pt-BR" sz="2200">
                <a:solidFill>
                  <a:srgbClr val="434343"/>
                </a:solidFill>
                <a:latin typeface="Courier New"/>
                <a:ea typeface="Courier New"/>
                <a:cs typeface="Courier New"/>
                <a:sym typeface="Courier New"/>
              </a:rPr>
              <a:t>=[</a:t>
            </a:r>
            <a:r>
              <a:rPr b="1" lang="pt-BR" sz="2200">
                <a:solidFill>
                  <a:srgbClr val="FF0000"/>
                </a:solidFill>
                <a:latin typeface="Courier New"/>
                <a:ea typeface="Courier New"/>
                <a:cs typeface="Courier New"/>
                <a:sym typeface="Courier New"/>
              </a:rPr>
              <a:t>7.6</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a:t>
            </a:r>
            <a:r>
              <a:rPr b="1" lang="pt-BR" sz="2200">
                <a:solidFill>
                  <a:srgbClr val="0000FF"/>
                </a:solidFill>
                <a:latin typeface="Courier New"/>
                <a:ea typeface="Courier New"/>
                <a:cs typeface="Courier New"/>
                <a:sym typeface="Courier New"/>
              </a:rPr>
              <a:t>2.42</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b=</a:t>
            </a:r>
            <a:r>
              <a:rPr b="1" lang="pt-BR" sz="2200">
                <a:solidFill>
                  <a:srgbClr val="0000FF"/>
                </a:solidFill>
                <a:latin typeface="Courier New"/>
                <a:ea typeface="Courier New"/>
                <a:cs typeface="Courier New"/>
                <a:sym typeface="Courier New"/>
              </a:rPr>
              <a:t>-16.11</a:t>
            </a:r>
            <a:endParaRPr b="1" sz="2200">
              <a:solidFill>
                <a:srgbClr val="0000FF"/>
              </a:solidFill>
              <a:latin typeface="Courier New"/>
              <a:ea typeface="Courier New"/>
              <a:cs typeface="Courier New"/>
              <a:sym typeface="Courier New"/>
            </a:endParaRPr>
          </a:p>
        </p:txBody>
      </p:sp>
      <p:sp>
        <p:nvSpPr>
          <p:cNvPr id="425" name="Google Shape;425;h3b987c62679a4f5d_0_1420"/>
          <p:cNvSpPr txBox="1"/>
          <p:nvPr/>
        </p:nvSpPr>
        <p:spPr>
          <a:xfrm>
            <a:off x="5441500" y="3566175"/>
            <a:ext cx="67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FF"/>
                </a:solidFill>
              </a:rPr>
              <a:t>2.42</a:t>
            </a:r>
            <a:endParaRPr b="1" sz="1800">
              <a:solidFill>
                <a:srgbClr val="0000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h3b987c62679a4f5d_0_1518"/>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sp>
        <p:nvSpPr>
          <p:cNvPr id="431" name="Google Shape;431;h3b987c62679a4f5d_0_1518"/>
          <p:cNvSpPr/>
          <p:nvPr/>
        </p:nvSpPr>
        <p:spPr>
          <a:xfrm>
            <a:off x="4530603" y="3629800"/>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0" baseline="-25000" lang="pt-BR" sz="1935" strike="noStrike">
                <a:latin typeface="Arial"/>
                <a:ea typeface="Arial"/>
                <a:cs typeface="Arial"/>
                <a:sym typeface="Arial"/>
              </a:rPr>
              <a:t>1</a:t>
            </a:r>
            <a:endParaRPr b="0" sz="1935" strike="noStrike">
              <a:latin typeface="Arial"/>
              <a:ea typeface="Arial"/>
              <a:cs typeface="Arial"/>
              <a:sym typeface="Arial"/>
            </a:endParaRPr>
          </a:p>
        </p:txBody>
      </p:sp>
      <p:sp>
        <p:nvSpPr>
          <p:cNvPr id="432" name="Google Shape;432;h3b987c62679a4f5d_0_1518"/>
          <p:cNvSpPr/>
          <p:nvPr/>
        </p:nvSpPr>
        <p:spPr>
          <a:xfrm>
            <a:off x="6667430" y="3669384"/>
            <a:ext cx="785400" cy="785400"/>
          </a:xfrm>
          <a:prstGeom prst="ellipse">
            <a:avLst/>
          </a:prstGeom>
          <a:solidFill>
            <a:srgbClr val="FFFFFF"/>
          </a:solidFill>
          <a:ln cap="flat" cmpd="sng" w="20800">
            <a:solidFill>
              <a:srgbClr val="000000"/>
            </a:solidFill>
            <a:prstDash val="solid"/>
            <a:round/>
            <a:headEnd len="sm" w="sm" type="none"/>
            <a:tailEnd len="sm" w="sm" type="none"/>
          </a:ln>
        </p:spPr>
        <p:txBody>
          <a:bodyPr anchorCtr="0" anchor="ctr" bIns="49875" lIns="49875" spcFirstLastPara="1" rIns="49875" wrap="square" tIns="49875">
            <a:noAutofit/>
          </a:bodyPr>
          <a:lstStyle/>
          <a:p>
            <a:pPr indent="0" lvl="0" marL="0" rtl="0" algn="l">
              <a:spcBef>
                <a:spcPts val="0"/>
              </a:spcBef>
              <a:spcAft>
                <a:spcPts val="0"/>
              </a:spcAft>
              <a:buNone/>
            </a:pPr>
            <a:r>
              <a:t/>
            </a:r>
            <a:endParaRPr/>
          </a:p>
        </p:txBody>
      </p:sp>
      <p:cxnSp>
        <p:nvCxnSpPr>
          <p:cNvPr id="433" name="Google Shape;433;h3b987c62679a4f5d_0_1518"/>
          <p:cNvCxnSpPr>
            <a:stCxn id="431" idx="6"/>
            <a:endCxn id="432" idx="2"/>
          </p:cNvCxnSpPr>
          <p:nvPr/>
        </p:nvCxnSpPr>
        <p:spPr>
          <a:xfrm>
            <a:off x="5132403" y="3930850"/>
            <a:ext cx="1535100" cy="131100"/>
          </a:xfrm>
          <a:prstGeom prst="straightConnector1">
            <a:avLst/>
          </a:prstGeom>
          <a:noFill/>
          <a:ln cap="flat" cmpd="sng" w="28575">
            <a:solidFill>
              <a:srgbClr val="000000"/>
            </a:solidFill>
            <a:prstDash val="solid"/>
            <a:round/>
            <a:headEnd len="sm" w="sm" type="none"/>
            <a:tailEnd len="med" w="med" type="triangle"/>
          </a:ln>
        </p:spPr>
      </p:cxnSp>
      <p:cxnSp>
        <p:nvCxnSpPr>
          <p:cNvPr id="434" name="Google Shape;434;h3b987c62679a4f5d_0_1518"/>
          <p:cNvCxnSpPr/>
          <p:nvPr/>
        </p:nvCxnSpPr>
        <p:spPr>
          <a:xfrm>
            <a:off x="7452981" y="4062146"/>
            <a:ext cx="1011900" cy="0"/>
          </a:xfrm>
          <a:prstGeom prst="straightConnector1">
            <a:avLst/>
          </a:prstGeom>
          <a:noFill/>
          <a:ln cap="flat" cmpd="sng" w="28575">
            <a:solidFill>
              <a:srgbClr val="000000"/>
            </a:solidFill>
            <a:prstDash val="solid"/>
            <a:round/>
            <a:headEnd len="sm" w="sm" type="none"/>
            <a:tailEnd len="med" w="med" type="triangle"/>
          </a:ln>
        </p:spPr>
      </p:cxnSp>
      <p:cxnSp>
        <p:nvCxnSpPr>
          <p:cNvPr id="435" name="Google Shape;435;h3b987c62679a4f5d_0_1518"/>
          <p:cNvCxnSpPr/>
          <p:nvPr/>
        </p:nvCxnSpPr>
        <p:spPr>
          <a:xfrm>
            <a:off x="7060205" y="3669384"/>
            <a:ext cx="0" cy="785400"/>
          </a:xfrm>
          <a:prstGeom prst="straightConnector1">
            <a:avLst/>
          </a:prstGeom>
          <a:noFill/>
          <a:ln cap="flat" cmpd="sng" w="5200">
            <a:solidFill>
              <a:srgbClr val="000000"/>
            </a:solidFill>
            <a:prstDash val="solid"/>
            <a:round/>
            <a:headEnd len="sm" w="sm" type="none"/>
            <a:tailEnd len="sm" w="sm" type="none"/>
          </a:ln>
        </p:spPr>
      </p:cxnSp>
      <p:sp>
        <p:nvSpPr>
          <p:cNvPr id="436" name="Google Shape;436;h3b987c62679a4f5d_0_1518"/>
          <p:cNvSpPr txBox="1"/>
          <p:nvPr/>
        </p:nvSpPr>
        <p:spPr>
          <a:xfrm>
            <a:off x="6786048"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Z</a:t>
            </a:r>
            <a:endParaRPr b="0" sz="2165" strike="noStrike">
              <a:latin typeface="Arial"/>
              <a:ea typeface="Arial"/>
              <a:cs typeface="Arial"/>
              <a:sym typeface="Arial"/>
            </a:endParaRPr>
          </a:p>
        </p:txBody>
      </p:sp>
      <p:sp>
        <p:nvSpPr>
          <p:cNvPr id="437" name="Google Shape;437;h3b987c62679a4f5d_0_1518"/>
          <p:cNvSpPr txBox="1"/>
          <p:nvPr/>
        </p:nvSpPr>
        <p:spPr>
          <a:xfrm>
            <a:off x="7724101" y="3669375"/>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1900"/>
              <a:t>y</a:t>
            </a:r>
            <a:endParaRPr b="0" sz="1900" strike="noStrike">
              <a:latin typeface="Arial"/>
              <a:ea typeface="Arial"/>
              <a:cs typeface="Arial"/>
              <a:sym typeface="Arial"/>
            </a:endParaRPr>
          </a:p>
        </p:txBody>
      </p:sp>
      <p:sp>
        <p:nvSpPr>
          <p:cNvPr id="438" name="Google Shape;438;h3b987c62679a4f5d_0_1518"/>
          <p:cNvSpPr/>
          <p:nvPr/>
        </p:nvSpPr>
        <p:spPr>
          <a:xfrm>
            <a:off x="4552541" y="2571751"/>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t/>
            </a:r>
            <a:endParaRPr b="0" sz="1475" strike="noStrike">
              <a:latin typeface="Arial"/>
              <a:ea typeface="Arial"/>
              <a:cs typeface="Arial"/>
              <a:sym typeface="Arial"/>
            </a:endParaRPr>
          </a:p>
        </p:txBody>
      </p:sp>
      <p:sp>
        <p:nvSpPr>
          <p:cNvPr id="439" name="Google Shape;439;h3b987c62679a4f5d_0_1518"/>
          <p:cNvSpPr txBox="1"/>
          <p:nvPr/>
        </p:nvSpPr>
        <p:spPr>
          <a:xfrm>
            <a:off x="4514475" y="2610579"/>
            <a:ext cx="714600" cy="468000"/>
          </a:xfrm>
          <a:prstGeom prst="rect">
            <a:avLst/>
          </a:prstGeom>
          <a:noFill/>
          <a:ln>
            <a:noFill/>
          </a:ln>
        </p:spPr>
        <p:txBody>
          <a:bodyPr anchorCtr="0" anchor="t" bIns="84275" lIns="84275" spcFirstLastPara="1" rIns="84275" wrap="square" tIns="84275">
            <a:spAutoFit/>
          </a:bodyPr>
          <a:lstStyle/>
          <a:p>
            <a:pPr indent="0" lvl="0" marL="0" rtl="0" algn="ctr">
              <a:spcBef>
                <a:spcPts val="0"/>
              </a:spcBef>
              <a:spcAft>
                <a:spcPts val="0"/>
              </a:spcAft>
              <a:buNone/>
            </a:pPr>
            <a:r>
              <a:rPr lang="pt-BR" sz="1935">
                <a:solidFill>
                  <a:schemeClr val="dk1"/>
                </a:solidFill>
              </a:rPr>
              <a:t>x</a:t>
            </a:r>
            <a:r>
              <a:rPr baseline="-25000" lang="pt-BR" sz="1935">
                <a:solidFill>
                  <a:schemeClr val="dk1"/>
                </a:solidFill>
              </a:rPr>
              <a:t>0</a:t>
            </a:r>
            <a:r>
              <a:rPr lang="pt-BR" sz="1935">
                <a:solidFill>
                  <a:schemeClr val="dk1"/>
                </a:solidFill>
              </a:rPr>
              <a:t>=1</a:t>
            </a:r>
            <a:endParaRPr sz="1935">
              <a:solidFill>
                <a:schemeClr val="dk1"/>
              </a:solidFill>
            </a:endParaRPr>
          </a:p>
        </p:txBody>
      </p:sp>
      <p:cxnSp>
        <p:nvCxnSpPr>
          <p:cNvPr id="440" name="Google Shape;440;h3b987c62679a4f5d_0_1518"/>
          <p:cNvCxnSpPr>
            <a:stCxn id="439" idx="3"/>
          </p:cNvCxnSpPr>
          <p:nvPr/>
        </p:nvCxnSpPr>
        <p:spPr>
          <a:xfrm>
            <a:off x="5229075" y="2844579"/>
            <a:ext cx="1471500" cy="1015200"/>
          </a:xfrm>
          <a:prstGeom prst="straightConnector1">
            <a:avLst/>
          </a:prstGeom>
          <a:noFill/>
          <a:ln cap="flat" cmpd="sng" w="28575">
            <a:solidFill>
              <a:srgbClr val="000000"/>
            </a:solidFill>
            <a:prstDash val="solid"/>
            <a:round/>
            <a:headEnd len="sm" w="sm" type="none"/>
            <a:tailEnd len="med" w="med" type="triangle"/>
          </a:ln>
        </p:spPr>
      </p:cxnSp>
      <p:sp>
        <p:nvSpPr>
          <p:cNvPr id="441" name="Google Shape;441;h3b987c62679a4f5d_0_1518"/>
          <p:cNvSpPr txBox="1"/>
          <p:nvPr/>
        </p:nvSpPr>
        <p:spPr>
          <a:xfrm>
            <a:off x="7121644"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f</a:t>
            </a:r>
            <a:endParaRPr b="0" sz="2165" strike="noStrike">
              <a:latin typeface="Arial"/>
              <a:ea typeface="Arial"/>
              <a:cs typeface="Arial"/>
              <a:sym typeface="Arial"/>
            </a:endParaRPr>
          </a:p>
        </p:txBody>
      </p:sp>
      <p:sp>
        <p:nvSpPr>
          <p:cNvPr id="442" name="Google Shape;442;h3b987c62679a4f5d_0_1518"/>
          <p:cNvSpPr txBox="1"/>
          <p:nvPr/>
        </p:nvSpPr>
        <p:spPr>
          <a:xfrm>
            <a:off x="4046750" y="3700000"/>
            <a:ext cx="5058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7.6</a:t>
            </a:r>
            <a:endParaRPr b="1" sz="1800">
              <a:solidFill>
                <a:srgbClr val="FF0000"/>
              </a:solidFill>
            </a:endParaRPr>
          </a:p>
        </p:txBody>
      </p:sp>
      <p:sp>
        <p:nvSpPr>
          <p:cNvPr id="443" name="Google Shape;443;h3b987c62679a4f5d_0_1518"/>
          <p:cNvSpPr txBox="1"/>
          <p:nvPr/>
        </p:nvSpPr>
        <p:spPr>
          <a:xfrm>
            <a:off x="4157150" y="2641950"/>
            <a:ext cx="395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1</a:t>
            </a:r>
            <a:endParaRPr b="1" sz="1800">
              <a:solidFill>
                <a:srgbClr val="FF0000"/>
              </a:solidFill>
            </a:endParaRPr>
          </a:p>
        </p:txBody>
      </p:sp>
      <p:sp>
        <p:nvSpPr>
          <p:cNvPr id="444" name="Google Shape;444;h3b987c62679a4f5d_0_1518"/>
          <p:cNvSpPr txBox="1"/>
          <p:nvPr/>
        </p:nvSpPr>
        <p:spPr>
          <a:xfrm>
            <a:off x="5538825" y="2802325"/>
            <a:ext cx="85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FF"/>
                </a:solidFill>
              </a:rPr>
              <a:t>-16.11</a:t>
            </a:r>
            <a:endParaRPr b="1" sz="1800">
              <a:solidFill>
                <a:srgbClr val="0000FF"/>
              </a:solidFill>
            </a:endParaRPr>
          </a:p>
        </p:txBody>
      </p:sp>
      <p:sp>
        <p:nvSpPr>
          <p:cNvPr id="445" name="Google Shape;445;h3b987c62679a4f5d_0_1518"/>
          <p:cNvSpPr txBox="1"/>
          <p:nvPr/>
        </p:nvSpPr>
        <p:spPr>
          <a:xfrm>
            <a:off x="311700" y="1601725"/>
            <a:ext cx="1731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a:t>
            </a:r>
            <a:r>
              <a:rPr lang="pt-BR" sz="2200">
                <a:solidFill>
                  <a:srgbClr val="434343"/>
                </a:solidFill>
                <a:latin typeface="Courier New"/>
                <a:ea typeface="Courier New"/>
                <a:cs typeface="Courier New"/>
                <a:sym typeface="Courier New"/>
              </a:rPr>
              <a:t>=[</a:t>
            </a:r>
            <a:r>
              <a:rPr b="1" lang="pt-BR" sz="2200">
                <a:solidFill>
                  <a:srgbClr val="FF0000"/>
                </a:solidFill>
                <a:latin typeface="Courier New"/>
                <a:ea typeface="Courier New"/>
                <a:cs typeface="Courier New"/>
                <a:sym typeface="Courier New"/>
              </a:rPr>
              <a:t>7.6</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a:t>
            </a:r>
            <a:r>
              <a:rPr b="1" lang="pt-BR" sz="2200">
                <a:solidFill>
                  <a:srgbClr val="0000FF"/>
                </a:solidFill>
                <a:latin typeface="Courier New"/>
                <a:ea typeface="Courier New"/>
                <a:cs typeface="Courier New"/>
                <a:sym typeface="Courier New"/>
              </a:rPr>
              <a:t>2.42</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b=</a:t>
            </a:r>
            <a:r>
              <a:rPr b="1" lang="pt-BR" sz="2200">
                <a:solidFill>
                  <a:srgbClr val="0000FF"/>
                </a:solidFill>
                <a:latin typeface="Courier New"/>
                <a:ea typeface="Courier New"/>
                <a:cs typeface="Courier New"/>
                <a:sym typeface="Courier New"/>
              </a:rPr>
              <a:t>-16.11</a:t>
            </a:r>
            <a:endParaRPr b="1" sz="2200">
              <a:solidFill>
                <a:srgbClr val="0000FF"/>
              </a:solidFill>
              <a:latin typeface="Courier New"/>
              <a:ea typeface="Courier New"/>
              <a:cs typeface="Courier New"/>
              <a:sym typeface="Courier New"/>
            </a:endParaRPr>
          </a:p>
        </p:txBody>
      </p:sp>
      <p:sp>
        <p:nvSpPr>
          <p:cNvPr id="446" name="Google Shape;446;h3b987c62679a4f5d_0_1518"/>
          <p:cNvSpPr txBox="1"/>
          <p:nvPr/>
        </p:nvSpPr>
        <p:spPr>
          <a:xfrm>
            <a:off x="5441500" y="3566175"/>
            <a:ext cx="67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FF"/>
                </a:solidFill>
              </a:rPr>
              <a:t>2.42</a:t>
            </a:r>
            <a:endParaRPr b="1" sz="1800">
              <a:solidFill>
                <a:srgbClr val="0000FF"/>
              </a:solidFill>
            </a:endParaRPr>
          </a:p>
        </p:txBody>
      </p:sp>
      <p:sp>
        <p:nvSpPr>
          <p:cNvPr id="447" name="Google Shape;447;h3b987c62679a4f5d_0_1518"/>
          <p:cNvSpPr txBox="1"/>
          <p:nvPr/>
        </p:nvSpPr>
        <p:spPr>
          <a:xfrm>
            <a:off x="5035200" y="4596400"/>
            <a:ext cx="268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9900FF"/>
                </a:solidFill>
              </a:rPr>
              <a:t>z=-16.11+2.42x7.6=2.82</a:t>
            </a:r>
            <a:endParaRPr b="1" sz="1800">
              <a:solidFill>
                <a:srgbClr val="9900FF"/>
              </a:solidFill>
            </a:endParaRPr>
          </a:p>
        </p:txBody>
      </p:sp>
      <p:cxnSp>
        <p:nvCxnSpPr>
          <p:cNvPr id="448" name="Google Shape;448;h3b987c62679a4f5d_0_1518"/>
          <p:cNvCxnSpPr>
            <a:stCxn id="447" idx="0"/>
            <a:endCxn id="432" idx="3"/>
          </p:cNvCxnSpPr>
          <p:nvPr/>
        </p:nvCxnSpPr>
        <p:spPr>
          <a:xfrm flipH="1" rot="10800000">
            <a:off x="6379650" y="4339900"/>
            <a:ext cx="402900" cy="256500"/>
          </a:xfrm>
          <a:prstGeom prst="straightConnector1">
            <a:avLst/>
          </a:prstGeom>
          <a:noFill/>
          <a:ln cap="flat" cmpd="sng" w="28575">
            <a:solidFill>
              <a:srgbClr val="9900FF"/>
            </a:solidFill>
            <a:prstDash val="dash"/>
            <a:round/>
            <a:headEnd len="med" w="med" type="none"/>
            <a:tailEnd len="med" w="med" type="none"/>
          </a:ln>
        </p:spPr>
      </p:cxnSp>
      <p:pic>
        <p:nvPicPr>
          <p:cNvPr id="449" name="Google Shape;449;h3b987c62679a4f5d_0_1518"/>
          <p:cNvPicPr preferRelativeResize="0"/>
          <p:nvPr/>
        </p:nvPicPr>
        <p:blipFill>
          <a:blip r:embed="rId3">
            <a:alphaModFix/>
          </a:blip>
          <a:stretch>
            <a:fillRect/>
          </a:stretch>
        </p:blipFill>
        <p:spPr>
          <a:xfrm>
            <a:off x="605398" y="2952050"/>
            <a:ext cx="2930934" cy="6572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h3b987c62679a4f5d_0_1571"/>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Logistic Regression</a:t>
            </a:r>
            <a:endParaRPr/>
          </a:p>
        </p:txBody>
      </p:sp>
      <p:sp>
        <p:nvSpPr>
          <p:cNvPr id="455" name="Google Shape;455;h3b987c62679a4f5d_0_1571"/>
          <p:cNvSpPr/>
          <p:nvPr/>
        </p:nvSpPr>
        <p:spPr>
          <a:xfrm>
            <a:off x="4530603" y="3629800"/>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0" baseline="-25000" lang="pt-BR" sz="1935" strike="noStrike">
                <a:latin typeface="Arial"/>
                <a:ea typeface="Arial"/>
                <a:cs typeface="Arial"/>
                <a:sym typeface="Arial"/>
              </a:rPr>
              <a:t>1</a:t>
            </a:r>
            <a:endParaRPr b="0" sz="1935" strike="noStrike">
              <a:latin typeface="Arial"/>
              <a:ea typeface="Arial"/>
              <a:cs typeface="Arial"/>
              <a:sym typeface="Arial"/>
            </a:endParaRPr>
          </a:p>
        </p:txBody>
      </p:sp>
      <p:sp>
        <p:nvSpPr>
          <p:cNvPr id="456" name="Google Shape;456;h3b987c62679a4f5d_0_1571"/>
          <p:cNvSpPr/>
          <p:nvPr/>
        </p:nvSpPr>
        <p:spPr>
          <a:xfrm>
            <a:off x="6667430" y="3669384"/>
            <a:ext cx="785400" cy="785400"/>
          </a:xfrm>
          <a:prstGeom prst="ellipse">
            <a:avLst/>
          </a:prstGeom>
          <a:solidFill>
            <a:srgbClr val="FFFFFF"/>
          </a:solidFill>
          <a:ln cap="flat" cmpd="sng" w="20800">
            <a:solidFill>
              <a:srgbClr val="000000"/>
            </a:solidFill>
            <a:prstDash val="solid"/>
            <a:round/>
            <a:headEnd len="sm" w="sm" type="none"/>
            <a:tailEnd len="sm" w="sm" type="none"/>
          </a:ln>
        </p:spPr>
        <p:txBody>
          <a:bodyPr anchorCtr="0" anchor="ctr" bIns="49875" lIns="49875" spcFirstLastPara="1" rIns="49875" wrap="square" tIns="49875">
            <a:noAutofit/>
          </a:bodyPr>
          <a:lstStyle/>
          <a:p>
            <a:pPr indent="0" lvl="0" marL="0" rtl="0" algn="l">
              <a:spcBef>
                <a:spcPts val="0"/>
              </a:spcBef>
              <a:spcAft>
                <a:spcPts val="0"/>
              </a:spcAft>
              <a:buNone/>
            </a:pPr>
            <a:r>
              <a:t/>
            </a:r>
            <a:endParaRPr/>
          </a:p>
        </p:txBody>
      </p:sp>
      <p:cxnSp>
        <p:nvCxnSpPr>
          <p:cNvPr id="457" name="Google Shape;457;h3b987c62679a4f5d_0_1571"/>
          <p:cNvCxnSpPr>
            <a:stCxn id="455" idx="6"/>
            <a:endCxn id="456" idx="2"/>
          </p:cNvCxnSpPr>
          <p:nvPr/>
        </p:nvCxnSpPr>
        <p:spPr>
          <a:xfrm>
            <a:off x="5132403" y="3930850"/>
            <a:ext cx="1535100" cy="131100"/>
          </a:xfrm>
          <a:prstGeom prst="straightConnector1">
            <a:avLst/>
          </a:prstGeom>
          <a:noFill/>
          <a:ln cap="flat" cmpd="sng" w="28575">
            <a:solidFill>
              <a:srgbClr val="000000"/>
            </a:solidFill>
            <a:prstDash val="solid"/>
            <a:round/>
            <a:headEnd len="sm" w="sm" type="none"/>
            <a:tailEnd len="med" w="med" type="triangle"/>
          </a:ln>
        </p:spPr>
      </p:cxnSp>
      <p:cxnSp>
        <p:nvCxnSpPr>
          <p:cNvPr id="458" name="Google Shape;458;h3b987c62679a4f5d_0_1571"/>
          <p:cNvCxnSpPr/>
          <p:nvPr/>
        </p:nvCxnSpPr>
        <p:spPr>
          <a:xfrm>
            <a:off x="7452981" y="4062146"/>
            <a:ext cx="1011900" cy="0"/>
          </a:xfrm>
          <a:prstGeom prst="straightConnector1">
            <a:avLst/>
          </a:prstGeom>
          <a:noFill/>
          <a:ln cap="flat" cmpd="sng" w="28575">
            <a:solidFill>
              <a:srgbClr val="000000"/>
            </a:solidFill>
            <a:prstDash val="solid"/>
            <a:round/>
            <a:headEnd len="sm" w="sm" type="none"/>
            <a:tailEnd len="med" w="med" type="triangle"/>
          </a:ln>
        </p:spPr>
      </p:cxnSp>
      <p:cxnSp>
        <p:nvCxnSpPr>
          <p:cNvPr id="459" name="Google Shape;459;h3b987c62679a4f5d_0_1571"/>
          <p:cNvCxnSpPr/>
          <p:nvPr/>
        </p:nvCxnSpPr>
        <p:spPr>
          <a:xfrm>
            <a:off x="7060205" y="3669384"/>
            <a:ext cx="0" cy="785400"/>
          </a:xfrm>
          <a:prstGeom prst="straightConnector1">
            <a:avLst/>
          </a:prstGeom>
          <a:noFill/>
          <a:ln cap="flat" cmpd="sng" w="5200">
            <a:solidFill>
              <a:srgbClr val="000000"/>
            </a:solidFill>
            <a:prstDash val="solid"/>
            <a:round/>
            <a:headEnd len="sm" w="sm" type="none"/>
            <a:tailEnd len="sm" w="sm" type="none"/>
          </a:ln>
        </p:spPr>
      </p:cxnSp>
      <p:sp>
        <p:nvSpPr>
          <p:cNvPr id="460" name="Google Shape;460;h3b987c62679a4f5d_0_1571"/>
          <p:cNvSpPr txBox="1"/>
          <p:nvPr/>
        </p:nvSpPr>
        <p:spPr>
          <a:xfrm>
            <a:off x="6786048"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Z</a:t>
            </a:r>
            <a:endParaRPr b="0" sz="2165" strike="noStrike">
              <a:latin typeface="Arial"/>
              <a:ea typeface="Arial"/>
              <a:cs typeface="Arial"/>
              <a:sym typeface="Arial"/>
            </a:endParaRPr>
          </a:p>
        </p:txBody>
      </p:sp>
      <p:sp>
        <p:nvSpPr>
          <p:cNvPr id="461" name="Google Shape;461;h3b987c62679a4f5d_0_1571"/>
          <p:cNvSpPr txBox="1"/>
          <p:nvPr/>
        </p:nvSpPr>
        <p:spPr>
          <a:xfrm>
            <a:off x="7724098" y="3669375"/>
            <a:ext cx="6765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b="1" lang="pt-BR" sz="1900">
                <a:solidFill>
                  <a:srgbClr val="9900FF"/>
                </a:solidFill>
              </a:rPr>
              <a:t>0.91</a:t>
            </a:r>
            <a:endParaRPr b="1" sz="1900" strike="noStrike">
              <a:solidFill>
                <a:srgbClr val="9900FF"/>
              </a:solidFill>
            </a:endParaRPr>
          </a:p>
        </p:txBody>
      </p:sp>
      <p:sp>
        <p:nvSpPr>
          <p:cNvPr id="462" name="Google Shape;462;h3b987c62679a4f5d_0_1571"/>
          <p:cNvSpPr/>
          <p:nvPr/>
        </p:nvSpPr>
        <p:spPr>
          <a:xfrm>
            <a:off x="4552541" y="2571751"/>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t/>
            </a:r>
            <a:endParaRPr b="0" sz="1475" strike="noStrike">
              <a:latin typeface="Arial"/>
              <a:ea typeface="Arial"/>
              <a:cs typeface="Arial"/>
              <a:sym typeface="Arial"/>
            </a:endParaRPr>
          </a:p>
        </p:txBody>
      </p:sp>
      <p:sp>
        <p:nvSpPr>
          <p:cNvPr id="463" name="Google Shape;463;h3b987c62679a4f5d_0_1571"/>
          <p:cNvSpPr txBox="1"/>
          <p:nvPr/>
        </p:nvSpPr>
        <p:spPr>
          <a:xfrm>
            <a:off x="4514475" y="2610579"/>
            <a:ext cx="714600" cy="468000"/>
          </a:xfrm>
          <a:prstGeom prst="rect">
            <a:avLst/>
          </a:prstGeom>
          <a:noFill/>
          <a:ln>
            <a:noFill/>
          </a:ln>
        </p:spPr>
        <p:txBody>
          <a:bodyPr anchorCtr="0" anchor="t" bIns="84275" lIns="84275" spcFirstLastPara="1" rIns="84275" wrap="square" tIns="84275">
            <a:spAutoFit/>
          </a:bodyPr>
          <a:lstStyle/>
          <a:p>
            <a:pPr indent="0" lvl="0" marL="0" rtl="0" algn="ctr">
              <a:spcBef>
                <a:spcPts val="0"/>
              </a:spcBef>
              <a:spcAft>
                <a:spcPts val="0"/>
              </a:spcAft>
              <a:buNone/>
            </a:pPr>
            <a:r>
              <a:rPr lang="pt-BR" sz="1935">
                <a:solidFill>
                  <a:schemeClr val="dk1"/>
                </a:solidFill>
              </a:rPr>
              <a:t>x</a:t>
            </a:r>
            <a:r>
              <a:rPr baseline="-25000" lang="pt-BR" sz="1935">
                <a:solidFill>
                  <a:schemeClr val="dk1"/>
                </a:solidFill>
              </a:rPr>
              <a:t>0</a:t>
            </a:r>
            <a:r>
              <a:rPr lang="pt-BR" sz="1935">
                <a:solidFill>
                  <a:schemeClr val="dk1"/>
                </a:solidFill>
              </a:rPr>
              <a:t>=1</a:t>
            </a:r>
            <a:endParaRPr sz="1935">
              <a:solidFill>
                <a:schemeClr val="dk1"/>
              </a:solidFill>
            </a:endParaRPr>
          </a:p>
        </p:txBody>
      </p:sp>
      <p:cxnSp>
        <p:nvCxnSpPr>
          <p:cNvPr id="464" name="Google Shape;464;h3b987c62679a4f5d_0_1571"/>
          <p:cNvCxnSpPr>
            <a:stCxn id="463" idx="3"/>
          </p:cNvCxnSpPr>
          <p:nvPr/>
        </p:nvCxnSpPr>
        <p:spPr>
          <a:xfrm>
            <a:off x="5229075" y="2844579"/>
            <a:ext cx="1471500" cy="1015200"/>
          </a:xfrm>
          <a:prstGeom prst="straightConnector1">
            <a:avLst/>
          </a:prstGeom>
          <a:noFill/>
          <a:ln cap="flat" cmpd="sng" w="28575">
            <a:solidFill>
              <a:srgbClr val="000000"/>
            </a:solidFill>
            <a:prstDash val="solid"/>
            <a:round/>
            <a:headEnd len="sm" w="sm" type="none"/>
            <a:tailEnd len="med" w="med" type="triangle"/>
          </a:ln>
        </p:spPr>
      </p:cxnSp>
      <p:sp>
        <p:nvSpPr>
          <p:cNvPr id="465" name="Google Shape;465;h3b987c62679a4f5d_0_1571"/>
          <p:cNvSpPr txBox="1"/>
          <p:nvPr/>
        </p:nvSpPr>
        <p:spPr>
          <a:xfrm>
            <a:off x="7121644"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f</a:t>
            </a:r>
            <a:endParaRPr b="0" sz="2165" strike="noStrike">
              <a:latin typeface="Arial"/>
              <a:ea typeface="Arial"/>
              <a:cs typeface="Arial"/>
              <a:sym typeface="Arial"/>
            </a:endParaRPr>
          </a:p>
        </p:txBody>
      </p:sp>
      <p:sp>
        <p:nvSpPr>
          <p:cNvPr id="466" name="Google Shape;466;h3b987c62679a4f5d_0_1571"/>
          <p:cNvSpPr txBox="1"/>
          <p:nvPr/>
        </p:nvSpPr>
        <p:spPr>
          <a:xfrm>
            <a:off x="4046750" y="3700000"/>
            <a:ext cx="5058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7.6</a:t>
            </a:r>
            <a:endParaRPr b="1" sz="1800">
              <a:solidFill>
                <a:srgbClr val="FF0000"/>
              </a:solidFill>
            </a:endParaRPr>
          </a:p>
        </p:txBody>
      </p:sp>
      <p:sp>
        <p:nvSpPr>
          <p:cNvPr id="467" name="Google Shape;467;h3b987c62679a4f5d_0_1571"/>
          <p:cNvSpPr txBox="1"/>
          <p:nvPr/>
        </p:nvSpPr>
        <p:spPr>
          <a:xfrm>
            <a:off x="4157150" y="2641950"/>
            <a:ext cx="395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1</a:t>
            </a:r>
            <a:endParaRPr b="1" sz="1800">
              <a:solidFill>
                <a:srgbClr val="FF0000"/>
              </a:solidFill>
            </a:endParaRPr>
          </a:p>
        </p:txBody>
      </p:sp>
      <p:sp>
        <p:nvSpPr>
          <p:cNvPr id="468" name="Google Shape;468;h3b987c62679a4f5d_0_1571"/>
          <p:cNvSpPr txBox="1"/>
          <p:nvPr/>
        </p:nvSpPr>
        <p:spPr>
          <a:xfrm>
            <a:off x="5538825" y="2802325"/>
            <a:ext cx="85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FF"/>
                </a:solidFill>
              </a:rPr>
              <a:t>-16.11</a:t>
            </a:r>
            <a:endParaRPr b="1" sz="1800">
              <a:solidFill>
                <a:srgbClr val="0000FF"/>
              </a:solidFill>
            </a:endParaRPr>
          </a:p>
        </p:txBody>
      </p:sp>
      <p:sp>
        <p:nvSpPr>
          <p:cNvPr id="469" name="Google Shape;469;h3b987c62679a4f5d_0_1571"/>
          <p:cNvSpPr txBox="1"/>
          <p:nvPr/>
        </p:nvSpPr>
        <p:spPr>
          <a:xfrm>
            <a:off x="311700" y="1601725"/>
            <a:ext cx="1731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a:t>
            </a:r>
            <a:r>
              <a:rPr lang="pt-BR" sz="2200">
                <a:solidFill>
                  <a:srgbClr val="434343"/>
                </a:solidFill>
                <a:latin typeface="Courier New"/>
                <a:ea typeface="Courier New"/>
                <a:cs typeface="Courier New"/>
                <a:sym typeface="Courier New"/>
              </a:rPr>
              <a:t>=[</a:t>
            </a:r>
            <a:r>
              <a:rPr b="1" lang="pt-BR" sz="2200">
                <a:solidFill>
                  <a:srgbClr val="FF0000"/>
                </a:solidFill>
                <a:latin typeface="Courier New"/>
                <a:ea typeface="Courier New"/>
                <a:cs typeface="Courier New"/>
                <a:sym typeface="Courier New"/>
              </a:rPr>
              <a:t>7.6</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a:t>
            </a:r>
            <a:r>
              <a:rPr b="1" lang="pt-BR" sz="2200">
                <a:solidFill>
                  <a:srgbClr val="0000FF"/>
                </a:solidFill>
                <a:latin typeface="Courier New"/>
                <a:ea typeface="Courier New"/>
                <a:cs typeface="Courier New"/>
                <a:sym typeface="Courier New"/>
              </a:rPr>
              <a:t>2.42</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b=</a:t>
            </a:r>
            <a:r>
              <a:rPr b="1" lang="pt-BR" sz="2200">
                <a:solidFill>
                  <a:srgbClr val="0000FF"/>
                </a:solidFill>
                <a:latin typeface="Courier New"/>
                <a:ea typeface="Courier New"/>
                <a:cs typeface="Courier New"/>
                <a:sym typeface="Courier New"/>
              </a:rPr>
              <a:t>-16.11</a:t>
            </a:r>
            <a:endParaRPr b="1" sz="2200">
              <a:solidFill>
                <a:srgbClr val="0000FF"/>
              </a:solidFill>
              <a:latin typeface="Courier New"/>
              <a:ea typeface="Courier New"/>
              <a:cs typeface="Courier New"/>
              <a:sym typeface="Courier New"/>
            </a:endParaRPr>
          </a:p>
        </p:txBody>
      </p:sp>
      <p:sp>
        <p:nvSpPr>
          <p:cNvPr id="470" name="Google Shape;470;h3b987c62679a4f5d_0_1571"/>
          <p:cNvSpPr txBox="1"/>
          <p:nvPr/>
        </p:nvSpPr>
        <p:spPr>
          <a:xfrm>
            <a:off x="5441500" y="3566175"/>
            <a:ext cx="67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FF"/>
                </a:solidFill>
              </a:rPr>
              <a:t>2.42</a:t>
            </a:r>
            <a:endParaRPr b="1" sz="1800">
              <a:solidFill>
                <a:srgbClr val="0000FF"/>
              </a:solidFill>
            </a:endParaRPr>
          </a:p>
        </p:txBody>
      </p:sp>
      <p:sp>
        <p:nvSpPr>
          <p:cNvPr id="471" name="Google Shape;471;h3b987c62679a4f5d_0_1571"/>
          <p:cNvSpPr txBox="1"/>
          <p:nvPr/>
        </p:nvSpPr>
        <p:spPr>
          <a:xfrm>
            <a:off x="5035200" y="4596400"/>
            <a:ext cx="268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9900FF"/>
                </a:solidFill>
              </a:rPr>
              <a:t>z=-16.11+2.42x7.6=2.82</a:t>
            </a:r>
            <a:endParaRPr b="1" sz="1800">
              <a:solidFill>
                <a:srgbClr val="9900FF"/>
              </a:solidFill>
            </a:endParaRPr>
          </a:p>
        </p:txBody>
      </p:sp>
      <p:cxnSp>
        <p:nvCxnSpPr>
          <p:cNvPr id="472" name="Google Shape;472;h3b987c62679a4f5d_0_1571"/>
          <p:cNvCxnSpPr>
            <a:stCxn id="471" idx="0"/>
            <a:endCxn id="456" idx="3"/>
          </p:cNvCxnSpPr>
          <p:nvPr/>
        </p:nvCxnSpPr>
        <p:spPr>
          <a:xfrm flipH="1" rot="10800000">
            <a:off x="6379650" y="4339900"/>
            <a:ext cx="402900" cy="256500"/>
          </a:xfrm>
          <a:prstGeom prst="straightConnector1">
            <a:avLst/>
          </a:prstGeom>
          <a:noFill/>
          <a:ln cap="flat" cmpd="sng" w="28575">
            <a:solidFill>
              <a:srgbClr val="9900FF"/>
            </a:solidFill>
            <a:prstDash val="dash"/>
            <a:round/>
            <a:headEnd len="med" w="med" type="none"/>
            <a:tailEnd len="med" w="med" type="none"/>
          </a:ln>
        </p:spPr>
      </p:cxnSp>
      <p:sp>
        <p:nvSpPr>
          <p:cNvPr id="473" name="Google Shape;473;h3b987c62679a4f5d_0_1571"/>
          <p:cNvSpPr/>
          <p:nvPr/>
        </p:nvSpPr>
        <p:spPr>
          <a:xfrm>
            <a:off x="5955200" y="1051900"/>
            <a:ext cx="2004300" cy="1606500"/>
          </a:xfrm>
          <a:prstGeom prst="rect">
            <a:avLst/>
          </a:prstGeom>
          <a:solidFill>
            <a:schemeClr val="lt2"/>
          </a:solidFill>
          <a:ln cap="flat" cmpd="sng" w="38100">
            <a:solidFill>
              <a:srgbClr val="9900F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grpSp>
        <p:nvGrpSpPr>
          <p:cNvPr id="474" name="Google Shape;474;h3b987c62679a4f5d_0_1571"/>
          <p:cNvGrpSpPr/>
          <p:nvPr/>
        </p:nvGrpSpPr>
        <p:grpSpPr>
          <a:xfrm>
            <a:off x="5975750" y="1107938"/>
            <a:ext cx="1857966" cy="1573446"/>
            <a:chOff x="6116450" y="1107938"/>
            <a:chExt cx="1857966" cy="1573446"/>
          </a:xfrm>
        </p:grpSpPr>
        <p:pic>
          <p:nvPicPr>
            <p:cNvPr id="475" name="Google Shape;475;h3b987c62679a4f5d_0_1571"/>
            <p:cNvPicPr preferRelativeResize="0"/>
            <p:nvPr/>
          </p:nvPicPr>
          <p:blipFill>
            <a:blip r:embed="rId3">
              <a:alphaModFix/>
            </a:blip>
            <a:stretch>
              <a:fillRect/>
            </a:stretch>
          </p:blipFill>
          <p:spPr>
            <a:xfrm>
              <a:off x="6226962" y="1107938"/>
              <a:ext cx="1747251" cy="1510783"/>
            </a:xfrm>
            <a:prstGeom prst="rect">
              <a:avLst/>
            </a:prstGeom>
            <a:noFill/>
            <a:ln>
              <a:noFill/>
            </a:ln>
          </p:spPr>
        </p:pic>
        <p:sp>
          <p:nvSpPr>
            <p:cNvPr id="476" name="Google Shape;476;h3b987c62679a4f5d_0_1571"/>
            <p:cNvSpPr/>
            <p:nvPr/>
          </p:nvSpPr>
          <p:spPr>
            <a:xfrm>
              <a:off x="6373139" y="1149888"/>
              <a:ext cx="1581798" cy="1332458"/>
            </a:xfrm>
            <a:custGeom>
              <a:rect b="b" l="l" r="r" t="t"/>
              <a:pathLst>
                <a:path extrusionOk="0" h="134796" w="160020">
                  <a:moveTo>
                    <a:pt x="0" y="134796"/>
                  </a:moveTo>
                  <a:cubicBezTo>
                    <a:pt x="7554" y="133022"/>
                    <a:pt x="33042" y="136175"/>
                    <a:pt x="45326" y="124154"/>
                  </a:cubicBezTo>
                  <a:cubicBezTo>
                    <a:pt x="57610" y="112133"/>
                    <a:pt x="64639" y="81981"/>
                    <a:pt x="73704" y="62668"/>
                  </a:cubicBezTo>
                  <a:cubicBezTo>
                    <a:pt x="82769" y="43355"/>
                    <a:pt x="85331" y="18722"/>
                    <a:pt x="99717" y="8277"/>
                  </a:cubicBezTo>
                  <a:cubicBezTo>
                    <a:pt x="114103" y="-2168"/>
                    <a:pt x="149970" y="1380"/>
                    <a:pt x="160020" y="0"/>
                  </a:cubicBezTo>
                </a:path>
              </a:pathLst>
            </a:custGeom>
            <a:noFill/>
            <a:ln cap="flat" cmpd="sng" w="11300">
              <a:solidFill>
                <a:schemeClr val="dk2"/>
              </a:solidFill>
              <a:prstDash val="solid"/>
              <a:round/>
              <a:headEnd len="med" w="med" type="none"/>
              <a:tailEnd len="med" w="med" type="none"/>
            </a:ln>
          </p:spPr>
        </p:sp>
        <p:cxnSp>
          <p:nvCxnSpPr>
            <p:cNvPr id="477" name="Google Shape;477;h3b987c62679a4f5d_0_1571"/>
            <p:cNvCxnSpPr/>
            <p:nvPr/>
          </p:nvCxnSpPr>
          <p:spPr>
            <a:xfrm>
              <a:off x="6366071" y="1799288"/>
              <a:ext cx="1598100" cy="0"/>
            </a:xfrm>
            <a:prstGeom prst="straightConnector1">
              <a:avLst/>
            </a:prstGeom>
            <a:noFill/>
            <a:ln cap="flat" cmpd="sng" w="15050">
              <a:solidFill>
                <a:schemeClr val="dk2"/>
              </a:solidFill>
              <a:prstDash val="solid"/>
              <a:round/>
              <a:headEnd len="med" w="med" type="none"/>
              <a:tailEnd len="med" w="med" type="none"/>
            </a:ln>
          </p:spPr>
        </p:cxnSp>
        <p:sp>
          <p:nvSpPr>
            <p:cNvPr id="478" name="Google Shape;478;h3b987c62679a4f5d_0_1571"/>
            <p:cNvSpPr txBox="1"/>
            <p:nvPr/>
          </p:nvSpPr>
          <p:spPr>
            <a:xfrm>
              <a:off x="6387966" y="1543668"/>
              <a:ext cx="293700" cy="255600"/>
            </a:xfrm>
            <a:prstGeom prst="rect">
              <a:avLst/>
            </a:prstGeom>
            <a:noFill/>
            <a:ln>
              <a:noFill/>
            </a:ln>
          </p:spPr>
          <p:txBody>
            <a:bodyPr anchorCtr="0" anchor="t" bIns="36150" lIns="36150" spcFirstLastPara="1" rIns="36150" wrap="square" tIns="36150">
              <a:spAutoFit/>
            </a:bodyPr>
            <a:lstStyle/>
            <a:p>
              <a:pPr indent="0" lvl="0" marL="0" rtl="0" algn="l">
                <a:spcBef>
                  <a:spcPts val="0"/>
                </a:spcBef>
                <a:spcAft>
                  <a:spcPts val="0"/>
                </a:spcAft>
                <a:buNone/>
              </a:pPr>
              <a:r>
                <a:rPr lang="pt-BR" sz="1186">
                  <a:solidFill>
                    <a:srgbClr val="434343"/>
                  </a:solidFill>
                  <a:latin typeface="Comfortaa"/>
                  <a:ea typeface="Comfortaa"/>
                  <a:cs typeface="Comfortaa"/>
                  <a:sym typeface="Comfortaa"/>
                </a:rPr>
                <a:t>0.5</a:t>
              </a:r>
              <a:endParaRPr sz="1186">
                <a:solidFill>
                  <a:srgbClr val="434343"/>
                </a:solidFill>
                <a:latin typeface="Comfortaa"/>
                <a:ea typeface="Comfortaa"/>
                <a:cs typeface="Comfortaa"/>
                <a:sym typeface="Comfortaa"/>
              </a:endParaRPr>
            </a:p>
          </p:txBody>
        </p:sp>
        <p:sp>
          <p:nvSpPr>
            <p:cNvPr id="479" name="Google Shape;479;h3b987c62679a4f5d_0_1571"/>
            <p:cNvSpPr txBox="1"/>
            <p:nvPr/>
          </p:nvSpPr>
          <p:spPr>
            <a:xfrm>
              <a:off x="7470116" y="1383327"/>
              <a:ext cx="504300" cy="146100"/>
            </a:xfrm>
            <a:prstGeom prst="rect">
              <a:avLst/>
            </a:prstGeom>
            <a:noFill/>
            <a:ln>
              <a:noFill/>
            </a:ln>
          </p:spPr>
          <p:txBody>
            <a:bodyPr anchorCtr="0" anchor="t" bIns="36150" lIns="36150" spcFirstLastPara="1" rIns="36150" wrap="square" tIns="36150">
              <a:spAutoFit/>
            </a:bodyPr>
            <a:lstStyle/>
            <a:p>
              <a:pPr indent="0" lvl="0" marL="0" rtl="0" algn="l">
                <a:spcBef>
                  <a:spcPts val="0"/>
                </a:spcBef>
                <a:spcAft>
                  <a:spcPts val="0"/>
                </a:spcAft>
                <a:buNone/>
              </a:pPr>
              <a:r>
                <a:rPr b="1" lang="pt-BR" sz="474">
                  <a:solidFill>
                    <a:srgbClr val="DB2E2C"/>
                  </a:solidFill>
                  <a:latin typeface="Comfortaa"/>
                  <a:ea typeface="Comfortaa"/>
                  <a:cs typeface="Comfortaa"/>
                  <a:sym typeface="Comfortaa"/>
                </a:rPr>
                <a:t>technological</a:t>
              </a:r>
              <a:endParaRPr b="1" sz="474">
                <a:solidFill>
                  <a:srgbClr val="DB2E2C"/>
                </a:solidFill>
                <a:latin typeface="Comfortaa"/>
                <a:ea typeface="Comfortaa"/>
                <a:cs typeface="Comfortaa"/>
                <a:sym typeface="Comfortaa"/>
              </a:endParaRPr>
            </a:p>
          </p:txBody>
        </p:sp>
        <p:sp>
          <p:nvSpPr>
            <p:cNvPr id="480" name="Google Shape;480;h3b987c62679a4f5d_0_1571"/>
            <p:cNvSpPr txBox="1"/>
            <p:nvPr/>
          </p:nvSpPr>
          <p:spPr>
            <a:xfrm>
              <a:off x="7470116" y="2025313"/>
              <a:ext cx="375300" cy="146100"/>
            </a:xfrm>
            <a:prstGeom prst="rect">
              <a:avLst/>
            </a:prstGeom>
            <a:noFill/>
            <a:ln>
              <a:noFill/>
            </a:ln>
          </p:spPr>
          <p:txBody>
            <a:bodyPr anchorCtr="0" anchor="t" bIns="36150" lIns="36150" spcFirstLastPara="1" rIns="36150" wrap="square" tIns="36150">
              <a:spAutoFit/>
            </a:bodyPr>
            <a:lstStyle/>
            <a:p>
              <a:pPr indent="0" lvl="0" marL="0" rtl="0" algn="l">
                <a:spcBef>
                  <a:spcPts val="0"/>
                </a:spcBef>
                <a:spcAft>
                  <a:spcPts val="0"/>
                </a:spcAft>
                <a:buNone/>
              </a:pPr>
              <a:r>
                <a:rPr b="1" lang="pt-BR" sz="474">
                  <a:solidFill>
                    <a:srgbClr val="0000CC"/>
                  </a:solidFill>
                  <a:latin typeface="Comfortaa"/>
                  <a:ea typeface="Comfortaa"/>
                  <a:cs typeface="Comfortaa"/>
                  <a:sym typeface="Comfortaa"/>
                </a:rPr>
                <a:t>chemical</a:t>
              </a:r>
              <a:endParaRPr b="1" sz="474">
                <a:solidFill>
                  <a:srgbClr val="0000CC"/>
                </a:solidFill>
                <a:latin typeface="Comfortaa"/>
                <a:ea typeface="Comfortaa"/>
                <a:cs typeface="Comfortaa"/>
                <a:sym typeface="Comfortaa"/>
              </a:endParaRPr>
            </a:p>
          </p:txBody>
        </p:sp>
        <p:sp>
          <p:nvSpPr>
            <p:cNvPr id="481" name="Google Shape;481;h3b987c62679a4f5d_0_1571"/>
            <p:cNvSpPr/>
            <p:nvPr/>
          </p:nvSpPr>
          <p:spPr>
            <a:xfrm>
              <a:off x="7284798" y="1214979"/>
              <a:ext cx="78900" cy="78900"/>
            </a:xfrm>
            <a:prstGeom prst="ellipse">
              <a:avLst/>
            </a:prstGeom>
            <a:noFill/>
            <a:ln cap="flat" cmpd="sng" w="15050">
              <a:solidFill>
                <a:srgbClr val="9900FF"/>
              </a:solidFill>
              <a:prstDash val="solid"/>
              <a:round/>
              <a:headEnd len="sm" w="sm" type="none"/>
              <a:tailEnd len="sm" w="sm" type="none"/>
            </a:ln>
          </p:spPr>
          <p:txBody>
            <a:bodyPr anchorCtr="0" anchor="ctr" bIns="36150" lIns="36150" spcFirstLastPara="1" rIns="36150" wrap="square" tIns="36150">
              <a:noAutofit/>
            </a:bodyPr>
            <a:lstStyle/>
            <a:p>
              <a:pPr indent="0" lvl="0" marL="0" rtl="0" algn="ctr">
                <a:spcBef>
                  <a:spcPts val="0"/>
                </a:spcBef>
                <a:spcAft>
                  <a:spcPts val="0"/>
                </a:spcAft>
                <a:buNone/>
              </a:pPr>
              <a:r>
                <a:t/>
              </a:r>
              <a:endParaRPr sz="554">
                <a:latin typeface="Comfortaa"/>
                <a:ea typeface="Comfortaa"/>
                <a:cs typeface="Comfortaa"/>
                <a:sym typeface="Comfortaa"/>
              </a:endParaRPr>
            </a:p>
          </p:txBody>
        </p:sp>
        <p:cxnSp>
          <p:nvCxnSpPr>
            <p:cNvPr id="482" name="Google Shape;482;h3b987c62679a4f5d_0_1571"/>
            <p:cNvCxnSpPr>
              <a:stCxn id="481" idx="4"/>
            </p:cNvCxnSpPr>
            <p:nvPr/>
          </p:nvCxnSpPr>
          <p:spPr>
            <a:xfrm>
              <a:off x="7324248" y="1293879"/>
              <a:ext cx="0" cy="1228500"/>
            </a:xfrm>
            <a:prstGeom prst="straightConnector1">
              <a:avLst/>
            </a:prstGeom>
            <a:noFill/>
            <a:ln cap="flat" cmpd="sng" w="11300">
              <a:solidFill>
                <a:srgbClr val="9900FF"/>
              </a:solidFill>
              <a:prstDash val="dash"/>
              <a:round/>
              <a:headEnd len="med" w="med" type="none"/>
              <a:tailEnd len="med" w="med" type="none"/>
            </a:ln>
          </p:spPr>
        </p:cxnSp>
        <p:cxnSp>
          <p:nvCxnSpPr>
            <p:cNvPr id="483" name="Google Shape;483;h3b987c62679a4f5d_0_1571"/>
            <p:cNvCxnSpPr>
              <a:stCxn id="481" idx="2"/>
            </p:cNvCxnSpPr>
            <p:nvPr/>
          </p:nvCxnSpPr>
          <p:spPr>
            <a:xfrm rot="10800000">
              <a:off x="6354798" y="1254429"/>
              <a:ext cx="930000" cy="0"/>
            </a:xfrm>
            <a:prstGeom prst="straightConnector1">
              <a:avLst/>
            </a:prstGeom>
            <a:noFill/>
            <a:ln cap="flat" cmpd="sng" w="11300">
              <a:solidFill>
                <a:srgbClr val="9900FF"/>
              </a:solidFill>
              <a:prstDash val="dash"/>
              <a:round/>
              <a:headEnd len="med" w="med" type="none"/>
              <a:tailEnd len="med" w="med" type="none"/>
            </a:ln>
          </p:spPr>
        </p:cxnSp>
        <p:sp>
          <p:nvSpPr>
            <p:cNvPr id="484" name="Google Shape;484;h3b987c62679a4f5d_0_1571"/>
            <p:cNvSpPr txBox="1"/>
            <p:nvPr/>
          </p:nvSpPr>
          <p:spPr>
            <a:xfrm>
              <a:off x="7230824" y="2498684"/>
              <a:ext cx="186600" cy="182700"/>
            </a:xfrm>
            <a:prstGeom prst="rect">
              <a:avLst/>
            </a:prstGeom>
            <a:noFill/>
            <a:ln>
              <a:noFill/>
            </a:ln>
          </p:spPr>
          <p:txBody>
            <a:bodyPr anchorCtr="0" anchor="t" bIns="36150" lIns="36150" spcFirstLastPara="1" rIns="36150" wrap="square" tIns="36150">
              <a:spAutoFit/>
            </a:bodyPr>
            <a:lstStyle/>
            <a:p>
              <a:pPr indent="0" lvl="0" marL="0" rtl="0" algn="l">
                <a:spcBef>
                  <a:spcPts val="0"/>
                </a:spcBef>
                <a:spcAft>
                  <a:spcPts val="0"/>
                </a:spcAft>
                <a:buNone/>
              </a:pPr>
              <a:r>
                <a:rPr b="1" lang="pt-BR" sz="712">
                  <a:solidFill>
                    <a:srgbClr val="9900FF"/>
                  </a:solidFill>
                  <a:latin typeface="Comfortaa"/>
                  <a:ea typeface="Comfortaa"/>
                  <a:cs typeface="Comfortaa"/>
                  <a:sym typeface="Comfortaa"/>
                </a:rPr>
                <a:t>7.6</a:t>
              </a:r>
              <a:endParaRPr b="1" sz="712">
                <a:solidFill>
                  <a:srgbClr val="9900FF"/>
                </a:solidFill>
                <a:latin typeface="Comfortaa"/>
                <a:ea typeface="Comfortaa"/>
                <a:cs typeface="Comfortaa"/>
                <a:sym typeface="Comfortaa"/>
              </a:endParaRPr>
            </a:p>
          </p:txBody>
        </p:sp>
        <p:sp>
          <p:nvSpPr>
            <p:cNvPr id="485" name="Google Shape;485;h3b987c62679a4f5d_0_1571"/>
            <p:cNvSpPr txBox="1"/>
            <p:nvPr/>
          </p:nvSpPr>
          <p:spPr>
            <a:xfrm>
              <a:off x="6116450" y="1163085"/>
              <a:ext cx="271500" cy="182700"/>
            </a:xfrm>
            <a:prstGeom prst="rect">
              <a:avLst/>
            </a:prstGeom>
            <a:noFill/>
            <a:ln>
              <a:noFill/>
            </a:ln>
          </p:spPr>
          <p:txBody>
            <a:bodyPr anchorCtr="0" anchor="t" bIns="36150" lIns="36150" spcFirstLastPara="1" rIns="36150" wrap="square" tIns="36150">
              <a:spAutoFit/>
            </a:bodyPr>
            <a:lstStyle/>
            <a:p>
              <a:pPr indent="0" lvl="0" marL="0" rtl="0" algn="l">
                <a:spcBef>
                  <a:spcPts val="0"/>
                </a:spcBef>
                <a:spcAft>
                  <a:spcPts val="0"/>
                </a:spcAft>
                <a:buNone/>
              </a:pPr>
              <a:r>
                <a:rPr b="1" lang="pt-BR" sz="712">
                  <a:solidFill>
                    <a:srgbClr val="9900FF"/>
                  </a:solidFill>
                  <a:latin typeface="Comfortaa"/>
                  <a:ea typeface="Comfortaa"/>
                  <a:cs typeface="Comfortaa"/>
                  <a:sym typeface="Comfortaa"/>
                </a:rPr>
                <a:t>0.91</a:t>
              </a:r>
              <a:endParaRPr b="1" sz="712">
                <a:solidFill>
                  <a:srgbClr val="9900FF"/>
                </a:solidFill>
                <a:latin typeface="Comfortaa"/>
                <a:ea typeface="Comfortaa"/>
                <a:cs typeface="Comfortaa"/>
                <a:sym typeface="Comfortaa"/>
              </a:endParaRPr>
            </a:p>
          </p:txBody>
        </p:sp>
      </p:grpSp>
      <p:cxnSp>
        <p:nvCxnSpPr>
          <p:cNvPr id="486" name="Google Shape;486;h3b987c62679a4f5d_0_1571"/>
          <p:cNvCxnSpPr/>
          <p:nvPr/>
        </p:nvCxnSpPr>
        <p:spPr>
          <a:xfrm flipH="1" rot="10800000">
            <a:off x="7060130" y="2650284"/>
            <a:ext cx="924300" cy="1019100"/>
          </a:xfrm>
          <a:prstGeom prst="straightConnector1">
            <a:avLst/>
          </a:prstGeom>
          <a:noFill/>
          <a:ln cap="flat" cmpd="sng" w="38100">
            <a:solidFill>
              <a:srgbClr val="9900FF"/>
            </a:solidFill>
            <a:prstDash val="dash"/>
            <a:round/>
            <a:headEnd len="med" w="med" type="none"/>
            <a:tailEnd len="med" w="med" type="none"/>
          </a:ln>
        </p:spPr>
      </p:cxnSp>
      <p:cxnSp>
        <p:nvCxnSpPr>
          <p:cNvPr id="487" name="Google Shape;487;h3b987c62679a4f5d_0_1571"/>
          <p:cNvCxnSpPr/>
          <p:nvPr/>
        </p:nvCxnSpPr>
        <p:spPr>
          <a:xfrm rot="10800000">
            <a:off x="5955230" y="2642184"/>
            <a:ext cx="1104900" cy="1027200"/>
          </a:xfrm>
          <a:prstGeom prst="straightConnector1">
            <a:avLst/>
          </a:prstGeom>
          <a:noFill/>
          <a:ln cap="flat" cmpd="sng" w="38100">
            <a:solidFill>
              <a:srgbClr val="9900FF"/>
            </a:solidFill>
            <a:prstDash val="dash"/>
            <a:round/>
            <a:headEnd len="med" w="med" type="none"/>
            <a:tailEnd len="med" w="med" type="none"/>
          </a:ln>
        </p:spPr>
      </p:cxnSp>
      <p:pic>
        <p:nvPicPr>
          <p:cNvPr id="488" name="Google Shape;488;h3b987c62679a4f5d_0_1571"/>
          <p:cNvPicPr preferRelativeResize="0"/>
          <p:nvPr/>
        </p:nvPicPr>
        <p:blipFill>
          <a:blip r:embed="rId4">
            <a:alphaModFix/>
          </a:blip>
          <a:stretch>
            <a:fillRect/>
          </a:stretch>
        </p:blipFill>
        <p:spPr>
          <a:xfrm>
            <a:off x="143625" y="2952050"/>
            <a:ext cx="3392700" cy="175107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h3b987c62679a4f5d_0_1684"/>
          <p:cNvSpPr txBox="1"/>
          <p:nvPr>
            <p:ph type="title"/>
          </p:nvPr>
        </p:nvSpPr>
        <p:spPr>
          <a:xfrm>
            <a:off x="311700" y="2775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a:t>Sigmoid Activation Function</a:t>
            </a:r>
            <a:endParaRPr/>
          </a:p>
        </p:txBody>
      </p:sp>
      <p:sp>
        <p:nvSpPr>
          <p:cNvPr id="494" name="Google Shape;494;h3b987c62679a4f5d_0_1684"/>
          <p:cNvSpPr txBox="1"/>
          <p:nvPr/>
        </p:nvSpPr>
        <p:spPr>
          <a:xfrm>
            <a:off x="311700" y="1601725"/>
            <a:ext cx="17319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X=[7.6]</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w=[2.42]</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b=-16.11</a:t>
            </a:r>
            <a:endParaRPr sz="2200">
              <a:solidFill>
                <a:srgbClr val="434343"/>
              </a:solidFill>
              <a:latin typeface="Courier New"/>
              <a:ea typeface="Courier New"/>
              <a:cs typeface="Courier New"/>
              <a:sym typeface="Courier New"/>
            </a:endParaRPr>
          </a:p>
        </p:txBody>
      </p:sp>
      <p:sp>
        <p:nvSpPr>
          <p:cNvPr id="495" name="Google Shape;495;h3b987c62679a4f5d_0_1684"/>
          <p:cNvSpPr/>
          <p:nvPr/>
        </p:nvSpPr>
        <p:spPr>
          <a:xfrm>
            <a:off x="4530603" y="3629800"/>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0" baseline="-25000" lang="pt-BR" sz="1935" strike="noStrike">
                <a:latin typeface="Arial"/>
                <a:ea typeface="Arial"/>
                <a:cs typeface="Arial"/>
                <a:sym typeface="Arial"/>
              </a:rPr>
              <a:t>1</a:t>
            </a:r>
            <a:endParaRPr b="0" sz="1935" strike="noStrike">
              <a:latin typeface="Arial"/>
              <a:ea typeface="Arial"/>
              <a:cs typeface="Arial"/>
              <a:sym typeface="Arial"/>
            </a:endParaRPr>
          </a:p>
        </p:txBody>
      </p:sp>
      <p:sp>
        <p:nvSpPr>
          <p:cNvPr id="496" name="Google Shape;496;h3b987c62679a4f5d_0_1684"/>
          <p:cNvSpPr/>
          <p:nvPr/>
        </p:nvSpPr>
        <p:spPr>
          <a:xfrm>
            <a:off x="6667430" y="3669384"/>
            <a:ext cx="785400" cy="785400"/>
          </a:xfrm>
          <a:prstGeom prst="ellipse">
            <a:avLst/>
          </a:prstGeom>
          <a:solidFill>
            <a:srgbClr val="FFFFFF"/>
          </a:solidFill>
          <a:ln cap="flat" cmpd="sng" w="20800">
            <a:solidFill>
              <a:srgbClr val="000000"/>
            </a:solidFill>
            <a:prstDash val="solid"/>
            <a:round/>
            <a:headEnd len="sm" w="sm" type="none"/>
            <a:tailEnd len="sm" w="sm" type="none"/>
          </a:ln>
        </p:spPr>
        <p:txBody>
          <a:bodyPr anchorCtr="0" anchor="ctr" bIns="49875" lIns="49875" spcFirstLastPara="1" rIns="49875" wrap="square" tIns="49875">
            <a:noAutofit/>
          </a:bodyPr>
          <a:lstStyle/>
          <a:p>
            <a:pPr indent="0" lvl="0" marL="0" rtl="0" algn="l">
              <a:spcBef>
                <a:spcPts val="0"/>
              </a:spcBef>
              <a:spcAft>
                <a:spcPts val="0"/>
              </a:spcAft>
              <a:buNone/>
            </a:pPr>
            <a:r>
              <a:t/>
            </a:r>
            <a:endParaRPr/>
          </a:p>
        </p:txBody>
      </p:sp>
      <p:cxnSp>
        <p:nvCxnSpPr>
          <p:cNvPr id="497" name="Google Shape;497;h3b987c62679a4f5d_0_1684"/>
          <p:cNvCxnSpPr>
            <a:stCxn id="495" idx="6"/>
            <a:endCxn id="496" idx="2"/>
          </p:cNvCxnSpPr>
          <p:nvPr/>
        </p:nvCxnSpPr>
        <p:spPr>
          <a:xfrm>
            <a:off x="5132403" y="3930850"/>
            <a:ext cx="1535100" cy="131100"/>
          </a:xfrm>
          <a:prstGeom prst="straightConnector1">
            <a:avLst/>
          </a:prstGeom>
          <a:noFill/>
          <a:ln cap="flat" cmpd="sng" w="28575">
            <a:solidFill>
              <a:srgbClr val="000000"/>
            </a:solidFill>
            <a:prstDash val="solid"/>
            <a:round/>
            <a:headEnd len="sm" w="sm" type="none"/>
            <a:tailEnd len="med" w="med" type="triangle"/>
          </a:ln>
        </p:spPr>
      </p:cxnSp>
      <p:cxnSp>
        <p:nvCxnSpPr>
          <p:cNvPr id="498" name="Google Shape;498;h3b987c62679a4f5d_0_1684"/>
          <p:cNvCxnSpPr/>
          <p:nvPr/>
        </p:nvCxnSpPr>
        <p:spPr>
          <a:xfrm>
            <a:off x="7452981" y="4062146"/>
            <a:ext cx="1011900" cy="0"/>
          </a:xfrm>
          <a:prstGeom prst="straightConnector1">
            <a:avLst/>
          </a:prstGeom>
          <a:noFill/>
          <a:ln cap="flat" cmpd="sng" w="28575">
            <a:solidFill>
              <a:srgbClr val="000000"/>
            </a:solidFill>
            <a:prstDash val="solid"/>
            <a:round/>
            <a:headEnd len="sm" w="sm" type="none"/>
            <a:tailEnd len="med" w="med" type="triangle"/>
          </a:ln>
        </p:spPr>
      </p:cxnSp>
      <p:cxnSp>
        <p:nvCxnSpPr>
          <p:cNvPr id="499" name="Google Shape;499;h3b987c62679a4f5d_0_1684"/>
          <p:cNvCxnSpPr/>
          <p:nvPr/>
        </p:nvCxnSpPr>
        <p:spPr>
          <a:xfrm>
            <a:off x="7060205" y="3669384"/>
            <a:ext cx="0" cy="785400"/>
          </a:xfrm>
          <a:prstGeom prst="straightConnector1">
            <a:avLst/>
          </a:prstGeom>
          <a:noFill/>
          <a:ln cap="flat" cmpd="sng" w="5200">
            <a:solidFill>
              <a:srgbClr val="000000"/>
            </a:solidFill>
            <a:prstDash val="solid"/>
            <a:round/>
            <a:headEnd len="sm" w="sm" type="none"/>
            <a:tailEnd len="sm" w="sm" type="none"/>
          </a:ln>
        </p:spPr>
      </p:cxnSp>
      <p:sp>
        <p:nvSpPr>
          <p:cNvPr id="500" name="Google Shape;500;h3b987c62679a4f5d_0_1684"/>
          <p:cNvSpPr txBox="1"/>
          <p:nvPr/>
        </p:nvSpPr>
        <p:spPr>
          <a:xfrm>
            <a:off x="6786048"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Z</a:t>
            </a:r>
            <a:endParaRPr b="0" sz="2165" strike="noStrike">
              <a:latin typeface="Arial"/>
              <a:ea typeface="Arial"/>
              <a:cs typeface="Arial"/>
              <a:sym typeface="Arial"/>
            </a:endParaRPr>
          </a:p>
        </p:txBody>
      </p:sp>
      <p:sp>
        <p:nvSpPr>
          <p:cNvPr id="501" name="Google Shape;501;h3b987c62679a4f5d_0_1684"/>
          <p:cNvSpPr txBox="1"/>
          <p:nvPr/>
        </p:nvSpPr>
        <p:spPr>
          <a:xfrm>
            <a:off x="7724101" y="3669375"/>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1900"/>
              <a:t>y</a:t>
            </a:r>
            <a:endParaRPr b="0" sz="1900" strike="noStrike">
              <a:latin typeface="Arial"/>
              <a:ea typeface="Arial"/>
              <a:cs typeface="Arial"/>
              <a:sym typeface="Arial"/>
            </a:endParaRPr>
          </a:p>
        </p:txBody>
      </p:sp>
      <p:sp>
        <p:nvSpPr>
          <p:cNvPr id="502" name="Google Shape;502;h3b987c62679a4f5d_0_1684"/>
          <p:cNvSpPr/>
          <p:nvPr/>
        </p:nvSpPr>
        <p:spPr>
          <a:xfrm>
            <a:off x="4552541" y="2571751"/>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t/>
            </a:r>
            <a:endParaRPr b="0" sz="1475" strike="noStrike">
              <a:latin typeface="Arial"/>
              <a:ea typeface="Arial"/>
              <a:cs typeface="Arial"/>
              <a:sym typeface="Arial"/>
            </a:endParaRPr>
          </a:p>
        </p:txBody>
      </p:sp>
      <p:sp>
        <p:nvSpPr>
          <p:cNvPr id="503" name="Google Shape;503;h3b987c62679a4f5d_0_1684"/>
          <p:cNvSpPr txBox="1"/>
          <p:nvPr/>
        </p:nvSpPr>
        <p:spPr>
          <a:xfrm>
            <a:off x="4514475" y="2610579"/>
            <a:ext cx="714600" cy="468000"/>
          </a:xfrm>
          <a:prstGeom prst="rect">
            <a:avLst/>
          </a:prstGeom>
          <a:noFill/>
          <a:ln>
            <a:noFill/>
          </a:ln>
        </p:spPr>
        <p:txBody>
          <a:bodyPr anchorCtr="0" anchor="t" bIns="84275" lIns="84275" spcFirstLastPara="1" rIns="84275" wrap="square" tIns="84275">
            <a:spAutoFit/>
          </a:bodyPr>
          <a:lstStyle/>
          <a:p>
            <a:pPr indent="0" lvl="0" marL="0" rtl="0" algn="ctr">
              <a:spcBef>
                <a:spcPts val="0"/>
              </a:spcBef>
              <a:spcAft>
                <a:spcPts val="0"/>
              </a:spcAft>
              <a:buNone/>
            </a:pPr>
            <a:r>
              <a:rPr lang="pt-BR" sz="1935">
                <a:solidFill>
                  <a:schemeClr val="dk1"/>
                </a:solidFill>
              </a:rPr>
              <a:t>x</a:t>
            </a:r>
            <a:r>
              <a:rPr baseline="-25000" lang="pt-BR" sz="1935">
                <a:solidFill>
                  <a:schemeClr val="dk1"/>
                </a:solidFill>
              </a:rPr>
              <a:t>0</a:t>
            </a:r>
            <a:r>
              <a:rPr lang="pt-BR" sz="1935">
                <a:solidFill>
                  <a:schemeClr val="dk1"/>
                </a:solidFill>
              </a:rPr>
              <a:t>=1</a:t>
            </a:r>
            <a:endParaRPr sz="1935">
              <a:solidFill>
                <a:schemeClr val="dk1"/>
              </a:solidFill>
            </a:endParaRPr>
          </a:p>
        </p:txBody>
      </p:sp>
      <p:cxnSp>
        <p:nvCxnSpPr>
          <p:cNvPr id="504" name="Google Shape;504;h3b987c62679a4f5d_0_1684"/>
          <p:cNvCxnSpPr>
            <a:stCxn id="503" idx="3"/>
          </p:cNvCxnSpPr>
          <p:nvPr/>
        </p:nvCxnSpPr>
        <p:spPr>
          <a:xfrm>
            <a:off x="5229075" y="2844579"/>
            <a:ext cx="1471500" cy="1015200"/>
          </a:xfrm>
          <a:prstGeom prst="straightConnector1">
            <a:avLst/>
          </a:prstGeom>
          <a:noFill/>
          <a:ln cap="flat" cmpd="sng" w="28575">
            <a:solidFill>
              <a:srgbClr val="000000"/>
            </a:solidFill>
            <a:prstDash val="solid"/>
            <a:round/>
            <a:headEnd len="sm" w="sm" type="none"/>
            <a:tailEnd len="med" w="med" type="triangle"/>
          </a:ln>
        </p:spPr>
      </p:cxnSp>
      <p:sp>
        <p:nvSpPr>
          <p:cNvPr id="505" name="Google Shape;505;h3b987c62679a4f5d_0_1684"/>
          <p:cNvSpPr txBox="1"/>
          <p:nvPr/>
        </p:nvSpPr>
        <p:spPr>
          <a:xfrm>
            <a:off x="7121644"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f</a:t>
            </a:r>
            <a:endParaRPr b="0" sz="2165" strike="noStrike">
              <a:latin typeface="Arial"/>
              <a:ea typeface="Arial"/>
              <a:cs typeface="Arial"/>
              <a:sym typeface="Arial"/>
            </a:endParaRPr>
          </a:p>
        </p:txBody>
      </p:sp>
      <p:sp>
        <p:nvSpPr>
          <p:cNvPr id="506" name="Google Shape;506;h3b987c62679a4f5d_0_1684"/>
          <p:cNvSpPr txBox="1"/>
          <p:nvPr/>
        </p:nvSpPr>
        <p:spPr>
          <a:xfrm>
            <a:off x="5561671" y="3524750"/>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w</a:t>
            </a:r>
            <a:r>
              <a:rPr baseline="-25000" lang="pt-BR" sz="1800">
                <a:solidFill>
                  <a:schemeClr val="dk1"/>
                </a:solidFill>
              </a:rPr>
              <a:t>1</a:t>
            </a:r>
            <a:endParaRPr baseline="-25000" sz="1800">
              <a:solidFill>
                <a:schemeClr val="dk1"/>
              </a:solidFill>
            </a:endParaRPr>
          </a:p>
        </p:txBody>
      </p:sp>
      <p:sp>
        <p:nvSpPr>
          <p:cNvPr id="507" name="Google Shape;507;h3b987c62679a4f5d_0_1684"/>
          <p:cNvSpPr txBox="1"/>
          <p:nvPr/>
        </p:nvSpPr>
        <p:spPr>
          <a:xfrm>
            <a:off x="5662646" y="2749475"/>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FF0000"/>
                </a:solidFill>
              </a:rPr>
              <a:t>w</a:t>
            </a:r>
            <a:r>
              <a:rPr b="1" baseline="-25000" lang="pt-BR" sz="1800">
                <a:solidFill>
                  <a:srgbClr val="FF0000"/>
                </a:solidFill>
              </a:rPr>
              <a:t>0</a:t>
            </a:r>
            <a:endParaRPr b="1" baseline="-25000" sz="1800">
              <a:solidFill>
                <a:srgbClr val="FF0000"/>
              </a:solidFill>
            </a:endParaRPr>
          </a:p>
        </p:txBody>
      </p:sp>
      <p:sp>
        <p:nvSpPr>
          <p:cNvPr id="508" name="Google Shape;508;h3b987c62679a4f5d_0_1684"/>
          <p:cNvSpPr txBox="1"/>
          <p:nvPr/>
        </p:nvSpPr>
        <p:spPr>
          <a:xfrm>
            <a:off x="311700" y="3738200"/>
            <a:ext cx="27852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a:t>
            </a:r>
            <a:r>
              <a:rPr b="1" lang="pt-BR" sz="2200">
                <a:solidFill>
                  <a:srgbClr val="FF0000"/>
                </a:solidFill>
                <a:latin typeface="Courier New"/>
                <a:ea typeface="Courier New"/>
                <a:cs typeface="Courier New"/>
                <a:sym typeface="Courier New"/>
              </a:rPr>
              <a:t>1</a:t>
            </a:r>
            <a:r>
              <a:rPr lang="pt-BR" sz="2200">
                <a:solidFill>
                  <a:srgbClr val="434343"/>
                </a:solidFill>
                <a:latin typeface="Courier New"/>
                <a:ea typeface="Courier New"/>
                <a:cs typeface="Courier New"/>
                <a:sym typeface="Courier New"/>
              </a:rPr>
              <a:t>,7.6]</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a:t>
            </a:r>
            <a:r>
              <a:rPr b="1" lang="pt-BR" sz="2200">
                <a:solidFill>
                  <a:srgbClr val="FF0000"/>
                </a:solidFill>
                <a:latin typeface="Courier New"/>
                <a:ea typeface="Courier New"/>
                <a:cs typeface="Courier New"/>
                <a:sym typeface="Courier New"/>
              </a:rPr>
              <a:t>-16.11</a:t>
            </a:r>
            <a:r>
              <a:rPr lang="pt-BR" sz="2200">
                <a:solidFill>
                  <a:srgbClr val="434343"/>
                </a:solidFill>
                <a:latin typeface="Courier New"/>
                <a:ea typeface="Courier New"/>
                <a:cs typeface="Courier New"/>
                <a:sym typeface="Courier New"/>
              </a:rPr>
              <a:t>,</a:t>
            </a:r>
            <a:r>
              <a:rPr lang="pt-BR" sz="2200">
                <a:solidFill>
                  <a:srgbClr val="434343"/>
                </a:solidFill>
                <a:latin typeface="Courier New"/>
                <a:ea typeface="Courier New"/>
                <a:cs typeface="Courier New"/>
                <a:sym typeface="Courier New"/>
              </a:rPr>
              <a:t>2.42]</a:t>
            </a:r>
            <a:endParaRPr sz="2200">
              <a:solidFill>
                <a:srgbClr val="434343"/>
              </a:solidFill>
              <a:latin typeface="Courier New"/>
              <a:ea typeface="Courier New"/>
              <a:cs typeface="Courier New"/>
              <a:sym typeface="Courier New"/>
            </a:endParaRPr>
          </a:p>
        </p:txBody>
      </p:sp>
      <p:sp>
        <p:nvSpPr>
          <p:cNvPr id="509" name="Google Shape;509;h3b987c62679a4f5d_0_1684"/>
          <p:cNvSpPr/>
          <p:nvPr/>
        </p:nvSpPr>
        <p:spPr>
          <a:xfrm>
            <a:off x="607775" y="2844575"/>
            <a:ext cx="1052400" cy="8619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h3b987c62679a4f5d_0_16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Two Features</a:t>
            </a:r>
            <a:endParaRPr/>
          </a:p>
        </p:txBody>
      </p:sp>
      <p:sp>
        <p:nvSpPr>
          <p:cNvPr id="515" name="Google Shape;515;h3b987c62679a4f5d_0_1627"/>
          <p:cNvSpPr txBox="1"/>
          <p:nvPr/>
        </p:nvSpPr>
        <p:spPr>
          <a:xfrm>
            <a:off x="476375" y="1830400"/>
            <a:ext cx="3113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600"/>
              </a:spcAft>
              <a:buClr>
                <a:srgbClr val="000000"/>
              </a:buClr>
              <a:buSzPts val="1800"/>
              <a:buFont typeface="Arial"/>
              <a:buNone/>
            </a:pPr>
            <a:r>
              <a:rPr b="1" i="0" lang="pt-BR" sz="1800" u="none" cap="none" strike="noStrike">
                <a:solidFill>
                  <a:schemeClr val="dk1"/>
                </a:solidFill>
                <a:latin typeface="Arial"/>
                <a:ea typeface="Arial"/>
                <a:cs typeface="Arial"/>
                <a:sym typeface="Arial"/>
              </a:rPr>
              <a:t>GBC</a:t>
            </a:r>
            <a:r>
              <a:rPr b="0" i="0" lang="pt-BR" sz="1800" u="none" cap="none" strike="noStrike">
                <a:solidFill>
                  <a:schemeClr val="dk2"/>
                </a:solidFill>
                <a:latin typeface="Arial"/>
                <a:ea typeface="Arial"/>
                <a:cs typeface="Arial"/>
                <a:sym typeface="Arial"/>
              </a:rPr>
              <a:t> - Green Blood Cells</a:t>
            </a:r>
            <a:endParaRPr b="0" i="0" sz="1400" u="none" cap="none" strike="noStrike">
              <a:solidFill>
                <a:srgbClr val="000000"/>
              </a:solidFill>
              <a:latin typeface="Arial"/>
              <a:ea typeface="Arial"/>
              <a:cs typeface="Arial"/>
              <a:sym typeface="Arial"/>
            </a:endParaRPr>
          </a:p>
        </p:txBody>
      </p:sp>
      <p:sp>
        <p:nvSpPr>
          <p:cNvPr id="516" name="Google Shape;516;h3b987c62679a4f5d_0_1627"/>
          <p:cNvSpPr txBox="1"/>
          <p:nvPr/>
        </p:nvSpPr>
        <p:spPr>
          <a:xfrm>
            <a:off x="476375" y="2859075"/>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600"/>
              </a:spcAft>
              <a:buClr>
                <a:srgbClr val="000000"/>
              </a:buClr>
              <a:buSzPts val="1800"/>
              <a:buFont typeface="Arial"/>
              <a:buNone/>
            </a:pPr>
            <a:r>
              <a:rPr b="1" i="0" lang="pt-BR" sz="1800" u="none" cap="none" strike="noStrike">
                <a:solidFill>
                  <a:schemeClr val="dk1"/>
                </a:solidFill>
                <a:latin typeface="Arial"/>
                <a:ea typeface="Arial"/>
                <a:cs typeface="Arial"/>
                <a:sym typeface="Arial"/>
              </a:rPr>
              <a:t>GS</a:t>
            </a:r>
            <a:r>
              <a:rPr b="0" i="0" lang="pt-BR" sz="1800" u="none" cap="none" strike="noStrike">
                <a:solidFill>
                  <a:schemeClr val="dk2"/>
                </a:solidFill>
                <a:latin typeface="Arial"/>
                <a:ea typeface="Arial"/>
                <a:cs typeface="Arial"/>
                <a:sym typeface="Arial"/>
              </a:rPr>
              <a:t> - Green Substance</a:t>
            </a:r>
            <a:endParaRPr b="0" i="0" sz="1400" u="none" cap="none" strike="noStrike">
              <a:solidFill>
                <a:srgbClr val="000000"/>
              </a:solidFill>
              <a:latin typeface="Arial"/>
              <a:ea typeface="Arial"/>
              <a:cs typeface="Arial"/>
              <a:sym typeface="Arial"/>
            </a:endParaRPr>
          </a:p>
        </p:txBody>
      </p:sp>
      <p:pic>
        <p:nvPicPr>
          <p:cNvPr id="517" name="Google Shape;517;h3b987c62679a4f5d_0_1627"/>
          <p:cNvPicPr preferRelativeResize="0"/>
          <p:nvPr/>
        </p:nvPicPr>
        <p:blipFill rotWithShape="1">
          <a:blip r:embed="rId3">
            <a:alphaModFix/>
          </a:blip>
          <a:srcRect b="0" l="0" r="0" t="0"/>
          <a:stretch/>
        </p:blipFill>
        <p:spPr>
          <a:xfrm>
            <a:off x="1566875" y="3303675"/>
            <a:ext cx="646075" cy="722350"/>
          </a:xfrm>
          <a:prstGeom prst="rect">
            <a:avLst/>
          </a:prstGeom>
          <a:noFill/>
          <a:ln>
            <a:noFill/>
          </a:ln>
        </p:spPr>
      </p:pic>
      <p:pic>
        <p:nvPicPr>
          <p:cNvPr id="518" name="Google Shape;518;h3b987c62679a4f5d_0_1627"/>
          <p:cNvPicPr preferRelativeResize="0"/>
          <p:nvPr/>
        </p:nvPicPr>
        <p:blipFill rotWithShape="1">
          <a:blip r:embed="rId4">
            <a:alphaModFix/>
          </a:blip>
          <a:srcRect b="0" l="0" r="0" t="0"/>
          <a:stretch/>
        </p:blipFill>
        <p:spPr>
          <a:xfrm>
            <a:off x="1391475" y="2292092"/>
            <a:ext cx="1039100" cy="530382"/>
          </a:xfrm>
          <a:prstGeom prst="rect">
            <a:avLst/>
          </a:prstGeom>
          <a:noFill/>
          <a:ln>
            <a:noFill/>
          </a:ln>
        </p:spPr>
      </p:pic>
      <p:pic>
        <p:nvPicPr>
          <p:cNvPr id="519" name="Google Shape;519;h3b987c62679a4f5d_0_1627"/>
          <p:cNvPicPr preferRelativeResize="0"/>
          <p:nvPr/>
        </p:nvPicPr>
        <p:blipFill>
          <a:blip r:embed="rId5">
            <a:alphaModFix/>
          </a:blip>
          <a:stretch>
            <a:fillRect/>
          </a:stretch>
        </p:blipFill>
        <p:spPr>
          <a:xfrm>
            <a:off x="3742475" y="1170125"/>
            <a:ext cx="4419041" cy="3820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h3b987c62679a4f5d_0_1704"/>
          <p:cNvSpPr txBox="1"/>
          <p:nvPr>
            <p:ph type="title"/>
          </p:nvPr>
        </p:nvSpPr>
        <p:spPr>
          <a:xfrm>
            <a:off x="311700" y="277500"/>
            <a:ext cx="8520600" cy="8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sz="1400"/>
              <a:t>Sigmoid Activation Function</a:t>
            </a:r>
            <a:endParaRPr sz="1400"/>
          </a:p>
          <a:p>
            <a:pPr indent="0" lvl="0" marL="0" rtl="0" algn="ctr">
              <a:spcBef>
                <a:spcPts val="0"/>
              </a:spcBef>
              <a:spcAft>
                <a:spcPts val="0"/>
              </a:spcAft>
              <a:buSzPts val="2800"/>
              <a:buNone/>
            </a:pPr>
            <a:r>
              <a:rPr lang="pt-BR"/>
              <a:t>Two Features</a:t>
            </a:r>
            <a:endParaRPr/>
          </a:p>
        </p:txBody>
      </p:sp>
      <p:sp>
        <p:nvSpPr>
          <p:cNvPr id="525" name="Google Shape;525;h3b987c62679a4f5d_0_1704"/>
          <p:cNvSpPr/>
          <p:nvPr/>
        </p:nvSpPr>
        <p:spPr>
          <a:xfrm>
            <a:off x="4530603" y="3629800"/>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0" baseline="-25000" lang="pt-BR" sz="1935" strike="noStrike">
                <a:latin typeface="Arial"/>
                <a:ea typeface="Arial"/>
                <a:cs typeface="Arial"/>
                <a:sym typeface="Arial"/>
              </a:rPr>
              <a:t>1</a:t>
            </a:r>
            <a:endParaRPr b="0" sz="1935" strike="noStrike">
              <a:latin typeface="Arial"/>
              <a:ea typeface="Arial"/>
              <a:cs typeface="Arial"/>
              <a:sym typeface="Arial"/>
            </a:endParaRPr>
          </a:p>
        </p:txBody>
      </p:sp>
      <p:sp>
        <p:nvSpPr>
          <p:cNvPr id="526" name="Google Shape;526;h3b987c62679a4f5d_0_1704"/>
          <p:cNvSpPr/>
          <p:nvPr/>
        </p:nvSpPr>
        <p:spPr>
          <a:xfrm>
            <a:off x="6667430" y="3669384"/>
            <a:ext cx="785400" cy="785400"/>
          </a:xfrm>
          <a:prstGeom prst="ellipse">
            <a:avLst/>
          </a:prstGeom>
          <a:solidFill>
            <a:srgbClr val="FFFFFF"/>
          </a:solidFill>
          <a:ln cap="flat" cmpd="sng" w="20800">
            <a:solidFill>
              <a:srgbClr val="000000"/>
            </a:solidFill>
            <a:prstDash val="solid"/>
            <a:round/>
            <a:headEnd len="sm" w="sm" type="none"/>
            <a:tailEnd len="sm" w="sm" type="none"/>
          </a:ln>
        </p:spPr>
        <p:txBody>
          <a:bodyPr anchorCtr="0" anchor="ctr" bIns="49875" lIns="49875" spcFirstLastPara="1" rIns="49875" wrap="square" tIns="49875">
            <a:noAutofit/>
          </a:bodyPr>
          <a:lstStyle/>
          <a:p>
            <a:pPr indent="0" lvl="0" marL="0" rtl="0" algn="l">
              <a:spcBef>
                <a:spcPts val="0"/>
              </a:spcBef>
              <a:spcAft>
                <a:spcPts val="0"/>
              </a:spcAft>
              <a:buNone/>
            </a:pPr>
            <a:r>
              <a:t/>
            </a:r>
            <a:endParaRPr/>
          </a:p>
        </p:txBody>
      </p:sp>
      <p:cxnSp>
        <p:nvCxnSpPr>
          <p:cNvPr id="527" name="Google Shape;527;h3b987c62679a4f5d_0_1704"/>
          <p:cNvCxnSpPr>
            <a:stCxn id="525" idx="6"/>
            <a:endCxn id="526" idx="2"/>
          </p:cNvCxnSpPr>
          <p:nvPr/>
        </p:nvCxnSpPr>
        <p:spPr>
          <a:xfrm>
            <a:off x="5132403" y="3930850"/>
            <a:ext cx="1535100" cy="131100"/>
          </a:xfrm>
          <a:prstGeom prst="straightConnector1">
            <a:avLst/>
          </a:prstGeom>
          <a:noFill/>
          <a:ln cap="flat" cmpd="sng" w="28575">
            <a:solidFill>
              <a:srgbClr val="000000"/>
            </a:solidFill>
            <a:prstDash val="solid"/>
            <a:round/>
            <a:headEnd len="sm" w="sm" type="none"/>
            <a:tailEnd len="med" w="med" type="triangle"/>
          </a:ln>
        </p:spPr>
      </p:cxnSp>
      <p:cxnSp>
        <p:nvCxnSpPr>
          <p:cNvPr id="528" name="Google Shape;528;h3b987c62679a4f5d_0_1704"/>
          <p:cNvCxnSpPr/>
          <p:nvPr/>
        </p:nvCxnSpPr>
        <p:spPr>
          <a:xfrm>
            <a:off x="7452981" y="4062146"/>
            <a:ext cx="1011900" cy="0"/>
          </a:xfrm>
          <a:prstGeom prst="straightConnector1">
            <a:avLst/>
          </a:prstGeom>
          <a:noFill/>
          <a:ln cap="flat" cmpd="sng" w="28575">
            <a:solidFill>
              <a:srgbClr val="000000"/>
            </a:solidFill>
            <a:prstDash val="solid"/>
            <a:round/>
            <a:headEnd len="sm" w="sm" type="none"/>
            <a:tailEnd len="med" w="med" type="triangle"/>
          </a:ln>
        </p:spPr>
      </p:cxnSp>
      <p:cxnSp>
        <p:nvCxnSpPr>
          <p:cNvPr id="529" name="Google Shape;529;h3b987c62679a4f5d_0_1704"/>
          <p:cNvCxnSpPr/>
          <p:nvPr/>
        </p:nvCxnSpPr>
        <p:spPr>
          <a:xfrm>
            <a:off x="7060205" y="3669384"/>
            <a:ext cx="0" cy="785400"/>
          </a:xfrm>
          <a:prstGeom prst="straightConnector1">
            <a:avLst/>
          </a:prstGeom>
          <a:noFill/>
          <a:ln cap="flat" cmpd="sng" w="5200">
            <a:solidFill>
              <a:srgbClr val="000000"/>
            </a:solidFill>
            <a:prstDash val="solid"/>
            <a:round/>
            <a:headEnd len="sm" w="sm" type="none"/>
            <a:tailEnd len="sm" w="sm" type="none"/>
          </a:ln>
        </p:spPr>
      </p:cxnSp>
      <p:sp>
        <p:nvSpPr>
          <p:cNvPr id="530" name="Google Shape;530;h3b987c62679a4f5d_0_1704"/>
          <p:cNvSpPr txBox="1"/>
          <p:nvPr/>
        </p:nvSpPr>
        <p:spPr>
          <a:xfrm>
            <a:off x="6786048"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Z</a:t>
            </a:r>
            <a:endParaRPr b="0" sz="2165" strike="noStrike">
              <a:latin typeface="Arial"/>
              <a:ea typeface="Arial"/>
              <a:cs typeface="Arial"/>
              <a:sym typeface="Arial"/>
            </a:endParaRPr>
          </a:p>
        </p:txBody>
      </p:sp>
      <p:sp>
        <p:nvSpPr>
          <p:cNvPr id="531" name="Google Shape;531;h3b987c62679a4f5d_0_1704"/>
          <p:cNvSpPr txBox="1"/>
          <p:nvPr/>
        </p:nvSpPr>
        <p:spPr>
          <a:xfrm>
            <a:off x="7724101" y="3669375"/>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1900"/>
              <a:t>y</a:t>
            </a:r>
            <a:endParaRPr b="0" sz="1900" strike="noStrike">
              <a:latin typeface="Arial"/>
              <a:ea typeface="Arial"/>
              <a:cs typeface="Arial"/>
              <a:sym typeface="Arial"/>
            </a:endParaRPr>
          </a:p>
        </p:txBody>
      </p:sp>
      <p:sp>
        <p:nvSpPr>
          <p:cNvPr id="532" name="Google Shape;532;h3b987c62679a4f5d_0_1704"/>
          <p:cNvSpPr/>
          <p:nvPr/>
        </p:nvSpPr>
        <p:spPr>
          <a:xfrm>
            <a:off x="4552541" y="2571751"/>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t/>
            </a:r>
            <a:endParaRPr b="0" sz="1475" strike="noStrike">
              <a:latin typeface="Arial"/>
              <a:ea typeface="Arial"/>
              <a:cs typeface="Arial"/>
              <a:sym typeface="Arial"/>
            </a:endParaRPr>
          </a:p>
        </p:txBody>
      </p:sp>
      <p:sp>
        <p:nvSpPr>
          <p:cNvPr id="533" name="Google Shape;533;h3b987c62679a4f5d_0_1704"/>
          <p:cNvSpPr txBox="1"/>
          <p:nvPr/>
        </p:nvSpPr>
        <p:spPr>
          <a:xfrm>
            <a:off x="4514475" y="2610579"/>
            <a:ext cx="714600" cy="468000"/>
          </a:xfrm>
          <a:prstGeom prst="rect">
            <a:avLst/>
          </a:prstGeom>
          <a:noFill/>
          <a:ln>
            <a:noFill/>
          </a:ln>
        </p:spPr>
        <p:txBody>
          <a:bodyPr anchorCtr="0" anchor="t" bIns="84275" lIns="84275" spcFirstLastPara="1" rIns="84275" wrap="square" tIns="84275">
            <a:spAutoFit/>
          </a:bodyPr>
          <a:lstStyle/>
          <a:p>
            <a:pPr indent="0" lvl="0" marL="0" rtl="0" algn="ctr">
              <a:spcBef>
                <a:spcPts val="0"/>
              </a:spcBef>
              <a:spcAft>
                <a:spcPts val="0"/>
              </a:spcAft>
              <a:buNone/>
            </a:pPr>
            <a:r>
              <a:rPr lang="pt-BR" sz="1935">
                <a:solidFill>
                  <a:schemeClr val="dk1"/>
                </a:solidFill>
              </a:rPr>
              <a:t>x</a:t>
            </a:r>
            <a:r>
              <a:rPr baseline="-25000" lang="pt-BR" sz="1935">
                <a:solidFill>
                  <a:schemeClr val="dk1"/>
                </a:solidFill>
              </a:rPr>
              <a:t>0</a:t>
            </a:r>
            <a:r>
              <a:rPr lang="pt-BR" sz="1935">
                <a:solidFill>
                  <a:schemeClr val="dk1"/>
                </a:solidFill>
              </a:rPr>
              <a:t>=1</a:t>
            </a:r>
            <a:endParaRPr sz="1935">
              <a:solidFill>
                <a:schemeClr val="dk1"/>
              </a:solidFill>
            </a:endParaRPr>
          </a:p>
        </p:txBody>
      </p:sp>
      <p:cxnSp>
        <p:nvCxnSpPr>
          <p:cNvPr id="534" name="Google Shape;534;h3b987c62679a4f5d_0_1704"/>
          <p:cNvCxnSpPr>
            <a:stCxn id="533" idx="3"/>
          </p:cNvCxnSpPr>
          <p:nvPr/>
        </p:nvCxnSpPr>
        <p:spPr>
          <a:xfrm>
            <a:off x="5229075" y="2844579"/>
            <a:ext cx="1471500" cy="1015200"/>
          </a:xfrm>
          <a:prstGeom prst="straightConnector1">
            <a:avLst/>
          </a:prstGeom>
          <a:noFill/>
          <a:ln cap="flat" cmpd="sng" w="28575">
            <a:solidFill>
              <a:srgbClr val="000000"/>
            </a:solidFill>
            <a:prstDash val="solid"/>
            <a:round/>
            <a:headEnd len="sm" w="sm" type="none"/>
            <a:tailEnd len="med" w="med" type="triangle"/>
          </a:ln>
        </p:spPr>
      </p:cxnSp>
      <p:sp>
        <p:nvSpPr>
          <p:cNvPr id="535" name="Google Shape;535;h3b987c62679a4f5d_0_1704"/>
          <p:cNvSpPr txBox="1"/>
          <p:nvPr/>
        </p:nvSpPr>
        <p:spPr>
          <a:xfrm>
            <a:off x="7121644" y="3873228"/>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f</a:t>
            </a:r>
            <a:endParaRPr b="0" sz="2165" strike="noStrike">
              <a:latin typeface="Arial"/>
              <a:ea typeface="Arial"/>
              <a:cs typeface="Arial"/>
              <a:sym typeface="Arial"/>
            </a:endParaRPr>
          </a:p>
        </p:txBody>
      </p:sp>
      <p:sp>
        <p:nvSpPr>
          <p:cNvPr id="536" name="Google Shape;536;h3b987c62679a4f5d_0_1704"/>
          <p:cNvSpPr txBox="1"/>
          <p:nvPr/>
        </p:nvSpPr>
        <p:spPr>
          <a:xfrm>
            <a:off x="5561671" y="3524750"/>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w</a:t>
            </a:r>
            <a:r>
              <a:rPr baseline="-25000" lang="pt-BR" sz="1800">
                <a:solidFill>
                  <a:schemeClr val="dk1"/>
                </a:solidFill>
              </a:rPr>
              <a:t>1</a:t>
            </a:r>
            <a:endParaRPr baseline="-25000" sz="1800">
              <a:solidFill>
                <a:schemeClr val="dk1"/>
              </a:solidFill>
            </a:endParaRPr>
          </a:p>
        </p:txBody>
      </p:sp>
      <p:sp>
        <p:nvSpPr>
          <p:cNvPr id="537" name="Google Shape;537;h3b987c62679a4f5d_0_1704"/>
          <p:cNvSpPr txBox="1"/>
          <p:nvPr/>
        </p:nvSpPr>
        <p:spPr>
          <a:xfrm>
            <a:off x="5662646" y="2749475"/>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w</a:t>
            </a:r>
            <a:r>
              <a:rPr baseline="-25000" lang="pt-BR" sz="1800">
                <a:solidFill>
                  <a:schemeClr val="dk1"/>
                </a:solidFill>
              </a:rPr>
              <a:t>0</a:t>
            </a:r>
            <a:endParaRPr baseline="-25000" sz="1800">
              <a:solidFill>
                <a:schemeClr val="dk1"/>
              </a:solidFill>
            </a:endParaRPr>
          </a:p>
        </p:txBody>
      </p:sp>
      <p:sp>
        <p:nvSpPr>
          <p:cNvPr id="538" name="Google Shape;538;h3b987c62679a4f5d_0_1704"/>
          <p:cNvSpPr txBox="1"/>
          <p:nvPr/>
        </p:nvSpPr>
        <p:spPr>
          <a:xfrm>
            <a:off x="137775" y="3779375"/>
            <a:ext cx="3678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a:t>
            </a:r>
            <a:r>
              <a:rPr lang="pt-BR" sz="2200">
                <a:solidFill>
                  <a:srgbClr val="434343"/>
                </a:solidFill>
                <a:latin typeface="Courier New"/>
                <a:ea typeface="Courier New"/>
                <a:cs typeface="Courier New"/>
                <a:sym typeface="Courier New"/>
              </a:rPr>
              <a:t>=[1,5.6,46]</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w=[-33.19,1.60,0.47]</a:t>
            </a:r>
            <a:endParaRPr sz="2200">
              <a:solidFill>
                <a:srgbClr val="434343"/>
              </a:solidFill>
              <a:latin typeface="Courier New"/>
              <a:ea typeface="Courier New"/>
              <a:cs typeface="Courier New"/>
              <a:sym typeface="Courier New"/>
            </a:endParaRPr>
          </a:p>
        </p:txBody>
      </p:sp>
      <p:sp>
        <p:nvSpPr>
          <p:cNvPr id="539" name="Google Shape;539;h3b987c62679a4f5d_0_1704"/>
          <p:cNvSpPr/>
          <p:nvPr/>
        </p:nvSpPr>
        <p:spPr>
          <a:xfrm>
            <a:off x="4530603" y="4502775"/>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aseline="-25000" lang="pt-BR" sz="1935"/>
              <a:t>2</a:t>
            </a:r>
            <a:endParaRPr b="0" sz="1935" strike="noStrike">
              <a:latin typeface="Arial"/>
              <a:ea typeface="Arial"/>
              <a:cs typeface="Arial"/>
              <a:sym typeface="Arial"/>
            </a:endParaRPr>
          </a:p>
        </p:txBody>
      </p:sp>
      <p:cxnSp>
        <p:nvCxnSpPr>
          <p:cNvPr id="540" name="Google Shape;540;h3b987c62679a4f5d_0_1704"/>
          <p:cNvCxnSpPr>
            <a:stCxn id="539" idx="6"/>
          </p:cNvCxnSpPr>
          <p:nvPr/>
        </p:nvCxnSpPr>
        <p:spPr>
          <a:xfrm flipH="1" rot="10800000">
            <a:off x="5132403" y="4240725"/>
            <a:ext cx="1477200" cy="563100"/>
          </a:xfrm>
          <a:prstGeom prst="straightConnector1">
            <a:avLst/>
          </a:prstGeom>
          <a:noFill/>
          <a:ln cap="flat" cmpd="sng" w="28575">
            <a:solidFill>
              <a:srgbClr val="000000"/>
            </a:solidFill>
            <a:prstDash val="solid"/>
            <a:round/>
            <a:headEnd len="sm" w="sm" type="none"/>
            <a:tailEnd len="med" w="med" type="triangle"/>
          </a:ln>
        </p:spPr>
      </p:cxnSp>
      <p:sp>
        <p:nvSpPr>
          <p:cNvPr id="541" name="Google Shape;541;h3b987c62679a4f5d_0_1704"/>
          <p:cNvSpPr txBox="1"/>
          <p:nvPr/>
        </p:nvSpPr>
        <p:spPr>
          <a:xfrm>
            <a:off x="5424171" y="4133025"/>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w</a:t>
            </a:r>
            <a:r>
              <a:rPr baseline="-25000" lang="pt-BR" sz="1800">
                <a:solidFill>
                  <a:schemeClr val="dk1"/>
                </a:solidFill>
              </a:rPr>
              <a:t>2</a:t>
            </a:r>
            <a:endParaRPr baseline="-25000" sz="1800">
              <a:solidFill>
                <a:schemeClr val="dk1"/>
              </a:solidFill>
            </a:endParaRPr>
          </a:p>
        </p:txBody>
      </p:sp>
      <p:pic>
        <p:nvPicPr>
          <p:cNvPr id="542" name="Google Shape;542;h3b987c62679a4f5d_0_1704"/>
          <p:cNvPicPr preferRelativeResize="0"/>
          <p:nvPr/>
        </p:nvPicPr>
        <p:blipFill>
          <a:blip r:embed="rId3">
            <a:alphaModFix/>
          </a:blip>
          <a:stretch>
            <a:fillRect/>
          </a:stretch>
        </p:blipFill>
        <p:spPr>
          <a:xfrm>
            <a:off x="152400" y="1291800"/>
            <a:ext cx="4111118" cy="23351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h3b987c62679a4f5d_0_1747"/>
          <p:cNvSpPr txBox="1"/>
          <p:nvPr/>
        </p:nvSpPr>
        <p:spPr>
          <a:xfrm>
            <a:off x="408450" y="2463138"/>
            <a:ext cx="3678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a:t>
            </a:r>
            <a:r>
              <a:rPr lang="pt-BR" sz="2200">
                <a:solidFill>
                  <a:srgbClr val="434343"/>
                </a:solidFill>
                <a:latin typeface="Courier New"/>
                <a:ea typeface="Courier New"/>
                <a:cs typeface="Courier New"/>
                <a:sym typeface="Courier New"/>
              </a:rPr>
              <a:t>=[</a:t>
            </a:r>
            <a:r>
              <a:rPr lang="pt-BR" sz="2200">
                <a:solidFill>
                  <a:srgbClr val="434343"/>
                </a:solidFill>
                <a:latin typeface="Courier New"/>
                <a:ea typeface="Courier New"/>
                <a:cs typeface="Courier New"/>
                <a:sym typeface="Courier New"/>
              </a:rPr>
              <a:t>1,5.6,46</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w=[-33.19,1.60,0.47]</a:t>
            </a:r>
            <a:endParaRPr sz="2200">
              <a:solidFill>
                <a:srgbClr val="434343"/>
              </a:solidFill>
              <a:latin typeface="Courier New"/>
              <a:ea typeface="Courier New"/>
              <a:cs typeface="Courier New"/>
              <a:sym typeface="Courier New"/>
            </a:endParaRPr>
          </a:p>
        </p:txBody>
      </p:sp>
      <p:sp>
        <p:nvSpPr>
          <p:cNvPr id="548" name="Google Shape;548;h3b987c62679a4f5d_0_1747"/>
          <p:cNvSpPr/>
          <p:nvPr/>
        </p:nvSpPr>
        <p:spPr>
          <a:xfrm>
            <a:off x="4801278" y="2685575"/>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0" baseline="-25000" lang="pt-BR" sz="1935" strike="noStrike">
                <a:latin typeface="Arial"/>
                <a:ea typeface="Arial"/>
                <a:cs typeface="Arial"/>
                <a:sym typeface="Arial"/>
              </a:rPr>
              <a:t>1</a:t>
            </a:r>
            <a:endParaRPr b="0" sz="1935" strike="noStrike">
              <a:latin typeface="Arial"/>
              <a:ea typeface="Arial"/>
              <a:cs typeface="Arial"/>
              <a:sym typeface="Arial"/>
            </a:endParaRPr>
          </a:p>
        </p:txBody>
      </p:sp>
      <p:sp>
        <p:nvSpPr>
          <p:cNvPr id="549" name="Google Shape;549;h3b987c62679a4f5d_0_1747"/>
          <p:cNvSpPr/>
          <p:nvPr/>
        </p:nvSpPr>
        <p:spPr>
          <a:xfrm>
            <a:off x="6938105" y="2725159"/>
            <a:ext cx="785400" cy="785400"/>
          </a:xfrm>
          <a:prstGeom prst="ellipse">
            <a:avLst/>
          </a:prstGeom>
          <a:solidFill>
            <a:srgbClr val="FFFFFF"/>
          </a:solidFill>
          <a:ln cap="flat" cmpd="sng" w="20800">
            <a:solidFill>
              <a:srgbClr val="000000"/>
            </a:solidFill>
            <a:prstDash val="solid"/>
            <a:round/>
            <a:headEnd len="sm" w="sm" type="none"/>
            <a:tailEnd len="sm" w="sm" type="none"/>
          </a:ln>
        </p:spPr>
        <p:txBody>
          <a:bodyPr anchorCtr="0" anchor="ctr" bIns="49875" lIns="49875" spcFirstLastPara="1" rIns="49875" wrap="square" tIns="49875">
            <a:noAutofit/>
          </a:bodyPr>
          <a:lstStyle/>
          <a:p>
            <a:pPr indent="0" lvl="0" marL="0" rtl="0" algn="l">
              <a:spcBef>
                <a:spcPts val="0"/>
              </a:spcBef>
              <a:spcAft>
                <a:spcPts val="0"/>
              </a:spcAft>
              <a:buNone/>
            </a:pPr>
            <a:r>
              <a:t/>
            </a:r>
            <a:endParaRPr/>
          </a:p>
        </p:txBody>
      </p:sp>
      <p:cxnSp>
        <p:nvCxnSpPr>
          <p:cNvPr id="550" name="Google Shape;550;h3b987c62679a4f5d_0_1747"/>
          <p:cNvCxnSpPr>
            <a:stCxn id="548" idx="6"/>
            <a:endCxn id="549" idx="2"/>
          </p:cNvCxnSpPr>
          <p:nvPr/>
        </p:nvCxnSpPr>
        <p:spPr>
          <a:xfrm>
            <a:off x="5403078" y="2986625"/>
            <a:ext cx="1535100" cy="131100"/>
          </a:xfrm>
          <a:prstGeom prst="straightConnector1">
            <a:avLst/>
          </a:prstGeom>
          <a:noFill/>
          <a:ln cap="flat" cmpd="sng" w="28575">
            <a:solidFill>
              <a:srgbClr val="000000"/>
            </a:solidFill>
            <a:prstDash val="solid"/>
            <a:round/>
            <a:headEnd len="sm" w="sm" type="none"/>
            <a:tailEnd len="med" w="med" type="triangle"/>
          </a:ln>
        </p:spPr>
      </p:cxnSp>
      <p:cxnSp>
        <p:nvCxnSpPr>
          <p:cNvPr id="551" name="Google Shape;551;h3b987c62679a4f5d_0_1747"/>
          <p:cNvCxnSpPr/>
          <p:nvPr/>
        </p:nvCxnSpPr>
        <p:spPr>
          <a:xfrm>
            <a:off x="7723656" y="3117921"/>
            <a:ext cx="1011900" cy="0"/>
          </a:xfrm>
          <a:prstGeom prst="straightConnector1">
            <a:avLst/>
          </a:prstGeom>
          <a:noFill/>
          <a:ln cap="flat" cmpd="sng" w="28575">
            <a:solidFill>
              <a:srgbClr val="000000"/>
            </a:solidFill>
            <a:prstDash val="solid"/>
            <a:round/>
            <a:headEnd len="sm" w="sm" type="none"/>
            <a:tailEnd len="med" w="med" type="triangle"/>
          </a:ln>
        </p:spPr>
      </p:cxnSp>
      <p:cxnSp>
        <p:nvCxnSpPr>
          <p:cNvPr id="552" name="Google Shape;552;h3b987c62679a4f5d_0_1747"/>
          <p:cNvCxnSpPr/>
          <p:nvPr/>
        </p:nvCxnSpPr>
        <p:spPr>
          <a:xfrm>
            <a:off x="7330880" y="2725159"/>
            <a:ext cx="0" cy="785400"/>
          </a:xfrm>
          <a:prstGeom prst="straightConnector1">
            <a:avLst/>
          </a:prstGeom>
          <a:noFill/>
          <a:ln cap="flat" cmpd="sng" w="5200">
            <a:solidFill>
              <a:srgbClr val="000000"/>
            </a:solidFill>
            <a:prstDash val="solid"/>
            <a:round/>
            <a:headEnd len="sm" w="sm" type="none"/>
            <a:tailEnd len="sm" w="sm" type="none"/>
          </a:ln>
        </p:spPr>
      </p:cxnSp>
      <p:sp>
        <p:nvSpPr>
          <p:cNvPr id="553" name="Google Shape;553;h3b987c62679a4f5d_0_1747"/>
          <p:cNvSpPr txBox="1"/>
          <p:nvPr/>
        </p:nvSpPr>
        <p:spPr>
          <a:xfrm>
            <a:off x="7056723" y="2929003"/>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Z</a:t>
            </a:r>
            <a:endParaRPr b="0" sz="2165" strike="noStrike">
              <a:latin typeface="Arial"/>
              <a:ea typeface="Arial"/>
              <a:cs typeface="Arial"/>
              <a:sym typeface="Arial"/>
            </a:endParaRPr>
          </a:p>
        </p:txBody>
      </p:sp>
      <p:sp>
        <p:nvSpPr>
          <p:cNvPr id="554" name="Google Shape;554;h3b987c62679a4f5d_0_1747"/>
          <p:cNvSpPr txBox="1"/>
          <p:nvPr/>
        </p:nvSpPr>
        <p:spPr>
          <a:xfrm>
            <a:off x="7994776" y="2725150"/>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1900"/>
              <a:t>y</a:t>
            </a:r>
            <a:endParaRPr b="0" sz="1900" strike="noStrike">
              <a:latin typeface="Arial"/>
              <a:ea typeface="Arial"/>
              <a:cs typeface="Arial"/>
              <a:sym typeface="Arial"/>
            </a:endParaRPr>
          </a:p>
        </p:txBody>
      </p:sp>
      <p:sp>
        <p:nvSpPr>
          <p:cNvPr id="555" name="Google Shape;555;h3b987c62679a4f5d_0_1747"/>
          <p:cNvSpPr/>
          <p:nvPr/>
        </p:nvSpPr>
        <p:spPr>
          <a:xfrm>
            <a:off x="4823216" y="1627526"/>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t/>
            </a:r>
            <a:endParaRPr b="0" sz="1475" strike="noStrike">
              <a:latin typeface="Arial"/>
              <a:ea typeface="Arial"/>
              <a:cs typeface="Arial"/>
              <a:sym typeface="Arial"/>
            </a:endParaRPr>
          </a:p>
        </p:txBody>
      </p:sp>
      <p:sp>
        <p:nvSpPr>
          <p:cNvPr id="556" name="Google Shape;556;h3b987c62679a4f5d_0_1747"/>
          <p:cNvSpPr txBox="1"/>
          <p:nvPr/>
        </p:nvSpPr>
        <p:spPr>
          <a:xfrm>
            <a:off x="4785150" y="1666354"/>
            <a:ext cx="714600" cy="468000"/>
          </a:xfrm>
          <a:prstGeom prst="rect">
            <a:avLst/>
          </a:prstGeom>
          <a:noFill/>
          <a:ln>
            <a:noFill/>
          </a:ln>
        </p:spPr>
        <p:txBody>
          <a:bodyPr anchorCtr="0" anchor="t" bIns="84275" lIns="84275" spcFirstLastPara="1" rIns="84275" wrap="square" tIns="84275">
            <a:spAutoFit/>
          </a:bodyPr>
          <a:lstStyle/>
          <a:p>
            <a:pPr indent="0" lvl="0" marL="0" rtl="0" algn="ctr">
              <a:spcBef>
                <a:spcPts val="0"/>
              </a:spcBef>
              <a:spcAft>
                <a:spcPts val="0"/>
              </a:spcAft>
              <a:buNone/>
            </a:pPr>
            <a:r>
              <a:rPr lang="pt-BR" sz="1935">
                <a:solidFill>
                  <a:schemeClr val="dk1"/>
                </a:solidFill>
              </a:rPr>
              <a:t>x</a:t>
            </a:r>
            <a:r>
              <a:rPr baseline="-25000" lang="pt-BR" sz="1935">
                <a:solidFill>
                  <a:schemeClr val="dk1"/>
                </a:solidFill>
              </a:rPr>
              <a:t>0</a:t>
            </a:r>
            <a:r>
              <a:rPr lang="pt-BR" sz="1935">
                <a:solidFill>
                  <a:schemeClr val="dk1"/>
                </a:solidFill>
              </a:rPr>
              <a:t>=1</a:t>
            </a:r>
            <a:endParaRPr sz="1935">
              <a:solidFill>
                <a:schemeClr val="dk1"/>
              </a:solidFill>
            </a:endParaRPr>
          </a:p>
        </p:txBody>
      </p:sp>
      <p:cxnSp>
        <p:nvCxnSpPr>
          <p:cNvPr id="557" name="Google Shape;557;h3b987c62679a4f5d_0_1747"/>
          <p:cNvCxnSpPr>
            <a:stCxn id="556" idx="3"/>
          </p:cNvCxnSpPr>
          <p:nvPr/>
        </p:nvCxnSpPr>
        <p:spPr>
          <a:xfrm>
            <a:off x="5499750" y="1900354"/>
            <a:ext cx="1471500" cy="1015200"/>
          </a:xfrm>
          <a:prstGeom prst="straightConnector1">
            <a:avLst/>
          </a:prstGeom>
          <a:noFill/>
          <a:ln cap="flat" cmpd="sng" w="28575">
            <a:solidFill>
              <a:srgbClr val="000000"/>
            </a:solidFill>
            <a:prstDash val="solid"/>
            <a:round/>
            <a:headEnd len="sm" w="sm" type="none"/>
            <a:tailEnd len="med" w="med" type="triangle"/>
          </a:ln>
        </p:spPr>
      </p:cxnSp>
      <p:sp>
        <p:nvSpPr>
          <p:cNvPr id="558" name="Google Shape;558;h3b987c62679a4f5d_0_1747"/>
          <p:cNvSpPr txBox="1"/>
          <p:nvPr/>
        </p:nvSpPr>
        <p:spPr>
          <a:xfrm>
            <a:off x="7392319" y="2929003"/>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f</a:t>
            </a:r>
            <a:endParaRPr b="0" sz="2165" strike="noStrike">
              <a:latin typeface="Arial"/>
              <a:ea typeface="Arial"/>
              <a:cs typeface="Arial"/>
              <a:sym typeface="Arial"/>
            </a:endParaRPr>
          </a:p>
        </p:txBody>
      </p:sp>
      <p:sp>
        <p:nvSpPr>
          <p:cNvPr id="559" name="Google Shape;559;h3b987c62679a4f5d_0_1747"/>
          <p:cNvSpPr txBox="1"/>
          <p:nvPr/>
        </p:nvSpPr>
        <p:spPr>
          <a:xfrm>
            <a:off x="5832346" y="2580525"/>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w</a:t>
            </a:r>
            <a:r>
              <a:rPr baseline="-25000" lang="pt-BR" sz="1800">
                <a:solidFill>
                  <a:schemeClr val="dk1"/>
                </a:solidFill>
              </a:rPr>
              <a:t>1</a:t>
            </a:r>
            <a:endParaRPr baseline="-25000" sz="1800">
              <a:solidFill>
                <a:schemeClr val="dk1"/>
              </a:solidFill>
            </a:endParaRPr>
          </a:p>
        </p:txBody>
      </p:sp>
      <p:sp>
        <p:nvSpPr>
          <p:cNvPr id="560" name="Google Shape;560;h3b987c62679a4f5d_0_1747"/>
          <p:cNvSpPr txBox="1"/>
          <p:nvPr/>
        </p:nvSpPr>
        <p:spPr>
          <a:xfrm>
            <a:off x="5933321" y="1805250"/>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w</a:t>
            </a:r>
            <a:r>
              <a:rPr baseline="-25000" lang="pt-BR" sz="1800">
                <a:solidFill>
                  <a:schemeClr val="dk1"/>
                </a:solidFill>
              </a:rPr>
              <a:t>0</a:t>
            </a:r>
            <a:endParaRPr baseline="-25000" sz="1800">
              <a:solidFill>
                <a:schemeClr val="dk1"/>
              </a:solidFill>
            </a:endParaRPr>
          </a:p>
        </p:txBody>
      </p:sp>
      <p:sp>
        <p:nvSpPr>
          <p:cNvPr id="561" name="Google Shape;561;h3b987c62679a4f5d_0_1747"/>
          <p:cNvSpPr/>
          <p:nvPr/>
        </p:nvSpPr>
        <p:spPr>
          <a:xfrm>
            <a:off x="4801278" y="3558550"/>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aseline="-25000" lang="pt-BR" sz="1935"/>
              <a:t>2</a:t>
            </a:r>
            <a:endParaRPr b="0" sz="1935" strike="noStrike">
              <a:latin typeface="Arial"/>
              <a:ea typeface="Arial"/>
              <a:cs typeface="Arial"/>
              <a:sym typeface="Arial"/>
            </a:endParaRPr>
          </a:p>
        </p:txBody>
      </p:sp>
      <p:cxnSp>
        <p:nvCxnSpPr>
          <p:cNvPr id="562" name="Google Shape;562;h3b987c62679a4f5d_0_1747"/>
          <p:cNvCxnSpPr>
            <a:stCxn id="561" idx="6"/>
          </p:cNvCxnSpPr>
          <p:nvPr/>
        </p:nvCxnSpPr>
        <p:spPr>
          <a:xfrm flipH="1" rot="10800000">
            <a:off x="5403078" y="3296500"/>
            <a:ext cx="1477200" cy="563100"/>
          </a:xfrm>
          <a:prstGeom prst="straightConnector1">
            <a:avLst/>
          </a:prstGeom>
          <a:noFill/>
          <a:ln cap="flat" cmpd="sng" w="28575">
            <a:solidFill>
              <a:srgbClr val="000000"/>
            </a:solidFill>
            <a:prstDash val="solid"/>
            <a:round/>
            <a:headEnd len="sm" w="sm" type="none"/>
            <a:tailEnd len="med" w="med" type="triangle"/>
          </a:ln>
        </p:spPr>
      </p:cxnSp>
      <p:sp>
        <p:nvSpPr>
          <p:cNvPr id="563" name="Google Shape;563;h3b987c62679a4f5d_0_1747"/>
          <p:cNvSpPr txBox="1"/>
          <p:nvPr/>
        </p:nvSpPr>
        <p:spPr>
          <a:xfrm>
            <a:off x="5694846" y="3188800"/>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w</a:t>
            </a:r>
            <a:r>
              <a:rPr baseline="-25000" lang="pt-BR" sz="1800">
                <a:solidFill>
                  <a:schemeClr val="dk1"/>
                </a:solidFill>
              </a:rPr>
              <a:t>2</a:t>
            </a:r>
            <a:endParaRPr baseline="-25000" sz="1800">
              <a:solidFill>
                <a:schemeClr val="dk1"/>
              </a:solidFill>
            </a:endParaRPr>
          </a:p>
        </p:txBody>
      </p:sp>
      <p:sp>
        <p:nvSpPr>
          <p:cNvPr id="564" name="Google Shape;564;h3b987c62679a4f5d_0_1747"/>
          <p:cNvSpPr txBox="1"/>
          <p:nvPr>
            <p:ph type="title"/>
          </p:nvPr>
        </p:nvSpPr>
        <p:spPr>
          <a:xfrm>
            <a:off x="311700" y="277500"/>
            <a:ext cx="8520600" cy="8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sz="1400"/>
              <a:t>Sigmoid Activation Function</a:t>
            </a:r>
            <a:endParaRPr sz="1400"/>
          </a:p>
          <a:p>
            <a:pPr indent="0" lvl="0" marL="0" rtl="0" algn="ctr">
              <a:spcBef>
                <a:spcPts val="0"/>
              </a:spcBef>
              <a:spcAft>
                <a:spcPts val="0"/>
              </a:spcAft>
              <a:buSzPts val="2800"/>
              <a:buNone/>
            </a:pPr>
            <a:r>
              <a:rPr lang="pt-BR"/>
              <a:t>Two Features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h3b987c62679a4f5d_0_1799"/>
          <p:cNvSpPr txBox="1"/>
          <p:nvPr/>
        </p:nvSpPr>
        <p:spPr>
          <a:xfrm>
            <a:off x="408450" y="2463138"/>
            <a:ext cx="3678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a:t>
            </a:r>
            <a:r>
              <a:rPr lang="pt-BR" sz="2200">
                <a:solidFill>
                  <a:srgbClr val="434343"/>
                </a:solidFill>
                <a:latin typeface="Courier New"/>
                <a:ea typeface="Courier New"/>
                <a:cs typeface="Courier New"/>
                <a:sym typeface="Courier New"/>
              </a:rPr>
              <a:t>=[</a:t>
            </a:r>
            <a:r>
              <a:rPr lang="pt-BR" sz="2200">
                <a:solidFill>
                  <a:srgbClr val="FF0000"/>
                </a:solidFill>
                <a:latin typeface="Courier New"/>
                <a:ea typeface="Courier New"/>
                <a:cs typeface="Courier New"/>
                <a:sym typeface="Courier New"/>
              </a:rPr>
              <a:t>1</a:t>
            </a:r>
            <a:r>
              <a:rPr lang="pt-BR" sz="2200">
                <a:solidFill>
                  <a:srgbClr val="434343"/>
                </a:solidFill>
                <a:latin typeface="Courier New"/>
                <a:ea typeface="Courier New"/>
                <a:cs typeface="Courier New"/>
                <a:sym typeface="Courier New"/>
              </a:rPr>
              <a:t>,</a:t>
            </a:r>
            <a:r>
              <a:rPr lang="pt-BR" sz="2200">
                <a:solidFill>
                  <a:srgbClr val="FF0000"/>
                </a:solidFill>
                <a:latin typeface="Courier New"/>
                <a:ea typeface="Courier New"/>
                <a:cs typeface="Courier New"/>
                <a:sym typeface="Courier New"/>
              </a:rPr>
              <a:t>5.6</a:t>
            </a:r>
            <a:r>
              <a:rPr lang="pt-BR" sz="2200">
                <a:solidFill>
                  <a:srgbClr val="434343"/>
                </a:solidFill>
                <a:latin typeface="Courier New"/>
                <a:ea typeface="Courier New"/>
                <a:cs typeface="Courier New"/>
                <a:sym typeface="Courier New"/>
              </a:rPr>
              <a:t>,</a:t>
            </a:r>
            <a:r>
              <a:rPr lang="pt-BR" sz="2200">
                <a:solidFill>
                  <a:srgbClr val="FF0000"/>
                </a:solidFill>
                <a:latin typeface="Courier New"/>
                <a:ea typeface="Courier New"/>
                <a:cs typeface="Courier New"/>
                <a:sym typeface="Courier New"/>
              </a:rPr>
              <a:t>46</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w=[-33.19,1.60,0.47]</a:t>
            </a:r>
            <a:endParaRPr sz="2200">
              <a:solidFill>
                <a:srgbClr val="434343"/>
              </a:solidFill>
              <a:latin typeface="Courier New"/>
              <a:ea typeface="Courier New"/>
              <a:cs typeface="Courier New"/>
              <a:sym typeface="Courier New"/>
            </a:endParaRPr>
          </a:p>
        </p:txBody>
      </p:sp>
      <p:sp>
        <p:nvSpPr>
          <p:cNvPr id="570" name="Google Shape;570;h3b987c62679a4f5d_0_1799"/>
          <p:cNvSpPr/>
          <p:nvPr/>
        </p:nvSpPr>
        <p:spPr>
          <a:xfrm>
            <a:off x="4801278" y="2685575"/>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0" baseline="-25000" lang="pt-BR" sz="1935" strike="noStrike">
                <a:latin typeface="Arial"/>
                <a:ea typeface="Arial"/>
                <a:cs typeface="Arial"/>
                <a:sym typeface="Arial"/>
              </a:rPr>
              <a:t>1</a:t>
            </a:r>
            <a:endParaRPr b="0" sz="1935" strike="noStrike">
              <a:latin typeface="Arial"/>
              <a:ea typeface="Arial"/>
              <a:cs typeface="Arial"/>
              <a:sym typeface="Arial"/>
            </a:endParaRPr>
          </a:p>
        </p:txBody>
      </p:sp>
      <p:sp>
        <p:nvSpPr>
          <p:cNvPr id="571" name="Google Shape;571;h3b987c62679a4f5d_0_1799"/>
          <p:cNvSpPr/>
          <p:nvPr/>
        </p:nvSpPr>
        <p:spPr>
          <a:xfrm>
            <a:off x="6938105" y="2725159"/>
            <a:ext cx="785400" cy="785400"/>
          </a:xfrm>
          <a:prstGeom prst="ellipse">
            <a:avLst/>
          </a:prstGeom>
          <a:solidFill>
            <a:srgbClr val="FFFFFF"/>
          </a:solidFill>
          <a:ln cap="flat" cmpd="sng" w="20800">
            <a:solidFill>
              <a:srgbClr val="000000"/>
            </a:solidFill>
            <a:prstDash val="solid"/>
            <a:round/>
            <a:headEnd len="sm" w="sm" type="none"/>
            <a:tailEnd len="sm" w="sm" type="none"/>
          </a:ln>
        </p:spPr>
        <p:txBody>
          <a:bodyPr anchorCtr="0" anchor="ctr" bIns="49875" lIns="49875" spcFirstLastPara="1" rIns="49875" wrap="square" tIns="49875">
            <a:noAutofit/>
          </a:bodyPr>
          <a:lstStyle/>
          <a:p>
            <a:pPr indent="0" lvl="0" marL="0" rtl="0" algn="l">
              <a:spcBef>
                <a:spcPts val="0"/>
              </a:spcBef>
              <a:spcAft>
                <a:spcPts val="0"/>
              </a:spcAft>
              <a:buNone/>
            </a:pPr>
            <a:r>
              <a:t/>
            </a:r>
            <a:endParaRPr/>
          </a:p>
        </p:txBody>
      </p:sp>
      <p:cxnSp>
        <p:nvCxnSpPr>
          <p:cNvPr id="572" name="Google Shape;572;h3b987c62679a4f5d_0_1799"/>
          <p:cNvCxnSpPr>
            <a:stCxn id="570" idx="6"/>
            <a:endCxn id="571" idx="2"/>
          </p:cNvCxnSpPr>
          <p:nvPr/>
        </p:nvCxnSpPr>
        <p:spPr>
          <a:xfrm>
            <a:off x="5403078" y="2986625"/>
            <a:ext cx="1535100" cy="131100"/>
          </a:xfrm>
          <a:prstGeom prst="straightConnector1">
            <a:avLst/>
          </a:prstGeom>
          <a:noFill/>
          <a:ln cap="flat" cmpd="sng" w="28575">
            <a:solidFill>
              <a:srgbClr val="000000"/>
            </a:solidFill>
            <a:prstDash val="solid"/>
            <a:round/>
            <a:headEnd len="sm" w="sm" type="none"/>
            <a:tailEnd len="med" w="med" type="triangle"/>
          </a:ln>
        </p:spPr>
      </p:cxnSp>
      <p:cxnSp>
        <p:nvCxnSpPr>
          <p:cNvPr id="573" name="Google Shape;573;h3b987c62679a4f5d_0_1799"/>
          <p:cNvCxnSpPr/>
          <p:nvPr/>
        </p:nvCxnSpPr>
        <p:spPr>
          <a:xfrm>
            <a:off x="7723656" y="3117921"/>
            <a:ext cx="1011900" cy="0"/>
          </a:xfrm>
          <a:prstGeom prst="straightConnector1">
            <a:avLst/>
          </a:prstGeom>
          <a:noFill/>
          <a:ln cap="flat" cmpd="sng" w="28575">
            <a:solidFill>
              <a:srgbClr val="000000"/>
            </a:solidFill>
            <a:prstDash val="solid"/>
            <a:round/>
            <a:headEnd len="sm" w="sm" type="none"/>
            <a:tailEnd len="med" w="med" type="triangle"/>
          </a:ln>
        </p:spPr>
      </p:cxnSp>
      <p:cxnSp>
        <p:nvCxnSpPr>
          <p:cNvPr id="574" name="Google Shape;574;h3b987c62679a4f5d_0_1799"/>
          <p:cNvCxnSpPr/>
          <p:nvPr/>
        </p:nvCxnSpPr>
        <p:spPr>
          <a:xfrm>
            <a:off x="7330880" y="2725159"/>
            <a:ext cx="0" cy="785400"/>
          </a:xfrm>
          <a:prstGeom prst="straightConnector1">
            <a:avLst/>
          </a:prstGeom>
          <a:noFill/>
          <a:ln cap="flat" cmpd="sng" w="5200">
            <a:solidFill>
              <a:srgbClr val="000000"/>
            </a:solidFill>
            <a:prstDash val="solid"/>
            <a:round/>
            <a:headEnd len="sm" w="sm" type="none"/>
            <a:tailEnd len="sm" w="sm" type="none"/>
          </a:ln>
        </p:spPr>
      </p:cxnSp>
      <p:sp>
        <p:nvSpPr>
          <p:cNvPr id="575" name="Google Shape;575;h3b987c62679a4f5d_0_1799"/>
          <p:cNvSpPr txBox="1"/>
          <p:nvPr/>
        </p:nvSpPr>
        <p:spPr>
          <a:xfrm>
            <a:off x="7056723" y="2929003"/>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Z</a:t>
            </a:r>
            <a:endParaRPr b="0" sz="2165" strike="noStrike">
              <a:latin typeface="Arial"/>
              <a:ea typeface="Arial"/>
              <a:cs typeface="Arial"/>
              <a:sym typeface="Arial"/>
            </a:endParaRPr>
          </a:p>
        </p:txBody>
      </p:sp>
      <p:sp>
        <p:nvSpPr>
          <p:cNvPr id="576" name="Google Shape;576;h3b987c62679a4f5d_0_1799"/>
          <p:cNvSpPr txBox="1"/>
          <p:nvPr/>
        </p:nvSpPr>
        <p:spPr>
          <a:xfrm>
            <a:off x="7994776" y="2725150"/>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1900"/>
              <a:t>y</a:t>
            </a:r>
            <a:endParaRPr b="0" sz="1900" strike="noStrike">
              <a:latin typeface="Arial"/>
              <a:ea typeface="Arial"/>
              <a:cs typeface="Arial"/>
              <a:sym typeface="Arial"/>
            </a:endParaRPr>
          </a:p>
        </p:txBody>
      </p:sp>
      <p:sp>
        <p:nvSpPr>
          <p:cNvPr id="577" name="Google Shape;577;h3b987c62679a4f5d_0_1799"/>
          <p:cNvSpPr/>
          <p:nvPr/>
        </p:nvSpPr>
        <p:spPr>
          <a:xfrm>
            <a:off x="4823216" y="1627526"/>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t/>
            </a:r>
            <a:endParaRPr b="0" sz="1475" strike="noStrike">
              <a:latin typeface="Arial"/>
              <a:ea typeface="Arial"/>
              <a:cs typeface="Arial"/>
              <a:sym typeface="Arial"/>
            </a:endParaRPr>
          </a:p>
        </p:txBody>
      </p:sp>
      <p:sp>
        <p:nvSpPr>
          <p:cNvPr id="578" name="Google Shape;578;h3b987c62679a4f5d_0_1799"/>
          <p:cNvSpPr txBox="1"/>
          <p:nvPr/>
        </p:nvSpPr>
        <p:spPr>
          <a:xfrm>
            <a:off x="4785150" y="1666354"/>
            <a:ext cx="714600" cy="468000"/>
          </a:xfrm>
          <a:prstGeom prst="rect">
            <a:avLst/>
          </a:prstGeom>
          <a:noFill/>
          <a:ln>
            <a:noFill/>
          </a:ln>
        </p:spPr>
        <p:txBody>
          <a:bodyPr anchorCtr="0" anchor="t" bIns="84275" lIns="84275" spcFirstLastPara="1" rIns="84275" wrap="square" tIns="84275">
            <a:spAutoFit/>
          </a:bodyPr>
          <a:lstStyle/>
          <a:p>
            <a:pPr indent="0" lvl="0" marL="0" rtl="0" algn="ctr">
              <a:spcBef>
                <a:spcPts val="0"/>
              </a:spcBef>
              <a:spcAft>
                <a:spcPts val="0"/>
              </a:spcAft>
              <a:buNone/>
            </a:pPr>
            <a:r>
              <a:rPr lang="pt-BR" sz="1935">
                <a:solidFill>
                  <a:schemeClr val="dk1"/>
                </a:solidFill>
              </a:rPr>
              <a:t>x</a:t>
            </a:r>
            <a:r>
              <a:rPr baseline="-25000" lang="pt-BR" sz="1935">
                <a:solidFill>
                  <a:schemeClr val="dk1"/>
                </a:solidFill>
              </a:rPr>
              <a:t>0</a:t>
            </a:r>
            <a:r>
              <a:rPr lang="pt-BR" sz="1935">
                <a:solidFill>
                  <a:schemeClr val="dk1"/>
                </a:solidFill>
              </a:rPr>
              <a:t>=1</a:t>
            </a:r>
            <a:endParaRPr sz="1935">
              <a:solidFill>
                <a:schemeClr val="dk1"/>
              </a:solidFill>
            </a:endParaRPr>
          </a:p>
        </p:txBody>
      </p:sp>
      <p:cxnSp>
        <p:nvCxnSpPr>
          <p:cNvPr id="579" name="Google Shape;579;h3b987c62679a4f5d_0_1799"/>
          <p:cNvCxnSpPr>
            <a:stCxn id="578" idx="3"/>
          </p:cNvCxnSpPr>
          <p:nvPr/>
        </p:nvCxnSpPr>
        <p:spPr>
          <a:xfrm>
            <a:off x="5499750" y="1900354"/>
            <a:ext cx="1471500" cy="1015200"/>
          </a:xfrm>
          <a:prstGeom prst="straightConnector1">
            <a:avLst/>
          </a:prstGeom>
          <a:noFill/>
          <a:ln cap="flat" cmpd="sng" w="28575">
            <a:solidFill>
              <a:srgbClr val="000000"/>
            </a:solidFill>
            <a:prstDash val="solid"/>
            <a:round/>
            <a:headEnd len="sm" w="sm" type="none"/>
            <a:tailEnd len="med" w="med" type="triangle"/>
          </a:ln>
        </p:spPr>
      </p:cxnSp>
      <p:sp>
        <p:nvSpPr>
          <p:cNvPr id="580" name="Google Shape;580;h3b987c62679a4f5d_0_1799"/>
          <p:cNvSpPr txBox="1"/>
          <p:nvPr/>
        </p:nvSpPr>
        <p:spPr>
          <a:xfrm>
            <a:off x="7392319" y="2929003"/>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f</a:t>
            </a:r>
            <a:endParaRPr b="0" sz="2165" strike="noStrike">
              <a:latin typeface="Arial"/>
              <a:ea typeface="Arial"/>
              <a:cs typeface="Arial"/>
              <a:sym typeface="Arial"/>
            </a:endParaRPr>
          </a:p>
        </p:txBody>
      </p:sp>
      <p:sp>
        <p:nvSpPr>
          <p:cNvPr id="581" name="Google Shape;581;h3b987c62679a4f5d_0_1799"/>
          <p:cNvSpPr txBox="1"/>
          <p:nvPr/>
        </p:nvSpPr>
        <p:spPr>
          <a:xfrm>
            <a:off x="5832346" y="2580525"/>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w</a:t>
            </a:r>
            <a:r>
              <a:rPr baseline="-25000" lang="pt-BR" sz="1800">
                <a:solidFill>
                  <a:schemeClr val="dk1"/>
                </a:solidFill>
              </a:rPr>
              <a:t>1</a:t>
            </a:r>
            <a:endParaRPr baseline="-25000" sz="1800">
              <a:solidFill>
                <a:schemeClr val="dk1"/>
              </a:solidFill>
            </a:endParaRPr>
          </a:p>
        </p:txBody>
      </p:sp>
      <p:sp>
        <p:nvSpPr>
          <p:cNvPr id="582" name="Google Shape;582;h3b987c62679a4f5d_0_1799"/>
          <p:cNvSpPr txBox="1"/>
          <p:nvPr/>
        </p:nvSpPr>
        <p:spPr>
          <a:xfrm>
            <a:off x="5933321" y="1805250"/>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w</a:t>
            </a:r>
            <a:r>
              <a:rPr baseline="-25000" lang="pt-BR" sz="1800">
                <a:solidFill>
                  <a:schemeClr val="dk1"/>
                </a:solidFill>
              </a:rPr>
              <a:t>0</a:t>
            </a:r>
            <a:endParaRPr baseline="-25000" sz="1800">
              <a:solidFill>
                <a:schemeClr val="dk1"/>
              </a:solidFill>
            </a:endParaRPr>
          </a:p>
        </p:txBody>
      </p:sp>
      <p:sp>
        <p:nvSpPr>
          <p:cNvPr id="583" name="Google Shape;583;h3b987c62679a4f5d_0_1799"/>
          <p:cNvSpPr/>
          <p:nvPr/>
        </p:nvSpPr>
        <p:spPr>
          <a:xfrm>
            <a:off x="4801278" y="3558550"/>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aseline="-25000" lang="pt-BR" sz="1935"/>
              <a:t>2</a:t>
            </a:r>
            <a:endParaRPr b="0" sz="1935" strike="noStrike">
              <a:latin typeface="Arial"/>
              <a:ea typeface="Arial"/>
              <a:cs typeface="Arial"/>
              <a:sym typeface="Arial"/>
            </a:endParaRPr>
          </a:p>
        </p:txBody>
      </p:sp>
      <p:cxnSp>
        <p:nvCxnSpPr>
          <p:cNvPr id="584" name="Google Shape;584;h3b987c62679a4f5d_0_1799"/>
          <p:cNvCxnSpPr>
            <a:stCxn id="583" idx="6"/>
          </p:cNvCxnSpPr>
          <p:nvPr/>
        </p:nvCxnSpPr>
        <p:spPr>
          <a:xfrm flipH="1" rot="10800000">
            <a:off x="5403078" y="3296500"/>
            <a:ext cx="1477200" cy="563100"/>
          </a:xfrm>
          <a:prstGeom prst="straightConnector1">
            <a:avLst/>
          </a:prstGeom>
          <a:noFill/>
          <a:ln cap="flat" cmpd="sng" w="28575">
            <a:solidFill>
              <a:srgbClr val="000000"/>
            </a:solidFill>
            <a:prstDash val="solid"/>
            <a:round/>
            <a:headEnd len="sm" w="sm" type="none"/>
            <a:tailEnd len="med" w="med" type="triangle"/>
          </a:ln>
        </p:spPr>
      </p:cxnSp>
      <p:sp>
        <p:nvSpPr>
          <p:cNvPr id="585" name="Google Shape;585;h3b987c62679a4f5d_0_1799"/>
          <p:cNvSpPr txBox="1"/>
          <p:nvPr/>
        </p:nvSpPr>
        <p:spPr>
          <a:xfrm>
            <a:off x="5694846" y="3188800"/>
            <a:ext cx="47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chemeClr val="dk1"/>
                </a:solidFill>
              </a:rPr>
              <a:t>w</a:t>
            </a:r>
            <a:r>
              <a:rPr baseline="-25000" lang="pt-BR" sz="1800">
                <a:solidFill>
                  <a:schemeClr val="dk1"/>
                </a:solidFill>
              </a:rPr>
              <a:t>2</a:t>
            </a:r>
            <a:endParaRPr baseline="-25000" sz="1800">
              <a:solidFill>
                <a:schemeClr val="dk1"/>
              </a:solidFill>
            </a:endParaRPr>
          </a:p>
        </p:txBody>
      </p:sp>
      <p:sp>
        <p:nvSpPr>
          <p:cNvPr id="586" name="Google Shape;586;h3b987c62679a4f5d_0_1799"/>
          <p:cNvSpPr txBox="1"/>
          <p:nvPr/>
        </p:nvSpPr>
        <p:spPr>
          <a:xfrm>
            <a:off x="4317425" y="2755775"/>
            <a:ext cx="5058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5.6</a:t>
            </a:r>
            <a:endParaRPr b="1" sz="1800">
              <a:solidFill>
                <a:srgbClr val="FF0000"/>
              </a:solidFill>
            </a:endParaRPr>
          </a:p>
        </p:txBody>
      </p:sp>
      <p:sp>
        <p:nvSpPr>
          <p:cNvPr id="587" name="Google Shape;587;h3b987c62679a4f5d_0_1799"/>
          <p:cNvSpPr txBox="1"/>
          <p:nvPr/>
        </p:nvSpPr>
        <p:spPr>
          <a:xfrm>
            <a:off x="4427825" y="1697725"/>
            <a:ext cx="395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1</a:t>
            </a:r>
            <a:endParaRPr b="1" sz="1800">
              <a:solidFill>
                <a:srgbClr val="FF0000"/>
              </a:solidFill>
            </a:endParaRPr>
          </a:p>
        </p:txBody>
      </p:sp>
      <p:sp>
        <p:nvSpPr>
          <p:cNvPr id="588" name="Google Shape;588;h3b987c62679a4f5d_0_1799"/>
          <p:cNvSpPr txBox="1"/>
          <p:nvPr/>
        </p:nvSpPr>
        <p:spPr>
          <a:xfrm>
            <a:off x="4279350" y="3628750"/>
            <a:ext cx="5058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46</a:t>
            </a:r>
            <a:endParaRPr b="1" sz="1800">
              <a:solidFill>
                <a:srgbClr val="FF0000"/>
              </a:solidFill>
            </a:endParaRPr>
          </a:p>
        </p:txBody>
      </p:sp>
      <p:sp>
        <p:nvSpPr>
          <p:cNvPr id="589" name="Google Shape;589;h3b987c62679a4f5d_0_1799"/>
          <p:cNvSpPr txBox="1"/>
          <p:nvPr>
            <p:ph type="title"/>
          </p:nvPr>
        </p:nvSpPr>
        <p:spPr>
          <a:xfrm>
            <a:off x="311700" y="277500"/>
            <a:ext cx="8520600" cy="8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sz="1400"/>
              <a:t>Sigmoid Activation Function</a:t>
            </a:r>
            <a:endParaRPr sz="1400"/>
          </a:p>
          <a:p>
            <a:pPr indent="0" lvl="0" marL="0" rtl="0" algn="ctr">
              <a:spcBef>
                <a:spcPts val="0"/>
              </a:spcBef>
              <a:spcAft>
                <a:spcPts val="0"/>
              </a:spcAft>
              <a:buSzPts val="2800"/>
              <a:buNone/>
            </a:pPr>
            <a:r>
              <a:rPr lang="pt-BR"/>
              <a:t>Two Features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h3b987c62679a4f5d_0_1826"/>
          <p:cNvSpPr txBox="1"/>
          <p:nvPr/>
        </p:nvSpPr>
        <p:spPr>
          <a:xfrm>
            <a:off x="408450" y="2463138"/>
            <a:ext cx="3678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a:t>
            </a:r>
            <a:r>
              <a:rPr lang="pt-BR" sz="2200">
                <a:solidFill>
                  <a:srgbClr val="434343"/>
                </a:solidFill>
                <a:latin typeface="Courier New"/>
                <a:ea typeface="Courier New"/>
                <a:cs typeface="Courier New"/>
                <a:sym typeface="Courier New"/>
              </a:rPr>
              <a:t>=[</a:t>
            </a:r>
            <a:r>
              <a:rPr lang="pt-BR" sz="2200">
                <a:solidFill>
                  <a:srgbClr val="FF0000"/>
                </a:solidFill>
                <a:latin typeface="Courier New"/>
                <a:ea typeface="Courier New"/>
                <a:cs typeface="Courier New"/>
                <a:sym typeface="Courier New"/>
              </a:rPr>
              <a:t>1</a:t>
            </a:r>
            <a:r>
              <a:rPr lang="pt-BR" sz="2200">
                <a:solidFill>
                  <a:srgbClr val="434343"/>
                </a:solidFill>
                <a:latin typeface="Courier New"/>
                <a:ea typeface="Courier New"/>
                <a:cs typeface="Courier New"/>
                <a:sym typeface="Courier New"/>
              </a:rPr>
              <a:t>,</a:t>
            </a:r>
            <a:r>
              <a:rPr lang="pt-BR" sz="2200">
                <a:solidFill>
                  <a:srgbClr val="FF0000"/>
                </a:solidFill>
                <a:latin typeface="Courier New"/>
                <a:ea typeface="Courier New"/>
                <a:cs typeface="Courier New"/>
                <a:sym typeface="Courier New"/>
              </a:rPr>
              <a:t>5.6</a:t>
            </a:r>
            <a:r>
              <a:rPr lang="pt-BR" sz="2200">
                <a:solidFill>
                  <a:srgbClr val="434343"/>
                </a:solidFill>
                <a:latin typeface="Courier New"/>
                <a:ea typeface="Courier New"/>
                <a:cs typeface="Courier New"/>
                <a:sym typeface="Courier New"/>
              </a:rPr>
              <a:t>,</a:t>
            </a:r>
            <a:r>
              <a:rPr lang="pt-BR" sz="2200">
                <a:solidFill>
                  <a:srgbClr val="FF0000"/>
                </a:solidFill>
                <a:latin typeface="Courier New"/>
                <a:ea typeface="Courier New"/>
                <a:cs typeface="Courier New"/>
                <a:sym typeface="Courier New"/>
              </a:rPr>
              <a:t>46</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a:t>
            </a:r>
            <a:r>
              <a:rPr lang="pt-BR" sz="2200">
                <a:solidFill>
                  <a:srgbClr val="0000FF"/>
                </a:solidFill>
                <a:latin typeface="Courier New"/>
                <a:ea typeface="Courier New"/>
                <a:cs typeface="Courier New"/>
                <a:sym typeface="Courier New"/>
              </a:rPr>
              <a:t>-33.19</a:t>
            </a:r>
            <a:r>
              <a:rPr lang="pt-BR" sz="2200">
                <a:solidFill>
                  <a:srgbClr val="434343"/>
                </a:solidFill>
                <a:latin typeface="Courier New"/>
                <a:ea typeface="Courier New"/>
                <a:cs typeface="Courier New"/>
                <a:sym typeface="Courier New"/>
              </a:rPr>
              <a:t>,</a:t>
            </a:r>
            <a:r>
              <a:rPr lang="pt-BR" sz="2200">
                <a:solidFill>
                  <a:srgbClr val="0000FF"/>
                </a:solidFill>
                <a:latin typeface="Courier New"/>
                <a:ea typeface="Courier New"/>
                <a:cs typeface="Courier New"/>
                <a:sym typeface="Courier New"/>
              </a:rPr>
              <a:t>1.60</a:t>
            </a:r>
            <a:r>
              <a:rPr lang="pt-BR" sz="2200">
                <a:solidFill>
                  <a:srgbClr val="434343"/>
                </a:solidFill>
                <a:latin typeface="Courier New"/>
                <a:ea typeface="Courier New"/>
                <a:cs typeface="Courier New"/>
                <a:sym typeface="Courier New"/>
              </a:rPr>
              <a:t>,</a:t>
            </a:r>
            <a:r>
              <a:rPr lang="pt-BR" sz="2200">
                <a:solidFill>
                  <a:srgbClr val="0000FF"/>
                </a:solidFill>
                <a:latin typeface="Courier New"/>
                <a:ea typeface="Courier New"/>
                <a:cs typeface="Courier New"/>
                <a:sym typeface="Courier New"/>
              </a:rPr>
              <a:t>0.47</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p:txBody>
      </p:sp>
      <p:sp>
        <p:nvSpPr>
          <p:cNvPr id="595" name="Google Shape;595;h3b987c62679a4f5d_0_1826"/>
          <p:cNvSpPr/>
          <p:nvPr/>
        </p:nvSpPr>
        <p:spPr>
          <a:xfrm>
            <a:off x="4801278" y="2685575"/>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0" baseline="-25000" lang="pt-BR" sz="1935" strike="noStrike">
                <a:latin typeface="Arial"/>
                <a:ea typeface="Arial"/>
                <a:cs typeface="Arial"/>
                <a:sym typeface="Arial"/>
              </a:rPr>
              <a:t>1</a:t>
            </a:r>
            <a:endParaRPr b="0" sz="1935" strike="noStrike">
              <a:latin typeface="Arial"/>
              <a:ea typeface="Arial"/>
              <a:cs typeface="Arial"/>
              <a:sym typeface="Arial"/>
            </a:endParaRPr>
          </a:p>
        </p:txBody>
      </p:sp>
      <p:sp>
        <p:nvSpPr>
          <p:cNvPr id="596" name="Google Shape;596;h3b987c62679a4f5d_0_1826"/>
          <p:cNvSpPr/>
          <p:nvPr/>
        </p:nvSpPr>
        <p:spPr>
          <a:xfrm>
            <a:off x="6938105" y="2725159"/>
            <a:ext cx="785400" cy="785400"/>
          </a:xfrm>
          <a:prstGeom prst="ellipse">
            <a:avLst/>
          </a:prstGeom>
          <a:solidFill>
            <a:srgbClr val="FFFFFF"/>
          </a:solidFill>
          <a:ln cap="flat" cmpd="sng" w="20800">
            <a:solidFill>
              <a:srgbClr val="000000"/>
            </a:solidFill>
            <a:prstDash val="solid"/>
            <a:round/>
            <a:headEnd len="sm" w="sm" type="none"/>
            <a:tailEnd len="sm" w="sm" type="none"/>
          </a:ln>
        </p:spPr>
        <p:txBody>
          <a:bodyPr anchorCtr="0" anchor="ctr" bIns="49875" lIns="49875" spcFirstLastPara="1" rIns="49875" wrap="square" tIns="49875">
            <a:noAutofit/>
          </a:bodyPr>
          <a:lstStyle/>
          <a:p>
            <a:pPr indent="0" lvl="0" marL="0" rtl="0" algn="l">
              <a:spcBef>
                <a:spcPts val="0"/>
              </a:spcBef>
              <a:spcAft>
                <a:spcPts val="0"/>
              </a:spcAft>
              <a:buNone/>
            </a:pPr>
            <a:r>
              <a:t/>
            </a:r>
            <a:endParaRPr/>
          </a:p>
        </p:txBody>
      </p:sp>
      <p:cxnSp>
        <p:nvCxnSpPr>
          <p:cNvPr id="597" name="Google Shape;597;h3b987c62679a4f5d_0_1826"/>
          <p:cNvCxnSpPr>
            <a:stCxn id="595" idx="6"/>
            <a:endCxn id="596" idx="2"/>
          </p:cNvCxnSpPr>
          <p:nvPr/>
        </p:nvCxnSpPr>
        <p:spPr>
          <a:xfrm>
            <a:off x="5403078" y="2986625"/>
            <a:ext cx="1535100" cy="131100"/>
          </a:xfrm>
          <a:prstGeom prst="straightConnector1">
            <a:avLst/>
          </a:prstGeom>
          <a:noFill/>
          <a:ln cap="flat" cmpd="sng" w="28575">
            <a:solidFill>
              <a:srgbClr val="000000"/>
            </a:solidFill>
            <a:prstDash val="solid"/>
            <a:round/>
            <a:headEnd len="sm" w="sm" type="none"/>
            <a:tailEnd len="med" w="med" type="triangle"/>
          </a:ln>
        </p:spPr>
      </p:cxnSp>
      <p:cxnSp>
        <p:nvCxnSpPr>
          <p:cNvPr id="598" name="Google Shape;598;h3b987c62679a4f5d_0_1826"/>
          <p:cNvCxnSpPr/>
          <p:nvPr/>
        </p:nvCxnSpPr>
        <p:spPr>
          <a:xfrm>
            <a:off x="7723656" y="3117921"/>
            <a:ext cx="1011900" cy="0"/>
          </a:xfrm>
          <a:prstGeom prst="straightConnector1">
            <a:avLst/>
          </a:prstGeom>
          <a:noFill/>
          <a:ln cap="flat" cmpd="sng" w="28575">
            <a:solidFill>
              <a:srgbClr val="000000"/>
            </a:solidFill>
            <a:prstDash val="solid"/>
            <a:round/>
            <a:headEnd len="sm" w="sm" type="none"/>
            <a:tailEnd len="med" w="med" type="triangle"/>
          </a:ln>
        </p:spPr>
      </p:cxnSp>
      <p:cxnSp>
        <p:nvCxnSpPr>
          <p:cNvPr id="599" name="Google Shape;599;h3b987c62679a4f5d_0_1826"/>
          <p:cNvCxnSpPr/>
          <p:nvPr/>
        </p:nvCxnSpPr>
        <p:spPr>
          <a:xfrm>
            <a:off x="7330880" y="2725159"/>
            <a:ext cx="0" cy="785400"/>
          </a:xfrm>
          <a:prstGeom prst="straightConnector1">
            <a:avLst/>
          </a:prstGeom>
          <a:noFill/>
          <a:ln cap="flat" cmpd="sng" w="5200">
            <a:solidFill>
              <a:srgbClr val="000000"/>
            </a:solidFill>
            <a:prstDash val="solid"/>
            <a:round/>
            <a:headEnd len="sm" w="sm" type="none"/>
            <a:tailEnd len="sm" w="sm" type="none"/>
          </a:ln>
        </p:spPr>
      </p:cxnSp>
      <p:sp>
        <p:nvSpPr>
          <p:cNvPr id="600" name="Google Shape;600;h3b987c62679a4f5d_0_1826"/>
          <p:cNvSpPr txBox="1"/>
          <p:nvPr/>
        </p:nvSpPr>
        <p:spPr>
          <a:xfrm>
            <a:off x="7056723" y="2929003"/>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Z</a:t>
            </a:r>
            <a:endParaRPr b="0" sz="2165" strike="noStrike">
              <a:latin typeface="Arial"/>
              <a:ea typeface="Arial"/>
              <a:cs typeface="Arial"/>
              <a:sym typeface="Arial"/>
            </a:endParaRPr>
          </a:p>
        </p:txBody>
      </p:sp>
      <p:sp>
        <p:nvSpPr>
          <p:cNvPr id="601" name="Google Shape;601;h3b987c62679a4f5d_0_1826"/>
          <p:cNvSpPr txBox="1"/>
          <p:nvPr/>
        </p:nvSpPr>
        <p:spPr>
          <a:xfrm>
            <a:off x="7994776" y="2725150"/>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1900"/>
              <a:t>y</a:t>
            </a:r>
            <a:endParaRPr b="0" sz="1900" strike="noStrike">
              <a:latin typeface="Arial"/>
              <a:ea typeface="Arial"/>
              <a:cs typeface="Arial"/>
              <a:sym typeface="Arial"/>
            </a:endParaRPr>
          </a:p>
        </p:txBody>
      </p:sp>
      <p:sp>
        <p:nvSpPr>
          <p:cNvPr id="602" name="Google Shape;602;h3b987c62679a4f5d_0_1826"/>
          <p:cNvSpPr/>
          <p:nvPr/>
        </p:nvSpPr>
        <p:spPr>
          <a:xfrm>
            <a:off x="4823216" y="1627526"/>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t/>
            </a:r>
            <a:endParaRPr b="0" sz="1475" strike="noStrike">
              <a:latin typeface="Arial"/>
              <a:ea typeface="Arial"/>
              <a:cs typeface="Arial"/>
              <a:sym typeface="Arial"/>
            </a:endParaRPr>
          </a:p>
        </p:txBody>
      </p:sp>
      <p:sp>
        <p:nvSpPr>
          <p:cNvPr id="603" name="Google Shape;603;h3b987c62679a4f5d_0_1826"/>
          <p:cNvSpPr txBox="1"/>
          <p:nvPr/>
        </p:nvSpPr>
        <p:spPr>
          <a:xfrm>
            <a:off x="4785150" y="1666354"/>
            <a:ext cx="714600" cy="468000"/>
          </a:xfrm>
          <a:prstGeom prst="rect">
            <a:avLst/>
          </a:prstGeom>
          <a:noFill/>
          <a:ln>
            <a:noFill/>
          </a:ln>
        </p:spPr>
        <p:txBody>
          <a:bodyPr anchorCtr="0" anchor="t" bIns="84275" lIns="84275" spcFirstLastPara="1" rIns="84275" wrap="square" tIns="84275">
            <a:spAutoFit/>
          </a:bodyPr>
          <a:lstStyle/>
          <a:p>
            <a:pPr indent="0" lvl="0" marL="0" rtl="0" algn="ctr">
              <a:spcBef>
                <a:spcPts val="0"/>
              </a:spcBef>
              <a:spcAft>
                <a:spcPts val="0"/>
              </a:spcAft>
              <a:buNone/>
            </a:pPr>
            <a:r>
              <a:rPr lang="pt-BR" sz="1935">
                <a:solidFill>
                  <a:schemeClr val="dk1"/>
                </a:solidFill>
              </a:rPr>
              <a:t>x</a:t>
            </a:r>
            <a:r>
              <a:rPr baseline="-25000" lang="pt-BR" sz="1935">
                <a:solidFill>
                  <a:schemeClr val="dk1"/>
                </a:solidFill>
              </a:rPr>
              <a:t>0</a:t>
            </a:r>
            <a:r>
              <a:rPr lang="pt-BR" sz="1935">
                <a:solidFill>
                  <a:schemeClr val="dk1"/>
                </a:solidFill>
              </a:rPr>
              <a:t>=1</a:t>
            </a:r>
            <a:endParaRPr sz="1935">
              <a:solidFill>
                <a:schemeClr val="dk1"/>
              </a:solidFill>
            </a:endParaRPr>
          </a:p>
        </p:txBody>
      </p:sp>
      <p:cxnSp>
        <p:nvCxnSpPr>
          <p:cNvPr id="604" name="Google Shape;604;h3b987c62679a4f5d_0_1826"/>
          <p:cNvCxnSpPr>
            <a:stCxn id="603" idx="3"/>
          </p:cNvCxnSpPr>
          <p:nvPr/>
        </p:nvCxnSpPr>
        <p:spPr>
          <a:xfrm>
            <a:off x="5499750" y="1900354"/>
            <a:ext cx="1471500" cy="1015200"/>
          </a:xfrm>
          <a:prstGeom prst="straightConnector1">
            <a:avLst/>
          </a:prstGeom>
          <a:noFill/>
          <a:ln cap="flat" cmpd="sng" w="28575">
            <a:solidFill>
              <a:srgbClr val="000000"/>
            </a:solidFill>
            <a:prstDash val="solid"/>
            <a:round/>
            <a:headEnd len="sm" w="sm" type="none"/>
            <a:tailEnd len="med" w="med" type="triangle"/>
          </a:ln>
        </p:spPr>
      </p:cxnSp>
      <p:sp>
        <p:nvSpPr>
          <p:cNvPr id="605" name="Google Shape;605;h3b987c62679a4f5d_0_1826"/>
          <p:cNvSpPr txBox="1"/>
          <p:nvPr/>
        </p:nvSpPr>
        <p:spPr>
          <a:xfrm>
            <a:off x="7392319" y="2929003"/>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f</a:t>
            </a:r>
            <a:endParaRPr b="0" sz="2165" strike="noStrike">
              <a:latin typeface="Arial"/>
              <a:ea typeface="Arial"/>
              <a:cs typeface="Arial"/>
              <a:sym typeface="Arial"/>
            </a:endParaRPr>
          </a:p>
        </p:txBody>
      </p:sp>
      <p:sp>
        <p:nvSpPr>
          <p:cNvPr id="606" name="Google Shape;606;h3b987c62679a4f5d_0_1826"/>
          <p:cNvSpPr txBox="1"/>
          <p:nvPr/>
        </p:nvSpPr>
        <p:spPr>
          <a:xfrm>
            <a:off x="5832350" y="2580525"/>
            <a:ext cx="60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FF"/>
                </a:solidFill>
              </a:rPr>
              <a:t>1.6</a:t>
            </a:r>
            <a:endParaRPr b="1" baseline="-25000" sz="1800">
              <a:solidFill>
                <a:srgbClr val="0000FF"/>
              </a:solidFill>
            </a:endParaRPr>
          </a:p>
        </p:txBody>
      </p:sp>
      <p:sp>
        <p:nvSpPr>
          <p:cNvPr id="607" name="Google Shape;607;h3b987c62679a4f5d_0_1826"/>
          <p:cNvSpPr txBox="1"/>
          <p:nvPr/>
        </p:nvSpPr>
        <p:spPr>
          <a:xfrm>
            <a:off x="5933324" y="1805250"/>
            <a:ext cx="94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FF"/>
                </a:solidFill>
              </a:rPr>
              <a:t>-33.19</a:t>
            </a:r>
            <a:endParaRPr b="1" baseline="-25000" sz="1800">
              <a:solidFill>
                <a:srgbClr val="0000FF"/>
              </a:solidFill>
            </a:endParaRPr>
          </a:p>
        </p:txBody>
      </p:sp>
      <p:sp>
        <p:nvSpPr>
          <p:cNvPr id="608" name="Google Shape;608;h3b987c62679a4f5d_0_1826"/>
          <p:cNvSpPr/>
          <p:nvPr/>
        </p:nvSpPr>
        <p:spPr>
          <a:xfrm>
            <a:off x="4801278" y="3558550"/>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aseline="-25000" lang="pt-BR" sz="1935"/>
              <a:t>2</a:t>
            </a:r>
            <a:endParaRPr b="0" sz="1935" strike="noStrike">
              <a:latin typeface="Arial"/>
              <a:ea typeface="Arial"/>
              <a:cs typeface="Arial"/>
              <a:sym typeface="Arial"/>
            </a:endParaRPr>
          </a:p>
        </p:txBody>
      </p:sp>
      <p:cxnSp>
        <p:nvCxnSpPr>
          <p:cNvPr id="609" name="Google Shape;609;h3b987c62679a4f5d_0_1826"/>
          <p:cNvCxnSpPr>
            <a:stCxn id="608" idx="6"/>
          </p:cNvCxnSpPr>
          <p:nvPr/>
        </p:nvCxnSpPr>
        <p:spPr>
          <a:xfrm flipH="1" rot="10800000">
            <a:off x="5403078" y="3296500"/>
            <a:ext cx="1477200" cy="563100"/>
          </a:xfrm>
          <a:prstGeom prst="straightConnector1">
            <a:avLst/>
          </a:prstGeom>
          <a:noFill/>
          <a:ln cap="flat" cmpd="sng" w="28575">
            <a:solidFill>
              <a:srgbClr val="000000"/>
            </a:solidFill>
            <a:prstDash val="solid"/>
            <a:round/>
            <a:headEnd len="sm" w="sm" type="none"/>
            <a:tailEnd len="med" w="med" type="triangle"/>
          </a:ln>
        </p:spPr>
      </p:cxnSp>
      <p:sp>
        <p:nvSpPr>
          <p:cNvPr id="610" name="Google Shape;610;h3b987c62679a4f5d_0_1826"/>
          <p:cNvSpPr txBox="1"/>
          <p:nvPr/>
        </p:nvSpPr>
        <p:spPr>
          <a:xfrm>
            <a:off x="5617350" y="3217475"/>
            <a:ext cx="71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FF"/>
                </a:solidFill>
              </a:rPr>
              <a:t>0.47</a:t>
            </a:r>
            <a:endParaRPr b="1" baseline="-25000" sz="1800">
              <a:solidFill>
                <a:srgbClr val="0000FF"/>
              </a:solidFill>
            </a:endParaRPr>
          </a:p>
        </p:txBody>
      </p:sp>
      <p:sp>
        <p:nvSpPr>
          <p:cNvPr id="611" name="Google Shape;611;h3b987c62679a4f5d_0_1826"/>
          <p:cNvSpPr txBox="1"/>
          <p:nvPr/>
        </p:nvSpPr>
        <p:spPr>
          <a:xfrm>
            <a:off x="4317425" y="2755775"/>
            <a:ext cx="5058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5.6</a:t>
            </a:r>
            <a:endParaRPr b="1" sz="1800">
              <a:solidFill>
                <a:srgbClr val="FF0000"/>
              </a:solidFill>
            </a:endParaRPr>
          </a:p>
        </p:txBody>
      </p:sp>
      <p:sp>
        <p:nvSpPr>
          <p:cNvPr id="612" name="Google Shape;612;h3b987c62679a4f5d_0_1826"/>
          <p:cNvSpPr txBox="1"/>
          <p:nvPr/>
        </p:nvSpPr>
        <p:spPr>
          <a:xfrm>
            <a:off x="4427825" y="1697725"/>
            <a:ext cx="395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1</a:t>
            </a:r>
            <a:endParaRPr b="1" sz="1800">
              <a:solidFill>
                <a:srgbClr val="FF0000"/>
              </a:solidFill>
            </a:endParaRPr>
          </a:p>
        </p:txBody>
      </p:sp>
      <p:sp>
        <p:nvSpPr>
          <p:cNvPr id="613" name="Google Shape;613;h3b987c62679a4f5d_0_1826"/>
          <p:cNvSpPr txBox="1"/>
          <p:nvPr/>
        </p:nvSpPr>
        <p:spPr>
          <a:xfrm>
            <a:off x="4279350" y="3628750"/>
            <a:ext cx="5058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46</a:t>
            </a:r>
            <a:endParaRPr b="1" sz="1800">
              <a:solidFill>
                <a:srgbClr val="FF0000"/>
              </a:solidFill>
            </a:endParaRPr>
          </a:p>
        </p:txBody>
      </p:sp>
      <p:sp>
        <p:nvSpPr>
          <p:cNvPr id="614" name="Google Shape;614;h3b987c62679a4f5d_0_1826"/>
          <p:cNvSpPr txBox="1"/>
          <p:nvPr>
            <p:ph type="title"/>
          </p:nvPr>
        </p:nvSpPr>
        <p:spPr>
          <a:xfrm>
            <a:off x="311700" y="277500"/>
            <a:ext cx="8520600" cy="8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sz="1400"/>
              <a:t>Sigmoid Activation Function</a:t>
            </a:r>
            <a:endParaRPr sz="1400"/>
          </a:p>
          <a:p>
            <a:pPr indent="0" lvl="0" marL="0" rtl="0" algn="ctr">
              <a:spcBef>
                <a:spcPts val="0"/>
              </a:spcBef>
              <a:spcAft>
                <a:spcPts val="0"/>
              </a:spcAft>
              <a:buSzPts val="2800"/>
              <a:buNone/>
            </a:pPr>
            <a:r>
              <a:rPr lang="pt-BR"/>
              <a:t>Two Features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h3b987c62679a4f5d_0_1850"/>
          <p:cNvSpPr txBox="1"/>
          <p:nvPr/>
        </p:nvSpPr>
        <p:spPr>
          <a:xfrm>
            <a:off x="408450" y="2463138"/>
            <a:ext cx="36783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x</a:t>
            </a:r>
            <a:r>
              <a:rPr lang="pt-BR" sz="2200">
                <a:solidFill>
                  <a:srgbClr val="434343"/>
                </a:solidFill>
                <a:latin typeface="Courier New"/>
                <a:ea typeface="Courier New"/>
                <a:cs typeface="Courier New"/>
                <a:sym typeface="Courier New"/>
              </a:rPr>
              <a:t>=[</a:t>
            </a:r>
            <a:r>
              <a:rPr lang="pt-BR" sz="2200">
                <a:solidFill>
                  <a:srgbClr val="FF0000"/>
                </a:solidFill>
                <a:latin typeface="Courier New"/>
                <a:ea typeface="Courier New"/>
                <a:cs typeface="Courier New"/>
                <a:sym typeface="Courier New"/>
              </a:rPr>
              <a:t>1</a:t>
            </a:r>
            <a:r>
              <a:rPr lang="pt-BR" sz="2200">
                <a:solidFill>
                  <a:srgbClr val="434343"/>
                </a:solidFill>
                <a:latin typeface="Courier New"/>
                <a:ea typeface="Courier New"/>
                <a:cs typeface="Courier New"/>
                <a:sym typeface="Courier New"/>
              </a:rPr>
              <a:t>,</a:t>
            </a:r>
            <a:r>
              <a:rPr lang="pt-BR" sz="2200">
                <a:solidFill>
                  <a:srgbClr val="FF0000"/>
                </a:solidFill>
                <a:latin typeface="Courier New"/>
                <a:ea typeface="Courier New"/>
                <a:cs typeface="Courier New"/>
                <a:sym typeface="Courier New"/>
              </a:rPr>
              <a:t>5.6</a:t>
            </a:r>
            <a:r>
              <a:rPr lang="pt-BR" sz="2200">
                <a:solidFill>
                  <a:srgbClr val="434343"/>
                </a:solidFill>
                <a:latin typeface="Courier New"/>
                <a:ea typeface="Courier New"/>
                <a:cs typeface="Courier New"/>
                <a:sym typeface="Courier New"/>
              </a:rPr>
              <a:t>,</a:t>
            </a:r>
            <a:r>
              <a:rPr lang="pt-BR" sz="2200">
                <a:solidFill>
                  <a:srgbClr val="FF0000"/>
                </a:solidFill>
                <a:latin typeface="Courier New"/>
                <a:ea typeface="Courier New"/>
                <a:cs typeface="Courier New"/>
                <a:sym typeface="Courier New"/>
              </a:rPr>
              <a:t>46</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w=[</a:t>
            </a:r>
            <a:r>
              <a:rPr lang="pt-BR" sz="2200">
                <a:solidFill>
                  <a:srgbClr val="0000FF"/>
                </a:solidFill>
                <a:latin typeface="Courier New"/>
                <a:ea typeface="Courier New"/>
                <a:cs typeface="Courier New"/>
                <a:sym typeface="Courier New"/>
              </a:rPr>
              <a:t>-33.19</a:t>
            </a:r>
            <a:r>
              <a:rPr lang="pt-BR" sz="2200">
                <a:solidFill>
                  <a:srgbClr val="434343"/>
                </a:solidFill>
                <a:latin typeface="Courier New"/>
                <a:ea typeface="Courier New"/>
                <a:cs typeface="Courier New"/>
                <a:sym typeface="Courier New"/>
              </a:rPr>
              <a:t>,</a:t>
            </a:r>
            <a:r>
              <a:rPr lang="pt-BR" sz="2200">
                <a:solidFill>
                  <a:srgbClr val="0000FF"/>
                </a:solidFill>
                <a:latin typeface="Courier New"/>
                <a:ea typeface="Courier New"/>
                <a:cs typeface="Courier New"/>
                <a:sym typeface="Courier New"/>
              </a:rPr>
              <a:t>1.60</a:t>
            </a:r>
            <a:r>
              <a:rPr lang="pt-BR" sz="2200">
                <a:solidFill>
                  <a:srgbClr val="434343"/>
                </a:solidFill>
                <a:latin typeface="Courier New"/>
                <a:ea typeface="Courier New"/>
                <a:cs typeface="Courier New"/>
                <a:sym typeface="Courier New"/>
              </a:rPr>
              <a:t>,</a:t>
            </a:r>
            <a:r>
              <a:rPr lang="pt-BR" sz="2200">
                <a:solidFill>
                  <a:srgbClr val="0000FF"/>
                </a:solidFill>
                <a:latin typeface="Courier New"/>
                <a:ea typeface="Courier New"/>
                <a:cs typeface="Courier New"/>
                <a:sym typeface="Courier New"/>
              </a:rPr>
              <a:t>0.47</a:t>
            </a:r>
            <a:r>
              <a:rPr lang="pt-BR" sz="2200">
                <a:solidFill>
                  <a:srgbClr val="434343"/>
                </a:solidFill>
                <a:latin typeface="Courier New"/>
                <a:ea typeface="Courier New"/>
                <a:cs typeface="Courier New"/>
                <a:sym typeface="Courier New"/>
              </a:rPr>
              <a:t>]</a:t>
            </a:r>
            <a:endParaRPr sz="2200">
              <a:solidFill>
                <a:srgbClr val="434343"/>
              </a:solidFill>
              <a:latin typeface="Courier New"/>
              <a:ea typeface="Courier New"/>
              <a:cs typeface="Courier New"/>
              <a:sym typeface="Courier New"/>
            </a:endParaRPr>
          </a:p>
          <a:p>
            <a:pPr indent="0" lvl="0" marL="0" rtl="0" algn="l">
              <a:spcBef>
                <a:spcPts val="0"/>
              </a:spcBef>
              <a:spcAft>
                <a:spcPts val="0"/>
              </a:spcAft>
              <a:buNone/>
            </a:pPr>
            <a:r>
              <a:rPr lang="pt-BR" sz="2200">
                <a:solidFill>
                  <a:srgbClr val="434343"/>
                </a:solidFill>
                <a:latin typeface="Courier New"/>
                <a:ea typeface="Courier New"/>
                <a:cs typeface="Courier New"/>
                <a:sym typeface="Courier New"/>
              </a:rPr>
              <a:t>y=</a:t>
            </a:r>
            <a:r>
              <a:rPr b="1" lang="pt-BR" sz="2200">
                <a:solidFill>
                  <a:srgbClr val="9900FF"/>
                </a:solidFill>
                <a:latin typeface="Courier New"/>
                <a:ea typeface="Courier New"/>
                <a:cs typeface="Courier New"/>
                <a:sym typeface="Courier New"/>
              </a:rPr>
              <a:t>0.94</a:t>
            </a:r>
            <a:endParaRPr b="1" sz="2200">
              <a:solidFill>
                <a:srgbClr val="9900FF"/>
              </a:solidFill>
              <a:latin typeface="Courier New"/>
              <a:ea typeface="Courier New"/>
              <a:cs typeface="Courier New"/>
              <a:sym typeface="Courier New"/>
            </a:endParaRPr>
          </a:p>
        </p:txBody>
      </p:sp>
      <p:sp>
        <p:nvSpPr>
          <p:cNvPr id="620" name="Google Shape;620;h3b987c62679a4f5d_0_1850"/>
          <p:cNvSpPr/>
          <p:nvPr/>
        </p:nvSpPr>
        <p:spPr>
          <a:xfrm>
            <a:off x="4801278" y="2685575"/>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0" baseline="-25000" lang="pt-BR" sz="1935" strike="noStrike">
                <a:latin typeface="Arial"/>
                <a:ea typeface="Arial"/>
                <a:cs typeface="Arial"/>
                <a:sym typeface="Arial"/>
              </a:rPr>
              <a:t>1</a:t>
            </a:r>
            <a:endParaRPr b="0" sz="1935" strike="noStrike">
              <a:latin typeface="Arial"/>
              <a:ea typeface="Arial"/>
              <a:cs typeface="Arial"/>
              <a:sym typeface="Arial"/>
            </a:endParaRPr>
          </a:p>
        </p:txBody>
      </p:sp>
      <p:sp>
        <p:nvSpPr>
          <p:cNvPr id="621" name="Google Shape;621;h3b987c62679a4f5d_0_1850"/>
          <p:cNvSpPr/>
          <p:nvPr/>
        </p:nvSpPr>
        <p:spPr>
          <a:xfrm>
            <a:off x="6938105" y="2725159"/>
            <a:ext cx="785400" cy="785400"/>
          </a:xfrm>
          <a:prstGeom prst="ellipse">
            <a:avLst/>
          </a:prstGeom>
          <a:solidFill>
            <a:srgbClr val="FFFFFF"/>
          </a:solidFill>
          <a:ln cap="flat" cmpd="sng" w="20800">
            <a:solidFill>
              <a:srgbClr val="000000"/>
            </a:solidFill>
            <a:prstDash val="solid"/>
            <a:round/>
            <a:headEnd len="sm" w="sm" type="none"/>
            <a:tailEnd len="sm" w="sm" type="none"/>
          </a:ln>
        </p:spPr>
        <p:txBody>
          <a:bodyPr anchorCtr="0" anchor="ctr" bIns="49875" lIns="49875" spcFirstLastPara="1" rIns="49875" wrap="square" tIns="49875">
            <a:noAutofit/>
          </a:bodyPr>
          <a:lstStyle/>
          <a:p>
            <a:pPr indent="0" lvl="0" marL="0" rtl="0" algn="l">
              <a:spcBef>
                <a:spcPts val="0"/>
              </a:spcBef>
              <a:spcAft>
                <a:spcPts val="0"/>
              </a:spcAft>
              <a:buNone/>
            </a:pPr>
            <a:r>
              <a:t/>
            </a:r>
            <a:endParaRPr/>
          </a:p>
        </p:txBody>
      </p:sp>
      <p:cxnSp>
        <p:nvCxnSpPr>
          <p:cNvPr id="622" name="Google Shape;622;h3b987c62679a4f5d_0_1850"/>
          <p:cNvCxnSpPr>
            <a:stCxn id="620" idx="6"/>
            <a:endCxn id="621" idx="2"/>
          </p:cNvCxnSpPr>
          <p:nvPr/>
        </p:nvCxnSpPr>
        <p:spPr>
          <a:xfrm>
            <a:off x="5403078" y="2986625"/>
            <a:ext cx="1535100" cy="131100"/>
          </a:xfrm>
          <a:prstGeom prst="straightConnector1">
            <a:avLst/>
          </a:prstGeom>
          <a:noFill/>
          <a:ln cap="flat" cmpd="sng" w="28575">
            <a:solidFill>
              <a:srgbClr val="000000"/>
            </a:solidFill>
            <a:prstDash val="solid"/>
            <a:round/>
            <a:headEnd len="sm" w="sm" type="none"/>
            <a:tailEnd len="med" w="med" type="triangle"/>
          </a:ln>
        </p:spPr>
      </p:cxnSp>
      <p:cxnSp>
        <p:nvCxnSpPr>
          <p:cNvPr id="623" name="Google Shape;623;h3b987c62679a4f5d_0_1850"/>
          <p:cNvCxnSpPr/>
          <p:nvPr/>
        </p:nvCxnSpPr>
        <p:spPr>
          <a:xfrm>
            <a:off x="7723656" y="3117921"/>
            <a:ext cx="1011900" cy="0"/>
          </a:xfrm>
          <a:prstGeom prst="straightConnector1">
            <a:avLst/>
          </a:prstGeom>
          <a:noFill/>
          <a:ln cap="flat" cmpd="sng" w="28575">
            <a:solidFill>
              <a:srgbClr val="000000"/>
            </a:solidFill>
            <a:prstDash val="solid"/>
            <a:round/>
            <a:headEnd len="sm" w="sm" type="none"/>
            <a:tailEnd len="med" w="med" type="triangle"/>
          </a:ln>
        </p:spPr>
      </p:cxnSp>
      <p:cxnSp>
        <p:nvCxnSpPr>
          <p:cNvPr id="624" name="Google Shape;624;h3b987c62679a4f5d_0_1850"/>
          <p:cNvCxnSpPr/>
          <p:nvPr/>
        </p:nvCxnSpPr>
        <p:spPr>
          <a:xfrm>
            <a:off x="7330880" y="2725159"/>
            <a:ext cx="0" cy="785400"/>
          </a:xfrm>
          <a:prstGeom prst="straightConnector1">
            <a:avLst/>
          </a:prstGeom>
          <a:noFill/>
          <a:ln cap="flat" cmpd="sng" w="5200">
            <a:solidFill>
              <a:srgbClr val="000000"/>
            </a:solidFill>
            <a:prstDash val="solid"/>
            <a:round/>
            <a:headEnd len="sm" w="sm" type="none"/>
            <a:tailEnd len="sm" w="sm" type="none"/>
          </a:ln>
        </p:spPr>
      </p:cxnSp>
      <p:sp>
        <p:nvSpPr>
          <p:cNvPr id="625" name="Google Shape;625;h3b987c62679a4f5d_0_1850"/>
          <p:cNvSpPr txBox="1"/>
          <p:nvPr/>
        </p:nvSpPr>
        <p:spPr>
          <a:xfrm>
            <a:off x="7056723" y="2929003"/>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Z</a:t>
            </a:r>
            <a:endParaRPr b="0" sz="2165" strike="noStrike">
              <a:latin typeface="Arial"/>
              <a:ea typeface="Arial"/>
              <a:cs typeface="Arial"/>
              <a:sym typeface="Arial"/>
            </a:endParaRPr>
          </a:p>
        </p:txBody>
      </p:sp>
      <p:sp>
        <p:nvSpPr>
          <p:cNvPr id="626" name="Google Shape;626;h3b987c62679a4f5d_0_1850"/>
          <p:cNvSpPr txBox="1"/>
          <p:nvPr/>
        </p:nvSpPr>
        <p:spPr>
          <a:xfrm>
            <a:off x="7841175" y="2725150"/>
            <a:ext cx="7146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b="1" lang="pt-BR" sz="1900">
                <a:solidFill>
                  <a:srgbClr val="9900FF"/>
                </a:solidFill>
              </a:rPr>
              <a:t>0.94</a:t>
            </a:r>
            <a:endParaRPr b="1" sz="1900" strike="noStrike">
              <a:solidFill>
                <a:srgbClr val="9900FF"/>
              </a:solidFill>
            </a:endParaRPr>
          </a:p>
        </p:txBody>
      </p:sp>
      <p:sp>
        <p:nvSpPr>
          <p:cNvPr id="627" name="Google Shape;627;h3b987c62679a4f5d_0_1850"/>
          <p:cNvSpPr/>
          <p:nvPr/>
        </p:nvSpPr>
        <p:spPr>
          <a:xfrm>
            <a:off x="4823216" y="1627526"/>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t/>
            </a:r>
            <a:endParaRPr b="0" sz="1475" strike="noStrike">
              <a:latin typeface="Arial"/>
              <a:ea typeface="Arial"/>
              <a:cs typeface="Arial"/>
              <a:sym typeface="Arial"/>
            </a:endParaRPr>
          </a:p>
        </p:txBody>
      </p:sp>
      <p:sp>
        <p:nvSpPr>
          <p:cNvPr id="628" name="Google Shape;628;h3b987c62679a4f5d_0_1850"/>
          <p:cNvSpPr txBox="1"/>
          <p:nvPr/>
        </p:nvSpPr>
        <p:spPr>
          <a:xfrm>
            <a:off x="4785150" y="1666354"/>
            <a:ext cx="714600" cy="468000"/>
          </a:xfrm>
          <a:prstGeom prst="rect">
            <a:avLst/>
          </a:prstGeom>
          <a:noFill/>
          <a:ln>
            <a:noFill/>
          </a:ln>
        </p:spPr>
        <p:txBody>
          <a:bodyPr anchorCtr="0" anchor="t" bIns="84275" lIns="84275" spcFirstLastPara="1" rIns="84275" wrap="square" tIns="84275">
            <a:spAutoFit/>
          </a:bodyPr>
          <a:lstStyle/>
          <a:p>
            <a:pPr indent="0" lvl="0" marL="0" rtl="0" algn="ctr">
              <a:spcBef>
                <a:spcPts val="0"/>
              </a:spcBef>
              <a:spcAft>
                <a:spcPts val="0"/>
              </a:spcAft>
              <a:buNone/>
            </a:pPr>
            <a:r>
              <a:rPr lang="pt-BR" sz="1935">
                <a:solidFill>
                  <a:schemeClr val="dk1"/>
                </a:solidFill>
              </a:rPr>
              <a:t>x</a:t>
            </a:r>
            <a:r>
              <a:rPr baseline="-25000" lang="pt-BR" sz="1935">
                <a:solidFill>
                  <a:schemeClr val="dk1"/>
                </a:solidFill>
              </a:rPr>
              <a:t>0</a:t>
            </a:r>
            <a:r>
              <a:rPr lang="pt-BR" sz="1935">
                <a:solidFill>
                  <a:schemeClr val="dk1"/>
                </a:solidFill>
              </a:rPr>
              <a:t>=1</a:t>
            </a:r>
            <a:endParaRPr sz="1935">
              <a:solidFill>
                <a:schemeClr val="dk1"/>
              </a:solidFill>
            </a:endParaRPr>
          </a:p>
        </p:txBody>
      </p:sp>
      <p:cxnSp>
        <p:nvCxnSpPr>
          <p:cNvPr id="629" name="Google Shape;629;h3b987c62679a4f5d_0_1850"/>
          <p:cNvCxnSpPr>
            <a:stCxn id="628" idx="3"/>
          </p:cNvCxnSpPr>
          <p:nvPr/>
        </p:nvCxnSpPr>
        <p:spPr>
          <a:xfrm>
            <a:off x="5499750" y="1900354"/>
            <a:ext cx="1471500" cy="1015200"/>
          </a:xfrm>
          <a:prstGeom prst="straightConnector1">
            <a:avLst/>
          </a:prstGeom>
          <a:noFill/>
          <a:ln cap="flat" cmpd="sng" w="28575">
            <a:solidFill>
              <a:srgbClr val="000000"/>
            </a:solidFill>
            <a:prstDash val="solid"/>
            <a:round/>
            <a:headEnd len="sm" w="sm" type="none"/>
            <a:tailEnd len="med" w="med" type="triangle"/>
          </a:ln>
        </p:spPr>
      </p:cxnSp>
      <p:sp>
        <p:nvSpPr>
          <p:cNvPr id="630" name="Google Shape;630;h3b987c62679a4f5d_0_1850"/>
          <p:cNvSpPr txBox="1"/>
          <p:nvPr/>
        </p:nvSpPr>
        <p:spPr>
          <a:xfrm>
            <a:off x="7392319" y="2929003"/>
            <a:ext cx="270000" cy="358500"/>
          </a:xfrm>
          <a:prstGeom prst="rect">
            <a:avLst/>
          </a:prstGeom>
          <a:noFill/>
          <a:ln>
            <a:noFill/>
          </a:ln>
        </p:spPr>
        <p:txBody>
          <a:bodyPr anchorCtr="0" anchor="t" bIns="24550" lIns="49100" spcFirstLastPara="1" rIns="49100" wrap="square" tIns="24550">
            <a:noAutofit/>
          </a:bodyPr>
          <a:lstStyle/>
          <a:p>
            <a:pPr indent="0" lvl="0" marL="0" marR="0" rtl="0" algn="l">
              <a:spcBef>
                <a:spcPts val="0"/>
              </a:spcBef>
              <a:spcAft>
                <a:spcPts val="0"/>
              </a:spcAft>
              <a:buNone/>
            </a:pPr>
            <a:r>
              <a:rPr lang="pt-BR" sz="2165"/>
              <a:t>f</a:t>
            </a:r>
            <a:endParaRPr b="0" sz="2165" strike="noStrike">
              <a:latin typeface="Arial"/>
              <a:ea typeface="Arial"/>
              <a:cs typeface="Arial"/>
              <a:sym typeface="Arial"/>
            </a:endParaRPr>
          </a:p>
        </p:txBody>
      </p:sp>
      <p:sp>
        <p:nvSpPr>
          <p:cNvPr id="631" name="Google Shape;631;h3b987c62679a4f5d_0_1850"/>
          <p:cNvSpPr txBox="1"/>
          <p:nvPr/>
        </p:nvSpPr>
        <p:spPr>
          <a:xfrm>
            <a:off x="5832350" y="2580525"/>
            <a:ext cx="60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FF"/>
                </a:solidFill>
              </a:rPr>
              <a:t>1.6</a:t>
            </a:r>
            <a:endParaRPr b="1" baseline="-25000" sz="1800">
              <a:solidFill>
                <a:srgbClr val="0000FF"/>
              </a:solidFill>
            </a:endParaRPr>
          </a:p>
        </p:txBody>
      </p:sp>
      <p:sp>
        <p:nvSpPr>
          <p:cNvPr id="632" name="Google Shape;632;h3b987c62679a4f5d_0_1850"/>
          <p:cNvSpPr txBox="1"/>
          <p:nvPr/>
        </p:nvSpPr>
        <p:spPr>
          <a:xfrm>
            <a:off x="5933324" y="1805250"/>
            <a:ext cx="94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FF"/>
                </a:solidFill>
              </a:rPr>
              <a:t>-33.19</a:t>
            </a:r>
            <a:endParaRPr b="1" baseline="-25000" sz="1800">
              <a:solidFill>
                <a:srgbClr val="0000FF"/>
              </a:solidFill>
            </a:endParaRPr>
          </a:p>
        </p:txBody>
      </p:sp>
      <p:sp>
        <p:nvSpPr>
          <p:cNvPr id="633" name="Google Shape;633;h3b987c62679a4f5d_0_1850"/>
          <p:cNvSpPr/>
          <p:nvPr/>
        </p:nvSpPr>
        <p:spPr>
          <a:xfrm>
            <a:off x="4801278" y="3558550"/>
            <a:ext cx="601800" cy="602100"/>
          </a:xfrm>
          <a:prstGeom prst="ellipse">
            <a:avLst/>
          </a:prstGeom>
          <a:solidFill>
            <a:srgbClr val="FFFFFF"/>
          </a:solidFill>
          <a:ln cap="flat" cmpd="sng" w="31875">
            <a:solidFill>
              <a:srgbClr val="000000"/>
            </a:solidFill>
            <a:prstDash val="solid"/>
            <a:round/>
            <a:headEnd len="sm" w="sm" type="none"/>
            <a:tailEnd len="sm" w="sm" type="none"/>
          </a:ln>
        </p:spPr>
        <p:txBody>
          <a:bodyPr anchorCtr="0" anchor="ctr" bIns="53250" lIns="90900" spcFirstLastPara="1" rIns="90900" wrap="square" tIns="53250">
            <a:noAutofit/>
          </a:bodyPr>
          <a:lstStyle/>
          <a:p>
            <a:pPr indent="0" lvl="0" marL="0" marR="0" rtl="0" algn="ctr">
              <a:spcBef>
                <a:spcPts val="0"/>
              </a:spcBef>
              <a:spcAft>
                <a:spcPts val="0"/>
              </a:spcAft>
              <a:buNone/>
            </a:pPr>
            <a:r>
              <a:rPr lang="pt-BR" sz="1935"/>
              <a:t>x</a:t>
            </a:r>
            <a:r>
              <a:rPr baseline="-25000" lang="pt-BR" sz="1935"/>
              <a:t>2</a:t>
            </a:r>
            <a:endParaRPr b="0" sz="1935" strike="noStrike">
              <a:latin typeface="Arial"/>
              <a:ea typeface="Arial"/>
              <a:cs typeface="Arial"/>
              <a:sym typeface="Arial"/>
            </a:endParaRPr>
          </a:p>
        </p:txBody>
      </p:sp>
      <p:cxnSp>
        <p:nvCxnSpPr>
          <p:cNvPr id="634" name="Google Shape;634;h3b987c62679a4f5d_0_1850"/>
          <p:cNvCxnSpPr>
            <a:stCxn id="633" idx="6"/>
          </p:cNvCxnSpPr>
          <p:nvPr/>
        </p:nvCxnSpPr>
        <p:spPr>
          <a:xfrm flipH="1" rot="10800000">
            <a:off x="5403078" y="3296500"/>
            <a:ext cx="1477200" cy="563100"/>
          </a:xfrm>
          <a:prstGeom prst="straightConnector1">
            <a:avLst/>
          </a:prstGeom>
          <a:noFill/>
          <a:ln cap="flat" cmpd="sng" w="28575">
            <a:solidFill>
              <a:srgbClr val="000000"/>
            </a:solidFill>
            <a:prstDash val="solid"/>
            <a:round/>
            <a:headEnd len="sm" w="sm" type="none"/>
            <a:tailEnd len="med" w="med" type="triangle"/>
          </a:ln>
        </p:spPr>
      </p:cxnSp>
      <p:sp>
        <p:nvSpPr>
          <p:cNvPr id="635" name="Google Shape;635;h3b987c62679a4f5d_0_1850"/>
          <p:cNvSpPr txBox="1"/>
          <p:nvPr/>
        </p:nvSpPr>
        <p:spPr>
          <a:xfrm>
            <a:off x="5617350" y="3217475"/>
            <a:ext cx="71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800">
                <a:solidFill>
                  <a:srgbClr val="0000FF"/>
                </a:solidFill>
              </a:rPr>
              <a:t>0.47</a:t>
            </a:r>
            <a:endParaRPr b="1" baseline="-25000" sz="1800">
              <a:solidFill>
                <a:srgbClr val="0000FF"/>
              </a:solidFill>
            </a:endParaRPr>
          </a:p>
        </p:txBody>
      </p:sp>
      <p:sp>
        <p:nvSpPr>
          <p:cNvPr id="636" name="Google Shape;636;h3b987c62679a4f5d_0_1850"/>
          <p:cNvSpPr txBox="1"/>
          <p:nvPr/>
        </p:nvSpPr>
        <p:spPr>
          <a:xfrm>
            <a:off x="4317425" y="2755775"/>
            <a:ext cx="5058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5.6</a:t>
            </a:r>
            <a:endParaRPr b="1" sz="1800">
              <a:solidFill>
                <a:srgbClr val="FF0000"/>
              </a:solidFill>
            </a:endParaRPr>
          </a:p>
        </p:txBody>
      </p:sp>
      <p:sp>
        <p:nvSpPr>
          <p:cNvPr id="637" name="Google Shape;637;h3b987c62679a4f5d_0_1850"/>
          <p:cNvSpPr txBox="1"/>
          <p:nvPr/>
        </p:nvSpPr>
        <p:spPr>
          <a:xfrm>
            <a:off x="4427825" y="1697725"/>
            <a:ext cx="395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1</a:t>
            </a:r>
            <a:endParaRPr b="1" sz="1800">
              <a:solidFill>
                <a:srgbClr val="FF0000"/>
              </a:solidFill>
            </a:endParaRPr>
          </a:p>
        </p:txBody>
      </p:sp>
      <p:sp>
        <p:nvSpPr>
          <p:cNvPr id="638" name="Google Shape;638;h3b987c62679a4f5d_0_1850"/>
          <p:cNvSpPr txBox="1"/>
          <p:nvPr/>
        </p:nvSpPr>
        <p:spPr>
          <a:xfrm>
            <a:off x="4279350" y="3628750"/>
            <a:ext cx="5058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pt-BR" sz="1800">
                <a:solidFill>
                  <a:srgbClr val="FF0000"/>
                </a:solidFill>
              </a:rPr>
              <a:t>46</a:t>
            </a:r>
            <a:endParaRPr b="1" sz="1800">
              <a:solidFill>
                <a:srgbClr val="FF0000"/>
              </a:solidFill>
            </a:endParaRPr>
          </a:p>
        </p:txBody>
      </p:sp>
      <p:sp>
        <p:nvSpPr>
          <p:cNvPr id="639" name="Google Shape;639;h3b987c62679a4f5d_0_1850"/>
          <p:cNvSpPr txBox="1"/>
          <p:nvPr>
            <p:ph type="title"/>
          </p:nvPr>
        </p:nvSpPr>
        <p:spPr>
          <a:xfrm>
            <a:off x="311700" y="277500"/>
            <a:ext cx="8520600" cy="8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2800"/>
              <a:buNone/>
            </a:pPr>
            <a:r>
              <a:rPr lang="pt-BR" sz="1400"/>
              <a:t>Sigmoid Activation Function</a:t>
            </a:r>
            <a:endParaRPr sz="1400"/>
          </a:p>
          <a:p>
            <a:pPr indent="0" lvl="0" marL="0" rtl="0" algn="ctr">
              <a:spcBef>
                <a:spcPts val="0"/>
              </a:spcBef>
              <a:spcAft>
                <a:spcPts val="0"/>
              </a:spcAft>
              <a:buSzPts val="2800"/>
              <a:buNone/>
            </a:pPr>
            <a:r>
              <a:rPr lang="pt-BR"/>
              <a:t>Two Features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h3b987c62679a4f5d_0_827"/>
          <p:cNvSpPr txBox="1"/>
          <p:nvPr>
            <p:ph type="title"/>
          </p:nvPr>
        </p:nvSpPr>
        <p:spPr>
          <a:xfrm>
            <a:off x="311700" y="2030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Vector Representation</a:t>
            </a:r>
            <a:endParaRPr/>
          </a:p>
        </p:txBody>
      </p:sp>
      <p:pic>
        <p:nvPicPr>
          <p:cNvPr id="645" name="Google Shape;645;h3b987c62679a4f5d_0_827"/>
          <p:cNvPicPr preferRelativeResize="0"/>
          <p:nvPr/>
        </p:nvPicPr>
        <p:blipFill>
          <a:blip r:embed="rId3">
            <a:alphaModFix/>
          </a:blip>
          <a:stretch>
            <a:fillRect/>
          </a:stretch>
        </p:blipFill>
        <p:spPr>
          <a:xfrm>
            <a:off x="1138100" y="1170125"/>
            <a:ext cx="6980695" cy="3820976"/>
          </a:xfrm>
          <a:prstGeom prst="rect">
            <a:avLst/>
          </a:prstGeom>
          <a:noFill/>
          <a:ln>
            <a:noFill/>
          </a:ln>
        </p:spPr>
      </p:pic>
      <p:pic>
        <p:nvPicPr>
          <p:cNvPr id="646" name="Google Shape;646;h3b987c62679a4f5d_0_827"/>
          <p:cNvPicPr preferRelativeResize="0"/>
          <p:nvPr/>
        </p:nvPicPr>
        <p:blipFill>
          <a:blip r:embed="rId4">
            <a:alphaModFix/>
          </a:blip>
          <a:stretch>
            <a:fillRect/>
          </a:stretch>
        </p:blipFill>
        <p:spPr>
          <a:xfrm>
            <a:off x="8409025" y="150845"/>
            <a:ext cx="567030" cy="5727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h3b987c62679a4f5d_0_995"/>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Perceptrons</a:t>
            </a:r>
            <a:endParaRPr/>
          </a:p>
        </p:txBody>
      </p:sp>
      <p:sp>
        <p:nvSpPr>
          <p:cNvPr id="653" name="Google Shape;653;h3b987c62679a4f5d_0_995"/>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pt-BR"/>
              <a:t>A very simple neural unit </a:t>
            </a:r>
            <a:endParaRPr/>
          </a:p>
          <a:p>
            <a:pPr indent="-428615" lvl="0" marL="428615" rtl="0" algn="l">
              <a:lnSpc>
                <a:spcPct val="90000"/>
              </a:lnSpc>
              <a:spcBef>
                <a:spcPts val="1050"/>
              </a:spcBef>
              <a:spcAft>
                <a:spcPts val="0"/>
              </a:spcAft>
              <a:buSzPts val="2800"/>
              <a:buFont typeface="Arial"/>
              <a:buChar char="•"/>
            </a:pPr>
            <a:r>
              <a:rPr lang="pt-BR"/>
              <a:t>Binary output  (0 or 1)</a:t>
            </a:r>
            <a:endParaRPr/>
          </a:p>
          <a:p>
            <a:pPr indent="-428615" lvl="0" marL="428615" rtl="0" algn="l">
              <a:lnSpc>
                <a:spcPct val="90000"/>
              </a:lnSpc>
              <a:spcBef>
                <a:spcPts val="1050"/>
              </a:spcBef>
              <a:spcAft>
                <a:spcPts val="0"/>
              </a:spcAft>
              <a:buSzPts val="2800"/>
              <a:buFont typeface="Arial"/>
              <a:buChar char="•"/>
            </a:pPr>
            <a:r>
              <a:rPr lang="pt-BR"/>
              <a:t>No non-linear activation function</a:t>
            </a:r>
            <a:endParaRPr/>
          </a:p>
          <a:p>
            <a:pPr indent="-7938" lvl="0" marL="7938" rtl="0" algn="l">
              <a:lnSpc>
                <a:spcPct val="90000"/>
              </a:lnSpc>
              <a:spcBef>
                <a:spcPts val="1050"/>
              </a:spcBef>
              <a:spcAft>
                <a:spcPts val="0"/>
              </a:spcAft>
              <a:buSzPts val="2800"/>
              <a:buNone/>
            </a:pPr>
            <a:r>
              <a:t/>
            </a:r>
            <a:endParaRPr/>
          </a:p>
        </p:txBody>
      </p:sp>
      <p:pic>
        <p:nvPicPr>
          <p:cNvPr id="654" name="Google Shape;654;h3b987c62679a4f5d_0_995"/>
          <p:cNvPicPr preferRelativeResize="0"/>
          <p:nvPr/>
        </p:nvPicPr>
        <p:blipFill rotWithShape="1">
          <a:blip r:embed="rId3">
            <a:alphaModFix/>
          </a:blip>
          <a:srcRect b="0" l="0" r="0" t="0"/>
          <a:stretch/>
        </p:blipFill>
        <p:spPr>
          <a:xfrm>
            <a:off x="1485901" y="3028951"/>
            <a:ext cx="5199699" cy="1514475"/>
          </a:xfrm>
          <a:prstGeom prst="rect">
            <a:avLst/>
          </a:prstGeom>
          <a:noFill/>
          <a:ln>
            <a:noFill/>
          </a:ln>
        </p:spPr>
      </p:pic>
      <p:sp>
        <p:nvSpPr>
          <p:cNvPr id="655" name="Google Shape;655;h3b987c62679a4f5d_0_995"/>
          <p:cNvSpPr txBox="1"/>
          <p:nvPr/>
        </p:nvSpPr>
        <p:spPr>
          <a:xfrm>
            <a:off x="6374275" y="4459450"/>
            <a:ext cx="262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400">
                <a:solidFill>
                  <a:srgbClr val="434343"/>
                </a:solidFill>
                <a:latin typeface="Comfortaa"/>
                <a:ea typeface="Comfortaa"/>
                <a:cs typeface="Comfortaa"/>
                <a:sym typeface="Comfortaa"/>
              </a:rPr>
              <a:t>(Jurafsky, 2026)</a:t>
            </a:r>
            <a:endParaRPr sz="2400">
              <a:solidFill>
                <a:srgbClr val="434343"/>
              </a:solidFill>
              <a:latin typeface="Comfortaa"/>
              <a:ea typeface="Comfortaa"/>
              <a:cs typeface="Comfortaa"/>
              <a:sym typeface="Comforta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h3b987c62679a4f5d_0_925"/>
          <p:cNvSpPr/>
          <p:nvPr/>
        </p:nvSpPr>
        <p:spPr>
          <a:xfrm>
            <a:off x="4054239" y="2995111"/>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57775" lIns="98600" spcFirstLastPara="1" rIns="98600" wrap="square" tIns="57775">
            <a:noAutofit/>
          </a:bodyPr>
          <a:lstStyle/>
          <a:p>
            <a:pPr indent="0" lvl="0" marL="0" marR="0" rtl="0" algn="ctr">
              <a:spcBef>
                <a:spcPts val="0"/>
              </a:spcBef>
              <a:spcAft>
                <a:spcPts val="0"/>
              </a:spcAft>
              <a:buNone/>
            </a:pPr>
            <a:r>
              <a:rPr lang="pt-BR" sz="1600"/>
              <a:t>x</a:t>
            </a:r>
            <a:r>
              <a:rPr b="0" baseline="-25000" lang="pt-BR" sz="1600" strike="noStrike">
                <a:latin typeface="Arial"/>
                <a:ea typeface="Arial"/>
                <a:cs typeface="Arial"/>
                <a:sym typeface="Arial"/>
              </a:rPr>
              <a:t>1</a:t>
            </a:r>
            <a:endParaRPr b="0" sz="1600" strike="noStrike">
              <a:latin typeface="Arial"/>
              <a:ea typeface="Arial"/>
              <a:cs typeface="Arial"/>
              <a:sym typeface="Arial"/>
            </a:endParaRPr>
          </a:p>
        </p:txBody>
      </p:sp>
      <p:sp>
        <p:nvSpPr>
          <p:cNvPr id="661" name="Google Shape;661;h3b987c62679a4f5d_0_925"/>
          <p:cNvSpPr/>
          <p:nvPr/>
        </p:nvSpPr>
        <p:spPr>
          <a:xfrm>
            <a:off x="6205264" y="2578868"/>
            <a:ext cx="1306500" cy="13065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rPr lang="pt-BR" sz="1200"/>
              <a:t>p</a:t>
            </a:r>
            <a:r>
              <a:rPr lang="pt-BR" sz="1200"/>
              <a:t>erceptron</a:t>
            </a:r>
            <a:endParaRPr sz="1200"/>
          </a:p>
        </p:txBody>
      </p:sp>
      <p:cxnSp>
        <p:nvCxnSpPr>
          <p:cNvPr id="662" name="Google Shape;662;h3b987c62679a4f5d_0_925"/>
          <p:cNvCxnSpPr>
            <a:stCxn id="660" idx="6"/>
            <a:endCxn id="661" idx="2"/>
          </p:cNvCxnSpPr>
          <p:nvPr/>
        </p:nvCxnSpPr>
        <p:spPr>
          <a:xfrm flipH="1" rot="10800000">
            <a:off x="4707339" y="3232261"/>
            <a:ext cx="1497900" cy="89400"/>
          </a:xfrm>
          <a:prstGeom prst="straightConnector1">
            <a:avLst/>
          </a:prstGeom>
          <a:noFill/>
          <a:ln cap="flat" cmpd="sng" w="26450">
            <a:solidFill>
              <a:srgbClr val="000000"/>
            </a:solidFill>
            <a:prstDash val="solid"/>
            <a:round/>
            <a:headEnd len="sm" w="sm" type="none"/>
            <a:tailEnd len="med" w="med" type="triangle"/>
          </a:ln>
        </p:spPr>
      </p:cxnSp>
      <p:cxnSp>
        <p:nvCxnSpPr>
          <p:cNvPr id="663" name="Google Shape;663;h3b987c62679a4f5d_0_925"/>
          <p:cNvCxnSpPr/>
          <p:nvPr/>
        </p:nvCxnSpPr>
        <p:spPr>
          <a:xfrm>
            <a:off x="7511632" y="3232031"/>
            <a:ext cx="980100" cy="0"/>
          </a:xfrm>
          <a:prstGeom prst="straightConnector1">
            <a:avLst/>
          </a:prstGeom>
          <a:noFill/>
          <a:ln cap="flat" cmpd="sng" w="26450">
            <a:solidFill>
              <a:srgbClr val="000000"/>
            </a:solidFill>
            <a:prstDash val="solid"/>
            <a:round/>
            <a:headEnd len="sm" w="sm" type="none"/>
            <a:tailEnd len="med" w="med" type="triangle"/>
          </a:ln>
        </p:spPr>
      </p:cxnSp>
      <p:sp>
        <p:nvSpPr>
          <p:cNvPr id="664" name="Google Shape;664;h3b987c62679a4f5d_0_925"/>
          <p:cNvSpPr/>
          <p:nvPr/>
        </p:nvSpPr>
        <p:spPr>
          <a:xfrm>
            <a:off x="4054264" y="3737918"/>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57775" lIns="98600" spcFirstLastPara="1" rIns="98600" wrap="square" tIns="57775">
            <a:noAutofit/>
          </a:bodyPr>
          <a:lstStyle/>
          <a:p>
            <a:pPr indent="0" lvl="0" marL="0" marR="0" rtl="0" algn="ctr">
              <a:spcBef>
                <a:spcPts val="0"/>
              </a:spcBef>
              <a:spcAft>
                <a:spcPts val="0"/>
              </a:spcAft>
              <a:buNone/>
            </a:pPr>
            <a:r>
              <a:rPr lang="pt-BR" sz="1600"/>
              <a:t>x</a:t>
            </a:r>
            <a:r>
              <a:rPr b="0" baseline="-25000" lang="pt-BR" sz="1600" strike="noStrike">
                <a:latin typeface="Arial"/>
                <a:ea typeface="Arial"/>
                <a:cs typeface="Arial"/>
                <a:sym typeface="Arial"/>
              </a:rPr>
              <a:t>2</a:t>
            </a:r>
            <a:endParaRPr b="0" sz="1600" strike="noStrike">
              <a:latin typeface="Arial"/>
              <a:ea typeface="Arial"/>
              <a:cs typeface="Arial"/>
              <a:sym typeface="Arial"/>
            </a:endParaRPr>
          </a:p>
        </p:txBody>
      </p:sp>
      <p:cxnSp>
        <p:nvCxnSpPr>
          <p:cNvPr id="665" name="Google Shape;665;h3b987c62679a4f5d_0_925"/>
          <p:cNvCxnSpPr>
            <a:stCxn id="664" idx="6"/>
          </p:cNvCxnSpPr>
          <p:nvPr/>
        </p:nvCxnSpPr>
        <p:spPr>
          <a:xfrm flipH="1" rot="10800000">
            <a:off x="4707364" y="3563168"/>
            <a:ext cx="1553400" cy="501300"/>
          </a:xfrm>
          <a:prstGeom prst="straightConnector1">
            <a:avLst/>
          </a:prstGeom>
          <a:noFill/>
          <a:ln cap="flat" cmpd="sng" w="26450">
            <a:solidFill>
              <a:srgbClr val="000000"/>
            </a:solidFill>
            <a:prstDash val="solid"/>
            <a:round/>
            <a:headEnd len="sm" w="sm" type="none"/>
            <a:tailEnd len="med" w="med" type="triangle"/>
          </a:ln>
        </p:spPr>
      </p:cxnSp>
      <p:sp>
        <p:nvSpPr>
          <p:cNvPr id="666" name="Google Shape;666;h3b987c62679a4f5d_0_925"/>
          <p:cNvSpPr txBox="1"/>
          <p:nvPr/>
        </p:nvSpPr>
        <p:spPr>
          <a:xfrm>
            <a:off x="5114756" y="2816172"/>
            <a:ext cx="379200" cy="370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2321"/>
              <a:t>1</a:t>
            </a:r>
            <a:endParaRPr b="0" sz="2321" strike="noStrike">
              <a:latin typeface="Arial"/>
              <a:ea typeface="Arial"/>
              <a:cs typeface="Arial"/>
              <a:sym typeface="Arial"/>
            </a:endParaRPr>
          </a:p>
        </p:txBody>
      </p:sp>
      <p:sp>
        <p:nvSpPr>
          <p:cNvPr id="667" name="Google Shape;667;h3b987c62679a4f5d_0_925"/>
          <p:cNvSpPr txBox="1"/>
          <p:nvPr/>
        </p:nvSpPr>
        <p:spPr>
          <a:xfrm>
            <a:off x="5110275" y="3471251"/>
            <a:ext cx="379200" cy="370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2321"/>
              <a:t>1</a:t>
            </a:r>
            <a:endParaRPr b="0" sz="2321" strike="noStrike">
              <a:latin typeface="Arial"/>
              <a:ea typeface="Arial"/>
              <a:cs typeface="Arial"/>
              <a:sym typeface="Arial"/>
            </a:endParaRPr>
          </a:p>
        </p:txBody>
      </p:sp>
      <p:sp>
        <p:nvSpPr>
          <p:cNvPr id="668" name="Google Shape;668;h3b987c62679a4f5d_0_925"/>
          <p:cNvSpPr txBox="1"/>
          <p:nvPr/>
        </p:nvSpPr>
        <p:spPr>
          <a:xfrm>
            <a:off x="7759945" y="2860403"/>
            <a:ext cx="2682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600"/>
              <a:t>y</a:t>
            </a:r>
            <a:endParaRPr b="0" sz="1600" strike="noStrike">
              <a:latin typeface="Arial"/>
              <a:ea typeface="Arial"/>
              <a:cs typeface="Arial"/>
              <a:sym typeface="Arial"/>
            </a:endParaRPr>
          </a:p>
        </p:txBody>
      </p:sp>
      <p:sp>
        <p:nvSpPr>
          <p:cNvPr id="669" name="Google Shape;669;h3b987c62679a4f5d_0_925"/>
          <p:cNvSpPr/>
          <p:nvPr/>
        </p:nvSpPr>
        <p:spPr>
          <a:xfrm>
            <a:off x="4054239" y="2252291"/>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57775" lIns="98600" spcFirstLastPara="1" rIns="98600" wrap="square" tIns="57775">
            <a:noAutofit/>
          </a:bodyPr>
          <a:lstStyle/>
          <a:p>
            <a:pPr indent="0" lvl="0" marL="0" marR="0" rtl="0" algn="ctr">
              <a:spcBef>
                <a:spcPts val="0"/>
              </a:spcBef>
              <a:spcAft>
                <a:spcPts val="0"/>
              </a:spcAft>
              <a:buNone/>
            </a:pPr>
            <a:r>
              <a:t/>
            </a:r>
            <a:endParaRPr b="0" sz="1600" strike="noStrike">
              <a:latin typeface="Arial"/>
              <a:ea typeface="Arial"/>
              <a:cs typeface="Arial"/>
              <a:sym typeface="Arial"/>
            </a:endParaRPr>
          </a:p>
        </p:txBody>
      </p:sp>
      <p:sp>
        <p:nvSpPr>
          <p:cNvPr id="670" name="Google Shape;670;h3b987c62679a4f5d_0_925"/>
          <p:cNvSpPr txBox="1"/>
          <p:nvPr/>
        </p:nvSpPr>
        <p:spPr>
          <a:xfrm>
            <a:off x="4054255" y="2363294"/>
            <a:ext cx="653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chemeClr val="dk1"/>
                </a:solidFill>
              </a:rPr>
              <a:t>x</a:t>
            </a:r>
            <a:r>
              <a:rPr baseline="-25000" lang="pt-BR" sz="1600">
                <a:solidFill>
                  <a:schemeClr val="dk1"/>
                </a:solidFill>
              </a:rPr>
              <a:t>0</a:t>
            </a:r>
            <a:r>
              <a:rPr lang="pt-BR" sz="1600">
                <a:solidFill>
                  <a:schemeClr val="dk1"/>
                </a:solidFill>
              </a:rPr>
              <a:t>=1</a:t>
            </a:r>
            <a:endParaRPr sz="1600">
              <a:solidFill>
                <a:schemeClr val="dk1"/>
              </a:solidFill>
            </a:endParaRPr>
          </a:p>
        </p:txBody>
      </p:sp>
      <p:cxnSp>
        <p:nvCxnSpPr>
          <p:cNvPr id="671" name="Google Shape;671;h3b987c62679a4f5d_0_925"/>
          <p:cNvCxnSpPr>
            <a:stCxn id="670" idx="3"/>
          </p:cNvCxnSpPr>
          <p:nvPr/>
        </p:nvCxnSpPr>
        <p:spPr>
          <a:xfrm>
            <a:off x="4707355" y="2578844"/>
            <a:ext cx="1510800" cy="419100"/>
          </a:xfrm>
          <a:prstGeom prst="straightConnector1">
            <a:avLst/>
          </a:prstGeom>
          <a:noFill/>
          <a:ln cap="flat" cmpd="sng" w="26450">
            <a:solidFill>
              <a:srgbClr val="000000"/>
            </a:solidFill>
            <a:prstDash val="solid"/>
            <a:round/>
            <a:headEnd len="sm" w="sm" type="none"/>
            <a:tailEnd len="med" w="med" type="triangle"/>
          </a:ln>
        </p:spPr>
      </p:cxnSp>
      <p:sp>
        <p:nvSpPr>
          <p:cNvPr id="672" name="Google Shape;672;h3b987c62679a4f5d_0_925"/>
          <p:cNvSpPr txBox="1"/>
          <p:nvPr/>
        </p:nvSpPr>
        <p:spPr>
          <a:xfrm>
            <a:off x="5110275" y="2094774"/>
            <a:ext cx="567600" cy="431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2321"/>
              <a:t>-1</a:t>
            </a:r>
            <a:endParaRPr b="0" sz="2321" strike="noStrike">
              <a:latin typeface="Arial"/>
              <a:ea typeface="Arial"/>
              <a:cs typeface="Arial"/>
              <a:sym typeface="Arial"/>
            </a:endParaRPr>
          </a:p>
        </p:txBody>
      </p:sp>
      <p:graphicFrame>
        <p:nvGraphicFramePr>
          <p:cNvPr id="673" name="Google Shape;673;h3b987c62679a4f5d_0_925"/>
          <p:cNvGraphicFramePr/>
          <p:nvPr/>
        </p:nvGraphicFramePr>
        <p:xfrm>
          <a:off x="652263" y="21320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tc>
                <a:tc>
                  <a:txBody>
                    <a:bodyPr/>
                    <a:lstStyle/>
                    <a:p>
                      <a:pPr indent="0" lvl="0" marL="0" rtl="0" algn="ctr">
                        <a:spcBef>
                          <a:spcPts val="0"/>
                        </a:spcBef>
                        <a:spcAft>
                          <a:spcPts val="0"/>
                        </a:spcAft>
                        <a:buNone/>
                      </a:pPr>
                      <a:r>
                        <a:rPr b="1" lang="pt-BR" sz="2400"/>
                        <a:t>y</a:t>
                      </a:r>
                      <a:endParaRPr b="1"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t/>
                      </a:r>
                      <a:endParaRPr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t/>
                      </a:r>
                      <a:endParaRPr sz="2400"/>
                    </a:p>
                  </a:txBody>
                  <a:tcPr marT="91425" marB="91425" marR="91425" marL="91425"/>
                </a:tc>
              </a:tr>
            </a:tbl>
          </a:graphicData>
        </a:graphic>
      </p:graphicFrame>
      <p:pic>
        <p:nvPicPr>
          <p:cNvPr id="674" name="Google Shape;674;h3b987c62679a4f5d_0_925"/>
          <p:cNvPicPr preferRelativeResize="0"/>
          <p:nvPr/>
        </p:nvPicPr>
        <p:blipFill rotWithShape="1">
          <a:blip r:embed="rId3">
            <a:alphaModFix/>
          </a:blip>
          <a:srcRect b="0" l="0" r="0" t="0"/>
          <a:stretch/>
        </p:blipFill>
        <p:spPr>
          <a:xfrm>
            <a:off x="6475675" y="4253000"/>
            <a:ext cx="2356613" cy="686400"/>
          </a:xfrm>
          <a:prstGeom prst="rect">
            <a:avLst/>
          </a:prstGeom>
          <a:noFill/>
          <a:ln cap="flat" cmpd="sng" w="9525">
            <a:solidFill>
              <a:srgbClr val="000000"/>
            </a:solidFill>
            <a:prstDash val="solid"/>
            <a:round/>
            <a:headEnd len="sm" w="sm" type="none"/>
            <a:tailEnd len="sm" w="sm" type="none"/>
          </a:ln>
        </p:spPr>
      </p:pic>
      <p:sp>
        <p:nvSpPr>
          <p:cNvPr id="675" name="Google Shape;675;h3b987c62679a4f5d_0_925"/>
          <p:cNvSpPr txBox="1"/>
          <p:nvPr>
            <p:ph type="title"/>
          </p:nvPr>
        </p:nvSpPr>
        <p:spPr>
          <a:xfrm>
            <a:off x="311700" y="139061"/>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1</a:t>
            </a:r>
            <a:endParaRPr/>
          </a:p>
        </p:txBody>
      </p:sp>
      <p:sp>
        <p:nvSpPr>
          <p:cNvPr id="676" name="Google Shape;676;h3b987c62679a4f5d_0_925"/>
          <p:cNvSpPr txBox="1"/>
          <p:nvPr>
            <p:ph idx="1" type="body"/>
          </p:nvPr>
        </p:nvSpPr>
        <p:spPr>
          <a:xfrm>
            <a:off x="311700" y="846511"/>
            <a:ext cx="8520600" cy="6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Compute the value of y for each input.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h3b987c62679a4f5d_0_1069"/>
          <p:cNvSpPr txBox="1"/>
          <p:nvPr>
            <p:ph type="title"/>
          </p:nvPr>
        </p:nvSpPr>
        <p:spPr>
          <a:xfrm>
            <a:off x="311700" y="139061"/>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1</a:t>
            </a:r>
            <a:endParaRPr/>
          </a:p>
        </p:txBody>
      </p:sp>
      <p:sp>
        <p:nvSpPr>
          <p:cNvPr id="682" name="Google Shape;682;h3b987c62679a4f5d_0_1069"/>
          <p:cNvSpPr/>
          <p:nvPr/>
        </p:nvSpPr>
        <p:spPr>
          <a:xfrm>
            <a:off x="4054239" y="2995111"/>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57775" lIns="98600" spcFirstLastPara="1" rIns="98600" wrap="square" tIns="57775">
            <a:noAutofit/>
          </a:bodyPr>
          <a:lstStyle/>
          <a:p>
            <a:pPr indent="0" lvl="0" marL="0" marR="0" rtl="0" algn="ctr">
              <a:spcBef>
                <a:spcPts val="0"/>
              </a:spcBef>
              <a:spcAft>
                <a:spcPts val="0"/>
              </a:spcAft>
              <a:buNone/>
            </a:pPr>
            <a:r>
              <a:rPr lang="pt-BR" sz="1600"/>
              <a:t>x</a:t>
            </a:r>
            <a:r>
              <a:rPr b="0" baseline="-25000" lang="pt-BR" sz="1600" strike="noStrike">
                <a:latin typeface="Arial"/>
                <a:ea typeface="Arial"/>
                <a:cs typeface="Arial"/>
                <a:sym typeface="Arial"/>
              </a:rPr>
              <a:t>1</a:t>
            </a:r>
            <a:endParaRPr b="0" sz="1600" strike="noStrike">
              <a:latin typeface="Arial"/>
              <a:ea typeface="Arial"/>
              <a:cs typeface="Arial"/>
              <a:sym typeface="Arial"/>
            </a:endParaRPr>
          </a:p>
        </p:txBody>
      </p:sp>
      <p:sp>
        <p:nvSpPr>
          <p:cNvPr id="683" name="Google Shape;683;h3b987c62679a4f5d_0_1069"/>
          <p:cNvSpPr/>
          <p:nvPr/>
        </p:nvSpPr>
        <p:spPr>
          <a:xfrm>
            <a:off x="6205264" y="2578868"/>
            <a:ext cx="1306500" cy="13065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rPr lang="pt-BR" sz="1200"/>
              <a:t>perceptron</a:t>
            </a:r>
            <a:endParaRPr sz="1200"/>
          </a:p>
        </p:txBody>
      </p:sp>
      <p:cxnSp>
        <p:nvCxnSpPr>
          <p:cNvPr id="684" name="Google Shape;684;h3b987c62679a4f5d_0_1069"/>
          <p:cNvCxnSpPr>
            <a:stCxn id="682" idx="6"/>
            <a:endCxn id="683" idx="2"/>
          </p:cNvCxnSpPr>
          <p:nvPr/>
        </p:nvCxnSpPr>
        <p:spPr>
          <a:xfrm flipH="1" rot="10800000">
            <a:off x="4707339" y="3232261"/>
            <a:ext cx="1497900" cy="89400"/>
          </a:xfrm>
          <a:prstGeom prst="straightConnector1">
            <a:avLst/>
          </a:prstGeom>
          <a:noFill/>
          <a:ln cap="flat" cmpd="sng" w="26450">
            <a:solidFill>
              <a:srgbClr val="000000"/>
            </a:solidFill>
            <a:prstDash val="solid"/>
            <a:round/>
            <a:headEnd len="sm" w="sm" type="none"/>
            <a:tailEnd len="med" w="med" type="triangle"/>
          </a:ln>
        </p:spPr>
      </p:cxnSp>
      <p:cxnSp>
        <p:nvCxnSpPr>
          <p:cNvPr id="685" name="Google Shape;685;h3b987c62679a4f5d_0_1069"/>
          <p:cNvCxnSpPr/>
          <p:nvPr/>
        </p:nvCxnSpPr>
        <p:spPr>
          <a:xfrm>
            <a:off x="7511632" y="3232031"/>
            <a:ext cx="980100" cy="0"/>
          </a:xfrm>
          <a:prstGeom prst="straightConnector1">
            <a:avLst/>
          </a:prstGeom>
          <a:noFill/>
          <a:ln cap="flat" cmpd="sng" w="26450">
            <a:solidFill>
              <a:srgbClr val="000000"/>
            </a:solidFill>
            <a:prstDash val="solid"/>
            <a:round/>
            <a:headEnd len="sm" w="sm" type="none"/>
            <a:tailEnd len="med" w="med" type="triangle"/>
          </a:ln>
        </p:spPr>
      </p:cxnSp>
      <p:sp>
        <p:nvSpPr>
          <p:cNvPr id="686" name="Google Shape;686;h3b987c62679a4f5d_0_1069"/>
          <p:cNvSpPr/>
          <p:nvPr/>
        </p:nvSpPr>
        <p:spPr>
          <a:xfrm>
            <a:off x="4054264" y="3737918"/>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57775" lIns="98600" spcFirstLastPara="1" rIns="98600" wrap="square" tIns="57775">
            <a:noAutofit/>
          </a:bodyPr>
          <a:lstStyle/>
          <a:p>
            <a:pPr indent="0" lvl="0" marL="0" marR="0" rtl="0" algn="ctr">
              <a:spcBef>
                <a:spcPts val="0"/>
              </a:spcBef>
              <a:spcAft>
                <a:spcPts val="0"/>
              </a:spcAft>
              <a:buNone/>
            </a:pPr>
            <a:r>
              <a:rPr lang="pt-BR" sz="1600"/>
              <a:t>x</a:t>
            </a:r>
            <a:r>
              <a:rPr b="0" baseline="-25000" lang="pt-BR" sz="1600" strike="noStrike">
                <a:latin typeface="Arial"/>
                <a:ea typeface="Arial"/>
                <a:cs typeface="Arial"/>
                <a:sym typeface="Arial"/>
              </a:rPr>
              <a:t>2</a:t>
            </a:r>
            <a:endParaRPr b="0" sz="1600" strike="noStrike">
              <a:latin typeface="Arial"/>
              <a:ea typeface="Arial"/>
              <a:cs typeface="Arial"/>
              <a:sym typeface="Arial"/>
            </a:endParaRPr>
          </a:p>
        </p:txBody>
      </p:sp>
      <p:cxnSp>
        <p:nvCxnSpPr>
          <p:cNvPr id="687" name="Google Shape;687;h3b987c62679a4f5d_0_1069"/>
          <p:cNvCxnSpPr>
            <a:stCxn id="686" idx="6"/>
          </p:cNvCxnSpPr>
          <p:nvPr/>
        </p:nvCxnSpPr>
        <p:spPr>
          <a:xfrm flipH="1" rot="10800000">
            <a:off x="4707364" y="3563168"/>
            <a:ext cx="1553400" cy="501300"/>
          </a:xfrm>
          <a:prstGeom prst="straightConnector1">
            <a:avLst/>
          </a:prstGeom>
          <a:noFill/>
          <a:ln cap="flat" cmpd="sng" w="26450">
            <a:solidFill>
              <a:srgbClr val="000000"/>
            </a:solidFill>
            <a:prstDash val="solid"/>
            <a:round/>
            <a:headEnd len="sm" w="sm" type="none"/>
            <a:tailEnd len="med" w="med" type="triangle"/>
          </a:ln>
        </p:spPr>
      </p:cxnSp>
      <p:sp>
        <p:nvSpPr>
          <p:cNvPr id="688" name="Google Shape;688;h3b987c62679a4f5d_0_1069"/>
          <p:cNvSpPr txBox="1"/>
          <p:nvPr/>
        </p:nvSpPr>
        <p:spPr>
          <a:xfrm>
            <a:off x="5114756" y="2816172"/>
            <a:ext cx="379200" cy="370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2321"/>
              <a:t>1</a:t>
            </a:r>
            <a:endParaRPr b="0" sz="2321" strike="noStrike">
              <a:latin typeface="Arial"/>
              <a:ea typeface="Arial"/>
              <a:cs typeface="Arial"/>
              <a:sym typeface="Arial"/>
            </a:endParaRPr>
          </a:p>
        </p:txBody>
      </p:sp>
      <p:sp>
        <p:nvSpPr>
          <p:cNvPr id="689" name="Google Shape;689;h3b987c62679a4f5d_0_1069"/>
          <p:cNvSpPr txBox="1"/>
          <p:nvPr/>
        </p:nvSpPr>
        <p:spPr>
          <a:xfrm>
            <a:off x="5110275" y="3471251"/>
            <a:ext cx="379200" cy="370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2321"/>
              <a:t>1</a:t>
            </a:r>
            <a:endParaRPr b="0" sz="2321" strike="noStrike">
              <a:latin typeface="Arial"/>
              <a:ea typeface="Arial"/>
              <a:cs typeface="Arial"/>
              <a:sym typeface="Arial"/>
            </a:endParaRPr>
          </a:p>
        </p:txBody>
      </p:sp>
      <p:sp>
        <p:nvSpPr>
          <p:cNvPr id="690" name="Google Shape;690;h3b987c62679a4f5d_0_1069"/>
          <p:cNvSpPr txBox="1"/>
          <p:nvPr/>
        </p:nvSpPr>
        <p:spPr>
          <a:xfrm>
            <a:off x="7759945" y="2860403"/>
            <a:ext cx="2682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600"/>
              <a:t>y</a:t>
            </a:r>
            <a:endParaRPr b="0" sz="1600" strike="noStrike">
              <a:latin typeface="Arial"/>
              <a:ea typeface="Arial"/>
              <a:cs typeface="Arial"/>
              <a:sym typeface="Arial"/>
            </a:endParaRPr>
          </a:p>
        </p:txBody>
      </p:sp>
      <p:sp>
        <p:nvSpPr>
          <p:cNvPr id="691" name="Google Shape;691;h3b987c62679a4f5d_0_1069"/>
          <p:cNvSpPr/>
          <p:nvPr/>
        </p:nvSpPr>
        <p:spPr>
          <a:xfrm>
            <a:off x="4054239" y="2252291"/>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57775" lIns="98600" spcFirstLastPara="1" rIns="98600" wrap="square" tIns="57775">
            <a:noAutofit/>
          </a:bodyPr>
          <a:lstStyle/>
          <a:p>
            <a:pPr indent="0" lvl="0" marL="0" marR="0" rtl="0" algn="ctr">
              <a:spcBef>
                <a:spcPts val="0"/>
              </a:spcBef>
              <a:spcAft>
                <a:spcPts val="0"/>
              </a:spcAft>
              <a:buNone/>
            </a:pPr>
            <a:r>
              <a:t/>
            </a:r>
            <a:endParaRPr b="0" sz="1600" strike="noStrike">
              <a:latin typeface="Arial"/>
              <a:ea typeface="Arial"/>
              <a:cs typeface="Arial"/>
              <a:sym typeface="Arial"/>
            </a:endParaRPr>
          </a:p>
        </p:txBody>
      </p:sp>
      <p:sp>
        <p:nvSpPr>
          <p:cNvPr id="692" name="Google Shape;692;h3b987c62679a4f5d_0_1069"/>
          <p:cNvSpPr txBox="1"/>
          <p:nvPr/>
        </p:nvSpPr>
        <p:spPr>
          <a:xfrm>
            <a:off x="4054255" y="2363294"/>
            <a:ext cx="653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chemeClr val="dk1"/>
                </a:solidFill>
              </a:rPr>
              <a:t>x</a:t>
            </a:r>
            <a:r>
              <a:rPr baseline="-25000" lang="pt-BR" sz="1600">
                <a:solidFill>
                  <a:schemeClr val="dk1"/>
                </a:solidFill>
              </a:rPr>
              <a:t>0</a:t>
            </a:r>
            <a:r>
              <a:rPr lang="pt-BR" sz="1600">
                <a:solidFill>
                  <a:schemeClr val="dk1"/>
                </a:solidFill>
              </a:rPr>
              <a:t>=1</a:t>
            </a:r>
            <a:endParaRPr sz="1600">
              <a:solidFill>
                <a:schemeClr val="dk1"/>
              </a:solidFill>
            </a:endParaRPr>
          </a:p>
        </p:txBody>
      </p:sp>
      <p:cxnSp>
        <p:nvCxnSpPr>
          <p:cNvPr id="693" name="Google Shape;693;h3b987c62679a4f5d_0_1069"/>
          <p:cNvCxnSpPr>
            <a:stCxn id="692" idx="3"/>
          </p:cNvCxnSpPr>
          <p:nvPr/>
        </p:nvCxnSpPr>
        <p:spPr>
          <a:xfrm>
            <a:off x="4707355" y="2578844"/>
            <a:ext cx="1510800" cy="419100"/>
          </a:xfrm>
          <a:prstGeom prst="straightConnector1">
            <a:avLst/>
          </a:prstGeom>
          <a:noFill/>
          <a:ln cap="flat" cmpd="sng" w="26450">
            <a:solidFill>
              <a:srgbClr val="000000"/>
            </a:solidFill>
            <a:prstDash val="solid"/>
            <a:round/>
            <a:headEnd len="sm" w="sm" type="none"/>
            <a:tailEnd len="med" w="med" type="triangle"/>
          </a:ln>
        </p:spPr>
      </p:cxnSp>
      <p:sp>
        <p:nvSpPr>
          <p:cNvPr id="694" name="Google Shape;694;h3b987c62679a4f5d_0_1069"/>
          <p:cNvSpPr txBox="1"/>
          <p:nvPr/>
        </p:nvSpPr>
        <p:spPr>
          <a:xfrm>
            <a:off x="5110275" y="2094774"/>
            <a:ext cx="567600" cy="431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2321"/>
              <a:t>-1</a:t>
            </a:r>
            <a:endParaRPr b="0" sz="2321" strike="noStrike">
              <a:latin typeface="Arial"/>
              <a:ea typeface="Arial"/>
              <a:cs typeface="Arial"/>
              <a:sym typeface="Arial"/>
            </a:endParaRPr>
          </a:p>
        </p:txBody>
      </p:sp>
      <p:graphicFrame>
        <p:nvGraphicFramePr>
          <p:cNvPr id="695" name="Google Shape;695;h3b987c62679a4f5d_0_1069"/>
          <p:cNvGraphicFramePr/>
          <p:nvPr/>
        </p:nvGraphicFramePr>
        <p:xfrm>
          <a:off x="652263" y="21320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tc>
                <a:tc>
                  <a:txBody>
                    <a:bodyPr/>
                    <a:lstStyle/>
                    <a:p>
                      <a:pPr indent="0" lvl="0" marL="0" rtl="0" algn="ctr">
                        <a:spcBef>
                          <a:spcPts val="0"/>
                        </a:spcBef>
                        <a:spcAft>
                          <a:spcPts val="0"/>
                        </a:spcAft>
                        <a:buNone/>
                      </a:pPr>
                      <a:r>
                        <a:rPr b="1" lang="pt-BR" sz="2400"/>
                        <a:t>y</a:t>
                      </a:r>
                      <a:endParaRPr b="1"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bl>
          </a:graphicData>
        </a:graphic>
      </p:graphicFrame>
      <p:sp>
        <p:nvSpPr>
          <p:cNvPr id="696" name="Google Shape;696;h3b987c62679a4f5d_0_1069"/>
          <p:cNvSpPr txBox="1"/>
          <p:nvPr>
            <p:ph idx="1" type="body"/>
          </p:nvPr>
        </p:nvSpPr>
        <p:spPr>
          <a:xfrm>
            <a:off x="311700" y="846511"/>
            <a:ext cx="8520600" cy="6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Compute the value of y for each input.</a:t>
            </a:r>
            <a:endParaRPr/>
          </a:p>
        </p:txBody>
      </p:sp>
      <p:pic>
        <p:nvPicPr>
          <p:cNvPr id="697" name="Google Shape;697;h3b987c62679a4f5d_0_1069"/>
          <p:cNvPicPr preferRelativeResize="0"/>
          <p:nvPr/>
        </p:nvPicPr>
        <p:blipFill rotWithShape="1">
          <a:blip r:embed="rId3">
            <a:alphaModFix/>
          </a:blip>
          <a:srcRect b="0" l="0" r="0" t="0"/>
          <a:stretch/>
        </p:blipFill>
        <p:spPr>
          <a:xfrm>
            <a:off x="6475675" y="4253000"/>
            <a:ext cx="2356613" cy="686400"/>
          </a:xfrm>
          <a:prstGeom prst="rect">
            <a:avLst/>
          </a:prstGeom>
          <a:noFill/>
          <a:ln cap="flat" cmpd="sng" w="9525">
            <a:solidFill>
              <a:srgbClr val="000000"/>
            </a:solidFill>
            <a:prstDash val="solid"/>
            <a:round/>
            <a:headEnd len="sm" w="sm" type="none"/>
            <a:tailEnd len="sm" w="sm" type="none"/>
          </a:ln>
        </p:spPr>
      </p:pic>
      <p:sp>
        <p:nvSpPr>
          <p:cNvPr id="698" name="Google Shape;698;h3b987c62679a4f5d_0_1069"/>
          <p:cNvSpPr txBox="1"/>
          <p:nvPr/>
        </p:nvSpPr>
        <p:spPr>
          <a:xfrm>
            <a:off x="1595875" y="16058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AND</a:t>
            </a:r>
            <a:endParaRPr b="1" sz="3000">
              <a:solidFill>
                <a:srgbClr val="434343"/>
              </a:solidFill>
              <a:latin typeface="Comfortaa"/>
              <a:ea typeface="Comfortaa"/>
              <a:cs typeface="Comfortaa"/>
              <a:sym typeface="Comforta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h3b987c62679a4f5d_0_1113"/>
          <p:cNvSpPr txBox="1"/>
          <p:nvPr>
            <p:ph type="title"/>
          </p:nvPr>
        </p:nvSpPr>
        <p:spPr>
          <a:xfrm>
            <a:off x="311700" y="139061"/>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2</a:t>
            </a:r>
            <a:endParaRPr/>
          </a:p>
        </p:txBody>
      </p:sp>
      <p:sp>
        <p:nvSpPr>
          <p:cNvPr id="704" name="Google Shape;704;h3b987c62679a4f5d_0_1113"/>
          <p:cNvSpPr/>
          <p:nvPr/>
        </p:nvSpPr>
        <p:spPr>
          <a:xfrm>
            <a:off x="4054239" y="2995111"/>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57775" lIns="98600" spcFirstLastPara="1" rIns="98600" wrap="square" tIns="57775">
            <a:noAutofit/>
          </a:bodyPr>
          <a:lstStyle/>
          <a:p>
            <a:pPr indent="0" lvl="0" marL="0" marR="0" rtl="0" algn="ctr">
              <a:spcBef>
                <a:spcPts val="0"/>
              </a:spcBef>
              <a:spcAft>
                <a:spcPts val="0"/>
              </a:spcAft>
              <a:buNone/>
            </a:pPr>
            <a:r>
              <a:rPr lang="pt-BR" sz="1600"/>
              <a:t>x</a:t>
            </a:r>
            <a:r>
              <a:rPr b="0" baseline="-25000" lang="pt-BR" sz="1600" strike="noStrike">
                <a:latin typeface="Arial"/>
                <a:ea typeface="Arial"/>
                <a:cs typeface="Arial"/>
                <a:sym typeface="Arial"/>
              </a:rPr>
              <a:t>1</a:t>
            </a:r>
            <a:endParaRPr b="0" sz="1600" strike="noStrike">
              <a:latin typeface="Arial"/>
              <a:ea typeface="Arial"/>
              <a:cs typeface="Arial"/>
              <a:sym typeface="Arial"/>
            </a:endParaRPr>
          </a:p>
        </p:txBody>
      </p:sp>
      <p:sp>
        <p:nvSpPr>
          <p:cNvPr id="705" name="Google Shape;705;h3b987c62679a4f5d_0_1113"/>
          <p:cNvSpPr/>
          <p:nvPr/>
        </p:nvSpPr>
        <p:spPr>
          <a:xfrm>
            <a:off x="6205264" y="2578868"/>
            <a:ext cx="1306500" cy="13065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rPr lang="pt-BR" sz="1200"/>
              <a:t>perceptron</a:t>
            </a:r>
            <a:endParaRPr sz="1200"/>
          </a:p>
        </p:txBody>
      </p:sp>
      <p:cxnSp>
        <p:nvCxnSpPr>
          <p:cNvPr id="706" name="Google Shape;706;h3b987c62679a4f5d_0_1113"/>
          <p:cNvCxnSpPr>
            <a:stCxn id="704" idx="6"/>
            <a:endCxn id="705" idx="2"/>
          </p:cNvCxnSpPr>
          <p:nvPr/>
        </p:nvCxnSpPr>
        <p:spPr>
          <a:xfrm flipH="1" rot="10800000">
            <a:off x="4707339" y="3232261"/>
            <a:ext cx="1497900" cy="89400"/>
          </a:xfrm>
          <a:prstGeom prst="straightConnector1">
            <a:avLst/>
          </a:prstGeom>
          <a:noFill/>
          <a:ln cap="flat" cmpd="sng" w="26450">
            <a:solidFill>
              <a:srgbClr val="000000"/>
            </a:solidFill>
            <a:prstDash val="solid"/>
            <a:round/>
            <a:headEnd len="sm" w="sm" type="none"/>
            <a:tailEnd len="med" w="med" type="triangle"/>
          </a:ln>
        </p:spPr>
      </p:cxnSp>
      <p:cxnSp>
        <p:nvCxnSpPr>
          <p:cNvPr id="707" name="Google Shape;707;h3b987c62679a4f5d_0_1113"/>
          <p:cNvCxnSpPr/>
          <p:nvPr/>
        </p:nvCxnSpPr>
        <p:spPr>
          <a:xfrm>
            <a:off x="7511632" y="3232031"/>
            <a:ext cx="980100" cy="0"/>
          </a:xfrm>
          <a:prstGeom prst="straightConnector1">
            <a:avLst/>
          </a:prstGeom>
          <a:noFill/>
          <a:ln cap="flat" cmpd="sng" w="26450">
            <a:solidFill>
              <a:srgbClr val="000000"/>
            </a:solidFill>
            <a:prstDash val="solid"/>
            <a:round/>
            <a:headEnd len="sm" w="sm" type="none"/>
            <a:tailEnd len="med" w="med" type="triangle"/>
          </a:ln>
        </p:spPr>
      </p:cxnSp>
      <p:sp>
        <p:nvSpPr>
          <p:cNvPr id="708" name="Google Shape;708;h3b987c62679a4f5d_0_1113"/>
          <p:cNvSpPr/>
          <p:nvPr/>
        </p:nvSpPr>
        <p:spPr>
          <a:xfrm>
            <a:off x="4054264" y="3737918"/>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57775" lIns="98600" spcFirstLastPara="1" rIns="98600" wrap="square" tIns="57775">
            <a:noAutofit/>
          </a:bodyPr>
          <a:lstStyle/>
          <a:p>
            <a:pPr indent="0" lvl="0" marL="0" marR="0" rtl="0" algn="ctr">
              <a:spcBef>
                <a:spcPts val="0"/>
              </a:spcBef>
              <a:spcAft>
                <a:spcPts val="0"/>
              </a:spcAft>
              <a:buNone/>
            </a:pPr>
            <a:r>
              <a:rPr lang="pt-BR" sz="1600"/>
              <a:t>x</a:t>
            </a:r>
            <a:r>
              <a:rPr b="0" baseline="-25000" lang="pt-BR" sz="1600" strike="noStrike">
                <a:latin typeface="Arial"/>
                <a:ea typeface="Arial"/>
                <a:cs typeface="Arial"/>
                <a:sym typeface="Arial"/>
              </a:rPr>
              <a:t>2</a:t>
            </a:r>
            <a:endParaRPr b="0" sz="1600" strike="noStrike">
              <a:latin typeface="Arial"/>
              <a:ea typeface="Arial"/>
              <a:cs typeface="Arial"/>
              <a:sym typeface="Arial"/>
            </a:endParaRPr>
          </a:p>
        </p:txBody>
      </p:sp>
      <p:cxnSp>
        <p:nvCxnSpPr>
          <p:cNvPr id="709" name="Google Shape;709;h3b987c62679a4f5d_0_1113"/>
          <p:cNvCxnSpPr>
            <a:stCxn id="708" idx="6"/>
          </p:cNvCxnSpPr>
          <p:nvPr/>
        </p:nvCxnSpPr>
        <p:spPr>
          <a:xfrm flipH="1" rot="10800000">
            <a:off x="4707364" y="3563168"/>
            <a:ext cx="1553400" cy="501300"/>
          </a:xfrm>
          <a:prstGeom prst="straightConnector1">
            <a:avLst/>
          </a:prstGeom>
          <a:noFill/>
          <a:ln cap="flat" cmpd="sng" w="26450">
            <a:solidFill>
              <a:srgbClr val="000000"/>
            </a:solidFill>
            <a:prstDash val="solid"/>
            <a:round/>
            <a:headEnd len="sm" w="sm" type="none"/>
            <a:tailEnd len="med" w="med" type="triangle"/>
          </a:ln>
        </p:spPr>
      </p:cxnSp>
      <p:sp>
        <p:nvSpPr>
          <p:cNvPr id="710" name="Google Shape;710;h3b987c62679a4f5d_0_1113"/>
          <p:cNvSpPr txBox="1"/>
          <p:nvPr/>
        </p:nvSpPr>
        <p:spPr>
          <a:xfrm>
            <a:off x="5114756" y="2816172"/>
            <a:ext cx="379200" cy="370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2321"/>
              <a:t>?</a:t>
            </a:r>
            <a:endParaRPr b="0" sz="2321" strike="noStrike">
              <a:latin typeface="Arial"/>
              <a:ea typeface="Arial"/>
              <a:cs typeface="Arial"/>
              <a:sym typeface="Arial"/>
            </a:endParaRPr>
          </a:p>
        </p:txBody>
      </p:sp>
      <p:sp>
        <p:nvSpPr>
          <p:cNvPr id="711" name="Google Shape;711;h3b987c62679a4f5d_0_1113"/>
          <p:cNvSpPr txBox="1"/>
          <p:nvPr/>
        </p:nvSpPr>
        <p:spPr>
          <a:xfrm>
            <a:off x="5110275" y="3471251"/>
            <a:ext cx="379200" cy="370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2321"/>
              <a:t>?</a:t>
            </a:r>
            <a:endParaRPr b="0" sz="2321" strike="noStrike">
              <a:latin typeface="Arial"/>
              <a:ea typeface="Arial"/>
              <a:cs typeface="Arial"/>
              <a:sym typeface="Arial"/>
            </a:endParaRPr>
          </a:p>
        </p:txBody>
      </p:sp>
      <p:sp>
        <p:nvSpPr>
          <p:cNvPr id="712" name="Google Shape;712;h3b987c62679a4f5d_0_1113"/>
          <p:cNvSpPr txBox="1"/>
          <p:nvPr/>
        </p:nvSpPr>
        <p:spPr>
          <a:xfrm>
            <a:off x="7759945" y="2860403"/>
            <a:ext cx="2682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600"/>
              <a:t>y</a:t>
            </a:r>
            <a:endParaRPr b="0" sz="1600" strike="noStrike">
              <a:latin typeface="Arial"/>
              <a:ea typeface="Arial"/>
              <a:cs typeface="Arial"/>
              <a:sym typeface="Arial"/>
            </a:endParaRPr>
          </a:p>
        </p:txBody>
      </p:sp>
      <p:sp>
        <p:nvSpPr>
          <p:cNvPr id="713" name="Google Shape;713;h3b987c62679a4f5d_0_1113"/>
          <p:cNvSpPr/>
          <p:nvPr/>
        </p:nvSpPr>
        <p:spPr>
          <a:xfrm>
            <a:off x="4054239" y="2252291"/>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57775" lIns="98600" spcFirstLastPara="1" rIns="98600" wrap="square" tIns="57775">
            <a:noAutofit/>
          </a:bodyPr>
          <a:lstStyle/>
          <a:p>
            <a:pPr indent="0" lvl="0" marL="0" marR="0" rtl="0" algn="ctr">
              <a:spcBef>
                <a:spcPts val="0"/>
              </a:spcBef>
              <a:spcAft>
                <a:spcPts val="0"/>
              </a:spcAft>
              <a:buNone/>
            </a:pPr>
            <a:r>
              <a:t/>
            </a:r>
            <a:endParaRPr b="0" sz="1600" strike="noStrike">
              <a:latin typeface="Arial"/>
              <a:ea typeface="Arial"/>
              <a:cs typeface="Arial"/>
              <a:sym typeface="Arial"/>
            </a:endParaRPr>
          </a:p>
        </p:txBody>
      </p:sp>
      <p:sp>
        <p:nvSpPr>
          <p:cNvPr id="714" name="Google Shape;714;h3b987c62679a4f5d_0_1113"/>
          <p:cNvSpPr txBox="1"/>
          <p:nvPr/>
        </p:nvSpPr>
        <p:spPr>
          <a:xfrm>
            <a:off x="4054255" y="2363294"/>
            <a:ext cx="653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chemeClr val="dk1"/>
                </a:solidFill>
              </a:rPr>
              <a:t>x</a:t>
            </a:r>
            <a:r>
              <a:rPr baseline="-25000" lang="pt-BR" sz="1600">
                <a:solidFill>
                  <a:schemeClr val="dk1"/>
                </a:solidFill>
              </a:rPr>
              <a:t>0</a:t>
            </a:r>
            <a:r>
              <a:rPr lang="pt-BR" sz="1600">
                <a:solidFill>
                  <a:schemeClr val="dk1"/>
                </a:solidFill>
              </a:rPr>
              <a:t>=1</a:t>
            </a:r>
            <a:endParaRPr sz="1600">
              <a:solidFill>
                <a:schemeClr val="dk1"/>
              </a:solidFill>
            </a:endParaRPr>
          </a:p>
        </p:txBody>
      </p:sp>
      <p:cxnSp>
        <p:nvCxnSpPr>
          <p:cNvPr id="715" name="Google Shape;715;h3b987c62679a4f5d_0_1113"/>
          <p:cNvCxnSpPr>
            <a:stCxn id="714" idx="3"/>
          </p:cNvCxnSpPr>
          <p:nvPr/>
        </p:nvCxnSpPr>
        <p:spPr>
          <a:xfrm>
            <a:off x="4707355" y="2578844"/>
            <a:ext cx="1510800" cy="419100"/>
          </a:xfrm>
          <a:prstGeom prst="straightConnector1">
            <a:avLst/>
          </a:prstGeom>
          <a:noFill/>
          <a:ln cap="flat" cmpd="sng" w="26450">
            <a:solidFill>
              <a:srgbClr val="000000"/>
            </a:solidFill>
            <a:prstDash val="solid"/>
            <a:round/>
            <a:headEnd len="sm" w="sm" type="none"/>
            <a:tailEnd len="med" w="med" type="triangle"/>
          </a:ln>
        </p:spPr>
      </p:cxnSp>
      <p:sp>
        <p:nvSpPr>
          <p:cNvPr id="716" name="Google Shape;716;h3b987c62679a4f5d_0_1113"/>
          <p:cNvSpPr txBox="1"/>
          <p:nvPr/>
        </p:nvSpPr>
        <p:spPr>
          <a:xfrm>
            <a:off x="5110275" y="2094774"/>
            <a:ext cx="567600" cy="431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2321"/>
              <a:t>?</a:t>
            </a:r>
            <a:endParaRPr b="0" sz="2321" strike="noStrike">
              <a:latin typeface="Arial"/>
              <a:ea typeface="Arial"/>
              <a:cs typeface="Arial"/>
              <a:sym typeface="Arial"/>
            </a:endParaRPr>
          </a:p>
        </p:txBody>
      </p:sp>
      <p:graphicFrame>
        <p:nvGraphicFramePr>
          <p:cNvPr id="717" name="Google Shape;717;h3b987c62679a4f5d_0_1113"/>
          <p:cNvGraphicFramePr/>
          <p:nvPr/>
        </p:nvGraphicFramePr>
        <p:xfrm>
          <a:off x="652263" y="21320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tc>
                <a:tc>
                  <a:txBody>
                    <a:bodyPr/>
                    <a:lstStyle/>
                    <a:p>
                      <a:pPr indent="0" lvl="0" marL="0" rtl="0" algn="ctr">
                        <a:spcBef>
                          <a:spcPts val="0"/>
                        </a:spcBef>
                        <a:spcAft>
                          <a:spcPts val="0"/>
                        </a:spcAft>
                        <a:buNone/>
                      </a:pPr>
                      <a:r>
                        <a:rPr b="1" lang="pt-BR" sz="2400"/>
                        <a:t>y</a:t>
                      </a:r>
                      <a:endParaRPr b="1"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bl>
          </a:graphicData>
        </a:graphic>
      </p:graphicFrame>
      <p:sp>
        <p:nvSpPr>
          <p:cNvPr id="718" name="Google Shape;718;h3b987c62679a4f5d_0_1113"/>
          <p:cNvSpPr txBox="1"/>
          <p:nvPr>
            <p:ph idx="1" type="body"/>
          </p:nvPr>
        </p:nvSpPr>
        <p:spPr>
          <a:xfrm>
            <a:off x="311700" y="846511"/>
            <a:ext cx="8520600" cy="6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800"/>
              <a:t>What are the weights for computing the OR?</a:t>
            </a:r>
            <a:endParaRPr sz="2800"/>
          </a:p>
        </p:txBody>
      </p:sp>
      <p:pic>
        <p:nvPicPr>
          <p:cNvPr id="719" name="Google Shape;719;h3b987c62679a4f5d_0_1113"/>
          <p:cNvPicPr preferRelativeResize="0"/>
          <p:nvPr/>
        </p:nvPicPr>
        <p:blipFill rotWithShape="1">
          <a:blip r:embed="rId3">
            <a:alphaModFix/>
          </a:blip>
          <a:srcRect b="0" l="0" r="0" t="0"/>
          <a:stretch/>
        </p:blipFill>
        <p:spPr>
          <a:xfrm>
            <a:off x="6475675" y="4253000"/>
            <a:ext cx="2356613" cy="686400"/>
          </a:xfrm>
          <a:prstGeom prst="rect">
            <a:avLst/>
          </a:prstGeom>
          <a:noFill/>
          <a:ln cap="flat" cmpd="sng" w="9525">
            <a:solidFill>
              <a:srgbClr val="000000"/>
            </a:solidFill>
            <a:prstDash val="solid"/>
            <a:round/>
            <a:headEnd len="sm" w="sm" type="none"/>
            <a:tailEnd len="sm" w="sm" type="none"/>
          </a:ln>
        </p:spPr>
      </p:pic>
      <p:sp>
        <p:nvSpPr>
          <p:cNvPr id="720" name="Google Shape;720;h3b987c62679a4f5d_0_1113"/>
          <p:cNvSpPr txBox="1"/>
          <p:nvPr/>
        </p:nvSpPr>
        <p:spPr>
          <a:xfrm>
            <a:off x="1595875" y="16058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OR</a:t>
            </a:r>
            <a:endParaRPr b="1" sz="3000">
              <a:solidFill>
                <a:srgbClr val="434343"/>
              </a:solidFill>
              <a:latin typeface="Comfortaa"/>
              <a:ea typeface="Comfortaa"/>
              <a:cs typeface="Comfortaa"/>
              <a:sym typeface="Comforta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h3b987c62679a4f5d_0_1155"/>
          <p:cNvSpPr txBox="1"/>
          <p:nvPr>
            <p:ph type="title"/>
          </p:nvPr>
        </p:nvSpPr>
        <p:spPr>
          <a:xfrm>
            <a:off x="311700" y="139061"/>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2</a:t>
            </a:r>
            <a:endParaRPr/>
          </a:p>
        </p:txBody>
      </p:sp>
      <p:sp>
        <p:nvSpPr>
          <p:cNvPr id="726" name="Google Shape;726;h3b987c62679a4f5d_0_1155"/>
          <p:cNvSpPr/>
          <p:nvPr/>
        </p:nvSpPr>
        <p:spPr>
          <a:xfrm>
            <a:off x="4054239" y="2995111"/>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57775" lIns="98600" spcFirstLastPara="1" rIns="98600" wrap="square" tIns="57775">
            <a:noAutofit/>
          </a:bodyPr>
          <a:lstStyle/>
          <a:p>
            <a:pPr indent="0" lvl="0" marL="0" marR="0" rtl="0" algn="ctr">
              <a:spcBef>
                <a:spcPts val="0"/>
              </a:spcBef>
              <a:spcAft>
                <a:spcPts val="0"/>
              </a:spcAft>
              <a:buNone/>
            </a:pPr>
            <a:r>
              <a:rPr lang="pt-BR" sz="1600"/>
              <a:t>x</a:t>
            </a:r>
            <a:r>
              <a:rPr b="0" baseline="-25000" lang="pt-BR" sz="1600" strike="noStrike">
                <a:latin typeface="Arial"/>
                <a:ea typeface="Arial"/>
                <a:cs typeface="Arial"/>
                <a:sym typeface="Arial"/>
              </a:rPr>
              <a:t>1</a:t>
            </a:r>
            <a:endParaRPr b="0" sz="1600" strike="noStrike">
              <a:latin typeface="Arial"/>
              <a:ea typeface="Arial"/>
              <a:cs typeface="Arial"/>
              <a:sym typeface="Arial"/>
            </a:endParaRPr>
          </a:p>
        </p:txBody>
      </p:sp>
      <p:sp>
        <p:nvSpPr>
          <p:cNvPr id="727" name="Google Shape;727;h3b987c62679a4f5d_0_1155"/>
          <p:cNvSpPr/>
          <p:nvPr/>
        </p:nvSpPr>
        <p:spPr>
          <a:xfrm>
            <a:off x="6205264" y="2578868"/>
            <a:ext cx="1306500" cy="13065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82925" lIns="82925" spcFirstLastPara="1" rIns="82925" wrap="square" tIns="82925">
            <a:noAutofit/>
          </a:bodyPr>
          <a:lstStyle/>
          <a:p>
            <a:pPr indent="0" lvl="0" marL="0" rtl="0" algn="l">
              <a:spcBef>
                <a:spcPts val="0"/>
              </a:spcBef>
              <a:spcAft>
                <a:spcPts val="0"/>
              </a:spcAft>
              <a:buNone/>
            </a:pPr>
            <a:r>
              <a:rPr lang="pt-BR" sz="1200"/>
              <a:t>perceptron</a:t>
            </a:r>
            <a:endParaRPr sz="1200"/>
          </a:p>
        </p:txBody>
      </p:sp>
      <p:cxnSp>
        <p:nvCxnSpPr>
          <p:cNvPr id="728" name="Google Shape;728;h3b987c62679a4f5d_0_1155"/>
          <p:cNvCxnSpPr>
            <a:stCxn id="726" idx="6"/>
            <a:endCxn id="727" idx="2"/>
          </p:cNvCxnSpPr>
          <p:nvPr/>
        </p:nvCxnSpPr>
        <p:spPr>
          <a:xfrm flipH="1" rot="10800000">
            <a:off x="4707339" y="3232261"/>
            <a:ext cx="1497900" cy="89400"/>
          </a:xfrm>
          <a:prstGeom prst="straightConnector1">
            <a:avLst/>
          </a:prstGeom>
          <a:noFill/>
          <a:ln cap="flat" cmpd="sng" w="26450">
            <a:solidFill>
              <a:srgbClr val="000000"/>
            </a:solidFill>
            <a:prstDash val="solid"/>
            <a:round/>
            <a:headEnd len="sm" w="sm" type="none"/>
            <a:tailEnd len="med" w="med" type="triangle"/>
          </a:ln>
        </p:spPr>
      </p:cxnSp>
      <p:cxnSp>
        <p:nvCxnSpPr>
          <p:cNvPr id="729" name="Google Shape;729;h3b987c62679a4f5d_0_1155"/>
          <p:cNvCxnSpPr/>
          <p:nvPr/>
        </p:nvCxnSpPr>
        <p:spPr>
          <a:xfrm>
            <a:off x="7511632" y="3232031"/>
            <a:ext cx="980100" cy="0"/>
          </a:xfrm>
          <a:prstGeom prst="straightConnector1">
            <a:avLst/>
          </a:prstGeom>
          <a:noFill/>
          <a:ln cap="flat" cmpd="sng" w="26450">
            <a:solidFill>
              <a:srgbClr val="000000"/>
            </a:solidFill>
            <a:prstDash val="solid"/>
            <a:round/>
            <a:headEnd len="sm" w="sm" type="none"/>
            <a:tailEnd len="med" w="med" type="triangle"/>
          </a:ln>
        </p:spPr>
      </p:cxnSp>
      <p:sp>
        <p:nvSpPr>
          <p:cNvPr id="730" name="Google Shape;730;h3b987c62679a4f5d_0_1155"/>
          <p:cNvSpPr/>
          <p:nvPr/>
        </p:nvSpPr>
        <p:spPr>
          <a:xfrm>
            <a:off x="4054264" y="3737918"/>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57775" lIns="98600" spcFirstLastPara="1" rIns="98600" wrap="square" tIns="57775">
            <a:noAutofit/>
          </a:bodyPr>
          <a:lstStyle/>
          <a:p>
            <a:pPr indent="0" lvl="0" marL="0" marR="0" rtl="0" algn="ctr">
              <a:spcBef>
                <a:spcPts val="0"/>
              </a:spcBef>
              <a:spcAft>
                <a:spcPts val="0"/>
              </a:spcAft>
              <a:buNone/>
            </a:pPr>
            <a:r>
              <a:rPr lang="pt-BR" sz="1600"/>
              <a:t>x</a:t>
            </a:r>
            <a:r>
              <a:rPr b="0" baseline="-25000" lang="pt-BR" sz="1600" strike="noStrike">
                <a:latin typeface="Arial"/>
                <a:ea typeface="Arial"/>
                <a:cs typeface="Arial"/>
                <a:sym typeface="Arial"/>
              </a:rPr>
              <a:t>2</a:t>
            </a:r>
            <a:endParaRPr b="0" sz="1600" strike="noStrike">
              <a:latin typeface="Arial"/>
              <a:ea typeface="Arial"/>
              <a:cs typeface="Arial"/>
              <a:sym typeface="Arial"/>
            </a:endParaRPr>
          </a:p>
        </p:txBody>
      </p:sp>
      <p:cxnSp>
        <p:nvCxnSpPr>
          <p:cNvPr id="731" name="Google Shape;731;h3b987c62679a4f5d_0_1155"/>
          <p:cNvCxnSpPr>
            <a:stCxn id="730" idx="6"/>
          </p:cNvCxnSpPr>
          <p:nvPr/>
        </p:nvCxnSpPr>
        <p:spPr>
          <a:xfrm flipH="1" rot="10800000">
            <a:off x="4707364" y="3563168"/>
            <a:ext cx="1553400" cy="501300"/>
          </a:xfrm>
          <a:prstGeom prst="straightConnector1">
            <a:avLst/>
          </a:prstGeom>
          <a:noFill/>
          <a:ln cap="flat" cmpd="sng" w="26450">
            <a:solidFill>
              <a:srgbClr val="000000"/>
            </a:solidFill>
            <a:prstDash val="solid"/>
            <a:round/>
            <a:headEnd len="sm" w="sm" type="none"/>
            <a:tailEnd len="med" w="med" type="triangle"/>
          </a:ln>
        </p:spPr>
      </p:cxnSp>
      <p:sp>
        <p:nvSpPr>
          <p:cNvPr id="732" name="Google Shape;732;h3b987c62679a4f5d_0_1155"/>
          <p:cNvSpPr txBox="1"/>
          <p:nvPr/>
        </p:nvSpPr>
        <p:spPr>
          <a:xfrm>
            <a:off x="5114756" y="2816172"/>
            <a:ext cx="379200" cy="370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2321"/>
              <a:t>1</a:t>
            </a:r>
            <a:endParaRPr b="0" sz="2321" strike="noStrike">
              <a:latin typeface="Arial"/>
              <a:ea typeface="Arial"/>
              <a:cs typeface="Arial"/>
              <a:sym typeface="Arial"/>
            </a:endParaRPr>
          </a:p>
        </p:txBody>
      </p:sp>
      <p:sp>
        <p:nvSpPr>
          <p:cNvPr id="733" name="Google Shape;733;h3b987c62679a4f5d_0_1155"/>
          <p:cNvSpPr txBox="1"/>
          <p:nvPr/>
        </p:nvSpPr>
        <p:spPr>
          <a:xfrm>
            <a:off x="5110275" y="3471251"/>
            <a:ext cx="379200" cy="370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2321"/>
              <a:t>1</a:t>
            </a:r>
            <a:endParaRPr b="0" sz="2321" strike="noStrike">
              <a:latin typeface="Arial"/>
              <a:ea typeface="Arial"/>
              <a:cs typeface="Arial"/>
              <a:sym typeface="Arial"/>
            </a:endParaRPr>
          </a:p>
        </p:txBody>
      </p:sp>
      <p:sp>
        <p:nvSpPr>
          <p:cNvPr id="734" name="Google Shape;734;h3b987c62679a4f5d_0_1155"/>
          <p:cNvSpPr txBox="1"/>
          <p:nvPr/>
        </p:nvSpPr>
        <p:spPr>
          <a:xfrm>
            <a:off x="7759945" y="2860403"/>
            <a:ext cx="268200" cy="314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600"/>
              <a:t>y</a:t>
            </a:r>
            <a:endParaRPr b="0" sz="1600" strike="noStrike">
              <a:latin typeface="Arial"/>
              <a:ea typeface="Arial"/>
              <a:cs typeface="Arial"/>
              <a:sym typeface="Arial"/>
            </a:endParaRPr>
          </a:p>
        </p:txBody>
      </p:sp>
      <p:sp>
        <p:nvSpPr>
          <p:cNvPr id="735" name="Google Shape;735;h3b987c62679a4f5d_0_1155"/>
          <p:cNvSpPr/>
          <p:nvPr/>
        </p:nvSpPr>
        <p:spPr>
          <a:xfrm>
            <a:off x="4054239" y="2252291"/>
            <a:ext cx="653100" cy="653100"/>
          </a:xfrm>
          <a:prstGeom prst="ellipse">
            <a:avLst/>
          </a:prstGeom>
          <a:solidFill>
            <a:srgbClr val="FFFFFF"/>
          </a:solidFill>
          <a:ln cap="flat" cmpd="sng" w="34600">
            <a:solidFill>
              <a:srgbClr val="000000"/>
            </a:solidFill>
            <a:prstDash val="solid"/>
            <a:round/>
            <a:headEnd len="sm" w="sm" type="none"/>
            <a:tailEnd len="sm" w="sm" type="none"/>
          </a:ln>
        </p:spPr>
        <p:txBody>
          <a:bodyPr anchorCtr="0" anchor="ctr" bIns="57775" lIns="98600" spcFirstLastPara="1" rIns="98600" wrap="square" tIns="57775">
            <a:noAutofit/>
          </a:bodyPr>
          <a:lstStyle/>
          <a:p>
            <a:pPr indent="0" lvl="0" marL="0" marR="0" rtl="0" algn="ctr">
              <a:spcBef>
                <a:spcPts val="0"/>
              </a:spcBef>
              <a:spcAft>
                <a:spcPts val="0"/>
              </a:spcAft>
              <a:buNone/>
            </a:pPr>
            <a:r>
              <a:t/>
            </a:r>
            <a:endParaRPr b="0" sz="1600" strike="noStrike">
              <a:latin typeface="Arial"/>
              <a:ea typeface="Arial"/>
              <a:cs typeface="Arial"/>
              <a:sym typeface="Arial"/>
            </a:endParaRPr>
          </a:p>
        </p:txBody>
      </p:sp>
      <p:sp>
        <p:nvSpPr>
          <p:cNvPr id="736" name="Google Shape;736;h3b987c62679a4f5d_0_1155"/>
          <p:cNvSpPr txBox="1"/>
          <p:nvPr/>
        </p:nvSpPr>
        <p:spPr>
          <a:xfrm>
            <a:off x="4054255" y="2363294"/>
            <a:ext cx="653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chemeClr val="dk1"/>
                </a:solidFill>
              </a:rPr>
              <a:t>x</a:t>
            </a:r>
            <a:r>
              <a:rPr baseline="-25000" lang="pt-BR" sz="1600">
                <a:solidFill>
                  <a:schemeClr val="dk1"/>
                </a:solidFill>
              </a:rPr>
              <a:t>0</a:t>
            </a:r>
            <a:r>
              <a:rPr lang="pt-BR" sz="1600">
                <a:solidFill>
                  <a:schemeClr val="dk1"/>
                </a:solidFill>
              </a:rPr>
              <a:t>=1</a:t>
            </a:r>
            <a:endParaRPr sz="1600">
              <a:solidFill>
                <a:schemeClr val="dk1"/>
              </a:solidFill>
            </a:endParaRPr>
          </a:p>
        </p:txBody>
      </p:sp>
      <p:cxnSp>
        <p:nvCxnSpPr>
          <p:cNvPr id="737" name="Google Shape;737;h3b987c62679a4f5d_0_1155"/>
          <p:cNvCxnSpPr>
            <a:stCxn id="736" idx="3"/>
          </p:cNvCxnSpPr>
          <p:nvPr/>
        </p:nvCxnSpPr>
        <p:spPr>
          <a:xfrm>
            <a:off x="4707355" y="2578844"/>
            <a:ext cx="1510800" cy="419100"/>
          </a:xfrm>
          <a:prstGeom prst="straightConnector1">
            <a:avLst/>
          </a:prstGeom>
          <a:noFill/>
          <a:ln cap="flat" cmpd="sng" w="26450">
            <a:solidFill>
              <a:srgbClr val="000000"/>
            </a:solidFill>
            <a:prstDash val="solid"/>
            <a:round/>
            <a:headEnd len="sm" w="sm" type="none"/>
            <a:tailEnd len="med" w="med" type="triangle"/>
          </a:ln>
        </p:spPr>
      </p:cxnSp>
      <p:sp>
        <p:nvSpPr>
          <p:cNvPr id="738" name="Google Shape;738;h3b987c62679a4f5d_0_1155"/>
          <p:cNvSpPr txBox="1"/>
          <p:nvPr/>
        </p:nvSpPr>
        <p:spPr>
          <a:xfrm>
            <a:off x="5110275" y="2094775"/>
            <a:ext cx="324000" cy="4311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2321"/>
              <a:t>0</a:t>
            </a:r>
            <a:endParaRPr b="0" sz="2321" strike="noStrike">
              <a:latin typeface="Arial"/>
              <a:ea typeface="Arial"/>
              <a:cs typeface="Arial"/>
              <a:sym typeface="Arial"/>
            </a:endParaRPr>
          </a:p>
        </p:txBody>
      </p:sp>
      <p:graphicFrame>
        <p:nvGraphicFramePr>
          <p:cNvPr id="739" name="Google Shape;739;h3b987c62679a4f5d_0_1155"/>
          <p:cNvGraphicFramePr/>
          <p:nvPr/>
        </p:nvGraphicFramePr>
        <p:xfrm>
          <a:off x="652263" y="21320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tc>
                <a:tc>
                  <a:txBody>
                    <a:bodyPr/>
                    <a:lstStyle/>
                    <a:p>
                      <a:pPr indent="0" lvl="0" marL="0" rtl="0" algn="ctr">
                        <a:spcBef>
                          <a:spcPts val="0"/>
                        </a:spcBef>
                        <a:spcAft>
                          <a:spcPts val="0"/>
                        </a:spcAft>
                        <a:buNone/>
                      </a:pPr>
                      <a:r>
                        <a:rPr b="1" lang="pt-BR" sz="2400"/>
                        <a:t>y</a:t>
                      </a:r>
                      <a:endParaRPr b="1"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bl>
          </a:graphicData>
        </a:graphic>
      </p:graphicFrame>
      <p:sp>
        <p:nvSpPr>
          <p:cNvPr id="740" name="Google Shape;740;h3b987c62679a4f5d_0_1155"/>
          <p:cNvSpPr txBox="1"/>
          <p:nvPr>
            <p:ph idx="1" type="body"/>
          </p:nvPr>
        </p:nvSpPr>
        <p:spPr>
          <a:xfrm>
            <a:off x="311700" y="846511"/>
            <a:ext cx="8520600" cy="6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800"/>
              <a:t>What are the weights for computing the OR?</a:t>
            </a:r>
            <a:endParaRPr sz="2800"/>
          </a:p>
        </p:txBody>
      </p:sp>
      <p:pic>
        <p:nvPicPr>
          <p:cNvPr id="741" name="Google Shape;741;h3b987c62679a4f5d_0_1155"/>
          <p:cNvPicPr preferRelativeResize="0"/>
          <p:nvPr/>
        </p:nvPicPr>
        <p:blipFill rotWithShape="1">
          <a:blip r:embed="rId3">
            <a:alphaModFix/>
          </a:blip>
          <a:srcRect b="0" l="0" r="0" t="0"/>
          <a:stretch/>
        </p:blipFill>
        <p:spPr>
          <a:xfrm>
            <a:off x="6475675" y="4253000"/>
            <a:ext cx="2356613" cy="686400"/>
          </a:xfrm>
          <a:prstGeom prst="rect">
            <a:avLst/>
          </a:prstGeom>
          <a:noFill/>
          <a:ln cap="flat" cmpd="sng" w="9525">
            <a:solidFill>
              <a:srgbClr val="000000"/>
            </a:solidFill>
            <a:prstDash val="solid"/>
            <a:round/>
            <a:headEnd len="sm" w="sm" type="none"/>
            <a:tailEnd len="sm" w="sm" type="none"/>
          </a:ln>
        </p:spPr>
      </p:pic>
      <p:sp>
        <p:nvSpPr>
          <p:cNvPr id="742" name="Google Shape;742;h3b987c62679a4f5d_0_1155"/>
          <p:cNvSpPr txBox="1"/>
          <p:nvPr/>
        </p:nvSpPr>
        <p:spPr>
          <a:xfrm>
            <a:off x="1595875" y="16058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OR</a:t>
            </a:r>
            <a:endParaRPr b="1" sz="3000">
              <a:solidFill>
                <a:srgbClr val="434343"/>
              </a:solidFill>
              <a:latin typeface="Comfortaa"/>
              <a:ea typeface="Comfortaa"/>
              <a:cs typeface="Comfortaa"/>
              <a:sym typeface="Comforta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h1863e7f528e27f29_0_9"/>
          <p:cNvSpPr txBox="1"/>
          <p:nvPr>
            <p:ph type="title"/>
          </p:nvPr>
        </p:nvSpPr>
        <p:spPr>
          <a:xfrm>
            <a:off x="311700" y="139061"/>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3</a:t>
            </a:r>
            <a:endParaRPr/>
          </a:p>
        </p:txBody>
      </p:sp>
      <p:graphicFrame>
        <p:nvGraphicFramePr>
          <p:cNvPr id="748" name="Google Shape;748;h1863e7f528e27f29_0_9"/>
          <p:cNvGraphicFramePr/>
          <p:nvPr/>
        </p:nvGraphicFramePr>
        <p:xfrm>
          <a:off x="182488" y="20591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tc>
                <a:tc>
                  <a:txBody>
                    <a:bodyPr/>
                    <a:lstStyle/>
                    <a:p>
                      <a:pPr indent="0" lvl="0" marL="0" rtl="0" algn="ctr">
                        <a:spcBef>
                          <a:spcPts val="0"/>
                        </a:spcBef>
                        <a:spcAft>
                          <a:spcPts val="0"/>
                        </a:spcAft>
                        <a:buNone/>
                      </a:pPr>
                      <a:r>
                        <a:rPr b="1" lang="pt-BR" sz="2400"/>
                        <a:t>y</a:t>
                      </a:r>
                      <a:endParaRPr b="1"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bl>
          </a:graphicData>
        </a:graphic>
      </p:graphicFrame>
      <p:sp>
        <p:nvSpPr>
          <p:cNvPr id="749" name="Google Shape;749;h1863e7f528e27f29_0_9"/>
          <p:cNvSpPr txBox="1"/>
          <p:nvPr>
            <p:ph idx="1" type="body"/>
          </p:nvPr>
        </p:nvSpPr>
        <p:spPr>
          <a:xfrm>
            <a:off x="311700" y="846511"/>
            <a:ext cx="8520600" cy="6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800"/>
              <a:t>Set up a network to compute the XOR.</a:t>
            </a:r>
            <a:endParaRPr sz="2800"/>
          </a:p>
        </p:txBody>
      </p:sp>
      <p:sp>
        <p:nvSpPr>
          <p:cNvPr id="750" name="Google Shape;750;h1863e7f528e27f29_0_9"/>
          <p:cNvSpPr txBox="1"/>
          <p:nvPr/>
        </p:nvSpPr>
        <p:spPr>
          <a:xfrm>
            <a:off x="1126100" y="15329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X</a:t>
            </a:r>
            <a:r>
              <a:rPr b="1" lang="pt-BR" sz="3000">
                <a:solidFill>
                  <a:srgbClr val="434343"/>
                </a:solidFill>
                <a:latin typeface="Comfortaa"/>
                <a:ea typeface="Comfortaa"/>
                <a:cs typeface="Comfortaa"/>
                <a:sym typeface="Comfortaa"/>
              </a:rPr>
              <a:t>OR</a:t>
            </a:r>
            <a:endParaRPr b="1" sz="3000">
              <a:solidFill>
                <a:srgbClr val="434343"/>
              </a:solidFill>
              <a:latin typeface="Comfortaa"/>
              <a:ea typeface="Comfortaa"/>
              <a:cs typeface="Comfortaa"/>
              <a:sym typeface="Comforta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h1863e7f528e27f29_0_172"/>
          <p:cNvSpPr txBox="1"/>
          <p:nvPr>
            <p:ph type="title"/>
          </p:nvPr>
        </p:nvSpPr>
        <p:spPr>
          <a:xfrm>
            <a:off x="311700" y="2150850"/>
            <a:ext cx="8520600" cy="8418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Not possible to capture XOR with a single perceptron</a:t>
            </a:r>
            <a:endParaRPr/>
          </a:p>
        </p:txBody>
      </p:sp>
      <p:sp>
        <p:nvSpPr>
          <p:cNvPr id="756" name="Google Shape;756;h1863e7f528e27f29_0_172"/>
          <p:cNvSpPr txBox="1"/>
          <p:nvPr/>
        </p:nvSpPr>
        <p:spPr>
          <a:xfrm>
            <a:off x="5035775" y="4484250"/>
            <a:ext cx="3676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adapted from </a:t>
            </a:r>
            <a:r>
              <a:rPr lang="pt-BR" sz="1800">
                <a:solidFill>
                  <a:srgbClr val="434343"/>
                </a:solidFill>
                <a:latin typeface="Comfortaa"/>
                <a:ea typeface="Comfortaa"/>
                <a:cs typeface="Comfortaa"/>
                <a:sym typeface="Comfortaa"/>
              </a:rPr>
              <a:t>(Jurafsky, 2026)</a:t>
            </a:r>
            <a:endParaRPr sz="1800">
              <a:solidFill>
                <a:srgbClr val="434343"/>
              </a:solidFill>
              <a:latin typeface="Comfortaa"/>
              <a:ea typeface="Comfortaa"/>
              <a:cs typeface="Comfortaa"/>
              <a:sym typeface="Comforta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h1863e7f528e27f29_0_177"/>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5882"/>
              <a:buFont typeface="Calibri"/>
              <a:buNone/>
            </a:pPr>
            <a:r>
              <a:rPr lang="pt-BR"/>
              <a:t>Why? Perceptrons are linear classifiers</a:t>
            </a:r>
            <a:endParaRPr/>
          </a:p>
        </p:txBody>
      </p:sp>
      <p:sp>
        <p:nvSpPr>
          <p:cNvPr id="763" name="Google Shape;763;h1863e7f528e27f29_0_177"/>
          <p:cNvSpPr txBox="1"/>
          <p:nvPr>
            <p:ph idx="1" type="body"/>
          </p:nvPr>
        </p:nvSpPr>
        <p:spPr>
          <a:xfrm>
            <a:off x="311700" y="1152475"/>
            <a:ext cx="8520600" cy="3416400"/>
          </a:xfrm>
          <a:prstGeom prst="rect">
            <a:avLst/>
          </a:prstGeom>
          <a:noFill/>
          <a:ln>
            <a:noFill/>
          </a:ln>
        </p:spPr>
        <p:txBody>
          <a:bodyPr anchorCtr="0" anchor="t" bIns="45700" lIns="0" spcFirstLastPara="1" rIns="0" wrap="square" tIns="45700">
            <a:normAutofit fontScale="77500" lnSpcReduction="20000"/>
          </a:bodyPr>
          <a:lstStyle/>
          <a:p>
            <a:pPr indent="-7938" lvl="0" marL="7938" rtl="0" algn="l">
              <a:lnSpc>
                <a:spcPct val="90000"/>
              </a:lnSpc>
              <a:spcBef>
                <a:spcPts val="0"/>
              </a:spcBef>
              <a:spcAft>
                <a:spcPts val="0"/>
              </a:spcAft>
              <a:buSzPct val="100000"/>
              <a:buNone/>
            </a:pPr>
            <a:r>
              <a:rPr lang="pt-BR" sz="3150"/>
              <a:t>Perceptron equation given</a:t>
            </a:r>
            <a:r>
              <a:rPr i="1" lang="pt-BR" sz="3150"/>
              <a:t> x</a:t>
            </a:r>
            <a:r>
              <a:rPr baseline="-25000" lang="pt-BR" sz="3150"/>
              <a:t>1</a:t>
            </a:r>
            <a:r>
              <a:rPr lang="pt-BR" sz="3150"/>
              <a:t> and </a:t>
            </a:r>
            <a:r>
              <a:rPr i="1" lang="pt-BR" sz="3150"/>
              <a:t>x</a:t>
            </a:r>
            <a:r>
              <a:rPr baseline="-25000" lang="pt-BR" sz="3150"/>
              <a:t>2</a:t>
            </a:r>
            <a:r>
              <a:rPr lang="pt-BR" sz="3150"/>
              <a:t>, is the equation of a line</a:t>
            </a:r>
            <a:endParaRPr/>
          </a:p>
          <a:p>
            <a:pPr indent="-7938" lvl="0" marL="7938" rtl="0" algn="l">
              <a:lnSpc>
                <a:spcPct val="90000"/>
              </a:lnSpc>
              <a:spcBef>
                <a:spcPts val="1050"/>
              </a:spcBef>
              <a:spcAft>
                <a:spcPts val="0"/>
              </a:spcAft>
              <a:buSzPct val="100000"/>
              <a:buNone/>
            </a:pPr>
            <a:r>
              <a:t/>
            </a:r>
            <a:endParaRPr i="1" sz="100">
              <a:latin typeface="Times New Roman"/>
              <a:ea typeface="Times New Roman"/>
              <a:cs typeface="Times New Roman"/>
              <a:sym typeface="Times New Roman"/>
            </a:endParaRPr>
          </a:p>
          <a:p>
            <a:pPr indent="-7938" lvl="0" marL="7938" rtl="0" algn="l">
              <a:lnSpc>
                <a:spcPct val="90000"/>
              </a:lnSpc>
              <a:spcBef>
                <a:spcPts val="1050"/>
              </a:spcBef>
              <a:spcAft>
                <a:spcPts val="0"/>
              </a:spcAft>
              <a:buSzPct val="93333"/>
              <a:buNone/>
            </a:pPr>
            <a:r>
              <a:rPr i="1" lang="pt-BR">
                <a:latin typeface="Times New Roman"/>
                <a:ea typeface="Times New Roman"/>
                <a:cs typeface="Times New Roman"/>
                <a:sym typeface="Times New Roman"/>
              </a:rPr>
              <a:t>w</a:t>
            </a:r>
            <a:r>
              <a:rPr baseline="-25000" lang="pt-BR">
                <a:latin typeface="Times New Roman"/>
                <a:ea typeface="Times New Roman"/>
                <a:cs typeface="Times New Roman"/>
                <a:sym typeface="Times New Roman"/>
              </a:rPr>
              <a:t>1</a:t>
            </a:r>
            <a:r>
              <a:rPr i="1" lang="pt-BR">
                <a:latin typeface="Times New Roman"/>
                <a:ea typeface="Times New Roman"/>
                <a:cs typeface="Times New Roman"/>
                <a:sym typeface="Times New Roman"/>
              </a:rPr>
              <a:t>x</a:t>
            </a:r>
            <a:r>
              <a:rPr baseline="-25000" lang="pt-BR">
                <a:latin typeface="Times New Roman"/>
                <a:ea typeface="Times New Roman"/>
                <a:cs typeface="Times New Roman"/>
                <a:sym typeface="Times New Roman"/>
              </a:rPr>
              <a:t>1</a:t>
            </a:r>
            <a:r>
              <a:rPr lang="pt-BR">
                <a:latin typeface="Times New Roman"/>
                <a:ea typeface="Times New Roman"/>
                <a:cs typeface="Times New Roman"/>
                <a:sym typeface="Times New Roman"/>
              </a:rPr>
              <a:t> + </a:t>
            </a:r>
            <a:r>
              <a:rPr i="1" lang="pt-BR">
                <a:latin typeface="Times New Roman"/>
                <a:ea typeface="Times New Roman"/>
                <a:cs typeface="Times New Roman"/>
                <a:sym typeface="Times New Roman"/>
              </a:rPr>
              <a:t>w</a:t>
            </a:r>
            <a:r>
              <a:rPr baseline="-25000" lang="pt-BR">
                <a:latin typeface="Times New Roman"/>
                <a:ea typeface="Times New Roman"/>
                <a:cs typeface="Times New Roman"/>
                <a:sym typeface="Times New Roman"/>
              </a:rPr>
              <a:t>2</a:t>
            </a:r>
            <a:r>
              <a:rPr i="1" lang="pt-BR">
                <a:latin typeface="Times New Roman"/>
                <a:ea typeface="Times New Roman"/>
                <a:cs typeface="Times New Roman"/>
                <a:sym typeface="Times New Roman"/>
              </a:rPr>
              <a:t>x</a:t>
            </a:r>
            <a:r>
              <a:rPr baseline="-25000" lang="pt-BR">
                <a:latin typeface="Times New Roman"/>
                <a:ea typeface="Times New Roman"/>
                <a:cs typeface="Times New Roman"/>
                <a:sym typeface="Times New Roman"/>
              </a:rPr>
              <a:t>2</a:t>
            </a:r>
            <a:r>
              <a:rPr lang="pt-BR">
                <a:latin typeface="Times New Roman"/>
                <a:ea typeface="Times New Roman"/>
                <a:cs typeface="Times New Roman"/>
                <a:sym typeface="Times New Roman"/>
              </a:rPr>
              <a:t> + </a:t>
            </a:r>
            <a:r>
              <a:rPr i="1" lang="pt-BR">
                <a:latin typeface="Times New Roman"/>
                <a:ea typeface="Times New Roman"/>
                <a:cs typeface="Times New Roman"/>
                <a:sym typeface="Times New Roman"/>
              </a:rPr>
              <a:t>b </a:t>
            </a:r>
            <a:r>
              <a:rPr lang="pt-BR">
                <a:latin typeface="Times New Roman"/>
                <a:ea typeface="Times New Roman"/>
                <a:cs typeface="Times New Roman"/>
                <a:sym typeface="Times New Roman"/>
              </a:rPr>
              <a:t>= 0</a:t>
            </a:r>
            <a:endParaRPr/>
          </a:p>
          <a:p>
            <a:pPr indent="-7938" lvl="0" marL="7938" rtl="0" algn="l">
              <a:lnSpc>
                <a:spcPct val="90000"/>
              </a:lnSpc>
              <a:spcBef>
                <a:spcPts val="1050"/>
              </a:spcBef>
              <a:spcAft>
                <a:spcPts val="0"/>
              </a:spcAft>
              <a:buSzPct val="100000"/>
              <a:buNone/>
            </a:pPr>
            <a:r>
              <a:t/>
            </a:r>
            <a:endParaRPr sz="1425">
              <a:latin typeface="Times New Roman"/>
              <a:ea typeface="Times New Roman"/>
              <a:cs typeface="Times New Roman"/>
              <a:sym typeface="Times New Roman"/>
            </a:endParaRPr>
          </a:p>
          <a:p>
            <a:pPr indent="-7938" lvl="0" marL="7938" rtl="0" algn="l">
              <a:lnSpc>
                <a:spcPct val="90000"/>
              </a:lnSpc>
              <a:spcBef>
                <a:spcPts val="1050"/>
              </a:spcBef>
              <a:spcAft>
                <a:spcPts val="0"/>
              </a:spcAft>
              <a:buSzPct val="93333"/>
              <a:buNone/>
            </a:pPr>
            <a:r>
              <a:rPr lang="pt-BR"/>
              <a:t>(in standard linear format:     </a:t>
            </a:r>
            <a:r>
              <a:rPr i="1" lang="pt-BR">
                <a:latin typeface="Times New Roman"/>
                <a:ea typeface="Times New Roman"/>
                <a:cs typeface="Times New Roman"/>
                <a:sym typeface="Times New Roman"/>
              </a:rPr>
              <a:t>x</a:t>
            </a:r>
            <a:r>
              <a:rPr baseline="-25000" lang="pt-BR">
                <a:latin typeface="Times New Roman"/>
                <a:ea typeface="Times New Roman"/>
                <a:cs typeface="Times New Roman"/>
                <a:sym typeface="Times New Roman"/>
              </a:rPr>
              <a:t>2</a:t>
            </a:r>
            <a:r>
              <a:rPr lang="pt-BR">
                <a:latin typeface="Times New Roman"/>
                <a:ea typeface="Times New Roman"/>
                <a:cs typeface="Times New Roman"/>
                <a:sym typeface="Times New Roman"/>
              </a:rPr>
              <a:t> = (−</a:t>
            </a:r>
            <a:r>
              <a:rPr i="1" lang="pt-BR">
                <a:latin typeface="Times New Roman"/>
                <a:ea typeface="Times New Roman"/>
                <a:cs typeface="Times New Roman"/>
                <a:sym typeface="Times New Roman"/>
              </a:rPr>
              <a:t>w</a:t>
            </a:r>
            <a:r>
              <a:rPr baseline="-25000" lang="pt-BR">
                <a:latin typeface="Times New Roman"/>
                <a:ea typeface="Times New Roman"/>
                <a:cs typeface="Times New Roman"/>
                <a:sym typeface="Times New Roman"/>
              </a:rPr>
              <a:t>1</a:t>
            </a:r>
            <a:r>
              <a:rPr lang="pt-BR">
                <a:latin typeface="Times New Roman"/>
                <a:ea typeface="Times New Roman"/>
                <a:cs typeface="Times New Roman"/>
                <a:sym typeface="Times New Roman"/>
              </a:rPr>
              <a:t>/</a:t>
            </a:r>
            <a:r>
              <a:rPr i="1" lang="pt-BR">
                <a:latin typeface="Times New Roman"/>
                <a:ea typeface="Times New Roman"/>
                <a:cs typeface="Times New Roman"/>
                <a:sym typeface="Times New Roman"/>
              </a:rPr>
              <a:t>w</a:t>
            </a:r>
            <a:r>
              <a:rPr baseline="-25000" lang="pt-BR">
                <a:latin typeface="Times New Roman"/>
                <a:ea typeface="Times New Roman"/>
                <a:cs typeface="Times New Roman"/>
                <a:sym typeface="Times New Roman"/>
              </a:rPr>
              <a:t>2</a:t>
            </a:r>
            <a:r>
              <a:rPr lang="pt-BR">
                <a:latin typeface="Times New Roman"/>
                <a:ea typeface="Times New Roman"/>
                <a:cs typeface="Times New Roman"/>
                <a:sym typeface="Times New Roman"/>
              </a:rPr>
              <a:t>)</a:t>
            </a:r>
            <a:r>
              <a:rPr i="1" lang="pt-BR">
                <a:latin typeface="Times New Roman"/>
                <a:ea typeface="Times New Roman"/>
                <a:cs typeface="Times New Roman"/>
                <a:sym typeface="Times New Roman"/>
              </a:rPr>
              <a:t>x</a:t>
            </a:r>
            <a:r>
              <a:rPr baseline="-25000" lang="pt-BR">
                <a:latin typeface="Times New Roman"/>
                <a:ea typeface="Times New Roman"/>
                <a:cs typeface="Times New Roman"/>
                <a:sym typeface="Times New Roman"/>
              </a:rPr>
              <a:t>1</a:t>
            </a:r>
            <a:r>
              <a:rPr lang="pt-BR">
                <a:latin typeface="Times New Roman"/>
                <a:ea typeface="Times New Roman"/>
                <a:cs typeface="Times New Roman"/>
                <a:sym typeface="Times New Roman"/>
              </a:rPr>
              <a:t> + (−</a:t>
            </a:r>
            <a:r>
              <a:rPr i="1" lang="pt-BR">
                <a:latin typeface="Times New Roman"/>
                <a:ea typeface="Times New Roman"/>
                <a:cs typeface="Times New Roman"/>
                <a:sym typeface="Times New Roman"/>
              </a:rPr>
              <a:t>b</a:t>
            </a:r>
            <a:r>
              <a:rPr lang="pt-BR">
                <a:latin typeface="Times New Roman"/>
                <a:ea typeface="Times New Roman"/>
                <a:cs typeface="Times New Roman"/>
                <a:sym typeface="Times New Roman"/>
              </a:rPr>
              <a:t>/</a:t>
            </a:r>
            <a:r>
              <a:rPr i="1" lang="pt-BR">
                <a:latin typeface="Times New Roman"/>
                <a:ea typeface="Times New Roman"/>
                <a:cs typeface="Times New Roman"/>
                <a:sym typeface="Times New Roman"/>
              </a:rPr>
              <a:t>w</a:t>
            </a:r>
            <a:r>
              <a:rPr baseline="-25000" lang="pt-BR">
                <a:latin typeface="Times New Roman"/>
                <a:ea typeface="Times New Roman"/>
                <a:cs typeface="Times New Roman"/>
                <a:sym typeface="Times New Roman"/>
              </a:rPr>
              <a:t>2</a:t>
            </a:r>
            <a:r>
              <a:rPr lang="pt-BR">
                <a:latin typeface="Times New Roman"/>
                <a:ea typeface="Times New Roman"/>
                <a:cs typeface="Times New Roman"/>
                <a:sym typeface="Times New Roman"/>
              </a:rPr>
              <a:t>)    )</a:t>
            </a:r>
            <a:endParaRPr/>
          </a:p>
          <a:p>
            <a:pPr indent="-7938" lvl="0" marL="7938" rtl="0" algn="l">
              <a:lnSpc>
                <a:spcPct val="90000"/>
              </a:lnSpc>
              <a:spcBef>
                <a:spcPts val="1050"/>
              </a:spcBef>
              <a:spcAft>
                <a:spcPts val="0"/>
              </a:spcAft>
              <a:buSzPct val="93333"/>
              <a:buNone/>
            </a:pPr>
            <a:r>
              <a:t/>
            </a:r>
            <a:endParaRPr>
              <a:latin typeface="Times New Roman"/>
              <a:ea typeface="Times New Roman"/>
              <a:cs typeface="Times New Roman"/>
              <a:sym typeface="Times New Roman"/>
            </a:endParaRPr>
          </a:p>
          <a:p>
            <a:pPr indent="-7938" lvl="0" marL="7938" rtl="0" algn="l">
              <a:lnSpc>
                <a:spcPct val="90000"/>
              </a:lnSpc>
              <a:spcBef>
                <a:spcPts val="1050"/>
              </a:spcBef>
              <a:spcAft>
                <a:spcPts val="0"/>
              </a:spcAft>
              <a:buSzPct val="100000"/>
              <a:buNone/>
            </a:pPr>
            <a:r>
              <a:rPr lang="pt-BR" sz="3450"/>
              <a:t>This line acts as a </a:t>
            </a:r>
            <a:r>
              <a:rPr b="1" lang="pt-BR" sz="3450"/>
              <a:t>decision boundary </a:t>
            </a:r>
            <a:endParaRPr/>
          </a:p>
          <a:p>
            <a:pPr indent="-415280" lvl="0" marL="428615" rtl="0" algn="l">
              <a:lnSpc>
                <a:spcPct val="90000"/>
              </a:lnSpc>
              <a:spcBef>
                <a:spcPts val="1050"/>
              </a:spcBef>
              <a:spcAft>
                <a:spcPts val="0"/>
              </a:spcAft>
              <a:buSzPct val="93333"/>
              <a:buFont typeface="Arial"/>
              <a:buChar char="•"/>
            </a:pPr>
            <a:r>
              <a:rPr lang="pt-BR"/>
              <a:t>0 if input is on one side of the line</a:t>
            </a:r>
            <a:endParaRPr/>
          </a:p>
          <a:p>
            <a:pPr indent="-415280" lvl="0" marL="428615" rtl="0" algn="l">
              <a:lnSpc>
                <a:spcPct val="90000"/>
              </a:lnSpc>
              <a:spcBef>
                <a:spcPts val="1050"/>
              </a:spcBef>
              <a:spcAft>
                <a:spcPts val="0"/>
              </a:spcAft>
              <a:buSzPct val="93333"/>
              <a:buFont typeface="Arial"/>
              <a:buChar char="•"/>
            </a:pPr>
            <a:r>
              <a:rPr lang="pt-BR"/>
              <a:t>1 if on the other side of the line </a:t>
            </a:r>
            <a:endParaRPr/>
          </a:p>
        </p:txBody>
      </p:sp>
      <p:sp>
        <p:nvSpPr>
          <p:cNvPr id="764" name="Google Shape;764;h1863e7f528e27f29_0_177"/>
          <p:cNvSpPr txBox="1"/>
          <p:nvPr/>
        </p:nvSpPr>
        <p:spPr>
          <a:xfrm>
            <a:off x="6714750" y="4484250"/>
            <a:ext cx="199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(Jurafsky, 2026)</a:t>
            </a:r>
            <a:endParaRPr sz="1800">
              <a:solidFill>
                <a:srgbClr val="434343"/>
              </a:solidFill>
              <a:latin typeface="Comfortaa"/>
              <a:ea typeface="Comfortaa"/>
              <a:cs typeface="Comfortaa"/>
              <a:sym typeface="Comforta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h1863e7f528e27f29_0_183"/>
          <p:cNvSpPr txBox="1"/>
          <p:nvPr>
            <p:ph type="title"/>
          </p:nvPr>
        </p:nvSpPr>
        <p:spPr>
          <a:xfrm>
            <a:off x="822960" y="119702"/>
            <a:ext cx="7543800" cy="6804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Decision boundaries</a:t>
            </a:r>
            <a:endParaRPr/>
          </a:p>
        </p:txBody>
      </p:sp>
      <p:pic>
        <p:nvPicPr>
          <p:cNvPr id="771" name="Google Shape;771;h1863e7f528e27f29_0_183"/>
          <p:cNvPicPr preferRelativeResize="0"/>
          <p:nvPr>
            <p:ph idx="1" type="body"/>
          </p:nvPr>
        </p:nvPicPr>
        <p:blipFill rotWithShape="1">
          <a:blip r:embed="rId3">
            <a:alphaModFix/>
          </a:blip>
          <a:srcRect b="0" l="0" r="0" t="0"/>
          <a:stretch/>
        </p:blipFill>
        <p:spPr>
          <a:xfrm>
            <a:off x="822722" y="1505111"/>
            <a:ext cx="7543800" cy="2819100"/>
          </a:xfrm>
          <a:prstGeom prst="rect">
            <a:avLst/>
          </a:prstGeom>
          <a:noFill/>
          <a:ln>
            <a:noFill/>
          </a:ln>
        </p:spPr>
      </p:pic>
      <p:sp>
        <p:nvSpPr>
          <p:cNvPr id="772" name="Google Shape;772;h1863e7f528e27f29_0_183"/>
          <p:cNvSpPr txBox="1"/>
          <p:nvPr/>
        </p:nvSpPr>
        <p:spPr>
          <a:xfrm>
            <a:off x="1639802" y="4556540"/>
            <a:ext cx="5864400" cy="41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100">
                <a:solidFill>
                  <a:schemeClr val="dk1"/>
                </a:solidFill>
                <a:latin typeface="Comfortaa"/>
                <a:ea typeface="Comfortaa"/>
                <a:cs typeface="Comfortaa"/>
                <a:sym typeface="Comfortaa"/>
              </a:rPr>
              <a:t>XOR is not a </a:t>
            </a:r>
            <a:r>
              <a:rPr b="1" lang="pt-BR" sz="2100">
                <a:solidFill>
                  <a:schemeClr val="dk1"/>
                </a:solidFill>
                <a:latin typeface="Comfortaa"/>
                <a:ea typeface="Comfortaa"/>
                <a:cs typeface="Comfortaa"/>
                <a:sym typeface="Comfortaa"/>
              </a:rPr>
              <a:t>linearly separable </a:t>
            </a:r>
            <a:r>
              <a:rPr lang="pt-BR" sz="2100">
                <a:solidFill>
                  <a:schemeClr val="dk1"/>
                </a:solidFill>
                <a:latin typeface="Comfortaa"/>
                <a:ea typeface="Comfortaa"/>
                <a:cs typeface="Comfortaa"/>
                <a:sym typeface="Comfortaa"/>
              </a:rPr>
              <a:t>function!</a:t>
            </a:r>
            <a:endParaRPr sz="800">
              <a:latin typeface="Comfortaa"/>
              <a:ea typeface="Comfortaa"/>
              <a:cs typeface="Comfortaa"/>
              <a:sym typeface="Comfortaa"/>
            </a:endParaRPr>
          </a:p>
        </p:txBody>
      </p:sp>
      <p:sp>
        <p:nvSpPr>
          <p:cNvPr id="773" name="Google Shape;773;h1863e7f528e27f29_0_183"/>
          <p:cNvSpPr txBox="1"/>
          <p:nvPr/>
        </p:nvSpPr>
        <p:spPr>
          <a:xfrm>
            <a:off x="6784275" y="256975"/>
            <a:ext cx="1997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(Jurafsky, 2026)</a:t>
            </a:r>
            <a:endParaRPr sz="1800">
              <a:solidFill>
                <a:srgbClr val="434343"/>
              </a:solidFill>
              <a:latin typeface="Comfortaa"/>
              <a:ea typeface="Comfortaa"/>
              <a:cs typeface="Comfortaa"/>
              <a:sym typeface="Comforta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h1863e7f528e27f29_0_1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3</a:t>
            </a:r>
            <a:endParaRPr/>
          </a:p>
          <a:p>
            <a:pPr indent="0" lvl="0" marL="0" rtl="0" algn="l">
              <a:spcBef>
                <a:spcPts val="0"/>
              </a:spcBef>
              <a:spcAft>
                <a:spcPts val="0"/>
              </a:spcAft>
              <a:buNone/>
            </a:pPr>
            <a:r>
              <a:t/>
            </a:r>
            <a:endParaRPr/>
          </a:p>
        </p:txBody>
      </p:sp>
      <p:graphicFrame>
        <p:nvGraphicFramePr>
          <p:cNvPr id="779" name="Google Shape;779;h1863e7f528e27f29_0_126"/>
          <p:cNvGraphicFramePr/>
          <p:nvPr/>
        </p:nvGraphicFramePr>
        <p:xfrm>
          <a:off x="182488" y="20591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tc>
                <a:tc>
                  <a:txBody>
                    <a:bodyPr/>
                    <a:lstStyle/>
                    <a:p>
                      <a:pPr indent="0" lvl="0" marL="0" rtl="0" algn="ctr">
                        <a:spcBef>
                          <a:spcPts val="0"/>
                        </a:spcBef>
                        <a:spcAft>
                          <a:spcPts val="0"/>
                        </a:spcAft>
                        <a:buNone/>
                      </a:pPr>
                      <a:r>
                        <a:rPr b="1" lang="pt-BR" sz="2400"/>
                        <a:t>y</a:t>
                      </a:r>
                      <a:endParaRPr b="1"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bl>
          </a:graphicData>
        </a:graphic>
      </p:graphicFrame>
      <p:sp>
        <p:nvSpPr>
          <p:cNvPr id="780" name="Google Shape;780;h1863e7f528e27f29_0_126"/>
          <p:cNvSpPr txBox="1"/>
          <p:nvPr/>
        </p:nvSpPr>
        <p:spPr>
          <a:xfrm>
            <a:off x="1126100" y="15329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X</a:t>
            </a:r>
            <a:r>
              <a:rPr b="1" lang="pt-BR" sz="3000">
                <a:solidFill>
                  <a:srgbClr val="434343"/>
                </a:solidFill>
                <a:latin typeface="Comfortaa"/>
                <a:ea typeface="Comfortaa"/>
                <a:cs typeface="Comfortaa"/>
                <a:sym typeface="Comfortaa"/>
              </a:rPr>
              <a:t>OR</a:t>
            </a:r>
            <a:endParaRPr b="1" sz="3000">
              <a:solidFill>
                <a:srgbClr val="434343"/>
              </a:solidFill>
              <a:latin typeface="Comfortaa"/>
              <a:ea typeface="Comfortaa"/>
              <a:cs typeface="Comfortaa"/>
              <a:sym typeface="Comfortaa"/>
            </a:endParaRPr>
          </a:p>
        </p:txBody>
      </p:sp>
      <p:sp>
        <p:nvSpPr>
          <p:cNvPr id="781" name="Google Shape;781;h1863e7f528e27f29_0_126"/>
          <p:cNvSpPr/>
          <p:nvPr/>
        </p:nvSpPr>
        <p:spPr>
          <a:xfrm>
            <a:off x="3519626" y="293324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782" name="Google Shape;782;h1863e7f528e27f29_0_126"/>
          <p:cNvSpPr/>
          <p:nvPr/>
        </p:nvSpPr>
        <p:spPr>
          <a:xfrm>
            <a:off x="3519595" y="3826173"/>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783" name="Google Shape;783;h1863e7f528e27f29_0_126"/>
          <p:cNvSpPr/>
          <p:nvPr/>
        </p:nvSpPr>
        <p:spPr>
          <a:xfrm>
            <a:off x="3519601" y="2073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784" name="Google Shape;784;h1863e7f528e27f29_0_126"/>
          <p:cNvSpPr txBox="1"/>
          <p:nvPr/>
        </p:nvSpPr>
        <p:spPr>
          <a:xfrm>
            <a:off x="3519613" y="21599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sp>
        <p:nvSpPr>
          <p:cNvPr id="785" name="Google Shape;785;h1863e7f528e27f29_0_126"/>
          <p:cNvSpPr/>
          <p:nvPr/>
        </p:nvSpPr>
        <p:spPr>
          <a:xfrm>
            <a:off x="6278276" y="3247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sp>
        <p:nvSpPr>
          <p:cNvPr id="786" name="Google Shape;786;h1863e7f528e27f29_0_126"/>
          <p:cNvSpPr/>
          <p:nvPr/>
        </p:nvSpPr>
        <p:spPr>
          <a:xfrm>
            <a:off x="6248726" y="26314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cxnSp>
        <p:nvCxnSpPr>
          <p:cNvPr id="787" name="Google Shape;787;h1863e7f528e27f29_0_126"/>
          <p:cNvCxnSpPr>
            <a:stCxn id="784" idx="3"/>
          </p:cNvCxnSpPr>
          <p:nvPr/>
        </p:nvCxnSpPr>
        <p:spPr>
          <a:xfrm>
            <a:off x="4026013" y="2327088"/>
            <a:ext cx="2217000" cy="472200"/>
          </a:xfrm>
          <a:prstGeom prst="straightConnector1">
            <a:avLst/>
          </a:prstGeom>
          <a:noFill/>
          <a:ln cap="flat" cmpd="sng" w="20500">
            <a:solidFill>
              <a:srgbClr val="999999"/>
            </a:solidFill>
            <a:prstDash val="solid"/>
            <a:round/>
            <a:headEnd len="sm" w="sm" type="none"/>
            <a:tailEnd len="med" w="med" type="triangle"/>
          </a:ln>
        </p:spPr>
      </p:cxnSp>
      <p:cxnSp>
        <p:nvCxnSpPr>
          <p:cNvPr id="788" name="Google Shape;788;h1863e7f528e27f29_0_126"/>
          <p:cNvCxnSpPr>
            <a:stCxn id="781" idx="6"/>
            <a:endCxn id="786" idx="2"/>
          </p:cNvCxnSpPr>
          <p:nvPr/>
        </p:nvCxnSpPr>
        <p:spPr>
          <a:xfrm flipH="1" rot="10800000">
            <a:off x="4026026" y="2884649"/>
            <a:ext cx="2222700" cy="301800"/>
          </a:xfrm>
          <a:prstGeom prst="straightConnector1">
            <a:avLst/>
          </a:prstGeom>
          <a:noFill/>
          <a:ln cap="flat" cmpd="sng" w="20500">
            <a:solidFill>
              <a:srgbClr val="999999"/>
            </a:solidFill>
            <a:prstDash val="solid"/>
            <a:round/>
            <a:headEnd len="sm" w="sm" type="none"/>
            <a:tailEnd len="med" w="med" type="triangle"/>
          </a:ln>
        </p:spPr>
      </p:cxnSp>
      <p:cxnSp>
        <p:nvCxnSpPr>
          <p:cNvPr id="789" name="Google Shape;789;h1863e7f528e27f29_0_126"/>
          <p:cNvCxnSpPr>
            <a:stCxn id="782" idx="6"/>
          </p:cNvCxnSpPr>
          <p:nvPr/>
        </p:nvCxnSpPr>
        <p:spPr>
          <a:xfrm flipH="1" rot="10800000">
            <a:off x="4025995" y="3001473"/>
            <a:ext cx="2223300" cy="1077900"/>
          </a:xfrm>
          <a:prstGeom prst="straightConnector1">
            <a:avLst/>
          </a:prstGeom>
          <a:noFill/>
          <a:ln cap="flat" cmpd="sng" w="20500">
            <a:solidFill>
              <a:srgbClr val="999999"/>
            </a:solidFill>
            <a:prstDash val="solid"/>
            <a:round/>
            <a:headEnd len="sm" w="sm" type="none"/>
            <a:tailEnd len="med" w="med" type="triangle"/>
          </a:ln>
        </p:spPr>
      </p:cxnSp>
      <p:cxnSp>
        <p:nvCxnSpPr>
          <p:cNvPr id="790" name="Google Shape;790;h1863e7f528e27f29_0_126"/>
          <p:cNvCxnSpPr>
            <a:stCxn id="781" idx="6"/>
            <a:endCxn id="785" idx="2"/>
          </p:cNvCxnSpPr>
          <p:nvPr/>
        </p:nvCxnSpPr>
        <p:spPr>
          <a:xfrm>
            <a:off x="4026026" y="3186449"/>
            <a:ext cx="2252400" cy="314700"/>
          </a:xfrm>
          <a:prstGeom prst="straightConnector1">
            <a:avLst/>
          </a:prstGeom>
          <a:noFill/>
          <a:ln cap="flat" cmpd="sng" w="20500">
            <a:solidFill>
              <a:srgbClr val="000000"/>
            </a:solidFill>
            <a:prstDash val="solid"/>
            <a:round/>
            <a:headEnd len="sm" w="sm" type="none"/>
            <a:tailEnd len="med" w="med" type="triangle"/>
          </a:ln>
        </p:spPr>
      </p:cxnSp>
      <p:cxnSp>
        <p:nvCxnSpPr>
          <p:cNvPr id="791" name="Google Shape;791;h1863e7f528e27f29_0_126"/>
          <p:cNvCxnSpPr>
            <a:stCxn id="782" idx="6"/>
          </p:cNvCxnSpPr>
          <p:nvPr/>
        </p:nvCxnSpPr>
        <p:spPr>
          <a:xfrm flipH="1" rot="10800000">
            <a:off x="4025995" y="3645873"/>
            <a:ext cx="2311800" cy="433500"/>
          </a:xfrm>
          <a:prstGeom prst="straightConnector1">
            <a:avLst/>
          </a:prstGeom>
          <a:noFill/>
          <a:ln cap="flat" cmpd="sng" w="20500">
            <a:solidFill>
              <a:srgbClr val="000000"/>
            </a:solidFill>
            <a:prstDash val="solid"/>
            <a:round/>
            <a:headEnd len="sm" w="sm" type="none"/>
            <a:tailEnd len="med" w="med" type="triangle"/>
          </a:ln>
        </p:spPr>
      </p:cxnSp>
      <p:cxnSp>
        <p:nvCxnSpPr>
          <p:cNvPr id="792" name="Google Shape;792;h1863e7f528e27f29_0_126"/>
          <p:cNvCxnSpPr>
            <a:stCxn id="784" idx="3"/>
          </p:cNvCxnSpPr>
          <p:nvPr/>
        </p:nvCxnSpPr>
        <p:spPr>
          <a:xfrm>
            <a:off x="4026013" y="2327088"/>
            <a:ext cx="2273700" cy="1072500"/>
          </a:xfrm>
          <a:prstGeom prst="straightConnector1">
            <a:avLst/>
          </a:prstGeom>
          <a:noFill/>
          <a:ln cap="flat" cmpd="sng" w="20500">
            <a:solidFill>
              <a:srgbClr val="000000"/>
            </a:solidFill>
            <a:prstDash val="solid"/>
            <a:round/>
            <a:headEnd len="sm" w="sm" type="none"/>
            <a:tailEnd len="med" w="med" type="triangle"/>
          </a:ln>
        </p:spPr>
      </p:cxnSp>
      <p:sp>
        <p:nvSpPr>
          <p:cNvPr id="793" name="Google Shape;793;h1863e7f528e27f29_0_126"/>
          <p:cNvSpPr/>
          <p:nvPr/>
        </p:nvSpPr>
        <p:spPr>
          <a:xfrm>
            <a:off x="8469776"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t/>
            </a:r>
            <a:endParaRPr b="0" sz="1241" strike="noStrike">
              <a:latin typeface="Arial"/>
              <a:ea typeface="Arial"/>
              <a:cs typeface="Arial"/>
              <a:sym typeface="Arial"/>
            </a:endParaRPr>
          </a:p>
        </p:txBody>
      </p:sp>
      <p:cxnSp>
        <p:nvCxnSpPr>
          <p:cNvPr id="794" name="Google Shape;794;h1863e7f528e27f29_0_126"/>
          <p:cNvCxnSpPr>
            <a:stCxn id="786" idx="6"/>
          </p:cNvCxnSpPr>
          <p:nvPr/>
        </p:nvCxnSpPr>
        <p:spPr>
          <a:xfrm>
            <a:off x="6755126" y="2884616"/>
            <a:ext cx="1693200" cy="249600"/>
          </a:xfrm>
          <a:prstGeom prst="straightConnector1">
            <a:avLst/>
          </a:prstGeom>
          <a:noFill/>
          <a:ln cap="flat" cmpd="sng" w="20500">
            <a:solidFill>
              <a:srgbClr val="666666"/>
            </a:solidFill>
            <a:prstDash val="solid"/>
            <a:round/>
            <a:headEnd len="sm" w="sm" type="none"/>
            <a:tailEnd len="med" w="med" type="triangle"/>
          </a:ln>
        </p:spPr>
      </p:cxnSp>
      <p:cxnSp>
        <p:nvCxnSpPr>
          <p:cNvPr id="795" name="Google Shape;795;h1863e7f528e27f29_0_126"/>
          <p:cNvCxnSpPr>
            <a:stCxn id="785" idx="6"/>
          </p:cNvCxnSpPr>
          <p:nvPr/>
        </p:nvCxnSpPr>
        <p:spPr>
          <a:xfrm flipH="1" rot="10800000">
            <a:off x="6784676" y="3279416"/>
            <a:ext cx="1701600" cy="221700"/>
          </a:xfrm>
          <a:prstGeom prst="straightConnector1">
            <a:avLst/>
          </a:prstGeom>
          <a:noFill/>
          <a:ln cap="flat" cmpd="sng" w="20500">
            <a:solidFill>
              <a:srgbClr val="666666"/>
            </a:solidFill>
            <a:prstDash val="solid"/>
            <a:round/>
            <a:headEnd len="sm" w="sm" type="none"/>
            <a:tailEnd len="med" w="med" type="triangle"/>
          </a:ln>
        </p:spPr>
      </p:cxnSp>
      <p:sp>
        <p:nvSpPr>
          <p:cNvPr id="796" name="Google Shape;796;h1863e7f528e27f29_0_126"/>
          <p:cNvSpPr txBox="1"/>
          <p:nvPr/>
        </p:nvSpPr>
        <p:spPr>
          <a:xfrm>
            <a:off x="4168575" y="2041675"/>
            <a:ext cx="6162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-0.5</a:t>
            </a:r>
            <a:endParaRPr b="0" sz="1800" strike="noStrike">
              <a:latin typeface="Arial"/>
              <a:ea typeface="Arial"/>
              <a:cs typeface="Arial"/>
              <a:sym typeface="Arial"/>
            </a:endParaRPr>
          </a:p>
        </p:txBody>
      </p:sp>
      <p:sp>
        <p:nvSpPr>
          <p:cNvPr id="797" name="Google Shape;797;h1863e7f528e27f29_0_126"/>
          <p:cNvSpPr txBox="1"/>
          <p:nvPr/>
        </p:nvSpPr>
        <p:spPr>
          <a:xfrm>
            <a:off x="4106200" y="2487850"/>
            <a:ext cx="6162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-1.5</a:t>
            </a:r>
            <a:endParaRPr b="0" sz="1800" strike="noStrike">
              <a:latin typeface="Arial"/>
              <a:ea typeface="Arial"/>
              <a:cs typeface="Arial"/>
              <a:sym typeface="Arial"/>
            </a:endParaRPr>
          </a:p>
        </p:txBody>
      </p:sp>
      <p:sp>
        <p:nvSpPr>
          <p:cNvPr id="798" name="Google Shape;798;h1863e7f528e27f29_0_126"/>
          <p:cNvSpPr txBox="1"/>
          <p:nvPr/>
        </p:nvSpPr>
        <p:spPr>
          <a:xfrm>
            <a:off x="4492750" y="27993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799" name="Google Shape;799;h1863e7f528e27f29_0_126"/>
          <p:cNvSpPr txBox="1"/>
          <p:nvPr/>
        </p:nvSpPr>
        <p:spPr>
          <a:xfrm>
            <a:off x="4492750" y="324905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00" name="Google Shape;800;h1863e7f528e27f29_0_126"/>
          <p:cNvSpPr txBox="1"/>
          <p:nvPr/>
        </p:nvSpPr>
        <p:spPr>
          <a:xfrm>
            <a:off x="4274075" y="35541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01" name="Google Shape;801;h1863e7f528e27f29_0_126"/>
          <p:cNvSpPr txBox="1"/>
          <p:nvPr/>
        </p:nvSpPr>
        <p:spPr>
          <a:xfrm>
            <a:off x="4302075" y="40428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02" name="Google Shape;802;h1863e7f528e27f29_0_126"/>
          <p:cNvSpPr txBox="1"/>
          <p:nvPr/>
        </p:nvSpPr>
        <p:spPr>
          <a:xfrm>
            <a:off x="7385675" y="2696250"/>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03" name="Google Shape;803;h1863e7f528e27f29_0_126"/>
          <p:cNvSpPr txBox="1"/>
          <p:nvPr/>
        </p:nvSpPr>
        <p:spPr>
          <a:xfrm>
            <a:off x="7288175" y="3067950"/>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04" name="Google Shape;804;h1863e7f528e27f29_0_126"/>
          <p:cNvSpPr txBox="1"/>
          <p:nvPr/>
        </p:nvSpPr>
        <p:spPr>
          <a:xfrm>
            <a:off x="6255275" y="2678888"/>
            <a:ext cx="50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OR</a:t>
            </a:r>
            <a:endParaRPr>
              <a:solidFill>
                <a:srgbClr val="434343"/>
              </a:solidFill>
              <a:latin typeface="Comfortaa"/>
              <a:ea typeface="Comfortaa"/>
              <a:cs typeface="Comfortaa"/>
              <a:sym typeface="Comfortaa"/>
            </a:endParaRPr>
          </a:p>
        </p:txBody>
      </p:sp>
      <p:sp>
        <p:nvSpPr>
          <p:cNvPr id="805" name="Google Shape;805;h1863e7f528e27f29_0_126"/>
          <p:cNvSpPr txBox="1"/>
          <p:nvPr/>
        </p:nvSpPr>
        <p:spPr>
          <a:xfrm>
            <a:off x="6234623" y="3296648"/>
            <a:ext cx="6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AND</a:t>
            </a:r>
            <a:endParaRPr>
              <a:solidFill>
                <a:srgbClr val="434343"/>
              </a:solidFill>
              <a:latin typeface="Comfortaa"/>
              <a:ea typeface="Comfortaa"/>
              <a:cs typeface="Comfortaa"/>
              <a:sym typeface="Comfortaa"/>
            </a:endParaRPr>
          </a:p>
        </p:txBody>
      </p:sp>
      <p:sp>
        <p:nvSpPr>
          <p:cNvPr id="806" name="Google Shape;806;h1863e7f528e27f29_0_126"/>
          <p:cNvSpPr txBox="1"/>
          <p:nvPr/>
        </p:nvSpPr>
        <p:spPr>
          <a:xfrm>
            <a:off x="8414873" y="2986348"/>
            <a:ext cx="6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XOR</a:t>
            </a:r>
            <a:endParaRPr>
              <a:solidFill>
                <a:srgbClr val="434343"/>
              </a:solidFill>
              <a:latin typeface="Comfortaa"/>
              <a:ea typeface="Comfortaa"/>
              <a:cs typeface="Comfortaa"/>
              <a:sym typeface="Comfortaa"/>
            </a:endParaRPr>
          </a:p>
        </p:txBody>
      </p:sp>
      <p:sp>
        <p:nvSpPr>
          <p:cNvPr id="807" name="Google Shape;807;h1863e7f528e27f29_0_126"/>
          <p:cNvSpPr/>
          <p:nvPr/>
        </p:nvSpPr>
        <p:spPr>
          <a:xfrm>
            <a:off x="6234626" y="19661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808" name="Google Shape;808;h1863e7f528e27f29_0_126"/>
          <p:cNvSpPr txBox="1"/>
          <p:nvPr/>
        </p:nvSpPr>
        <p:spPr>
          <a:xfrm>
            <a:off x="6234638" y="205226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809" name="Google Shape;809;h1863e7f528e27f29_0_126"/>
          <p:cNvCxnSpPr>
            <a:stCxn id="808" idx="3"/>
          </p:cNvCxnSpPr>
          <p:nvPr/>
        </p:nvCxnSpPr>
        <p:spPr>
          <a:xfrm>
            <a:off x="6741038" y="2219363"/>
            <a:ext cx="1781700" cy="778800"/>
          </a:xfrm>
          <a:prstGeom prst="straightConnector1">
            <a:avLst/>
          </a:prstGeom>
          <a:noFill/>
          <a:ln cap="flat" cmpd="sng" w="20500">
            <a:solidFill>
              <a:srgbClr val="666666"/>
            </a:solidFill>
            <a:prstDash val="solid"/>
            <a:round/>
            <a:headEnd len="sm" w="sm" type="none"/>
            <a:tailEnd len="med" w="med" type="triangle"/>
          </a:ln>
        </p:spPr>
      </p:cxnSp>
      <p:sp>
        <p:nvSpPr>
          <p:cNvPr id="810" name="Google Shape;810;h1863e7f528e27f29_0_126"/>
          <p:cNvSpPr txBox="1"/>
          <p:nvPr/>
        </p:nvSpPr>
        <p:spPr>
          <a:xfrm>
            <a:off x="7385675" y="2219375"/>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h1863e7f528e27f29_0_29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3</a:t>
            </a:r>
            <a:endParaRPr/>
          </a:p>
        </p:txBody>
      </p:sp>
      <p:graphicFrame>
        <p:nvGraphicFramePr>
          <p:cNvPr id="816" name="Google Shape;816;h1863e7f528e27f29_0_291"/>
          <p:cNvGraphicFramePr/>
          <p:nvPr/>
        </p:nvGraphicFramePr>
        <p:xfrm>
          <a:off x="182488" y="20591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tc>
                <a:tc>
                  <a:txBody>
                    <a:bodyPr/>
                    <a:lstStyle/>
                    <a:p>
                      <a:pPr indent="0" lvl="0" marL="0" rtl="0" algn="ctr">
                        <a:spcBef>
                          <a:spcPts val="0"/>
                        </a:spcBef>
                        <a:spcAft>
                          <a:spcPts val="0"/>
                        </a:spcAft>
                        <a:buNone/>
                      </a:pPr>
                      <a:r>
                        <a:rPr b="1" lang="pt-BR" sz="2400"/>
                        <a:t>y</a:t>
                      </a:r>
                      <a:endParaRPr b="1" sz="2400"/>
                    </a:p>
                  </a:txBody>
                  <a:tcPr marT="91425" marB="91425" marR="91425" marL="91425"/>
                </a:tc>
              </a:tr>
              <a:tr h="381000">
                <a:tc>
                  <a:txBody>
                    <a:bodyPr/>
                    <a:lstStyle/>
                    <a:p>
                      <a:pPr indent="0" lvl="0" marL="0" rtl="0" algn="ctr">
                        <a:spcBef>
                          <a:spcPts val="0"/>
                        </a:spcBef>
                        <a:spcAft>
                          <a:spcPts val="0"/>
                        </a:spcAft>
                        <a:buNone/>
                      </a:pPr>
                      <a:r>
                        <a:rPr b="1" lang="pt-BR" sz="2400">
                          <a:solidFill>
                            <a:srgbClr val="0000FF"/>
                          </a:solidFill>
                        </a:rPr>
                        <a:t>0</a:t>
                      </a:r>
                      <a:endParaRPr b="1" sz="2400">
                        <a:solidFill>
                          <a:srgbClr val="0000FF"/>
                        </a:solidFill>
                      </a:endParaRPr>
                    </a:p>
                  </a:txBody>
                  <a:tcPr marT="91425" marB="91425" marR="91425" marL="91425"/>
                </a:tc>
                <a:tc>
                  <a:txBody>
                    <a:bodyPr/>
                    <a:lstStyle/>
                    <a:p>
                      <a:pPr indent="0" lvl="0" marL="0" rtl="0" algn="ctr">
                        <a:spcBef>
                          <a:spcPts val="0"/>
                        </a:spcBef>
                        <a:spcAft>
                          <a:spcPts val="0"/>
                        </a:spcAft>
                        <a:buNone/>
                      </a:pPr>
                      <a:r>
                        <a:rPr b="1" lang="pt-BR" sz="2400">
                          <a:solidFill>
                            <a:srgbClr val="0000FF"/>
                          </a:solidFill>
                        </a:rPr>
                        <a:t>0</a:t>
                      </a:r>
                      <a:endParaRPr b="1" sz="2400">
                        <a:solidFill>
                          <a:srgbClr val="0000FF"/>
                        </a:solidFill>
                      </a:endParaRPr>
                    </a:p>
                  </a:txBody>
                  <a:tcPr marT="91425" marB="91425" marR="91425" marL="91425"/>
                </a:tc>
                <a:tc>
                  <a:txBody>
                    <a:bodyPr/>
                    <a:lstStyle/>
                    <a:p>
                      <a:pPr indent="0" lvl="0" marL="0" rtl="0" algn="ctr">
                        <a:spcBef>
                          <a:spcPts val="0"/>
                        </a:spcBef>
                        <a:spcAft>
                          <a:spcPts val="0"/>
                        </a:spcAft>
                        <a:buNone/>
                      </a:pPr>
                      <a:r>
                        <a:rPr b="1" lang="pt-BR" sz="2400">
                          <a:solidFill>
                            <a:srgbClr val="FF0000"/>
                          </a:solidFill>
                        </a:rPr>
                        <a:t>0</a:t>
                      </a:r>
                      <a:endParaRPr b="1" sz="2400">
                        <a:solidFill>
                          <a:srgbClr val="FF0000"/>
                        </a:solidFill>
                      </a:endParaRPr>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bl>
          </a:graphicData>
        </a:graphic>
      </p:graphicFrame>
      <p:sp>
        <p:nvSpPr>
          <p:cNvPr id="817" name="Google Shape;817;h1863e7f528e27f29_0_291"/>
          <p:cNvSpPr txBox="1"/>
          <p:nvPr/>
        </p:nvSpPr>
        <p:spPr>
          <a:xfrm>
            <a:off x="1126100" y="15329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XOR</a:t>
            </a:r>
            <a:endParaRPr b="1" sz="3000">
              <a:solidFill>
                <a:srgbClr val="434343"/>
              </a:solidFill>
              <a:latin typeface="Comfortaa"/>
              <a:ea typeface="Comfortaa"/>
              <a:cs typeface="Comfortaa"/>
              <a:sym typeface="Comfortaa"/>
            </a:endParaRPr>
          </a:p>
        </p:txBody>
      </p:sp>
      <p:sp>
        <p:nvSpPr>
          <p:cNvPr id="818" name="Google Shape;818;h1863e7f528e27f29_0_291"/>
          <p:cNvSpPr/>
          <p:nvPr/>
        </p:nvSpPr>
        <p:spPr>
          <a:xfrm>
            <a:off x="3519626" y="293324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819" name="Google Shape;819;h1863e7f528e27f29_0_291"/>
          <p:cNvSpPr/>
          <p:nvPr/>
        </p:nvSpPr>
        <p:spPr>
          <a:xfrm>
            <a:off x="3519595" y="3826173"/>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820" name="Google Shape;820;h1863e7f528e27f29_0_291"/>
          <p:cNvSpPr/>
          <p:nvPr/>
        </p:nvSpPr>
        <p:spPr>
          <a:xfrm>
            <a:off x="3519601" y="2073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821" name="Google Shape;821;h1863e7f528e27f29_0_291"/>
          <p:cNvSpPr txBox="1"/>
          <p:nvPr/>
        </p:nvSpPr>
        <p:spPr>
          <a:xfrm>
            <a:off x="3519613" y="21599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sp>
        <p:nvSpPr>
          <p:cNvPr id="822" name="Google Shape;822;h1863e7f528e27f29_0_291"/>
          <p:cNvSpPr/>
          <p:nvPr/>
        </p:nvSpPr>
        <p:spPr>
          <a:xfrm>
            <a:off x="6278276" y="3247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sp>
        <p:nvSpPr>
          <p:cNvPr id="823" name="Google Shape;823;h1863e7f528e27f29_0_291"/>
          <p:cNvSpPr/>
          <p:nvPr/>
        </p:nvSpPr>
        <p:spPr>
          <a:xfrm>
            <a:off x="6248726" y="26314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cxnSp>
        <p:nvCxnSpPr>
          <p:cNvPr id="824" name="Google Shape;824;h1863e7f528e27f29_0_291"/>
          <p:cNvCxnSpPr>
            <a:stCxn id="821" idx="3"/>
          </p:cNvCxnSpPr>
          <p:nvPr/>
        </p:nvCxnSpPr>
        <p:spPr>
          <a:xfrm>
            <a:off x="4026013" y="2327088"/>
            <a:ext cx="2217000" cy="472200"/>
          </a:xfrm>
          <a:prstGeom prst="straightConnector1">
            <a:avLst/>
          </a:prstGeom>
          <a:noFill/>
          <a:ln cap="flat" cmpd="sng" w="20500">
            <a:solidFill>
              <a:srgbClr val="999999"/>
            </a:solidFill>
            <a:prstDash val="solid"/>
            <a:round/>
            <a:headEnd len="sm" w="sm" type="none"/>
            <a:tailEnd len="med" w="med" type="triangle"/>
          </a:ln>
        </p:spPr>
      </p:cxnSp>
      <p:cxnSp>
        <p:nvCxnSpPr>
          <p:cNvPr id="825" name="Google Shape;825;h1863e7f528e27f29_0_291"/>
          <p:cNvCxnSpPr>
            <a:stCxn id="818" idx="6"/>
            <a:endCxn id="823" idx="2"/>
          </p:cNvCxnSpPr>
          <p:nvPr/>
        </p:nvCxnSpPr>
        <p:spPr>
          <a:xfrm flipH="1" rot="10800000">
            <a:off x="4026026" y="2884649"/>
            <a:ext cx="2222700" cy="301800"/>
          </a:xfrm>
          <a:prstGeom prst="straightConnector1">
            <a:avLst/>
          </a:prstGeom>
          <a:noFill/>
          <a:ln cap="flat" cmpd="sng" w="20500">
            <a:solidFill>
              <a:srgbClr val="999999"/>
            </a:solidFill>
            <a:prstDash val="solid"/>
            <a:round/>
            <a:headEnd len="sm" w="sm" type="none"/>
            <a:tailEnd len="med" w="med" type="triangle"/>
          </a:ln>
        </p:spPr>
      </p:cxnSp>
      <p:cxnSp>
        <p:nvCxnSpPr>
          <p:cNvPr id="826" name="Google Shape;826;h1863e7f528e27f29_0_291"/>
          <p:cNvCxnSpPr>
            <a:stCxn id="819" idx="6"/>
          </p:cNvCxnSpPr>
          <p:nvPr/>
        </p:nvCxnSpPr>
        <p:spPr>
          <a:xfrm flipH="1" rot="10800000">
            <a:off x="4025995" y="3001473"/>
            <a:ext cx="2223300" cy="1077900"/>
          </a:xfrm>
          <a:prstGeom prst="straightConnector1">
            <a:avLst/>
          </a:prstGeom>
          <a:noFill/>
          <a:ln cap="flat" cmpd="sng" w="20500">
            <a:solidFill>
              <a:srgbClr val="999999"/>
            </a:solidFill>
            <a:prstDash val="solid"/>
            <a:round/>
            <a:headEnd len="sm" w="sm" type="none"/>
            <a:tailEnd len="med" w="med" type="triangle"/>
          </a:ln>
        </p:spPr>
      </p:cxnSp>
      <p:cxnSp>
        <p:nvCxnSpPr>
          <p:cNvPr id="827" name="Google Shape;827;h1863e7f528e27f29_0_291"/>
          <p:cNvCxnSpPr>
            <a:stCxn id="818" idx="6"/>
            <a:endCxn id="822" idx="2"/>
          </p:cNvCxnSpPr>
          <p:nvPr/>
        </p:nvCxnSpPr>
        <p:spPr>
          <a:xfrm>
            <a:off x="4026026" y="3186449"/>
            <a:ext cx="2252400" cy="314700"/>
          </a:xfrm>
          <a:prstGeom prst="straightConnector1">
            <a:avLst/>
          </a:prstGeom>
          <a:noFill/>
          <a:ln cap="flat" cmpd="sng" w="20500">
            <a:solidFill>
              <a:srgbClr val="000000"/>
            </a:solidFill>
            <a:prstDash val="solid"/>
            <a:round/>
            <a:headEnd len="sm" w="sm" type="none"/>
            <a:tailEnd len="med" w="med" type="triangle"/>
          </a:ln>
        </p:spPr>
      </p:cxnSp>
      <p:cxnSp>
        <p:nvCxnSpPr>
          <p:cNvPr id="828" name="Google Shape;828;h1863e7f528e27f29_0_291"/>
          <p:cNvCxnSpPr>
            <a:stCxn id="819" idx="6"/>
          </p:cNvCxnSpPr>
          <p:nvPr/>
        </p:nvCxnSpPr>
        <p:spPr>
          <a:xfrm flipH="1" rot="10800000">
            <a:off x="4025995" y="3645873"/>
            <a:ext cx="2311800" cy="433500"/>
          </a:xfrm>
          <a:prstGeom prst="straightConnector1">
            <a:avLst/>
          </a:prstGeom>
          <a:noFill/>
          <a:ln cap="flat" cmpd="sng" w="20500">
            <a:solidFill>
              <a:srgbClr val="000000"/>
            </a:solidFill>
            <a:prstDash val="solid"/>
            <a:round/>
            <a:headEnd len="sm" w="sm" type="none"/>
            <a:tailEnd len="med" w="med" type="triangle"/>
          </a:ln>
        </p:spPr>
      </p:cxnSp>
      <p:cxnSp>
        <p:nvCxnSpPr>
          <p:cNvPr id="829" name="Google Shape;829;h1863e7f528e27f29_0_291"/>
          <p:cNvCxnSpPr>
            <a:stCxn id="821" idx="3"/>
          </p:cNvCxnSpPr>
          <p:nvPr/>
        </p:nvCxnSpPr>
        <p:spPr>
          <a:xfrm>
            <a:off x="4026013" y="2327088"/>
            <a:ext cx="2273700" cy="1072500"/>
          </a:xfrm>
          <a:prstGeom prst="straightConnector1">
            <a:avLst/>
          </a:prstGeom>
          <a:noFill/>
          <a:ln cap="flat" cmpd="sng" w="20500">
            <a:solidFill>
              <a:srgbClr val="000000"/>
            </a:solidFill>
            <a:prstDash val="solid"/>
            <a:round/>
            <a:headEnd len="sm" w="sm" type="none"/>
            <a:tailEnd len="med" w="med" type="triangle"/>
          </a:ln>
        </p:spPr>
      </p:cxnSp>
      <p:sp>
        <p:nvSpPr>
          <p:cNvPr id="830" name="Google Shape;830;h1863e7f528e27f29_0_291"/>
          <p:cNvSpPr/>
          <p:nvPr/>
        </p:nvSpPr>
        <p:spPr>
          <a:xfrm>
            <a:off x="8469776"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t/>
            </a:r>
            <a:endParaRPr b="0" sz="1241" strike="noStrike">
              <a:latin typeface="Arial"/>
              <a:ea typeface="Arial"/>
              <a:cs typeface="Arial"/>
              <a:sym typeface="Arial"/>
            </a:endParaRPr>
          </a:p>
        </p:txBody>
      </p:sp>
      <p:cxnSp>
        <p:nvCxnSpPr>
          <p:cNvPr id="831" name="Google Shape;831;h1863e7f528e27f29_0_291"/>
          <p:cNvCxnSpPr>
            <a:stCxn id="823" idx="6"/>
          </p:cNvCxnSpPr>
          <p:nvPr/>
        </p:nvCxnSpPr>
        <p:spPr>
          <a:xfrm>
            <a:off x="6755126" y="2884616"/>
            <a:ext cx="1693200" cy="249600"/>
          </a:xfrm>
          <a:prstGeom prst="straightConnector1">
            <a:avLst/>
          </a:prstGeom>
          <a:noFill/>
          <a:ln cap="flat" cmpd="sng" w="20500">
            <a:solidFill>
              <a:srgbClr val="666666"/>
            </a:solidFill>
            <a:prstDash val="solid"/>
            <a:round/>
            <a:headEnd len="sm" w="sm" type="none"/>
            <a:tailEnd len="med" w="med" type="triangle"/>
          </a:ln>
        </p:spPr>
      </p:cxnSp>
      <p:cxnSp>
        <p:nvCxnSpPr>
          <p:cNvPr id="832" name="Google Shape;832;h1863e7f528e27f29_0_291"/>
          <p:cNvCxnSpPr>
            <a:stCxn id="822" idx="6"/>
          </p:cNvCxnSpPr>
          <p:nvPr/>
        </p:nvCxnSpPr>
        <p:spPr>
          <a:xfrm flipH="1" rot="10800000">
            <a:off x="6784676" y="3279416"/>
            <a:ext cx="1701600" cy="221700"/>
          </a:xfrm>
          <a:prstGeom prst="straightConnector1">
            <a:avLst/>
          </a:prstGeom>
          <a:noFill/>
          <a:ln cap="flat" cmpd="sng" w="20500">
            <a:solidFill>
              <a:srgbClr val="666666"/>
            </a:solidFill>
            <a:prstDash val="solid"/>
            <a:round/>
            <a:headEnd len="sm" w="sm" type="none"/>
            <a:tailEnd len="med" w="med" type="triangle"/>
          </a:ln>
        </p:spPr>
      </p:cxnSp>
      <p:sp>
        <p:nvSpPr>
          <p:cNvPr id="833" name="Google Shape;833;h1863e7f528e27f29_0_291"/>
          <p:cNvSpPr txBox="1"/>
          <p:nvPr/>
        </p:nvSpPr>
        <p:spPr>
          <a:xfrm>
            <a:off x="4168575" y="2041675"/>
            <a:ext cx="6162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-0.5</a:t>
            </a:r>
            <a:endParaRPr b="0" sz="1800" strike="noStrike">
              <a:latin typeface="Arial"/>
              <a:ea typeface="Arial"/>
              <a:cs typeface="Arial"/>
              <a:sym typeface="Arial"/>
            </a:endParaRPr>
          </a:p>
        </p:txBody>
      </p:sp>
      <p:sp>
        <p:nvSpPr>
          <p:cNvPr id="834" name="Google Shape;834;h1863e7f528e27f29_0_291"/>
          <p:cNvSpPr txBox="1"/>
          <p:nvPr/>
        </p:nvSpPr>
        <p:spPr>
          <a:xfrm>
            <a:off x="4106200" y="2487850"/>
            <a:ext cx="6162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-1.5</a:t>
            </a:r>
            <a:endParaRPr b="0" sz="1800" strike="noStrike">
              <a:latin typeface="Arial"/>
              <a:ea typeface="Arial"/>
              <a:cs typeface="Arial"/>
              <a:sym typeface="Arial"/>
            </a:endParaRPr>
          </a:p>
        </p:txBody>
      </p:sp>
      <p:sp>
        <p:nvSpPr>
          <p:cNvPr id="835" name="Google Shape;835;h1863e7f528e27f29_0_291"/>
          <p:cNvSpPr txBox="1"/>
          <p:nvPr/>
        </p:nvSpPr>
        <p:spPr>
          <a:xfrm>
            <a:off x="4492750" y="27993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36" name="Google Shape;836;h1863e7f528e27f29_0_291"/>
          <p:cNvSpPr txBox="1"/>
          <p:nvPr/>
        </p:nvSpPr>
        <p:spPr>
          <a:xfrm>
            <a:off x="4492750" y="324905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37" name="Google Shape;837;h1863e7f528e27f29_0_291"/>
          <p:cNvSpPr txBox="1"/>
          <p:nvPr/>
        </p:nvSpPr>
        <p:spPr>
          <a:xfrm>
            <a:off x="4274075" y="35541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38" name="Google Shape;838;h1863e7f528e27f29_0_291"/>
          <p:cNvSpPr txBox="1"/>
          <p:nvPr/>
        </p:nvSpPr>
        <p:spPr>
          <a:xfrm>
            <a:off x="4302075" y="40428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39" name="Google Shape;839;h1863e7f528e27f29_0_291"/>
          <p:cNvSpPr txBox="1"/>
          <p:nvPr/>
        </p:nvSpPr>
        <p:spPr>
          <a:xfrm>
            <a:off x="7385675" y="2696250"/>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40" name="Google Shape;840;h1863e7f528e27f29_0_291"/>
          <p:cNvSpPr txBox="1"/>
          <p:nvPr/>
        </p:nvSpPr>
        <p:spPr>
          <a:xfrm>
            <a:off x="7288175" y="3067950"/>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41" name="Google Shape;841;h1863e7f528e27f29_0_291"/>
          <p:cNvSpPr txBox="1"/>
          <p:nvPr/>
        </p:nvSpPr>
        <p:spPr>
          <a:xfrm>
            <a:off x="3519626" y="30193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1</a:t>
            </a:r>
            <a:r>
              <a:rPr lang="pt-BR" sz="1241">
                <a:solidFill>
                  <a:schemeClr val="dk1"/>
                </a:solidFill>
              </a:rPr>
              <a:t>=</a:t>
            </a:r>
            <a:r>
              <a:rPr b="1" lang="pt-BR" sz="1241">
                <a:solidFill>
                  <a:srgbClr val="0000FF"/>
                </a:solidFill>
              </a:rPr>
              <a:t>0</a:t>
            </a:r>
            <a:endParaRPr b="1" sz="1241">
              <a:solidFill>
                <a:srgbClr val="0000FF"/>
              </a:solidFill>
            </a:endParaRPr>
          </a:p>
        </p:txBody>
      </p:sp>
      <p:sp>
        <p:nvSpPr>
          <p:cNvPr id="842" name="Google Shape;842;h1863e7f528e27f29_0_291"/>
          <p:cNvSpPr txBox="1"/>
          <p:nvPr/>
        </p:nvSpPr>
        <p:spPr>
          <a:xfrm>
            <a:off x="3533601" y="387863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2</a:t>
            </a:r>
            <a:r>
              <a:rPr lang="pt-BR" sz="1241">
                <a:solidFill>
                  <a:schemeClr val="dk1"/>
                </a:solidFill>
              </a:rPr>
              <a:t>=</a:t>
            </a:r>
            <a:r>
              <a:rPr b="1" lang="pt-BR" sz="1241">
                <a:solidFill>
                  <a:srgbClr val="0000FF"/>
                </a:solidFill>
              </a:rPr>
              <a:t>0</a:t>
            </a:r>
            <a:endParaRPr b="1" sz="1241">
              <a:solidFill>
                <a:srgbClr val="0000FF"/>
              </a:solidFill>
            </a:endParaRPr>
          </a:p>
        </p:txBody>
      </p:sp>
      <p:sp>
        <p:nvSpPr>
          <p:cNvPr id="843" name="Google Shape;843;h1863e7f528e27f29_0_291"/>
          <p:cNvSpPr txBox="1"/>
          <p:nvPr/>
        </p:nvSpPr>
        <p:spPr>
          <a:xfrm>
            <a:off x="6589500" y="2370725"/>
            <a:ext cx="50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OR</a:t>
            </a:r>
            <a:endParaRPr>
              <a:solidFill>
                <a:srgbClr val="434343"/>
              </a:solidFill>
              <a:latin typeface="Comfortaa"/>
              <a:ea typeface="Comfortaa"/>
              <a:cs typeface="Comfortaa"/>
              <a:sym typeface="Comfortaa"/>
            </a:endParaRPr>
          </a:p>
        </p:txBody>
      </p:sp>
      <p:sp>
        <p:nvSpPr>
          <p:cNvPr id="844" name="Google Shape;844;h1863e7f528e27f29_0_291"/>
          <p:cNvSpPr txBox="1"/>
          <p:nvPr/>
        </p:nvSpPr>
        <p:spPr>
          <a:xfrm>
            <a:off x="6603123" y="2986348"/>
            <a:ext cx="6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AND</a:t>
            </a:r>
            <a:endParaRPr>
              <a:solidFill>
                <a:srgbClr val="434343"/>
              </a:solidFill>
              <a:latin typeface="Comfortaa"/>
              <a:ea typeface="Comfortaa"/>
              <a:cs typeface="Comfortaa"/>
              <a:sym typeface="Comfortaa"/>
            </a:endParaRPr>
          </a:p>
        </p:txBody>
      </p:sp>
      <p:sp>
        <p:nvSpPr>
          <p:cNvPr id="845" name="Google Shape;845;h1863e7f528e27f29_0_291"/>
          <p:cNvSpPr txBox="1"/>
          <p:nvPr/>
        </p:nvSpPr>
        <p:spPr>
          <a:xfrm>
            <a:off x="6188275" y="2738425"/>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h</a:t>
            </a:r>
            <a:r>
              <a:rPr baseline="-25000" lang="pt-BR" sz="1041">
                <a:solidFill>
                  <a:schemeClr val="dk1"/>
                </a:solidFill>
              </a:rPr>
              <a:t>1</a:t>
            </a:r>
            <a:r>
              <a:rPr lang="pt-BR" sz="1041">
                <a:solidFill>
                  <a:schemeClr val="dk1"/>
                </a:solidFill>
              </a:rPr>
              <a:t>=</a:t>
            </a:r>
            <a:r>
              <a:rPr lang="pt-BR" sz="1041">
                <a:solidFill>
                  <a:srgbClr val="FF0000"/>
                </a:solidFill>
              </a:rPr>
              <a:t>0</a:t>
            </a:r>
            <a:endParaRPr sz="1041">
              <a:solidFill>
                <a:srgbClr val="FF0000"/>
              </a:solidFill>
            </a:endParaRPr>
          </a:p>
        </p:txBody>
      </p:sp>
      <p:sp>
        <p:nvSpPr>
          <p:cNvPr id="846" name="Google Shape;846;h1863e7f528e27f29_0_291"/>
          <p:cNvSpPr txBox="1"/>
          <p:nvPr/>
        </p:nvSpPr>
        <p:spPr>
          <a:xfrm>
            <a:off x="6223375" y="3347563"/>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h</a:t>
            </a:r>
            <a:r>
              <a:rPr baseline="-25000" lang="pt-BR" sz="1041">
                <a:solidFill>
                  <a:schemeClr val="dk1"/>
                </a:solidFill>
              </a:rPr>
              <a:t>2</a:t>
            </a:r>
            <a:r>
              <a:rPr lang="pt-BR" sz="1041">
                <a:solidFill>
                  <a:schemeClr val="dk1"/>
                </a:solidFill>
              </a:rPr>
              <a:t>=</a:t>
            </a:r>
            <a:r>
              <a:rPr lang="pt-BR" sz="1041">
                <a:solidFill>
                  <a:srgbClr val="FF0000"/>
                </a:solidFill>
              </a:rPr>
              <a:t>0</a:t>
            </a:r>
            <a:endParaRPr sz="1041">
              <a:solidFill>
                <a:srgbClr val="FF0000"/>
              </a:solidFill>
            </a:endParaRPr>
          </a:p>
        </p:txBody>
      </p:sp>
      <p:sp>
        <p:nvSpPr>
          <p:cNvPr id="847" name="Google Shape;847;h1863e7f528e27f29_0_291"/>
          <p:cNvSpPr txBox="1"/>
          <p:nvPr/>
        </p:nvSpPr>
        <p:spPr>
          <a:xfrm>
            <a:off x="8414875" y="3034775"/>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y</a:t>
            </a:r>
            <a:r>
              <a:rPr lang="pt-BR" sz="1041">
                <a:solidFill>
                  <a:schemeClr val="dk1"/>
                </a:solidFill>
              </a:rPr>
              <a:t>=</a:t>
            </a:r>
            <a:r>
              <a:rPr lang="pt-BR" sz="1041">
                <a:solidFill>
                  <a:srgbClr val="FF0000"/>
                </a:solidFill>
              </a:rPr>
              <a:t>0</a:t>
            </a:r>
            <a:endParaRPr sz="1041">
              <a:solidFill>
                <a:srgbClr val="FF0000"/>
              </a:solidFill>
            </a:endParaRPr>
          </a:p>
        </p:txBody>
      </p:sp>
      <p:sp>
        <p:nvSpPr>
          <p:cNvPr id="848" name="Google Shape;848;h1863e7f528e27f29_0_291"/>
          <p:cNvSpPr txBox="1"/>
          <p:nvPr/>
        </p:nvSpPr>
        <p:spPr>
          <a:xfrm>
            <a:off x="8378675" y="2494200"/>
            <a:ext cx="6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X</a:t>
            </a:r>
            <a:r>
              <a:rPr lang="pt-BR">
                <a:solidFill>
                  <a:srgbClr val="434343"/>
                </a:solidFill>
                <a:latin typeface="Comfortaa"/>
                <a:ea typeface="Comfortaa"/>
                <a:cs typeface="Comfortaa"/>
                <a:sym typeface="Comfortaa"/>
              </a:rPr>
              <a:t>OR</a:t>
            </a:r>
            <a:endParaRPr>
              <a:solidFill>
                <a:srgbClr val="434343"/>
              </a:solidFill>
              <a:latin typeface="Comfortaa"/>
              <a:ea typeface="Comfortaa"/>
              <a:cs typeface="Comfortaa"/>
              <a:sym typeface="Comfortaa"/>
            </a:endParaRPr>
          </a:p>
        </p:txBody>
      </p:sp>
      <p:sp>
        <p:nvSpPr>
          <p:cNvPr id="849" name="Google Shape;849;h1863e7f528e27f29_0_291"/>
          <p:cNvSpPr/>
          <p:nvPr/>
        </p:nvSpPr>
        <p:spPr>
          <a:xfrm>
            <a:off x="6234626" y="19661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850" name="Google Shape;850;h1863e7f528e27f29_0_291"/>
          <p:cNvSpPr txBox="1"/>
          <p:nvPr/>
        </p:nvSpPr>
        <p:spPr>
          <a:xfrm>
            <a:off x="6234638" y="205226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851" name="Google Shape;851;h1863e7f528e27f29_0_291"/>
          <p:cNvCxnSpPr>
            <a:stCxn id="850" idx="3"/>
          </p:cNvCxnSpPr>
          <p:nvPr/>
        </p:nvCxnSpPr>
        <p:spPr>
          <a:xfrm>
            <a:off x="6741038" y="2219363"/>
            <a:ext cx="1781700" cy="778800"/>
          </a:xfrm>
          <a:prstGeom prst="straightConnector1">
            <a:avLst/>
          </a:prstGeom>
          <a:noFill/>
          <a:ln cap="flat" cmpd="sng" w="20500">
            <a:solidFill>
              <a:srgbClr val="666666"/>
            </a:solidFill>
            <a:prstDash val="solid"/>
            <a:round/>
            <a:headEnd len="sm" w="sm" type="none"/>
            <a:tailEnd len="med" w="med" type="triangle"/>
          </a:ln>
        </p:spPr>
      </p:cxnSp>
      <p:sp>
        <p:nvSpPr>
          <p:cNvPr id="852" name="Google Shape;852;h1863e7f528e27f29_0_291"/>
          <p:cNvSpPr txBox="1"/>
          <p:nvPr/>
        </p:nvSpPr>
        <p:spPr>
          <a:xfrm>
            <a:off x="7385675" y="2219375"/>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h1863e7f528e27f29_0_3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3</a:t>
            </a:r>
            <a:endParaRPr/>
          </a:p>
        </p:txBody>
      </p:sp>
      <p:graphicFrame>
        <p:nvGraphicFramePr>
          <p:cNvPr id="858" name="Google Shape;858;h1863e7f528e27f29_0_358"/>
          <p:cNvGraphicFramePr/>
          <p:nvPr/>
        </p:nvGraphicFramePr>
        <p:xfrm>
          <a:off x="182488" y="20591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pt-BR" sz="2400"/>
                        <a:t>y</a:t>
                      </a:r>
                      <a:endParaRPr b="1" sz="2400"/>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pt-BR" sz="2400">
                          <a:solidFill>
                            <a:srgbClr val="0000FF"/>
                          </a:solidFill>
                        </a:rPr>
                        <a:t>0</a:t>
                      </a:r>
                      <a:endParaRPr b="1" sz="2400">
                        <a:solidFill>
                          <a:srgbClr val="0000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pt-BR" sz="2400">
                          <a:solidFill>
                            <a:srgbClr val="0000FF"/>
                          </a:solidFill>
                        </a:rPr>
                        <a:t>1</a:t>
                      </a:r>
                      <a:endParaRPr b="1" sz="2400">
                        <a:solidFill>
                          <a:srgbClr val="0000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pt-BR" sz="2400">
                          <a:solidFill>
                            <a:srgbClr val="FF0000"/>
                          </a:solidFill>
                        </a:rPr>
                        <a:t>1</a:t>
                      </a:r>
                      <a:endParaRPr b="1" sz="2400">
                        <a:solidFill>
                          <a:srgbClr val="FF0000"/>
                        </a:solidFill>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bl>
          </a:graphicData>
        </a:graphic>
      </p:graphicFrame>
      <p:sp>
        <p:nvSpPr>
          <p:cNvPr id="859" name="Google Shape;859;h1863e7f528e27f29_0_358"/>
          <p:cNvSpPr txBox="1"/>
          <p:nvPr/>
        </p:nvSpPr>
        <p:spPr>
          <a:xfrm>
            <a:off x="1126100" y="15329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XOR</a:t>
            </a:r>
            <a:endParaRPr b="1" sz="3000">
              <a:solidFill>
                <a:srgbClr val="434343"/>
              </a:solidFill>
              <a:latin typeface="Comfortaa"/>
              <a:ea typeface="Comfortaa"/>
              <a:cs typeface="Comfortaa"/>
              <a:sym typeface="Comfortaa"/>
            </a:endParaRPr>
          </a:p>
        </p:txBody>
      </p:sp>
      <p:sp>
        <p:nvSpPr>
          <p:cNvPr id="860" name="Google Shape;860;h1863e7f528e27f29_0_358"/>
          <p:cNvSpPr/>
          <p:nvPr/>
        </p:nvSpPr>
        <p:spPr>
          <a:xfrm>
            <a:off x="3519626" y="293324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861" name="Google Shape;861;h1863e7f528e27f29_0_358"/>
          <p:cNvSpPr/>
          <p:nvPr/>
        </p:nvSpPr>
        <p:spPr>
          <a:xfrm>
            <a:off x="3519595" y="3826173"/>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862" name="Google Shape;862;h1863e7f528e27f29_0_358"/>
          <p:cNvSpPr/>
          <p:nvPr/>
        </p:nvSpPr>
        <p:spPr>
          <a:xfrm>
            <a:off x="3519601" y="2073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863" name="Google Shape;863;h1863e7f528e27f29_0_358"/>
          <p:cNvSpPr txBox="1"/>
          <p:nvPr/>
        </p:nvSpPr>
        <p:spPr>
          <a:xfrm>
            <a:off x="3519613" y="21599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sp>
        <p:nvSpPr>
          <p:cNvPr id="864" name="Google Shape;864;h1863e7f528e27f29_0_358"/>
          <p:cNvSpPr/>
          <p:nvPr/>
        </p:nvSpPr>
        <p:spPr>
          <a:xfrm>
            <a:off x="6278276" y="3247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sp>
        <p:nvSpPr>
          <p:cNvPr id="865" name="Google Shape;865;h1863e7f528e27f29_0_358"/>
          <p:cNvSpPr/>
          <p:nvPr/>
        </p:nvSpPr>
        <p:spPr>
          <a:xfrm>
            <a:off x="6248726" y="26314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cxnSp>
        <p:nvCxnSpPr>
          <p:cNvPr id="866" name="Google Shape;866;h1863e7f528e27f29_0_358"/>
          <p:cNvCxnSpPr>
            <a:stCxn id="863" idx="3"/>
          </p:cNvCxnSpPr>
          <p:nvPr/>
        </p:nvCxnSpPr>
        <p:spPr>
          <a:xfrm>
            <a:off x="4026013" y="2327088"/>
            <a:ext cx="2217000" cy="472200"/>
          </a:xfrm>
          <a:prstGeom prst="straightConnector1">
            <a:avLst/>
          </a:prstGeom>
          <a:noFill/>
          <a:ln cap="flat" cmpd="sng" w="20500">
            <a:solidFill>
              <a:srgbClr val="999999"/>
            </a:solidFill>
            <a:prstDash val="solid"/>
            <a:round/>
            <a:headEnd len="sm" w="sm" type="none"/>
            <a:tailEnd len="med" w="med" type="triangle"/>
          </a:ln>
        </p:spPr>
      </p:cxnSp>
      <p:cxnSp>
        <p:nvCxnSpPr>
          <p:cNvPr id="867" name="Google Shape;867;h1863e7f528e27f29_0_358"/>
          <p:cNvCxnSpPr>
            <a:stCxn id="860" idx="6"/>
            <a:endCxn id="865" idx="2"/>
          </p:cNvCxnSpPr>
          <p:nvPr/>
        </p:nvCxnSpPr>
        <p:spPr>
          <a:xfrm flipH="1" rot="10800000">
            <a:off x="4026026" y="2884649"/>
            <a:ext cx="2222700" cy="301800"/>
          </a:xfrm>
          <a:prstGeom prst="straightConnector1">
            <a:avLst/>
          </a:prstGeom>
          <a:noFill/>
          <a:ln cap="flat" cmpd="sng" w="20500">
            <a:solidFill>
              <a:srgbClr val="999999"/>
            </a:solidFill>
            <a:prstDash val="solid"/>
            <a:round/>
            <a:headEnd len="sm" w="sm" type="none"/>
            <a:tailEnd len="med" w="med" type="triangle"/>
          </a:ln>
        </p:spPr>
      </p:cxnSp>
      <p:cxnSp>
        <p:nvCxnSpPr>
          <p:cNvPr id="868" name="Google Shape;868;h1863e7f528e27f29_0_358"/>
          <p:cNvCxnSpPr>
            <a:stCxn id="861" idx="6"/>
          </p:cNvCxnSpPr>
          <p:nvPr/>
        </p:nvCxnSpPr>
        <p:spPr>
          <a:xfrm flipH="1" rot="10800000">
            <a:off x="4025995" y="3001473"/>
            <a:ext cx="2223300" cy="1077900"/>
          </a:xfrm>
          <a:prstGeom prst="straightConnector1">
            <a:avLst/>
          </a:prstGeom>
          <a:noFill/>
          <a:ln cap="flat" cmpd="sng" w="20500">
            <a:solidFill>
              <a:srgbClr val="999999"/>
            </a:solidFill>
            <a:prstDash val="solid"/>
            <a:round/>
            <a:headEnd len="sm" w="sm" type="none"/>
            <a:tailEnd len="med" w="med" type="triangle"/>
          </a:ln>
        </p:spPr>
      </p:cxnSp>
      <p:cxnSp>
        <p:nvCxnSpPr>
          <p:cNvPr id="869" name="Google Shape;869;h1863e7f528e27f29_0_358"/>
          <p:cNvCxnSpPr>
            <a:stCxn id="860" idx="6"/>
            <a:endCxn id="864" idx="2"/>
          </p:cNvCxnSpPr>
          <p:nvPr/>
        </p:nvCxnSpPr>
        <p:spPr>
          <a:xfrm>
            <a:off x="4026026" y="3186449"/>
            <a:ext cx="2252400" cy="314700"/>
          </a:xfrm>
          <a:prstGeom prst="straightConnector1">
            <a:avLst/>
          </a:prstGeom>
          <a:noFill/>
          <a:ln cap="flat" cmpd="sng" w="20500">
            <a:solidFill>
              <a:srgbClr val="000000"/>
            </a:solidFill>
            <a:prstDash val="solid"/>
            <a:round/>
            <a:headEnd len="sm" w="sm" type="none"/>
            <a:tailEnd len="med" w="med" type="triangle"/>
          </a:ln>
        </p:spPr>
      </p:cxnSp>
      <p:cxnSp>
        <p:nvCxnSpPr>
          <p:cNvPr id="870" name="Google Shape;870;h1863e7f528e27f29_0_358"/>
          <p:cNvCxnSpPr>
            <a:stCxn id="861" idx="6"/>
          </p:cNvCxnSpPr>
          <p:nvPr/>
        </p:nvCxnSpPr>
        <p:spPr>
          <a:xfrm flipH="1" rot="10800000">
            <a:off x="4025995" y="3645873"/>
            <a:ext cx="2311800" cy="433500"/>
          </a:xfrm>
          <a:prstGeom prst="straightConnector1">
            <a:avLst/>
          </a:prstGeom>
          <a:noFill/>
          <a:ln cap="flat" cmpd="sng" w="20500">
            <a:solidFill>
              <a:srgbClr val="000000"/>
            </a:solidFill>
            <a:prstDash val="solid"/>
            <a:round/>
            <a:headEnd len="sm" w="sm" type="none"/>
            <a:tailEnd len="med" w="med" type="triangle"/>
          </a:ln>
        </p:spPr>
      </p:cxnSp>
      <p:sp>
        <p:nvSpPr>
          <p:cNvPr id="871" name="Google Shape;871;h1863e7f528e27f29_0_358"/>
          <p:cNvSpPr/>
          <p:nvPr/>
        </p:nvSpPr>
        <p:spPr>
          <a:xfrm>
            <a:off x="8469776"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t/>
            </a:r>
            <a:endParaRPr b="0" sz="1241" strike="noStrike">
              <a:latin typeface="Arial"/>
              <a:ea typeface="Arial"/>
              <a:cs typeface="Arial"/>
              <a:sym typeface="Arial"/>
            </a:endParaRPr>
          </a:p>
        </p:txBody>
      </p:sp>
      <p:cxnSp>
        <p:nvCxnSpPr>
          <p:cNvPr id="872" name="Google Shape;872;h1863e7f528e27f29_0_358"/>
          <p:cNvCxnSpPr>
            <a:stCxn id="865" idx="6"/>
          </p:cNvCxnSpPr>
          <p:nvPr/>
        </p:nvCxnSpPr>
        <p:spPr>
          <a:xfrm>
            <a:off x="6755126" y="2884616"/>
            <a:ext cx="1693200" cy="249600"/>
          </a:xfrm>
          <a:prstGeom prst="straightConnector1">
            <a:avLst/>
          </a:prstGeom>
          <a:noFill/>
          <a:ln cap="flat" cmpd="sng" w="20500">
            <a:solidFill>
              <a:srgbClr val="666666"/>
            </a:solidFill>
            <a:prstDash val="solid"/>
            <a:round/>
            <a:headEnd len="sm" w="sm" type="none"/>
            <a:tailEnd len="med" w="med" type="triangle"/>
          </a:ln>
        </p:spPr>
      </p:cxnSp>
      <p:cxnSp>
        <p:nvCxnSpPr>
          <p:cNvPr id="873" name="Google Shape;873;h1863e7f528e27f29_0_358"/>
          <p:cNvCxnSpPr>
            <a:stCxn id="864" idx="6"/>
          </p:cNvCxnSpPr>
          <p:nvPr/>
        </p:nvCxnSpPr>
        <p:spPr>
          <a:xfrm flipH="1" rot="10800000">
            <a:off x="6784676" y="3279416"/>
            <a:ext cx="1701600" cy="221700"/>
          </a:xfrm>
          <a:prstGeom prst="straightConnector1">
            <a:avLst/>
          </a:prstGeom>
          <a:noFill/>
          <a:ln cap="flat" cmpd="sng" w="20500">
            <a:solidFill>
              <a:srgbClr val="666666"/>
            </a:solidFill>
            <a:prstDash val="solid"/>
            <a:round/>
            <a:headEnd len="sm" w="sm" type="none"/>
            <a:tailEnd len="med" w="med" type="triangle"/>
          </a:ln>
        </p:spPr>
      </p:cxnSp>
      <p:sp>
        <p:nvSpPr>
          <p:cNvPr id="874" name="Google Shape;874;h1863e7f528e27f29_0_358"/>
          <p:cNvSpPr txBox="1"/>
          <p:nvPr/>
        </p:nvSpPr>
        <p:spPr>
          <a:xfrm>
            <a:off x="4168575" y="2041675"/>
            <a:ext cx="6162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-0.5</a:t>
            </a:r>
            <a:endParaRPr b="0" sz="1800" strike="noStrike">
              <a:latin typeface="Arial"/>
              <a:ea typeface="Arial"/>
              <a:cs typeface="Arial"/>
              <a:sym typeface="Arial"/>
            </a:endParaRPr>
          </a:p>
        </p:txBody>
      </p:sp>
      <p:sp>
        <p:nvSpPr>
          <p:cNvPr id="875" name="Google Shape;875;h1863e7f528e27f29_0_358"/>
          <p:cNvSpPr txBox="1"/>
          <p:nvPr/>
        </p:nvSpPr>
        <p:spPr>
          <a:xfrm>
            <a:off x="4106200" y="2487850"/>
            <a:ext cx="6162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-1.5</a:t>
            </a:r>
            <a:endParaRPr b="0" sz="1800" strike="noStrike">
              <a:latin typeface="Arial"/>
              <a:ea typeface="Arial"/>
              <a:cs typeface="Arial"/>
              <a:sym typeface="Arial"/>
            </a:endParaRPr>
          </a:p>
        </p:txBody>
      </p:sp>
      <p:sp>
        <p:nvSpPr>
          <p:cNvPr id="876" name="Google Shape;876;h1863e7f528e27f29_0_358"/>
          <p:cNvSpPr txBox="1"/>
          <p:nvPr/>
        </p:nvSpPr>
        <p:spPr>
          <a:xfrm>
            <a:off x="4492750" y="27993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77" name="Google Shape;877;h1863e7f528e27f29_0_358"/>
          <p:cNvSpPr txBox="1"/>
          <p:nvPr/>
        </p:nvSpPr>
        <p:spPr>
          <a:xfrm>
            <a:off x="4492750" y="324905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78" name="Google Shape;878;h1863e7f528e27f29_0_358"/>
          <p:cNvSpPr txBox="1"/>
          <p:nvPr/>
        </p:nvSpPr>
        <p:spPr>
          <a:xfrm>
            <a:off x="4274075" y="35541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79" name="Google Shape;879;h1863e7f528e27f29_0_358"/>
          <p:cNvSpPr txBox="1"/>
          <p:nvPr/>
        </p:nvSpPr>
        <p:spPr>
          <a:xfrm>
            <a:off x="4302075" y="40428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80" name="Google Shape;880;h1863e7f528e27f29_0_358"/>
          <p:cNvSpPr txBox="1"/>
          <p:nvPr/>
        </p:nvSpPr>
        <p:spPr>
          <a:xfrm>
            <a:off x="7385675" y="2696250"/>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81" name="Google Shape;881;h1863e7f528e27f29_0_358"/>
          <p:cNvSpPr txBox="1"/>
          <p:nvPr/>
        </p:nvSpPr>
        <p:spPr>
          <a:xfrm>
            <a:off x="7288175" y="3067950"/>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882" name="Google Shape;882;h1863e7f528e27f29_0_358"/>
          <p:cNvSpPr txBox="1"/>
          <p:nvPr/>
        </p:nvSpPr>
        <p:spPr>
          <a:xfrm>
            <a:off x="3519626" y="30193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1</a:t>
            </a:r>
            <a:r>
              <a:rPr lang="pt-BR" sz="1241">
                <a:solidFill>
                  <a:schemeClr val="dk1"/>
                </a:solidFill>
              </a:rPr>
              <a:t>=</a:t>
            </a:r>
            <a:r>
              <a:rPr b="1" lang="pt-BR" sz="1241">
                <a:solidFill>
                  <a:srgbClr val="0000FF"/>
                </a:solidFill>
              </a:rPr>
              <a:t>0</a:t>
            </a:r>
            <a:endParaRPr b="1" sz="1241">
              <a:solidFill>
                <a:srgbClr val="0000FF"/>
              </a:solidFill>
            </a:endParaRPr>
          </a:p>
        </p:txBody>
      </p:sp>
      <p:sp>
        <p:nvSpPr>
          <p:cNvPr id="883" name="Google Shape;883;h1863e7f528e27f29_0_358"/>
          <p:cNvSpPr txBox="1"/>
          <p:nvPr/>
        </p:nvSpPr>
        <p:spPr>
          <a:xfrm>
            <a:off x="3533601" y="387863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2</a:t>
            </a:r>
            <a:r>
              <a:rPr lang="pt-BR" sz="1241">
                <a:solidFill>
                  <a:schemeClr val="dk1"/>
                </a:solidFill>
              </a:rPr>
              <a:t>=</a:t>
            </a:r>
            <a:r>
              <a:rPr b="1" lang="pt-BR" sz="1241">
                <a:solidFill>
                  <a:srgbClr val="0000FF"/>
                </a:solidFill>
              </a:rPr>
              <a:t>1</a:t>
            </a:r>
            <a:endParaRPr b="1" sz="1241">
              <a:solidFill>
                <a:srgbClr val="0000FF"/>
              </a:solidFill>
            </a:endParaRPr>
          </a:p>
        </p:txBody>
      </p:sp>
      <p:sp>
        <p:nvSpPr>
          <p:cNvPr id="884" name="Google Shape;884;h1863e7f528e27f29_0_358"/>
          <p:cNvSpPr txBox="1"/>
          <p:nvPr/>
        </p:nvSpPr>
        <p:spPr>
          <a:xfrm>
            <a:off x="6589500" y="2370725"/>
            <a:ext cx="50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OR</a:t>
            </a:r>
            <a:endParaRPr>
              <a:solidFill>
                <a:srgbClr val="434343"/>
              </a:solidFill>
              <a:latin typeface="Comfortaa"/>
              <a:ea typeface="Comfortaa"/>
              <a:cs typeface="Comfortaa"/>
              <a:sym typeface="Comfortaa"/>
            </a:endParaRPr>
          </a:p>
        </p:txBody>
      </p:sp>
      <p:sp>
        <p:nvSpPr>
          <p:cNvPr id="885" name="Google Shape;885;h1863e7f528e27f29_0_358"/>
          <p:cNvSpPr txBox="1"/>
          <p:nvPr/>
        </p:nvSpPr>
        <p:spPr>
          <a:xfrm>
            <a:off x="6603123" y="2986348"/>
            <a:ext cx="6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AND</a:t>
            </a:r>
            <a:endParaRPr>
              <a:solidFill>
                <a:srgbClr val="434343"/>
              </a:solidFill>
              <a:latin typeface="Comfortaa"/>
              <a:ea typeface="Comfortaa"/>
              <a:cs typeface="Comfortaa"/>
              <a:sym typeface="Comfortaa"/>
            </a:endParaRPr>
          </a:p>
        </p:txBody>
      </p:sp>
      <p:sp>
        <p:nvSpPr>
          <p:cNvPr id="886" name="Google Shape;886;h1863e7f528e27f29_0_358"/>
          <p:cNvSpPr txBox="1"/>
          <p:nvPr/>
        </p:nvSpPr>
        <p:spPr>
          <a:xfrm>
            <a:off x="6188275" y="2738425"/>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h</a:t>
            </a:r>
            <a:r>
              <a:rPr baseline="-25000" lang="pt-BR" sz="1041">
                <a:solidFill>
                  <a:schemeClr val="dk1"/>
                </a:solidFill>
              </a:rPr>
              <a:t>1</a:t>
            </a:r>
            <a:r>
              <a:rPr lang="pt-BR" sz="1041">
                <a:solidFill>
                  <a:schemeClr val="dk1"/>
                </a:solidFill>
              </a:rPr>
              <a:t>=</a:t>
            </a:r>
            <a:r>
              <a:rPr lang="pt-BR" sz="1041">
                <a:solidFill>
                  <a:srgbClr val="FF0000"/>
                </a:solidFill>
              </a:rPr>
              <a:t>1</a:t>
            </a:r>
            <a:endParaRPr sz="1041">
              <a:solidFill>
                <a:srgbClr val="FF0000"/>
              </a:solidFill>
            </a:endParaRPr>
          </a:p>
        </p:txBody>
      </p:sp>
      <p:sp>
        <p:nvSpPr>
          <p:cNvPr id="887" name="Google Shape;887;h1863e7f528e27f29_0_358"/>
          <p:cNvSpPr txBox="1"/>
          <p:nvPr/>
        </p:nvSpPr>
        <p:spPr>
          <a:xfrm>
            <a:off x="6223375" y="3347563"/>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h</a:t>
            </a:r>
            <a:r>
              <a:rPr baseline="-25000" lang="pt-BR" sz="1041">
                <a:solidFill>
                  <a:schemeClr val="dk1"/>
                </a:solidFill>
              </a:rPr>
              <a:t>2</a:t>
            </a:r>
            <a:r>
              <a:rPr lang="pt-BR" sz="1041">
                <a:solidFill>
                  <a:schemeClr val="dk1"/>
                </a:solidFill>
              </a:rPr>
              <a:t>=</a:t>
            </a:r>
            <a:r>
              <a:rPr lang="pt-BR" sz="1041">
                <a:solidFill>
                  <a:srgbClr val="FF0000"/>
                </a:solidFill>
              </a:rPr>
              <a:t>0</a:t>
            </a:r>
            <a:endParaRPr sz="1041">
              <a:solidFill>
                <a:srgbClr val="FF0000"/>
              </a:solidFill>
            </a:endParaRPr>
          </a:p>
        </p:txBody>
      </p:sp>
      <p:sp>
        <p:nvSpPr>
          <p:cNvPr id="888" name="Google Shape;888;h1863e7f528e27f29_0_358"/>
          <p:cNvSpPr txBox="1"/>
          <p:nvPr/>
        </p:nvSpPr>
        <p:spPr>
          <a:xfrm>
            <a:off x="8414875" y="3034775"/>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y=</a:t>
            </a:r>
            <a:r>
              <a:rPr lang="pt-BR" sz="1041">
                <a:solidFill>
                  <a:srgbClr val="FF0000"/>
                </a:solidFill>
              </a:rPr>
              <a:t>1</a:t>
            </a:r>
            <a:endParaRPr sz="1041">
              <a:solidFill>
                <a:srgbClr val="FF0000"/>
              </a:solidFill>
            </a:endParaRPr>
          </a:p>
        </p:txBody>
      </p:sp>
      <p:sp>
        <p:nvSpPr>
          <p:cNvPr id="889" name="Google Shape;889;h1863e7f528e27f29_0_358"/>
          <p:cNvSpPr txBox="1"/>
          <p:nvPr/>
        </p:nvSpPr>
        <p:spPr>
          <a:xfrm>
            <a:off x="8378675" y="2494200"/>
            <a:ext cx="6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XOR</a:t>
            </a:r>
            <a:endParaRPr>
              <a:solidFill>
                <a:srgbClr val="434343"/>
              </a:solidFill>
              <a:latin typeface="Comfortaa"/>
              <a:ea typeface="Comfortaa"/>
              <a:cs typeface="Comfortaa"/>
              <a:sym typeface="Comfortaa"/>
            </a:endParaRPr>
          </a:p>
        </p:txBody>
      </p:sp>
      <p:sp>
        <p:nvSpPr>
          <p:cNvPr id="890" name="Google Shape;890;h1863e7f528e27f29_0_358"/>
          <p:cNvSpPr/>
          <p:nvPr/>
        </p:nvSpPr>
        <p:spPr>
          <a:xfrm>
            <a:off x="6234626" y="19661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891" name="Google Shape;891;h1863e7f528e27f29_0_358"/>
          <p:cNvSpPr txBox="1"/>
          <p:nvPr/>
        </p:nvSpPr>
        <p:spPr>
          <a:xfrm>
            <a:off x="6234638" y="205226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892" name="Google Shape;892;h1863e7f528e27f29_0_358"/>
          <p:cNvCxnSpPr>
            <a:stCxn id="891" idx="3"/>
          </p:cNvCxnSpPr>
          <p:nvPr/>
        </p:nvCxnSpPr>
        <p:spPr>
          <a:xfrm>
            <a:off x="6741038" y="2219363"/>
            <a:ext cx="1781700" cy="778800"/>
          </a:xfrm>
          <a:prstGeom prst="straightConnector1">
            <a:avLst/>
          </a:prstGeom>
          <a:noFill/>
          <a:ln cap="flat" cmpd="sng" w="20500">
            <a:solidFill>
              <a:srgbClr val="666666"/>
            </a:solidFill>
            <a:prstDash val="solid"/>
            <a:round/>
            <a:headEnd len="sm" w="sm" type="none"/>
            <a:tailEnd len="med" w="med" type="triangle"/>
          </a:ln>
        </p:spPr>
      </p:cxnSp>
      <p:sp>
        <p:nvSpPr>
          <p:cNvPr id="893" name="Google Shape;893;h1863e7f528e27f29_0_358"/>
          <p:cNvSpPr txBox="1"/>
          <p:nvPr/>
        </p:nvSpPr>
        <p:spPr>
          <a:xfrm>
            <a:off x="7385675" y="2219375"/>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cxnSp>
        <p:nvCxnSpPr>
          <p:cNvPr id="894" name="Google Shape;894;h1863e7f528e27f29_0_358"/>
          <p:cNvCxnSpPr/>
          <p:nvPr/>
        </p:nvCxnSpPr>
        <p:spPr>
          <a:xfrm>
            <a:off x="4026013" y="2327088"/>
            <a:ext cx="2273700" cy="1072500"/>
          </a:xfrm>
          <a:prstGeom prst="straightConnector1">
            <a:avLst/>
          </a:prstGeom>
          <a:noFill/>
          <a:ln cap="flat" cmpd="sng" w="20500">
            <a:solidFill>
              <a:srgbClr val="000000"/>
            </a:solidFill>
            <a:prstDash val="solid"/>
            <a:round/>
            <a:headEnd len="sm" w="sm" type="none"/>
            <a:tailEnd len="med" w="med" type="triangl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h1863e7f528e27f29_0_39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3</a:t>
            </a:r>
            <a:endParaRPr/>
          </a:p>
        </p:txBody>
      </p:sp>
      <p:graphicFrame>
        <p:nvGraphicFramePr>
          <p:cNvPr id="900" name="Google Shape;900;h1863e7f528e27f29_0_399"/>
          <p:cNvGraphicFramePr/>
          <p:nvPr/>
        </p:nvGraphicFramePr>
        <p:xfrm>
          <a:off x="182488" y="20591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pt-BR" sz="2400"/>
                        <a:t>y</a:t>
                      </a:r>
                      <a:endParaRPr b="1" sz="2400"/>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1</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1</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pt-BR" sz="2400">
                          <a:solidFill>
                            <a:srgbClr val="0000FF"/>
                          </a:solidFill>
                        </a:rPr>
                        <a:t>1</a:t>
                      </a:r>
                      <a:endParaRPr b="1" sz="2400">
                        <a:solidFill>
                          <a:srgbClr val="0000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pt-BR" sz="2400">
                          <a:solidFill>
                            <a:srgbClr val="0000FF"/>
                          </a:solidFill>
                        </a:rPr>
                        <a:t>0</a:t>
                      </a:r>
                      <a:endParaRPr b="1" sz="2400">
                        <a:solidFill>
                          <a:srgbClr val="0000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pt-BR" sz="2400">
                          <a:solidFill>
                            <a:srgbClr val="FF0000"/>
                          </a:solidFill>
                        </a:rPr>
                        <a:t>1</a:t>
                      </a:r>
                      <a:endParaRPr b="1" sz="2400">
                        <a:solidFill>
                          <a:srgbClr val="FF0000"/>
                        </a:solidFill>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bl>
          </a:graphicData>
        </a:graphic>
      </p:graphicFrame>
      <p:sp>
        <p:nvSpPr>
          <p:cNvPr id="901" name="Google Shape;901;h1863e7f528e27f29_0_399"/>
          <p:cNvSpPr txBox="1"/>
          <p:nvPr/>
        </p:nvSpPr>
        <p:spPr>
          <a:xfrm>
            <a:off x="1126100" y="15329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XOR</a:t>
            </a:r>
            <a:endParaRPr b="1" sz="3000">
              <a:solidFill>
                <a:srgbClr val="434343"/>
              </a:solidFill>
              <a:latin typeface="Comfortaa"/>
              <a:ea typeface="Comfortaa"/>
              <a:cs typeface="Comfortaa"/>
              <a:sym typeface="Comfortaa"/>
            </a:endParaRPr>
          </a:p>
        </p:txBody>
      </p:sp>
      <p:sp>
        <p:nvSpPr>
          <p:cNvPr id="902" name="Google Shape;902;h1863e7f528e27f29_0_399"/>
          <p:cNvSpPr/>
          <p:nvPr/>
        </p:nvSpPr>
        <p:spPr>
          <a:xfrm>
            <a:off x="3519626" y="293324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903" name="Google Shape;903;h1863e7f528e27f29_0_399"/>
          <p:cNvSpPr/>
          <p:nvPr/>
        </p:nvSpPr>
        <p:spPr>
          <a:xfrm>
            <a:off x="3519595" y="3826173"/>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904" name="Google Shape;904;h1863e7f528e27f29_0_399"/>
          <p:cNvSpPr/>
          <p:nvPr/>
        </p:nvSpPr>
        <p:spPr>
          <a:xfrm>
            <a:off x="3519601" y="2073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905" name="Google Shape;905;h1863e7f528e27f29_0_399"/>
          <p:cNvSpPr txBox="1"/>
          <p:nvPr/>
        </p:nvSpPr>
        <p:spPr>
          <a:xfrm>
            <a:off x="3519613" y="21599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sp>
        <p:nvSpPr>
          <p:cNvPr id="906" name="Google Shape;906;h1863e7f528e27f29_0_399"/>
          <p:cNvSpPr/>
          <p:nvPr/>
        </p:nvSpPr>
        <p:spPr>
          <a:xfrm>
            <a:off x="6278276" y="3247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sp>
        <p:nvSpPr>
          <p:cNvPr id="907" name="Google Shape;907;h1863e7f528e27f29_0_399"/>
          <p:cNvSpPr/>
          <p:nvPr/>
        </p:nvSpPr>
        <p:spPr>
          <a:xfrm>
            <a:off x="6248726" y="26314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cxnSp>
        <p:nvCxnSpPr>
          <p:cNvPr id="908" name="Google Shape;908;h1863e7f528e27f29_0_399"/>
          <p:cNvCxnSpPr>
            <a:stCxn id="905" idx="3"/>
          </p:cNvCxnSpPr>
          <p:nvPr/>
        </p:nvCxnSpPr>
        <p:spPr>
          <a:xfrm>
            <a:off x="4026013" y="2327088"/>
            <a:ext cx="2217000" cy="472200"/>
          </a:xfrm>
          <a:prstGeom prst="straightConnector1">
            <a:avLst/>
          </a:prstGeom>
          <a:noFill/>
          <a:ln cap="flat" cmpd="sng" w="20500">
            <a:solidFill>
              <a:srgbClr val="999999"/>
            </a:solidFill>
            <a:prstDash val="solid"/>
            <a:round/>
            <a:headEnd len="sm" w="sm" type="none"/>
            <a:tailEnd len="med" w="med" type="triangle"/>
          </a:ln>
        </p:spPr>
      </p:cxnSp>
      <p:cxnSp>
        <p:nvCxnSpPr>
          <p:cNvPr id="909" name="Google Shape;909;h1863e7f528e27f29_0_399"/>
          <p:cNvCxnSpPr>
            <a:stCxn id="902" idx="6"/>
            <a:endCxn id="907" idx="2"/>
          </p:cNvCxnSpPr>
          <p:nvPr/>
        </p:nvCxnSpPr>
        <p:spPr>
          <a:xfrm flipH="1" rot="10800000">
            <a:off x="4026026" y="2884649"/>
            <a:ext cx="2222700" cy="301800"/>
          </a:xfrm>
          <a:prstGeom prst="straightConnector1">
            <a:avLst/>
          </a:prstGeom>
          <a:noFill/>
          <a:ln cap="flat" cmpd="sng" w="20500">
            <a:solidFill>
              <a:srgbClr val="999999"/>
            </a:solidFill>
            <a:prstDash val="solid"/>
            <a:round/>
            <a:headEnd len="sm" w="sm" type="none"/>
            <a:tailEnd len="med" w="med" type="triangle"/>
          </a:ln>
        </p:spPr>
      </p:cxnSp>
      <p:cxnSp>
        <p:nvCxnSpPr>
          <p:cNvPr id="910" name="Google Shape;910;h1863e7f528e27f29_0_399"/>
          <p:cNvCxnSpPr>
            <a:stCxn id="903" idx="6"/>
          </p:cNvCxnSpPr>
          <p:nvPr/>
        </p:nvCxnSpPr>
        <p:spPr>
          <a:xfrm flipH="1" rot="10800000">
            <a:off x="4025995" y="3001473"/>
            <a:ext cx="2223300" cy="1077900"/>
          </a:xfrm>
          <a:prstGeom prst="straightConnector1">
            <a:avLst/>
          </a:prstGeom>
          <a:noFill/>
          <a:ln cap="flat" cmpd="sng" w="20500">
            <a:solidFill>
              <a:srgbClr val="999999"/>
            </a:solidFill>
            <a:prstDash val="solid"/>
            <a:round/>
            <a:headEnd len="sm" w="sm" type="none"/>
            <a:tailEnd len="med" w="med" type="triangle"/>
          </a:ln>
        </p:spPr>
      </p:cxnSp>
      <p:cxnSp>
        <p:nvCxnSpPr>
          <p:cNvPr id="911" name="Google Shape;911;h1863e7f528e27f29_0_399"/>
          <p:cNvCxnSpPr>
            <a:stCxn id="902" idx="6"/>
            <a:endCxn id="906" idx="2"/>
          </p:cNvCxnSpPr>
          <p:nvPr/>
        </p:nvCxnSpPr>
        <p:spPr>
          <a:xfrm>
            <a:off x="4026026" y="3186449"/>
            <a:ext cx="2252400" cy="314700"/>
          </a:xfrm>
          <a:prstGeom prst="straightConnector1">
            <a:avLst/>
          </a:prstGeom>
          <a:noFill/>
          <a:ln cap="flat" cmpd="sng" w="20500">
            <a:solidFill>
              <a:srgbClr val="000000"/>
            </a:solidFill>
            <a:prstDash val="solid"/>
            <a:round/>
            <a:headEnd len="sm" w="sm" type="none"/>
            <a:tailEnd len="med" w="med" type="triangle"/>
          </a:ln>
        </p:spPr>
      </p:cxnSp>
      <p:cxnSp>
        <p:nvCxnSpPr>
          <p:cNvPr id="912" name="Google Shape;912;h1863e7f528e27f29_0_399"/>
          <p:cNvCxnSpPr>
            <a:stCxn id="903" idx="6"/>
          </p:cNvCxnSpPr>
          <p:nvPr/>
        </p:nvCxnSpPr>
        <p:spPr>
          <a:xfrm flipH="1" rot="10800000">
            <a:off x="4025995" y="3645873"/>
            <a:ext cx="2311800" cy="433500"/>
          </a:xfrm>
          <a:prstGeom prst="straightConnector1">
            <a:avLst/>
          </a:prstGeom>
          <a:noFill/>
          <a:ln cap="flat" cmpd="sng" w="20500">
            <a:solidFill>
              <a:srgbClr val="000000"/>
            </a:solidFill>
            <a:prstDash val="solid"/>
            <a:round/>
            <a:headEnd len="sm" w="sm" type="none"/>
            <a:tailEnd len="med" w="med" type="triangle"/>
          </a:ln>
        </p:spPr>
      </p:cxnSp>
      <p:cxnSp>
        <p:nvCxnSpPr>
          <p:cNvPr id="913" name="Google Shape;913;h1863e7f528e27f29_0_399"/>
          <p:cNvCxnSpPr>
            <a:stCxn id="905" idx="3"/>
          </p:cNvCxnSpPr>
          <p:nvPr/>
        </p:nvCxnSpPr>
        <p:spPr>
          <a:xfrm>
            <a:off x="4026013" y="2327088"/>
            <a:ext cx="2273700" cy="1072500"/>
          </a:xfrm>
          <a:prstGeom prst="straightConnector1">
            <a:avLst/>
          </a:prstGeom>
          <a:noFill/>
          <a:ln cap="flat" cmpd="sng" w="20500">
            <a:solidFill>
              <a:srgbClr val="000000"/>
            </a:solidFill>
            <a:prstDash val="solid"/>
            <a:round/>
            <a:headEnd len="sm" w="sm" type="none"/>
            <a:tailEnd len="med" w="med" type="triangle"/>
          </a:ln>
        </p:spPr>
      </p:cxnSp>
      <p:sp>
        <p:nvSpPr>
          <p:cNvPr id="914" name="Google Shape;914;h1863e7f528e27f29_0_399"/>
          <p:cNvSpPr/>
          <p:nvPr/>
        </p:nvSpPr>
        <p:spPr>
          <a:xfrm>
            <a:off x="8469776"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t/>
            </a:r>
            <a:endParaRPr b="0" sz="1241" strike="noStrike">
              <a:latin typeface="Arial"/>
              <a:ea typeface="Arial"/>
              <a:cs typeface="Arial"/>
              <a:sym typeface="Arial"/>
            </a:endParaRPr>
          </a:p>
        </p:txBody>
      </p:sp>
      <p:cxnSp>
        <p:nvCxnSpPr>
          <p:cNvPr id="915" name="Google Shape;915;h1863e7f528e27f29_0_399"/>
          <p:cNvCxnSpPr>
            <a:stCxn id="907" idx="6"/>
          </p:cNvCxnSpPr>
          <p:nvPr/>
        </p:nvCxnSpPr>
        <p:spPr>
          <a:xfrm>
            <a:off x="6755126" y="2884616"/>
            <a:ext cx="1693200" cy="249600"/>
          </a:xfrm>
          <a:prstGeom prst="straightConnector1">
            <a:avLst/>
          </a:prstGeom>
          <a:noFill/>
          <a:ln cap="flat" cmpd="sng" w="20500">
            <a:solidFill>
              <a:srgbClr val="666666"/>
            </a:solidFill>
            <a:prstDash val="solid"/>
            <a:round/>
            <a:headEnd len="sm" w="sm" type="none"/>
            <a:tailEnd len="med" w="med" type="triangle"/>
          </a:ln>
        </p:spPr>
      </p:cxnSp>
      <p:cxnSp>
        <p:nvCxnSpPr>
          <p:cNvPr id="916" name="Google Shape;916;h1863e7f528e27f29_0_399"/>
          <p:cNvCxnSpPr>
            <a:stCxn id="906" idx="6"/>
          </p:cNvCxnSpPr>
          <p:nvPr/>
        </p:nvCxnSpPr>
        <p:spPr>
          <a:xfrm flipH="1" rot="10800000">
            <a:off x="6784676" y="3279416"/>
            <a:ext cx="1701600" cy="221700"/>
          </a:xfrm>
          <a:prstGeom prst="straightConnector1">
            <a:avLst/>
          </a:prstGeom>
          <a:noFill/>
          <a:ln cap="flat" cmpd="sng" w="20500">
            <a:solidFill>
              <a:srgbClr val="666666"/>
            </a:solidFill>
            <a:prstDash val="solid"/>
            <a:round/>
            <a:headEnd len="sm" w="sm" type="none"/>
            <a:tailEnd len="med" w="med" type="triangle"/>
          </a:ln>
        </p:spPr>
      </p:cxnSp>
      <p:sp>
        <p:nvSpPr>
          <p:cNvPr id="917" name="Google Shape;917;h1863e7f528e27f29_0_399"/>
          <p:cNvSpPr txBox="1"/>
          <p:nvPr/>
        </p:nvSpPr>
        <p:spPr>
          <a:xfrm>
            <a:off x="4168575" y="2041675"/>
            <a:ext cx="6162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-0.5</a:t>
            </a:r>
            <a:endParaRPr b="0" sz="1800" strike="noStrike">
              <a:latin typeface="Arial"/>
              <a:ea typeface="Arial"/>
              <a:cs typeface="Arial"/>
              <a:sym typeface="Arial"/>
            </a:endParaRPr>
          </a:p>
        </p:txBody>
      </p:sp>
      <p:sp>
        <p:nvSpPr>
          <p:cNvPr id="918" name="Google Shape;918;h1863e7f528e27f29_0_399"/>
          <p:cNvSpPr txBox="1"/>
          <p:nvPr/>
        </p:nvSpPr>
        <p:spPr>
          <a:xfrm>
            <a:off x="4106200" y="2487850"/>
            <a:ext cx="6162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-1.5</a:t>
            </a:r>
            <a:endParaRPr b="0" sz="1800" strike="noStrike">
              <a:latin typeface="Arial"/>
              <a:ea typeface="Arial"/>
              <a:cs typeface="Arial"/>
              <a:sym typeface="Arial"/>
            </a:endParaRPr>
          </a:p>
        </p:txBody>
      </p:sp>
      <p:sp>
        <p:nvSpPr>
          <p:cNvPr id="919" name="Google Shape;919;h1863e7f528e27f29_0_399"/>
          <p:cNvSpPr txBox="1"/>
          <p:nvPr/>
        </p:nvSpPr>
        <p:spPr>
          <a:xfrm>
            <a:off x="4492750" y="27993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920" name="Google Shape;920;h1863e7f528e27f29_0_399"/>
          <p:cNvSpPr txBox="1"/>
          <p:nvPr/>
        </p:nvSpPr>
        <p:spPr>
          <a:xfrm>
            <a:off x="4492750" y="324905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921" name="Google Shape;921;h1863e7f528e27f29_0_399"/>
          <p:cNvSpPr txBox="1"/>
          <p:nvPr/>
        </p:nvSpPr>
        <p:spPr>
          <a:xfrm>
            <a:off x="4274075" y="35541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922" name="Google Shape;922;h1863e7f528e27f29_0_399"/>
          <p:cNvSpPr txBox="1"/>
          <p:nvPr/>
        </p:nvSpPr>
        <p:spPr>
          <a:xfrm>
            <a:off x="4302075" y="40428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923" name="Google Shape;923;h1863e7f528e27f29_0_399"/>
          <p:cNvSpPr txBox="1"/>
          <p:nvPr/>
        </p:nvSpPr>
        <p:spPr>
          <a:xfrm>
            <a:off x="7385675" y="2696250"/>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924" name="Google Shape;924;h1863e7f528e27f29_0_399"/>
          <p:cNvSpPr txBox="1"/>
          <p:nvPr/>
        </p:nvSpPr>
        <p:spPr>
          <a:xfrm>
            <a:off x="7288175" y="3067950"/>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925" name="Google Shape;925;h1863e7f528e27f29_0_399"/>
          <p:cNvSpPr txBox="1"/>
          <p:nvPr/>
        </p:nvSpPr>
        <p:spPr>
          <a:xfrm>
            <a:off x="3519626" y="30193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1</a:t>
            </a:r>
            <a:r>
              <a:rPr lang="pt-BR" sz="1241">
                <a:solidFill>
                  <a:schemeClr val="dk1"/>
                </a:solidFill>
              </a:rPr>
              <a:t>=</a:t>
            </a:r>
            <a:r>
              <a:rPr b="1" lang="pt-BR" sz="1241">
                <a:solidFill>
                  <a:srgbClr val="0000FF"/>
                </a:solidFill>
              </a:rPr>
              <a:t>1</a:t>
            </a:r>
            <a:endParaRPr b="1" sz="1241">
              <a:solidFill>
                <a:srgbClr val="0000FF"/>
              </a:solidFill>
            </a:endParaRPr>
          </a:p>
        </p:txBody>
      </p:sp>
      <p:sp>
        <p:nvSpPr>
          <p:cNvPr id="926" name="Google Shape;926;h1863e7f528e27f29_0_399"/>
          <p:cNvSpPr txBox="1"/>
          <p:nvPr/>
        </p:nvSpPr>
        <p:spPr>
          <a:xfrm>
            <a:off x="3533601" y="387863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2</a:t>
            </a:r>
            <a:r>
              <a:rPr lang="pt-BR" sz="1241">
                <a:solidFill>
                  <a:schemeClr val="dk1"/>
                </a:solidFill>
              </a:rPr>
              <a:t>=</a:t>
            </a:r>
            <a:r>
              <a:rPr b="1" lang="pt-BR" sz="1241">
                <a:solidFill>
                  <a:srgbClr val="0000FF"/>
                </a:solidFill>
              </a:rPr>
              <a:t>0</a:t>
            </a:r>
            <a:endParaRPr b="1" sz="1241">
              <a:solidFill>
                <a:srgbClr val="0000FF"/>
              </a:solidFill>
            </a:endParaRPr>
          </a:p>
        </p:txBody>
      </p:sp>
      <p:sp>
        <p:nvSpPr>
          <p:cNvPr id="927" name="Google Shape;927;h1863e7f528e27f29_0_399"/>
          <p:cNvSpPr txBox="1"/>
          <p:nvPr/>
        </p:nvSpPr>
        <p:spPr>
          <a:xfrm>
            <a:off x="6589500" y="2370725"/>
            <a:ext cx="50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OR</a:t>
            </a:r>
            <a:endParaRPr>
              <a:solidFill>
                <a:srgbClr val="434343"/>
              </a:solidFill>
              <a:latin typeface="Comfortaa"/>
              <a:ea typeface="Comfortaa"/>
              <a:cs typeface="Comfortaa"/>
              <a:sym typeface="Comfortaa"/>
            </a:endParaRPr>
          </a:p>
        </p:txBody>
      </p:sp>
      <p:sp>
        <p:nvSpPr>
          <p:cNvPr id="928" name="Google Shape;928;h1863e7f528e27f29_0_399"/>
          <p:cNvSpPr txBox="1"/>
          <p:nvPr/>
        </p:nvSpPr>
        <p:spPr>
          <a:xfrm>
            <a:off x="6603123" y="2986348"/>
            <a:ext cx="6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AND</a:t>
            </a:r>
            <a:endParaRPr>
              <a:solidFill>
                <a:srgbClr val="434343"/>
              </a:solidFill>
              <a:latin typeface="Comfortaa"/>
              <a:ea typeface="Comfortaa"/>
              <a:cs typeface="Comfortaa"/>
              <a:sym typeface="Comfortaa"/>
            </a:endParaRPr>
          </a:p>
        </p:txBody>
      </p:sp>
      <p:sp>
        <p:nvSpPr>
          <p:cNvPr id="929" name="Google Shape;929;h1863e7f528e27f29_0_399"/>
          <p:cNvSpPr txBox="1"/>
          <p:nvPr/>
        </p:nvSpPr>
        <p:spPr>
          <a:xfrm>
            <a:off x="6188275" y="2738425"/>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h</a:t>
            </a:r>
            <a:r>
              <a:rPr baseline="-25000" lang="pt-BR" sz="1041">
                <a:solidFill>
                  <a:schemeClr val="dk1"/>
                </a:solidFill>
              </a:rPr>
              <a:t>1</a:t>
            </a:r>
            <a:r>
              <a:rPr lang="pt-BR" sz="1041">
                <a:solidFill>
                  <a:schemeClr val="dk1"/>
                </a:solidFill>
              </a:rPr>
              <a:t>=</a:t>
            </a:r>
            <a:r>
              <a:rPr lang="pt-BR" sz="1041">
                <a:solidFill>
                  <a:srgbClr val="FF0000"/>
                </a:solidFill>
              </a:rPr>
              <a:t>1</a:t>
            </a:r>
            <a:endParaRPr sz="1041">
              <a:solidFill>
                <a:srgbClr val="FF0000"/>
              </a:solidFill>
            </a:endParaRPr>
          </a:p>
        </p:txBody>
      </p:sp>
      <p:sp>
        <p:nvSpPr>
          <p:cNvPr id="930" name="Google Shape;930;h1863e7f528e27f29_0_399"/>
          <p:cNvSpPr txBox="1"/>
          <p:nvPr/>
        </p:nvSpPr>
        <p:spPr>
          <a:xfrm>
            <a:off x="6223375" y="3347563"/>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h</a:t>
            </a:r>
            <a:r>
              <a:rPr baseline="-25000" lang="pt-BR" sz="1041">
                <a:solidFill>
                  <a:schemeClr val="dk1"/>
                </a:solidFill>
              </a:rPr>
              <a:t>2</a:t>
            </a:r>
            <a:r>
              <a:rPr lang="pt-BR" sz="1041">
                <a:solidFill>
                  <a:schemeClr val="dk1"/>
                </a:solidFill>
              </a:rPr>
              <a:t>=</a:t>
            </a:r>
            <a:r>
              <a:rPr lang="pt-BR" sz="1041">
                <a:solidFill>
                  <a:srgbClr val="FF0000"/>
                </a:solidFill>
              </a:rPr>
              <a:t>0</a:t>
            </a:r>
            <a:endParaRPr sz="1041">
              <a:solidFill>
                <a:srgbClr val="FF0000"/>
              </a:solidFill>
            </a:endParaRPr>
          </a:p>
        </p:txBody>
      </p:sp>
      <p:sp>
        <p:nvSpPr>
          <p:cNvPr id="931" name="Google Shape;931;h1863e7f528e27f29_0_399"/>
          <p:cNvSpPr txBox="1"/>
          <p:nvPr/>
        </p:nvSpPr>
        <p:spPr>
          <a:xfrm>
            <a:off x="8414875" y="3034775"/>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y=</a:t>
            </a:r>
            <a:r>
              <a:rPr lang="pt-BR" sz="1041">
                <a:solidFill>
                  <a:srgbClr val="FF0000"/>
                </a:solidFill>
              </a:rPr>
              <a:t>1</a:t>
            </a:r>
            <a:endParaRPr sz="1041">
              <a:solidFill>
                <a:srgbClr val="FF0000"/>
              </a:solidFill>
            </a:endParaRPr>
          </a:p>
        </p:txBody>
      </p:sp>
      <p:sp>
        <p:nvSpPr>
          <p:cNvPr id="932" name="Google Shape;932;h1863e7f528e27f29_0_399"/>
          <p:cNvSpPr txBox="1"/>
          <p:nvPr/>
        </p:nvSpPr>
        <p:spPr>
          <a:xfrm>
            <a:off x="8378675" y="2494200"/>
            <a:ext cx="6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XOR</a:t>
            </a:r>
            <a:endParaRPr>
              <a:solidFill>
                <a:srgbClr val="434343"/>
              </a:solidFill>
              <a:latin typeface="Comfortaa"/>
              <a:ea typeface="Comfortaa"/>
              <a:cs typeface="Comfortaa"/>
              <a:sym typeface="Comfortaa"/>
            </a:endParaRPr>
          </a:p>
        </p:txBody>
      </p:sp>
      <p:sp>
        <p:nvSpPr>
          <p:cNvPr id="933" name="Google Shape;933;h1863e7f528e27f29_0_399"/>
          <p:cNvSpPr/>
          <p:nvPr/>
        </p:nvSpPr>
        <p:spPr>
          <a:xfrm>
            <a:off x="6234626" y="19661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934" name="Google Shape;934;h1863e7f528e27f29_0_399"/>
          <p:cNvSpPr txBox="1"/>
          <p:nvPr/>
        </p:nvSpPr>
        <p:spPr>
          <a:xfrm>
            <a:off x="6234638" y="205226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935" name="Google Shape;935;h1863e7f528e27f29_0_399"/>
          <p:cNvCxnSpPr>
            <a:stCxn id="934" idx="3"/>
          </p:cNvCxnSpPr>
          <p:nvPr/>
        </p:nvCxnSpPr>
        <p:spPr>
          <a:xfrm>
            <a:off x="6741038" y="2219363"/>
            <a:ext cx="1781700" cy="778800"/>
          </a:xfrm>
          <a:prstGeom prst="straightConnector1">
            <a:avLst/>
          </a:prstGeom>
          <a:noFill/>
          <a:ln cap="flat" cmpd="sng" w="20500">
            <a:solidFill>
              <a:srgbClr val="666666"/>
            </a:solidFill>
            <a:prstDash val="solid"/>
            <a:round/>
            <a:headEnd len="sm" w="sm" type="none"/>
            <a:tailEnd len="med" w="med" type="triangle"/>
          </a:ln>
        </p:spPr>
      </p:cxnSp>
      <p:sp>
        <p:nvSpPr>
          <p:cNvPr id="936" name="Google Shape;936;h1863e7f528e27f29_0_399"/>
          <p:cNvSpPr txBox="1"/>
          <p:nvPr/>
        </p:nvSpPr>
        <p:spPr>
          <a:xfrm>
            <a:off x="7385675" y="2219375"/>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h1863e7f528e27f29_0_47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3</a:t>
            </a:r>
            <a:endParaRPr/>
          </a:p>
        </p:txBody>
      </p:sp>
      <p:graphicFrame>
        <p:nvGraphicFramePr>
          <p:cNvPr id="942" name="Google Shape;942;h1863e7f528e27f29_0_479"/>
          <p:cNvGraphicFramePr/>
          <p:nvPr/>
        </p:nvGraphicFramePr>
        <p:xfrm>
          <a:off x="182488" y="20591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pt-BR" sz="2400"/>
                        <a:t>y</a:t>
                      </a:r>
                      <a:endParaRPr b="1" sz="2400"/>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pt-BR" sz="2400"/>
                        <a:t>0</a:t>
                      </a:r>
                      <a:endParaRPr sz="2400"/>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pt-BR" sz="2400"/>
                        <a:t>1</a:t>
                      </a:r>
                      <a:endParaRPr sz="2400"/>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pt-BR" sz="2400"/>
                        <a:t>1</a:t>
                      </a:r>
                      <a:endParaRPr sz="2400"/>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b="1" lang="pt-BR" sz="2400">
                          <a:solidFill>
                            <a:srgbClr val="0000FF"/>
                          </a:solidFill>
                        </a:rPr>
                        <a:t>1</a:t>
                      </a:r>
                      <a:endParaRPr b="1" sz="2400">
                        <a:solidFill>
                          <a:srgbClr val="0000FF"/>
                        </a:solidFill>
                      </a:endParaRPr>
                    </a:p>
                  </a:txBody>
                  <a:tcPr marT="91425" marB="91425" marR="91425" marL="91425"/>
                </a:tc>
                <a:tc>
                  <a:txBody>
                    <a:bodyPr/>
                    <a:lstStyle/>
                    <a:p>
                      <a:pPr indent="0" lvl="0" marL="0" rtl="0" algn="ctr">
                        <a:spcBef>
                          <a:spcPts val="0"/>
                        </a:spcBef>
                        <a:spcAft>
                          <a:spcPts val="0"/>
                        </a:spcAft>
                        <a:buNone/>
                      </a:pPr>
                      <a:r>
                        <a:rPr b="1" lang="pt-BR" sz="2400">
                          <a:solidFill>
                            <a:srgbClr val="0000FF"/>
                          </a:solidFill>
                        </a:rPr>
                        <a:t>1</a:t>
                      </a:r>
                      <a:endParaRPr b="1" sz="2400">
                        <a:solidFill>
                          <a:srgbClr val="0000FF"/>
                        </a:solidFill>
                      </a:endParaRPr>
                    </a:p>
                  </a:txBody>
                  <a:tcPr marT="91425" marB="91425" marR="91425" marL="91425"/>
                </a:tc>
                <a:tc>
                  <a:txBody>
                    <a:bodyPr/>
                    <a:lstStyle/>
                    <a:p>
                      <a:pPr indent="0" lvl="0" marL="0" rtl="0" algn="ctr">
                        <a:spcBef>
                          <a:spcPts val="0"/>
                        </a:spcBef>
                        <a:spcAft>
                          <a:spcPts val="0"/>
                        </a:spcAft>
                        <a:buNone/>
                      </a:pPr>
                      <a:r>
                        <a:rPr b="1" lang="pt-BR" sz="2400">
                          <a:solidFill>
                            <a:srgbClr val="FF0000"/>
                          </a:solidFill>
                        </a:rPr>
                        <a:t>0</a:t>
                      </a:r>
                      <a:endParaRPr b="1" sz="2400">
                        <a:solidFill>
                          <a:srgbClr val="FF0000"/>
                        </a:solidFill>
                      </a:endParaRPr>
                    </a:p>
                  </a:txBody>
                  <a:tcPr marT="91425" marB="91425" marR="91425" marL="91425"/>
                </a:tc>
              </a:tr>
            </a:tbl>
          </a:graphicData>
        </a:graphic>
      </p:graphicFrame>
      <p:sp>
        <p:nvSpPr>
          <p:cNvPr id="943" name="Google Shape;943;h1863e7f528e27f29_0_479"/>
          <p:cNvSpPr txBox="1"/>
          <p:nvPr/>
        </p:nvSpPr>
        <p:spPr>
          <a:xfrm>
            <a:off x="1126100" y="15329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XOR</a:t>
            </a:r>
            <a:endParaRPr b="1" sz="3000">
              <a:solidFill>
                <a:srgbClr val="434343"/>
              </a:solidFill>
              <a:latin typeface="Comfortaa"/>
              <a:ea typeface="Comfortaa"/>
              <a:cs typeface="Comfortaa"/>
              <a:sym typeface="Comfortaa"/>
            </a:endParaRPr>
          </a:p>
        </p:txBody>
      </p:sp>
      <p:sp>
        <p:nvSpPr>
          <p:cNvPr id="944" name="Google Shape;944;h1863e7f528e27f29_0_479"/>
          <p:cNvSpPr/>
          <p:nvPr/>
        </p:nvSpPr>
        <p:spPr>
          <a:xfrm>
            <a:off x="3519626" y="293324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945" name="Google Shape;945;h1863e7f528e27f29_0_479"/>
          <p:cNvSpPr/>
          <p:nvPr/>
        </p:nvSpPr>
        <p:spPr>
          <a:xfrm>
            <a:off x="3519595" y="3826173"/>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946" name="Google Shape;946;h1863e7f528e27f29_0_479"/>
          <p:cNvSpPr/>
          <p:nvPr/>
        </p:nvSpPr>
        <p:spPr>
          <a:xfrm>
            <a:off x="3519601" y="2073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947" name="Google Shape;947;h1863e7f528e27f29_0_479"/>
          <p:cNvSpPr txBox="1"/>
          <p:nvPr/>
        </p:nvSpPr>
        <p:spPr>
          <a:xfrm>
            <a:off x="3519613" y="21599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sp>
        <p:nvSpPr>
          <p:cNvPr id="948" name="Google Shape;948;h1863e7f528e27f29_0_479"/>
          <p:cNvSpPr/>
          <p:nvPr/>
        </p:nvSpPr>
        <p:spPr>
          <a:xfrm>
            <a:off x="6278276" y="3247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sp>
        <p:nvSpPr>
          <p:cNvPr id="949" name="Google Shape;949;h1863e7f528e27f29_0_479"/>
          <p:cNvSpPr/>
          <p:nvPr/>
        </p:nvSpPr>
        <p:spPr>
          <a:xfrm>
            <a:off x="6248726" y="26314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cxnSp>
        <p:nvCxnSpPr>
          <p:cNvPr id="950" name="Google Shape;950;h1863e7f528e27f29_0_479"/>
          <p:cNvCxnSpPr>
            <a:stCxn id="947" idx="3"/>
          </p:cNvCxnSpPr>
          <p:nvPr/>
        </p:nvCxnSpPr>
        <p:spPr>
          <a:xfrm>
            <a:off x="4026013" y="2327088"/>
            <a:ext cx="2217000" cy="472200"/>
          </a:xfrm>
          <a:prstGeom prst="straightConnector1">
            <a:avLst/>
          </a:prstGeom>
          <a:noFill/>
          <a:ln cap="flat" cmpd="sng" w="20500">
            <a:solidFill>
              <a:srgbClr val="999999"/>
            </a:solidFill>
            <a:prstDash val="solid"/>
            <a:round/>
            <a:headEnd len="sm" w="sm" type="none"/>
            <a:tailEnd len="med" w="med" type="triangle"/>
          </a:ln>
        </p:spPr>
      </p:cxnSp>
      <p:cxnSp>
        <p:nvCxnSpPr>
          <p:cNvPr id="951" name="Google Shape;951;h1863e7f528e27f29_0_479"/>
          <p:cNvCxnSpPr>
            <a:stCxn id="944" idx="6"/>
            <a:endCxn id="949" idx="2"/>
          </p:cNvCxnSpPr>
          <p:nvPr/>
        </p:nvCxnSpPr>
        <p:spPr>
          <a:xfrm flipH="1" rot="10800000">
            <a:off x="4026026" y="2884649"/>
            <a:ext cx="2222700" cy="301800"/>
          </a:xfrm>
          <a:prstGeom prst="straightConnector1">
            <a:avLst/>
          </a:prstGeom>
          <a:noFill/>
          <a:ln cap="flat" cmpd="sng" w="20500">
            <a:solidFill>
              <a:srgbClr val="999999"/>
            </a:solidFill>
            <a:prstDash val="solid"/>
            <a:round/>
            <a:headEnd len="sm" w="sm" type="none"/>
            <a:tailEnd len="med" w="med" type="triangle"/>
          </a:ln>
        </p:spPr>
      </p:cxnSp>
      <p:cxnSp>
        <p:nvCxnSpPr>
          <p:cNvPr id="952" name="Google Shape;952;h1863e7f528e27f29_0_479"/>
          <p:cNvCxnSpPr>
            <a:stCxn id="945" idx="6"/>
          </p:cNvCxnSpPr>
          <p:nvPr/>
        </p:nvCxnSpPr>
        <p:spPr>
          <a:xfrm flipH="1" rot="10800000">
            <a:off x="4025995" y="3001473"/>
            <a:ext cx="2223300" cy="1077900"/>
          </a:xfrm>
          <a:prstGeom prst="straightConnector1">
            <a:avLst/>
          </a:prstGeom>
          <a:noFill/>
          <a:ln cap="flat" cmpd="sng" w="20500">
            <a:solidFill>
              <a:srgbClr val="999999"/>
            </a:solidFill>
            <a:prstDash val="solid"/>
            <a:round/>
            <a:headEnd len="sm" w="sm" type="none"/>
            <a:tailEnd len="med" w="med" type="triangle"/>
          </a:ln>
        </p:spPr>
      </p:cxnSp>
      <p:cxnSp>
        <p:nvCxnSpPr>
          <p:cNvPr id="953" name="Google Shape;953;h1863e7f528e27f29_0_479"/>
          <p:cNvCxnSpPr>
            <a:stCxn id="944" idx="6"/>
            <a:endCxn id="948" idx="2"/>
          </p:cNvCxnSpPr>
          <p:nvPr/>
        </p:nvCxnSpPr>
        <p:spPr>
          <a:xfrm>
            <a:off x="4026026" y="3186449"/>
            <a:ext cx="2252400" cy="314700"/>
          </a:xfrm>
          <a:prstGeom prst="straightConnector1">
            <a:avLst/>
          </a:prstGeom>
          <a:noFill/>
          <a:ln cap="flat" cmpd="sng" w="20500">
            <a:solidFill>
              <a:srgbClr val="000000"/>
            </a:solidFill>
            <a:prstDash val="solid"/>
            <a:round/>
            <a:headEnd len="sm" w="sm" type="none"/>
            <a:tailEnd len="med" w="med" type="triangle"/>
          </a:ln>
        </p:spPr>
      </p:cxnSp>
      <p:cxnSp>
        <p:nvCxnSpPr>
          <p:cNvPr id="954" name="Google Shape;954;h1863e7f528e27f29_0_479"/>
          <p:cNvCxnSpPr>
            <a:stCxn id="945" idx="6"/>
          </p:cNvCxnSpPr>
          <p:nvPr/>
        </p:nvCxnSpPr>
        <p:spPr>
          <a:xfrm flipH="1" rot="10800000">
            <a:off x="4025995" y="3645873"/>
            <a:ext cx="2311800" cy="433500"/>
          </a:xfrm>
          <a:prstGeom prst="straightConnector1">
            <a:avLst/>
          </a:prstGeom>
          <a:noFill/>
          <a:ln cap="flat" cmpd="sng" w="20500">
            <a:solidFill>
              <a:srgbClr val="000000"/>
            </a:solidFill>
            <a:prstDash val="solid"/>
            <a:round/>
            <a:headEnd len="sm" w="sm" type="none"/>
            <a:tailEnd len="med" w="med" type="triangle"/>
          </a:ln>
        </p:spPr>
      </p:cxnSp>
      <p:cxnSp>
        <p:nvCxnSpPr>
          <p:cNvPr id="955" name="Google Shape;955;h1863e7f528e27f29_0_479"/>
          <p:cNvCxnSpPr>
            <a:stCxn id="947" idx="3"/>
          </p:cNvCxnSpPr>
          <p:nvPr/>
        </p:nvCxnSpPr>
        <p:spPr>
          <a:xfrm>
            <a:off x="4026013" y="2327088"/>
            <a:ext cx="2273700" cy="1072500"/>
          </a:xfrm>
          <a:prstGeom prst="straightConnector1">
            <a:avLst/>
          </a:prstGeom>
          <a:noFill/>
          <a:ln cap="flat" cmpd="sng" w="20500">
            <a:solidFill>
              <a:srgbClr val="000000"/>
            </a:solidFill>
            <a:prstDash val="solid"/>
            <a:round/>
            <a:headEnd len="sm" w="sm" type="none"/>
            <a:tailEnd len="med" w="med" type="triangle"/>
          </a:ln>
        </p:spPr>
      </p:cxnSp>
      <p:sp>
        <p:nvSpPr>
          <p:cNvPr id="956" name="Google Shape;956;h1863e7f528e27f29_0_479"/>
          <p:cNvSpPr/>
          <p:nvPr/>
        </p:nvSpPr>
        <p:spPr>
          <a:xfrm>
            <a:off x="8469776"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t/>
            </a:r>
            <a:endParaRPr b="0" sz="1241" strike="noStrike">
              <a:latin typeface="Arial"/>
              <a:ea typeface="Arial"/>
              <a:cs typeface="Arial"/>
              <a:sym typeface="Arial"/>
            </a:endParaRPr>
          </a:p>
        </p:txBody>
      </p:sp>
      <p:cxnSp>
        <p:nvCxnSpPr>
          <p:cNvPr id="957" name="Google Shape;957;h1863e7f528e27f29_0_479"/>
          <p:cNvCxnSpPr>
            <a:stCxn id="949" idx="6"/>
          </p:cNvCxnSpPr>
          <p:nvPr/>
        </p:nvCxnSpPr>
        <p:spPr>
          <a:xfrm>
            <a:off x="6755126" y="2884616"/>
            <a:ext cx="1693200" cy="249600"/>
          </a:xfrm>
          <a:prstGeom prst="straightConnector1">
            <a:avLst/>
          </a:prstGeom>
          <a:noFill/>
          <a:ln cap="flat" cmpd="sng" w="20500">
            <a:solidFill>
              <a:srgbClr val="666666"/>
            </a:solidFill>
            <a:prstDash val="solid"/>
            <a:round/>
            <a:headEnd len="sm" w="sm" type="none"/>
            <a:tailEnd len="med" w="med" type="triangle"/>
          </a:ln>
        </p:spPr>
      </p:cxnSp>
      <p:cxnSp>
        <p:nvCxnSpPr>
          <p:cNvPr id="958" name="Google Shape;958;h1863e7f528e27f29_0_479"/>
          <p:cNvCxnSpPr>
            <a:stCxn id="948" idx="6"/>
          </p:cNvCxnSpPr>
          <p:nvPr/>
        </p:nvCxnSpPr>
        <p:spPr>
          <a:xfrm flipH="1" rot="10800000">
            <a:off x="6784676" y="3279416"/>
            <a:ext cx="1701600" cy="221700"/>
          </a:xfrm>
          <a:prstGeom prst="straightConnector1">
            <a:avLst/>
          </a:prstGeom>
          <a:noFill/>
          <a:ln cap="flat" cmpd="sng" w="20500">
            <a:solidFill>
              <a:srgbClr val="666666"/>
            </a:solidFill>
            <a:prstDash val="solid"/>
            <a:round/>
            <a:headEnd len="sm" w="sm" type="none"/>
            <a:tailEnd len="med" w="med" type="triangle"/>
          </a:ln>
        </p:spPr>
      </p:cxnSp>
      <p:sp>
        <p:nvSpPr>
          <p:cNvPr id="959" name="Google Shape;959;h1863e7f528e27f29_0_479"/>
          <p:cNvSpPr txBox="1"/>
          <p:nvPr/>
        </p:nvSpPr>
        <p:spPr>
          <a:xfrm>
            <a:off x="4168575" y="2041675"/>
            <a:ext cx="6162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-0.5</a:t>
            </a:r>
            <a:endParaRPr b="0" sz="1800" strike="noStrike">
              <a:latin typeface="Arial"/>
              <a:ea typeface="Arial"/>
              <a:cs typeface="Arial"/>
              <a:sym typeface="Arial"/>
            </a:endParaRPr>
          </a:p>
        </p:txBody>
      </p:sp>
      <p:sp>
        <p:nvSpPr>
          <p:cNvPr id="960" name="Google Shape;960;h1863e7f528e27f29_0_479"/>
          <p:cNvSpPr txBox="1"/>
          <p:nvPr/>
        </p:nvSpPr>
        <p:spPr>
          <a:xfrm>
            <a:off x="4106200" y="2487850"/>
            <a:ext cx="6162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-1.5</a:t>
            </a:r>
            <a:endParaRPr b="0" sz="1800" strike="noStrike">
              <a:latin typeface="Arial"/>
              <a:ea typeface="Arial"/>
              <a:cs typeface="Arial"/>
              <a:sym typeface="Arial"/>
            </a:endParaRPr>
          </a:p>
        </p:txBody>
      </p:sp>
      <p:sp>
        <p:nvSpPr>
          <p:cNvPr id="961" name="Google Shape;961;h1863e7f528e27f29_0_479"/>
          <p:cNvSpPr txBox="1"/>
          <p:nvPr/>
        </p:nvSpPr>
        <p:spPr>
          <a:xfrm>
            <a:off x="4492750" y="27993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962" name="Google Shape;962;h1863e7f528e27f29_0_479"/>
          <p:cNvSpPr txBox="1"/>
          <p:nvPr/>
        </p:nvSpPr>
        <p:spPr>
          <a:xfrm>
            <a:off x="4492750" y="324905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963" name="Google Shape;963;h1863e7f528e27f29_0_479"/>
          <p:cNvSpPr txBox="1"/>
          <p:nvPr/>
        </p:nvSpPr>
        <p:spPr>
          <a:xfrm>
            <a:off x="4274075" y="35541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964" name="Google Shape;964;h1863e7f528e27f29_0_479"/>
          <p:cNvSpPr txBox="1"/>
          <p:nvPr/>
        </p:nvSpPr>
        <p:spPr>
          <a:xfrm>
            <a:off x="4302075" y="40428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965" name="Google Shape;965;h1863e7f528e27f29_0_479"/>
          <p:cNvSpPr txBox="1"/>
          <p:nvPr/>
        </p:nvSpPr>
        <p:spPr>
          <a:xfrm>
            <a:off x="7385675" y="2696250"/>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966" name="Google Shape;966;h1863e7f528e27f29_0_479"/>
          <p:cNvSpPr txBox="1"/>
          <p:nvPr/>
        </p:nvSpPr>
        <p:spPr>
          <a:xfrm>
            <a:off x="7288175" y="3067950"/>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967" name="Google Shape;967;h1863e7f528e27f29_0_479"/>
          <p:cNvSpPr txBox="1"/>
          <p:nvPr/>
        </p:nvSpPr>
        <p:spPr>
          <a:xfrm>
            <a:off x="3519626" y="30193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1</a:t>
            </a:r>
            <a:r>
              <a:rPr lang="pt-BR" sz="1241">
                <a:solidFill>
                  <a:schemeClr val="dk1"/>
                </a:solidFill>
              </a:rPr>
              <a:t>=</a:t>
            </a:r>
            <a:r>
              <a:rPr b="1" lang="pt-BR" sz="1241">
                <a:solidFill>
                  <a:srgbClr val="0000FF"/>
                </a:solidFill>
              </a:rPr>
              <a:t>1</a:t>
            </a:r>
            <a:endParaRPr b="1" sz="1241">
              <a:solidFill>
                <a:srgbClr val="0000FF"/>
              </a:solidFill>
            </a:endParaRPr>
          </a:p>
        </p:txBody>
      </p:sp>
      <p:sp>
        <p:nvSpPr>
          <p:cNvPr id="968" name="Google Shape;968;h1863e7f528e27f29_0_479"/>
          <p:cNvSpPr txBox="1"/>
          <p:nvPr/>
        </p:nvSpPr>
        <p:spPr>
          <a:xfrm>
            <a:off x="3533601" y="387863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2</a:t>
            </a:r>
            <a:r>
              <a:rPr lang="pt-BR" sz="1241">
                <a:solidFill>
                  <a:schemeClr val="dk1"/>
                </a:solidFill>
              </a:rPr>
              <a:t>=</a:t>
            </a:r>
            <a:r>
              <a:rPr b="1" lang="pt-BR" sz="1241">
                <a:solidFill>
                  <a:srgbClr val="0000FF"/>
                </a:solidFill>
              </a:rPr>
              <a:t>1</a:t>
            </a:r>
            <a:endParaRPr b="1" sz="1241">
              <a:solidFill>
                <a:srgbClr val="0000FF"/>
              </a:solidFill>
            </a:endParaRPr>
          </a:p>
        </p:txBody>
      </p:sp>
      <p:sp>
        <p:nvSpPr>
          <p:cNvPr id="969" name="Google Shape;969;h1863e7f528e27f29_0_479"/>
          <p:cNvSpPr txBox="1"/>
          <p:nvPr/>
        </p:nvSpPr>
        <p:spPr>
          <a:xfrm>
            <a:off x="6589500" y="2370725"/>
            <a:ext cx="50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OR</a:t>
            </a:r>
            <a:endParaRPr>
              <a:solidFill>
                <a:srgbClr val="434343"/>
              </a:solidFill>
              <a:latin typeface="Comfortaa"/>
              <a:ea typeface="Comfortaa"/>
              <a:cs typeface="Comfortaa"/>
              <a:sym typeface="Comfortaa"/>
            </a:endParaRPr>
          </a:p>
        </p:txBody>
      </p:sp>
      <p:sp>
        <p:nvSpPr>
          <p:cNvPr id="970" name="Google Shape;970;h1863e7f528e27f29_0_479"/>
          <p:cNvSpPr txBox="1"/>
          <p:nvPr/>
        </p:nvSpPr>
        <p:spPr>
          <a:xfrm>
            <a:off x="6603123" y="2986348"/>
            <a:ext cx="6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AND</a:t>
            </a:r>
            <a:endParaRPr>
              <a:solidFill>
                <a:srgbClr val="434343"/>
              </a:solidFill>
              <a:latin typeface="Comfortaa"/>
              <a:ea typeface="Comfortaa"/>
              <a:cs typeface="Comfortaa"/>
              <a:sym typeface="Comfortaa"/>
            </a:endParaRPr>
          </a:p>
        </p:txBody>
      </p:sp>
      <p:sp>
        <p:nvSpPr>
          <p:cNvPr id="971" name="Google Shape;971;h1863e7f528e27f29_0_479"/>
          <p:cNvSpPr txBox="1"/>
          <p:nvPr/>
        </p:nvSpPr>
        <p:spPr>
          <a:xfrm>
            <a:off x="6188275" y="2738425"/>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h</a:t>
            </a:r>
            <a:r>
              <a:rPr baseline="-25000" lang="pt-BR" sz="1041">
                <a:solidFill>
                  <a:schemeClr val="dk1"/>
                </a:solidFill>
              </a:rPr>
              <a:t>1</a:t>
            </a:r>
            <a:r>
              <a:rPr lang="pt-BR" sz="1041">
                <a:solidFill>
                  <a:schemeClr val="dk1"/>
                </a:solidFill>
              </a:rPr>
              <a:t>=</a:t>
            </a:r>
            <a:r>
              <a:rPr lang="pt-BR" sz="1041">
                <a:solidFill>
                  <a:srgbClr val="FF0000"/>
                </a:solidFill>
              </a:rPr>
              <a:t>1</a:t>
            </a:r>
            <a:endParaRPr sz="1041">
              <a:solidFill>
                <a:srgbClr val="FF0000"/>
              </a:solidFill>
            </a:endParaRPr>
          </a:p>
        </p:txBody>
      </p:sp>
      <p:sp>
        <p:nvSpPr>
          <p:cNvPr id="972" name="Google Shape;972;h1863e7f528e27f29_0_479"/>
          <p:cNvSpPr txBox="1"/>
          <p:nvPr/>
        </p:nvSpPr>
        <p:spPr>
          <a:xfrm>
            <a:off x="6223375" y="3347563"/>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h</a:t>
            </a:r>
            <a:r>
              <a:rPr baseline="-25000" lang="pt-BR" sz="1041">
                <a:solidFill>
                  <a:schemeClr val="dk1"/>
                </a:solidFill>
              </a:rPr>
              <a:t>2</a:t>
            </a:r>
            <a:r>
              <a:rPr lang="pt-BR" sz="1041">
                <a:solidFill>
                  <a:schemeClr val="dk1"/>
                </a:solidFill>
              </a:rPr>
              <a:t>=</a:t>
            </a:r>
            <a:r>
              <a:rPr lang="pt-BR" sz="1041">
                <a:solidFill>
                  <a:srgbClr val="FF0000"/>
                </a:solidFill>
              </a:rPr>
              <a:t>1</a:t>
            </a:r>
            <a:endParaRPr sz="1041">
              <a:solidFill>
                <a:srgbClr val="FF0000"/>
              </a:solidFill>
            </a:endParaRPr>
          </a:p>
        </p:txBody>
      </p:sp>
      <p:sp>
        <p:nvSpPr>
          <p:cNvPr id="973" name="Google Shape;973;h1863e7f528e27f29_0_479"/>
          <p:cNvSpPr txBox="1"/>
          <p:nvPr/>
        </p:nvSpPr>
        <p:spPr>
          <a:xfrm>
            <a:off x="8414875" y="3034775"/>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y=</a:t>
            </a:r>
            <a:r>
              <a:rPr lang="pt-BR" sz="1041">
                <a:solidFill>
                  <a:srgbClr val="FF0000"/>
                </a:solidFill>
              </a:rPr>
              <a:t>0</a:t>
            </a:r>
            <a:endParaRPr sz="1041">
              <a:solidFill>
                <a:srgbClr val="FF0000"/>
              </a:solidFill>
            </a:endParaRPr>
          </a:p>
        </p:txBody>
      </p:sp>
      <p:sp>
        <p:nvSpPr>
          <p:cNvPr id="974" name="Google Shape;974;h1863e7f528e27f29_0_479"/>
          <p:cNvSpPr txBox="1"/>
          <p:nvPr/>
        </p:nvSpPr>
        <p:spPr>
          <a:xfrm>
            <a:off x="8378675" y="2494200"/>
            <a:ext cx="6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XOR</a:t>
            </a:r>
            <a:endParaRPr>
              <a:solidFill>
                <a:srgbClr val="434343"/>
              </a:solidFill>
              <a:latin typeface="Comfortaa"/>
              <a:ea typeface="Comfortaa"/>
              <a:cs typeface="Comfortaa"/>
              <a:sym typeface="Comfortaa"/>
            </a:endParaRPr>
          </a:p>
        </p:txBody>
      </p:sp>
      <p:sp>
        <p:nvSpPr>
          <p:cNvPr id="975" name="Google Shape;975;h1863e7f528e27f29_0_479"/>
          <p:cNvSpPr/>
          <p:nvPr/>
        </p:nvSpPr>
        <p:spPr>
          <a:xfrm>
            <a:off x="6234626" y="19661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976" name="Google Shape;976;h1863e7f528e27f29_0_479"/>
          <p:cNvSpPr txBox="1"/>
          <p:nvPr/>
        </p:nvSpPr>
        <p:spPr>
          <a:xfrm>
            <a:off x="6234638" y="205226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977" name="Google Shape;977;h1863e7f528e27f29_0_479"/>
          <p:cNvCxnSpPr>
            <a:stCxn id="976" idx="3"/>
          </p:cNvCxnSpPr>
          <p:nvPr/>
        </p:nvCxnSpPr>
        <p:spPr>
          <a:xfrm>
            <a:off x="6741038" y="2219363"/>
            <a:ext cx="1781700" cy="778800"/>
          </a:xfrm>
          <a:prstGeom prst="straightConnector1">
            <a:avLst/>
          </a:prstGeom>
          <a:noFill/>
          <a:ln cap="flat" cmpd="sng" w="20500">
            <a:solidFill>
              <a:srgbClr val="666666"/>
            </a:solidFill>
            <a:prstDash val="solid"/>
            <a:round/>
            <a:headEnd len="sm" w="sm" type="none"/>
            <a:tailEnd len="med" w="med" type="triangle"/>
          </a:ln>
        </p:spPr>
      </p:cxnSp>
      <p:sp>
        <p:nvSpPr>
          <p:cNvPr id="978" name="Google Shape;978;h1863e7f528e27f29_0_479"/>
          <p:cNvSpPr txBox="1"/>
          <p:nvPr/>
        </p:nvSpPr>
        <p:spPr>
          <a:xfrm>
            <a:off x="7385675" y="2219375"/>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h1863e7f528e27f29_0_34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ReLU</a:t>
            </a:r>
            <a:endParaRPr/>
          </a:p>
        </p:txBody>
      </p:sp>
      <p:sp>
        <p:nvSpPr>
          <p:cNvPr id="984" name="Google Shape;984;h1863e7f528e27f29_0_346"/>
          <p:cNvSpPr txBox="1"/>
          <p:nvPr>
            <p:ph idx="1" type="subTitle"/>
          </p:nvPr>
        </p:nvSpPr>
        <p:spPr>
          <a:xfrm>
            <a:off x="265500" y="2803075"/>
            <a:ext cx="4045200" cy="38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t>Rectified Linear Unit</a:t>
            </a:r>
            <a:endParaRPr/>
          </a:p>
        </p:txBody>
      </p:sp>
      <p:cxnSp>
        <p:nvCxnSpPr>
          <p:cNvPr id="985" name="Google Shape;985;h1863e7f528e27f29_0_346"/>
          <p:cNvCxnSpPr/>
          <p:nvPr/>
        </p:nvCxnSpPr>
        <p:spPr>
          <a:xfrm rot="10800000">
            <a:off x="6153775" y="838938"/>
            <a:ext cx="0" cy="2598600"/>
          </a:xfrm>
          <a:prstGeom prst="straightConnector1">
            <a:avLst/>
          </a:prstGeom>
          <a:noFill/>
          <a:ln cap="flat" cmpd="sng" w="38100">
            <a:solidFill>
              <a:schemeClr val="dk2"/>
            </a:solidFill>
            <a:prstDash val="solid"/>
            <a:round/>
            <a:headEnd len="med" w="med" type="none"/>
            <a:tailEnd len="med" w="med" type="stealth"/>
          </a:ln>
        </p:spPr>
      </p:cxnSp>
      <p:cxnSp>
        <p:nvCxnSpPr>
          <p:cNvPr id="986" name="Google Shape;986;h1863e7f528e27f29_0_346"/>
          <p:cNvCxnSpPr/>
          <p:nvPr/>
        </p:nvCxnSpPr>
        <p:spPr>
          <a:xfrm flipH="1" rot="10800000">
            <a:off x="4934975" y="3107950"/>
            <a:ext cx="3961800" cy="900"/>
          </a:xfrm>
          <a:prstGeom prst="straightConnector1">
            <a:avLst/>
          </a:prstGeom>
          <a:noFill/>
          <a:ln cap="flat" cmpd="sng" w="38100">
            <a:solidFill>
              <a:schemeClr val="dk2"/>
            </a:solidFill>
            <a:prstDash val="solid"/>
            <a:round/>
            <a:headEnd len="med" w="med" type="none"/>
            <a:tailEnd len="med" w="med" type="stealth"/>
          </a:ln>
        </p:spPr>
      </p:cxnSp>
      <p:sp>
        <p:nvSpPr>
          <p:cNvPr id="987" name="Google Shape;987;h1863e7f528e27f29_0_346"/>
          <p:cNvSpPr txBox="1"/>
          <p:nvPr/>
        </p:nvSpPr>
        <p:spPr>
          <a:xfrm>
            <a:off x="6198750" y="3152163"/>
            <a:ext cx="32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0</a:t>
            </a:r>
            <a:endParaRPr sz="1800">
              <a:solidFill>
                <a:srgbClr val="434343"/>
              </a:solidFill>
              <a:latin typeface="Comfortaa"/>
              <a:ea typeface="Comfortaa"/>
              <a:cs typeface="Comfortaa"/>
              <a:sym typeface="Comfortaa"/>
            </a:endParaRPr>
          </a:p>
        </p:txBody>
      </p:sp>
      <p:sp>
        <p:nvSpPr>
          <p:cNvPr id="988" name="Google Shape;988;h1863e7f528e27f29_0_346"/>
          <p:cNvSpPr txBox="1"/>
          <p:nvPr/>
        </p:nvSpPr>
        <p:spPr>
          <a:xfrm>
            <a:off x="8063550" y="3152163"/>
            <a:ext cx="32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1</a:t>
            </a:r>
            <a:endParaRPr sz="1800">
              <a:solidFill>
                <a:srgbClr val="434343"/>
              </a:solidFill>
              <a:latin typeface="Comfortaa"/>
              <a:ea typeface="Comfortaa"/>
              <a:cs typeface="Comfortaa"/>
              <a:sym typeface="Comfortaa"/>
            </a:endParaRPr>
          </a:p>
        </p:txBody>
      </p:sp>
      <p:sp>
        <p:nvSpPr>
          <p:cNvPr id="989" name="Google Shape;989;h1863e7f528e27f29_0_346"/>
          <p:cNvSpPr txBox="1"/>
          <p:nvPr/>
        </p:nvSpPr>
        <p:spPr>
          <a:xfrm>
            <a:off x="5732650" y="1149838"/>
            <a:ext cx="32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1</a:t>
            </a:r>
            <a:endParaRPr sz="1800">
              <a:solidFill>
                <a:srgbClr val="434343"/>
              </a:solidFill>
              <a:latin typeface="Comfortaa"/>
              <a:ea typeface="Comfortaa"/>
              <a:cs typeface="Comfortaa"/>
              <a:sym typeface="Comfortaa"/>
            </a:endParaRPr>
          </a:p>
        </p:txBody>
      </p:sp>
      <p:sp>
        <p:nvSpPr>
          <p:cNvPr id="990" name="Google Shape;990;h1863e7f528e27f29_0_346"/>
          <p:cNvSpPr/>
          <p:nvPr/>
        </p:nvSpPr>
        <p:spPr>
          <a:xfrm>
            <a:off x="4928650" y="1063838"/>
            <a:ext cx="3270000" cy="2044125"/>
          </a:xfrm>
          <a:custGeom>
            <a:rect b="b" l="l" r="r" t="t"/>
            <a:pathLst>
              <a:path extrusionOk="0" h="81765" w="130800">
                <a:moveTo>
                  <a:pt x="0" y="81765"/>
                </a:moveTo>
                <a:lnTo>
                  <a:pt x="49034" y="81765"/>
                </a:lnTo>
                <a:lnTo>
                  <a:pt x="130800" y="0"/>
                </a:lnTo>
              </a:path>
            </a:pathLst>
          </a:custGeom>
          <a:noFill/>
          <a:ln cap="flat" cmpd="sng" w="38100">
            <a:solidFill>
              <a:srgbClr val="F1C232"/>
            </a:solidFill>
            <a:prstDash val="solid"/>
            <a:round/>
            <a:headEnd len="med" w="med" type="none"/>
            <a:tailEnd len="med" w="med" type="none"/>
          </a:ln>
        </p:spPr>
      </p:sp>
      <p:sp>
        <p:nvSpPr>
          <p:cNvPr id="991" name="Google Shape;991;h1863e7f528e27f29_0_346"/>
          <p:cNvSpPr txBox="1"/>
          <p:nvPr/>
        </p:nvSpPr>
        <p:spPr>
          <a:xfrm>
            <a:off x="5573100" y="3658063"/>
            <a:ext cx="2590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3000">
                <a:solidFill>
                  <a:srgbClr val="434343"/>
                </a:solidFill>
                <a:latin typeface="Comfortaa"/>
                <a:ea typeface="Comfortaa"/>
                <a:cs typeface="Comfortaa"/>
                <a:sym typeface="Comfortaa"/>
              </a:rPr>
              <a:t>g(z)=max(0,z)</a:t>
            </a:r>
            <a:endParaRPr sz="3000">
              <a:solidFill>
                <a:srgbClr val="434343"/>
              </a:solidFill>
              <a:latin typeface="Comfortaa"/>
              <a:ea typeface="Comfortaa"/>
              <a:cs typeface="Comfortaa"/>
              <a:sym typeface="Comfortaa"/>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h1863e7f528e27f29_0_2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XOR with ReLU</a:t>
            </a:r>
            <a:endParaRPr/>
          </a:p>
        </p:txBody>
      </p:sp>
      <p:graphicFrame>
        <p:nvGraphicFramePr>
          <p:cNvPr id="997" name="Google Shape;997;h1863e7f528e27f29_0_253"/>
          <p:cNvGraphicFramePr/>
          <p:nvPr/>
        </p:nvGraphicFramePr>
        <p:xfrm>
          <a:off x="182488" y="20591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tc>
                <a:tc>
                  <a:txBody>
                    <a:bodyPr/>
                    <a:lstStyle/>
                    <a:p>
                      <a:pPr indent="0" lvl="0" marL="0" rtl="0" algn="ctr">
                        <a:spcBef>
                          <a:spcPts val="0"/>
                        </a:spcBef>
                        <a:spcAft>
                          <a:spcPts val="0"/>
                        </a:spcAft>
                        <a:buNone/>
                      </a:pPr>
                      <a:r>
                        <a:rPr b="1" lang="pt-BR" sz="2400"/>
                        <a:t>y</a:t>
                      </a:r>
                      <a:endParaRPr b="1"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bl>
          </a:graphicData>
        </a:graphic>
      </p:graphicFrame>
      <p:sp>
        <p:nvSpPr>
          <p:cNvPr id="998" name="Google Shape;998;h1863e7f528e27f29_0_253"/>
          <p:cNvSpPr txBox="1"/>
          <p:nvPr/>
        </p:nvSpPr>
        <p:spPr>
          <a:xfrm>
            <a:off x="1126100" y="15329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XOR</a:t>
            </a:r>
            <a:endParaRPr b="1" sz="3000">
              <a:solidFill>
                <a:srgbClr val="434343"/>
              </a:solidFill>
              <a:latin typeface="Comfortaa"/>
              <a:ea typeface="Comfortaa"/>
              <a:cs typeface="Comfortaa"/>
              <a:sym typeface="Comfortaa"/>
            </a:endParaRPr>
          </a:p>
        </p:txBody>
      </p:sp>
      <p:sp>
        <p:nvSpPr>
          <p:cNvPr id="999" name="Google Shape;999;h1863e7f528e27f29_0_253"/>
          <p:cNvSpPr/>
          <p:nvPr/>
        </p:nvSpPr>
        <p:spPr>
          <a:xfrm>
            <a:off x="3519626" y="293324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1000" name="Google Shape;1000;h1863e7f528e27f29_0_253"/>
          <p:cNvSpPr/>
          <p:nvPr/>
        </p:nvSpPr>
        <p:spPr>
          <a:xfrm>
            <a:off x="3519595" y="3826173"/>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1001" name="Google Shape;1001;h1863e7f528e27f29_0_253"/>
          <p:cNvSpPr/>
          <p:nvPr/>
        </p:nvSpPr>
        <p:spPr>
          <a:xfrm>
            <a:off x="3519601" y="2073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002" name="Google Shape;1002;h1863e7f528e27f29_0_253"/>
          <p:cNvSpPr txBox="1"/>
          <p:nvPr/>
        </p:nvSpPr>
        <p:spPr>
          <a:xfrm>
            <a:off x="3519613" y="21599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sp>
        <p:nvSpPr>
          <p:cNvPr id="1003" name="Google Shape;1003;h1863e7f528e27f29_0_253"/>
          <p:cNvSpPr/>
          <p:nvPr/>
        </p:nvSpPr>
        <p:spPr>
          <a:xfrm>
            <a:off x="6278276" y="3247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sp>
        <p:nvSpPr>
          <p:cNvPr id="1004" name="Google Shape;1004;h1863e7f528e27f29_0_253"/>
          <p:cNvSpPr/>
          <p:nvPr/>
        </p:nvSpPr>
        <p:spPr>
          <a:xfrm>
            <a:off x="6248726" y="26314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cxnSp>
        <p:nvCxnSpPr>
          <p:cNvPr id="1005" name="Google Shape;1005;h1863e7f528e27f29_0_253"/>
          <p:cNvCxnSpPr>
            <a:stCxn id="1002" idx="3"/>
          </p:cNvCxnSpPr>
          <p:nvPr/>
        </p:nvCxnSpPr>
        <p:spPr>
          <a:xfrm>
            <a:off x="4026013" y="2327088"/>
            <a:ext cx="2217000" cy="472200"/>
          </a:xfrm>
          <a:prstGeom prst="straightConnector1">
            <a:avLst/>
          </a:prstGeom>
          <a:noFill/>
          <a:ln cap="flat" cmpd="sng" w="20500">
            <a:solidFill>
              <a:srgbClr val="999999"/>
            </a:solidFill>
            <a:prstDash val="solid"/>
            <a:round/>
            <a:headEnd len="sm" w="sm" type="none"/>
            <a:tailEnd len="med" w="med" type="triangle"/>
          </a:ln>
        </p:spPr>
      </p:cxnSp>
      <p:cxnSp>
        <p:nvCxnSpPr>
          <p:cNvPr id="1006" name="Google Shape;1006;h1863e7f528e27f29_0_253"/>
          <p:cNvCxnSpPr>
            <a:stCxn id="999" idx="6"/>
            <a:endCxn id="1004" idx="2"/>
          </p:cNvCxnSpPr>
          <p:nvPr/>
        </p:nvCxnSpPr>
        <p:spPr>
          <a:xfrm flipH="1" rot="10800000">
            <a:off x="4026026" y="2884649"/>
            <a:ext cx="2222700" cy="301800"/>
          </a:xfrm>
          <a:prstGeom prst="straightConnector1">
            <a:avLst/>
          </a:prstGeom>
          <a:noFill/>
          <a:ln cap="flat" cmpd="sng" w="20500">
            <a:solidFill>
              <a:srgbClr val="999999"/>
            </a:solidFill>
            <a:prstDash val="solid"/>
            <a:round/>
            <a:headEnd len="sm" w="sm" type="none"/>
            <a:tailEnd len="med" w="med" type="triangle"/>
          </a:ln>
        </p:spPr>
      </p:cxnSp>
      <p:cxnSp>
        <p:nvCxnSpPr>
          <p:cNvPr id="1007" name="Google Shape;1007;h1863e7f528e27f29_0_253"/>
          <p:cNvCxnSpPr>
            <a:stCxn id="1000" idx="6"/>
          </p:cNvCxnSpPr>
          <p:nvPr/>
        </p:nvCxnSpPr>
        <p:spPr>
          <a:xfrm flipH="1" rot="10800000">
            <a:off x="4025995" y="3001473"/>
            <a:ext cx="2223300" cy="1077900"/>
          </a:xfrm>
          <a:prstGeom prst="straightConnector1">
            <a:avLst/>
          </a:prstGeom>
          <a:noFill/>
          <a:ln cap="flat" cmpd="sng" w="20500">
            <a:solidFill>
              <a:srgbClr val="999999"/>
            </a:solidFill>
            <a:prstDash val="solid"/>
            <a:round/>
            <a:headEnd len="sm" w="sm" type="none"/>
            <a:tailEnd len="med" w="med" type="triangle"/>
          </a:ln>
        </p:spPr>
      </p:cxnSp>
      <p:cxnSp>
        <p:nvCxnSpPr>
          <p:cNvPr id="1008" name="Google Shape;1008;h1863e7f528e27f29_0_253"/>
          <p:cNvCxnSpPr>
            <a:stCxn id="999" idx="6"/>
            <a:endCxn id="1003" idx="2"/>
          </p:cNvCxnSpPr>
          <p:nvPr/>
        </p:nvCxnSpPr>
        <p:spPr>
          <a:xfrm>
            <a:off x="4026026" y="3186449"/>
            <a:ext cx="2252400" cy="314700"/>
          </a:xfrm>
          <a:prstGeom prst="straightConnector1">
            <a:avLst/>
          </a:prstGeom>
          <a:noFill/>
          <a:ln cap="flat" cmpd="sng" w="20500">
            <a:solidFill>
              <a:srgbClr val="000000"/>
            </a:solidFill>
            <a:prstDash val="solid"/>
            <a:round/>
            <a:headEnd len="sm" w="sm" type="none"/>
            <a:tailEnd len="med" w="med" type="triangle"/>
          </a:ln>
        </p:spPr>
      </p:cxnSp>
      <p:cxnSp>
        <p:nvCxnSpPr>
          <p:cNvPr id="1009" name="Google Shape;1009;h1863e7f528e27f29_0_253"/>
          <p:cNvCxnSpPr>
            <a:stCxn id="1000" idx="6"/>
          </p:cNvCxnSpPr>
          <p:nvPr/>
        </p:nvCxnSpPr>
        <p:spPr>
          <a:xfrm flipH="1" rot="10800000">
            <a:off x="4025995" y="3645873"/>
            <a:ext cx="2311800" cy="433500"/>
          </a:xfrm>
          <a:prstGeom prst="straightConnector1">
            <a:avLst/>
          </a:prstGeom>
          <a:noFill/>
          <a:ln cap="flat" cmpd="sng" w="20500">
            <a:solidFill>
              <a:srgbClr val="000000"/>
            </a:solidFill>
            <a:prstDash val="solid"/>
            <a:round/>
            <a:headEnd len="sm" w="sm" type="none"/>
            <a:tailEnd len="med" w="med" type="triangle"/>
          </a:ln>
        </p:spPr>
      </p:cxnSp>
      <p:cxnSp>
        <p:nvCxnSpPr>
          <p:cNvPr id="1010" name="Google Shape;1010;h1863e7f528e27f29_0_253"/>
          <p:cNvCxnSpPr>
            <a:stCxn id="1002" idx="3"/>
          </p:cNvCxnSpPr>
          <p:nvPr/>
        </p:nvCxnSpPr>
        <p:spPr>
          <a:xfrm>
            <a:off x="4026013" y="2327088"/>
            <a:ext cx="2273700" cy="1072500"/>
          </a:xfrm>
          <a:prstGeom prst="straightConnector1">
            <a:avLst/>
          </a:prstGeom>
          <a:noFill/>
          <a:ln cap="flat" cmpd="sng" w="20500">
            <a:solidFill>
              <a:srgbClr val="000000"/>
            </a:solidFill>
            <a:prstDash val="solid"/>
            <a:round/>
            <a:headEnd len="sm" w="sm" type="none"/>
            <a:tailEnd len="med" w="med" type="triangle"/>
          </a:ln>
        </p:spPr>
      </p:cxnSp>
      <p:sp>
        <p:nvSpPr>
          <p:cNvPr id="1011" name="Google Shape;1011;h1863e7f528e27f29_0_253"/>
          <p:cNvSpPr/>
          <p:nvPr/>
        </p:nvSpPr>
        <p:spPr>
          <a:xfrm>
            <a:off x="8469776"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σ</a:t>
            </a:r>
            <a:endParaRPr b="0" sz="1241" strike="noStrike">
              <a:latin typeface="Arial"/>
              <a:ea typeface="Arial"/>
              <a:cs typeface="Arial"/>
              <a:sym typeface="Arial"/>
            </a:endParaRPr>
          </a:p>
        </p:txBody>
      </p:sp>
      <p:cxnSp>
        <p:nvCxnSpPr>
          <p:cNvPr id="1012" name="Google Shape;1012;h1863e7f528e27f29_0_253"/>
          <p:cNvCxnSpPr>
            <a:stCxn id="1004" idx="6"/>
          </p:cNvCxnSpPr>
          <p:nvPr/>
        </p:nvCxnSpPr>
        <p:spPr>
          <a:xfrm>
            <a:off x="6755126" y="2884616"/>
            <a:ext cx="1693200" cy="249600"/>
          </a:xfrm>
          <a:prstGeom prst="straightConnector1">
            <a:avLst/>
          </a:prstGeom>
          <a:noFill/>
          <a:ln cap="flat" cmpd="sng" w="20500">
            <a:solidFill>
              <a:srgbClr val="666666"/>
            </a:solidFill>
            <a:prstDash val="solid"/>
            <a:round/>
            <a:headEnd len="sm" w="sm" type="none"/>
            <a:tailEnd len="med" w="med" type="triangle"/>
          </a:ln>
        </p:spPr>
      </p:cxnSp>
      <p:cxnSp>
        <p:nvCxnSpPr>
          <p:cNvPr id="1013" name="Google Shape;1013;h1863e7f528e27f29_0_253"/>
          <p:cNvCxnSpPr>
            <a:stCxn id="1003" idx="6"/>
          </p:cNvCxnSpPr>
          <p:nvPr/>
        </p:nvCxnSpPr>
        <p:spPr>
          <a:xfrm flipH="1" rot="10800000">
            <a:off x="6784676" y="3279416"/>
            <a:ext cx="1701600" cy="221700"/>
          </a:xfrm>
          <a:prstGeom prst="straightConnector1">
            <a:avLst/>
          </a:prstGeom>
          <a:noFill/>
          <a:ln cap="flat" cmpd="sng" w="20500">
            <a:solidFill>
              <a:srgbClr val="666666"/>
            </a:solidFill>
            <a:prstDash val="solid"/>
            <a:round/>
            <a:headEnd len="sm" w="sm" type="none"/>
            <a:tailEnd len="med" w="med" type="triangle"/>
          </a:ln>
        </p:spPr>
      </p:cxnSp>
      <p:sp>
        <p:nvSpPr>
          <p:cNvPr id="1014" name="Google Shape;1014;h1863e7f528e27f29_0_253"/>
          <p:cNvSpPr txBox="1"/>
          <p:nvPr/>
        </p:nvSpPr>
        <p:spPr>
          <a:xfrm>
            <a:off x="4168575" y="2041663"/>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
        <p:nvSpPr>
          <p:cNvPr id="1015" name="Google Shape;1015;h1863e7f528e27f29_0_253"/>
          <p:cNvSpPr txBox="1"/>
          <p:nvPr/>
        </p:nvSpPr>
        <p:spPr>
          <a:xfrm>
            <a:off x="4106200" y="2487838"/>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16" name="Google Shape;1016;h1863e7f528e27f29_0_253"/>
          <p:cNvSpPr txBox="1"/>
          <p:nvPr/>
        </p:nvSpPr>
        <p:spPr>
          <a:xfrm>
            <a:off x="4492750" y="27993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17" name="Google Shape;1017;h1863e7f528e27f29_0_253"/>
          <p:cNvSpPr txBox="1"/>
          <p:nvPr/>
        </p:nvSpPr>
        <p:spPr>
          <a:xfrm>
            <a:off x="4492750" y="324905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18" name="Google Shape;1018;h1863e7f528e27f29_0_253"/>
          <p:cNvSpPr txBox="1"/>
          <p:nvPr/>
        </p:nvSpPr>
        <p:spPr>
          <a:xfrm>
            <a:off x="4274075" y="35541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19" name="Google Shape;1019;h1863e7f528e27f29_0_253"/>
          <p:cNvSpPr txBox="1"/>
          <p:nvPr/>
        </p:nvSpPr>
        <p:spPr>
          <a:xfrm>
            <a:off x="4302075" y="40428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20" name="Google Shape;1020;h1863e7f528e27f29_0_253"/>
          <p:cNvSpPr txBox="1"/>
          <p:nvPr/>
        </p:nvSpPr>
        <p:spPr>
          <a:xfrm>
            <a:off x="7385675" y="2696250"/>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21" name="Google Shape;1021;h1863e7f528e27f29_0_253"/>
          <p:cNvSpPr txBox="1"/>
          <p:nvPr/>
        </p:nvSpPr>
        <p:spPr>
          <a:xfrm>
            <a:off x="7336925" y="3439650"/>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-2</a:t>
            </a:r>
            <a:endParaRPr b="0" sz="1800" strike="noStrike">
              <a:latin typeface="Arial"/>
              <a:ea typeface="Arial"/>
              <a:cs typeface="Arial"/>
              <a:sym typeface="Arial"/>
            </a:endParaRPr>
          </a:p>
        </p:txBody>
      </p:sp>
      <p:sp>
        <p:nvSpPr>
          <p:cNvPr id="1022" name="Google Shape;1022;h1863e7f528e27f29_0_253"/>
          <p:cNvSpPr txBox="1"/>
          <p:nvPr/>
        </p:nvSpPr>
        <p:spPr>
          <a:xfrm>
            <a:off x="6103075" y="3759988"/>
            <a:ext cx="85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ReLU</a:t>
            </a:r>
            <a:endParaRPr sz="1800">
              <a:solidFill>
                <a:srgbClr val="434343"/>
              </a:solidFill>
              <a:latin typeface="Comfortaa"/>
              <a:ea typeface="Comfortaa"/>
              <a:cs typeface="Comfortaa"/>
              <a:sym typeface="Comfortaa"/>
            </a:endParaRPr>
          </a:p>
        </p:txBody>
      </p:sp>
      <p:sp>
        <p:nvSpPr>
          <p:cNvPr id="1023" name="Google Shape;1023;h1863e7f528e27f29_0_253"/>
          <p:cNvSpPr txBox="1"/>
          <p:nvPr/>
        </p:nvSpPr>
        <p:spPr>
          <a:xfrm>
            <a:off x="6263825" y="4582075"/>
            <a:ext cx="265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adapted from (Jurafsky, 2026)</a:t>
            </a:r>
            <a:endParaRPr sz="1200">
              <a:solidFill>
                <a:srgbClr val="434343"/>
              </a:solidFill>
              <a:latin typeface="Comfortaa"/>
              <a:ea typeface="Comfortaa"/>
              <a:cs typeface="Comfortaa"/>
              <a:sym typeface="Comfortaa"/>
            </a:endParaRPr>
          </a:p>
        </p:txBody>
      </p:sp>
      <p:sp>
        <p:nvSpPr>
          <p:cNvPr id="1024" name="Google Shape;1024;h1863e7f528e27f29_0_253"/>
          <p:cNvSpPr txBox="1"/>
          <p:nvPr/>
        </p:nvSpPr>
        <p:spPr>
          <a:xfrm>
            <a:off x="8278300" y="3439650"/>
            <a:ext cx="85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ReLU</a:t>
            </a:r>
            <a:endParaRPr sz="1800">
              <a:solidFill>
                <a:srgbClr val="434343"/>
              </a:solidFill>
              <a:latin typeface="Comfortaa"/>
              <a:ea typeface="Comfortaa"/>
              <a:cs typeface="Comfortaa"/>
              <a:sym typeface="Comfortaa"/>
            </a:endParaRPr>
          </a:p>
        </p:txBody>
      </p:sp>
      <p:sp>
        <p:nvSpPr>
          <p:cNvPr id="1025" name="Google Shape;1025;h1863e7f528e27f29_0_253"/>
          <p:cNvSpPr/>
          <p:nvPr/>
        </p:nvSpPr>
        <p:spPr>
          <a:xfrm>
            <a:off x="6234626" y="19661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026" name="Google Shape;1026;h1863e7f528e27f29_0_253"/>
          <p:cNvSpPr txBox="1"/>
          <p:nvPr/>
        </p:nvSpPr>
        <p:spPr>
          <a:xfrm>
            <a:off x="6234638" y="205226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1027" name="Google Shape;1027;h1863e7f528e27f29_0_253"/>
          <p:cNvCxnSpPr>
            <a:stCxn id="1026" idx="3"/>
          </p:cNvCxnSpPr>
          <p:nvPr/>
        </p:nvCxnSpPr>
        <p:spPr>
          <a:xfrm>
            <a:off x="6741038" y="2219363"/>
            <a:ext cx="1781700" cy="778800"/>
          </a:xfrm>
          <a:prstGeom prst="straightConnector1">
            <a:avLst/>
          </a:prstGeom>
          <a:noFill/>
          <a:ln cap="flat" cmpd="sng" w="20500">
            <a:solidFill>
              <a:srgbClr val="666666"/>
            </a:solidFill>
            <a:prstDash val="solid"/>
            <a:round/>
            <a:headEnd len="sm" w="sm" type="none"/>
            <a:tailEnd len="med" w="med" type="triangle"/>
          </a:ln>
        </p:spPr>
      </p:cxnSp>
      <p:sp>
        <p:nvSpPr>
          <p:cNvPr id="1028" name="Google Shape;1028;h1863e7f528e27f29_0_253"/>
          <p:cNvSpPr txBox="1"/>
          <p:nvPr/>
        </p:nvSpPr>
        <p:spPr>
          <a:xfrm>
            <a:off x="7385675" y="2219375"/>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h1863e7f528e27f29_0_8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XOR with ReLU</a:t>
            </a:r>
            <a:endParaRPr/>
          </a:p>
        </p:txBody>
      </p:sp>
      <p:graphicFrame>
        <p:nvGraphicFramePr>
          <p:cNvPr id="1034" name="Google Shape;1034;h1863e7f528e27f29_0_88"/>
          <p:cNvGraphicFramePr/>
          <p:nvPr/>
        </p:nvGraphicFramePr>
        <p:xfrm>
          <a:off x="182488" y="20591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tc>
                <a:tc>
                  <a:txBody>
                    <a:bodyPr/>
                    <a:lstStyle/>
                    <a:p>
                      <a:pPr indent="0" lvl="0" marL="0" rtl="0" algn="ctr">
                        <a:spcBef>
                          <a:spcPts val="0"/>
                        </a:spcBef>
                        <a:spcAft>
                          <a:spcPts val="0"/>
                        </a:spcAft>
                        <a:buNone/>
                      </a:pPr>
                      <a:r>
                        <a:rPr b="1" lang="pt-BR" sz="2400"/>
                        <a:t>y</a:t>
                      </a:r>
                      <a:endParaRPr b="1" sz="2400"/>
                    </a:p>
                  </a:txBody>
                  <a:tcPr marT="91425" marB="91425" marR="91425" marL="91425"/>
                </a:tc>
              </a:tr>
              <a:tr h="381000">
                <a:tc>
                  <a:txBody>
                    <a:bodyPr/>
                    <a:lstStyle/>
                    <a:p>
                      <a:pPr indent="0" lvl="0" marL="0" rtl="0" algn="ctr">
                        <a:spcBef>
                          <a:spcPts val="0"/>
                        </a:spcBef>
                        <a:spcAft>
                          <a:spcPts val="0"/>
                        </a:spcAft>
                        <a:buNone/>
                      </a:pPr>
                      <a:r>
                        <a:rPr b="1" lang="pt-BR" sz="2400">
                          <a:solidFill>
                            <a:srgbClr val="0000FF"/>
                          </a:solidFill>
                        </a:rPr>
                        <a:t>0</a:t>
                      </a:r>
                      <a:endParaRPr b="1" sz="2400">
                        <a:solidFill>
                          <a:srgbClr val="0000FF"/>
                        </a:solidFill>
                      </a:endParaRPr>
                    </a:p>
                  </a:txBody>
                  <a:tcPr marT="91425" marB="91425" marR="91425" marL="91425"/>
                </a:tc>
                <a:tc>
                  <a:txBody>
                    <a:bodyPr/>
                    <a:lstStyle/>
                    <a:p>
                      <a:pPr indent="0" lvl="0" marL="0" rtl="0" algn="ctr">
                        <a:spcBef>
                          <a:spcPts val="0"/>
                        </a:spcBef>
                        <a:spcAft>
                          <a:spcPts val="0"/>
                        </a:spcAft>
                        <a:buNone/>
                      </a:pPr>
                      <a:r>
                        <a:rPr b="1" lang="pt-BR" sz="2400">
                          <a:solidFill>
                            <a:srgbClr val="0000FF"/>
                          </a:solidFill>
                        </a:rPr>
                        <a:t>0</a:t>
                      </a:r>
                      <a:endParaRPr b="1" sz="2400">
                        <a:solidFill>
                          <a:srgbClr val="0000FF"/>
                        </a:solidFill>
                      </a:endParaRPr>
                    </a:p>
                  </a:txBody>
                  <a:tcPr marT="91425" marB="91425" marR="91425" marL="91425"/>
                </a:tc>
                <a:tc>
                  <a:txBody>
                    <a:bodyPr/>
                    <a:lstStyle/>
                    <a:p>
                      <a:pPr indent="0" lvl="0" marL="0" rtl="0" algn="ctr">
                        <a:spcBef>
                          <a:spcPts val="0"/>
                        </a:spcBef>
                        <a:spcAft>
                          <a:spcPts val="0"/>
                        </a:spcAft>
                        <a:buNone/>
                      </a:pPr>
                      <a:r>
                        <a:rPr b="1" lang="pt-BR" sz="2400">
                          <a:solidFill>
                            <a:srgbClr val="FF0000"/>
                          </a:solidFill>
                        </a:rPr>
                        <a:t>0</a:t>
                      </a:r>
                      <a:endParaRPr b="1" sz="2400">
                        <a:solidFill>
                          <a:srgbClr val="FF0000"/>
                        </a:solidFill>
                      </a:endParaRPr>
                    </a:p>
                  </a:txBody>
                  <a:tcPr marT="91425" marB="91425" marR="91425" marL="91425"/>
                </a:tc>
              </a:tr>
              <a:tr h="381000">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bl>
          </a:graphicData>
        </a:graphic>
      </p:graphicFrame>
      <p:sp>
        <p:nvSpPr>
          <p:cNvPr id="1035" name="Google Shape;1035;h1863e7f528e27f29_0_88"/>
          <p:cNvSpPr txBox="1"/>
          <p:nvPr/>
        </p:nvSpPr>
        <p:spPr>
          <a:xfrm>
            <a:off x="1126100" y="15329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X</a:t>
            </a:r>
            <a:r>
              <a:rPr b="1" lang="pt-BR" sz="3000">
                <a:solidFill>
                  <a:srgbClr val="434343"/>
                </a:solidFill>
                <a:latin typeface="Comfortaa"/>
                <a:ea typeface="Comfortaa"/>
                <a:cs typeface="Comfortaa"/>
                <a:sym typeface="Comfortaa"/>
              </a:rPr>
              <a:t>OR</a:t>
            </a:r>
            <a:endParaRPr b="1" sz="3000">
              <a:solidFill>
                <a:srgbClr val="434343"/>
              </a:solidFill>
              <a:latin typeface="Comfortaa"/>
              <a:ea typeface="Comfortaa"/>
              <a:cs typeface="Comfortaa"/>
              <a:sym typeface="Comfortaa"/>
            </a:endParaRPr>
          </a:p>
        </p:txBody>
      </p:sp>
      <p:sp>
        <p:nvSpPr>
          <p:cNvPr id="1036" name="Google Shape;1036;h1863e7f528e27f29_0_88"/>
          <p:cNvSpPr/>
          <p:nvPr/>
        </p:nvSpPr>
        <p:spPr>
          <a:xfrm>
            <a:off x="3519601" y="2073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037" name="Google Shape;1037;h1863e7f528e27f29_0_88"/>
          <p:cNvSpPr txBox="1"/>
          <p:nvPr/>
        </p:nvSpPr>
        <p:spPr>
          <a:xfrm>
            <a:off x="3519613" y="21599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sp>
        <p:nvSpPr>
          <p:cNvPr id="1038" name="Google Shape;1038;h1863e7f528e27f29_0_88"/>
          <p:cNvSpPr/>
          <p:nvPr/>
        </p:nvSpPr>
        <p:spPr>
          <a:xfrm>
            <a:off x="6278276" y="3247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sp>
        <p:nvSpPr>
          <p:cNvPr id="1039" name="Google Shape;1039;h1863e7f528e27f29_0_88"/>
          <p:cNvSpPr/>
          <p:nvPr/>
        </p:nvSpPr>
        <p:spPr>
          <a:xfrm>
            <a:off x="6248726" y="26314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cxnSp>
        <p:nvCxnSpPr>
          <p:cNvPr id="1040" name="Google Shape;1040;h1863e7f528e27f29_0_88"/>
          <p:cNvCxnSpPr>
            <a:stCxn id="1037" idx="3"/>
          </p:cNvCxnSpPr>
          <p:nvPr/>
        </p:nvCxnSpPr>
        <p:spPr>
          <a:xfrm>
            <a:off x="4026013" y="2327088"/>
            <a:ext cx="2217000" cy="472200"/>
          </a:xfrm>
          <a:prstGeom prst="straightConnector1">
            <a:avLst/>
          </a:prstGeom>
          <a:noFill/>
          <a:ln cap="flat" cmpd="sng" w="20500">
            <a:solidFill>
              <a:srgbClr val="999999"/>
            </a:solidFill>
            <a:prstDash val="solid"/>
            <a:round/>
            <a:headEnd len="sm" w="sm" type="none"/>
            <a:tailEnd len="med" w="med" type="triangle"/>
          </a:ln>
        </p:spPr>
      </p:cxnSp>
      <p:cxnSp>
        <p:nvCxnSpPr>
          <p:cNvPr id="1041" name="Google Shape;1041;h1863e7f528e27f29_0_88"/>
          <p:cNvCxnSpPr>
            <a:stCxn id="1042" idx="6"/>
            <a:endCxn id="1039" idx="2"/>
          </p:cNvCxnSpPr>
          <p:nvPr/>
        </p:nvCxnSpPr>
        <p:spPr>
          <a:xfrm flipH="1" rot="10800000">
            <a:off x="4026026" y="2884616"/>
            <a:ext cx="2222700" cy="301800"/>
          </a:xfrm>
          <a:prstGeom prst="straightConnector1">
            <a:avLst/>
          </a:prstGeom>
          <a:noFill/>
          <a:ln cap="flat" cmpd="sng" w="20500">
            <a:solidFill>
              <a:srgbClr val="999999"/>
            </a:solidFill>
            <a:prstDash val="solid"/>
            <a:round/>
            <a:headEnd len="sm" w="sm" type="none"/>
            <a:tailEnd len="med" w="med" type="triangle"/>
          </a:ln>
        </p:spPr>
      </p:cxnSp>
      <p:cxnSp>
        <p:nvCxnSpPr>
          <p:cNvPr id="1043" name="Google Shape;1043;h1863e7f528e27f29_0_88"/>
          <p:cNvCxnSpPr>
            <a:stCxn id="1044" idx="6"/>
          </p:cNvCxnSpPr>
          <p:nvPr/>
        </p:nvCxnSpPr>
        <p:spPr>
          <a:xfrm flipH="1" rot="10800000">
            <a:off x="4025995" y="3001473"/>
            <a:ext cx="2223300" cy="1077900"/>
          </a:xfrm>
          <a:prstGeom prst="straightConnector1">
            <a:avLst/>
          </a:prstGeom>
          <a:noFill/>
          <a:ln cap="flat" cmpd="sng" w="20500">
            <a:solidFill>
              <a:srgbClr val="999999"/>
            </a:solidFill>
            <a:prstDash val="solid"/>
            <a:round/>
            <a:headEnd len="sm" w="sm" type="none"/>
            <a:tailEnd len="med" w="med" type="triangle"/>
          </a:ln>
        </p:spPr>
      </p:cxnSp>
      <p:cxnSp>
        <p:nvCxnSpPr>
          <p:cNvPr id="1045" name="Google Shape;1045;h1863e7f528e27f29_0_88"/>
          <p:cNvCxnSpPr>
            <a:stCxn id="1042" idx="6"/>
            <a:endCxn id="1038" idx="2"/>
          </p:cNvCxnSpPr>
          <p:nvPr/>
        </p:nvCxnSpPr>
        <p:spPr>
          <a:xfrm>
            <a:off x="4025876" y="3186416"/>
            <a:ext cx="2252400" cy="314700"/>
          </a:xfrm>
          <a:prstGeom prst="straightConnector1">
            <a:avLst/>
          </a:prstGeom>
          <a:noFill/>
          <a:ln cap="flat" cmpd="sng" w="20500">
            <a:solidFill>
              <a:srgbClr val="000000"/>
            </a:solidFill>
            <a:prstDash val="solid"/>
            <a:round/>
            <a:headEnd len="sm" w="sm" type="none"/>
            <a:tailEnd len="med" w="med" type="triangle"/>
          </a:ln>
        </p:spPr>
      </p:cxnSp>
      <p:cxnSp>
        <p:nvCxnSpPr>
          <p:cNvPr id="1046" name="Google Shape;1046;h1863e7f528e27f29_0_88"/>
          <p:cNvCxnSpPr>
            <a:stCxn id="1044" idx="6"/>
          </p:cNvCxnSpPr>
          <p:nvPr/>
        </p:nvCxnSpPr>
        <p:spPr>
          <a:xfrm flipH="1" rot="10800000">
            <a:off x="4025995" y="3645873"/>
            <a:ext cx="2311800" cy="433500"/>
          </a:xfrm>
          <a:prstGeom prst="straightConnector1">
            <a:avLst/>
          </a:prstGeom>
          <a:noFill/>
          <a:ln cap="flat" cmpd="sng" w="20500">
            <a:solidFill>
              <a:srgbClr val="000000"/>
            </a:solidFill>
            <a:prstDash val="solid"/>
            <a:round/>
            <a:headEnd len="sm" w="sm" type="none"/>
            <a:tailEnd len="med" w="med" type="triangle"/>
          </a:ln>
        </p:spPr>
      </p:cxnSp>
      <p:cxnSp>
        <p:nvCxnSpPr>
          <p:cNvPr id="1047" name="Google Shape;1047;h1863e7f528e27f29_0_88"/>
          <p:cNvCxnSpPr>
            <a:stCxn id="1037" idx="3"/>
          </p:cNvCxnSpPr>
          <p:nvPr/>
        </p:nvCxnSpPr>
        <p:spPr>
          <a:xfrm>
            <a:off x="4026013" y="2327088"/>
            <a:ext cx="2273700" cy="1072500"/>
          </a:xfrm>
          <a:prstGeom prst="straightConnector1">
            <a:avLst/>
          </a:prstGeom>
          <a:noFill/>
          <a:ln cap="flat" cmpd="sng" w="20500">
            <a:solidFill>
              <a:srgbClr val="000000"/>
            </a:solidFill>
            <a:prstDash val="solid"/>
            <a:round/>
            <a:headEnd len="sm" w="sm" type="none"/>
            <a:tailEnd len="med" w="med" type="triangle"/>
          </a:ln>
        </p:spPr>
      </p:cxnSp>
      <p:sp>
        <p:nvSpPr>
          <p:cNvPr id="1048" name="Google Shape;1048;h1863e7f528e27f29_0_88"/>
          <p:cNvSpPr/>
          <p:nvPr/>
        </p:nvSpPr>
        <p:spPr>
          <a:xfrm>
            <a:off x="8469776"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t/>
            </a:r>
            <a:endParaRPr b="0" sz="1241" strike="noStrike">
              <a:latin typeface="Arial"/>
              <a:ea typeface="Arial"/>
              <a:cs typeface="Arial"/>
              <a:sym typeface="Arial"/>
            </a:endParaRPr>
          </a:p>
        </p:txBody>
      </p:sp>
      <p:cxnSp>
        <p:nvCxnSpPr>
          <p:cNvPr id="1049" name="Google Shape;1049;h1863e7f528e27f29_0_88"/>
          <p:cNvCxnSpPr>
            <a:stCxn id="1039" idx="6"/>
          </p:cNvCxnSpPr>
          <p:nvPr/>
        </p:nvCxnSpPr>
        <p:spPr>
          <a:xfrm>
            <a:off x="6755126" y="2884616"/>
            <a:ext cx="1693200" cy="249600"/>
          </a:xfrm>
          <a:prstGeom prst="straightConnector1">
            <a:avLst/>
          </a:prstGeom>
          <a:noFill/>
          <a:ln cap="flat" cmpd="sng" w="20500">
            <a:solidFill>
              <a:srgbClr val="666666"/>
            </a:solidFill>
            <a:prstDash val="solid"/>
            <a:round/>
            <a:headEnd len="sm" w="sm" type="none"/>
            <a:tailEnd len="med" w="med" type="triangle"/>
          </a:ln>
        </p:spPr>
      </p:cxnSp>
      <p:cxnSp>
        <p:nvCxnSpPr>
          <p:cNvPr id="1050" name="Google Shape;1050;h1863e7f528e27f29_0_88"/>
          <p:cNvCxnSpPr>
            <a:stCxn id="1038" idx="6"/>
          </p:cNvCxnSpPr>
          <p:nvPr/>
        </p:nvCxnSpPr>
        <p:spPr>
          <a:xfrm flipH="1" rot="10800000">
            <a:off x="6784676" y="3279416"/>
            <a:ext cx="1701600" cy="221700"/>
          </a:xfrm>
          <a:prstGeom prst="straightConnector1">
            <a:avLst/>
          </a:prstGeom>
          <a:noFill/>
          <a:ln cap="flat" cmpd="sng" w="20500">
            <a:solidFill>
              <a:srgbClr val="666666"/>
            </a:solidFill>
            <a:prstDash val="solid"/>
            <a:round/>
            <a:headEnd len="sm" w="sm" type="none"/>
            <a:tailEnd len="med" w="med" type="triangle"/>
          </a:ln>
        </p:spPr>
      </p:cxnSp>
      <p:sp>
        <p:nvSpPr>
          <p:cNvPr id="1051" name="Google Shape;1051;h1863e7f528e27f29_0_88"/>
          <p:cNvSpPr txBox="1"/>
          <p:nvPr/>
        </p:nvSpPr>
        <p:spPr>
          <a:xfrm>
            <a:off x="4168575" y="2041663"/>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
        <p:nvSpPr>
          <p:cNvPr id="1052" name="Google Shape;1052;h1863e7f528e27f29_0_88"/>
          <p:cNvSpPr txBox="1"/>
          <p:nvPr/>
        </p:nvSpPr>
        <p:spPr>
          <a:xfrm>
            <a:off x="4106200" y="2487838"/>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53" name="Google Shape;1053;h1863e7f528e27f29_0_88"/>
          <p:cNvSpPr txBox="1"/>
          <p:nvPr/>
        </p:nvSpPr>
        <p:spPr>
          <a:xfrm>
            <a:off x="4492750" y="27993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54" name="Google Shape;1054;h1863e7f528e27f29_0_88"/>
          <p:cNvSpPr txBox="1"/>
          <p:nvPr/>
        </p:nvSpPr>
        <p:spPr>
          <a:xfrm>
            <a:off x="4492750" y="324905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55" name="Google Shape;1055;h1863e7f528e27f29_0_88"/>
          <p:cNvSpPr txBox="1"/>
          <p:nvPr/>
        </p:nvSpPr>
        <p:spPr>
          <a:xfrm>
            <a:off x="4274075" y="35541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56" name="Google Shape;1056;h1863e7f528e27f29_0_88"/>
          <p:cNvSpPr txBox="1"/>
          <p:nvPr/>
        </p:nvSpPr>
        <p:spPr>
          <a:xfrm>
            <a:off x="4302075" y="40428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57" name="Google Shape;1057;h1863e7f528e27f29_0_88"/>
          <p:cNvSpPr txBox="1"/>
          <p:nvPr/>
        </p:nvSpPr>
        <p:spPr>
          <a:xfrm>
            <a:off x="7385675" y="2696250"/>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58" name="Google Shape;1058;h1863e7f528e27f29_0_88"/>
          <p:cNvSpPr txBox="1"/>
          <p:nvPr/>
        </p:nvSpPr>
        <p:spPr>
          <a:xfrm>
            <a:off x="7336925" y="3439650"/>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-2</a:t>
            </a:r>
            <a:endParaRPr b="0" sz="1800" strike="noStrike">
              <a:latin typeface="Arial"/>
              <a:ea typeface="Arial"/>
              <a:cs typeface="Arial"/>
              <a:sym typeface="Arial"/>
            </a:endParaRPr>
          </a:p>
        </p:txBody>
      </p:sp>
      <p:sp>
        <p:nvSpPr>
          <p:cNvPr id="1059" name="Google Shape;1059;h1863e7f528e27f29_0_88"/>
          <p:cNvSpPr/>
          <p:nvPr/>
        </p:nvSpPr>
        <p:spPr>
          <a:xfrm>
            <a:off x="3519613"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060" name="Google Shape;1060;h1863e7f528e27f29_0_88"/>
          <p:cNvSpPr txBox="1"/>
          <p:nvPr/>
        </p:nvSpPr>
        <p:spPr>
          <a:xfrm>
            <a:off x="3519626" y="30193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1</a:t>
            </a:r>
            <a:r>
              <a:rPr lang="pt-BR" sz="1241">
                <a:solidFill>
                  <a:schemeClr val="dk1"/>
                </a:solidFill>
              </a:rPr>
              <a:t>=</a:t>
            </a:r>
            <a:r>
              <a:rPr b="1" lang="pt-BR" sz="1241">
                <a:solidFill>
                  <a:srgbClr val="0000FF"/>
                </a:solidFill>
              </a:rPr>
              <a:t>0</a:t>
            </a:r>
            <a:endParaRPr b="1" sz="1241">
              <a:solidFill>
                <a:srgbClr val="0000FF"/>
              </a:solidFill>
            </a:endParaRPr>
          </a:p>
        </p:txBody>
      </p:sp>
      <p:sp>
        <p:nvSpPr>
          <p:cNvPr id="1061" name="Google Shape;1061;h1863e7f528e27f29_0_88"/>
          <p:cNvSpPr/>
          <p:nvPr/>
        </p:nvSpPr>
        <p:spPr>
          <a:xfrm>
            <a:off x="3533588" y="379256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062" name="Google Shape;1062;h1863e7f528e27f29_0_88"/>
          <p:cNvSpPr txBox="1"/>
          <p:nvPr/>
        </p:nvSpPr>
        <p:spPr>
          <a:xfrm>
            <a:off x="3533601" y="387863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2</a:t>
            </a:r>
            <a:r>
              <a:rPr lang="pt-BR" sz="1241">
                <a:solidFill>
                  <a:schemeClr val="dk1"/>
                </a:solidFill>
              </a:rPr>
              <a:t>=</a:t>
            </a:r>
            <a:r>
              <a:rPr b="1" lang="pt-BR" sz="1241">
                <a:solidFill>
                  <a:srgbClr val="0000FF"/>
                </a:solidFill>
              </a:rPr>
              <a:t>0</a:t>
            </a:r>
            <a:endParaRPr b="1" sz="1241">
              <a:solidFill>
                <a:srgbClr val="0000FF"/>
              </a:solidFill>
            </a:endParaRPr>
          </a:p>
        </p:txBody>
      </p:sp>
      <p:sp>
        <p:nvSpPr>
          <p:cNvPr id="1063" name="Google Shape;1063;h1863e7f528e27f29_0_88"/>
          <p:cNvSpPr txBox="1"/>
          <p:nvPr/>
        </p:nvSpPr>
        <p:spPr>
          <a:xfrm>
            <a:off x="6247476" y="27075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1</a:t>
            </a:r>
            <a:r>
              <a:rPr lang="pt-BR" sz="1241">
                <a:solidFill>
                  <a:schemeClr val="dk1"/>
                </a:solidFill>
              </a:rPr>
              <a:t>=</a:t>
            </a:r>
            <a:r>
              <a:rPr lang="pt-BR" sz="1241">
                <a:solidFill>
                  <a:srgbClr val="FF0000"/>
                </a:solidFill>
              </a:rPr>
              <a:t>0</a:t>
            </a:r>
            <a:endParaRPr sz="1241">
              <a:solidFill>
                <a:srgbClr val="FF0000"/>
              </a:solidFill>
            </a:endParaRPr>
          </a:p>
        </p:txBody>
      </p:sp>
      <p:sp>
        <p:nvSpPr>
          <p:cNvPr id="1064" name="Google Shape;1064;h1863e7f528e27f29_0_88"/>
          <p:cNvSpPr txBox="1"/>
          <p:nvPr/>
        </p:nvSpPr>
        <p:spPr>
          <a:xfrm>
            <a:off x="6263788" y="33340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1</a:t>
            </a:r>
            <a:r>
              <a:rPr lang="pt-BR" sz="1241">
                <a:solidFill>
                  <a:schemeClr val="dk1"/>
                </a:solidFill>
              </a:rPr>
              <a:t>=</a:t>
            </a:r>
            <a:r>
              <a:rPr lang="pt-BR" sz="1241">
                <a:solidFill>
                  <a:srgbClr val="FF0000"/>
                </a:solidFill>
              </a:rPr>
              <a:t>0</a:t>
            </a:r>
            <a:endParaRPr sz="1241">
              <a:solidFill>
                <a:srgbClr val="FF0000"/>
              </a:solidFill>
            </a:endParaRPr>
          </a:p>
        </p:txBody>
      </p:sp>
      <p:sp>
        <p:nvSpPr>
          <p:cNvPr id="1065" name="Google Shape;1065;h1863e7f528e27f29_0_88"/>
          <p:cNvSpPr/>
          <p:nvPr/>
        </p:nvSpPr>
        <p:spPr>
          <a:xfrm>
            <a:off x="6234626" y="19661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066" name="Google Shape;1066;h1863e7f528e27f29_0_88"/>
          <p:cNvSpPr txBox="1"/>
          <p:nvPr/>
        </p:nvSpPr>
        <p:spPr>
          <a:xfrm>
            <a:off x="6234638" y="205226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1067" name="Google Shape;1067;h1863e7f528e27f29_0_88"/>
          <p:cNvCxnSpPr>
            <a:stCxn id="1066" idx="3"/>
          </p:cNvCxnSpPr>
          <p:nvPr/>
        </p:nvCxnSpPr>
        <p:spPr>
          <a:xfrm>
            <a:off x="6741038" y="2219363"/>
            <a:ext cx="1781700" cy="778800"/>
          </a:xfrm>
          <a:prstGeom prst="straightConnector1">
            <a:avLst/>
          </a:prstGeom>
          <a:noFill/>
          <a:ln cap="flat" cmpd="sng" w="20500">
            <a:solidFill>
              <a:srgbClr val="666666"/>
            </a:solidFill>
            <a:prstDash val="solid"/>
            <a:round/>
            <a:headEnd len="sm" w="sm" type="none"/>
            <a:tailEnd len="med" w="med" type="triangle"/>
          </a:ln>
        </p:spPr>
      </p:cxnSp>
      <p:sp>
        <p:nvSpPr>
          <p:cNvPr id="1068" name="Google Shape;1068;h1863e7f528e27f29_0_88"/>
          <p:cNvSpPr txBox="1"/>
          <p:nvPr/>
        </p:nvSpPr>
        <p:spPr>
          <a:xfrm>
            <a:off x="7385675" y="2219375"/>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
        <p:nvSpPr>
          <p:cNvPr id="1069" name="Google Shape;1069;h1863e7f528e27f29_0_88"/>
          <p:cNvSpPr txBox="1"/>
          <p:nvPr/>
        </p:nvSpPr>
        <p:spPr>
          <a:xfrm>
            <a:off x="8414875" y="3034775"/>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y=</a:t>
            </a:r>
            <a:r>
              <a:rPr lang="pt-BR" sz="1041">
                <a:solidFill>
                  <a:srgbClr val="FF0000"/>
                </a:solidFill>
              </a:rPr>
              <a:t>0</a:t>
            </a:r>
            <a:endParaRPr sz="1041">
              <a:solidFill>
                <a:srgbClr val="FF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h1863e7f528e27f29_0_5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XOR with ReLU</a:t>
            </a:r>
            <a:endParaRPr/>
          </a:p>
        </p:txBody>
      </p:sp>
      <p:graphicFrame>
        <p:nvGraphicFramePr>
          <p:cNvPr id="1075" name="Google Shape;1075;h1863e7f528e27f29_0_557"/>
          <p:cNvGraphicFramePr/>
          <p:nvPr/>
        </p:nvGraphicFramePr>
        <p:xfrm>
          <a:off x="182488" y="20591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pt-BR" sz="2400"/>
                        <a:t>y</a:t>
                      </a:r>
                      <a:endParaRPr b="1" sz="2400"/>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pt-BR" sz="2400">
                          <a:solidFill>
                            <a:srgbClr val="0000FF"/>
                          </a:solidFill>
                        </a:rPr>
                        <a:t>0</a:t>
                      </a:r>
                      <a:endParaRPr b="1" sz="2400">
                        <a:solidFill>
                          <a:srgbClr val="0000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pt-BR" sz="2400">
                          <a:solidFill>
                            <a:srgbClr val="0000FF"/>
                          </a:solidFill>
                        </a:rPr>
                        <a:t>1</a:t>
                      </a:r>
                      <a:endParaRPr b="1" sz="2400">
                        <a:solidFill>
                          <a:srgbClr val="0000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pt-BR" sz="2400">
                          <a:solidFill>
                            <a:srgbClr val="FF0000"/>
                          </a:solidFill>
                        </a:rPr>
                        <a:t>1</a:t>
                      </a:r>
                      <a:endParaRPr b="1" sz="2400">
                        <a:solidFill>
                          <a:srgbClr val="FF0000"/>
                        </a:solidFill>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bl>
          </a:graphicData>
        </a:graphic>
      </p:graphicFrame>
      <p:sp>
        <p:nvSpPr>
          <p:cNvPr id="1076" name="Google Shape;1076;h1863e7f528e27f29_0_557"/>
          <p:cNvSpPr txBox="1"/>
          <p:nvPr/>
        </p:nvSpPr>
        <p:spPr>
          <a:xfrm>
            <a:off x="1126100" y="15329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XOR</a:t>
            </a:r>
            <a:endParaRPr b="1" sz="3000">
              <a:solidFill>
                <a:srgbClr val="434343"/>
              </a:solidFill>
              <a:latin typeface="Comfortaa"/>
              <a:ea typeface="Comfortaa"/>
              <a:cs typeface="Comfortaa"/>
              <a:sym typeface="Comfortaa"/>
            </a:endParaRPr>
          </a:p>
        </p:txBody>
      </p:sp>
      <p:sp>
        <p:nvSpPr>
          <p:cNvPr id="1077" name="Google Shape;1077;h1863e7f528e27f29_0_557"/>
          <p:cNvSpPr/>
          <p:nvPr/>
        </p:nvSpPr>
        <p:spPr>
          <a:xfrm>
            <a:off x="3519601" y="2073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078" name="Google Shape;1078;h1863e7f528e27f29_0_557"/>
          <p:cNvSpPr txBox="1"/>
          <p:nvPr/>
        </p:nvSpPr>
        <p:spPr>
          <a:xfrm>
            <a:off x="3519613" y="21599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sp>
        <p:nvSpPr>
          <p:cNvPr id="1079" name="Google Shape;1079;h1863e7f528e27f29_0_557"/>
          <p:cNvSpPr/>
          <p:nvPr/>
        </p:nvSpPr>
        <p:spPr>
          <a:xfrm>
            <a:off x="6278276" y="3247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sp>
        <p:nvSpPr>
          <p:cNvPr id="1080" name="Google Shape;1080;h1863e7f528e27f29_0_557"/>
          <p:cNvSpPr/>
          <p:nvPr/>
        </p:nvSpPr>
        <p:spPr>
          <a:xfrm>
            <a:off x="6248726" y="26314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cxnSp>
        <p:nvCxnSpPr>
          <p:cNvPr id="1081" name="Google Shape;1081;h1863e7f528e27f29_0_557"/>
          <p:cNvCxnSpPr>
            <a:stCxn id="1078" idx="3"/>
          </p:cNvCxnSpPr>
          <p:nvPr/>
        </p:nvCxnSpPr>
        <p:spPr>
          <a:xfrm>
            <a:off x="4026013" y="2327088"/>
            <a:ext cx="2217000" cy="472200"/>
          </a:xfrm>
          <a:prstGeom prst="straightConnector1">
            <a:avLst/>
          </a:prstGeom>
          <a:noFill/>
          <a:ln cap="flat" cmpd="sng" w="20500">
            <a:solidFill>
              <a:srgbClr val="999999"/>
            </a:solidFill>
            <a:prstDash val="solid"/>
            <a:round/>
            <a:headEnd len="sm" w="sm" type="none"/>
            <a:tailEnd len="med" w="med" type="triangle"/>
          </a:ln>
        </p:spPr>
      </p:cxnSp>
      <p:cxnSp>
        <p:nvCxnSpPr>
          <p:cNvPr id="1082" name="Google Shape;1082;h1863e7f528e27f29_0_557"/>
          <p:cNvCxnSpPr>
            <a:stCxn id="1083" idx="6"/>
            <a:endCxn id="1080" idx="2"/>
          </p:cNvCxnSpPr>
          <p:nvPr/>
        </p:nvCxnSpPr>
        <p:spPr>
          <a:xfrm flipH="1" rot="10800000">
            <a:off x="4026026" y="2884616"/>
            <a:ext cx="2222700" cy="301800"/>
          </a:xfrm>
          <a:prstGeom prst="straightConnector1">
            <a:avLst/>
          </a:prstGeom>
          <a:noFill/>
          <a:ln cap="flat" cmpd="sng" w="20500">
            <a:solidFill>
              <a:srgbClr val="999999"/>
            </a:solidFill>
            <a:prstDash val="solid"/>
            <a:round/>
            <a:headEnd len="sm" w="sm" type="none"/>
            <a:tailEnd len="med" w="med" type="triangle"/>
          </a:ln>
        </p:spPr>
      </p:cxnSp>
      <p:cxnSp>
        <p:nvCxnSpPr>
          <p:cNvPr id="1084" name="Google Shape;1084;h1863e7f528e27f29_0_557"/>
          <p:cNvCxnSpPr>
            <a:stCxn id="1085" idx="6"/>
          </p:cNvCxnSpPr>
          <p:nvPr/>
        </p:nvCxnSpPr>
        <p:spPr>
          <a:xfrm flipH="1" rot="10800000">
            <a:off x="4025995" y="3001473"/>
            <a:ext cx="2223300" cy="1077900"/>
          </a:xfrm>
          <a:prstGeom prst="straightConnector1">
            <a:avLst/>
          </a:prstGeom>
          <a:noFill/>
          <a:ln cap="flat" cmpd="sng" w="20500">
            <a:solidFill>
              <a:srgbClr val="999999"/>
            </a:solidFill>
            <a:prstDash val="solid"/>
            <a:round/>
            <a:headEnd len="sm" w="sm" type="none"/>
            <a:tailEnd len="med" w="med" type="triangle"/>
          </a:ln>
        </p:spPr>
      </p:cxnSp>
      <p:cxnSp>
        <p:nvCxnSpPr>
          <p:cNvPr id="1086" name="Google Shape;1086;h1863e7f528e27f29_0_557"/>
          <p:cNvCxnSpPr>
            <a:stCxn id="1083" idx="6"/>
            <a:endCxn id="1079" idx="2"/>
          </p:cNvCxnSpPr>
          <p:nvPr/>
        </p:nvCxnSpPr>
        <p:spPr>
          <a:xfrm>
            <a:off x="4025876" y="3186416"/>
            <a:ext cx="2252400" cy="314700"/>
          </a:xfrm>
          <a:prstGeom prst="straightConnector1">
            <a:avLst/>
          </a:prstGeom>
          <a:noFill/>
          <a:ln cap="flat" cmpd="sng" w="20500">
            <a:solidFill>
              <a:srgbClr val="000000"/>
            </a:solidFill>
            <a:prstDash val="solid"/>
            <a:round/>
            <a:headEnd len="sm" w="sm" type="none"/>
            <a:tailEnd len="med" w="med" type="triangle"/>
          </a:ln>
        </p:spPr>
      </p:cxnSp>
      <p:cxnSp>
        <p:nvCxnSpPr>
          <p:cNvPr id="1087" name="Google Shape;1087;h1863e7f528e27f29_0_557"/>
          <p:cNvCxnSpPr>
            <a:stCxn id="1085" idx="6"/>
          </p:cNvCxnSpPr>
          <p:nvPr/>
        </p:nvCxnSpPr>
        <p:spPr>
          <a:xfrm flipH="1" rot="10800000">
            <a:off x="4025995" y="3645873"/>
            <a:ext cx="2311800" cy="433500"/>
          </a:xfrm>
          <a:prstGeom prst="straightConnector1">
            <a:avLst/>
          </a:prstGeom>
          <a:noFill/>
          <a:ln cap="flat" cmpd="sng" w="20500">
            <a:solidFill>
              <a:srgbClr val="000000"/>
            </a:solidFill>
            <a:prstDash val="solid"/>
            <a:round/>
            <a:headEnd len="sm" w="sm" type="none"/>
            <a:tailEnd len="med" w="med" type="triangle"/>
          </a:ln>
        </p:spPr>
      </p:cxnSp>
      <p:cxnSp>
        <p:nvCxnSpPr>
          <p:cNvPr id="1088" name="Google Shape;1088;h1863e7f528e27f29_0_557"/>
          <p:cNvCxnSpPr>
            <a:stCxn id="1078" idx="3"/>
          </p:cNvCxnSpPr>
          <p:nvPr/>
        </p:nvCxnSpPr>
        <p:spPr>
          <a:xfrm>
            <a:off x="4026013" y="2327088"/>
            <a:ext cx="2273700" cy="1072500"/>
          </a:xfrm>
          <a:prstGeom prst="straightConnector1">
            <a:avLst/>
          </a:prstGeom>
          <a:noFill/>
          <a:ln cap="flat" cmpd="sng" w="20500">
            <a:solidFill>
              <a:srgbClr val="000000"/>
            </a:solidFill>
            <a:prstDash val="solid"/>
            <a:round/>
            <a:headEnd len="sm" w="sm" type="none"/>
            <a:tailEnd len="med" w="med" type="triangle"/>
          </a:ln>
        </p:spPr>
      </p:cxnSp>
      <p:sp>
        <p:nvSpPr>
          <p:cNvPr id="1089" name="Google Shape;1089;h1863e7f528e27f29_0_557"/>
          <p:cNvSpPr/>
          <p:nvPr/>
        </p:nvSpPr>
        <p:spPr>
          <a:xfrm>
            <a:off x="8469776"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t/>
            </a:r>
            <a:endParaRPr b="0" sz="1241" strike="noStrike">
              <a:latin typeface="Arial"/>
              <a:ea typeface="Arial"/>
              <a:cs typeface="Arial"/>
              <a:sym typeface="Arial"/>
            </a:endParaRPr>
          </a:p>
        </p:txBody>
      </p:sp>
      <p:cxnSp>
        <p:nvCxnSpPr>
          <p:cNvPr id="1090" name="Google Shape;1090;h1863e7f528e27f29_0_557"/>
          <p:cNvCxnSpPr>
            <a:stCxn id="1080" idx="6"/>
          </p:cNvCxnSpPr>
          <p:nvPr/>
        </p:nvCxnSpPr>
        <p:spPr>
          <a:xfrm>
            <a:off x="6755126" y="2884616"/>
            <a:ext cx="1693200" cy="249600"/>
          </a:xfrm>
          <a:prstGeom prst="straightConnector1">
            <a:avLst/>
          </a:prstGeom>
          <a:noFill/>
          <a:ln cap="flat" cmpd="sng" w="20500">
            <a:solidFill>
              <a:srgbClr val="666666"/>
            </a:solidFill>
            <a:prstDash val="solid"/>
            <a:round/>
            <a:headEnd len="sm" w="sm" type="none"/>
            <a:tailEnd len="med" w="med" type="triangle"/>
          </a:ln>
        </p:spPr>
      </p:cxnSp>
      <p:cxnSp>
        <p:nvCxnSpPr>
          <p:cNvPr id="1091" name="Google Shape;1091;h1863e7f528e27f29_0_557"/>
          <p:cNvCxnSpPr>
            <a:stCxn id="1079" idx="6"/>
          </p:cNvCxnSpPr>
          <p:nvPr/>
        </p:nvCxnSpPr>
        <p:spPr>
          <a:xfrm flipH="1" rot="10800000">
            <a:off x="6784676" y="3279416"/>
            <a:ext cx="1701600" cy="221700"/>
          </a:xfrm>
          <a:prstGeom prst="straightConnector1">
            <a:avLst/>
          </a:prstGeom>
          <a:noFill/>
          <a:ln cap="flat" cmpd="sng" w="20500">
            <a:solidFill>
              <a:srgbClr val="666666"/>
            </a:solidFill>
            <a:prstDash val="solid"/>
            <a:round/>
            <a:headEnd len="sm" w="sm" type="none"/>
            <a:tailEnd len="med" w="med" type="triangle"/>
          </a:ln>
        </p:spPr>
      </p:cxnSp>
      <p:sp>
        <p:nvSpPr>
          <p:cNvPr id="1092" name="Google Shape;1092;h1863e7f528e27f29_0_557"/>
          <p:cNvSpPr txBox="1"/>
          <p:nvPr/>
        </p:nvSpPr>
        <p:spPr>
          <a:xfrm>
            <a:off x="4168575" y="2041663"/>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
        <p:nvSpPr>
          <p:cNvPr id="1093" name="Google Shape;1093;h1863e7f528e27f29_0_557"/>
          <p:cNvSpPr txBox="1"/>
          <p:nvPr/>
        </p:nvSpPr>
        <p:spPr>
          <a:xfrm>
            <a:off x="4106200" y="2487838"/>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94" name="Google Shape;1094;h1863e7f528e27f29_0_557"/>
          <p:cNvSpPr txBox="1"/>
          <p:nvPr/>
        </p:nvSpPr>
        <p:spPr>
          <a:xfrm>
            <a:off x="4492750" y="27993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95" name="Google Shape;1095;h1863e7f528e27f29_0_557"/>
          <p:cNvSpPr txBox="1"/>
          <p:nvPr/>
        </p:nvSpPr>
        <p:spPr>
          <a:xfrm>
            <a:off x="4492750" y="324905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96" name="Google Shape;1096;h1863e7f528e27f29_0_557"/>
          <p:cNvSpPr txBox="1"/>
          <p:nvPr/>
        </p:nvSpPr>
        <p:spPr>
          <a:xfrm>
            <a:off x="4274075" y="35541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97" name="Google Shape;1097;h1863e7f528e27f29_0_557"/>
          <p:cNvSpPr txBox="1"/>
          <p:nvPr/>
        </p:nvSpPr>
        <p:spPr>
          <a:xfrm>
            <a:off x="4302075" y="40428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98" name="Google Shape;1098;h1863e7f528e27f29_0_557"/>
          <p:cNvSpPr txBox="1"/>
          <p:nvPr/>
        </p:nvSpPr>
        <p:spPr>
          <a:xfrm>
            <a:off x="7385675" y="2696250"/>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099" name="Google Shape;1099;h1863e7f528e27f29_0_557"/>
          <p:cNvSpPr txBox="1"/>
          <p:nvPr/>
        </p:nvSpPr>
        <p:spPr>
          <a:xfrm>
            <a:off x="7336925" y="3439650"/>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-2</a:t>
            </a:r>
            <a:endParaRPr b="0" sz="1800" strike="noStrike">
              <a:latin typeface="Arial"/>
              <a:ea typeface="Arial"/>
              <a:cs typeface="Arial"/>
              <a:sym typeface="Arial"/>
            </a:endParaRPr>
          </a:p>
        </p:txBody>
      </p:sp>
      <p:sp>
        <p:nvSpPr>
          <p:cNvPr id="1100" name="Google Shape;1100;h1863e7f528e27f29_0_557"/>
          <p:cNvSpPr/>
          <p:nvPr/>
        </p:nvSpPr>
        <p:spPr>
          <a:xfrm>
            <a:off x="3519613"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101" name="Google Shape;1101;h1863e7f528e27f29_0_557"/>
          <p:cNvSpPr txBox="1"/>
          <p:nvPr/>
        </p:nvSpPr>
        <p:spPr>
          <a:xfrm>
            <a:off x="3519626" y="30193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1</a:t>
            </a:r>
            <a:r>
              <a:rPr lang="pt-BR" sz="1241">
                <a:solidFill>
                  <a:schemeClr val="dk1"/>
                </a:solidFill>
              </a:rPr>
              <a:t>=</a:t>
            </a:r>
            <a:r>
              <a:rPr b="1" lang="pt-BR" sz="1241">
                <a:solidFill>
                  <a:srgbClr val="0000FF"/>
                </a:solidFill>
              </a:rPr>
              <a:t>0</a:t>
            </a:r>
            <a:endParaRPr b="1" sz="1241">
              <a:solidFill>
                <a:srgbClr val="0000FF"/>
              </a:solidFill>
            </a:endParaRPr>
          </a:p>
        </p:txBody>
      </p:sp>
      <p:sp>
        <p:nvSpPr>
          <p:cNvPr id="1102" name="Google Shape;1102;h1863e7f528e27f29_0_557"/>
          <p:cNvSpPr/>
          <p:nvPr/>
        </p:nvSpPr>
        <p:spPr>
          <a:xfrm>
            <a:off x="3533588" y="379256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103" name="Google Shape;1103;h1863e7f528e27f29_0_557"/>
          <p:cNvSpPr txBox="1"/>
          <p:nvPr/>
        </p:nvSpPr>
        <p:spPr>
          <a:xfrm>
            <a:off x="3533601" y="387863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2</a:t>
            </a:r>
            <a:r>
              <a:rPr lang="pt-BR" sz="1241">
                <a:solidFill>
                  <a:schemeClr val="dk1"/>
                </a:solidFill>
              </a:rPr>
              <a:t>=</a:t>
            </a:r>
            <a:r>
              <a:rPr b="1" lang="pt-BR" sz="1241">
                <a:solidFill>
                  <a:srgbClr val="0000FF"/>
                </a:solidFill>
              </a:rPr>
              <a:t>1</a:t>
            </a:r>
            <a:endParaRPr b="1" sz="1241">
              <a:solidFill>
                <a:srgbClr val="0000FF"/>
              </a:solidFill>
            </a:endParaRPr>
          </a:p>
        </p:txBody>
      </p:sp>
      <p:sp>
        <p:nvSpPr>
          <p:cNvPr id="1104" name="Google Shape;1104;h1863e7f528e27f29_0_557"/>
          <p:cNvSpPr txBox="1"/>
          <p:nvPr/>
        </p:nvSpPr>
        <p:spPr>
          <a:xfrm>
            <a:off x="6247476" y="27075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1</a:t>
            </a:r>
            <a:r>
              <a:rPr lang="pt-BR" sz="1241">
                <a:solidFill>
                  <a:schemeClr val="dk1"/>
                </a:solidFill>
              </a:rPr>
              <a:t>=</a:t>
            </a:r>
            <a:r>
              <a:rPr lang="pt-BR" sz="1241">
                <a:solidFill>
                  <a:srgbClr val="FF0000"/>
                </a:solidFill>
              </a:rPr>
              <a:t>1</a:t>
            </a:r>
            <a:endParaRPr sz="1241">
              <a:solidFill>
                <a:srgbClr val="FF0000"/>
              </a:solidFill>
            </a:endParaRPr>
          </a:p>
        </p:txBody>
      </p:sp>
      <p:sp>
        <p:nvSpPr>
          <p:cNvPr id="1105" name="Google Shape;1105;h1863e7f528e27f29_0_557"/>
          <p:cNvSpPr txBox="1"/>
          <p:nvPr/>
        </p:nvSpPr>
        <p:spPr>
          <a:xfrm>
            <a:off x="6263788" y="33340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1</a:t>
            </a:r>
            <a:r>
              <a:rPr lang="pt-BR" sz="1241">
                <a:solidFill>
                  <a:schemeClr val="dk1"/>
                </a:solidFill>
              </a:rPr>
              <a:t>=</a:t>
            </a:r>
            <a:r>
              <a:rPr lang="pt-BR" sz="1241">
                <a:solidFill>
                  <a:srgbClr val="FF0000"/>
                </a:solidFill>
              </a:rPr>
              <a:t>0</a:t>
            </a:r>
            <a:endParaRPr sz="1241">
              <a:solidFill>
                <a:srgbClr val="FF0000"/>
              </a:solidFill>
            </a:endParaRPr>
          </a:p>
        </p:txBody>
      </p:sp>
      <p:sp>
        <p:nvSpPr>
          <p:cNvPr id="1106" name="Google Shape;1106;h1863e7f528e27f29_0_557"/>
          <p:cNvSpPr/>
          <p:nvPr/>
        </p:nvSpPr>
        <p:spPr>
          <a:xfrm>
            <a:off x="6234626" y="19661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107" name="Google Shape;1107;h1863e7f528e27f29_0_557"/>
          <p:cNvSpPr txBox="1"/>
          <p:nvPr/>
        </p:nvSpPr>
        <p:spPr>
          <a:xfrm>
            <a:off x="6234638" y="205226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1108" name="Google Shape;1108;h1863e7f528e27f29_0_557"/>
          <p:cNvCxnSpPr>
            <a:stCxn id="1107" idx="3"/>
          </p:cNvCxnSpPr>
          <p:nvPr/>
        </p:nvCxnSpPr>
        <p:spPr>
          <a:xfrm>
            <a:off x="6741038" y="2219363"/>
            <a:ext cx="1781700" cy="778800"/>
          </a:xfrm>
          <a:prstGeom prst="straightConnector1">
            <a:avLst/>
          </a:prstGeom>
          <a:noFill/>
          <a:ln cap="flat" cmpd="sng" w="20500">
            <a:solidFill>
              <a:srgbClr val="666666"/>
            </a:solidFill>
            <a:prstDash val="solid"/>
            <a:round/>
            <a:headEnd len="sm" w="sm" type="none"/>
            <a:tailEnd len="med" w="med" type="triangle"/>
          </a:ln>
        </p:spPr>
      </p:cxnSp>
      <p:sp>
        <p:nvSpPr>
          <p:cNvPr id="1109" name="Google Shape;1109;h1863e7f528e27f29_0_557"/>
          <p:cNvSpPr txBox="1"/>
          <p:nvPr/>
        </p:nvSpPr>
        <p:spPr>
          <a:xfrm>
            <a:off x="7385675" y="2219375"/>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
        <p:nvSpPr>
          <p:cNvPr id="1110" name="Google Shape;1110;h1863e7f528e27f29_0_557"/>
          <p:cNvSpPr txBox="1"/>
          <p:nvPr/>
        </p:nvSpPr>
        <p:spPr>
          <a:xfrm>
            <a:off x="8414875" y="3034775"/>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y=</a:t>
            </a:r>
            <a:r>
              <a:rPr lang="pt-BR" sz="1041">
                <a:solidFill>
                  <a:srgbClr val="FF0000"/>
                </a:solidFill>
              </a:rPr>
              <a:t>1</a:t>
            </a:r>
            <a:endParaRPr sz="1041">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h1863e7f528e27f29_0_59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XOR with ReLU</a:t>
            </a:r>
            <a:endParaRPr/>
          </a:p>
        </p:txBody>
      </p:sp>
      <p:graphicFrame>
        <p:nvGraphicFramePr>
          <p:cNvPr id="1116" name="Google Shape;1116;h1863e7f528e27f29_0_598"/>
          <p:cNvGraphicFramePr/>
          <p:nvPr/>
        </p:nvGraphicFramePr>
        <p:xfrm>
          <a:off x="182488" y="20591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pt-BR" sz="2400"/>
                        <a:t>y</a:t>
                      </a:r>
                      <a:endParaRPr b="1" sz="2400"/>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1</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1</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pt-BR" sz="2400">
                          <a:solidFill>
                            <a:srgbClr val="0000FF"/>
                          </a:solidFill>
                        </a:rPr>
                        <a:t>1</a:t>
                      </a:r>
                      <a:endParaRPr b="1" sz="2400">
                        <a:solidFill>
                          <a:srgbClr val="0000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pt-BR" sz="2400">
                          <a:solidFill>
                            <a:srgbClr val="0000FF"/>
                          </a:solidFill>
                        </a:rPr>
                        <a:t>0</a:t>
                      </a:r>
                      <a:endParaRPr b="1" sz="2400">
                        <a:solidFill>
                          <a:srgbClr val="0000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pt-BR" sz="2400">
                          <a:solidFill>
                            <a:srgbClr val="FF0000"/>
                          </a:solidFill>
                        </a:rPr>
                        <a:t>1</a:t>
                      </a:r>
                      <a:endParaRPr b="1" sz="2400">
                        <a:solidFill>
                          <a:srgbClr val="FF0000"/>
                        </a:solidFill>
                      </a:endParaRPr>
                    </a:p>
                  </a:txBody>
                  <a:tcPr marT="91425" marB="91425" marR="91425" marL="91425">
                    <a:lnT cap="flat" cmpd="sng" w="9525">
                      <a:solidFill>
                        <a:srgbClr val="9E9E9E"/>
                      </a:solidFill>
                      <a:prstDash val="solid"/>
                      <a:round/>
                      <a:headEnd len="sm" w="sm" type="none"/>
                      <a:tailEnd len="sm" w="sm" type="none"/>
                    </a:lnT>
                  </a:tcPr>
                </a:tc>
              </a:tr>
              <a:tr h="381000">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1</a:t>
                      </a:r>
                      <a:endParaRPr sz="2400"/>
                    </a:p>
                  </a:txBody>
                  <a:tcPr marT="91425" marB="91425" marR="91425" marL="91425"/>
                </a:tc>
                <a:tc>
                  <a:txBody>
                    <a:bodyPr/>
                    <a:lstStyle/>
                    <a:p>
                      <a:pPr indent="0" lvl="0" marL="0" rtl="0" algn="ctr">
                        <a:spcBef>
                          <a:spcPts val="0"/>
                        </a:spcBef>
                        <a:spcAft>
                          <a:spcPts val="0"/>
                        </a:spcAft>
                        <a:buNone/>
                      </a:pPr>
                      <a:r>
                        <a:rPr lang="pt-BR" sz="2400"/>
                        <a:t>0</a:t>
                      </a:r>
                      <a:endParaRPr sz="2400"/>
                    </a:p>
                  </a:txBody>
                  <a:tcPr marT="91425" marB="91425" marR="91425" marL="91425"/>
                </a:tc>
              </a:tr>
            </a:tbl>
          </a:graphicData>
        </a:graphic>
      </p:graphicFrame>
      <p:sp>
        <p:nvSpPr>
          <p:cNvPr id="1117" name="Google Shape;1117;h1863e7f528e27f29_0_598"/>
          <p:cNvSpPr txBox="1"/>
          <p:nvPr/>
        </p:nvSpPr>
        <p:spPr>
          <a:xfrm>
            <a:off x="1126100" y="15329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XOR</a:t>
            </a:r>
            <a:endParaRPr b="1" sz="3000">
              <a:solidFill>
                <a:srgbClr val="434343"/>
              </a:solidFill>
              <a:latin typeface="Comfortaa"/>
              <a:ea typeface="Comfortaa"/>
              <a:cs typeface="Comfortaa"/>
              <a:sym typeface="Comfortaa"/>
            </a:endParaRPr>
          </a:p>
        </p:txBody>
      </p:sp>
      <p:sp>
        <p:nvSpPr>
          <p:cNvPr id="1118" name="Google Shape;1118;h1863e7f528e27f29_0_598"/>
          <p:cNvSpPr/>
          <p:nvPr/>
        </p:nvSpPr>
        <p:spPr>
          <a:xfrm>
            <a:off x="3519601" y="2073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119" name="Google Shape;1119;h1863e7f528e27f29_0_598"/>
          <p:cNvSpPr txBox="1"/>
          <p:nvPr/>
        </p:nvSpPr>
        <p:spPr>
          <a:xfrm>
            <a:off x="3519613" y="21599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sp>
        <p:nvSpPr>
          <p:cNvPr id="1120" name="Google Shape;1120;h1863e7f528e27f29_0_598"/>
          <p:cNvSpPr/>
          <p:nvPr/>
        </p:nvSpPr>
        <p:spPr>
          <a:xfrm>
            <a:off x="6278276" y="3247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sp>
        <p:nvSpPr>
          <p:cNvPr id="1121" name="Google Shape;1121;h1863e7f528e27f29_0_598"/>
          <p:cNvSpPr/>
          <p:nvPr/>
        </p:nvSpPr>
        <p:spPr>
          <a:xfrm>
            <a:off x="6248726" y="26314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cxnSp>
        <p:nvCxnSpPr>
          <p:cNvPr id="1122" name="Google Shape;1122;h1863e7f528e27f29_0_598"/>
          <p:cNvCxnSpPr>
            <a:stCxn id="1119" idx="3"/>
          </p:cNvCxnSpPr>
          <p:nvPr/>
        </p:nvCxnSpPr>
        <p:spPr>
          <a:xfrm>
            <a:off x="4026013" y="2327088"/>
            <a:ext cx="2217000" cy="472200"/>
          </a:xfrm>
          <a:prstGeom prst="straightConnector1">
            <a:avLst/>
          </a:prstGeom>
          <a:noFill/>
          <a:ln cap="flat" cmpd="sng" w="20500">
            <a:solidFill>
              <a:srgbClr val="999999"/>
            </a:solidFill>
            <a:prstDash val="solid"/>
            <a:round/>
            <a:headEnd len="sm" w="sm" type="none"/>
            <a:tailEnd len="med" w="med" type="triangle"/>
          </a:ln>
        </p:spPr>
      </p:cxnSp>
      <p:cxnSp>
        <p:nvCxnSpPr>
          <p:cNvPr id="1123" name="Google Shape;1123;h1863e7f528e27f29_0_598"/>
          <p:cNvCxnSpPr>
            <a:stCxn id="1124" idx="6"/>
            <a:endCxn id="1121" idx="2"/>
          </p:cNvCxnSpPr>
          <p:nvPr/>
        </p:nvCxnSpPr>
        <p:spPr>
          <a:xfrm flipH="1" rot="10800000">
            <a:off x="4026026" y="2884616"/>
            <a:ext cx="2222700" cy="301800"/>
          </a:xfrm>
          <a:prstGeom prst="straightConnector1">
            <a:avLst/>
          </a:prstGeom>
          <a:noFill/>
          <a:ln cap="flat" cmpd="sng" w="20500">
            <a:solidFill>
              <a:srgbClr val="999999"/>
            </a:solidFill>
            <a:prstDash val="solid"/>
            <a:round/>
            <a:headEnd len="sm" w="sm" type="none"/>
            <a:tailEnd len="med" w="med" type="triangle"/>
          </a:ln>
        </p:spPr>
      </p:cxnSp>
      <p:cxnSp>
        <p:nvCxnSpPr>
          <p:cNvPr id="1125" name="Google Shape;1125;h1863e7f528e27f29_0_598"/>
          <p:cNvCxnSpPr>
            <a:stCxn id="1126" idx="6"/>
          </p:cNvCxnSpPr>
          <p:nvPr/>
        </p:nvCxnSpPr>
        <p:spPr>
          <a:xfrm flipH="1" rot="10800000">
            <a:off x="4025995" y="3001473"/>
            <a:ext cx="2223300" cy="1077900"/>
          </a:xfrm>
          <a:prstGeom prst="straightConnector1">
            <a:avLst/>
          </a:prstGeom>
          <a:noFill/>
          <a:ln cap="flat" cmpd="sng" w="20500">
            <a:solidFill>
              <a:srgbClr val="999999"/>
            </a:solidFill>
            <a:prstDash val="solid"/>
            <a:round/>
            <a:headEnd len="sm" w="sm" type="none"/>
            <a:tailEnd len="med" w="med" type="triangle"/>
          </a:ln>
        </p:spPr>
      </p:cxnSp>
      <p:cxnSp>
        <p:nvCxnSpPr>
          <p:cNvPr id="1127" name="Google Shape;1127;h1863e7f528e27f29_0_598"/>
          <p:cNvCxnSpPr>
            <a:stCxn id="1124" idx="6"/>
            <a:endCxn id="1120" idx="2"/>
          </p:cNvCxnSpPr>
          <p:nvPr/>
        </p:nvCxnSpPr>
        <p:spPr>
          <a:xfrm>
            <a:off x="4025876" y="3186416"/>
            <a:ext cx="2252400" cy="314700"/>
          </a:xfrm>
          <a:prstGeom prst="straightConnector1">
            <a:avLst/>
          </a:prstGeom>
          <a:noFill/>
          <a:ln cap="flat" cmpd="sng" w="20500">
            <a:solidFill>
              <a:srgbClr val="000000"/>
            </a:solidFill>
            <a:prstDash val="solid"/>
            <a:round/>
            <a:headEnd len="sm" w="sm" type="none"/>
            <a:tailEnd len="med" w="med" type="triangle"/>
          </a:ln>
        </p:spPr>
      </p:cxnSp>
      <p:cxnSp>
        <p:nvCxnSpPr>
          <p:cNvPr id="1128" name="Google Shape;1128;h1863e7f528e27f29_0_598"/>
          <p:cNvCxnSpPr>
            <a:stCxn id="1126" idx="6"/>
          </p:cNvCxnSpPr>
          <p:nvPr/>
        </p:nvCxnSpPr>
        <p:spPr>
          <a:xfrm flipH="1" rot="10800000">
            <a:off x="4025995" y="3645873"/>
            <a:ext cx="2311800" cy="433500"/>
          </a:xfrm>
          <a:prstGeom prst="straightConnector1">
            <a:avLst/>
          </a:prstGeom>
          <a:noFill/>
          <a:ln cap="flat" cmpd="sng" w="20500">
            <a:solidFill>
              <a:srgbClr val="000000"/>
            </a:solidFill>
            <a:prstDash val="solid"/>
            <a:round/>
            <a:headEnd len="sm" w="sm" type="none"/>
            <a:tailEnd len="med" w="med" type="triangle"/>
          </a:ln>
        </p:spPr>
      </p:cxnSp>
      <p:cxnSp>
        <p:nvCxnSpPr>
          <p:cNvPr id="1129" name="Google Shape;1129;h1863e7f528e27f29_0_598"/>
          <p:cNvCxnSpPr>
            <a:stCxn id="1119" idx="3"/>
          </p:cNvCxnSpPr>
          <p:nvPr/>
        </p:nvCxnSpPr>
        <p:spPr>
          <a:xfrm>
            <a:off x="4026013" y="2327088"/>
            <a:ext cx="2273700" cy="1072500"/>
          </a:xfrm>
          <a:prstGeom prst="straightConnector1">
            <a:avLst/>
          </a:prstGeom>
          <a:noFill/>
          <a:ln cap="flat" cmpd="sng" w="20500">
            <a:solidFill>
              <a:srgbClr val="000000"/>
            </a:solidFill>
            <a:prstDash val="solid"/>
            <a:round/>
            <a:headEnd len="sm" w="sm" type="none"/>
            <a:tailEnd len="med" w="med" type="triangle"/>
          </a:ln>
        </p:spPr>
      </p:cxnSp>
      <p:sp>
        <p:nvSpPr>
          <p:cNvPr id="1130" name="Google Shape;1130;h1863e7f528e27f29_0_598"/>
          <p:cNvSpPr/>
          <p:nvPr/>
        </p:nvSpPr>
        <p:spPr>
          <a:xfrm>
            <a:off x="8469776"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t/>
            </a:r>
            <a:endParaRPr b="0" sz="1241" strike="noStrike">
              <a:latin typeface="Arial"/>
              <a:ea typeface="Arial"/>
              <a:cs typeface="Arial"/>
              <a:sym typeface="Arial"/>
            </a:endParaRPr>
          </a:p>
        </p:txBody>
      </p:sp>
      <p:cxnSp>
        <p:nvCxnSpPr>
          <p:cNvPr id="1131" name="Google Shape;1131;h1863e7f528e27f29_0_598"/>
          <p:cNvCxnSpPr>
            <a:stCxn id="1121" idx="6"/>
          </p:cNvCxnSpPr>
          <p:nvPr/>
        </p:nvCxnSpPr>
        <p:spPr>
          <a:xfrm>
            <a:off x="6755126" y="2884616"/>
            <a:ext cx="1693200" cy="249600"/>
          </a:xfrm>
          <a:prstGeom prst="straightConnector1">
            <a:avLst/>
          </a:prstGeom>
          <a:noFill/>
          <a:ln cap="flat" cmpd="sng" w="20500">
            <a:solidFill>
              <a:srgbClr val="666666"/>
            </a:solidFill>
            <a:prstDash val="solid"/>
            <a:round/>
            <a:headEnd len="sm" w="sm" type="none"/>
            <a:tailEnd len="med" w="med" type="triangle"/>
          </a:ln>
        </p:spPr>
      </p:cxnSp>
      <p:cxnSp>
        <p:nvCxnSpPr>
          <p:cNvPr id="1132" name="Google Shape;1132;h1863e7f528e27f29_0_598"/>
          <p:cNvCxnSpPr>
            <a:stCxn id="1120" idx="6"/>
          </p:cNvCxnSpPr>
          <p:nvPr/>
        </p:nvCxnSpPr>
        <p:spPr>
          <a:xfrm flipH="1" rot="10800000">
            <a:off x="6784676" y="3279416"/>
            <a:ext cx="1701600" cy="221700"/>
          </a:xfrm>
          <a:prstGeom prst="straightConnector1">
            <a:avLst/>
          </a:prstGeom>
          <a:noFill/>
          <a:ln cap="flat" cmpd="sng" w="20500">
            <a:solidFill>
              <a:srgbClr val="666666"/>
            </a:solidFill>
            <a:prstDash val="solid"/>
            <a:round/>
            <a:headEnd len="sm" w="sm" type="none"/>
            <a:tailEnd len="med" w="med" type="triangle"/>
          </a:ln>
        </p:spPr>
      </p:cxnSp>
      <p:sp>
        <p:nvSpPr>
          <p:cNvPr id="1133" name="Google Shape;1133;h1863e7f528e27f29_0_598"/>
          <p:cNvSpPr txBox="1"/>
          <p:nvPr/>
        </p:nvSpPr>
        <p:spPr>
          <a:xfrm>
            <a:off x="4168575" y="2041663"/>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
        <p:nvSpPr>
          <p:cNvPr id="1134" name="Google Shape;1134;h1863e7f528e27f29_0_598"/>
          <p:cNvSpPr txBox="1"/>
          <p:nvPr/>
        </p:nvSpPr>
        <p:spPr>
          <a:xfrm>
            <a:off x="4106200" y="2487838"/>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135" name="Google Shape;1135;h1863e7f528e27f29_0_598"/>
          <p:cNvSpPr txBox="1"/>
          <p:nvPr/>
        </p:nvSpPr>
        <p:spPr>
          <a:xfrm>
            <a:off x="4492750" y="27993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136" name="Google Shape;1136;h1863e7f528e27f29_0_598"/>
          <p:cNvSpPr txBox="1"/>
          <p:nvPr/>
        </p:nvSpPr>
        <p:spPr>
          <a:xfrm>
            <a:off x="4492750" y="324905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137" name="Google Shape;1137;h1863e7f528e27f29_0_598"/>
          <p:cNvSpPr txBox="1"/>
          <p:nvPr/>
        </p:nvSpPr>
        <p:spPr>
          <a:xfrm>
            <a:off x="4274075" y="35541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138" name="Google Shape;1138;h1863e7f528e27f29_0_598"/>
          <p:cNvSpPr txBox="1"/>
          <p:nvPr/>
        </p:nvSpPr>
        <p:spPr>
          <a:xfrm>
            <a:off x="4302075" y="40428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139" name="Google Shape;1139;h1863e7f528e27f29_0_598"/>
          <p:cNvSpPr txBox="1"/>
          <p:nvPr/>
        </p:nvSpPr>
        <p:spPr>
          <a:xfrm>
            <a:off x="7385675" y="2696250"/>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140" name="Google Shape;1140;h1863e7f528e27f29_0_598"/>
          <p:cNvSpPr txBox="1"/>
          <p:nvPr/>
        </p:nvSpPr>
        <p:spPr>
          <a:xfrm>
            <a:off x="7336925" y="3439650"/>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-2</a:t>
            </a:r>
            <a:endParaRPr b="0" sz="1800" strike="noStrike">
              <a:latin typeface="Arial"/>
              <a:ea typeface="Arial"/>
              <a:cs typeface="Arial"/>
              <a:sym typeface="Arial"/>
            </a:endParaRPr>
          </a:p>
        </p:txBody>
      </p:sp>
      <p:sp>
        <p:nvSpPr>
          <p:cNvPr id="1141" name="Google Shape;1141;h1863e7f528e27f29_0_598"/>
          <p:cNvSpPr/>
          <p:nvPr/>
        </p:nvSpPr>
        <p:spPr>
          <a:xfrm>
            <a:off x="3519613"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142" name="Google Shape;1142;h1863e7f528e27f29_0_598"/>
          <p:cNvSpPr txBox="1"/>
          <p:nvPr/>
        </p:nvSpPr>
        <p:spPr>
          <a:xfrm>
            <a:off x="3519626" y="30193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1</a:t>
            </a:r>
            <a:r>
              <a:rPr lang="pt-BR" sz="1241">
                <a:solidFill>
                  <a:schemeClr val="dk1"/>
                </a:solidFill>
              </a:rPr>
              <a:t>=</a:t>
            </a:r>
            <a:r>
              <a:rPr b="1" lang="pt-BR" sz="1241">
                <a:solidFill>
                  <a:srgbClr val="0000FF"/>
                </a:solidFill>
              </a:rPr>
              <a:t>1</a:t>
            </a:r>
            <a:endParaRPr b="1" sz="1241">
              <a:solidFill>
                <a:srgbClr val="0000FF"/>
              </a:solidFill>
            </a:endParaRPr>
          </a:p>
        </p:txBody>
      </p:sp>
      <p:sp>
        <p:nvSpPr>
          <p:cNvPr id="1143" name="Google Shape;1143;h1863e7f528e27f29_0_598"/>
          <p:cNvSpPr/>
          <p:nvPr/>
        </p:nvSpPr>
        <p:spPr>
          <a:xfrm>
            <a:off x="3533588" y="379256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144" name="Google Shape;1144;h1863e7f528e27f29_0_598"/>
          <p:cNvSpPr txBox="1"/>
          <p:nvPr/>
        </p:nvSpPr>
        <p:spPr>
          <a:xfrm>
            <a:off x="3533601" y="387863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2</a:t>
            </a:r>
            <a:r>
              <a:rPr lang="pt-BR" sz="1241">
                <a:solidFill>
                  <a:schemeClr val="dk1"/>
                </a:solidFill>
              </a:rPr>
              <a:t>=</a:t>
            </a:r>
            <a:r>
              <a:rPr b="1" lang="pt-BR" sz="1241">
                <a:solidFill>
                  <a:srgbClr val="0000FF"/>
                </a:solidFill>
              </a:rPr>
              <a:t>0</a:t>
            </a:r>
            <a:endParaRPr b="1" sz="1241">
              <a:solidFill>
                <a:srgbClr val="0000FF"/>
              </a:solidFill>
            </a:endParaRPr>
          </a:p>
        </p:txBody>
      </p:sp>
      <p:sp>
        <p:nvSpPr>
          <p:cNvPr id="1145" name="Google Shape;1145;h1863e7f528e27f29_0_598"/>
          <p:cNvSpPr txBox="1"/>
          <p:nvPr/>
        </p:nvSpPr>
        <p:spPr>
          <a:xfrm>
            <a:off x="6247476" y="27075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1</a:t>
            </a:r>
            <a:r>
              <a:rPr lang="pt-BR" sz="1241">
                <a:solidFill>
                  <a:schemeClr val="dk1"/>
                </a:solidFill>
              </a:rPr>
              <a:t>=</a:t>
            </a:r>
            <a:r>
              <a:rPr lang="pt-BR" sz="1241">
                <a:solidFill>
                  <a:srgbClr val="FF0000"/>
                </a:solidFill>
              </a:rPr>
              <a:t>1</a:t>
            </a:r>
            <a:endParaRPr sz="1241">
              <a:solidFill>
                <a:srgbClr val="FF0000"/>
              </a:solidFill>
            </a:endParaRPr>
          </a:p>
        </p:txBody>
      </p:sp>
      <p:sp>
        <p:nvSpPr>
          <p:cNvPr id="1146" name="Google Shape;1146;h1863e7f528e27f29_0_598"/>
          <p:cNvSpPr txBox="1"/>
          <p:nvPr/>
        </p:nvSpPr>
        <p:spPr>
          <a:xfrm>
            <a:off x="6263788" y="33340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1</a:t>
            </a:r>
            <a:r>
              <a:rPr lang="pt-BR" sz="1241">
                <a:solidFill>
                  <a:schemeClr val="dk1"/>
                </a:solidFill>
              </a:rPr>
              <a:t>=</a:t>
            </a:r>
            <a:r>
              <a:rPr lang="pt-BR" sz="1241">
                <a:solidFill>
                  <a:srgbClr val="FF0000"/>
                </a:solidFill>
              </a:rPr>
              <a:t>0</a:t>
            </a:r>
            <a:endParaRPr sz="1241">
              <a:solidFill>
                <a:srgbClr val="FF0000"/>
              </a:solidFill>
            </a:endParaRPr>
          </a:p>
        </p:txBody>
      </p:sp>
      <p:sp>
        <p:nvSpPr>
          <p:cNvPr id="1147" name="Google Shape;1147;h1863e7f528e27f29_0_598"/>
          <p:cNvSpPr/>
          <p:nvPr/>
        </p:nvSpPr>
        <p:spPr>
          <a:xfrm>
            <a:off x="6234626" y="19661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148" name="Google Shape;1148;h1863e7f528e27f29_0_598"/>
          <p:cNvSpPr txBox="1"/>
          <p:nvPr/>
        </p:nvSpPr>
        <p:spPr>
          <a:xfrm>
            <a:off x="6234638" y="205226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1149" name="Google Shape;1149;h1863e7f528e27f29_0_598"/>
          <p:cNvCxnSpPr>
            <a:stCxn id="1148" idx="3"/>
          </p:cNvCxnSpPr>
          <p:nvPr/>
        </p:nvCxnSpPr>
        <p:spPr>
          <a:xfrm>
            <a:off x="6741038" y="2219363"/>
            <a:ext cx="1781700" cy="778800"/>
          </a:xfrm>
          <a:prstGeom prst="straightConnector1">
            <a:avLst/>
          </a:prstGeom>
          <a:noFill/>
          <a:ln cap="flat" cmpd="sng" w="20500">
            <a:solidFill>
              <a:srgbClr val="666666"/>
            </a:solidFill>
            <a:prstDash val="solid"/>
            <a:round/>
            <a:headEnd len="sm" w="sm" type="none"/>
            <a:tailEnd len="med" w="med" type="triangle"/>
          </a:ln>
        </p:spPr>
      </p:cxnSp>
      <p:sp>
        <p:nvSpPr>
          <p:cNvPr id="1150" name="Google Shape;1150;h1863e7f528e27f29_0_598"/>
          <p:cNvSpPr txBox="1"/>
          <p:nvPr/>
        </p:nvSpPr>
        <p:spPr>
          <a:xfrm>
            <a:off x="7385675" y="2219375"/>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
        <p:nvSpPr>
          <p:cNvPr id="1151" name="Google Shape;1151;h1863e7f528e27f29_0_598"/>
          <p:cNvSpPr txBox="1"/>
          <p:nvPr/>
        </p:nvSpPr>
        <p:spPr>
          <a:xfrm>
            <a:off x="8414875" y="3034775"/>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y=</a:t>
            </a:r>
            <a:r>
              <a:rPr lang="pt-BR" sz="1041">
                <a:solidFill>
                  <a:srgbClr val="FF0000"/>
                </a:solidFill>
              </a:rPr>
              <a:t>1</a:t>
            </a:r>
            <a:endParaRPr sz="1041">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h1863e7f528e27f29_0_6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XOR with ReLU</a:t>
            </a:r>
            <a:endParaRPr/>
          </a:p>
        </p:txBody>
      </p:sp>
      <p:graphicFrame>
        <p:nvGraphicFramePr>
          <p:cNvPr id="1157" name="Google Shape;1157;h1863e7f528e27f29_0_639"/>
          <p:cNvGraphicFramePr/>
          <p:nvPr/>
        </p:nvGraphicFramePr>
        <p:xfrm>
          <a:off x="182488" y="2059175"/>
          <a:ext cx="3000000" cy="3000000"/>
        </p:xfrm>
        <a:graphic>
          <a:graphicData uri="http://schemas.openxmlformats.org/drawingml/2006/table">
            <a:tbl>
              <a:tblPr>
                <a:noFill/>
                <a:tableStyleId>{8C653A15-511F-42BA-93AC-64E3973AA84D}</a:tableStyleId>
              </a:tblPr>
              <a:tblGrid>
                <a:gridCol w="1029675"/>
                <a:gridCol w="1029675"/>
                <a:gridCol w="1029675"/>
              </a:tblGrid>
              <a:tr h="381000">
                <a:tc>
                  <a:txBody>
                    <a:bodyPr/>
                    <a:lstStyle/>
                    <a:p>
                      <a:pPr indent="0" lvl="0" marL="0" rtl="0" algn="ctr">
                        <a:spcBef>
                          <a:spcPts val="0"/>
                        </a:spcBef>
                        <a:spcAft>
                          <a:spcPts val="0"/>
                        </a:spcAft>
                        <a:buNone/>
                      </a:pPr>
                      <a:r>
                        <a:rPr b="1" lang="pt-BR" sz="2400"/>
                        <a:t>x</a:t>
                      </a:r>
                      <a:r>
                        <a:rPr b="1" baseline="-25000" lang="pt-BR" sz="2400"/>
                        <a:t>1</a:t>
                      </a:r>
                      <a:endParaRPr b="1" baseline="-25000" sz="24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pt-BR" sz="2400"/>
                        <a:t>x</a:t>
                      </a:r>
                      <a:r>
                        <a:rPr b="1" baseline="-25000" lang="pt-BR" sz="2400"/>
                        <a:t>2</a:t>
                      </a:r>
                      <a:endParaRPr b="1" baseline="-25000" sz="24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pt-BR" sz="2400"/>
                        <a:t>y</a:t>
                      </a:r>
                      <a:endParaRPr b="1" sz="2400"/>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1</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1</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pt-BR" sz="2400"/>
                        <a:t>1</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0</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2400"/>
                        <a:t>1</a:t>
                      </a:r>
                      <a:endParaRPr sz="24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pt-BR" sz="2400">
                          <a:solidFill>
                            <a:srgbClr val="0000FF"/>
                          </a:solidFill>
                        </a:rPr>
                        <a:t>1</a:t>
                      </a:r>
                      <a:endParaRPr b="1" sz="2400">
                        <a:solidFill>
                          <a:srgbClr val="0000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pt-BR" sz="2400">
                          <a:solidFill>
                            <a:srgbClr val="0000FF"/>
                          </a:solidFill>
                        </a:rPr>
                        <a:t>1</a:t>
                      </a:r>
                      <a:endParaRPr b="1" sz="2400">
                        <a:solidFill>
                          <a:srgbClr val="0000FF"/>
                        </a:solidFill>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b="1" lang="pt-BR" sz="2400">
                          <a:solidFill>
                            <a:srgbClr val="FF0000"/>
                          </a:solidFill>
                        </a:rPr>
                        <a:t>0</a:t>
                      </a:r>
                      <a:endParaRPr b="1" sz="2400">
                        <a:solidFill>
                          <a:srgbClr val="FF0000"/>
                        </a:solidFill>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
        <p:nvSpPr>
          <p:cNvPr id="1158" name="Google Shape;1158;h1863e7f528e27f29_0_639"/>
          <p:cNvSpPr txBox="1"/>
          <p:nvPr/>
        </p:nvSpPr>
        <p:spPr>
          <a:xfrm>
            <a:off x="1126100" y="1532900"/>
            <a:ext cx="1201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pt-BR" sz="3000">
                <a:solidFill>
                  <a:srgbClr val="434343"/>
                </a:solidFill>
                <a:latin typeface="Comfortaa"/>
                <a:ea typeface="Comfortaa"/>
                <a:cs typeface="Comfortaa"/>
                <a:sym typeface="Comfortaa"/>
              </a:rPr>
              <a:t>XOR</a:t>
            </a:r>
            <a:endParaRPr b="1" sz="3000">
              <a:solidFill>
                <a:srgbClr val="434343"/>
              </a:solidFill>
              <a:latin typeface="Comfortaa"/>
              <a:ea typeface="Comfortaa"/>
              <a:cs typeface="Comfortaa"/>
              <a:sym typeface="Comfortaa"/>
            </a:endParaRPr>
          </a:p>
        </p:txBody>
      </p:sp>
      <p:sp>
        <p:nvSpPr>
          <p:cNvPr id="1159" name="Google Shape;1159;h1863e7f528e27f29_0_639"/>
          <p:cNvSpPr/>
          <p:nvPr/>
        </p:nvSpPr>
        <p:spPr>
          <a:xfrm>
            <a:off x="3519601" y="2073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160" name="Google Shape;1160;h1863e7f528e27f29_0_639"/>
          <p:cNvSpPr txBox="1"/>
          <p:nvPr/>
        </p:nvSpPr>
        <p:spPr>
          <a:xfrm>
            <a:off x="3519613" y="21599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sp>
        <p:nvSpPr>
          <p:cNvPr id="1161" name="Google Shape;1161;h1863e7f528e27f29_0_639"/>
          <p:cNvSpPr/>
          <p:nvPr/>
        </p:nvSpPr>
        <p:spPr>
          <a:xfrm>
            <a:off x="6278276" y="32479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sp>
        <p:nvSpPr>
          <p:cNvPr id="1162" name="Google Shape;1162;h1863e7f528e27f29_0_639"/>
          <p:cNvSpPr/>
          <p:nvPr/>
        </p:nvSpPr>
        <p:spPr>
          <a:xfrm>
            <a:off x="6248726" y="26314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t/>
            </a:r>
            <a:endParaRPr b="0" sz="1241" strike="noStrike">
              <a:latin typeface="Arial"/>
              <a:ea typeface="Arial"/>
              <a:cs typeface="Arial"/>
              <a:sym typeface="Arial"/>
            </a:endParaRPr>
          </a:p>
        </p:txBody>
      </p:sp>
      <p:cxnSp>
        <p:nvCxnSpPr>
          <p:cNvPr id="1163" name="Google Shape;1163;h1863e7f528e27f29_0_639"/>
          <p:cNvCxnSpPr>
            <a:stCxn id="1160" idx="3"/>
          </p:cNvCxnSpPr>
          <p:nvPr/>
        </p:nvCxnSpPr>
        <p:spPr>
          <a:xfrm>
            <a:off x="4026013" y="2327088"/>
            <a:ext cx="2217000" cy="472200"/>
          </a:xfrm>
          <a:prstGeom prst="straightConnector1">
            <a:avLst/>
          </a:prstGeom>
          <a:noFill/>
          <a:ln cap="flat" cmpd="sng" w="20500">
            <a:solidFill>
              <a:srgbClr val="999999"/>
            </a:solidFill>
            <a:prstDash val="solid"/>
            <a:round/>
            <a:headEnd len="sm" w="sm" type="none"/>
            <a:tailEnd len="med" w="med" type="triangle"/>
          </a:ln>
        </p:spPr>
      </p:cxnSp>
      <p:cxnSp>
        <p:nvCxnSpPr>
          <p:cNvPr id="1164" name="Google Shape;1164;h1863e7f528e27f29_0_639"/>
          <p:cNvCxnSpPr>
            <a:stCxn id="1165" idx="6"/>
            <a:endCxn id="1162" idx="2"/>
          </p:cNvCxnSpPr>
          <p:nvPr/>
        </p:nvCxnSpPr>
        <p:spPr>
          <a:xfrm flipH="1" rot="10800000">
            <a:off x="4026026" y="2884616"/>
            <a:ext cx="2222700" cy="301800"/>
          </a:xfrm>
          <a:prstGeom prst="straightConnector1">
            <a:avLst/>
          </a:prstGeom>
          <a:noFill/>
          <a:ln cap="flat" cmpd="sng" w="20500">
            <a:solidFill>
              <a:srgbClr val="999999"/>
            </a:solidFill>
            <a:prstDash val="solid"/>
            <a:round/>
            <a:headEnd len="sm" w="sm" type="none"/>
            <a:tailEnd len="med" w="med" type="triangle"/>
          </a:ln>
        </p:spPr>
      </p:cxnSp>
      <p:cxnSp>
        <p:nvCxnSpPr>
          <p:cNvPr id="1166" name="Google Shape;1166;h1863e7f528e27f29_0_639"/>
          <p:cNvCxnSpPr>
            <a:stCxn id="1167" idx="6"/>
          </p:cNvCxnSpPr>
          <p:nvPr/>
        </p:nvCxnSpPr>
        <p:spPr>
          <a:xfrm flipH="1" rot="10800000">
            <a:off x="4025995" y="3001473"/>
            <a:ext cx="2223300" cy="1077900"/>
          </a:xfrm>
          <a:prstGeom prst="straightConnector1">
            <a:avLst/>
          </a:prstGeom>
          <a:noFill/>
          <a:ln cap="flat" cmpd="sng" w="20500">
            <a:solidFill>
              <a:srgbClr val="999999"/>
            </a:solidFill>
            <a:prstDash val="solid"/>
            <a:round/>
            <a:headEnd len="sm" w="sm" type="none"/>
            <a:tailEnd len="med" w="med" type="triangle"/>
          </a:ln>
        </p:spPr>
      </p:cxnSp>
      <p:cxnSp>
        <p:nvCxnSpPr>
          <p:cNvPr id="1168" name="Google Shape;1168;h1863e7f528e27f29_0_639"/>
          <p:cNvCxnSpPr>
            <a:stCxn id="1165" idx="6"/>
            <a:endCxn id="1161" idx="2"/>
          </p:cNvCxnSpPr>
          <p:nvPr/>
        </p:nvCxnSpPr>
        <p:spPr>
          <a:xfrm>
            <a:off x="4025876" y="3186416"/>
            <a:ext cx="2252400" cy="314700"/>
          </a:xfrm>
          <a:prstGeom prst="straightConnector1">
            <a:avLst/>
          </a:prstGeom>
          <a:noFill/>
          <a:ln cap="flat" cmpd="sng" w="20500">
            <a:solidFill>
              <a:srgbClr val="000000"/>
            </a:solidFill>
            <a:prstDash val="solid"/>
            <a:round/>
            <a:headEnd len="sm" w="sm" type="none"/>
            <a:tailEnd len="med" w="med" type="triangle"/>
          </a:ln>
        </p:spPr>
      </p:cxnSp>
      <p:cxnSp>
        <p:nvCxnSpPr>
          <p:cNvPr id="1169" name="Google Shape;1169;h1863e7f528e27f29_0_639"/>
          <p:cNvCxnSpPr>
            <a:stCxn id="1167" idx="6"/>
          </p:cNvCxnSpPr>
          <p:nvPr/>
        </p:nvCxnSpPr>
        <p:spPr>
          <a:xfrm flipH="1" rot="10800000">
            <a:off x="4025995" y="3645873"/>
            <a:ext cx="2311800" cy="433500"/>
          </a:xfrm>
          <a:prstGeom prst="straightConnector1">
            <a:avLst/>
          </a:prstGeom>
          <a:noFill/>
          <a:ln cap="flat" cmpd="sng" w="20500">
            <a:solidFill>
              <a:srgbClr val="000000"/>
            </a:solidFill>
            <a:prstDash val="solid"/>
            <a:round/>
            <a:headEnd len="sm" w="sm" type="none"/>
            <a:tailEnd len="med" w="med" type="triangle"/>
          </a:ln>
        </p:spPr>
      </p:cxnSp>
      <p:cxnSp>
        <p:nvCxnSpPr>
          <p:cNvPr id="1170" name="Google Shape;1170;h1863e7f528e27f29_0_639"/>
          <p:cNvCxnSpPr>
            <a:stCxn id="1160" idx="3"/>
          </p:cNvCxnSpPr>
          <p:nvPr/>
        </p:nvCxnSpPr>
        <p:spPr>
          <a:xfrm>
            <a:off x="4026013" y="2327088"/>
            <a:ext cx="2273700" cy="1072500"/>
          </a:xfrm>
          <a:prstGeom prst="straightConnector1">
            <a:avLst/>
          </a:prstGeom>
          <a:noFill/>
          <a:ln cap="flat" cmpd="sng" w="20500">
            <a:solidFill>
              <a:srgbClr val="000000"/>
            </a:solidFill>
            <a:prstDash val="solid"/>
            <a:round/>
            <a:headEnd len="sm" w="sm" type="none"/>
            <a:tailEnd len="med" w="med" type="triangle"/>
          </a:ln>
        </p:spPr>
      </p:cxnSp>
      <p:sp>
        <p:nvSpPr>
          <p:cNvPr id="1171" name="Google Shape;1171;h1863e7f528e27f29_0_639"/>
          <p:cNvSpPr/>
          <p:nvPr/>
        </p:nvSpPr>
        <p:spPr>
          <a:xfrm>
            <a:off x="8469776"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t/>
            </a:r>
            <a:endParaRPr b="0" sz="1241" strike="noStrike">
              <a:latin typeface="Arial"/>
              <a:ea typeface="Arial"/>
              <a:cs typeface="Arial"/>
              <a:sym typeface="Arial"/>
            </a:endParaRPr>
          </a:p>
        </p:txBody>
      </p:sp>
      <p:cxnSp>
        <p:nvCxnSpPr>
          <p:cNvPr id="1172" name="Google Shape;1172;h1863e7f528e27f29_0_639"/>
          <p:cNvCxnSpPr>
            <a:stCxn id="1162" idx="6"/>
          </p:cNvCxnSpPr>
          <p:nvPr/>
        </p:nvCxnSpPr>
        <p:spPr>
          <a:xfrm>
            <a:off x="6755126" y="2884616"/>
            <a:ext cx="1693200" cy="249600"/>
          </a:xfrm>
          <a:prstGeom prst="straightConnector1">
            <a:avLst/>
          </a:prstGeom>
          <a:noFill/>
          <a:ln cap="flat" cmpd="sng" w="20500">
            <a:solidFill>
              <a:srgbClr val="666666"/>
            </a:solidFill>
            <a:prstDash val="solid"/>
            <a:round/>
            <a:headEnd len="sm" w="sm" type="none"/>
            <a:tailEnd len="med" w="med" type="triangle"/>
          </a:ln>
        </p:spPr>
      </p:cxnSp>
      <p:cxnSp>
        <p:nvCxnSpPr>
          <p:cNvPr id="1173" name="Google Shape;1173;h1863e7f528e27f29_0_639"/>
          <p:cNvCxnSpPr>
            <a:stCxn id="1161" idx="6"/>
          </p:cNvCxnSpPr>
          <p:nvPr/>
        </p:nvCxnSpPr>
        <p:spPr>
          <a:xfrm flipH="1" rot="10800000">
            <a:off x="6784676" y="3279416"/>
            <a:ext cx="1701600" cy="221700"/>
          </a:xfrm>
          <a:prstGeom prst="straightConnector1">
            <a:avLst/>
          </a:prstGeom>
          <a:noFill/>
          <a:ln cap="flat" cmpd="sng" w="20500">
            <a:solidFill>
              <a:srgbClr val="666666"/>
            </a:solidFill>
            <a:prstDash val="solid"/>
            <a:round/>
            <a:headEnd len="sm" w="sm" type="none"/>
            <a:tailEnd len="med" w="med" type="triangle"/>
          </a:ln>
        </p:spPr>
      </p:cxnSp>
      <p:sp>
        <p:nvSpPr>
          <p:cNvPr id="1174" name="Google Shape;1174;h1863e7f528e27f29_0_639"/>
          <p:cNvSpPr txBox="1"/>
          <p:nvPr/>
        </p:nvSpPr>
        <p:spPr>
          <a:xfrm>
            <a:off x="4168575" y="2041663"/>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
        <p:nvSpPr>
          <p:cNvPr id="1175" name="Google Shape;1175;h1863e7f528e27f29_0_639"/>
          <p:cNvSpPr txBox="1"/>
          <p:nvPr/>
        </p:nvSpPr>
        <p:spPr>
          <a:xfrm>
            <a:off x="4106200" y="2487838"/>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176" name="Google Shape;1176;h1863e7f528e27f29_0_639"/>
          <p:cNvSpPr txBox="1"/>
          <p:nvPr/>
        </p:nvSpPr>
        <p:spPr>
          <a:xfrm>
            <a:off x="4492750" y="27993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177" name="Google Shape;1177;h1863e7f528e27f29_0_639"/>
          <p:cNvSpPr txBox="1"/>
          <p:nvPr/>
        </p:nvSpPr>
        <p:spPr>
          <a:xfrm>
            <a:off x="4492750" y="324905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178" name="Google Shape;1178;h1863e7f528e27f29_0_639"/>
          <p:cNvSpPr txBox="1"/>
          <p:nvPr/>
        </p:nvSpPr>
        <p:spPr>
          <a:xfrm>
            <a:off x="4274075" y="35541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179" name="Google Shape;1179;h1863e7f528e27f29_0_639"/>
          <p:cNvSpPr txBox="1"/>
          <p:nvPr/>
        </p:nvSpPr>
        <p:spPr>
          <a:xfrm>
            <a:off x="4302075" y="4042800"/>
            <a:ext cx="291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180" name="Google Shape;1180;h1863e7f528e27f29_0_639"/>
          <p:cNvSpPr txBox="1"/>
          <p:nvPr/>
        </p:nvSpPr>
        <p:spPr>
          <a:xfrm>
            <a:off x="7385675" y="2696250"/>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1</a:t>
            </a:r>
            <a:endParaRPr b="0" sz="1800" strike="noStrike">
              <a:latin typeface="Arial"/>
              <a:ea typeface="Arial"/>
              <a:cs typeface="Arial"/>
              <a:sym typeface="Arial"/>
            </a:endParaRPr>
          </a:p>
        </p:txBody>
      </p:sp>
      <p:sp>
        <p:nvSpPr>
          <p:cNvPr id="1181" name="Google Shape;1181;h1863e7f528e27f29_0_639"/>
          <p:cNvSpPr txBox="1"/>
          <p:nvPr/>
        </p:nvSpPr>
        <p:spPr>
          <a:xfrm>
            <a:off x="7336925" y="3439650"/>
            <a:ext cx="4254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-2</a:t>
            </a:r>
            <a:endParaRPr b="0" sz="1800" strike="noStrike">
              <a:latin typeface="Arial"/>
              <a:ea typeface="Arial"/>
              <a:cs typeface="Arial"/>
              <a:sym typeface="Arial"/>
            </a:endParaRPr>
          </a:p>
        </p:txBody>
      </p:sp>
      <p:sp>
        <p:nvSpPr>
          <p:cNvPr id="1182" name="Google Shape;1182;h1863e7f528e27f29_0_639"/>
          <p:cNvSpPr/>
          <p:nvPr/>
        </p:nvSpPr>
        <p:spPr>
          <a:xfrm>
            <a:off x="3519613" y="2933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183" name="Google Shape;1183;h1863e7f528e27f29_0_639"/>
          <p:cNvSpPr txBox="1"/>
          <p:nvPr/>
        </p:nvSpPr>
        <p:spPr>
          <a:xfrm>
            <a:off x="3519626" y="30193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1</a:t>
            </a:r>
            <a:r>
              <a:rPr lang="pt-BR" sz="1241">
                <a:solidFill>
                  <a:schemeClr val="dk1"/>
                </a:solidFill>
              </a:rPr>
              <a:t>=</a:t>
            </a:r>
            <a:r>
              <a:rPr b="1" lang="pt-BR" sz="1241">
                <a:solidFill>
                  <a:srgbClr val="0000FF"/>
                </a:solidFill>
              </a:rPr>
              <a:t>1</a:t>
            </a:r>
            <a:endParaRPr b="1" sz="1241">
              <a:solidFill>
                <a:srgbClr val="0000FF"/>
              </a:solidFill>
            </a:endParaRPr>
          </a:p>
        </p:txBody>
      </p:sp>
      <p:sp>
        <p:nvSpPr>
          <p:cNvPr id="1184" name="Google Shape;1184;h1863e7f528e27f29_0_639"/>
          <p:cNvSpPr/>
          <p:nvPr/>
        </p:nvSpPr>
        <p:spPr>
          <a:xfrm>
            <a:off x="3533588" y="379256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185" name="Google Shape;1185;h1863e7f528e27f29_0_639"/>
          <p:cNvSpPr txBox="1"/>
          <p:nvPr/>
        </p:nvSpPr>
        <p:spPr>
          <a:xfrm>
            <a:off x="3533601" y="387863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2</a:t>
            </a:r>
            <a:r>
              <a:rPr lang="pt-BR" sz="1241">
                <a:solidFill>
                  <a:schemeClr val="dk1"/>
                </a:solidFill>
              </a:rPr>
              <a:t>=</a:t>
            </a:r>
            <a:r>
              <a:rPr b="1" lang="pt-BR" sz="1241">
                <a:solidFill>
                  <a:srgbClr val="0000FF"/>
                </a:solidFill>
              </a:rPr>
              <a:t>1</a:t>
            </a:r>
            <a:endParaRPr b="1" sz="1241">
              <a:solidFill>
                <a:srgbClr val="0000FF"/>
              </a:solidFill>
            </a:endParaRPr>
          </a:p>
        </p:txBody>
      </p:sp>
      <p:sp>
        <p:nvSpPr>
          <p:cNvPr id="1186" name="Google Shape;1186;h1863e7f528e27f29_0_639"/>
          <p:cNvSpPr txBox="1"/>
          <p:nvPr/>
        </p:nvSpPr>
        <p:spPr>
          <a:xfrm>
            <a:off x="6247476" y="27075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1</a:t>
            </a:r>
            <a:r>
              <a:rPr lang="pt-BR" sz="1241">
                <a:solidFill>
                  <a:schemeClr val="dk1"/>
                </a:solidFill>
              </a:rPr>
              <a:t>=</a:t>
            </a:r>
            <a:r>
              <a:rPr lang="pt-BR" sz="1241">
                <a:solidFill>
                  <a:srgbClr val="FF0000"/>
                </a:solidFill>
              </a:rPr>
              <a:t>2</a:t>
            </a:r>
            <a:endParaRPr sz="1241">
              <a:solidFill>
                <a:srgbClr val="FF0000"/>
              </a:solidFill>
            </a:endParaRPr>
          </a:p>
        </p:txBody>
      </p:sp>
      <p:sp>
        <p:nvSpPr>
          <p:cNvPr id="1187" name="Google Shape;1187;h1863e7f528e27f29_0_639"/>
          <p:cNvSpPr txBox="1"/>
          <p:nvPr/>
        </p:nvSpPr>
        <p:spPr>
          <a:xfrm>
            <a:off x="6263788" y="33340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1</a:t>
            </a:r>
            <a:r>
              <a:rPr lang="pt-BR" sz="1241">
                <a:solidFill>
                  <a:schemeClr val="dk1"/>
                </a:solidFill>
              </a:rPr>
              <a:t>=</a:t>
            </a:r>
            <a:r>
              <a:rPr lang="pt-BR" sz="1241">
                <a:solidFill>
                  <a:srgbClr val="FF0000"/>
                </a:solidFill>
              </a:rPr>
              <a:t>1</a:t>
            </a:r>
            <a:endParaRPr sz="1241">
              <a:solidFill>
                <a:srgbClr val="FF0000"/>
              </a:solidFill>
            </a:endParaRPr>
          </a:p>
        </p:txBody>
      </p:sp>
      <p:sp>
        <p:nvSpPr>
          <p:cNvPr id="1188" name="Google Shape;1188;h1863e7f528e27f29_0_639"/>
          <p:cNvSpPr/>
          <p:nvPr/>
        </p:nvSpPr>
        <p:spPr>
          <a:xfrm>
            <a:off x="6234626" y="19661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189" name="Google Shape;1189;h1863e7f528e27f29_0_639"/>
          <p:cNvSpPr txBox="1"/>
          <p:nvPr/>
        </p:nvSpPr>
        <p:spPr>
          <a:xfrm>
            <a:off x="6234638" y="205226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h</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1190" name="Google Shape;1190;h1863e7f528e27f29_0_639"/>
          <p:cNvCxnSpPr>
            <a:stCxn id="1189" idx="3"/>
          </p:cNvCxnSpPr>
          <p:nvPr/>
        </p:nvCxnSpPr>
        <p:spPr>
          <a:xfrm>
            <a:off x="6741038" y="2219363"/>
            <a:ext cx="1781700" cy="778800"/>
          </a:xfrm>
          <a:prstGeom prst="straightConnector1">
            <a:avLst/>
          </a:prstGeom>
          <a:noFill/>
          <a:ln cap="flat" cmpd="sng" w="20500">
            <a:solidFill>
              <a:srgbClr val="666666"/>
            </a:solidFill>
            <a:prstDash val="solid"/>
            <a:round/>
            <a:headEnd len="sm" w="sm" type="none"/>
            <a:tailEnd len="med" w="med" type="triangle"/>
          </a:ln>
        </p:spPr>
      </p:cxnSp>
      <p:sp>
        <p:nvSpPr>
          <p:cNvPr id="1191" name="Google Shape;1191;h1863e7f528e27f29_0_639"/>
          <p:cNvSpPr txBox="1"/>
          <p:nvPr/>
        </p:nvSpPr>
        <p:spPr>
          <a:xfrm>
            <a:off x="7385675" y="2219375"/>
            <a:ext cx="327900" cy="334200"/>
          </a:xfrm>
          <a:prstGeom prst="rect">
            <a:avLst/>
          </a:prstGeom>
          <a:noFill/>
          <a:ln>
            <a:noFill/>
          </a:ln>
        </p:spPr>
        <p:txBody>
          <a:bodyPr anchorCtr="0" anchor="t" bIns="40825" lIns="81625" spcFirstLastPara="1" rIns="81625" wrap="square" tIns="40825">
            <a:noAutofit/>
          </a:bodyPr>
          <a:lstStyle/>
          <a:p>
            <a:pPr indent="0" lvl="0" marL="0" marR="0" rtl="0" algn="l">
              <a:spcBef>
                <a:spcPts val="0"/>
              </a:spcBef>
              <a:spcAft>
                <a:spcPts val="0"/>
              </a:spcAft>
              <a:buNone/>
            </a:pPr>
            <a:r>
              <a:rPr lang="pt-BR" sz="1800"/>
              <a:t>0</a:t>
            </a:r>
            <a:endParaRPr b="0" sz="1800" strike="noStrike">
              <a:latin typeface="Arial"/>
              <a:ea typeface="Arial"/>
              <a:cs typeface="Arial"/>
              <a:sym typeface="Arial"/>
            </a:endParaRPr>
          </a:p>
        </p:txBody>
      </p:sp>
      <p:sp>
        <p:nvSpPr>
          <p:cNvPr id="1192" name="Google Shape;1192;h1863e7f528e27f29_0_639"/>
          <p:cNvSpPr txBox="1"/>
          <p:nvPr/>
        </p:nvSpPr>
        <p:spPr>
          <a:xfrm>
            <a:off x="8414875" y="3034775"/>
            <a:ext cx="616200" cy="3033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041">
                <a:solidFill>
                  <a:schemeClr val="dk1"/>
                </a:solidFill>
              </a:rPr>
              <a:t>y=</a:t>
            </a:r>
            <a:r>
              <a:rPr lang="pt-BR" sz="1041">
                <a:solidFill>
                  <a:srgbClr val="FF0000"/>
                </a:solidFill>
              </a:rPr>
              <a:t>0</a:t>
            </a:r>
            <a:endParaRPr sz="1041">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h4f8be8f1b2c30ea5_0_14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Neural Network</a:t>
            </a:r>
            <a:endParaRPr/>
          </a:p>
        </p:txBody>
      </p:sp>
      <p:pic>
        <p:nvPicPr>
          <p:cNvPr id="1198" name="Google Shape;1198;h4f8be8f1b2c30ea5_0_149"/>
          <p:cNvPicPr preferRelativeResize="0"/>
          <p:nvPr/>
        </p:nvPicPr>
        <p:blipFill>
          <a:blip r:embed="rId3">
            <a:alphaModFix/>
          </a:blip>
          <a:stretch>
            <a:fillRect/>
          </a:stretch>
        </p:blipFill>
        <p:spPr>
          <a:xfrm>
            <a:off x="5435825" y="748775"/>
            <a:ext cx="2656901" cy="35425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h3b987c62679a4f5d_0_495"/>
          <p:cNvSpPr txBox="1"/>
          <p:nvPr>
            <p:ph type="title"/>
          </p:nvPr>
        </p:nvSpPr>
        <p:spPr>
          <a:xfrm>
            <a:off x="311700" y="445025"/>
            <a:ext cx="8520600" cy="10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Complexity Problem</a:t>
            </a:r>
            <a:endParaRPr/>
          </a:p>
          <a:p>
            <a:pPr indent="0" lvl="0" marL="0" rtl="0" algn="l">
              <a:spcBef>
                <a:spcPts val="0"/>
              </a:spcBef>
              <a:spcAft>
                <a:spcPts val="0"/>
              </a:spcAft>
              <a:buNone/>
            </a:pPr>
            <a:r>
              <a:rPr lang="pt-BR" sz="2400"/>
              <a:t>Linearly Separable</a:t>
            </a:r>
            <a:endParaRPr sz="2400"/>
          </a:p>
        </p:txBody>
      </p:sp>
      <p:pic>
        <p:nvPicPr>
          <p:cNvPr id="1204" name="Google Shape;1204;h3b987c62679a4f5d_0_495"/>
          <p:cNvPicPr preferRelativeResize="0"/>
          <p:nvPr/>
        </p:nvPicPr>
        <p:blipFill>
          <a:blip r:embed="rId3">
            <a:alphaModFix/>
          </a:blip>
          <a:stretch>
            <a:fillRect/>
          </a:stretch>
        </p:blipFill>
        <p:spPr>
          <a:xfrm>
            <a:off x="2318087" y="2176950"/>
            <a:ext cx="4507826" cy="18870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h3b987c62679a4f5d_0_500"/>
          <p:cNvSpPr txBox="1"/>
          <p:nvPr>
            <p:ph type="title"/>
          </p:nvPr>
        </p:nvSpPr>
        <p:spPr>
          <a:xfrm>
            <a:off x="311700" y="445025"/>
            <a:ext cx="8520600" cy="10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Complexity Problem</a:t>
            </a:r>
            <a:endParaRPr/>
          </a:p>
          <a:p>
            <a:pPr indent="0" lvl="0" marL="0" rtl="0" algn="l">
              <a:spcBef>
                <a:spcPts val="0"/>
              </a:spcBef>
              <a:spcAft>
                <a:spcPts val="0"/>
              </a:spcAft>
              <a:buNone/>
            </a:pPr>
            <a:r>
              <a:rPr lang="pt-BR" sz="2400"/>
              <a:t>Linearly Separable</a:t>
            </a:r>
            <a:endParaRPr sz="2400"/>
          </a:p>
        </p:txBody>
      </p:sp>
      <p:pic>
        <p:nvPicPr>
          <p:cNvPr id="1210" name="Google Shape;1210;h3b987c62679a4f5d_0_500"/>
          <p:cNvPicPr preferRelativeResize="0"/>
          <p:nvPr/>
        </p:nvPicPr>
        <p:blipFill>
          <a:blip r:embed="rId3">
            <a:alphaModFix/>
          </a:blip>
          <a:stretch>
            <a:fillRect/>
          </a:stretch>
        </p:blipFill>
        <p:spPr>
          <a:xfrm>
            <a:off x="152400" y="1609925"/>
            <a:ext cx="8839204" cy="294784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h3b987c62679a4f5d_0_187"/>
          <p:cNvSpPr txBox="1"/>
          <p:nvPr>
            <p:ph type="title"/>
          </p:nvPr>
        </p:nvSpPr>
        <p:spPr>
          <a:xfrm>
            <a:off x="311700" y="445025"/>
            <a:ext cx="271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4</a:t>
            </a:r>
            <a:endParaRPr/>
          </a:p>
        </p:txBody>
      </p:sp>
      <p:pic>
        <p:nvPicPr>
          <p:cNvPr id="1216" name="Google Shape;1216;h3b987c62679a4f5d_0_187"/>
          <p:cNvPicPr preferRelativeResize="0"/>
          <p:nvPr/>
        </p:nvPicPr>
        <p:blipFill>
          <a:blip r:embed="rId3">
            <a:alphaModFix/>
          </a:blip>
          <a:stretch>
            <a:fillRect/>
          </a:stretch>
        </p:blipFill>
        <p:spPr>
          <a:xfrm>
            <a:off x="3102000" y="726750"/>
            <a:ext cx="5912227" cy="3689999"/>
          </a:xfrm>
          <a:prstGeom prst="rect">
            <a:avLst/>
          </a:prstGeom>
          <a:noFill/>
          <a:ln>
            <a:noFill/>
          </a:ln>
        </p:spPr>
      </p:pic>
      <p:sp>
        <p:nvSpPr>
          <p:cNvPr id="1217" name="Google Shape;1217;h3b987c62679a4f5d_0_187"/>
          <p:cNvSpPr txBox="1"/>
          <p:nvPr>
            <p:ph idx="1" type="body"/>
          </p:nvPr>
        </p:nvSpPr>
        <p:spPr>
          <a:xfrm>
            <a:off x="311700" y="1152475"/>
            <a:ext cx="2790300" cy="369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Given the following sample distribution comparing the temperature and germination rate of a seed type, propose a </a:t>
            </a:r>
            <a:r>
              <a:rPr b="1" lang="pt-BR">
                <a:solidFill>
                  <a:schemeClr val="dk1"/>
                </a:solidFill>
              </a:rPr>
              <a:t>function</a:t>
            </a:r>
            <a:r>
              <a:rPr lang="pt-BR"/>
              <a:t> capable of </a:t>
            </a:r>
            <a:r>
              <a:rPr b="1" lang="pt-BR">
                <a:solidFill>
                  <a:schemeClr val="dk1"/>
                </a:solidFill>
              </a:rPr>
              <a:t>predicting the germination rate based on the temperature</a:t>
            </a:r>
            <a:r>
              <a:rPr lang="pt-BR"/>
              <a:t>.</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_________</a:t>
            </a:r>
            <a:endParaRPr/>
          </a:p>
          <a:p>
            <a:pPr indent="0" lvl="0" marL="0" rtl="0" algn="l">
              <a:spcBef>
                <a:spcPts val="0"/>
              </a:spcBef>
              <a:spcAft>
                <a:spcPts val="0"/>
              </a:spcAft>
              <a:buNone/>
            </a:pPr>
            <a:r>
              <a:rPr lang="pt-BR" sz="1000"/>
              <a:t>Dada a seguinte distribuição de amostras, que confronta a temperatura e taxa de germinação de um tipo de semente. Proponha uma função capaz de predizer a taxa de germinação a partir da temperatura.</a:t>
            </a:r>
            <a:endParaRPr sz="10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g3f6939d4d94_0_1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pt-BR"/>
              <a:t>Composing Functions</a:t>
            </a:r>
            <a:endParaRPr/>
          </a:p>
        </p:txBody>
      </p:sp>
      <p:sp>
        <p:nvSpPr>
          <p:cNvPr id="1223" name="Google Shape;1223;g3f6939d4d94_0_1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pt-BR" sz="1200" u="sng">
                <a:solidFill>
                  <a:schemeClr val="lt2"/>
                </a:solidFill>
                <a:hlinkClick r:id="rId3">
                  <a:extLst>
                    <a:ext uri="{A12FA001-AC4F-418D-AE19-62706E023703}">
                      <ahyp:hlinkClr val="tx"/>
                    </a:ext>
                  </a:extLst>
                </a:hlinkClick>
              </a:rPr>
              <a:t>https://santanche.github.io/nlp2learn/machine-learning/neural-network/essential/simulation/index.html</a:t>
            </a:r>
            <a:endParaRPr sz="1200">
              <a:solidFill>
                <a:schemeClr val="lt2"/>
              </a:solidFill>
            </a:endParaRPr>
          </a:p>
        </p:txBody>
      </p:sp>
      <p:pic>
        <p:nvPicPr>
          <p:cNvPr id="1224" name="Google Shape;1224;g3f6939d4d94_0_17"/>
          <p:cNvPicPr preferRelativeResize="0"/>
          <p:nvPr/>
        </p:nvPicPr>
        <p:blipFill>
          <a:blip r:embed="rId4">
            <a:alphaModFix/>
          </a:blip>
          <a:stretch>
            <a:fillRect/>
          </a:stretch>
        </p:blipFill>
        <p:spPr>
          <a:xfrm>
            <a:off x="4456100" y="1372600"/>
            <a:ext cx="4627174" cy="23983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h3b987c62679a4f5d_0_230"/>
          <p:cNvSpPr txBox="1"/>
          <p:nvPr>
            <p:ph type="title"/>
          </p:nvPr>
        </p:nvSpPr>
        <p:spPr>
          <a:xfrm>
            <a:off x="311700" y="1156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Selecting a Sample</a:t>
            </a:r>
            <a:endParaRPr/>
          </a:p>
        </p:txBody>
      </p:sp>
      <p:pic>
        <p:nvPicPr>
          <p:cNvPr id="1230" name="Google Shape;1230;h3b987c62679a4f5d_0_230"/>
          <p:cNvPicPr preferRelativeResize="0"/>
          <p:nvPr/>
        </p:nvPicPr>
        <p:blipFill>
          <a:blip r:embed="rId3">
            <a:alphaModFix/>
          </a:blip>
          <a:stretch>
            <a:fillRect/>
          </a:stretch>
        </p:blipFill>
        <p:spPr>
          <a:xfrm>
            <a:off x="311700" y="784700"/>
            <a:ext cx="3297149" cy="4188549"/>
          </a:xfrm>
          <a:prstGeom prst="rect">
            <a:avLst/>
          </a:prstGeom>
          <a:noFill/>
          <a:ln>
            <a:noFill/>
          </a:ln>
        </p:spPr>
      </p:pic>
      <p:pic>
        <p:nvPicPr>
          <p:cNvPr id="1231" name="Google Shape;1231;h3b987c62679a4f5d_0_230"/>
          <p:cNvPicPr preferRelativeResize="0"/>
          <p:nvPr/>
        </p:nvPicPr>
        <p:blipFill>
          <a:blip r:embed="rId4">
            <a:alphaModFix/>
          </a:blip>
          <a:stretch>
            <a:fillRect/>
          </a:stretch>
        </p:blipFill>
        <p:spPr>
          <a:xfrm>
            <a:off x="3775274" y="1243450"/>
            <a:ext cx="5230350" cy="327106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h3b987c62679a4f5d_0_223"/>
          <p:cNvSpPr txBox="1"/>
          <p:nvPr>
            <p:ph type="title"/>
          </p:nvPr>
        </p:nvSpPr>
        <p:spPr>
          <a:xfrm>
            <a:off x="311700" y="1226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Functions connected as “neurons”</a:t>
            </a:r>
            <a:endParaRPr/>
          </a:p>
        </p:txBody>
      </p:sp>
      <p:pic>
        <p:nvPicPr>
          <p:cNvPr id="1237" name="Google Shape;1237;h3b987c62679a4f5d_0_223"/>
          <p:cNvPicPr preferRelativeResize="0"/>
          <p:nvPr/>
        </p:nvPicPr>
        <p:blipFill>
          <a:blip r:embed="rId3">
            <a:alphaModFix/>
          </a:blip>
          <a:stretch>
            <a:fillRect/>
          </a:stretch>
        </p:blipFill>
        <p:spPr>
          <a:xfrm>
            <a:off x="668513" y="812750"/>
            <a:ext cx="7806976" cy="42186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h3b987c62679a4f5d_0_187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Softplus Activation Function</a:t>
            </a:r>
            <a:endParaRPr/>
          </a:p>
        </p:txBody>
      </p:sp>
      <p:pic>
        <p:nvPicPr>
          <p:cNvPr id="1243" name="Google Shape;1243;h3b987c62679a4f5d_0_1874"/>
          <p:cNvPicPr preferRelativeResize="0"/>
          <p:nvPr/>
        </p:nvPicPr>
        <p:blipFill>
          <a:blip r:embed="rId3">
            <a:alphaModFix/>
          </a:blip>
          <a:stretch>
            <a:fillRect/>
          </a:stretch>
        </p:blipFill>
        <p:spPr>
          <a:xfrm>
            <a:off x="360750" y="1367175"/>
            <a:ext cx="5974027" cy="3232825"/>
          </a:xfrm>
          <a:prstGeom prst="rect">
            <a:avLst/>
          </a:prstGeom>
          <a:noFill/>
          <a:ln>
            <a:noFill/>
          </a:ln>
        </p:spPr>
      </p:pic>
      <p:pic>
        <p:nvPicPr>
          <p:cNvPr id="1244" name="Google Shape;1244;h3b987c62679a4f5d_0_1874"/>
          <p:cNvPicPr preferRelativeResize="0"/>
          <p:nvPr/>
        </p:nvPicPr>
        <p:blipFill>
          <a:blip r:embed="rId4">
            <a:alphaModFix/>
          </a:blip>
          <a:stretch>
            <a:fillRect/>
          </a:stretch>
        </p:blipFill>
        <p:spPr>
          <a:xfrm>
            <a:off x="6457875" y="2612550"/>
            <a:ext cx="2548525" cy="3446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pic>
        <p:nvPicPr>
          <p:cNvPr id="1249" name="Google Shape;1249;h3b987c62679a4f5d_0_238"/>
          <p:cNvPicPr preferRelativeResize="0"/>
          <p:nvPr/>
        </p:nvPicPr>
        <p:blipFill>
          <a:blip r:embed="rId3">
            <a:alphaModFix/>
          </a:blip>
          <a:stretch>
            <a:fillRect/>
          </a:stretch>
        </p:blipFill>
        <p:spPr>
          <a:xfrm>
            <a:off x="668525" y="812750"/>
            <a:ext cx="7806952" cy="4218650"/>
          </a:xfrm>
          <a:prstGeom prst="rect">
            <a:avLst/>
          </a:prstGeom>
          <a:noFill/>
          <a:ln>
            <a:noFill/>
          </a:ln>
        </p:spPr>
      </p:pic>
      <p:sp>
        <p:nvSpPr>
          <p:cNvPr id="1250" name="Google Shape;1250;h3b987c62679a4f5d_0_238"/>
          <p:cNvSpPr txBox="1"/>
          <p:nvPr>
            <p:ph type="title"/>
          </p:nvPr>
        </p:nvSpPr>
        <p:spPr>
          <a:xfrm>
            <a:off x="311700" y="1226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Entering a sample value</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pic>
        <p:nvPicPr>
          <p:cNvPr id="1255" name="Google Shape;1255;h3b987c62679a4f5d_0_244"/>
          <p:cNvPicPr preferRelativeResize="0"/>
          <p:nvPr/>
        </p:nvPicPr>
        <p:blipFill>
          <a:blip r:embed="rId3">
            <a:alphaModFix/>
          </a:blip>
          <a:stretch>
            <a:fillRect/>
          </a:stretch>
        </p:blipFill>
        <p:spPr>
          <a:xfrm>
            <a:off x="668525" y="812750"/>
            <a:ext cx="7806948" cy="4218639"/>
          </a:xfrm>
          <a:prstGeom prst="rect">
            <a:avLst/>
          </a:prstGeom>
          <a:noFill/>
          <a:ln>
            <a:noFill/>
          </a:ln>
        </p:spPr>
      </p:pic>
      <p:sp>
        <p:nvSpPr>
          <p:cNvPr id="1256" name="Google Shape;1256;h3b987c62679a4f5d_0_244"/>
          <p:cNvSpPr txBox="1"/>
          <p:nvPr>
            <p:ph type="title"/>
          </p:nvPr>
        </p:nvSpPr>
        <p:spPr>
          <a:xfrm>
            <a:off x="311700" y="1226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Computing Weight and Bias (path a)</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pic>
        <p:nvPicPr>
          <p:cNvPr id="1261" name="Google Shape;1261;h3b987c62679a4f5d_0_250"/>
          <p:cNvPicPr preferRelativeResize="0"/>
          <p:nvPr/>
        </p:nvPicPr>
        <p:blipFill>
          <a:blip r:embed="rId3">
            <a:alphaModFix/>
          </a:blip>
          <a:stretch>
            <a:fillRect/>
          </a:stretch>
        </p:blipFill>
        <p:spPr>
          <a:xfrm>
            <a:off x="668525" y="812750"/>
            <a:ext cx="7806972" cy="4218650"/>
          </a:xfrm>
          <a:prstGeom prst="rect">
            <a:avLst/>
          </a:prstGeom>
          <a:noFill/>
          <a:ln>
            <a:noFill/>
          </a:ln>
        </p:spPr>
      </p:pic>
      <p:sp>
        <p:nvSpPr>
          <p:cNvPr id="1262" name="Google Shape;1262;h3b987c62679a4f5d_0_250"/>
          <p:cNvSpPr txBox="1"/>
          <p:nvPr>
            <p:ph type="title"/>
          </p:nvPr>
        </p:nvSpPr>
        <p:spPr>
          <a:xfrm>
            <a:off x="311700" y="1226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Computing the Softplus</a:t>
            </a:r>
            <a:r>
              <a:rPr lang="pt-BR"/>
              <a:t> (path a)</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pic>
        <p:nvPicPr>
          <p:cNvPr id="1267" name="Google Shape;1267;h3b987c62679a4f5d_0_256"/>
          <p:cNvPicPr preferRelativeResize="0"/>
          <p:nvPr/>
        </p:nvPicPr>
        <p:blipFill>
          <a:blip r:embed="rId3">
            <a:alphaModFix/>
          </a:blip>
          <a:stretch>
            <a:fillRect/>
          </a:stretch>
        </p:blipFill>
        <p:spPr>
          <a:xfrm>
            <a:off x="668525" y="812751"/>
            <a:ext cx="7806976" cy="4218656"/>
          </a:xfrm>
          <a:prstGeom prst="rect">
            <a:avLst/>
          </a:prstGeom>
          <a:noFill/>
          <a:ln>
            <a:noFill/>
          </a:ln>
        </p:spPr>
      </p:pic>
      <p:sp>
        <p:nvSpPr>
          <p:cNvPr id="1268" name="Google Shape;1268;h3b987c62679a4f5d_0_256"/>
          <p:cNvSpPr txBox="1"/>
          <p:nvPr>
            <p:ph type="title"/>
          </p:nvPr>
        </p:nvSpPr>
        <p:spPr>
          <a:xfrm>
            <a:off x="311700" y="1226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Computing Weight and Bias (path b)</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pic>
        <p:nvPicPr>
          <p:cNvPr id="1273" name="Google Shape;1273;h3b987c62679a4f5d_0_262"/>
          <p:cNvPicPr preferRelativeResize="0"/>
          <p:nvPr/>
        </p:nvPicPr>
        <p:blipFill>
          <a:blip r:embed="rId3">
            <a:alphaModFix/>
          </a:blip>
          <a:stretch>
            <a:fillRect/>
          </a:stretch>
        </p:blipFill>
        <p:spPr>
          <a:xfrm>
            <a:off x="668525" y="812751"/>
            <a:ext cx="7806976" cy="4218658"/>
          </a:xfrm>
          <a:prstGeom prst="rect">
            <a:avLst/>
          </a:prstGeom>
          <a:noFill/>
          <a:ln>
            <a:noFill/>
          </a:ln>
        </p:spPr>
      </p:pic>
      <p:sp>
        <p:nvSpPr>
          <p:cNvPr id="1274" name="Google Shape;1274;h3b987c62679a4f5d_0_262"/>
          <p:cNvSpPr txBox="1"/>
          <p:nvPr>
            <p:ph type="title"/>
          </p:nvPr>
        </p:nvSpPr>
        <p:spPr>
          <a:xfrm>
            <a:off x="311700" y="1226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Computing the Softplus (path b)</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pic>
        <p:nvPicPr>
          <p:cNvPr id="1279" name="Google Shape;1279;h3b987c62679a4f5d_0_268"/>
          <p:cNvPicPr preferRelativeResize="0"/>
          <p:nvPr/>
        </p:nvPicPr>
        <p:blipFill>
          <a:blip r:embed="rId3">
            <a:alphaModFix/>
          </a:blip>
          <a:stretch>
            <a:fillRect/>
          </a:stretch>
        </p:blipFill>
        <p:spPr>
          <a:xfrm>
            <a:off x="668525" y="812751"/>
            <a:ext cx="7806984" cy="4218650"/>
          </a:xfrm>
          <a:prstGeom prst="rect">
            <a:avLst/>
          </a:prstGeom>
          <a:noFill/>
          <a:ln>
            <a:noFill/>
          </a:ln>
        </p:spPr>
      </p:pic>
      <p:sp>
        <p:nvSpPr>
          <p:cNvPr id="1280" name="Google Shape;1280;h3b987c62679a4f5d_0_268"/>
          <p:cNvSpPr txBox="1"/>
          <p:nvPr>
            <p:ph type="title"/>
          </p:nvPr>
        </p:nvSpPr>
        <p:spPr>
          <a:xfrm>
            <a:off x="311700" y="1226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Adding both with their weights</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h3b987c62679a4f5d_0_27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Side by Side</a:t>
            </a:r>
            <a:endParaRPr/>
          </a:p>
        </p:txBody>
      </p:sp>
      <p:pic>
        <p:nvPicPr>
          <p:cNvPr id="1286" name="Google Shape;1286;h3b987c62679a4f5d_0_274"/>
          <p:cNvPicPr preferRelativeResize="0"/>
          <p:nvPr/>
        </p:nvPicPr>
        <p:blipFill>
          <a:blip r:embed="rId3">
            <a:alphaModFix/>
          </a:blip>
          <a:stretch>
            <a:fillRect/>
          </a:stretch>
        </p:blipFill>
        <p:spPr>
          <a:xfrm>
            <a:off x="152400" y="1170125"/>
            <a:ext cx="8839196" cy="3316058"/>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h3b987c62679a4f5d_0_27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Curves Contribution</a:t>
            </a:r>
            <a:endParaRPr/>
          </a:p>
        </p:txBody>
      </p:sp>
      <p:pic>
        <p:nvPicPr>
          <p:cNvPr id="1292" name="Google Shape;1292;h3b987c62679a4f5d_0_279"/>
          <p:cNvPicPr preferRelativeResize="0"/>
          <p:nvPr/>
        </p:nvPicPr>
        <p:blipFill>
          <a:blip r:embed="rId3">
            <a:alphaModFix/>
          </a:blip>
          <a:stretch>
            <a:fillRect/>
          </a:stretch>
        </p:blipFill>
        <p:spPr>
          <a:xfrm>
            <a:off x="152400" y="1219175"/>
            <a:ext cx="8839200" cy="335466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pic>
        <p:nvPicPr>
          <p:cNvPr id="1297" name="Google Shape;1297;h3b987c62679a4f5d_0_293"/>
          <p:cNvPicPr preferRelativeResize="0"/>
          <p:nvPr/>
        </p:nvPicPr>
        <p:blipFill>
          <a:blip r:embed="rId3">
            <a:alphaModFix/>
          </a:blip>
          <a:stretch>
            <a:fillRect/>
          </a:stretch>
        </p:blipFill>
        <p:spPr>
          <a:xfrm>
            <a:off x="3775273" y="1243450"/>
            <a:ext cx="5230350" cy="3271055"/>
          </a:xfrm>
          <a:prstGeom prst="rect">
            <a:avLst/>
          </a:prstGeom>
          <a:noFill/>
          <a:ln>
            <a:noFill/>
          </a:ln>
        </p:spPr>
      </p:pic>
      <p:pic>
        <p:nvPicPr>
          <p:cNvPr id="1298" name="Google Shape;1298;h3b987c62679a4f5d_0_293"/>
          <p:cNvPicPr preferRelativeResize="0"/>
          <p:nvPr/>
        </p:nvPicPr>
        <p:blipFill>
          <a:blip r:embed="rId4">
            <a:alphaModFix/>
          </a:blip>
          <a:stretch>
            <a:fillRect/>
          </a:stretch>
        </p:blipFill>
        <p:spPr>
          <a:xfrm>
            <a:off x="311700" y="784700"/>
            <a:ext cx="3297149" cy="4188567"/>
          </a:xfrm>
          <a:prstGeom prst="rect">
            <a:avLst/>
          </a:prstGeom>
          <a:noFill/>
          <a:ln>
            <a:noFill/>
          </a:ln>
        </p:spPr>
      </p:pic>
      <p:sp>
        <p:nvSpPr>
          <p:cNvPr id="1299" name="Google Shape;1299;h3b987c62679a4f5d_0_293"/>
          <p:cNvSpPr txBox="1"/>
          <p:nvPr>
            <p:ph type="title"/>
          </p:nvPr>
        </p:nvSpPr>
        <p:spPr>
          <a:xfrm>
            <a:off x="311700" y="1156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Selecting a Sample</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h3b987c62679a4f5d_0_29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Network Perspective</a:t>
            </a:r>
            <a:endParaRPr/>
          </a:p>
        </p:txBody>
      </p:sp>
      <p:pic>
        <p:nvPicPr>
          <p:cNvPr id="1305" name="Google Shape;1305;h3b987c62679a4f5d_0_299"/>
          <p:cNvPicPr preferRelativeResize="0"/>
          <p:nvPr/>
        </p:nvPicPr>
        <p:blipFill>
          <a:blip r:embed="rId3">
            <a:alphaModFix/>
          </a:blip>
          <a:stretch>
            <a:fillRect/>
          </a:stretch>
        </p:blipFill>
        <p:spPr>
          <a:xfrm>
            <a:off x="152400" y="1170125"/>
            <a:ext cx="8839202" cy="3282822"/>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h3b987c62679a4f5d_0_213"/>
          <p:cNvSpPr txBox="1"/>
          <p:nvPr>
            <p:ph type="title"/>
          </p:nvPr>
        </p:nvSpPr>
        <p:spPr>
          <a:xfrm>
            <a:off x="311700" y="1297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Activation Functions</a:t>
            </a:r>
            <a:endParaRPr/>
          </a:p>
        </p:txBody>
      </p:sp>
      <p:pic>
        <p:nvPicPr>
          <p:cNvPr id="1311" name="Google Shape;1311;h3b987c62679a4f5d_0_213"/>
          <p:cNvPicPr preferRelativeResize="0"/>
          <p:nvPr/>
        </p:nvPicPr>
        <p:blipFill>
          <a:blip r:embed="rId3">
            <a:alphaModFix/>
          </a:blip>
          <a:stretch>
            <a:fillRect/>
          </a:stretch>
        </p:blipFill>
        <p:spPr>
          <a:xfrm>
            <a:off x="2642975" y="840800"/>
            <a:ext cx="3858050" cy="4085476"/>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h4f8be8f1b2c30ea5_0_159"/>
          <p:cNvSpPr txBox="1"/>
          <p:nvPr>
            <p:ph type="title"/>
          </p:nvPr>
        </p:nvSpPr>
        <p:spPr>
          <a:xfrm>
            <a:off x="311700" y="445025"/>
            <a:ext cx="8520600" cy="572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3600"/>
              <a:buFont typeface="Calibri"/>
              <a:buNone/>
            </a:pPr>
            <a:r>
              <a:rPr lang="pt-BR"/>
              <a:t>Feedforward Neural Networks</a:t>
            </a:r>
            <a:endParaRPr/>
          </a:p>
        </p:txBody>
      </p:sp>
      <p:sp>
        <p:nvSpPr>
          <p:cNvPr id="1318" name="Google Shape;1318;h4f8be8f1b2c30ea5_0_159"/>
          <p:cNvSpPr txBox="1"/>
          <p:nvPr>
            <p:ph idx="1" type="body"/>
          </p:nvPr>
        </p:nvSpPr>
        <p:spPr>
          <a:xfrm>
            <a:off x="311700" y="1152475"/>
            <a:ext cx="8520600" cy="997500"/>
          </a:xfrm>
          <a:prstGeom prst="rect">
            <a:avLst/>
          </a:prstGeom>
          <a:noFill/>
          <a:ln>
            <a:noFill/>
          </a:ln>
        </p:spPr>
        <p:txBody>
          <a:bodyPr anchorCtr="0" anchor="t" bIns="45700" lIns="0" spcFirstLastPara="1" rIns="0" wrap="square" tIns="45700">
            <a:normAutofit/>
          </a:bodyPr>
          <a:lstStyle/>
          <a:p>
            <a:pPr indent="-7938" lvl="0" marL="7938" rtl="0" algn="l">
              <a:lnSpc>
                <a:spcPct val="90000"/>
              </a:lnSpc>
              <a:spcBef>
                <a:spcPts val="0"/>
              </a:spcBef>
              <a:spcAft>
                <a:spcPts val="0"/>
              </a:spcAft>
              <a:buSzPts val="2800"/>
              <a:buNone/>
            </a:pPr>
            <a:r>
              <a:rPr lang="pt-BR"/>
              <a:t>Can also be called </a:t>
            </a:r>
            <a:r>
              <a:rPr b="1" lang="pt-BR"/>
              <a:t>multi-layer perceptrons </a:t>
            </a:r>
            <a:r>
              <a:rPr lang="pt-BR"/>
              <a:t>(or </a:t>
            </a:r>
            <a:r>
              <a:rPr b="1" lang="pt-BR"/>
              <a:t>MLPs</a:t>
            </a:r>
            <a:r>
              <a:rPr lang="pt-BR"/>
              <a:t>)  for historical reasons</a:t>
            </a:r>
            <a:endParaRPr/>
          </a:p>
        </p:txBody>
      </p:sp>
      <p:pic>
        <p:nvPicPr>
          <p:cNvPr id="1319" name="Google Shape;1319;h4f8be8f1b2c30ea5_0_159"/>
          <p:cNvPicPr preferRelativeResize="0"/>
          <p:nvPr/>
        </p:nvPicPr>
        <p:blipFill rotWithShape="1">
          <a:blip r:embed="rId3">
            <a:alphaModFix/>
          </a:blip>
          <a:srcRect b="0" l="0" r="0" t="0"/>
          <a:stretch/>
        </p:blipFill>
        <p:spPr>
          <a:xfrm>
            <a:off x="2345272" y="2286001"/>
            <a:ext cx="4453460" cy="2652714"/>
          </a:xfrm>
          <a:prstGeom prst="rect">
            <a:avLst/>
          </a:prstGeom>
          <a:noFill/>
          <a:ln>
            <a:noFill/>
          </a:ln>
        </p:spPr>
      </p:pic>
      <p:sp>
        <p:nvSpPr>
          <p:cNvPr id="1320" name="Google Shape;1320;h4f8be8f1b2c30ea5_0_159"/>
          <p:cNvSpPr txBox="1"/>
          <p:nvPr/>
        </p:nvSpPr>
        <p:spPr>
          <a:xfrm>
            <a:off x="6813600" y="4477025"/>
            <a:ext cx="201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(Jurafsky, 2026)</a:t>
            </a:r>
            <a:endParaRPr sz="1800">
              <a:solidFill>
                <a:srgbClr val="434343"/>
              </a:solidFill>
              <a:latin typeface="Comfortaa"/>
              <a:ea typeface="Comfortaa"/>
              <a:cs typeface="Comfortaa"/>
              <a:sym typeface="Comfortaa"/>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h4f8be8f1b2c30ea5_0_2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600"/>
              <a:t>Returning to the Neural Network Unit </a:t>
            </a:r>
            <a:endParaRPr sz="2600"/>
          </a:p>
        </p:txBody>
      </p:sp>
      <p:grpSp>
        <p:nvGrpSpPr>
          <p:cNvPr id="1326" name="Google Shape;1326;h4f8be8f1b2c30ea5_0_222"/>
          <p:cNvGrpSpPr/>
          <p:nvPr/>
        </p:nvGrpSpPr>
        <p:grpSpPr>
          <a:xfrm>
            <a:off x="3139151" y="2492616"/>
            <a:ext cx="3292324" cy="2486551"/>
            <a:chOff x="2836171" y="2080841"/>
            <a:chExt cx="3292324" cy="2486551"/>
          </a:xfrm>
        </p:grpSpPr>
        <p:sp>
          <p:nvSpPr>
            <p:cNvPr id="1327" name="Google Shape;1327;h4f8be8f1b2c30ea5_0_222"/>
            <p:cNvSpPr/>
            <p:nvPr/>
          </p:nvSpPr>
          <p:spPr>
            <a:xfrm>
              <a:off x="2836171" y="2656824"/>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1328" name="Google Shape;1328;h4f8be8f1b2c30ea5_0_222"/>
            <p:cNvSpPr/>
            <p:nvPr/>
          </p:nvSpPr>
          <p:spPr>
            <a:xfrm>
              <a:off x="2836191" y="3232798"/>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1329" name="Google Shape;1329;h4f8be8f1b2c30ea5_0_222"/>
            <p:cNvSpPr/>
            <p:nvPr/>
          </p:nvSpPr>
          <p:spPr>
            <a:xfrm>
              <a:off x="2836191" y="4060992"/>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1330" name="Google Shape;1330;h4f8be8f1b2c30ea5_0_222"/>
            <p:cNvSpPr/>
            <p:nvPr/>
          </p:nvSpPr>
          <p:spPr>
            <a:xfrm>
              <a:off x="4355633" y="2731169"/>
              <a:ext cx="1013100" cy="10131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64300" lIns="64300" spcFirstLastPara="1" rIns="64300" wrap="square" tIns="64300">
              <a:noAutofit/>
            </a:bodyPr>
            <a:lstStyle/>
            <a:p>
              <a:pPr indent="0" lvl="0" marL="0" rtl="0" algn="l">
                <a:spcBef>
                  <a:spcPts val="0"/>
                </a:spcBef>
                <a:spcAft>
                  <a:spcPts val="0"/>
                </a:spcAft>
                <a:buNone/>
              </a:pPr>
              <a:r>
                <a:t/>
              </a:r>
              <a:endParaRPr/>
            </a:p>
          </p:txBody>
        </p:sp>
        <p:cxnSp>
          <p:nvCxnSpPr>
            <p:cNvPr id="1331" name="Google Shape;1331;h4f8be8f1b2c30ea5_0_222"/>
            <p:cNvCxnSpPr>
              <a:stCxn id="1327" idx="6"/>
            </p:cNvCxnSpPr>
            <p:nvPr/>
          </p:nvCxnSpPr>
          <p:spPr>
            <a:xfrm>
              <a:off x="3342571" y="2910024"/>
              <a:ext cx="1013100" cy="74400"/>
            </a:xfrm>
            <a:prstGeom prst="straightConnector1">
              <a:avLst/>
            </a:prstGeom>
            <a:noFill/>
            <a:ln cap="flat" cmpd="sng" w="20500">
              <a:solidFill>
                <a:srgbClr val="000000"/>
              </a:solidFill>
              <a:prstDash val="solid"/>
              <a:round/>
              <a:headEnd len="sm" w="sm" type="none"/>
              <a:tailEnd len="med" w="med" type="triangle"/>
            </a:ln>
          </p:spPr>
        </p:cxnSp>
        <p:cxnSp>
          <p:nvCxnSpPr>
            <p:cNvPr id="1332" name="Google Shape;1332;h4f8be8f1b2c30ea5_0_222"/>
            <p:cNvCxnSpPr>
              <a:stCxn id="1328" idx="6"/>
              <a:endCxn id="1330" idx="2"/>
            </p:cNvCxnSpPr>
            <p:nvPr/>
          </p:nvCxnSpPr>
          <p:spPr>
            <a:xfrm flipH="1" rot="10800000">
              <a:off x="3342591" y="3237598"/>
              <a:ext cx="1013100" cy="248400"/>
            </a:xfrm>
            <a:prstGeom prst="straightConnector1">
              <a:avLst/>
            </a:prstGeom>
            <a:noFill/>
            <a:ln cap="flat" cmpd="sng" w="20500">
              <a:solidFill>
                <a:srgbClr val="000000"/>
              </a:solidFill>
              <a:prstDash val="solid"/>
              <a:round/>
              <a:headEnd len="sm" w="sm" type="none"/>
              <a:tailEnd len="med" w="med" type="triangle"/>
            </a:ln>
          </p:spPr>
        </p:cxnSp>
        <p:cxnSp>
          <p:nvCxnSpPr>
            <p:cNvPr id="1333" name="Google Shape;1333;h4f8be8f1b2c30ea5_0_222"/>
            <p:cNvCxnSpPr>
              <a:stCxn id="1329" idx="6"/>
            </p:cNvCxnSpPr>
            <p:nvPr/>
          </p:nvCxnSpPr>
          <p:spPr>
            <a:xfrm flipH="1" rot="10800000">
              <a:off x="3342591" y="3484692"/>
              <a:ext cx="1066800" cy="829500"/>
            </a:xfrm>
            <a:prstGeom prst="straightConnector1">
              <a:avLst/>
            </a:prstGeom>
            <a:noFill/>
            <a:ln cap="flat" cmpd="sng" w="20500">
              <a:solidFill>
                <a:srgbClr val="000000"/>
              </a:solidFill>
              <a:prstDash val="solid"/>
              <a:round/>
              <a:headEnd len="sm" w="sm" type="none"/>
              <a:tailEnd len="med" w="med" type="triangle"/>
            </a:ln>
          </p:spPr>
        </p:cxnSp>
        <p:cxnSp>
          <p:nvCxnSpPr>
            <p:cNvPr id="1334" name="Google Shape;1334;h4f8be8f1b2c30ea5_0_222"/>
            <p:cNvCxnSpPr/>
            <p:nvPr/>
          </p:nvCxnSpPr>
          <p:spPr>
            <a:xfrm>
              <a:off x="5368595" y="3237632"/>
              <a:ext cx="759900" cy="0"/>
            </a:xfrm>
            <a:prstGeom prst="straightConnector1">
              <a:avLst/>
            </a:prstGeom>
            <a:noFill/>
            <a:ln cap="flat" cmpd="sng" w="20500">
              <a:solidFill>
                <a:srgbClr val="000000"/>
              </a:solidFill>
              <a:prstDash val="solid"/>
              <a:round/>
              <a:headEnd len="sm" w="sm" type="none"/>
              <a:tailEnd len="med" w="med" type="triangle"/>
            </a:ln>
          </p:spPr>
        </p:cxnSp>
        <p:cxnSp>
          <p:nvCxnSpPr>
            <p:cNvPr id="1335" name="Google Shape;1335;h4f8be8f1b2c30ea5_0_222"/>
            <p:cNvCxnSpPr/>
            <p:nvPr/>
          </p:nvCxnSpPr>
          <p:spPr>
            <a:xfrm>
              <a:off x="4862114" y="2731169"/>
              <a:ext cx="0" cy="1013100"/>
            </a:xfrm>
            <a:prstGeom prst="straightConnector1">
              <a:avLst/>
            </a:prstGeom>
            <a:noFill/>
            <a:ln cap="flat" cmpd="sng" w="6700">
              <a:solidFill>
                <a:srgbClr val="000000"/>
              </a:solidFill>
              <a:prstDash val="solid"/>
              <a:round/>
              <a:headEnd len="sm" w="sm" type="none"/>
              <a:tailEnd len="sm" w="sm" type="none"/>
            </a:ln>
          </p:spPr>
        </p:cxnSp>
        <p:sp>
          <p:nvSpPr>
            <p:cNvPr id="1336" name="Google Shape;1336;h4f8be8f1b2c30ea5_0_222"/>
            <p:cNvSpPr txBox="1"/>
            <p:nvPr/>
          </p:nvSpPr>
          <p:spPr>
            <a:xfrm>
              <a:off x="4508591" y="2994024"/>
              <a:ext cx="348000" cy="4623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lang="pt-BR" sz="2792"/>
                <a:t>Z</a:t>
              </a:r>
              <a:endParaRPr b="0" sz="2792" strike="noStrike">
                <a:latin typeface="Arial"/>
                <a:ea typeface="Arial"/>
                <a:cs typeface="Arial"/>
                <a:sym typeface="Arial"/>
              </a:endParaRPr>
            </a:p>
          </p:txBody>
        </p:sp>
        <p:sp>
          <p:nvSpPr>
            <p:cNvPr id="1337" name="Google Shape;1337;h4f8be8f1b2c30ea5_0_222"/>
            <p:cNvSpPr txBox="1"/>
            <p:nvPr/>
          </p:nvSpPr>
          <p:spPr>
            <a:xfrm>
              <a:off x="3638828" y="2681923"/>
              <a:ext cx="2940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0" i="1" lang="pt-BR" sz="1241" strike="noStrike">
                  <a:latin typeface="Arial"/>
                  <a:ea typeface="Arial"/>
                  <a:cs typeface="Arial"/>
                  <a:sym typeface="Arial"/>
                </a:rPr>
                <a:t>w</a:t>
              </a:r>
              <a:r>
                <a:rPr b="0" baseline="-25000" i="1"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1338" name="Google Shape;1338;h4f8be8f1b2c30ea5_0_222"/>
            <p:cNvSpPr txBox="1"/>
            <p:nvPr/>
          </p:nvSpPr>
          <p:spPr>
            <a:xfrm>
              <a:off x="3492655" y="3115936"/>
              <a:ext cx="2940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0" i="1" lang="pt-BR" sz="1241" strike="noStrike">
                  <a:latin typeface="Arial"/>
                  <a:ea typeface="Arial"/>
                  <a:cs typeface="Arial"/>
                  <a:sym typeface="Arial"/>
                </a:rPr>
                <a:t>w</a:t>
              </a:r>
              <a:r>
                <a:rPr b="0" baseline="-25000" i="1"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1339" name="Google Shape;1339;h4f8be8f1b2c30ea5_0_222"/>
            <p:cNvSpPr txBox="1"/>
            <p:nvPr/>
          </p:nvSpPr>
          <p:spPr>
            <a:xfrm>
              <a:off x="3543217" y="3697849"/>
              <a:ext cx="2940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0" i="1" lang="pt-BR" sz="1241" strike="noStrike">
                  <a:latin typeface="Arial"/>
                  <a:ea typeface="Arial"/>
                  <a:cs typeface="Arial"/>
                  <a:sym typeface="Arial"/>
                </a:rPr>
                <a:t>w</a:t>
              </a:r>
              <a:r>
                <a:rPr baseline="-25000" i="1" lang="pt-BR" sz="1241"/>
                <a:t>n</a:t>
              </a:r>
              <a:endParaRPr b="0" sz="1241" strike="noStrike">
                <a:latin typeface="Arial"/>
                <a:ea typeface="Arial"/>
                <a:cs typeface="Arial"/>
                <a:sym typeface="Arial"/>
              </a:endParaRPr>
            </a:p>
          </p:txBody>
        </p:sp>
        <p:sp>
          <p:nvSpPr>
            <p:cNvPr id="1340" name="Google Shape;1340;h4f8be8f1b2c30ea5_0_222"/>
            <p:cNvSpPr txBox="1"/>
            <p:nvPr/>
          </p:nvSpPr>
          <p:spPr>
            <a:xfrm>
              <a:off x="5561138" y="2949472"/>
              <a:ext cx="2079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lang="pt-BR" sz="1241"/>
                <a:t>y</a:t>
              </a:r>
              <a:endParaRPr b="0" sz="1241" strike="noStrike">
                <a:latin typeface="Arial"/>
                <a:ea typeface="Arial"/>
                <a:cs typeface="Arial"/>
                <a:sym typeface="Arial"/>
              </a:endParaRPr>
            </a:p>
          </p:txBody>
        </p:sp>
        <p:sp>
          <p:nvSpPr>
            <p:cNvPr id="1341" name="Google Shape;1341;h4f8be8f1b2c30ea5_0_222"/>
            <p:cNvSpPr/>
            <p:nvPr/>
          </p:nvSpPr>
          <p:spPr>
            <a:xfrm>
              <a:off x="2836171" y="20808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342" name="Google Shape;1342;h4f8be8f1b2c30ea5_0_222"/>
            <p:cNvSpPr txBox="1"/>
            <p:nvPr/>
          </p:nvSpPr>
          <p:spPr>
            <a:xfrm>
              <a:off x="2836184" y="2166913"/>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1343" name="Google Shape;1343;h4f8be8f1b2c30ea5_0_222"/>
            <p:cNvCxnSpPr>
              <a:stCxn id="1342" idx="3"/>
              <a:endCxn id="1330" idx="1"/>
            </p:cNvCxnSpPr>
            <p:nvPr/>
          </p:nvCxnSpPr>
          <p:spPr>
            <a:xfrm>
              <a:off x="3342584" y="2334013"/>
              <a:ext cx="1161300" cy="545400"/>
            </a:xfrm>
            <a:prstGeom prst="straightConnector1">
              <a:avLst/>
            </a:prstGeom>
            <a:noFill/>
            <a:ln cap="flat" cmpd="sng" w="20500">
              <a:solidFill>
                <a:srgbClr val="000000"/>
              </a:solidFill>
              <a:prstDash val="solid"/>
              <a:round/>
              <a:headEnd len="sm" w="sm" type="none"/>
              <a:tailEnd len="med" w="med" type="triangle"/>
            </a:ln>
          </p:spPr>
        </p:cxnSp>
        <p:sp>
          <p:nvSpPr>
            <p:cNvPr id="1344" name="Google Shape;1344;h4f8be8f1b2c30ea5_0_222"/>
            <p:cNvSpPr txBox="1"/>
            <p:nvPr/>
          </p:nvSpPr>
          <p:spPr>
            <a:xfrm>
              <a:off x="3776324" y="2277403"/>
              <a:ext cx="2940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i="1" lang="pt-BR" sz="1241"/>
                <a:t>w</a:t>
              </a:r>
              <a:r>
                <a:rPr baseline="-25000" i="1" lang="pt-BR" sz="1241"/>
                <a:t>0</a:t>
              </a:r>
              <a:endParaRPr b="0" baseline="-25000" sz="1241" strike="noStrike">
                <a:latin typeface="Arial"/>
                <a:ea typeface="Arial"/>
                <a:cs typeface="Arial"/>
                <a:sym typeface="Arial"/>
              </a:endParaRPr>
            </a:p>
          </p:txBody>
        </p:sp>
        <p:grpSp>
          <p:nvGrpSpPr>
            <p:cNvPr id="1345" name="Google Shape;1345;h4f8be8f1b2c30ea5_0_222"/>
            <p:cNvGrpSpPr/>
            <p:nvPr/>
          </p:nvGrpSpPr>
          <p:grpSpPr>
            <a:xfrm>
              <a:off x="2960904" y="3833056"/>
              <a:ext cx="288564" cy="74448"/>
              <a:chOff x="3272500" y="3440675"/>
              <a:chExt cx="372100" cy="96000"/>
            </a:xfrm>
          </p:grpSpPr>
          <p:sp>
            <p:nvSpPr>
              <p:cNvPr id="1346" name="Google Shape;1346;h4f8be8f1b2c30ea5_0_222"/>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347" name="Google Shape;1347;h4f8be8f1b2c30ea5_0_222"/>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348" name="Google Shape;1348;h4f8be8f1b2c30ea5_0_222"/>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1349" name="Google Shape;1349;h4f8be8f1b2c30ea5_0_222"/>
            <p:cNvSpPr txBox="1"/>
            <p:nvPr/>
          </p:nvSpPr>
          <p:spPr>
            <a:xfrm>
              <a:off x="4941339" y="2994024"/>
              <a:ext cx="348000" cy="4623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lang="pt-BR" sz="2792"/>
                <a:t>f</a:t>
              </a:r>
              <a:endParaRPr b="0" sz="2792" strike="noStrike">
                <a:latin typeface="Arial"/>
                <a:ea typeface="Arial"/>
                <a:cs typeface="Arial"/>
                <a:sym typeface="Arial"/>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h4f8be8f1b2c30ea5_0_252"/>
          <p:cNvSpPr txBox="1"/>
          <p:nvPr>
            <p:ph type="title"/>
          </p:nvPr>
        </p:nvSpPr>
        <p:spPr>
          <a:xfrm>
            <a:off x="311700" y="445025"/>
            <a:ext cx="8520600" cy="85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sz="2600"/>
              <a:t>Binary Logistic Regression as a 1-layer Network</a:t>
            </a:r>
            <a:endParaRPr sz="2600"/>
          </a:p>
          <a:p>
            <a:pPr indent="0" lvl="0" marL="0" rtl="0" algn="l">
              <a:spcBef>
                <a:spcPts val="0"/>
              </a:spcBef>
              <a:spcAft>
                <a:spcPts val="0"/>
              </a:spcAft>
              <a:buNone/>
            </a:pPr>
            <a:r>
              <a:rPr lang="pt-BR" sz="2000"/>
              <a:t>(we don't count the input layer in counting layers!)</a:t>
            </a:r>
            <a:endParaRPr/>
          </a:p>
        </p:txBody>
      </p:sp>
      <p:sp>
        <p:nvSpPr>
          <p:cNvPr id="1355" name="Google Shape;1355;h4f8be8f1b2c30ea5_0_252"/>
          <p:cNvSpPr/>
          <p:nvPr/>
        </p:nvSpPr>
        <p:spPr>
          <a:xfrm>
            <a:off x="3139151" y="306859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1356" name="Google Shape;1356;h4f8be8f1b2c30ea5_0_252"/>
          <p:cNvSpPr/>
          <p:nvPr/>
        </p:nvSpPr>
        <p:spPr>
          <a:xfrm>
            <a:off x="3139170" y="3644573"/>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1357" name="Google Shape;1357;h4f8be8f1b2c30ea5_0_252"/>
          <p:cNvSpPr/>
          <p:nvPr/>
        </p:nvSpPr>
        <p:spPr>
          <a:xfrm>
            <a:off x="3139170" y="4472767"/>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cxnSp>
        <p:nvCxnSpPr>
          <p:cNvPr id="1358" name="Google Shape;1358;h4f8be8f1b2c30ea5_0_252"/>
          <p:cNvCxnSpPr>
            <a:stCxn id="1355" idx="6"/>
            <a:endCxn id="1359" idx="2"/>
          </p:cNvCxnSpPr>
          <p:nvPr/>
        </p:nvCxnSpPr>
        <p:spPr>
          <a:xfrm>
            <a:off x="3645551" y="3321799"/>
            <a:ext cx="1092900" cy="292500"/>
          </a:xfrm>
          <a:prstGeom prst="straightConnector1">
            <a:avLst/>
          </a:prstGeom>
          <a:noFill/>
          <a:ln cap="flat" cmpd="sng" w="20500">
            <a:solidFill>
              <a:srgbClr val="000000"/>
            </a:solidFill>
            <a:prstDash val="solid"/>
            <a:round/>
            <a:headEnd len="sm" w="sm" type="none"/>
            <a:tailEnd len="med" w="med" type="triangle"/>
          </a:ln>
        </p:spPr>
      </p:cxnSp>
      <p:cxnSp>
        <p:nvCxnSpPr>
          <p:cNvPr id="1360" name="Google Shape;1360;h4f8be8f1b2c30ea5_0_252"/>
          <p:cNvCxnSpPr>
            <a:stCxn id="1356" idx="6"/>
          </p:cNvCxnSpPr>
          <p:nvPr/>
        </p:nvCxnSpPr>
        <p:spPr>
          <a:xfrm flipH="1" rot="10800000">
            <a:off x="3645570" y="3688373"/>
            <a:ext cx="1092900" cy="209400"/>
          </a:xfrm>
          <a:prstGeom prst="straightConnector1">
            <a:avLst/>
          </a:prstGeom>
          <a:noFill/>
          <a:ln cap="flat" cmpd="sng" w="20500">
            <a:solidFill>
              <a:srgbClr val="000000"/>
            </a:solidFill>
            <a:prstDash val="solid"/>
            <a:round/>
            <a:headEnd len="sm" w="sm" type="none"/>
            <a:tailEnd len="med" w="med" type="triangle"/>
          </a:ln>
        </p:spPr>
      </p:cxnSp>
      <p:cxnSp>
        <p:nvCxnSpPr>
          <p:cNvPr id="1361" name="Google Shape;1361;h4f8be8f1b2c30ea5_0_252"/>
          <p:cNvCxnSpPr>
            <a:stCxn id="1357" idx="6"/>
            <a:endCxn id="1359" idx="3"/>
          </p:cNvCxnSpPr>
          <p:nvPr/>
        </p:nvCxnSpPr>
        <p:spPr>
          <a:xfrm flipH="1" rot="10800000">
            <a:off x="3645570" y="3793567"/>
            <a:ext cx="1167000" cy="932400"/>
          </a:xfrm>
          <a:prstGeom prst="straightConnector1">
            <a:avLst/>
          </a:prstGeom>
          <a:noFill/>
          <a:ln cap="flat" cmpd="sng" w="20500">
            <a:solidFill>
              <a:srgbClr val="000000"/>
            </a:solidFill>
            <a:prstDash val="solid"/>
            <a:round/>
            <a:headEnd len="sm" w="sm" type="none"/>
            <a:tailEnd len="med" w="med" type="triangle"/>
          </a:ln>
        </p:spPr>
      </p:cxnSp>
      <p:sp>
        <p:nvSpPr>
          <p:cNvPr id="1362" name="Google Shape;1362;h4f8be8f1b2c30ea5_0_252"/>
          <p:cNvSpPr txBox="1"/>
          <p:nvPr/>
        </p:nvSpPr>
        <p:spPr>
          <a:xfrm>
            <a:off x="3941807" y="3093698"/>
            <a:ext cx="2940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0" i="1" lang="pt-BR" sz="1241" strike="noStrike">
                <a:latin typeface="Arial"/>
                <a:ea typeface="Arial"/>
                <a:cs typeface="Arial"/>
                <a:sym typeface="Arial"/>
              </a:rPr>
              <a:t>w</a:t>
            </a:r>
            <a:r>
              <a:rPr b="0" baseline="-25000" i="1"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1363" name="Google Shape;1363;h4f8be8f1b2c30ea5_0_252"/>
          <p:cNvSpPr txBox="1"/>
          <p:nvPr/>
        </p:nvSpPr>
        <p:spPr>
          <a:xfrm>
            <a:off x="3795634" y="3527711"/>
            <a:ext cx="2940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0" i="1" lang="pt-BR" sz="1241" strike="noStrike">
                <a:latin typeface="Arial"/>
                <a:ea typeface="Arial"/>
                <a:cs typeface="Arial"/>
                <a:sym typeface="Arial"/>
              </a:rPr>
              <a:t>w</a:t>
            </a:r>
            <a:r>
              <a:rPr b="0" baseline="-25000" i="1"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1364" name="Google Shape;1364;h4f8be8f1b2c30ea5_0_252"/>
          <p:cNvSpPr txBox="1"/>
          <p:nvPr/>
        </p:nvSpPr>
        <p:spPr>
          <a:xfrm>
            <a:off x="3846197" y="4109624"/>
            <a:ext cx="2940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0" i="1" lang="pt-BR" sz="1241" strike="noStrike">
                <a:latin typeface="Arial"/>
                <a:ea typeface="Arial"/>
                <a:cs typeface="Arial"/>
                <a:sym typeface="Arial"/>
              </a:rPr>
              <a:t>w</a:t>
            </a:r>
            <a:r>
              <a:rPr baseline="-25000" i="1" lang="pt-BR" sz="1241"/>
              <a:t>n</a:t>
            </a:r>
            <a:endParaRPr b="0" sz="1241" strike="noStrike">
              <a:latin typeface="Arial"/>
              <a:ea typeface="Arial"/>
              <a:cs typeface="Arial"/>
              <a:sym typeface="Arial"/>
            </a:endParaRPr>
          </a:p>
        </p:txBody>
      </p:sp>
      <p:sp>
        <p:nvSpPr>
          <p:cNvPr id="1365" name="Google Shape;1365;h4f8be8f1b2c30ea5_0_252"/>
          <p:cNvSpPr/>
          <p:nvPr/>
        </p:nvSpPr>
        <p:spPr>
          <a:xfrm>
            <a:off x="3139151" y="24926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366" name="Google Shape;1366;h4f8be8f1b2c30ea5_0_252"/>
          <p:cNvSpPr txBox="1"/>
          <p:nvPr/>
        </p:nvSpPr>
        <p:spPr>
          <a:xfrm>
            <a:off x="3139163" y="25786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cxnSp>
        <p:nvCxnSpPr>
          <p:cNvPr id="1367" name="Google Shape;1367;h4f8be8f1b2c30ea5_0_252"/>
          <p:cNvCxnSpPr>
            <a:stCxn id="1366" idx="3"/>
            <a:endCxn id="1359" idx="1"/>
          </p:cNvCxnSpPr>
          <p:nvPr/>
        </p:nvCxnSpPr>
        <p:spPr>
          <a:xfrm>
            <a:off x="3645563" y="2745788"/>
            <a:ext cx="1167000" cy="689700"/>
          </a:xfrm>
          <a:prstGeom prst="straightConnector1">
            <a:avLst/>
          </a:prstGeom>
          <a:noFill/>
          <a:ln cap="flat" cmpd="sng" w="20500">
            <a:solidFill>
              <a:srgbClr val="000000"/>
            </a:solidFill>
            <a:prstDash val="solid"/>
            <a:round/>
            <a:headEnd len="sm" w="sm" type="none"/>
            <a:tailEnd len="med" w="med" type="triangle"/>
          </a:ln>
        </p:spPr>
      </p:cxnSp>
      <p:sp>
        <p:nvSpPr>
          <p:cNvPr id="1368" name="Google Shape;1368;h4f8be8f1b2c30ea5_0_252"/>
          <p:cNvSpPr txBox="1"/>
          <p:nvPr/>
        </p:nvSpPr>
        <p:spPr>
          <a:xfrm>
            <a:off x="4079303" y="2689178"/>
            <a:ext cx="2940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i="1" lang="pt-BR" sz="1241"/>
              <a:t>w</a:t>
            </a:r>
            <a:r>
              <a:rPr baseline="-25000" i="1" lang="pt-BR" sz="1241"/>
              <a:t>0</a:t>
            </a:r>
            <a:endParaRPr b="0" baseline="-25000" sz="1241" strike="noStrike">
              <a:latin typeface="Arial"/>
              <a:ea typeface="Arial"/>
              <a:cs typeface="Arial"/>
              <a:sym typeface="Arial"/>
            </a:endParaRPr>
          </a:p>
        </p:txBody>
      </p:sp>
      <p:grpSp>
        <p:nvGrpSpPr>
          <p:cNvPr id="1369" name="Google Shape;1369;h4f8be8f1b2c30ea5_0_252"/>
          <p:cNvGrpSpPr/>
          <p:nvPr/>
        </p:nvGrpSpPr>
        <p:grpSpPr>
          <a:xfrm>
            <a:off x="3263883" y="4244831"/>
            <a:ext cx="288564" cy="74448"/>
            <a:chOff x="3272500" y="3440675"/>
            <a:chExt cx="372100" cy="96000"/>
          </a:xfrm>
        </p:grpSpPr>
        <p:sp>
          <p:nvSpPr>
            <p:cNvPr id="1370" name="Google Shape;1370;h4f8be8f1b2c30ea5_0_252"/>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371" name="Google Shape;1371;h4f8be8f1b2c30ea5_0_252"/>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372" name="Google Shape;1372;h4f8be8f1b2c30ea5_0_252"/>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1359" name="Google Shape;1359;h4f8be8f1b2c30ea5_0_252"/>
          <p:cNvSpPr/>
          <p:nvPr/>
        </p:nvSpPr>
        <p:spPr>
          <a:xfrm>
            <a:off x="4738551" y="336124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σ</a:t>
            </a:r>
            <a:endParaRPr b="0" sz="1241" strike="noStrike">
              <a:latin typeface="Arial"/>
              <a:ea typeface="Arial"/>
              <a:cs typeface="Arial"/>
              <a:sym typeface="Arial"/>
            </a:endParaRPr>
          </a:p>
        </p:txBody>
      </p:sp>
      <p:sp>
        <p:nvSpPr>
          <p:cNvPr id="1373" name="Google Shape;1373;h4f8be8f1b2c30ea5_0_252"/>
          <p:cNvSpPr txBox="1"/>
          <p:nvPr/>
        </p:nvSpPr>
        <p:spPr>
          <a:xfrm>
            <a:off x="107425" y="4658825"/>
            <a:ext cx="25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adapted from </a:t>
            </a:r>
            <a:r>
              <a:rPr lang="pt-BR" sz="1200">
                <a:solidFill>
                  <a:srgbClr val="434343"/>
                </a:solidFill>
                <a:latin typeface="Comfortaa"/>
                <a:ea typeface="Comfortaa"/>
                <a:cs typeface="Comfortaa"/>
                <a:sym typeface="Comfortaa"/>
              </a:rPr>
              <a:t>(Jurafsky, 2026)</a:t>
            </a:r>
            <a:endParaRPr sz="1200">
              <a:solidFill>
                <a:srgbClr val="434343"/>
              </a:solidFill>
              <a:latin typeface="Comfortaa"/>
              <a:ea typeface="Comfortaa"/>
              <a:cs typeface="Comfortaa"/>
              <a:sym typeface="Comfortaa"/>
            </a:endParaRPr>
          </a:p>
        </p:txBody>
      </p:sp>
      <p:sp>
        <p:nvSpPr>
          <p:cNvPr id="1374" name="Google Shape;1374;h4f8be8f1b2c30ea5_0_252"/>
          <p:cNvSpPr/>
          <p:nvPr/>
        </p:nvSpPr>
        <p:spPr>
          <a:xfrm rot="5400000">
            <a:off x="3347950" y="1968700"/>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375" name="Google Shape;1375;h4f8be8f1b2c30ea5_0_252"/>
          <p:cNvSpPr txBox="1"/>
          <p:nvPr/>
        </p:nvSpPr>
        <p:spPr>
          <a:xfrm>
            <a:off x="2715988" y="1525225"/>
            <a:ext cx="14655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input layer</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sz="1600">
                <a:solidFill>
                  <a:srgbClr val="0000FF"/>
                </a:solidFill>
                <a:latin typeface="Comfortaa"/>
                <a:ea typeface="Comfortaa"/>
                <a:cs typeface="Comfortaa"/>
                <a:sym typeface="Comfortaa"/>
              </a:rPr>
              <a:t>(vector x)</a:t>
            </a:r>
            <a:endParaRPr sz="1600">
              <a:solidFill>
                <a:srgbClr val="0000FF"/>
              </a:solidFill>
              <a:latin typeface="Comfortaa"/>
              <a:ea typeface="Comfortaa"/>
              <a:cs typeface="Comfortaa"/>
              <a:sym typeface="Comfortaa"/>
            </a:endParaRPr>
          </a:p>
        </p:txBody>
      </p:sp>
      <p:sp>
        <p:nvSpPr>
          <p:cNvPr id="1376" name="Google Shape;1376;h4f8be8f1b2c30ea5_0_252"/>
          <p:cNvSpPr/>
          <p:nvPr/>
        </p:nvSpPr>
        <p:spPr>
          <a:xfrm rot="5400000">
            <a:off x="4890950" y="1968700"/>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377" name="Google Shape;1377;h4f8be8f1b2c30ea5_0_252"/>
          <p:cNvSpPr txBox="1"/>
          <p:nvPr/>
        </p:nvSpPr>
        <p:spPr>
          <a:xfrm>
            <a:off x="4160150" y="1525225"/>
            <a:ext cx="1663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output</a:t>
            </a:r>
            <a:r>
              <a:rPr lang="pt-BR" sz="1600">
                <a:solidFill>
                  <a:srgbClr val="434343"/>
                </a:solidFill>
                <a:latin typeface="Comfortaa"/>
                <a:ea typeface="Comfortaa"/>
                <a:cs typeface="Comfortaa"/>
                <a:sym typeface="Comfortaa"/>
              </a:rPr>
              <a:t> layer</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sz="1600">
                <a:solidFill>
                  <a:srgbClr val="0000FF"/>
                </a:solidFill>
                <a:latin typeface="Comfortaa"/>
                <a:ea typeface="Comfortaa"/>
                <a:cs typeface="Comfortaa"/>
                <a:sym typeface="Comfortaa"/>
              </a:rPr>
              <a:t>(σ node)</a:t>
            </a:r>
            <a:endParaRPr sz="1600">
              <a:solidFill>
                <a:srgbClr val="0000FF"/>
              </a:solidFill>
              <a:latin typeface="Comfortaa"/>
              <a:ea typeface="Comfortaa"/>
              <a:cs typeface="Comfortaa"/>
              <a:sym typeface="Comfortaa"/>
            </a:endParaRPr>
          </a:p>
        </p:txBody>
      </p:sp>
      <p:pic>
        <p:nvPicPr>
          <p:cNvPr id="1378" name="Google Shape;1378;h4f8be8f1b2c30ea5_0_252"/>
          <p:cNvPicPr preferRelativeResize="0"/>
          <p:nvPr/>
        </p:nvPicPr>
        <p:blipFill>
          <a:blip r:embed="rId3">
            <a:alphaModFix/>
          </a:blip>
          <a:stretch>
            <a:fillRect/>
          </a:stretch>
        </p:blipFill>
        <p:spPr>
          <a:xfrm>
            <a:off x="6421092" y="3202729"/>
            <a:ext cx="2018700" cy="419344"/>
          </a:xfrm>
          <a:prstGeom prst="rect">
            <a:avLst/>
          </a:prstGeom>
          <a:noFill/>
          <a:ln>
            <a:noFill/>
          </a:ln>
        </p:spPr>
      </p:pic>
      <p:sp>
        <p:nvSpPr>
          <p:cNvPr id="1379" name="Google Shape;1379;h4f8be8f1b2c30ea5_0_252"/>
          <p:cNvSpPr txBox="1"/>
          <p:nvPr/>
        </p:nvSpPr>
        <p:spPr>
          <a:xfrm>
            <a:off x="6719150" y="3634575"/>
            <a:ext cx="1601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y is a scalar</a:t>
            </a:r>
            <a:endParaRPr sz="1800">
              <a:solidFill>
                <a:srgbClr val="0000FF"/>
              </a:solidFill>
              <a:latin typeface="Comfortaa"/>
              <a:ea typeface="Comfortaa"/>
              <a:cs typeface="Comfortaa"/>
              <a:sym typeface="Comfortaa"/>
            </a:endParaRPr>
          </a:p>
        </p:txBody>
      </p:sp>
      <p:sp>
        <p:nvSpPr>
          <p:cNvPr id="1380" name="Google Shape;1380;h4f8be8f1b2c30ea5_0_252"/>
          <p:cNvSpPr txBox="1"/>
          <p:nvPr/>
        </p:nvSpPr>
        <p:spPr>
          <a:xfrm>
            <a:off x="3860700" y="4430775"/>
            <a:ext cx="1744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lang="pt-BR" sz="1800">
                <a:solidFill>
                  <a:srgbClr val="0000FF"/>
                </a:solidFill>
                <a:latin typeface="Comfortaa"/>
                <a:ea typeface="Comfortaa"/>
                <a:cs typeface="Comfortaa"/>
                <a:sym typeface="Comfortaa"/>
              </a:rPr>
              <a:t> is a vector</a:t>
            </a:r>
            <a:endParaRPr sz="1800">
              <a:solidFill>
                <a:srgbClr val="0000FF"/>
              </a:solidFill>
              <a:latin typeface="Comfortaa"/>
              <a:ea typeface="Comfortaa"/>
              <a:cs typeface="Comfortaa"/>
              <a:sym typeface="Comfortaa"/>
            </a:endParaRPr>
          </a:p>
        </p:txBody>
      </p:sp>
      <p:sp>
        <p:nvSpPr>
          <p:cNvPr id="1381" name="Google Shape;1381;h4f8be8f1b2c30ea5_0_252"/>
          <p:cNvSpPr txBox="1"/>
          <p:nvPr/>
        </p:nvSpPr>
        <p:spPr>
          <a:xfrm>
            <a:off x="5281575" y="3321800"/>
            <a:ext cx="39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800">
                <a:solidFill>
                  <a:srgbClr val="434343"/>
                </a:solidFill>
                <a:latin typeface="Comfortaa"/>
                <a:ea typeface="Comfortaa"/>
                <a:cs typeface="Comfortaa"/>
                <a:sym typeface="Comfortaa"/>
              </a:rPr>
              <a:t>y</a:t>
            </a:r>
            <a:endParaRPr sz="1800">
              <a:solidFill>
                <a:srgbClr val="434343"/>
              </a:solidFill>
              <a:latin typeface="Comfortaa"/>
              <a:ea typeface="Comfortaa"/>
              <a:cs typeface="Comfortaa"/>
              <a:sym typeface="Comfortaa"/>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h4f8be8f1b2c30ea5_0_388"/>
          <p:cNvSpPr txBox="1"/>
          <p:nvPr>
            <p:ph type="title"/>
          </p:nvPr>
        </p:nvSpPr>
        <p:spPr>
          <a:xfrm>
            <a:off x="311700" y="33425"/>
            <a:ext cx="8520600" cy="85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600"/>
              <a:t>Binary Logistic Regression as a 1-layer Network</a:t>
            </a:r>
            <a:endParaRPr sz="2600"/>
          </a:p>
          <a:p>
            <a:pPr indent="0" lvl="0" marL="0" rtl="0" algn="l">
              <a:spcBef>
                <a:spcPts val="0"/>
              </a:spcBef>
              <a:spcAft>
                <a:spcPts val="0"/>
              </a:spcAft>
              <a:buNone/>
            </a:pPr>
            <a:r>
              <a:rPr lang="pt-BR" sz="2000"/>
              <a:t>(we don't count the input layer in counting layers!)</a:t>
            </a:r>
            <a:endParaRPr/>
          </a:p>
        </p:txBody>
      </p:sp>
      <p:sp>
        <p:nvSpPr>
          <p:cNvPr id="1387" name="Google Shape;1387;h4f8be8f1b2c30ea5_0_388"/>
          <p:cNvSpPr/>
          <p:nvPr/>
        </p:nvSpPr>
        <p:spPr>
          <a:xfrm>
            <a:off x="1674501" y="251769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1388" name="Google Shape;1388;h4f8be8f1b2c30ea5_0_388"/>
          <p:cNvSpPr/>
          <p:nvPr/>
        </p:nvSpPr>
        <p:spPr>
          <a:xfrm>
            <a:off x="1674520" y="3093673"/>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1389" name="Google Shape;1389;h4f8be8f1b2c30ea5_0_388"/>
          <p:cNvSpPr/>
          <p:nvPr/>
        </p:nvSpPr>
        <p:spPr>
          <a:xfrm>
            <a:off x="1674520" y="3921867"/>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1390" name="Google Shape;1390;h4f8be8f1b2c30ea5_0_388"/>
          <p:cNvSpPr/>
          <p:nvPr/>
        </p:nvSpPr>
        <p:spPr>
          <a:xfrm>
            <a:off x="1674501" y="19417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391" name="Google Shape;1391;h4f8be8f1b2c30ea5_0_388"/>
          <p:cNvSpPr txBox="1"/>
          <p:nvPr/>
        </p:nvSpPr>
        <p:spPr>
          <a:xfrm>
            <a:off x="1674513" y="20277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grpSp>
        <p:nvGrpSpPr>
          <p:cNvPr id="1392" name="Google Shape;1392;h4f8be8f1b2c30ea5_0_388"/>
          <p:cNvGrpSpPr/>
          <p:nvPr/>
        </p:nvGrpSpPr>
        <p:grpSpPr>
          <a:xfrm>
            <a:off x="1799233" y="3693931"/>
            <a:ext cx="288564" cy="74448"/>
            <a:chOff x="3272500" y="3440675"/>
            <a:chExt cx="372100" cy="96000"/>
          </a:xfrm>
        </p:grpSpPr>
        <p:sp>
          <p:nvSpPr>
            <p:cNvPr id="1393" name="Google Shape;1393;h4f8be8f1b2c30ea5_0_388"/>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394" name="Google Shape;1394;h4f8be8f1b2c30ea5_0_388"/>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395" name="Google Shape;1395;h4f8be8f1b2c30ea5_0_388"/>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1396" name="Google Shape;1396;h4f8be8f1b2c30ea5_0_388"/>
          <p:cNvSpPr/>
          <p:nvPr/>
        </p:nvSpPr>
        <p:spPr>
          <a:xfrm>
            <a:off x="4731676" y="274926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S</a:t>
            </a:r>
            <a:endParaRPr b="0" sz="1241" strike="noStrike">
              <a:latin typeface="Arial"/>
              <a:ea typeface="Arial"/>
              <a:cs typeface="Arial"/>
              <a:sym typeface="Arial"/>
            </a:endParaRPr>
          </a:p>
        </p:txBody>
      </p:sp>
      <p:sp>
        <p:nvSpPr>
          <p:cNvPr id="1397" name="Google Shape;1397;h4f8be8f1b2c30ea5_0_388"/>
          <p:cNvSpPr/>
          <p:nvPr/>
        </p:nvSpPr>
        <p:spPr>
          <a:xfrm rot="5400000">
            <a:off x="1883300" y="1356725"/>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398" name="Google Shape;1398;h4f8be8f1b2c30ea5_0_388"/>
          <p:cNvSpPr txBox="1"/>
          <p:nvPr/>
        </p:nvSpPr>
        <p:spPr>
          <a:xfrm>
            <a:off x="1251338" y="974325"/>
            <a:ext cx="14655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input layer</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sz="1600">
                <a:solidFill>
                  <a:srgbClr val="0000FF"/>
                </a:solidFill>
                <a:latin typeface="Comfortaa"/>
                <a:ea typeface="Comfortaa"/>
                <a:cs typeface="Comfortaa"/>
                <a:sym typeface="Comfortaa"/>
              </a:rPr>
              <a:t>(vector x)</a:t>
            </a:r>
            <a:endParaRPr sz="1600">
              <a:solidFill>
                <a:srgbClr val="0000FF"/>
              </a:solidFill>
              <a:latin typeface="Comfortaa"/>
              <a:ea typeface="Comfortaa"/>
              <a:cs typeface="Comfortaa"/>
              <a:sym typeface="Comfortaa"/>
            </a:endParaRPr>
          </a:p>
        </p:txBody>
      </p:sp>
      <p:sp>
        <p:nvSpPr>
          <p:cNvPr id="1399" name="Google Shape;1399;h4f8be8f1b2c30ea5_0_388"/>
          <p:cNvSpPr/>
          <p:nvPr/>
        </p:nvSpPr>
        <p:spPr>
          <a:xfrm rot="5400000">
            <a:off x="4884075" y="1356725"/>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400" name="Google Shape;1400;h4f8be8f1b2c30ea5_0_388"/>
          <p:cNvSpPr txBox="1"/>
          <p:nvPr/>
        </p:nvSpPr>
        <p:spPr>
          <a:xfrm>
            <a:off x="4153275" y="974325"/>
            <a:ext cx="1663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output layer</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a:solidFill>
                  <a:srgbClr val="0000FF"/>
                </a:solidFill>
                <a:latin typeface="Comfortaa"/>
                <a:ea typeface="Comfortaa"/>
                <a:cs typeface="Comfortaa"/>
                <a:sym typeface="Comfortaa"/>
              </a:rPr>
              <a:t>(</a:t>
            </a:r>
            <a:r>
              <a:rPr lang="pt-BR" sz="1600">
                <a:solidFill>
                  <a:srgbClr val="0000FF"/>
                </a:solidFill>
                <a:latin typeface="Comfortaa"/>
                <a:ea typeface="Comfortaa"/>
                <a:cs typeface="Comfortaa"/>
                <a:sym typeface="Comfortaa"/>
              </a:rPr>
              <a:t>σ node</a:t>
            </a:r>
            <a:r>
              <a:rPr lang="pt-BR">
                <a:solidFill>
                  <a:srgbClr val="0000FF"/>
                </a:solidFill>
                <a:latin typeface="Comfortaa"/>
                <a:ea typeface="Comfortaa"/>
                <a:cs typeface="Comfortaa"/>
                <a:sym typeface="Comfortaa"/>
              </a:rPr>
              <a:t>)</a:t>
            </a:r>
            <a:endParaRPr>
              <a:solidFill>
                <a:srgbClr val="0000FF"/>
              </a:solidFill>
              <a:latin typeface="Comfortaa"/>
              <a:ea typeface="Comfortaa"/>
              <a:cs typeface="Comfortaa"/>
              <a:sym typeface="Comfortaa"/>
            </a:endParaRPr>
          </a:p>
        </p:txBody>
      </p:sp>
      <p:sp>
        <p:nvSpPr>
          <p:cNvPr id="1401" name="Google Shape;1401;h4f8be8f1b2c30ea5_0_388"/>
          <p:cNvSpPr txBox="1"/>
          <p:nvPr/>
        </p:nvSpPr>
        <p:spPr>
          <a:xfrm>
            <a:off x="2612088" y="1692313"/>
            <a:ext cx="1744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r>
              <a:rPr lang="pt-BR" sz="1800">
                <a:solidFill>
                  <a:srgbClr val="0000FF"/>
                </a:solidFill>
                <a:latin typeface="Comfortaa"/>
                <a:ea typeface="Comfortaa"/>
                <a:cs typeface="Comfortaa"/>
                <a:sym typeface="Comfortaa"/>
              </a:rPr>
              <a:t> is a vector</a:t>
            </a:r>
            <a:endParaRPr sz="1800">
              <a:solidFill>
                <a:srgbClr val="0000FF"/>
              </a:solidFill>
              <a:latin typeface="Comfortaa"/>
              <a:ea typeface="Comfortaa"/>
              <a:cs typeface="Comfortaa"/>
              <a:sym typeface="Comfortaa"/>
            </a:endParaRPr>
          </a:p>
        </p:txBody>
      </p:sp>
      <p:cxnSp>
        <p:nvCxnSpPr>
          <p:cNvPr id="1402" name="Google Shape;1402;h4f8be8f1b2c30ea5_0_388"/>
          <p:cNvCxnSpPr>
            <a:stCxn id="1387" idx="6"/>
          </p:cNvCxnSpPr>
          <p:nvPr/>
        </p:nvCxnSpPr>
        <p:spPr>
          <a:xfrm>
            <a:off x="2180901" y="2770899"/>
            <a:ext cx="2550000" cy="165300"/>
          </a:xfrm>
          <a:prstGeom prst="straightConnector1">
            <a:avLst/>
          </a:prstGeom>
          <a:noFill/>
          <a:ln cap="flat" cmpd="sng" w="20500">
            <a:solidFill>
              <a:srgbClr val="666666"/>
            </a:solidFill>
            <a:prstDash val="solid"/>
            <a:round/>
            <a:headEnd len="sm" w="sm" type="none"/>
            <a:tailEnd len="med" w="med" type="triangle"/>
          </a:ln>
        </p:spPr>
      </p:cxnSp>
      <p:cxnSp>
        <p:nvCxnSpPr>
          <p:cNvPr id="1403" name="Google Shape;1403;h4f8be8f1b2c30ea5_0_388"/>
          <p:cNvCxnSpPr>
            <a:stCxn id="1388" idx="6"/>
          </p:cNvCxnSpPr>
          <p:nvPr/>
        </p:nvCxnSpPr>
        <p:spPr>
          <a:xfrm flipH="1" rot="10800000">
            <a:off x="2180920" y="3060073"/>
            <a:ext cx="2543100" cy="286800"/>
          </a:xfrm>
          <a:prstGeom prst="straightConnector1">
            <a:avLst/>
          </a:prstGeom>
          <a:noFill/>
          <a:ln cap="flat" cmpd="sng" w="20500">
            <a:solidFill>
              <a:srgbClr val="666666"/>
            </a:solidFill>
            <a:prstDash val="solid"/>
            <a:round/>
            <a:headEnd len="sm" w="sm" type="none"/>
            <a:tailEnd len="med" w="med" type="triangle"/>
          </a:ln>
        </p:spPr>
      </p:cxnSp>
      <p:cxnSp>
        <p:nvCxnSpPr>
          <p:cNvPr id="1404" name="Google Shape;1404;h4f8be8f1b2c30ea5_0_388"/>
          <p:cNvCxnSpPr>
            <a:stCxn id="1389" idx="6"/>
            <a:endCxn id="1396" idx="3"/>
          </p:cNvCxnSpPr>
          <p:nvPr/>
        </p:nvCxnSpPr>
        <p:spPr>
          <a:xfrm flipH="1" rot="10800000">
            <a:off x="2180920" y="3181467"/>
            <a:ext cx="2625000" cy="993600"/>
          </a:xfrm>
          <a:prstGeom prst="straightConnector1">
            <a:avLst/>
          </a:prstGeom>
          <a:noFill/>
          <a:ln cap="flat" cmpd="sng" w="20500">
            <a:solidFill>
              <a:srgbClr val="666666"/>
            </a:solidFill>
            <a:prstDash val="solid"/>
            <a:round/>
            <a:headEnd len="sm" w="sm" type="none"/>
            <a:tailEnd len="med" w="med" type="triangle"/>
          </a:ln>
        </p:spPr>
      </p:cxnSp>
      <p:cxnSp>
        <p:nvCxnSpPr>
          <p:cNvPr id="1405" name="Google Shape;1405;h4f8be8f1b2c30ea5_0_388"/>
          <p:cNvCxnSpPr>
            <a:stCxn id="1391" idx="3"/>
            <a:endCxn id="1396" idx="1"/>
          </p:cNvCxnSpPr>
          <p:nvPr/>
        </p:nvCxnSpPr>
        <p:spPr>
          <a:xfrm>
            <a:off x="2180913" y="2194888"/>
            <a:ext cx="2625000" cy="628500"/>
          </a:xfrm>
          <a:prstGeom prst="straightConnector1">
            <a:avLst/>
          </a:prstGeom>
          <a:noFill/>
          <a:ln cap="flat" cmpd="sng" w="20500">
            <a:solidFill>
              <a:srgbClr val="666666"/>
            </a:solidFill>
            <a:prstDash val="solid"/>
            <a:round/>
            <a:headEnd len="sm" w="sm" type="none"/>
            <a:tailEnd len="med" w="med" type="triangle"/>
          </a:ln>
        </p:spPr>
      </p:cxnSp>
      <p:pic>
        <p:nvPicPr>
          <p:cNvPr id="1406" name="Google Shape;1406;h4f8be8f1b2c30ea5_0_388"/>
          <p:cNvPicPr preferRelativeResize="0"/>
          <p:nvPr/>
        </p:nvPicPr>
        <p:blipFill>
          <a:blip r:embed="rId3">
            <a:alphaModFix/>
          </a:blip>
          <a:stretch>
            <a:fillRect/>
          </a:stretch>
        </p:blipFill>
        <p:spPr>
          <a:xfrm>
            <a:off x="4058017" y="4055679"/>
            <a:ext cx="2018700" cy="419344"/>
          </a:xfrm>
          <a:prstGeom prst="rect">
            <a:avLst/>
          </a:prstGeom>
          <a:noFill/>
          <a:ln>
            <a:noFill/>
          </a:ln>
        </p:spPr>
      </p:pic>
      <p:sp>
        <p:nvSpPr>
          <p:cNvPr id="1407" name="Google Shape;1407;h4f8be8f1b2c30ea5_0_388"/>
          <p:cNvSpPr txBox="1"/>
          <p:nvPr/>
        </p:nvSpPr>
        <p:spPr>
          <a:xfrm>
            <a:off x="4356075" y="4487525"/>
            <a:ext cx="1601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y is a scalar</a:t>
            </a:r>
            <a:endParaRPr sz="1800">
              <a:solidFill>
                <a:srgbClr val="0000FF"/>
              </a:solidFill>
              <a:latin typeface="Comfortaa"/>
              <a:ea typeface="Comfortaa"/>
              <a:cs typeface="Comfortaa"/>
              <a:sym typeface="Comfortaa"/>
            </a:endParaRPr>
          </a:p>
        </p:txBody>
      </p:sp>
      <p:sp>
        <p:nvSpPr>
          <p:cNvPr id="1408" name="Google Shape;1408;h4f8be8f1b2c30ea5_0_388"/>
          <p:cNvSpPr txBox="1"/>
          <p:nvPr/>
        </p:nvSpPr>
        <p:spPr>
          <a:xfrm>
            <a:off x="3340488" y="2574973"/>
            <a:ext cx="2940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0" i="1" lang="pt-BR" sz="1241" strike="noStrike">
                <a:latin typeface="Arial"/>
                <a:ea typeface="Arial"/>
                <a:cs typeface="Arial"/>
                <a:sym typeface="Arial"/>
              </a:rPr>
              <a:t>w</a:t>
            </a:r>
            <a:r>
              <a:rPr b="0" baseline="-25000" i="1"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1409" name="Google Shape;1409;h4f8be8f1b2c30ea5_0_388"/>
          <p:cNvSpPr txBox="1"/>
          <p:nvPr/>
        </p:nvSpPr>
        <p:spPr>
          <a:xfrm>
            <a:off x="3340488" y="2913803"/>
            <a:ext cx="2940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0" i="1" lang="pt-BR" sz="1241" strike="noStrike">
                <a:latin typeface="Arial"/>
                <a:ea typeface="Arial"/>
                <a:cs typeface="Arial"/>
                <a:sym typeface="Arial"/>
              </a:rPr>
              <a:t>w</a:t>
            </a:r>
            <a:r>
              <a:rPr b="0" baseline="-25000" i="1"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1410" name="Google Shape;1410;h4f8be8f1b2c30ea5_0_388"/>
          <p:cNvSpPr txBox="1"/>
          <p:nvPr/>
        </p:nvSpPr>
        <p:spPr>
          <a:xfrm>
            <a:off x="3340488" y="3370842"/>
            <a:ext cx="2940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b="0" i="1" lang="pt-BR" sz="1241" strike="noStrike">
                <a:latin typeface="Arial"/>
                <a:ea typeface="Arial"/>
                <a:cs typeface="Arial"/>
                <a:sym typeface="Arial"/>
              </a:rPr>
              <a:t>w</a:t>
            </a:r>
            <a:r>
              <a:rPr baseline="-25000" i="1" lang="pt-BR" sz="1241"/>
              <a:t>n</a:t>
            </a:r>
            <a:endParaRPr b="0" sz="1241" strike="noStrike">
              <a:latin typeface="Arial"/>
              <a:ea typeface="Arial"/>
              <a:cs typeface="Arial"/>
              <a:sym typeface="Arial"/>
            </a:endParaRPr>
          </a:p>
        </p:txBody>
      </p:sp>
      <p:sp>
        <p:nvSpPr>
          <p:cNvPr id="1411" name="Google Shape;1411;h4f8be8f1b2c30ea5_0_388"/>
          <p:cNvSpPr txBox="1"/>
          <p:nvPr/>
        </p:nvSpPr>
        <p:spPr>
          <a:xfrm>
            <a:off x="3340488" y="2194903"/>
            <a:ext cx="294000" cy="243600"/>
          </a:xfrm>
          <a:prstGeom prst="rect">
            <a:avLst/>
          </a:prstGeom>
          <a:noFill/>
          <a:ln>
            <a:noFill/>
          </a:ln>
        </p:spPr>
        <p:txBody>
          <a:bodyPr anchorCtr="0" anchor="t" bIns="31650" lIns="63300" spcFirstLastPara="1" rIns="63300" wrap="square" tIns="31650">
            <a:noAutofit/>
          </a:bodyPr>
          <a:lstStyle/>
          <a:p>
            <a:pPr indent="0" lvl="0" marL="0" marR="0" rtl="0" algn="l">
              <a:spcBef>
                <a:spcPts val="0"/>
              </a:spcBef>
              <a:spcAft>
                <a:spcPts val="0"/>
              </a:spcAft>
              <a:buNone/>
            </a:pPr>
            <a:r>
              <a:rPr i="1" lang="pt-BR" sz="1241"/>
              <a:t>w</a:t>
            </a:r>
            <a:r>
              <a:rPr baseline="-25000" i="1" lang="pt-BR" sz="1241"/>
              <a:t>0</a:t>
            </a:r>
            <a:endParaRPr b="0" baseline="-25000" sz="1241" strike="noStrike">
              <a:latin typeface="Arial"/>
              <a:ea typeface="Arial"/>
              <a:cs typeface="Arial"/>
              <a:sym typeface="Arial"/>
            </a:endParaRPr>
          </a:p>
        </p:txBody>
      </p:sp>
      <p:sp>
        <p:nvSpPr>
          <p:cNvPr id="1412" name="Google Shape;1412;h4f8be8f1b2c30ea5_0_388"/>
          <p:cNvSpPr txBox="1"/>
          <p:nvPr/>
        </p:nvSpPr>
        <p:spPr>
          <a:xfrm>
            <a:off x="107425" y="4658825"/>
            <a:ext cx="25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adapted from (Jurafsky, 2026)</a:t>
            </a:r>
            <a:endParaRPr sz="1200">
              <a:solidFill>
                <a:srgbClr val="434343"/>
              </a:solidFill>
              <a:latin typeface="Comfortaa"/>
              <a:ea typeface="Comfortaa"/>
              <a:cs typeface="Comfortaa"/>
              <a:sym typeface="Comfortaa"/>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h4f8be8f1b2c30ea5_0_485"/>
          <p:cNvSpPr txBox="1"/>
          <p:nvPr>
            <p:ph type="title"/>
          </p:nvPr>
        </p:nvSpPr>
        <p:spPr>
          <a:xfrm>
            <a:off x="311700" y="33425"/>
            <a:ext cx="8520600" cy="56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300"/>
              <a:t>Multinomial Logistic Regression as a 1-layer Network</a:t>
            </a:r>
            <a:endParaRPr sz="3100"/>
          </a:p>
        </p:txBody>
      </p:sp>
      <p:sp>
        <p:nvSpPr>
          <p:cNvPr id="1418" name="Google Shape;1418;h4f8be8f1b2c30ea5_0_485"/>
          <p:cNvSpPr/>
          <p:nvPr/>
        </p:nvSpPr>
        <p:spPr>
          <a:xfrm>
            <a:off x="1674501" y="251769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1419" name="Google Shape;1419;h4f8be8f1b2c30ea5_0_485"/>
          <p:cNvSpPr/>
          <p:nvPr/>
        </p:nvSpPr>
        <p:spPr>
          <a:xfrm>
            <a:off x="1674520" y="3093673"/>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1420" name="Google Shape;1420;h4f8be8f1b2c30ea5_0_485"/>
          <p:cNvSpPr/>
          <p:nvPr/>
        </p:nvSpPr>
        <p:spPr>
          <a:xfrm>
            <a:off x="1674520" y="3921867"/>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1421" name="Google Shape;1421;h4f8be8f1b2c30ea5_0_485"/>
          <p:cNvSpPr/>
          <p:nvPr/>
        </p:nvSpPr>
        <p:spPr>
          <a:xfrm>
            <a:off x="1674501" y="19417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422" name="Google Shape;1422;h4f8be8f1b2c30ea5_0_485"/>
          <p:cNvSpPr txBox="1"/>
          <p:nvPr/>
        </p:nvSpPr>
        <p:spPr>
          <a:xfrm>
            <a:off x="1674513" y="20277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grpSp>
        <p:nvGrpSpPr>
          <p:cNvPr id="1423" name="Google Shape;1423;h4f8be8f1b2c30ea5_0_485"/>
          <p:cNvGrpSpPr/>
          <p:nvPr/>
        </p:nvGrpSpPr>
        <p:grpSpPr>
          <a:xfrm>
            <a:off x="1799233" y="3693931"/>
            <a:ext cx="288564" cy="74448"/>
            <a:chOff x="3272500" y="3440675"/>
            <a:chExt cx="372100" cy="96000"/>
          </a:xfrm>
        </p:grpSpPr>
        <p:sp>
          <p:nvSpPr>
            <p:cNvPr id="1424" name="Google Shape;1424;h4f8be8f1b2c30ea5_0_485"/>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425" name="Google Shape;1425;h4f8be8f1b2c30ea5_0_485"/>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426" name="Google Shape;1426;h4f8be8f1b2c30ea5_0_485"/>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1427" name="Google Shape;1427;h4f8be8f1b2c30ea5_0_485"/>
          <p:cNvSpPr/>
          <p:nvPr/>
        </p:nvSpPr>
        <p:spPr>
          <a:xfrm>
            <a:off x="4731676" y="274926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S</a:t>
            </a:r>
            <a:endParaRPr b="0" sz="1241" strike="noStrike">
              <a:latin typeface="Arial"/>
              <a:ea typeface="Arial"/>
              <a:cs typeface="Arial"/>
              <a:sym typeface="Arial"/>
            </a:endParaRPr>
          </a:p>
        </p:txBody>
      </p:sp>
      <p:sp>
        <p:nvSpPr>
          <p:cNvPr id="1428" name="Google Shape;1428;h4f8be8f1b2c30ea5_0_485"/>
          <p:cNvSpPr/>
          <p:nvPr/>
        </p:nvSpPr>
        <p:spPr>
          <a:xfrm rot="5400000">
            <a:off x="1883300" y="1356725"/>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429" name="Google Shape;1429;h4f8be8f1b2c30ea5_0_485"/>
          <p:cNvSpPr txBox="1"/>
          <p:nvPr/>
        </p:nvSpPr>
        <p:spPr>
          <a:xfrm>
            <a:off x="1251338" y="974325"/>
            <a:ext cx="14655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input layer</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sz="1600">
                <a:solidFill>
                  <a:srgbClr val="0000FF"/>
                </a:solidFill>
                <a:latin typeface="Comfortaa"/>
                <a:ea typeface="Comfortaa"/>
                <a:cs typeface="Comfortaa"/>
                <a:sym typeface="Comfortaa"/>
              </a:rPr>
              <a:t>(vector x)</a:t>
            </a:r>
            <a:endParaRPr sz="1600">
              <a:solidFill>
                <a:srgbClr val="0000FF"/>
              </a:solidFill>
              <a:latin typeface="Comfortaa"/>
              <a:ea typeface="Comfortaa"/>
              <a:cs typeface="Comfortaa"/>
              <a:sym typeface="Comfortaa"/>
            </a:endParaRPr>
          </a:p>
        </p:txBody>
      </p:sp>
      <p:sp>
        <p:nvSpPr>
          <p:cNvPr id="1430" name="Google Shape;1430;h4f8be8f1b2c30ea5_0_485"/>
          <p:cNvSpPr/>
          <p:nvPr/>
        </p:nvSpPr>
        <p:spPr>
          <a:xfrm rot="5400000">
            <a:off x="4884075" y="1356725"/>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431" name="Google Shape;1431;h4f8be8f1b2c30ea5_0_485"/>
          <p:cNvSpPr txBox="1"/>
          <p:nvPr/>
        </p:nvSpPr>
        <p:spPr>
          <a:xfrm>
            <a:off x="4153275" y="1004925"/>
            <a:ext cx="16632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output layer</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a:solidFill>
                  <a:srgbClr val="0000FF"/>
                </a:solidFill>
                <a:latin typeface="Comfortaa"/>
                <a:ea typeface="Comfortaa"/>
                <a:cs typeface="Comfortaa"/>
                <a:sym typeface="Comfortaa"/>
              </a:rPr>
              <a:t>(softmax nodes)</a:t>
            </a:r>
            <a:endParaRPr>
              <a:solidFill>
                <a:srgbClr val="0000FF"/>
              </a:solidFill>
              <a:latin typeface="Comfortaa"/>
              <a:ea typeface="Comfortaa"/>
              <a:cs typeface="Comfortaa"/>
              <a:sym typeface="Comfortaa"/>
            </a:endParaRPr>
          </a:p>
        </p:txBody>
      </p:sp>
      <p:sp>
        <p:nvSpPr>
          <p:cNvPr id="1432" name="Google Shape;1432;h4f8be8f1b2c30ea5_0_485"/>
          <p:cNvSpPr txBox="1"/>
          <p:nvPr/>
        </p:nvSpPr>
        <p:spPr>
          <a:xfrm>
            <a:off x="4360700" y="4478325"/>
            <a:ext cx="1601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y is a vector</a:t>
            </a:r>
            <a:endParaRPr sz="1800">
              <a:solidFill>
                <a:srgbClr val="0000FF"/>
              </a:solidFill>
              <a:latin typeface="Comfortaa"/>
              <a:ea typeface="Comfortaa"/>
              <a:cs typeface="Comfortaa"/>
              <a:sym typeface="Comfortaa"/>
            </a:endParaRPr>
          </a:p>
        </p:txBody>
      </p:sp>
      <p:sp>
        <p:nvSpPr>
          <p:cNvPr id="1433" name="Google Shape;1433;h4f8be8f1b2c30ea5_0_485"/>
          <p:cNvSpPr txBox="1"/>
          <p:nvPr/>
        </p:nvSpPr>
        <p:spPr>
          <a:xfrm>
            <a:off x="2612088" y="1692313"/>
            <a:ext cx="1744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 is a matrix</a:t>
            </a:r>
            <a:endParaRPr sz="1800">
              <a:solidFill>
                <a:srgbClr val="0000FF"/>
              </a:solidFill>
              <a:latin typeface="Comfortaa"/>
              <a:ea typeface="Comfortaa"/>
              <a:cs typeface="Comfortaa"/>
              <a:sym typeface="Comfortaa"/>
            </a:endParaRPr>
          </a:p>
        </p:txBody>
      </p:sp>
      <p:sp>
        <p:nvSpPr>
          <p:cNvPr id="1434" name="Google Shape;1434;h4f8be8f1b2c30ea5_0_485"/>
          <p:cNvSpPr/>
          <p:nvPr/>
        </p:nvSpPr>
        <p:spPr>
          <a:xfrm>
            <a:off x="4702126" y="213276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S</a:t>
            </a:r>
            <a:endParaRPr b="0" sz="1241" strike="noStrike">
              <a:latin typeface="Arial"/>
              <a:ea typeface="Arial"/>
              <a:cs typeface="Arial"/>
              <a:sym typeface="Arial"/>
            </a:endParaRPr>
          </a:p>
        </p:txBody>
      </p:sp>
      <p:sp>
        <p:nvSpPr>
          <p:cNvPr id="1435" name="Google Shape;1435;h4f8be8f1b2c30ea5_0_485"/>
          <p:cNvSpPr/>
          <p:nvPr/>
        </p:nvSpPr>
        <p:spPr>
          <a:xfrm>
            <a:off x="4731676" y="33543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S</a:t>
            </a:r>
            <a:endParaRPr b="0" sz="1241" strike="noStrike">
              <a:latin typeface="Arial"/>
              <a:ea typeface="Arial"/>
              <a:cs typeface="Arial"/>
              <a:sym typeface="Arial"/>
            </a:endParaRPr>
          </a:p>
        </p:txBody>
      </p:sp>
      <p:cxnSp>
        <p:nvCxnSpPr>
          <p:cNvPr id="1436" name="Google Shape;1436;h4f8be8f1b2c30ea5_0_485"/>
          <p:cNvCxnSpPr>
            <a:stCxn id="1422" idx="3"/>
            <a:endCxn id="1434" idx="1"/>
          </p:cNvCxnSpPr>
          <p:nvPr/>
        </p:nvCxnSpPr>
        <p:spPr>
          <a:xfrm>
            <a:off x="2180913" y="2194888"/>
            <a:ext cx="2595300" cy="12000"/>
          </a:xfrm>
          <a:prstGeom prst="straightConnector1">
            <a:avLst/>
          </a:prstGeom>
          <a:noFill/>
          <a:ln cap="flat" cmpd="sng" w="20500">
            <a:solidFill>
              <a:srgbClr val="B7B7B7"/>
            </a:solidFill>
            <a:prstDash val="solid"/>
            <a:round/>
            <a:headEnd len="sm" w="sm" type="none"/>
            <a:tailEnd len="med" w="med" type="triangle"/>
          </a:ln>
        </p:spPr>
      </p:cxnSp>
      <p:cxnSp>
        <p:nvCxnSpPr>
          <p:cNvPr id="1437" name="Google Shape;1437;h4f8be8f1b2c30ea5_0_485"/>
          <p:cNvCxnSpPr>
            <a:stCxn id="1418" idx="6"/>
          </p:cNvCxnSpPr>
          <p:nvPr/>
        </p:nvCxnSpPr>
        <p:spPr>
          <a:xfrm flipH="1" rot="10800000">
            <a:off x="2180901" y="2331099"/>
            <a:ext cx="2515500" cy="439800"/>
          </a:xfrm>
          <a:prstGeom prst="straightConnector1">
            <a:avLst/>
          </a:prstGeom>
          <a:noFill/>
          <a:ln cap="flat" cmpd="sng" w="20500">
            <a:solidFill>
              <a:srgbClr val="B7B7B7"/>
            </a:solidFill>
            <a:prstDash val="solid"/>
            <a:round/>
            <a:headEnd len="sm" w="sm" type="none"/>
            <a:tailEnd len="med" w="med" type="triangle"/>
          </a:ln>
        </p:spPr>
      </p:cxnSp>
      <p:cxnSp>
        <p:nvCxnSpPr>
          <p:cNvPr id="1438" name="Google Shape;1438;h4f8be8f1b2c30ea5_0_485"/>
          <p:cNvCxnSpPr>
            <a:stCxn id="1419" idx="6"/>
          </p:cNvCxnSpPr>
          <p:nvPr/>
        </p:nvCxnSpPr>
        <p:spPr>
          <a:xfrm flipH="1" rot="10800000">
            <a:off x="2180920" y="2468473"/>
            <a:ext cx="2529300" cy="878400"/>
          </a:xfrm>
          <a:prstGeom prst="straightConnector1">
            <a:avLst/>
          </a:prstGeom>
          <a:noFill/>
          <a:ln cap="flat" cmpd="sng" w="20500">
            <a:solidFill>
              <a:srgbClr val="B7B7B7"/>
            </a:solidFill>
            <a:prstDash val="solid"/>
            <a:round/>
            <a:headEnd len="sm" w="sm" type="none"/>
            <a:tailEnd len="med" w="med" type="triangle"/>
          </a:ln>
        </p:spPr>
      </p:cxnSp>
      <p:cxnSp>
        <p:nvCxnSpPr>
          <p:cNvPr id="1439" name="Google Shape;1439;h4f8be8f1b2c30ea5_0_485"/>
          <p:cNvCxnSpPr>
            <a:stCxn id="1420" idx="6"/>
            <a:endCxn id="1434" idx="3"/>
          </p:cNvCxnSpPr>
          <p:nvPr/>
        </p:nvCxnSpPr>
        <p:spPr>
          <a:xfrm flipH="1" rot="10800000">
            <a:off x="2180920" y="2564967"/>
            <a:ext cx="2595300" cy="1610100"/>
          </a:xfrm>
          <a:prstGeom prst="straightConnector1">
            <a:avLst/>
          </a:prstGeom>
          <a:noFill/>
          <a:ln cap="flat" cmpd="sng" w="20500">
            <a:solidFill>
              <a:srgbClr val="B7B7B7"/>
            </a:solidFill>
            <a:prstDash val="solid"/>
            <a:round/>
            <a:headEnd len="sm" w="sm" type="none"/>
            <a:tailEnd len="med" w="med" type="triangle"/>
          </a:ln>
        </p:spPr>
      </p:cxnSp>
      <p:cxnSp>
        <p:nvCxnSpPr>
          <p:cNvPr id="1440" name="Google Shape;1440;h4f8be8f1b2c30ea5_0_485"/>
          <p:cNvCxnSpPr>
            <a:stCxn id="1418" idx="6"/>
          </p:cNvCxnSpPr>
          <p:nvPr/>
        </p:nvCxnSpPr>
        <p:spPr>
          <a:xfrm>
            <a:off x="2180901" y="2770899"/>
            <a:ext cx="2550000" cy="165300"/>
          </a:xfrm>
          <a:prstGeom prst="straightConnector1">
            <a:avLst/>
          </a:prstGeom>
          <a:noFill/>
          <a:ln cap="flat" cmpd="sng" w="20500">
            <a:solidFill>
              <a:srgbClr val="666666"/>
            </a:solidFill>
            <a:prstDash val="solid"/>
            <a:round/>
            <a:headEnd len="sm" w="sm" type="none"/>
            <a:tailEnd len="med" w="med" type="triangle"/>
          </a:ln>
        </p:spPr>
      </p:cxnSp>
      <p:cxnSp>
        <p:nvCxnSpPr>
          <p:cNvPr id="1441" name="Google Shape;1441;h4f8be8f1b2c30ea5_0_485"/>
          <p:cNvCxnSpPr>
            <a:stCxn id="1419" idx="6"/>
          </p:cNvCxnSpPr>
          <p:nvPr/>
        </p:nvCxnSpPr>
        <p:spPr>
          <a:xfrm flipH="1" rot="10800000">
            <a:off x="2180920" y="3060073"/>
            <a:ext cx="2543100" cy="286800"/>
          </a:xfrm>
          <a:prstGeom prst="straightConnector1">
            <a:avLst/>
          </a:prstGeom>
          <a:noFill/>
          <a:ln cap="flat" cmpd="sng" w="20500">
            <a:solidFill>
              <a:srgbClr val="666666"/>
            </a:solidFill>
            <a:prstDash val="solid"/>
            <a:round/>
            <a:headEnd len="sm" w="sm" type="none"/>
            <a:tailEnd len="med" w="med" type="triangle"/>
          </a:ln>
        </p:spPr>
      </p:cxnSp>
      <p:cxnSp>
        <p:nvCxnSpPr>
          <p:cNvPr id="1442" name="Google Shape;1442;h4f8be8f1b2c30ea5_0_485"/>
          <p:cNvCxnSpPr>
            <a:stCxn id="1420" idx="6"/>
            <a:endCxn id="1427" idx="3"/>
          </p:cNvCxnSpPr>
          <p:nvPr/>
        </p:nvCxnSpPr>
        <p:spPr>
          <a:xfrm flipH="1" rot="10800000">
            <a:off x="2180920" y="3181467"/>
            <a:ext cx="2625000" cy="993600"/>
          </a:xfrm>
          <a:prstGeom prst="straightConnector1">
            <a:avLst/>
          </a:prstGeom>
          <a:noFill/>
          <a:ln cap="flat" cmpd="sng" w="20500">
            <a:solidFill>
              <a:srgbClr val="666666"/>
            </a:solidFill>
            <a:prstDash val="solid"/>
            <a:round/>
            <a:headEnd len="sm" w="sm" type="none"/>
            <a:tailEnd len="med" w="med" type="triangle"/>
          </a:ln>
        </p:spPr>
      </p:cxnSp>
      <p:cxnSp>
        <p:nvCxnSpPr>
          <p:cNvPr id="1443" name="Google Shape;1443;h4f8be8f1b2c30ea5_0_485"/>
          <p:cNvCxnSpPr>
            <a:stCxn id="1422" idx="3"/>
            <a:endCxn id="1427" idx="1"/>
          </p:cNvCxnSpPr>
          <p:nvPr/>
        </p:nvCxnSpPr>
        <p:spPr>
          <a:xfrm>
            <a:off x="2180913" y="2194888"/>
            <a:ext cx="2625000" cy="628500"/>
          </a:xfrm>
          <a:prstGeom prst="straightConnector1">
            <a:avLst/>
          </a:prstGeom>
          <a:noFill/>
          <a:ln cap="flat" cmpd="sng" w="20500">
            <a:solidFill>
              <a:srgbClr val="666666"/>
            </a:solidFill>
            <a:prstDash val="solid"/>
            <a:round/>
            <a:headEnd len="sm" w="sm" type="none"/>
            <a:tailEnd len="med" w="med" type="triangle"/>
          </a:ln>
        </p:spPr>
      </p:cxnSp>
      <p:cxnSp>
        <p:nvCxnSpPr>
          <p:cNvPr id="1444" name="Google Shape;1444;h4f8be8f1b2c30ea5_0_485"/>
          <p:cNvCxnSpPr>
            <a:stCxn id="1422" idx="3"/>
            <a:endCxn id="1435" idx="1"/>
          </p:cNvCxnSpPr>
          <p:nvPr/>
        </p:nvCxnSpPr>
        <p:spPr>
          <a:xfrm>
            <a:off x="2180913" y="2194888"/>
            <a:ext cx="2625000" cy="1233600"/>
          </a:xfrm>
          <a:prstGeom prst="straightConnector1">
            <a:avLst/>
          </a:prstGeom>
          <a:noFill/>
          <a:ln cap="flat" cmpd="sng" w="20500">
            <a:solidFill>
              <a:srgbClr val="000000"/>
            </a:solidFill>
            <a:prstDash val="solid"/>
            <a:round/>
            <a:headEnd len="sm" w="sm" type="none"/>
            <a:tailEnd len="med" w="med" type="triangle"/>
          </a:ln>
        </p:spPr>
      </p:cxnSp>
      <p:cxnSp>
        <p:nvCxnSpPr>
          <p:cNvPr id="1445" name="Google Shape;1445;h4f8be8f1b2c30ea5_0_485"/>
          <p:cNvCxnSpPr>
            <a:stCxn id="1420" idx="6"/>
            <a:endCxn id="1435" idx="3"/>
          </p:cNvCxnSpPr>
          <p:nvPr/>
        </p:nvCxnSpPr>
        <p:spPr>
          <a:xfrm flipH="1" rot="10800000">
            <a:off x="2180920" y="3786567"/>
            <a:ext cx="2625000" cy="388500"/>
          </a:xfrm>
          <a:prstGeom prst="straightConnector1">
            <a:avLst/>
          </a:prstGeom>
          <a:noFill/>
          <a:ln cap="flat" cmpd="sng" w="20500">
            <a:solidFill>
              <a:srgbClr val="000000"/>
            </a:solidFill>
            <a:prstDash val="solid"/>
            <a:round/>
            <a:headEnd len="sm" w="sm" type="none"/>
            <a:tailEnd len="med" w="med" type="triangle"/>
          </a:ln>
        </p:spPr>
      </p:cxnSp>
      <p:cxnSp>
        <p:nvCxnSpPr>
          <p:cNvPr id="1446" name="Google Shape;1446;h4f8be8f1b2c30ea5_0_485"/>
          <p:cNvCxnSpPr>
            <a:stCxn id="1418" idx="6"/>
          </p:cNvCxnSpPr>
          <p:nvPr/>
        </p:nvCxnSpPr>
        <p:spPr>
          <a:xfrm>
            <a:off x="2180901" y="2770899"/>
            <a:ext cx="2529300" cy="777300"/>
          </a:xfrm>
          <a:prstGeom prst="straightConnector1">
            <a:avLst/>
          </a:prstGeom>
          <a:noFill/>
          <a:ln cap="flat" cmpd="sng" w="20500">
            <a:solidFill>
              <a:srgbClr val="000000"/>
            </a:solidFill>
            <a:prstDash val="solid"/>
            <a:round/>
            <a:headEnd len="sm" w="sm" type="none"/>
            <a:tailEnd len="med" w="med" type="triangle"/>
          </a:ln>
        </p:spPr>
      </p:cxnSp>
      <p:cxnSp>
        <p:nvCxnSpPr>
          <p:cNvPr id="1447" name="Google Shape;1447;h4f8be8f1b2c30ea5_0_485"/>
          <p:cNvCxnSpPr>
            <a:stCxn id="1419" idx="6"/>
          </p:cNvCxnSpPr>
          <p:nvPr/>
        </p:nvCxnSpPr>
        <p:spPr>
          <a:xfrm>
            <a:off x="2180920" y="3346873"/>
            <a:ext cx="2543100" cy="318300"/>
          </a:xfrm>
          <a:prstGeom prst="straightConnector1">
            <a:avLst/>
          </a:prstGeom>
          <a:noFill/>
          <a:ln cap="flat" cmpd="sng" w="20500">
            <a:solidFill>
              <a:srgbClr val="000000"/>
            </a:solidFill>
            <a:prstDash val="solid"/>
            <a:round/>
            <a:headEnd len="sm" w="sm" type="none"/>
            <a:tailEnd len="med" w="med" type="triangle"/>
          </a:ln>
        </p:spPr>
      </p:cxnSp>
      <p:pic>
        <p:nvPicPr>
          <p:cNvPr id="1448" name="Google Shape;1448;h4f8be8f1b2c30ea5_0_485"/>
          <p:cNvPicPr preferRelativeResize="0"/>
          <p:nvPr/>
        </p:nvPicPr>
        <p:blipFill>
          <a:blip r:embed="rId3">
            <a:alphaModFix/>
          </a:blip>
          <a:stretch>
            <a:fillRect/>
          </a:stretch>
        </p:blipFill>
        <p:spPr>
          <a:xfrm>
            <a:off x="3616325" y="4071098"/>
            <a:ext cx="3080910" cy="388500"/>
          </a:xfrm>
          <a:prstGeom prst="rect">
            <a:avLst/>
          </a:prstGeom>
          <a:noFill/>
          <a:ln>
            <a:noFill/>
          </a:ln>
        </p:spPr>
      </p:pic>
      <p:sp>
        <p:nvSpPr>
          <p:cNvPr id="1449" name="Google Shape;1449;h4f8be8f1b2c30ea5_0_485"/>
          <p:cNvSpPr txBox="1"/>
          <p:nvPr/>
        </p:nvSpPr>
        <p:spPr>
          <a:xfrm>
            <a:off x="107425" y="4658825"/>
            <a:ext cx="25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adapted from (Jurafsky, 2026)</a:t>
            </a:r>
            <a:endParaRPr sz="1200">
              <a:solidFill>
                <a:srgbClr val="434343"/>
              </a:solidFill>
              <a:latin typeface="Comfortaa"/>
              <a:ea typeface="Comfortaa"/>
              <a:cs typeface="Comfortaa"/>
              <a:sym typeface="Comfortaa"/>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h4f8be8f1b2c30ea5_0_4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Softmax Function</a:t>
            </a:r>
            <a:endParaRPr/>
          </a:p>
        </p:txBody>
      </p:sp>
      <p:sp>
        <p:nvSpPr>
          <p:cNvPr id="1455" name="Google Shape;1455;h4f8be8f1b2c30ea5_0_430"/>
          <p:cNvSpPr txBox="1"/>
          <p:nvPr>
            <p:ph idx="1" type="body"/>
          </p:nvPr>
        </p:nvSpPr>
        <p:spPr>
          <a:xfrm>
            <a:off x="311700" y="1152475"/>
            <a:ext cx="8520600" cy="22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One </a:t>
            </a:r>
            <a:r>
              <a:rPr lang="pt-BR"/>
              <a:t>component</a:t>
            </a:r>
            <a:r>
              <a:rPr lang="pt-BR"/>
              <a:t>:</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a:t>Proportion of the component relative to the vector.</a:t>
            </a:r>
            <a:endParaRPr/>
          </a:p>
        </p:txBody>
      </p:sp>
      <p:pic>
        <p:nvPicPr>
          <p:cNvPr id="1456" name="Google Shape;1456;h4f8be8f1b2c30ea5_0_430"/>
          <p:cNvPicPr preferRelativeResize="0"/>
          <p:nvPr/>
        </p:nvPicPr>
        <p:blipFill>
          <a:blip r:embed="rId3">
            <a:alphaModFix/>
          </a:blip>
          <a:stretch>
            <a:fillRect/>
          </a:stretch>
        </p:blipFill>
        <p:spPr>
          <a:xfrm>
            <a:off x="3870725" y="1085098"/>
            <a:ext cx="3932299" cy="98952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 name="Shape 1460"/>
        <p:cNvGrpSpPr/>
        <p:nvPr/>
      </p:nvGrpSpPr>
      <p:grpSpPr>
        <a:xfrm>
          <a:off x="0" y="0"/>
          <a:ext cx="0" cy="0"/>
          <a:chOff x="0" y="0"/>
          <a:chExt cx="0" cy="0"/>
        </a:xfrm>
      </p:grpSpPr>
      <p:sp>
        <p:nvSpPr>
          <p:cNvPr id="1461" name="Google Shape;1461;h4f8be8f1b2c30ea5_0_437"/>
          <p:cNvSpPr txBox="1"/>
          <p:nvPr>
            <p:ph type="title"/>
          </p:nvPr>
        </p:nvSpPr>
        <p:spPr>
          <a:xfrm>
            <a:off x="311700" y="47279"/>
            <a:ext cx="8520600" cy="87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Softmax Function</a:t>
            </a:r>
            <a:endParaRPr/>
          </a:p>
          <a:p>
            <a:pPr indent="0" lvl="0" marL="0" rtl="0" algn="l">
              <a:spcBef>
                <a:spcPts val="0"/>
              </a:spcBef>
              <a:spcAft>
                <a:spcPts val="0"/>
              </a:spcAft>
              <a:buNone/>
            </a:pPr>
            <a:r>
              <a:rPr lang="pt-BR" sz="1800"/>
              <a:t>Reminder: softmax: a generalization of sigmoid</a:t>
            </a:r>
            <a:endParaRPr sz="1800"/>
          </a:p>
          <a:p>
            <a:pPr indent="0" lvl="0" marL="0" rtl="0" algn="l">
              <a:spcBef>
                <a:spcPts val="0"/>
              </a:spcBef>
              <a:spcAft>
                <a:spcPts val="0"/>
              </a:spcAft>
              <a:buNone/>
            </a:pPr>
            <a:r>
              <a:t/>
            </a:r>
            <a:endParaRPr/>
          </a:p>
        </p:txBody>
      </p:sp>
      <p:sp>
        <p:nvSpPr>
          <p:cNvPr id="1462" name="Google Shape;1462;h4f8be8f1b2c30ea5_0_437"/>
          <p:cNvSpPr txBox="1"/>
          <p:nvPr>
            <p:ph idx="1" type="body"/>
          </p:nvPr>
        </p:nvSpPr>
        <p:spPr>
          <a:xfrm>
            <a:off x="311700" y="989804"/>
            <a:ext cx="8520600" cy="6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600"/>
              <a:t>For a vector z of dimensionality k, the softmax is:</a:t>
            </a:r>
            <a:endParaRPr sz="2600"/>
          </a:p>
        </p:txBody>
      </p:sp>
      <p:pic>
        <p:nvPicPr>
          <p:cNvPr id="1463" name="Google Shape;1463;h4f8be8f1b2c30ea5_0_437"/>
          <p:cNvPicPr preferRelativeResize="0"/>
          <p:nvPr/>
        </p:nvPicPr>
        <p:blipFill>
          <a:blip r:embed="rId3">
            <a:alphaModFix/>
          </a:blip>
          <a:stretch>
            <a:fillRect/>
          </a:stretch>
        </p:blipFill>
        <p:spPr>
          <a:xfrm>
            <a:off x="311700" y="1607804"/>
            <a:ext cx="7857172" cy="1093405"/>
          </a:xfrm>
          <a:prstGeom prst="rect">
            <a:avLst/>
          </a:prstGeom>
          <a:noFill/>
          <a:ln>
            <a:noFill/>
          </a:ln>
        </p:spPr>
      </p:pic>
      <p:pic>
        <p:nvPicPr>
          <p:cNvPr id="1464" name="Google Shape;1464;h4f8be8f1b2c30ea5_0_437"/>
          <p:cNvPicPr preferRelativeResize="0"/>
          <p:nvPr/>
        </p:nvPicPr>
        <p:blipFill>
          <a:blip r:embed="rId4">
            <a:alphaModFix/>
          </a:blip>
          <a:stretch>
            <a:fillRect/>
          </a:stretch>
        </p:blipFill>
        <p:spPr>
          <a:xfrm>
            <a:off x="311700" y="2897243"/>
            <a:ext cx="4882745" cy="865212"/>
          </a:xfrm>
          <a:prstGeom prst="rect">
            <a:avLst/>
          </a:prstGeom>
          <a:noFill/>
          <a:ln>
            <a:noFill/>
          </a:ln>
        </p:spPr>
      </p:pic>
      <p:sp>
        <p:nvSpPr>
          <p:cNvPr id="1465" name="Google Shape;1465;h4f8be8f1b2c30ea5_0_437"/>
          <p:cNvSpPr txBox="1"/>
          <p:nvPr/>
        </p:nvSpPr>
        <p:spPr>
          <a:xfrm>
            <a:off x="311700" y="3762454"/>
            <a:ext cx="8520600" cy="124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2500">
                <a:solidFill>
                  <a:srgbClr val="434343"/>
                </a:solidFill>
                <a:latin typeface="Comfortaa"/>
                <a:ea typeface="Comfortaa"/>
                <a:cs typeface="Comfortaa"/>
                <a:sym typeface="Comfortaa"/>
              </a:rPr>
              <a:t>Example:</a:t>
            </a:r>
            <a:endParaRPr sz="2500">
              <a:solidFill>
                <a:srgbClr val="434343"/>
              </a:solidFill>
              <a:latin typeface="Comfortaa"/>
              <a:ea typeface="Comfortaa"/>
              <a:cs typeface="Comfortaa"/>
              <a:sym typeface="Comfortaa"/>
            </a:endParaRPr>
          </a:p>
          <a:p>
            <a:pPr indent="0" lvl="0" marL="0" rtl="0" algn="l">
              <a:spcBef>
                <a:spcPts val="0"/>
              </a:spcBef>
              <a:spcAft>
                <a:spcPts val="0"/>
              </a:spcAft>
              <a:buNone/>
            </a:pPr>
            <a:r>
              <a:rPr lang="pt-BR" sz="2500">
                <a:solidFill>
                  <a:srgbClr val="434343"/>
                </a:solidFill>
                <a:latin typeface="Comfortaa"/>
                <a:ea typeface="Comfortaa"/>
                <a:cs typeface="Comfortaa"/>
                <a:sym typeface="Comfortaa"/>
              </a:rPr>
              <a:t>	              </a:t>
            </a:r>
            <a:r>
              <a:rPr lang="pt-BR" sz="1900">
                <a:solidFill>
                  <a:srgbClr val="434343"/>
                </a:solidFill>
                <a:latin typeface="Courier New"/>
                <a:ea typeface="Courier New"/>
                <a:cs typeface="Courier New"/>
                <a:sym typeface="Courier New"/>
              </a:rPr>
              <a:t>z = [0.6,   1.1,  -1.5,   1.2,   3.2, -1.1]</a:t>
            </a:r>
            <a:endParaRPr sz="1900">
              <a:solidFill>
                <a:srgbClr val="434343"/>
              </a:solidFill>
              <a:latin typeface="Courier New"/>
              <a:ea typeface="Courier New"/>
              <a:cs typeface="Courier New"/>
              <a:sym typeface="Courier New"/>
            </a:endParaRPr>
          </a:p>
          <a:p>
            <a:pPr indent="457200" lvl="0" marL="0" rtl="0" algn="l">
              <a:spcBef>
                <a:spcPts val="0"/>
              </a:spcBef>
              <a:spcAft>
                <a:spcPts val="0"/>
              </a:spcAft>
              <a:buNone/>
            </a:pPr>
            <a:r>
              <a:rPr lang="pt-BR" sz="1900">
                <a:solidFill>
                  <a:srgbClr val="434343"/>
                </a:solidFill>
                <a:latin typeface="Courier New"/>
                <a:ea typeface="Courier New"/>
                <a:cs typeface="Courier New"/>
                <a:sym typeface="Courier New"/>
              </a:rPr>
              <a:t>softmax(z) = [0.055, 0.090, 0.006, 0.099, 0.74, 0.010]</a:t>
            </a:r>
            <a:endParaRPr sz="1900">
              <a:solidFill>
                <a:srgbClr val="434343"/>
              </a:solidFill>
              <a:latin typeface="Courier New"/>
              <a:ea typeface="Courier New"/>
              <a:cs typeface="Courier New"/>
              <a:sym typeface="Courier New"/>
            </a:endParaRPr>
          </a:p>
        </p:txBody>
      </p:sp>
      <p:sp>
        <p:nvSpPr>
          <p:cNvPr id="1466" name="Google Shape;1466;h4f8be8f1b2c30ea5_0_437"/>
          <p:cNvSpPr txBox="1"/>
          <p:nvPr/>
        </p:nvSpPr>
        <p:spPr>
          <a:xfrm>
            <a:off x="7439950" y="206950"/>
            <a:ext cx="1392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(Jurafsky, 2026)</a:t>
            </a:r>
            <a:endParaRPr sz="1200">
              <a:solidFill>
                <a:srgbClr val="434343"/>
              </a:solidFill>
              <a:latin typeface="Comfortaa"/>
              <a:ea typeface="Comfortaa"/>
              <a:cs typeface="Comfortaa"/>
              <a:sym typeface="Comfortaa"/>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h4f8be8f1b2c30ea5_0_528"/>
          <p:cNvSpPr txBox="1"/>
          <p:nvPr>
            <p:ph type="title"/>
          </p:nvPr>
        </p:nvSpPr>
        <p:spPr>
          <a:xfrm>
            <a:off x="311700" y="33425"/>
            <a:ext cx="8520600" cy="56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sz="3300"/>
              <a:t>Two-Layer Network with scalar output</a:t>
            </a:r>
            <a:endParaRPr sz="3100"/>
          </a:p>
        </p:txBody>
      </p:sp>
      <p:sp>
        <p:nvSpPr>
          <p:cNvPr id="1472" name="Google Shape;1472;h4f8be8f1b2c30ea5_0_528"/>
          <p:cNvSpPr/>
          <p:nvPr/>
        </p:nvSpPr>
        <p:spPr>
          <a:xfrm>
            <a:off x="1674501" y="251769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1473" name="Google Shape;1473;h4f8be8f1b2c30ea5_0_528"/>
          <p:cNvSpPr/>
          <p:nvPr/>
        </p:nvSpPr>
        <p:spPr>
          <a:xfrm>
            <a:off x="1674520" y="3093673"/>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1474" name="Google Shape;1474;h4f8be8f1b2c30ea5_0_528"/>
          <p:cNvSpPr/>
          <p:nvPr/>
        </p:nvSpPr>
        <p:spPr>
          <a:xfrm>
            <a:off x="1674520" y="3921867"/>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1475" name="Google Shape;1475;h4f8be8f1b2c30ea5_0_528"/>
          <p:cNvSpPr/>
          <p:nvPr/>
        </p:nvSpPr>
        <p:spPr>
          <a:xfrm>
            <a:off x="1674501" y="19417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476" name="Google Shape;1476;h4f8be8f1b2c30ea5_0_528"/>
          <p:cNvSpPr txBox="1"/>
          <p:nvPr/>
        </p:nvSpPr>
        <p:spPr>
          <a:xfrm>
            <a:off x="1674513" y="20277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grpSp>
        <p:nvGrpSpPr>
          <p:cNvPr id="1477" name="Google Shape;1477;h4f8be8f1b2c30ea5_0_528"/>
          <p:cNvGrpSpPr/>
          <p:nvPr/>
        </p:nvGrpSpPr>
        <p:grpSpPr>
          <a:xfrm>
            <a:off x="1799233" y="3693931"/>
            <a:ext cx="288564" cy="74448"/>
            <a:chOff x="3272500" y="3440675"/>
            <a:chExt cx="372100" cy="96000"/>
          </a:xfrm>
        </p:grpSpPr>
        <p:sp>
          <p:nvSpPr>
            <p:cNvPr id="1478" name="Google Shape;1478;h4f8be8f1b2c30ea5_0_528"/>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479" name="Google Shape;1479;h4f8be8f1b2c30ea5_0_528"/>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480" name="Google Shape;1480;h4f8be8f1b2c30ea5_0_528"/>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1481" name="Google Shape;1481;h4f8be8f1b2c30ea5_0_528"/>
          <p:cNvSpPr/>
          <p:nvPr/>
        </p:nvSpPr>
        <p:spPr>
          <a:xfrm>
            <a:off x="4731676" y="274926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sp>
        <p:nvSpPr>
          <p:cNvPr id="1482" name="Google Shape;1482;h4f8be8f1b2c30ea5_0_528"/>
          <p:cNvSpPr/>
          <p:nvPr/>
        </p:nvSpPr>
        <p:spPr>
          <a:xfrm rot="5400000">
            <a:off x="1883300" y="1356725"/>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483" name="Google Shape;1483;h4f8be8f1b2c30ea5_0_528"/>
          <p:cNvSpPr txBox="1"/>
          <p:nvPr/>
        </p:nvSpPr>
        <p:spPr>
          <a:xfrm>
            <a:off x="1251338" y="974325"/>
            <a:ext cx="14655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input layer</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sz="1600">
                <a:solidFill>
                  <a:srgbClr val="0000FF"/>
                </a:solidFill>
                <a:latin typeface="Comfortaa"/>
                <a:ea typeface="Comfortaa"/>
                <a:cs typeface="Comfortaa"/>
                <a:sym typeface="Comfortaa"/>
              </a:rPr>
              <a:t>(vector x)</a:t>
            </a:r>
            <a:endParaRPr sz="1600">
              <a:solidFill>
                <a:srgbClr val="0000FF"/>
              </a:solidFill>
              <a:latin typeface="Comfortaa"/>
              <a:ea typeface="Comfortaa"/>
              <a:cs typeface="Comfortaa"/>
              <a:sym typeface="Comfortaa"/>
            </a:endParaRPr>
          </a:p>
        </p:txBody>
      </p:sp>
      <p:sp>
        <p:nvSpPr>
          <p:cNvPr id="1484" name="Google Shape;1484;h4f8be8f1b2c30ea5_0_528"/>
          <p:cNvSpPr/>
          <p:nvPr/>
        </p:nvSpPr>
        <p:spPr>
          <a:xfrm rot="5400000">
            <a:off x="4884075" y="1356725"/>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485" name="Google Shape;1485;h4f8be8f1b2c30ea5_0_528"/>
          <p:cNvSpPr txBox="1"/>
          <p:nvPr/>
        </p:nvSpPr>
        <p:spPr>
          <a:xfrm>
            <a:off x="4153275" y="1004925"/>
            <a:ext cx="1663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hidden units</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a:solidFill>
                  <a:srgbClr val="0000FF"/>
                </a:solidFill>
                <a:latin typeface="Comfortaa"/>
                <a:ea typeface="Comfortaa"/>
                <a:cs typeface="Comfortaa"/>
                <a:sym typeface="Comfortaa"/>
              </a:rPr>
              <a:t>(</a:t>
            </a:r>
            <a:r>
              <a:rPr lang="pt-BR" sz="1600">
                <a:solidFill>
                  <a:srgbClr val="0000FF"/>
                </a:solidFill>
                <a:latin typeface="Comfortaa"/>
                <a:ea typeface="Comfortaa"/>
                <a:cs typeface="Comfortaa"/>
                <a:sym typeface="Comfortaa"/>
              </a:rPr>
              <a:t>σ nodes</a:t>
            </a:r>
            <a:r>
              <a:rPr lang="pt-BR">
                <a:solidFill>
                  <a:srgbClr val="0000FF"/>
                </a:solidFill>
                <a:latin typeface="Comfortaa"/>
                <a:ea typeface="Comfortaa"/>
                <a:cs typeface="Comfortaa"/>
                <a:sym typeface="Comfortaa"/>
              </a:rPr>
              <a:t>)</a:t>
            </a:r>
            <a:endParaRPr>
              <a:solidFill>
                <a:srgbClr val="0000FF"/>
              </a:solidFill>
              <a:latin typeface="Comfortaa"/>
              <a:ea typeface="Comfortaa"/>
              <a:cs typeface="Comfortaa"/>
              <a:sym typeface="Comfortaa"/>
            </a:endParaRPr>
          </a:p>
        </p:txBody>
      </p:sp>
      <p:sp>
        <p:nvSpPr>
          <p:cNvPr id="1486" name="Google Shape;1486;h4f8be8f1b2c30ea5_0_528"/>
          <p:cNvSpPr txBox="1"/>
          <p:nvPr/>
        </p:nvSpPr>
        <p:spPr>
          <a:xfrm>
            <a:off x="3231286" y="1671075"/>
            <a:ext cx="506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endParaRPr sz="1800">
              <a:solidFill>
                <a:srgbClr val="0000FF"/>
              </a:solidFill>
              <a:latin typeface="Comfortaa"/>
              <a:ea typeface="Comfortaa"/>
              <a:cs typeface="Comfortaa"/>
              <a:sym typeface="Comfortaa"/>
            </a:endParaRPr>
          </a:p>
        </p:txBody>
      </p:sp>
      <p:sp>
        <p:nvSpPr>
          <p:cNvPr id="1487" name="Google Shape;1487;h4f8be8f1b2c30ea5_0_528"/>
          <p:cNvSpPr/>
          <p:nvPr/>
        </p:nvSpPr>
        <p:spPr>
          <a:xfrm>
            <a:off x="4702126" y="213276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sp>
        <p:nvSpPr>
          <p:cNvPr id="1488" name="Google Shape;1488;h4f8be8f1b2c30ea5_0_528"/>
          <p:cNvSpPr/>
          <p:nvPr/>
        </p:nvSpPr>
        <p:spPr>
          <a:xfrm>
            <a:off x="4731676" y="33543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cxnSp>
        <p:nvCxnSpPr>
          <p:cNvPr id="1489" name="Google Shape;1489;h4f8be8f1b2c30ea5_0_528"/>
          <p:cNvCxnSpPr>
            <a:stCxn id="1476" idx="3"/>
            <a:endCxn id="1487" idx="1"/>
          </p:cNvCxnSpPr>
          <p:nvPr/>
        </p:nvCxnSpPr>
        <p:spPr>
          <a:xfrm>
            <a:off x="2180913" y="2194888"/>
            <a:ext cx="2595300" cy="12000"/>
          </a:xfrm>
          <a:prstGeom prst="straightConnector1">
            <a:avLst/>
          </a:prstGeom>
          <a:noFill/>
          <a:ln cap="flat" cmpd="sng" w="20500">
            <a:solidFill>
              <a:srgbClr val="B7B7B7"/>
            </a:solidFill>
            <a:prstDash val="solid"/>
            <a:round/>
            <a:headEnd len="sm" w="sm" type="none"/>
            <a:tailEnd len="med" w="med" type="triangle"/>
          </a:ln>
        </p:spPr>
      </p:cxnSp>
      <p:cxnSp>
        <p:nvCxnSpPr>
          <p:cNvPr id="1490" name="Google Shape;1490;h4f8be8f1b2c30ea5_0_528"/>
          <p:cNvCxnSpPr>
            <a:stCxn id="1472" idx="6"/>
          </p:cNvCxnSpPr>
          <p:nvPr/>
        </p:nvCxnSpPr>
        <p:spPr>
          <a:xfrm flipH="1" rot="10800000">
            <a:off x="2180901" y="2331099"/>
            <a:ext cx="2515500" cy="439800"/>
          </a:xfrm>
          <a:prstGeom prst="straightConnector1">
            <a:avLst/>
          </a:prstGeom>
          <a:noFill/>
          <a:ln cap="flat" cmpd="sng" w="20500">
            <a:solidFill>
              <a:srgbClr val="B7B7B7"/>
            </a:solidFill>
            <a:prstDash val="solid"/>
            <a:round/>
            <a:headEnd len="sm" w="sm" type="none"/>
            <a:tailEnd len="med" w="med" type="triangle"/>
          </a:ln>
        </p:spPr>
      </p:cxnSp>
      <p:cxnSp>
        <p:nvCxnSpPr>
          <p:cNvPr id="1491" name="Google Shape;1491;h4f8be8f1b2c30ea5_0_528"/>
          <p:cNvCxnSpPr>
            <a:stCxn id="1473" idx="6"/>
          </p:cNvCxnSpPr>
          <p:nvPr/>
        </p:nvCxnSpPr>
        <p:spPr>
          <a:xfrm flipH="1" rot="10800000">
            <a:off x="2180920" y="2468473"/>
            <a:ext cx="2529300" cy="878400"/>
          </a:xfrm>
          <a:prstGeom prst="straightConnector1">
            <a:avLst/>
          </a:prstGeom>
          <a:noFill/>
          <a:ln cap="flat" cmpd="sng" w="20500">
            <a:solidFill>
              <a:srgbClr val="B7B7B7"/>
            </a:solidFill>
            <a:prstDash val="solid"/>
            <a:round/>
            <a:headEnd len="sm" w="sm" type="none"/>
            <a:tailEnd len="med" w="med" type="triangle"/>
          </a:ln>
        </p:spPr>
      </p:cxnSp>
      <p:cxnSp>
        <p:nvCxnSpPr>
          <p:cNvPr id="1492" name="Google Shape;1492;h4f8be8f1b2c30ea5_0_528"/>
          <p:cNvCxnSpPr>
            <a:stCxn id="1474" idx="6"/>
            <a:endCxn id="1487" idx="3"/>
          </p:cNvCxnSpPr>
          <p:nvPr/>
        </p:nvCxnSpPr>
        <p:spPr>
          <a:xfrm flipH="1" rot="10800000">
            <a:off x="2180920" y="2564967"/>
            <a:ext cx="2595300" cy="1610100"/>
          </a:xfrm>
          <a:prstGeom prst="straightConnector1">
            <a:avLst/>
          </a:prstGeom>
          <a:noFill/>
          <a:ln cap="flat" cmpd="sng" w="20500">
            <a:solidFill>
              <a:srgbClr val="B7B7B7"/>
            </a:solidFill>
            <a:prstDash val="solid"/>
            <a:round/>
            <a:headEnd len="sm" w="sm" type="none"/>
            <a:tailEnd len="med" w="med" type="triangle"/>
          </a:ln>
        </p:spPr>
      </p:cxnSp>
      <p:cxnSp>
        <p:nvCxnSpPr>
          <p:cNvPr id="1493" name="Google Shape;1493;h4f8be8f1b2c30ea5_0_528"/>
          <p:cNvCxnSpPr>
            <a:stCxn id="1472" idx="6"/>
          </p:cNvCxnSpPr>
          <p:nvPr/>
        </p:nvCxnSpPr>
        <p:spPr>
          <a:xfrm>
            <a:off x="2180901" y="2770899"/>
            <a:ext cx="2550000" cy="165300"/>
          </a:xfrm>
          <a:prstGeom prst="straightConnector1">
            <a:avLst/>
          </a:prstGeom>
          <a:noFill/>
          <a:ln cap="flat" cmpd="sng" w="20500">
            <a:solidFill>
              <a:srgbClr val="666666"/>
            </a:solidFill>
            <a:prstDash val="solid"/>
            <a:round/>
            <a:headEnd len="sm" w="sm" type="none"/>
            <a:tailEnd len="med" w="med" type="triangle"/>
          </a:ln>
        </p:spPr>
      </p:cxnSp>
      <p:cxnSp>
        <p:nvCxnSpPr>
          <p:cNvPr id="1494" name="Google Shape;1494;h4f8be8f1b2c30ea5_0_528"/>
          <p:cNvCxnSpPr>
            <a:stCxn id="1473" idx="6"/>
          </p:cNvCxnSpPr>
          <p:nvPr/>
        </p:nvCxnSpPr>
        <p:spPr>
          <a:xfrm flipH="1" rot="10800000">
            <a:off x="2180920" y="3060073"/>
            <a:ext cx="2543100" cy="286800"/>
          </a:xfrm>
          <a:prstGeom prst="straightConnector1">
            <a:avLst/>
          </a:prstGeom>
          <a:noFill/>
          <a:ln cap="flat" cmpd="sng" w="20500">
            <a:solidFill>
              <a:srgbClr val="666666"/>
            </a:solidFill>
            <a:prstDash val="solid"/>
            <a:round/>
            <a:headEnd len="sm" w="sm" type="none"/>
            <a:tailEnd len="med" w="med" type="triangle"/>
          </a:ln>
        </p:spPr>
      </p:cxnSp>
      <p:cxnSp>
        <p:nvCxnSpPr>
          <p:cNvPr id="1495" name="Google Shape;1495;h4f8be8f1b2c30ea5_0_528"/>
          <p:cNvCxnSpPr>
            <a:stCxn id="1474" idx="6"/>
            <a:endCxn id="1481" idx="3"/>
          </p:cNvCxnSpPr>
          <p:nvPr/>
        </p:nvCxnSpPr>
        <p:spPr>
          <a:xfrm flipH="1" rot="10800000">
            <a:off x="2180920" y="3181467"/>
            <a:ext cx="2625000" cy="993600"/>
          </a:xfrm>
          <a:prstGeom prst="straightConnector1">
            <a:avLst/>
          </a:prstGeom>
          <a:noFill/>
          <a:ln cap="flat" cmpd="sng" w="20500">
            <a:solidFill>
              <a:srgbClr val="666666"/>
            </a:solidFill>
            <a:prstDash val="solid"/>
            <a:round/>
            <a:headEnd len="sm" w="sm" type="none"/>
            <a:tailEnd len="med" w="med" type="triangle"/>
          </a:ln>
        </p:spPr>
      </p:cxnSp>
      <p:cxnSp>
        <p:nvCxnSpPr>
          <p:cNvPr id="1496" name="Google Shape;1496;h4f8be8f1b2c30ea5_0_528"/>
          <p:cNvCxnSpPr>
            <a:stCxn id="1476" idx="3"/>
            <a:endCxn id="1481" idx="1"/>
          </p:cNvCxnSpPr>
          <p:nvPr/>
        </p:nvCxnSpPr>
        <p:spPr>
          <a:xfrm>
            <a:off x="2180913" y="2194888"/>
            <a:ext cx="2625000" cy="628500"/>
          </a:xfrm>
          <a:prstGeom prst="straightConnector1">
            <a:avLst/>
          </a:prstGeom>
          <a:noFill/>
          <a:ln cap="flat" cmpd="sng" w="20500">
            <a:solidFill>
              <a:srgbClr val="666666"/>
            </a:solidFill>
            <a:prstDash val="solid"/>
            <a:round/>
            <a:headEnd len="sm" w="sm" type="none"/>
            <a:tailEnd len="med" w="med" type="triangle"/>
          </a:ln>
        </p:spPr>
      </p:cxnSp>
      <p:cxnSp>
        <p:nvCxnSpPr>
          <p:cNvPr id="1497" name="Google Shape;1497;h4f8be8f1b2c30ea5_0_528"/>
          <p:cNvCxnSpPr>
            <a:stCxn id="1476" idx="3"/>
            <a:endCxn id="1488" idx="1"/>
          </p:cNvCxnSpPr>
          <p:nvPr/>
        </p:nvCxnSpPr>
        <p:spPr>
          <a:xfrm>
            <a:off x="2180913" y="2194888"/>
            <a:ext cx="2625000" cy="1233600"/>
          </a:xfrm>
          <a:prstGeom prst="straightConnector1">
            <a:avLst/>
          </a:prstGeom>
          <a:noFill/>
          <a:ln cap="flat" cmpd="sng" w="20500">
            <a:solidFill>
              <a:srgbClr val="000000"/>
            </a:solidFill>
            <a:prstDash val="solid"/>
            <a:round/>
            <a:headEnd len="sm" w="sm" type="none"/>
            <a:tailEnd len="med" w="med" type="triangle"/>
          </a:ln>
        </p:spPr>
      </p:cxnSp>
      <p:cxnSp>
        <p:nvCxnSpPr>
          <p:cNvPr id="1498" name="Google Shape;1498;h4f8be8f1b2c30ea5_0_528"/>
          <p:cNvCxnSpPr>
            <a:stCxn id="1474" idx="6"/>
            <a:endCxn id="1488" idx="3"/>
          </p:cNvCxnSpPr>
          <p:nvPr/>
        </p:nvCxnSpPr>
        <p:spPr>
          <a:xfrm flipH="1" rot="10800000">
            <a:off x="2180920" y="3786567"/>
            <a:ext cx="2625000" cy="388500"/>
          </a:xfrm>
          <a:prstGeom prst="straightConnector1">
            <a:avLst/>
          </a:prstGeom>
          <a:noFill/>
          <a:ln cap="flat" cmpd="sng" w="20500">
            <a:solidFill>
              <a:srgbClr val="000000"/>
            </a:solidFill>
            <a:prstDash val="solid"/>
            <a:round/>
            <a:headEnd len="sm" w="sm" type="none"/>
            <a:tailEnd len="med" w="med" type="triangle"/>
          </a:ln>
        </p:spPr>
      </p:cxnSp>
      <p:cxnSp>
        <p:nvCxnSpPr>
          <p:cNvPr id="1499" name="Google Shape;1499;h4f8be8f1b2c30ea5_0_528"/>
          <p:cNvCxnSpPr>
            <a:stCxn id="1472" idx="6"/>
          </p:cNvCxnSpPr>
          <p:nvPr/>
        </p:nvCxnSpPr>
        <p:spPr>
          <a:xfrm>
            <a:off x="2180901" y="2770899"/>
            <a:ext cx="2529300" cy="777300"/>
          </a:xfrm>
          <a:prstGeom prst="straightConnector1">
            <a:avLst/>
          </a:prstGeom>
          <a:noFill/>
          <a:ln cap="flat" cmpd="sng" w="20500">
            <a:solidFill>
              <a:srgbClr val="000000"/>
            </a:solidFill>
            <a:prstDash val="solid"/>
            <a:round/>
            <a:headEnd len="sm" w="sm" type="none"/>
            <a:tailEnd len="med" w="med" type="triangle"/>
          </a:ln>
        </p:spPr>
      </p:cxnSp>
      <p:cxnSp>
        <p:nvCxnSpPr>
          <p:cNvPr id="1500" name="Google Shape;1500;h4f8be8f1b2c30ea5_0_528"/>
          <p:cNvCxnSpPr>
            <a:stCxn id="1473" idx="6"/>
          </p:cNvCxnSpPr>
          <p:nvPr/>
        </p:nvCxnSpPr>
        <p:spPr>
          <a:xfrm>
            <a:off x="2180920" y="3346873"/>
            <a:ext cx="2543100" cy="318300"/>
          </a:xfrm>
          <a:prstGeom prst="straightConnector1">
            <a:avLst/>
          </a:prstGeom>
          <a:noFill/>
          <a:ln cap="flat" cmpd="sng" w="20500">
            <a:solidFill>
              <a:srgbClr val="000000"/>
            </a:solidFill>
            <a:prstDash val="solid"/>
            <a:round/>
            <a:headEnd len="sm" w="sm" type="none"/>
            <a:tailEnd len="med" w="med" type="triangle"/>
          </a:ln>
        </p:spPr>
      </p:cxnSp>
      <p:sp>
        <p:nvSpPr>
          <p:cNvPr id="1501" name="Google Shape;1501;h4f8be8f1b2c30ea5_0_528"/>
          <p:cNvSpPr/>
          <p:nvPr/>
        </p:nvSpPr>
        <p:spPr>
          <a:xfrm>
            <a:off x="6997476" y="270186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σ</a:t>
            </a:r>
            <a:endParaRPr b="0" sz="1241" strike="noStrike">
              <a:latin typeface="Arial"/>
              <a:ea typeface="Arial"/>
              <a:cs typeface="Arial"/>
              <a:sym typeface="Arial"/>
            </a:endParaRPr>
          </a:p>
        </p:txBody>
      </p:sp>
      <p:cxnSp>
        <p:nvCxnSpPr>
          <p:cNvPr id="1502" name="Google Shape;1502;h4f8be8f1b2c30ea5_0_528"/>
          <p:cNvCxnSpPr>
            <a:stCxn id="1487" idx="6"/>
          </p:cNvCxnSpPr>
          <p:nvPr/>
        </p:nvCxnSpPr>
        <p:spPr>
          <a:xfrm>
            <a:off x="5208526" y="2385966"/>
            <a:ext cx="1774800" cy="461100"/>
          </a:xfrm>
          <a:prstGeom prst="straightConnector1">
            <a:avLst/>
          </a:prstGeom>
          <a:noFill/>
          <a:ln cap="flat" cmpd="sng" w="20500">
            <a:solidFill>
              <a:srgbClr val="666666"/>
            </a:solidFill>
            <a:prstDash val="solid"/>
            <a:round/>
            <a:headEnd len="sm" w="sm" type="none"/>
            <a:tailEnd len="med" w="med" type="triangle"/>
          </a:ln>
        </p:spPr>
      </p:cxnSp>
      <p:cxnSp>
        <p:nvCxnSpPr>
          <p:cNvPr id="1503" name="Google Shape;1503;h4f8be8f1b2c30ea5_0_528"/>
          <p:cNvCxnSpPr>
            <a:stCxn id="1481" idx="6"/>
            <a:endCxn id="1501" idx="2"/>
          </p:cNvCxnSpPr>
          <p:nvPr/>
        </p:nvCxnSpPr>
        <p:spPr>
          <a:xfrm flipH="1" rot="10800000">
            <a:off x="5238076" y="2955066"/>
            <a:ext cx="1759500" cy="47400"/>
          </a:xfrm>
          <a:prstGeom prst="straightConnector1">
            <a:avLst/>
          </a:prstGeom>
          <a:noFill/>
          <a:ln cap="flat" cmpd="sng" w="20500">
            <a:solidFill>
              <a:srgbClr val="666666"/>
            </a:solidFill>
            <a:prstDash val="solid"/>
            <a:round/>
            <a:headEnd len="sm" w="sm" type="none"/>
            <a:tailEnd len="med" w="med" type="triangle"/>
          </a:ln>
        </p:spPr>
      </p:cxnSp>
      <p:cxnSp>
        <p:nvCxnSpPr>
          <p:cNvPr id="1504" name="Google Shape;1504;h4f8be8f1b2c30ea5_0_528"/>
          <p:cNvCxnSpPr>
            <a:stCxn id="1488" idx="6"/>
          </p:cNvCxnSpPr>
          <p:nvPr/>
        </p:nvCxnSpPr>
        <p:spPr>
          <a:xfrm flipH="1" rot="10800000">
            <a:off x="5238076" y="3055291"/>
            <a:ext cx="1738500" cy="552300"/>
          </a:xfrm>
          <a:prstGeom prst="straightConnector1">
            <a:avLst/>
          </a:prstGeom>
          <a:noFill/>
          <a:ln cap="flat" cmpd="sng" w="20500">
            <a:solidFill>
              <a:srgbClr val="666666"/>
            </a:solidFill>
            <a:prstDash val="solid"/>
            <a:round/>
            <a:headEnd len="sm" w="sm" type="none"/>
            <a:tailEnd len="med" w="med" type="triangle"/>
          </a:ln>
        </p:spPr>
      </p:cxnSp>
      <p:sp>
        <p:nvSpPr>
          <p:cNvPr id="1505" name="Google Shape;1505;h4f8be8f1b2c30ea5_0_528"/>
          <p:cNvSpPr txBox="1"/>
          <p:nvPr/>
        </p:nvSpPr>
        <p:spPr>
          <a:xfrm>
            <a:off x="5864636" y="2056000"/>
            <a:ext cx="506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U</a:t>
            </a:r>
            <a:endParaRPr sz="1800">
              <a:solidFill>
                <a:srgbClr val="0000FF"/>
              </a:solidFill>
              <a:latin typeface="Comfortaa"/>
              <a:ea typeface="Comfortaa"/>
              <a:cs typeface="Comfortaa"/>
              <a:sym typeface="Comfortaa"/>
            </a:endParaRPr>
          </a:p>
        </p:txBody>
      </p:sp>
      <p:sp>
        <p:nvSpPr>
          <p:cNvPr id="1506" name="Google Shape;1506;h4f8be8f1b2c30ea5_0_528"/>
          <p:cNvSpPr/>
          <p:nvPr/>
        </p:nvSpPr>
        <p:spPr>
          <a:xfrm rot="5400000">
            <a:off x="7149875" y="1432175"/>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507" name="Google Shape;1507;h4f8be8f1b2c30ea5_0_528"/>
          <p:cNvSpPr txBox="1"/>
          <p:nvPr/>
        </p:nvSpPr>
        <p:spPr>
          <a:xfrm>
            <a:off x="6419075" y="1004925"/>
            <a:ext cx="1663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output layer</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a:solidFill>
                  <a:srgbClr val="0000FF"/>
                </a:solidFill>
                <a:latin typeface="Comfortaa"/>
                <a:ea typeface="Comfortaa"/>
                <a:cs typeface="Comfortaa"/>
                <a:sym typeface="Comfortaa"/>
              </a:rPr>
              <a:t>(</a:t>
            </a:r>
            <a:r>
              <a:rPr lang="pt-BR" sz="1600">
                <a:solidFill>
                  <a:srgbClr val="0000FF"/>
                </a:solidFill>
                <a:latin typeface="Comfortaa"/>
                <a:ea typeface="Comfortaa"/>
                <a:cs typeface="Comfortaa"/>
                <a:sym typeface="Comfortaa"/>
              </a:rPr>
              <a:t>σ node</a:t>
            </a:r>
            <a:r>
              <a:rPr lang="pt-BR">
                <a:solidFill>
                  <a:srgbClr val="0000FF"/>
                </a:solidFill>
                <a:latin typeface="Comfortaa"/>
                <a:ea typeface="Comfortaa"/>
                <a:cs typeface="Comfortaa"/>
                <a:sym typeface="Comfortaa"/>
              </a:rPr>
              <a:t>)</a:t>
            </a:r>
            <a:endParaRPr>
              <a:solidFill>
                <a:srgbClr val="0000FF"/>
              </a:solidFill>
              <a:latin typeface="Comfortaa"/>
              <a:ea typeface="Comfortaa"/>
              <a:cs typeface="Comfortaa"/>
              <a:sym typeface="Comfortaa"/>
            </a:endParaRPr>
          </a:p>
        </p:txBody>
      </p:sp>
      <p:sp>
        <p:nvSpPr>
          <p:cNvPr id="1508" name="Google Shape;1508;h4f8be8f1b2c30ea5_0_528"/>
          <p:cNvSpPr txBox="1"/>
          <p:nvPr/>
        </p:nvSpPr>
        <p:spPr>
          <a:xfrm>
            <a:off x="107425" y="4658825"/>
            <a:ext cx="25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adapted from (Jurafsky, 2026)</a:t>
            </a:r>
            <a:endParaRPr sz="1200">
              <a:solidFill>
                <a:srgbClr val="434343"/>
              </a:solidFill>
              <a:latin typeface="Comfortaa"/>
              <a:ea typeface="Comfortaa"/>
              <a:cs typeface="Comfortaa"/>
              <a:sym typeface="Comfortaa"/>
            </a:endParaRPr>
          </a:p>
        </p:txBody>
      </p:sp>
      <p:pic>
        <p:nvPicPr>
          <p:cNvPr id="1509" name="Google Shape;1509;h4f8be8f1b2c30ea5_0_528"/>
          <p:cNvPicPr preferRelativeResize="0"/>
          <p:nvPr/>
        </p:nvPicPr>
        <p:blipFill>
          <a:blip r:embed="rId3">
            <a:alphaModFix/>
          </a:blip>
          <a:stretch>
            <a:fillRect/>
          </a:stretch>
        </p:blipFill>
        <p:spPr>
          <a:xfrm>
            <a:off x="4034405" y="4133326"/>
            <a:ext cx="2107012" cy="439800"/>
          </a:xfrm>
          <a:prstGeom prst="rect">
            <a:avLst/>
          </a:prstGeom>
          <a:noFill/>
          <a:ln>
            <a:noFill/>
          </a:ln>
        </p:spPr>
      </p:pic>
      <p:pic>
        <p:nvPicPr>
          <p:cNvPr id="1510" name="Google Shape;1510;h4f8be8f1b2c30ea5_0_528"/>
          <p:cNvPicPr preferRelativeResize="0"/>
          <p:nvPr/>
        </p:nvPicPr>
        <p:blipFill>
          <a:blip r:embed="rId4">
            <a:alphaModFix/>
          </a:blip>
          <a:stretch>
            <a:fillRect/>
          </a:stretch>
        </p:blipFill>
        <p:spPr>
          <a:xfrm>
            <a:off x="6765800" y="3346875"/>
            <a:ext cx="1380357" cy="878400"/>
          </a:xfrm>
          <a:prstGeom prst="rect">
            <a:avLst/>
          </a:prstGeom>
          <a:noFill/>
          <a:ln>
            <a:noFill/>
          </a:ln>
        </p:spPr>
      </p:pic>
      <p:sp>
        <p:nvSpPr>
          <p:cNvPr id="1511" name="Google Shape;1511;h4f8be8f1b2c30ea5_0_528"/>
          <p:cNvSpPr txBox="1"/>
          <p:nvPr/>
        </p:nvSpPr>
        <p:spPr>
          <a:xfrm>
            <a:off x="3860975" y="4713750"/>
            <a:ext cx="24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could be a ReLU or tanh</a:t>
            </a:r>
            <a:endParaRPr>
              <a:solidFill>
                <a:srgbClr val="434343"/>
              </a:solidFill>
              <a:latin typeface="Comfortaa"/>
              <a:ea typeface="Comfortaa"/>
              <a:cs typeface="Comfortaa"/>
              <a:sym typeface="Comfortaa"/>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h1863e7f528e27f29_1_15"/>
          <p:cNvSpPr txBox="1"/>
          <p:nvPr>
            <p:ph type="title"/>
          </p:nvPr>
        </p:nvSpPr>
        <p:spPr>
          <a:xfrm>
            <a:off x="311700" y="33425"/>
            <a:ext cx="8520600" cy="56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sz="3300"/>
              <a:t>Two-Layer Network with scalar output</a:t>
            </a:r>
            <a:endParaRPr sz="3100"/>
          </a:p>
        </p:txBody>
      </p:sp>
      <p:sp>
        <p:nvSpPr>
          <p:cNvPr id="1517" name="Google Shape;1517;h1863e7f528e27f29_1_15"/>
          <p:cNvSpPr/>
          <p:nvPr/>
        </p:nvSpPr>
        <p:spPr>
          <a:xfrm>
            <a:off x="1674501" y="251769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1</a:t>
            </a:r>
            <a:endParaRPr b="0" sz="1241" strike="noStrike">
              <a:latin typeface="Arial"/>
              <a:ea typeface="Arial"/>
              <a:cs typeface="Arial"/>
              <a:sym typeface="Arial"/>
            </a:endParaRPr>
          </a:p>
        </p:txBody>
      </p:sp>
      <p:sp>
        <p:nvSpPr>
          <p:cNvPr id="1518" name="Google Shape;1518;h1863e7f528e27f29_1_15"/>
          <p:cNvSpPr/>
          <p:nvPr/>
        </p:nvSpPr>
        <p:spPr>
          <a:xfrm>
            <a:off x="1674520" y="3093673"/>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0" baseline="-25000" lang="pt-BR" sz="1241" strike="noStrike">
                <a:latin typeface="Arial"/>
                <a:ea typeface="Arial"/>
                <a:cs typeface="Arial"/>
                <a:sym typeface="Arial"/>
              </a:rPr>
              <a:t>2</a:t>
            </a:r>
            <a:endParaRPr b="0" sz="1241" strike="noStrike">
              <a:latin typeface="Arial"/>
              <a:ea typeface="Arial"/>
              <a:cs typeface="Arial"/>
              <a:sym typeface="Arial"/>
            </a:endParaRPr>
          </a:p>
        </p:txBody>
      </p:sp>
      <p:sp>
        <p:nvSpPr>
          <p:cNvPr id="1519" name="Google Shape;1519;h1863e7f528e27f29_1_15"/>
          <p:cNvSpPr/>
          <p:nvPr/>
        </p:nvSpPr>
        <p:spPr>
          <a:xfrm>
            <a:off x="1674520" y="3921867"/>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rPr lang="pt-BR" sz="1241"/>
              <a:t>x</a:t>
            </a:r>
            <a:r>
              <a:rPr baseline="-25000" lang="pt-BR" sz="1241"/>
              <a:t>n</a:t>
            </a:r>
            <a:endParaRPr b="0" sz="1241" strike="noStrike">
              <a:latin typeface="Arial"/>
              <a:ea typeface="Arial"/>
              <a:cs typeface="Arial"/>
              <a:sym typeface="Arial"/>
            </a:endParaRPr>
          </a:p>
        </p:txBody>
      </p:sp>
      <p:sp>
        <p:nvSpPr>
          <p:cNvPr id="1520" name="Google Shape;1520;h1863e7f528e27f29_1_15"/>
          <p:cNvSpPr/>
          <p:nvPr/>
        </p:nvSpPr>
        <p:spPr>
          <a:xfrm>
            <a:off x="1674501" y="19417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marR="0" rtl="0" algn="ctr">
              <a:spcBef>
                <a:spcPts val="0"/>
              </a:spcBef>
              <a:spcAft>
                <a:spcPts val="0"/>
              </a:spcAft>
              <a:buNone/>
            </a:pPr>
            <a:r>
              <a:t/>
            </a:r>
            <a:endParaRPr b="0" sz="1241" strike="noStrike">
              <a:latin typeface="Arial"/>
              <a:ea typeface="Arial"/>
              <a:cs typeface="Arial"/>
              <a:sym typeface="Arial"/>
            </a:endParaRPr>
          </a:p>
        </p:txBody>
      </p:sp>
      <p:sp>
        <p:nvSpPr>
          <p:cNvPr id="1521" name="Google Shape;1521;h1863e7f528e27f29_1_15"/>
          <p:cNvSpPr txBox="1"/>
          <p:nvPr/>
        </p:nvSpPr>
        <p:spPr>
          <a:xfrm>
            <a:off x="1674513" y="2027788"/>
            <a:ext cx="506400" cy="334200"/>
          </a:xfrm>
          <a:prstGeom prst="rect">
            <a:avLst/>
          </a:prstGeom>
          <a:noFill/>
          <a:ln>
            <a:noFill/>
          </a:ln>
        </p:spPr>
        <p:txBody>
          <a:bodyPr anchorCtr="0" anchor="t" bIns="70900" lIns="70900" spcFirstLastPara="1" rIns="70900" wrap="square" tIns="70900">
            <a:spAutoFit/>
          </a:bodyPr>
          <a:lstStyle/>
          <a:p>
            <a:pPr indent="0" lvl="0" marL="0" rtl="0" algn="ctr">
              <a:spcBef>
                <a:spcPts val="0"/>
              </a:spcBef>
              <a:spcAft>
                <a:spcPts val="0"/>
              </a:spcAft>
              <a:buNone/>
            </a:pPr>
            <a:r>
              <a:rPr lang="pt-BR" sz="1241">
                <a:solidFill>
                  <a:schemeClr val="dk1"/>
                </a:solidFill>
              </a:rPr>
              <a:t>x</a:t>
            </a:r>
            <a:r>
              <a:rPr baseline="-25000" lang="pt-BR" sz="1241">
                <a:solidFill>
                  <a:schemeClr val="dk1"/>
                </a:solidFill>
              </a:rPr>
              <a:t>0</a:t>
            </a:r>
            <a:r>
              <a:rPr lang="pt-BR" sz="1241">
                <a:solidFill>
                  <a:schemeClr val="dk1"/>
                </a:solidFill>
              </a:rPr>
              <a:t>=1</a:t>
            </a:r>
            <a:endParaRPr sz="1241">
              <a:solidFill>
                <a:schemeClr val="dk1"/>
              </a:solidFill>
            </a:endParaRPr>
          </a:p>
        </p:txBody>
      </p:sp>
      <p:grpSp>
        <p:nvGrpSpPr>
          <p:cNvPr id="1522" name="Google Shape;1522;h1863e7f528e27f29_1_15"/>
          <p:cNvGrpSpPr/>
          <p:nvPr/>
        </p:nvGrpSpPr>
        <p:grpSpPr>
          <a:xfrm>
            <a:off x="1799233" y="3693931"/>
            <a:ext cx="288564" cy="74448"/>
            <a:chOff x="3272500" y="3440675"/>
            <a:chExt cx="372100" cy="96000"/>
          </a:xfrm>
        </p:grpSpPr>
        <p:sp>
          <p:nvSpPr>
            <p:cNvPr id="1523" name="Google Shape;1523;h1863e7f528e27f29_1_15"/>
            <p:cNvSpPr/>
            <p:nvPr/>
          </p:nvSpPr>
          <p:spPr>
            <a:xfrm>
              <a:off x="32725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524" name="Google Shape;1524;h1863e7f528e27f29_1_15"/>
            <p:cNvSpPr/>
            <p:nvPr/>
          </p:nvSpPr>
          <p:spPr>
            <a:xfrm>
              <a:off x="341055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sp>
          <p:nvSpPr>
            <p:cNvPr id="1525" name="Google Shape;1525;h1863e7f528e27f29_1_15"/>
            <p:cNvSpPr/>
            <p:nvPr/>
          </p:nvSpPr>
          <p:spPr>
            <a:xfrm>
              <a:off x="3548600" y="3440675"/>
              <a:ext cx="96000" cy="96000"/>
            </a:xfrm>
            <a:prstGeom prst="ellipse">
              <a:avLst/>
            </a:prstGeom>
            <a:solidFill>
              <a:schemeClr val="lt1"/>
            </a:solidFill>
            <a:ln cap="flat" cmpd="sng" w="7375">
              <a:solidFill>
                <a:schemeClr val="dk1"/>
              </a:solidFill>
              <a:prstDash val="solid"/>
              <a:round/>
              <a:headEnd len="sm" w="sm" type="none"/>
              <a:tailEnd len="sm" w="sm" type="none"/>
            </a:ln>
          </p:spPr>
          <p:txBody>
            <a:bodyPr anchorCtr="0" anchor="ctr" bIns="70900" lIns="70900" spcFirstLastPara="1" rIns="70900" wrap="square" tIns="70900">
              <a:noAutofit/>
            </a:bodyPr>
            <a:lstStyle/>
            <a:p>
              <a:pPr indent="0" lvl="0" marL="0" rtl="0" algn="ctr">
                <a:spcBef>
                  <a:spcPts val="0"/>
                </a:spcBef>
                <a:spcAft>
                  <a:spcPts val="0"/>
                </a:spcAft>
                <a:buNone/>
              </a:pPr>
              <a:r>
                <a:t/>
              </a:r>
              <a:endParaRPr sz="1086">
                <a:latin typeface="Comfortaa"/>
                <a:ea typeface="Comfortaa"/>
                <a:cs typeface="Comfortaa"/>
                <a:sym typeface="Comfortaa"/>
              </a:endParaRPr>
            </a:p>
          </p:txBody>
        </p:sp>
      </p:grpSp>
      <p:sp>
        <p:nvSpPr>
          <p:cNvPr id="1526" name="Google Shape;1526;h1863e7f528e27f29_1_15"/>
          <p:cNvSpPr/>
          <p:nvPr/>
        </p:nvSpPr>
        <p:spPr>
          <a:xfrm>
            <a:off x="4731676" y="274926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sp>
        <p:nvSpPr>
          <p:cNvPr id="1527" name="Google Shape;1527;h1863e7f528e27f29_1_15"/>
          <p:cNvSpPr/>
          <p:nvPr/>
        </p:nvSpPr>
        <p:spPr>
          <a:xfrm rot="5400000">
            <a:off x="1883300" y="1356725"/>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528" name="Google Shape;1528;h1863e7f528e27f29_1_15"/>
          <p:cNvSpPr txBox="1"/>
          <p:nvPr/>
        </p:nvSpPr>
        <p:spPr>
          <a:xfrm>
            <a:off x="1251338" y="974325"/>
            <a:ext cx="14655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input layer</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sz="1600">
                <a:solidFill>
                  <a:srgbClr val="0000FF"/>
                </a:solidFill>
                <a:latin typeface="Comfortaa"/>
                <a:ea typeface="Comfortaa"/>
                <a:cs typeface="Comfortaa"/>
                <a:sym typeface="Comfortaa"/>
              </a:rPr>
              <a:t>(vector x)</a:t>
            </a:r>
            <a:endParaRPr sz="1600">
              <a:solidFill>
                <a:srgbClr val="0000FF"/>
              </a:solidFill>
              <a:latin typeface="Comfortaa"/>
              <a:ea typeface="Comfortaa"/>
              <a:cs typeface="Comfortaa"/>
              <a:sym typeface="Comfortaa"/>
            </a:endParaRPr>
          </a:p>
        </p:txBody>
      </p:sp>
      <p:sp>
        <p:nvSpPr>
          <p:cNvPr id="1529" name="Google Shape;1529;h1863e7f528e27f29_1_15"/>
          <p:cNvSpPr/>
          <p:nvPr/>
        </p:nvSpPr>
        <p:spPr>
          <a:xfrm rot="5400000">
            <a:off x="4884075" y="1356725"/>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530" name="Google Shape;1530;h1863e7f528e27f29_1_15"/>
          <p:cNvSpPr txBox="1"/>
          <p:nvPr/>
        </p:nvSpPr>
        <p:spPr>
          <a:xfrm>
            <a:off x="4153275" y="1004925"/>
            <a:ext cx="1663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hidden units</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a:solidFill>
                  <a:srgbClr val="0000FF"/>
                </a:solidFill>
                <a:latin typeface="Comfortaa"/>
                <a:ea typeface="Comfortaa"/>
                <a:cs typeface="Comfortaa"/>
                <a:sym typeface="Comfortaa"/>
              </a:rPr>
              <a:t>(</a:t>
            </a:r>
            <a:r>
              <a:rPr lang="pt-BR" sz="1600">
                <a:solidFill>
                  <a:srgbClr val="0000FF"/>
                </a:solidFill>
                <a:latin typeface="Comfortaa"/>
                <a:ea typeface="Comfortaa"/>
                <a:cs typeface="Comfortaa"/>
                <a:sym typeface="Comfortaa"/>
              </a:rPr>
              <a:t>σ nodes</a:t>
            </a:r>
            <a:r>
              <a:rPr lang="pt-BR">
                <a:solidFill>
                  <a:srgbClr val="0000FF"/>
                </a:solidFill>
                <a:latin typeface="Comfortaa"/>
                <a:ea typeface="Comfortaa"/>
                <a:cs typeface="Comfortaa"/>
                <a:sym typeface="Comfortaa"/>
              </a:rPr>
              <a:t>)</a:t>
            </a:r>
            <a:endParaRPr>
              <a:solidFill>
                <a:srgbClr val="0000FF"/>
              </a:solidFill>
              <a:latin typeface="Comfortaa"/>
              <a:ea typeface="Comfortaa"/>
              <a:cs typeface="Comfortaa"/>
              <a:sym typeface="Comfortaa"/>
            </a:endParaRPr>
          </a:p>
        </p:txBody>
      </p:sp>
      <p:sp>
        <p:nvSpPr>
          <p:cNvPr id="1531" name="Google Shape;1531;h1863e7f528e27f29_1_15"/>
          <p:cNvSpPr txBox="1"/>
          <p:nvPr/>
        </p:nvSpPr>
        <p:spPr>
          <a:xfrm>
            <a:off x="3231286" y="1671075"/>
            <a:ext cx="506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W</a:t>
            </a:r>
            <a:endParaRPr sz="1800">
              <a:solidFill>
                <a:srgbClr val="0000FF"/>
              </a:solidFill>
              <a:latin typeface="Comfortaa"/>
              <a:ea typeface="Comfortaa"/>
              <a:cs typeface="Comfortaa"/>
              <a:sym typeface="Comfortaa"/>
            </a:endParaRPr>
          </a:p>
        </p:txBody>
      </p:sp>
      <p:sp>
        <p:nvSpPr>
          <p:cNvPr id="1532" name="Google Shape;1532;h1863e7f528e27f29_1_15"/>
          <p:cNvSpPr/>
          <p:nvPr/>
        </p:nvSpPr>
        <p:spPr>
          <a:xfrm>
            <a:off x="4702126" y="213276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sp>
        <p:nvSpPr>
          <p:cNvPr id="1533" name="Google Shape;1533;h1863e7f528e27f29_1_15"/>
          <p:cNvSpPr/>
          <p:nvPr/>
        </p:nvSpPr>
        <p:spPr>
          <a:xfrm>
            <a:off x="4731676" y="3354391"/>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Clr>
                <a:schemeClr val="dk1"/>
              </a:buClr>
              <a:buSzPts val="1100"/>
              <a:buFont typeface="Arial"/>
              <a:buNone/>
            </a:pPr>
            <a:r>
              <a:rPr lang="pt-BR">
                <a:solidFill>
                  <a:schemeClr val="dk1"/>
                </a:solidFill>
              </a:rPr>
              <a:t>σ</a:t>
            </a:r>
            <a:endParaRPr b="0" sz="1241" strike="noStrike">
              <a:latin typeface="Arial"/>
              <a:ea typeface="Arial"/>
              <a:cs typeface="Arial"/>
              <a:sym typeface="Arial"/>
            </a:endParaRPr>
          </a:p>
        </p:txBody>
      </p:sp>
      <p:cxnSp>
        <p:nvCxnSpPr>
          <p:cNvPr id="1534" name="Google Shape;1534;h1863e7f528e27f29_1_15"/>
          <p:cNvCxnSpPr>
            <a:stCxn id="1521" idx="3"/>
            <a:endCxn id="1532" idx="1"/>
          </p:cNvCxnSpPr>
          <p:nvPr/>
        </p:nvCxnSpPr>
        <p:spPr>
          <a:xfrm>
            <a:off x="2180913" y="2194888"/>
            <a:ext cx="2595300" cy="12000"/>
          </a:xfrm>
          <a:prstGeom prst="straightConnector1">
            <a:avLst/>
          </a:prstGeom>
          <a:noFill/>
          <a:ln cap="flat" cmpd="sng" w="20500">
            <a:solidFill>
              <a:srgbClr val="B7B7B7"/>
            </a:solidFill>
            <a:prstDash val="solid"/>
            <a:round/>
            <a:headEnd len="sm" w="sm" type="none"/>
            <a:tailEnd len="med" w="med" type="triangle"/>
          </a:ln>
        </p:spPr>
      </p:cxnSp>
      <p:cxnSp>
        <p:nvCxnSpPr>
          <p:cNvPr id="1535" name="Google Shape;1535;h1863e7f528e27f29_1_15"/>
          <p:cNvCxnSpPr>
            <a:stCxn id="1517" idx="6"/>
          </p:cNvCxnSpPr>
          <p:nvPr/>
        </p:nvCxnSpPr>
        <p:spPr>
          <a:xfrm flipH="1" rot="10800000">
            <a:off x="2180901" y="2331099"/>
            <a:ext cx="2515500" cy="439800"/>
          </a:xfrm>
          <a:prstGeom prst="straightConnector1">
            <a:avLst/>
          </a:prstGeom>
          <a:noFill/>
          <a:ln cap="flat" cmpd="sng" w="20500">
            <a:solidFill>
              <a:srgbClr val="B7B7B7"/>
            </a:solidFill>
            <a:prstDash val="solid"/>
            <a:round/>
            <a:headEnd len="sm" w="sm" type="none"/>
            <a:tailEnd len="med" w="med" type="triangle"/>
          </a:ln>
        </p:spPr>
      </p:cxnSp>
      <p:cxnSp>
        <p:nvCxnSpPr>
          <p:cNvPr id="1536" name="Google Shape;1536;h1863e7f528e27f29_1_15"/>
          <p:cNvCxnSpPr>
            <a:stCxn id="1518" idx="6"/>
          </p:cNvCxnSpPr>
          <p:nvPr/>
        </p:nvCxnSpPr>
        <p:spPr>
          <a:xfrm flipH="1" rot="10800000">
            <a:off x="2180920" y="2468473"/>
            <a:ext cx="2529300" cy="878400"/>
          </a:xfrm>
          <a:prstGeom prst="straightConnector1">
            <a:avLst/>
          </a:prstGeom>
          <a:noFill/>
          <a:ln cap="flat" cmpd="sng" w="20500">
            <a:solidFill>
              <a:srgbClr val="B7B7B7"/>
            </a:solidFill>
            <a:prstDash val="solid"/>
            <a:round/>
            <a:headEnd len="sm" w="sm" type="none"/>
            <a:tailEnd len="med" w="med" type="triangle"/>
          </a:ln>
        </p:spPr>
      </p:cxnSp>
      <p:cxnSp>
        <p:nvCxnSpPr>
          <p:cNvPr id="1537" name="Google Shape;1537;h1863e7f528e27f29_1_15"/>
          <p:cNvCxnSpPr>
            <a:stCxn id="1519" idx="6"/>
            <a:endCxn id="1532" idx="3"/>
          </p:cNvCxnSpPr>
          <p:nvPr/>
        </p:nvCxnSpPr>
        <p:spPr>
          <a:xfrm flipH="1" rot="10800000">
            <a:off x="2180920" y="2564967"/>
            <a:ext cx="2595300" cy="1610100"/>
          </a:xfrm>
          <a:prstGeom prst="straightConnector1">
            <a:avLst/>
          </a:prstGeom>
          <a:noFill/>
          <a:ln cap="flat" cmpd="sng" w="20500">
            <a:solidFill>
              <a:srgbClr val="B7B7B7"/>
            </a:solidFill>
            <a:prstDash val="solid"/>
            <a:round/>
            <a:headEnd len="sm" w="sm" type="none"/>
            <a:tailEnd len="med" w="med" type="triangle"/>
          </a:ln>
        </p:spPr>
      </p:cxnSp>
      <p:cxnSp>
        <p:nvCxnSpPr>
          <p:cNvPr id="1538" name="Google Shape;1538;h1863e7f528e27f29_1_15"/>
          <p:cNvCxnSpPr>
            <a:stCxn id="1517" idx="6"/>
          </p:cNvCxnSpPr>
          <p:nvPr/>
        </p:nvCxnSpPr>
        <p:spPr>
          <a:xfrm>
            <a:off x="2180901" y="2770899"/>
            <a:ext cx="2550000" cy="165300"/>
          </a:xfrm>
          <a:prstGeom prst="straightConnector1">
            <a:avLst/>
          </a:prstGeom>
          <a:noFill/>
          <a:ln cap="flat" cmpd="sng" w="20500">
            <a:solidFill>
              <a:srgbClr val="666666"/>
            </a:solidFill>
            <a:prstDash val="solid"/>
            <a:round/>
            <a:headEnd len="sm" w="sm" type="none"/>
            <a:tailEnd len="med" w="med" type="triangle"/>
          </a:ln>
        </p:spPr>
      </p:cxnSp>
      <p:cxnSp>
        <p:nvCxnSpPr>
          <p:cNvPr id="1539" name="Google Shape;1539;h1863e7f528e27f29_1_15"/>
          <p:cNvCxnSpPr>
            <a:stCxn id="1518" idx="6"/>
          </p:cNvCxnSpPr>
          <p:nvPr/>
        </p:nvCxnSpPr>
        <p:spPr>
          <a:xfrm flipH="1" rot="10800000">
            <a:off x="2180920" y="3060073"/>
            <a:ext cx="2543100" cy="286800"/>
          </a:xfrm>
          <a:prstGeom prst="straightConnector1">
            <a:avLst/>
          </a:prstGeom>
          <a:noFill/>
          <a:ln cap="flat" cmpd="sng" w="20500">
            <a:solidFill>
              <a:srgbClr val="666666"/>
            </a:solidFill>
            <a:prstDash val="solid"/>
            <a:round/>
            <a:headEnd len="sm" w="sm" type="none"/>
            <a:tailEnd len="med" w="med" type="triangle"/>
          </a:ln>
        </p:spPr>
      </p:cxnSp>
      <p:cxnSp>
        <p:nvCxnSpPr>
          <p:cNvPr id="1540" name="Google Shape;1540;h1863e7f528e27f29_1_15"/>
          <p:cNvCxnSpPr>
            <a:stCxn id="1519" idx="6"/>
            <a:endCxn id="1526" idx="3"/>
          </p:cNvCxnSpPr>
          <p:nvPr/>
        </p:nvCxnSpPr>
        <p:spPr>
          <a:xfrm flipH="1" rot="10800000">
            <a:off x="2180920" y="3181467"/>
            <a:ext cx="2625000" cy="993600"/>
          </a:xfrm>
          <a:prstGeom prst="straightConnector1">
            <a:avLst/>
          </a:prstGeom>
          <a:noFill/>
          <a:ln cap="flat" cmpd="sng" w="20500">
            <a:solidFill>
              <a:srgbClr val="666666"/>
            </a:solidFill>
            <a:prstDash val="solid"/>
            <a:round/>
            <a:headEnd len="sm" w="sm" type="none"/>
            <a:tailEnd len="med" w="med" type="triangle"/>
          </a:ln>
        </p:spPr>
      </p:cxnSp>
      <p:cxnSp>
        <p:nvCxnSpPr>
          <p:cNvPr id="1541" name="Google Shape;1541;h1863e7f528e27f29_1_15"/>
          <p:cNvCxnSpPr>
            <a:stCxn id="1521" idx="3"/>
            <a:endCxn id="1526" idx="1"/>
          </p:cNvCxnSpPr>
          <p:nvPr/>
        </p:nvCxnSpPr>
        <p:spPr>
          <a:xfrm>
            <a:off x="2180913" y="2194888"/>
            <a:ext cx="2625000" cy="628500"/>
          </a:xfrm>
          <a:prstGeom prst="straightConnector1">
            <a:avLst/>
          </a:prstGeom>
          <a:noFill/>
          <a:ln cap="flat" cmpd="sng" w="20500">
            <a:solidFill>
              <a:srgbClr val="666666"/>
            </a:solidFill>
            <a:prstDash val="solid"/>
            <a:round/>
            <a:headEnd len="sm" w="sm" type="none"/>
            <a:tailEnd len="med" w="med" type="triangle"/>
          </a:ln>
        </p:spPr>
      </p:cxnSp>
      <p:cxnSp>
        <p:nvCxnSpPr>
          <p:cNvPr id="1542" name="Google Shape;1542;h1863e7f528e27f29_1_15"/>
          <p:cNvCxnSpPr>
            <a:stCxn id="1521" idx="3"/>
            <a:endCxn id="1533" idx="1"/>
          </p:cNvCxnSpPr>
          <p:nvPr/>
        </p:nvCxnSpPr>
        <p:spPr>
          <a:xfrm>
            <a:off x="2180913" y="2194888"/>
            <a:ext cx="2625000" cy="1233600"/>
          </a:xfrm>
          <a:prstGeom prst="straightConnector1">
            <a:avLst/>
          </a:prstGeom>
          <a:noFill/>
          <a:ln cap="flat" cmpd="sng" w="20500">
            <a:solidFill>
              <a:srgbClr val="000000"/>
            </a:solidFill>
            <a:prstDash val="solid"/>
            <a:round/>
            <a:headEnd len="sm" w="sm" type="none"/>
            <a:tailEnd len="med" w="med" type="triangle"/>
          </a:ln>
        </p:spPr>
      </p:cxnSp>
      <p:cxnSp>
        <p:nvCxnSpPr>
          <p:cNvPr id="1543" name="Google Shape;1543;h1863e7f528e27f29_1_15"/>
          <p:cNvCxnSpPr>
            <a:stCxn id="1519" idx="6"/>
            <a:endCxn id="1533" idx="3"/>
          </p:cNvCxnSpPr>
          <p:nvPr/>
        </p:nvCxnSpPr>
        <p:spPr>
          <a:xfrm flipH="1" rot="10800000">
            <a:off x="2180920" y="3786567"/>
            <a:ext cx="2625000" cy="388500"/>
          </a:xfrm>
          <a:prstGeom prst="straightConnector1">
            <a:avLst/>
          </a:prstGeom>
          <a:noFill/>
          <a:ln cap="flat" cmpd="sng" w="20500">
            <a:solidFill>
              <a:srgbClr val="000000"/>
            </a:solidFill>
            <a:prstDash val="solid"/>
            <a:round/>
            <a:headEnd len="sm" w="sm" type="none"/>
            <a:tailEnd len="med" w="med" type="triangle"/>
          </a:ln>
        </p:spPr>
      </p:cxnSp>
      <p:cxnSp>
        <p:nvCxnSpPr>
          <p:cNvPr id="1544" name="Google Shape;1544;h1863e7f528e27f29_1_15"/>
          <p:cNvCxnSpPr>
            <a:stCxn id="1517" idx="6"/>
          </p:cNvCxnSpPr>
          <p:nvPr/>
        </p:nvCxnSpPr>
        <p:spPr>
          <a:xfrm>
            <a:off x="2180901" y="2770899"/>
            <a:ext cx="2529300" cy="777300"/>
          </a:xfrm>
          <a:prstGeom prst="straightConnector1">
            <a:avLst/>
          </a:prstGeom>
          <a:noFill/>
          <a:ln cap="flat" cmpd="sng" w="20500">
            <a:solidFill>
              <a:srgbClr val="000000"/>
            </a:solidFill>
            <a:prstDash val="solid"/>
            <a:round/>
            <a:headEnd len="sm" w="sm" type="none"/>
            <a:tailEnd len="med" w="med" type="triangle"/>
          </a:ln>
        </p:spPr>
      </p:cxnSp>
      <p:cxnSp>
        <p:nvCxnSpPr>
          <p:cNvPr id="1545" name="Google Shape;1545;h1863e7f528e27f29_1_15"/>
          <p:cNvCxnSpPr>
            <a:stCxn id="1518" idx="6"/>
          </p:cNvCxnSpPr>
          <p:nvPr/>
        </p:nvCxnSpPr>
        <p:spPr>
          <a:xfrm>
            <a:off x="2180920" y="3346873"/>
            <a:ext cx="2543100" cy="318300"/>
          </a:xfrm>
          <a:prstGeom prst="straightConnector1">
            <a:avLst/>
          </a:prstGeom>
          <a:noFill/>
          <a:ln cap="flat" cmpd="sng" w="20500">
            <a:solidFill>
              <a:srgbClr val="000000"/>
            </a:solidFill>
            <a:prstDash val="solid"/>
            <a:round/>
            <a:headEnd len="sm" w="sm" type="none"/>
            <a:tailEnd len="med" w="med" type="triangle"/>
          </a:ln>
        </p:spPr>
      </p:cxnSp>
      <p:sp>
        <p:nvSpPr>
          <p:cNvPr id="1546" name="Google Shape;1546;h1863e7f528e27f29_1_15"/>
          <p:cNvSpPr/>
          <p:nvPr/>
        </p:nvSpPr>
        <p:spPr>
          <a:xfrm>
            <a:off x="6997476" y="2369016"/>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σ</a:t>
            </a:r>
            <a:endParaRPr b="0" sz="1241" strike="noStrike">
              <a:latin typeface="Arial"/>
              <a:ea typeface="Arial"/>
              <a:cs typeface="Arial"/>
              <a:sym typeface="Arial"/>
            </a:endParaRPr>
          </a:p>
        </p:txBody>
      </p:sp>
      <p:cxnSp>
        <p:nvCxnSpPr>
          <p:cNvPr id="1547" name="Google Shape;1547;h1863e7f528e27f29_1_15"/>
          <p:cNvCxnSpPr>
            <a:stCxn id="1532" idx="6"/>
          </p:cNvCxnSpPr>
          <p:nvPr/>
        </p:nvCxnSpPr>
        <p:spPr>
          <a:xfrm>
            <a:off x="5208526" y="2385966"/>
            <a:ext cx="1842000" cy="125400"/>
          </a:xfrm>
          <a:prstGeom prst="straightConnector1">
            <a:avLst/>
          </a:prstGeom>
          <a:noFill/>
          <a:ln cap="flat" cmpd="sng" w="20500">
            <a:solidFill>
              <a:srgbClr val="666666"/>
            </a:solidFill>
            <a:prstDash val="solid"/>
            <a:round/>
            <a:headEnd len="sm" w="sm" type="none"/>
            <a:tailEnd len="med" w="med" type="triangle"/>
          </a:ln>
        </p:spPr>
      </p:cxnSp>
      <p:cxnSp>
        <p:nvCxnSpPr>
          <p:cNvPr id="1548" name="Google Shape;1548;h1863e7f528e27f29_1_15"/>
          <p:cNvCxnSpPr>
            <a:stCxn id="1526" idx="6"/>
            <a:endCxn id="1546" idx="2"/>
          </p:cNvCxnSpPr>
          <p:nvPr/>
        </p:nvCxnSpPr>
        <p:spPr>
          <a:xfrm flipH="1" rot="10800000">
            <a:off x="5238076" y="2622366"/>
            <a:ext cx="1759500" cy="380100"/>
          </a:xfrm>
          <a:prstGeom prst="straightConnector1">
            <a:avLst/>
          </a:prstGeom>
          <a:noFill/>
          <a:ln cap="flat" cmpd="sng" w="20500">
            <a:solidFill>
              <a:srgbClr val="666666"/>
            </a:solidFill>
            <a:prstDash val="solid"/>
            <a:round/>
            <a:headEnd len="sm" w="sm" type="none"/>
            <a:tailEnd len="med" w="med" type="triangle"/>
          </a:ln>
        </p:spPr>
      </p:cxnSp>
      <p:cxnSp>
        <p:nvCxnSpPr>
          <p:cNvPr id="1549" name="Google Shape;1549;h1863e7f528e27f29_1_15"/>
          <p:cNvCxnSpPr>
            <a:stCxn id="1533" idx="6"/>
          </p:cNvCxnSpPr>
          <p:nvPr/>
        </p:nvCxnSpPr>
        <p:spPr>
          <a:xfrm flipH="1" rot="10800000">
            <a:off x="5238076" y="2706091"/>
            <a:ext cx="1785600" cy="901500"/>
          </a:xfrm>
          <a:prstGeom prst="straightConnector1">
            <a:avLst/>
          </a:prstGeom>
          <a:noFill/>
          <a:ln cap="flat" cmpd="sng" w="20500">
            <a:solidFill>
              <a:srgbClr val="666666"/>
            </a:solidFill>
            <a:prstDash val="solid"/>
            <a:round/>
            <a:headEnd len="sm" w="sm" type="none"/>
            <a:tailEnd len="med" w="med" type="triangle"/>
          </a:ln>
        </p:spPr>
      </p:cxnSp>
      <p:sp>
        <p:nvSpPr>
          <p:cNvPr id="1550" name="Google Shape;1550;h1863e7f528e27f29_1_15"/>
          <p:cNvSpPr txBox="1"/>
          <p:nvPr/>
        </p:nvSpPr>
        <p:spPr>
          <a:xfrm>
            <a:off x="5849811" y="1970050"/>
            <a:ext cx="506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800">
                <a:solidFill>
                  <a:srgbClr val="0000FF"/>
                </a:solidFill>
                <a:latin typeface="Comfortaa"/>
                <a:ea typeface="Comfortaa"/>
                <a:cs typeface="Comfortaa"/>
                <a:sym typeface="Comfortaa"/>
              </a:rPr>
              <a:t>U</a:t>
            </a:r>
            <a:endParaRPr sz="1800">
              <a:solidFill>
                <a:srgbClr val="0000FF"/>
              </a:solidFill>
              <a:latin typeface="Comfortaa"/>
              <a:ea typeface="Comfortaa"/>
              <a:cs typeface="Comfortaa"/>
              <a:sym typeface="Comfortaa"/>
            </a:endParaRPr>
          </a:p>
        </p:txBody>
      </p:sp>
      <p:sp>
        <p:nvSpPr>
          <p:cNvPr id="1551" name="Google Shape;1551;h1863e7f528e27f29_1_15"/>
          <p:cNvSpPr/>
          <p:nvPr/>
        </p:nvSpPr>
        <p:spPr>
          <a:xfrm rot="5400000">
            <a:off x="7149875" y="1432175"/>
            <a:ext cx="201600" cy="741300"/>
          </a:xfrm>
          <a:prstGeom prst="lef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mfortaa"/>
              <a:ea typeface="Comfortaa"/>
              <a:cs typeface="Comfortaa"/>
              <a:sym typeface="Comfortaa"/>
            </a:endParaRPr>
          </a:p>
        </p:txBody>
      </p:sp>
      <p:sp>
        <p:nvSpPr>
          <p:cNvPr id="1552" name="Google Shape;1552;h1863e7f528e27f29_1_15"/>
          <p:cNvSpPr txBox="1"/>
          <p:nvPr/>
        </p:nvSpPr>
        <p:spPr>
          <a:xfrm>
            <a:off x="6419075" y="1004925"/>
            <a:ext cx="1663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600">
                <a:solidFill>
                  <a:srgbClr val="434343"/>
                </a:solidFill>
                <a:latin typeface="Comfortaa"/>
                <a:ea typeface="Comfortaa"/>
                <a:cs typeface="Comfortaa"/>
                <a:sym typeface="Comfortaa"/>
              </a:rPr>
              <a:t>output layer</a:t>
            </a:r>
            <a:endParaRPr sz="1600">
              <a:solidFill>
                <a:srgbClr val="434343"/>
              </a:solidFill>
              <a:latin typeface="Comfortaa"/>
              <a:ea typeface="Comfortaa"/>
              <a:cs typeface="Comfortaa"/>
              <a:sym typeface="Comfortaa"/>
            </a:endParaRPr>
          </a:p>
          <a:p>
            <a:pPr indent="0" lvl="0" marL="0" rtl="0" algn="ctr">
              <a:spcBef>
                <a:spcPts val="0"/>
              </a:spcBef>
              <a:spcAft>
                <a:spcPts val="0"/>
              </a:spcAft>
              <a:buNone/>
            </a:pPr>
            <a:r>
              <a:rPr lang="pt-BR">
                <a:solidFill>
                  <a:srgbClr val="0000FF"/>
                </a:solidFill>
                <a:latin typeface="Comfortaa"/>
                <a:ea typeface="Comfortaa"/>
                <a:cs typeface="Comfortaa"/>
                <a:sym typeface="Comfortaa"/>
              </a:rPr>
              <a:t>(</a:t>
            </a:r>
            <a:r>
              <a:rPr lang="pt-BR" sz="1600">
                <a:solidFill>
                  <a:srgbClr val="0000FF"/>
                </a:solidFill>
                <a:latin typeface="Comfortaa"/>
                <a:ea typeface="Comfortaa"/>
                <a:cs typeface="Comfortaa"/>
                <a:sym typeface="Comfortaa"/>
              </a:rPr>
              <a:t>σ nodes</a:t>
            </a:r>
            <a:r>
              <a:rPr lang="pt-BR">
                <a:solidFill>
                  <a:srgbClr val="0000FF"/>
                </a:solidFill>
                <a:latin typeface="Comfortaa"/>
                <a:ea typeface="Comfortaa"/>
                <a:cs typeface="Comfortaa"/>
                <a:sym typeface="Comfortaa"/>
              </a:rPr>
              <a:t>)</a:t>
            </a:r>
            <a:endParaRPr>
              <a:solidFill>
                <a:srgbClr val="0000FF"/>
              </a:solidFill>
              <a:latin typeface="Comfortaa"/>
              <a:ea typeface="Comfortaa"/>
              <a:cs typeface="Comfortaa"/>
              <a:sym typeface="Comfortaa"/>
            </a:endParaRPr>
          </a:p>
        </p:txBody>
      </p:sp>
      <p:sp>
        <p:nvSpPr>
          <p:cNvPr id="1553" name="Google Shape;1553;h1863e7f528e27f29_1_15"/>
          <p:cNvSpPr txBox="1"/>
          <p:nvPr/>
        </p:nvSpPr>
        <p:spPr>
          <a:xfrm>
            <a:off x="107425" y="4658825"/>
            <a:ext cx="25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sz="1200">
                <a:solidFill>
                  <a:srgbClr val="434343"/>
                </a:solidFill>
                <a:latin typeface="Comfortaa"/>
                <a:ea typeface="Comfortaa"/>
                <a:cs typeface="Comfortaa"/>
                <a:sym typeface="Comfortaa"/>
              </a:rPr>
              <a:t>adapted from (Jurafsky, 2026)</a:t>
            </a:r>
            <a:endParaRPr sz="1200">
              <a:solidFill>
                <a:srgbClr val="434343"/>
              </a:solidFill>
              <a:latin typeface="Comfortaa"/>
              <a:ea typeface="Comfortaa"/>
              <a:cs typeface="Comfortaa"/>
              <a:sym typeface="Comfortaa"/>
            </a:endParaRPr>
          </a:p>
        </p:txBody>
      </p:sp>
      <p:pic>
        <p:nvPicPr>
          <p:cNvPr id="1554" name="Google Shape;1554;h1863e7f528e27f29_1_15"/>
          <p:cNvPicPr preferRelativeResize="0"/>
          <p:nvPr/>
        </p:nvPicPr>
        <p:blipFill>
          <a:blip r:embed="rId3">
            <a:alphaModFix/>
          </a:blip>
          <a:stretch>
            <a:fillRect/>
          </a:stretch>
        </p:blipFill>
        <p:spPr>
          <a:xfrm>
            <a:off x="4034405" y="4133326"/>
            <a:ext cx="2107012" cy="439800"/>
          </a:xfrm>
          <a:prstGeom prst="rect">
            <a:avLst/>
          </a:prstGeom>
          <a:noFill/>
          <a:ln>
            <a:noFill/>
          </a:ln>
        </p:spPr>
      </p:pic>
      <p:sp>
        <p:nvSpPr>
          <p:cNvPr id="1555" name="Google Shape;1555;h1863e7f528e27f29_1_15"/>
          <p:cNvSpPr txBox="1"/>
          <p:nvPr/>
        </p:nvSpPr>
        <p:spPr>
          <a:xfrm>
            <a:off x="4335200" y="4637075"/>
            <a:ext cx="24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solidFill>
                  <a:srgbClr val="434343"/>
                </a:solidFill>
                <a:latin typeface="Comfortaa"/>
                <a:ea typeface="Comfortaa"/>
                <a:cs typeface="Comfortaa"/>
                <a:sym typeface="Comfortaa"/>
              </a:rPr>
              <a:t>could be a ReLU or tanh</a:t>
            </a:r>
            <a:endParaRPr>
              <a:solidFill>
                <a:srgbClr val="434343"/>
              </a:solidFill>
              <a:latin typeface="Comfortaa"/>
              <a:ea typeface="Comfortaa"/>
              <a:cs typeface="Comfortaa"/>
              <a:sym typeface="Comfortaa"/>
            </a:endParaRPr>
          </a:p>
        </p:txBody>
      </p:sp>
      <p:sp>
        <p:nvSpPr>
          <p:cNvPr id="1556" name="Google Shape;1556;h1863e7f528e27f29_1_15"/>
          <p:cNvSpPr/>
          <p:nvPr/>
        </p:nvSpPr>
        <p:spPr>
          <a:xfrm>
            <a:off x="6997476" y="3054179"/>
            <a:ext cx="506400" cy="506400"/>
          </a:xfrm>
          <a:prstGeom prst="ellipse">
            <a:avLst/>
          </a:prstGeom>
          <a:solidFill>
            <a:srgbClr val="FFFFFF"/>
          </a:solidFill>
          <a:ln cap="flat" cmpd="sng" w="26825">
            <a:solidFill>
              <a:srgbClr val="000000"/>
            </a:solidFill>
            <a:prstDash val="solid"/>
            <a:round/>
            <a:headEnd len="sm" w="sm" type="none"/>
            <a:tailEnd len="sm" w="sm" type="none"/>
          </a:ln>
        </p:spPr>
        <p:txBody>
          <a:bodyPr anchorCtr="0" anchor="ctr" bIns="44800" lIns="76450" spcFirstLastPara="1" rIns="76450" wrap="square" tIns="44800">
            <a:noAutofit/>
          </a:bodyPr>
          <a:lstStyle/>
          <a:p>
            <a:pPr indent="0" lvl="0" marL="0" rtl="0" algn="ctr">
              <a:spcBef>
                <a:spcPts val="0"/>
              </a:spcBef>
              <a:spcAft>
                <a:spcPts val="0"/>
              </a:spcAft>
              <a:buSzPts val="1100"/>
              <a:buNone/>
            </a:pPr>
            <a:r>
              <a:rPr lang="pt-BR">
                <a:solidFill>
                  <a:schemeClr val="dk1"/>
                </a:solidFill>
              </a:rPr>
              <a:t>σ</a:t>
            </a:r>
            <a:endParaRPr b="0" sz="1241" strike="noStrike">
              <a:latin typeface="Arial"/>
              <a:ea typeface="Arial"/>
              <a:cs typeface="Arial"/>
              <a:sym typeface="Arial"/>
            </a:endParaRPr>
          </a:p>
        </p:txBody>
      </p:sp>
      <p:cxnSp>
        <p:nvCxnSpPr>
          <p:cNvPr id="1557" name="Google Shape;1557;h1863e7f528e27f29_1_15"/>
          <p:cNvCxnSpPr>
            <a:stCxn id="1532" idx="6"/>
          </p:cNvCxnSpPr>
          <p:nvPr/>
        </p:nvCxnSpPr>
        <p:spPr>
          <a:xfrm>
            <a:off x="5208526" y="2385966"/>
            <a:ext cx="1808400" cy="816900"/>
          </a:xfrm>
          <a:prstGeom prst="straightConnector1">
            <a:avLst/>
          </a:prstGeom>
          <a:noFill/>
          <a:ln cap="flat" cmpd="sng" w="20500">
            <a:solidFill>
              <a:srgbClr val="000000"/>
            </a:solidFill>
            <a:prstDash val="solid"/>
            <a:round/>
            <a:headEnd len="sm" w="sm" type="none"/>
            <a:tailEnd len="med" w="med" type="triangle"/>
          </a:ln>
        </p:spPr>
      </p:cxnSp>
      <p:cxnSp>
        <p:nvCxnSpPr>
          <p:cNvPr id="1558" name="Google Shape;1558;h1863e7f528e27f29_1_15"/>
          <p:cNvCxnSpPr>
            <a:stCxn id="1526" idx="6"/>
            <a:endCxn id="1556" idx="2"/>
          </p:cNvCxnSpPr>
          <p:nvPr/>
        </p:nvCxnSpPr>
        <p:spPr>
          <a:xfrm>
            <a:off x="5238076" y="3002466"/>
            <a:ext cx="1759500" cy="304800"/>
          </a:xfrm>
          <a:prstGeom prst="straightConnector1">
            <a:avLst/>
          </a:prstGeom>
          <a:noFill/>
          <a:ln cap="flat" cmpd="sng" w="20500">
            <a:solidFill>
              <a:srgbClr val="000000"/>
            </a:solidFill>
            <a:prstDash val="solid"/>
            <a:round/>
            <a:headEnd len="sm" w="sm" type="none"/>
            <a:tailEnd len="med" w="med" type="triangle"/>
          </a:ln>
        </p:spPr>
      </p:cxnSp>
      <p:cxnSp>
        <p:nvCxnSpPr>
          <p:cNvPr id="1559" name="Google Shape;1559;h1863e7f528e27f29_1_15"/>
          <p:cNvCxnSpPr/>
          <p:nvPr/>
        </p:nvCxnSpPr>
        <p:spPr>
          <a:xfrm flipH="1" rot="10800000">
            <a:off x="5224075" y="3424425"/>
            <a:ext cx="1766100" cy="188100"/>
          </a:xfrm>
          <a:prstGeom prst="straightConnector1">
            <a:avLst/>
          </a:prstGeom>
          <a:noFill/>
          <a:ln cap="flat" cmpd="sng" w="20500">
            <a:solidFill>
              <a:srgbClr val="000000"/>
            </a:solidFill>
            <a:prstDash val="solid"/>
            <a:round/>
            <a:headEnd len="sm" w="sm" type="none"/>
            <a:tailEnd len="med" w="med" type="triangle"/>
          </a:ln>
        </p:spPr>
      </p:cxnSp>
      <p:pic>
        <p:nvPicPr>
          <p:cNvPr id="1560" name="Google Shape;1560;h1863e7f528e27f29_1_15"/>
          <p:cNvPicPr preferRelativeResize="0"/>
          <p:nvPr/>
        </p:nvPicPr>
        <p:blipFill>
          <a:blip r:embed="rId4">
            <a:alphaModFix/>
          </a:blip>
          <a:stretch>
            <a:fillRect/>
          </a:stretch>
        </p:blipFill>
        <p:spPr>
          <a:xfrm>
            <a:off x="6658350" y="3834075"/>
            <a:ext cx="2316037" cy="77730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4" name="Shape 1564"/>
        <p:cNvGrpSpPr/>
        <p:nvPr/>
      </p:nvGrpSpPr>
      <p:grpSpPr>
        <a:xfrm>
          <a:off x="0" y="0"/>
          <a:ext cx="0" cy="0"/>
          <a:chOff x="0" y="0"/>
          <a:chExt cx="0" cy="0"/>
        </a:xfrm>
      </p:grpSpPr>
      <p:sp>
        <p:nvSpPr>
          <p:cNvPr id="1565" name="Google Shape;1565;h1863e7f528e27f29_1_64"/>
          <p:cNvSpPr txBox="1"/>
          <p:nvPr>
            <p:ph type="title"/>
          </p:nvPr>
        </p:nvSpPr>
        <p:spPr>
          <a:xfrm>
            <a:off x="311700" y="1092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Recognizing Images</a:t>
            </a:r>
            <a:endParaRPr/>
          </a:p>
        </p:txBody>
      </p:sp>
      <p:pic>
        <p:nvPicPr>
          <p:cNvPr id="1566" name="Google Shape;1566;h1863e7f528e27f29_1_64"/>
          <p:cNvPicPr preferRelativeResize="0"/>
          <p:nvPr/>
        </p:nvPicPr>
        <p:blipFill>
          <a:blip r:embed="rId3">
            <a:alphaModFix/>
          </a:blip>
          <a:stretch>
            <a:fillRect/>
          </a:stretch>
        </p:blipFill>
        <p:spPr>
          <a:xfrm>
            <a:off x="1175575" y="735700"/>
            <a:ext cx="6792845" cy="3820975"/>
          </a:xfrm>
          <a:prstGeom prst="rect">
            <a:avLst/>
          </a:prstGeom>
          <a:noFill/>
          <a:ln>
            <a:noFill/>
          </a:ln>
        </p:spPr>
      </p:pic>
      <p:sp>
        <p:nvSpPr>
          <p:cNvPr id="1567" name="Google Shape;1567;h1863e7f528e27f29_1_64"/>
          <p:cNvSpPr txBox="1"/>
          <p:nvPr/>
        </p:nvSpPr>
        <p:spPr>
          <a:xfrm>
            <a:off x="296100" y="4610400"/>
            <a:ext cx="85518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700" u="sng">
                <a:solidFill>
                  <a:schemeClr val="hlink"/>
                </a:solidFill>
                <a:hlinkClick r:id="rId4"/>
              </a:rPr>
              <a:t>https://www.3blue1brown.com/lessons/neural-networks/</a:t>
            </a:r>
            <a:endParaRPr sz="1700">
              <a:solidFill>
                <a:srgbClr val="434343"/>
              </a:solidFill>
            </a:endParaRPr>
          </a:p>
        </p:txBody>
      </p:sp>
      <p:pic>
        <p:nvPicPr>
          <p:cNvPr id="1568" name="Google Shape;1568;h1863e7f528e27f29_1_64"/>
          <p:cNvPicPr preferRelativeResize="0"/>
          <p:nvPr/>
        </p:nvPicPr>
        <p:blipFill>
          <a:blip r:embed="rId5">
            <a:alphaModFix/>
          </a:blip>
          <a:stretch>
            <a:fillRect/>
          </a:stretch>
        </p:blipFill>
        <p:spPr>
          <a:xfrm>
            <a:off x="6377100" y="109274"/>
            <a:ext cx="2376277" cy="57270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sp>
        <p:nvSpPr>
          <p:cNvPr id="1573" name="Google Shape;1573;h1863e7f528e27f29_1_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Task 5</a:t>
            </a:r>
            <a:endParaRPr/>
          </a:p>
        </p:txBody>
      </p:sp>
      <p:sp>
        <p:nvSpPr>
          <p:cNvPr id="1574" name="Google Shape;1574;h1863e7f528e27f29_1_71"/>
          <p:cNvSpPr txBox="1"/>
          <p:nvPr>
            <p:ph idx="1" type="body"/>
          </p:nvPr>
        </p:nvSpPr>
        <p:spPr>
          <a:xfrm>
            <a:off x="311700" y="1152475"/>
            <a:ext cx="8520600" cy="373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Putting together everything you have learned, how would you use a multilayer network to classify words?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pt-BR" sz="1700"/>
              <a:t>__________</a:t>
            </a:r>
            <a:endParaRPr sz="1700"/>
          </a:p>
          <a:p>
            <a:pPr indent="0" lvl="0" marL="0" rtl="0" algn="l">
              <a:spcBef>
                <a:spcPts val="0"/>
              </a:spcBef>
              <a:spcAft>
                <a:spcPts val="0"/>
              </a:spcAft>
              <a:buNone/>
            </a:pPr>
            <a:r>
              <a:rPr lang="pt-BR" sz="1700"/>
              <a:t>Combinando tudo o que você aprendeu, como você utilizaria uma rede multicamadas para classificar palavras?</a:t>
            </a:r>
            <a:endParaRPr sz="1700"/>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8" name="Shape 1578"/>
        <p:cNvGrpSpPr/>
        <p:nvPr/>
      </p:nvGrpSpPr>
      <p:grpSpPr>
        <a:xfrm>
          <a:off x="0" y="0"/>
          <a:ext cx="0" cy="0"/>
          <a:chOff x="0" y="0"/>
          <a:chExt cx="0" cy="0"/>
        </a:xfrm>
      </p:grpSpPr>
      <p:sp>
        <p:nvSpPr>
          <p:cNvPr id="1579" name="Google Shape;1579;p7"/>
          <p:cNvSpPr txBox="1"/>
          <p:nvPr>
            <p:ph idx="1" type="subTitle"/>
          </p:nvPr>
        </p:nvSpPr>
        <p:spPr>
          <a:xfrm>
            <a:off x="1495500" y="1959725"/>
            <a:ext cx="6153000" cy="933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000"/>
              <a:buNone/>
            </a:pPr>
            <a:r>
              <a:rPr b="1" lang="pt-BR" sz="5000">
                <a:solidFill>
                  <a:srgbClr val="FFFFFF"/>
                </a:solidFill>
              </a:rPr>
              <a:t>André Santanchè</a:t>
            </a:r>
            <a:endParaRPr b="1" sz="5000">
              <a:solidFill>
                <a:srgbClr val="FFFFFF"/>
              </a:solidFill>
            </a:endParaRPr>
          </a:p>
        </p:txBody>
      </p:sp>
      <p:sp>
        <p:nvSpPr>
          <p:cNvPr id="1580" name="Google Shape;1580;p7"/>
          <p:cNvSpPr txBox="1"/>
          <p:nvPr/>
        </p:nvSpPr>
        <p:spPr>
          <a:xfrm>
            <a:off x="2339550" y="3134950"/>
            <a:ext cx="4464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chemeClr val="lt1"/>
                </a:solidFill>
                <a:latin typeface="Courier New"/>
                <a:ea typeface="Courier New"/>
                <a:cs typeface="Courier New"/>
                <a:sym typeface="Courier New"/>
              </a:rPr>
              <a:t>https://www.ic.unicamp.br/~santanche/</a:t>
            </a:r>
            <a:endParaRPr b="0" i="0" sz="1400" u="none" cap="none" strike="noStrike">
              <a:solidFill>
                <a:schemeClr val="lt1"/>
              </a:solidFill>
              <a:latin typeface="Courier New"/>
              <a:ea typeface="Courier New"/>
              <a:cs typeface="Courier New"/>
              <a:sym typeface="Courier New"/>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4" name="Shape 1584"/>
        <p:cNvGrpSpPr/>
        <p:nvPr/>
      </p:nvGrpSpPr>
      <p:grpSpPr>
        <a:xfrm>
          <a:off x="0" y="0"/>
          <a:ext cx="0" cy="0"/>
          <a:chOff x="0" y="0"/>
          <a:chExt cx="0" cy="0"/>
        </a:xfrm>
      </p:grpSpPr>
      <p:sp>
        <p:nvSpPr>
          <p:cNvPr id="1585" name="Google Shape;1585;h3b987c62679a4f5d_0_20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Acknowledgement</a:t>
            </a:r>
            <a:endParaRPr/>
          </a:p>
        </p:txBody>
      </p:sp>
      <p:sp>
        <p:nvSpPr>
          <p:cNvPr id="1586" name="Google Shape;1586;h3b987c62679a4f5d_0_201"/>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Most used activation functions in Neural Networks</a:t>
            </a:r>
            <a:endParaRPr/>
          </a:p>
          <a:p>
            <a:pPr indent="0" lvl="0" marL="0" rtl="0" algn="l">
              <a:spcBef>
                <a:spcPts val="0"/>
              </a:spcBef>
              <a:spcAft>
                <a:spcPts val="0"/>
              </a:spcAft>
              <a:buNone/>
            </a:pPr>
            <a:r>
              <a:rPr lang="pt-BR" sz="1000"/>
              <a:t>AI ML – Artificial Intelligence and Machine Learning</a:t>
            </a:r>
            <a:r>
              <a:rPr lang="pt-BR"/>
              <a:t> </a:t>
            </a:r>
            <a:r>
              <a:rPr lang="pt-BR" u="sng">
                <a:solidFill>
                  <a:schemeClr val="hlink"/>
                </a:solidFill>
                <a:hlinkClick r:id="rId3"/>
              </a:rPr>
              <a:t>https://ai-artificial-intelligence.webyes.com.br/most-used-activation-functions-in-neural-networks/</a:t>
            </a:r>
            <a:endParaRPr/>
          </a:p>
        </p:txBody>
      </p:sp>
      <p:pic>
        <p:nvPicPr>
          <p:cNvPr id="1587" name="Google Shape;1587;h3b987c62679a4f5d_0_201"/>
          <p:cNvPicPr preferRelativeResize="0"/>
          <p:nvPr/>
        </p:nvPicPr>
        <p:blipFill>
          <a:blip r:embed="rId4">
            <a:alphaModFix/>
          </a:blip>
          <a:stretch>
            <a:fillRect/>
          </a:stretch>
        </p:blipFill>
        <p:spPr>
          <a:xfrm>
            <a:off x="635850" y="1152475"/>
            <a:ext cx="3608286" cy="3820977"/>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
        <p:nvSpPr>
          <p:cNvPr id="1592" name="Google Shape;1592;h1863e7f528e27f29_1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Acknowledgement</a:t>
            </a:r>
            <a:endParaRPr/>
          </a:p>
        </p:txBody>
      </p:sp>
      <p:sp>
        <p:nvSpPr>
          <p:cNvPr id="1593" name="Google Shape;1593;h1863e7f528e27f29_1_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By Nbarth - This vector image includes elements that have been taken or adapted from this file:, CC0, </a:t>
            </a:r>
            <a:r>
              <a:rPr lang="pt-BR" u="sng">
                <a:solidFill>
                  <a:schemeClr val="hlink"/>
                </a:solidFill>
                <a:hlinkClick r:id="rId3"/>
              </a:rPr>
              <a:t>https://commons.wikimedia.org/w/index.php?curid=150411524</a:t>
            </a:r>
            <a:endParaRPr/>
          </a:p>
        </p:txBody>
      </p:sp>
      <p:pic>
        <p:nvPicPr>
          <p:cNvPr id="1594" name="Google Shape;1594;h1863e7f528e27f29_1_0"/>
          <p:cNvPicPr preferRelativeResize="0"/>
          <p:nvPr/>
        </p:nvPicPr>
        <p:blipFill>
          <a:blip r:embed="rId4">
            <a:alphaModFix/>
          </a:blip>
          <a:stretch>
            <a:fillRect/>
          </a:stretch>
        </p:blipFill>
        <p:spPr>
          <a:xfrm>
            <a:off x="311700" y="1361650"/>
            <a:ext cx="4472376" cy="242020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h3b987c62679a4f5d_0_38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Acknowledgement</a:t>
            </a:r>
            <a:endParaRPr/>
          </a:p>
        </p:txBody>
      </p:sp>
      <p:sp>
        <p:nvSpPr>
          <p:cNvPr id="1600" name="Google Shape;1600;h3b987c62679a4f5d_0_383"/>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By BruceBlaus - Own work, CC BY 3.0, </a:t>
            </a:r>
            <a:r>
              <a:rPr lang="pt-BR" u="sng">
                <a:solidFill>
                  <a:schemeClr val="hlink"/>
                </a:solidFill>
                <a:hlinkClick r:id="rId3"/>
              </a:rPr>
              <a:t>https://commons.wikimedia.org/w/index.php?curid=28761830</a:t>
            </a:r>
            <a:endParaRPr/>
          </a:p>
        </p:txBody>
      </p:sp>
      <p:pic>
        <p:nvPicPr>
          <p:cNvPr id="1601" name="Google Shape;1601;h3b987c62679a4f5d_0_383"/>
          <p:cNvPicPr preferRelativeResize="0"/>
          <p:nvPr/>
        </p:nvPicPr>
        <p:blipFill>
          <a:blip r:embed="rId4">
            <a:alphaModFix/>
          </a:blip>
          <a:stretch>
            <a:fillRect/>
          </a:stretch>
        </p:blipFill>
        <p:spPr>
          <a:xfrm>
            <a:off x="99925" y="1747475"/>
            <a:ext cx="4527599" cy="2878522"/>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5" name="Shape 1605"/>
        <p:cNvGrpSpPr/>
        <p:nvPr/>
      </p:nvGrpSpPr>
      <p:grpSpPr>
        <a:xfrm>
          <a:off x="0" y="0"/>
          <a:ext cx="0" cy="0"/>
          <a:chOff x="0" y="0"/>
          <a:chExt cx="0" cy="0"/>
        </a:xfrm>
      </p:grpSpPr>
      <p:sp>
        <p:nvSpPr>
          <p:cNvPr id="1606" name="Google Shape;1606;h4f8be8f1b2c30ea5_0_1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Acknowledgement</a:t>
            </a:r>
            <a:endParaRPr/>
          </a:p>
        </p:txBody>
      </p:sp>
      <p:sp>
        <p:nvSpPr>
          <p:cNvPr id="1607" name="Google Shape;1607;h4f8be8f1b2c30ea5_0_13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By User:Wiso - from en:Image:Neural network example.svg, vetorialization of en:Image:Neural network example.png, Public Domain, </a:t>
            </a:r>
            <a:r>
              <a:rPr lang="pt-BR" u="sng">
                <a:solidFill>
                  <a:schemeClr val="hlink"/>
                </a:solidFill>
                <a:hlinkClick r:id="rId3"/>
              </a:rPr>
              <a:t>https://commons.wikimedia.org/w/index.php?curid=5084582</a:t>
            </a:r>
            <a:endParaRPr/>
          </a:p>
        </p:txBody>
      </p:sp>
      <p:pic>
        <p:nvPicPr>
          <p:cNvPr id="1608" name="Google Shape;1608;h4f8be8f1b2c30ea5_0_136"/>
          <p:cNvPicPr preferRelativeResize="0"/>
          <p:nvPr/>
        </p:nvPicPr>
        <p:blipFill>
          <a:blip r:embed="rId4">
            <a:alphaModFix/>
          </a:blip>
          <a:stretch>
            <a:fillRect/>
          </a:stretch>
        </p:blipFill>
        <p:spPr>
          <a:xfrm>
            <a:off x="1132100" y="1152475"/>
            <a:ext cx="2865732" cy="3820976"/>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2" name="Shape 1612"/>
        <p:cNvGrpSpPr/>
        <p:nvPr/>
      </p:nvGrpSpPr>
      <p:grpSpPr>
        <a:xfrm>
          <a:off x="0" y="0"/>
          <a:ext cx="0" cy="0"/>
          <a:chOff x="0" y="0"/>
          <a:chExt cx="0" cy="0"/>
        </a:xfrm>
      </p:grpSpPr>
      <p:sp>
        <p:nvSpPr>
          <p:cNvPr id="1613" name="Google Shape;1613;h6554fdb7a5da3374_1_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Acknowledgement</a:t>
            </a:r>
            <a:endParaRPr/>
          </a:p>
        </p:txBody>
      </p:sp>
      <p:sp>
        <p:nvSpPr>
          <p:cNvPr id="1614" name="Google Shape;1614;h6554fdb7a5da3374_1_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By Sebastian Raschka - http://sebastianraschka.com/Articles/2014_naive_bayes_1.html, CC BY-SA 4.0, </a:t>
            </a:r>
            <a:r>
              <a:rPr lang="pt-BR" u="sng">
                <a:solidFill>
                  <a:schemeClr val="hlink"/>
                </a:solidFill>
                <a:hlinkClick r:id="rId3"/>
              </a:rPr>
              <a:t>https://commons.wikimedia.org/w/index.php?curid=60535469</a:t>
            </a:r>
            <a:endParaRPr/>
          </a:p>
        </p:txBody>
      </p:sp>
      <p:pic>
        <p:nvPicPr>
          <p:cNvPr id="1615" name="Google Shape;1615;h6554fdb7a5da3374_1_0"/>
          <p:cNvPicPr preferRelativeResize="0"/>
          <p:nvPr/>
        </p:nvPicPr>
        <p:blipFill>
          <a:blip r:embed="rId4">
            <a:alphaModFix/>
          </a:blip>
          <a:stretch>
            <a:fillRect/>
          </a:stretch>
        </p:blipFill>
        <p:spPr>
          <a:xfrm>
            <a:off x="311700" y="1968988"/>
            <a:ext cx="4260300" cy="1783381"/>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9" name="Shape 1619"/>
        <p:cNvGrpSpPr/>
        <p:nvPr/>
      </p:nvGrpSpPr>
      <p:grpSpPr>
        <a:xfrm>
          <a:off x="0" y="0"/>
          <a:ext cx="0" cy="0"/>
          <a:chOff x="0" y="0"/>
          <a:chExt cx="0" cy="0"/>
        </a:xfrm>
      </p:grpSpPr>
      <p:sp>
        <p:nvSpPr>
          <p:cNvPr id="1620" name="Google Shape;1620;h6554fdb7a5da3374_1_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Acknowledgement</a:t>
            </a:r>
            <a:endParaRPr/>
          </a:p>
        </p:txBody>
      </p:sp>
      <p:sp>
        <p:nvSpPr>
          <p:cNvPr id="1621" name="Google Shape;1621;h6554fdb7a5da3374_1_1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sz="2400"/>
              <a:t>Scikit Learn</a:t>
            </a:r>
            <a:endParaRPr sz="2400"/>
          </a:p>
          <a:p>
            <a:pPr indent="0" lvl="0" marL="0" rtl="0" algn="l">
              <a:spcBef>
                <a:spcPts val="0"/>
              </a:spcBef>
              <a:spcAft>
                <a:spcPts val="0"/>
              </a:spcAft>
              <a:buNone/>
            </a:pPr>
            <a:r>
              <a:rPr lang="pt-BR" sz="1800"/>
              <a:t>Examples/Classification</a:t>
            </a:r>
            <a:endParaRPr sz="1800"/>
          </a:p>
          <a:p>
            <a:pPr indent="0" lvl="0" marL="0" rtl="0" algn="l">
              <a:spcBef>
                <a:spcPts val="0"/>
              </a:spcBef>
              <a:spcAft>
                <a:spcPts val="0"/>
              </a:spcAft>
              <a:buNone/>
            </a:pPr>
            <a:r>
              <a:rPr lang="pt-BR"/>
              <a:t>Classifier Comparison</a:t>
            </a:r>
            <a:endParaRPr/>
          </a:p>
          <a:p>
            <a:pPr indent="0" lvl="0" marL="0" rtl="0" algn="l">
              <a:spcBef>
                <a:spcPts val="0"/>
              </a:spcBef>
              <a:spcAft>
                <a:spcPts val="0"/>
              </a:spcAft>
              <a:buNone/>
            </a:pPr>
            <a:r>
              <a:rPr lang="pt-BR" u="sng">
                <a:solidFill>
                  <a:schemeClr val="hlink"/>
                </a:solidFill>
                <a:hlinkClick r:id="rId3"/>
              </a:rPr>
              <a:t>https://scikit-learn.org/stable/auto_examples/classification/plot_classifier_comparison.html</a:t>
            </a:r>
            <a:endParaRPr/>
          </a:p>
        </p:txBody>
      </p:sp>
      <p:pic>
        <p:nvPicPr>
          <p:cNvPr id="1622" name="Google Shape;1622;h6554fdb7a5da3374_1_16"/>
          <p:cNvPicPr preferRelativeResize="0"/>
          <p:nvPr/>
        </p:nvPicPr>
        <p:blipFill>
          <a:blip r:embed="rId4">
            <a:alphaModFix/>
          </a:blip>
          <a:stretch>
            <a:fillRect/>
          </a:stretch>
        </p:blipFill>
        <p:spPr>
          <a:xfrm>
            <a:off x="128925" y="2097425"/>
            <a:ext cx="4577249" cy="152650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sp>
        <p:nvSpPr>
          <p:cNvPr id="1627" name="Google Shape;1627;g3f6939d4d94_0_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400"/>
              <a:buNone/>
            </a:pPr>
            <a:r>
              <a:rPr lang="pt-BR"/>
              <a:t>Licença</a:t>
            </a:r>
            <a:endParaRPr/>
          </a:p>
        </p:txBody>
      </p:sp>
      <p:sp>
        <p:nvSpPr>
          <p:cNvPr id="1628" name="Google Shape;1628;g3f6939d4d94_0_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74650" lvl="0" marL="457200" rtl="0" algn="l">
              <a:lnSpc>
                <a:spcPct val="115000"/>
              </a:lnSpc>
              <a:spcBef>
                <a:spcPts val="0"/>
              </a:spcBef>
              <a:spcAft>
                <a:spcPts val="0"/>
              </a:spcAft>
              <a:buSzPts val="2300"/>
              <a:buChar char="●"/>
            </a:pPr>
            <a:r>
              <a:rPr lang="pt-BR" sz="2300"/>
              <a:t>Estes slides são concedidos sob uma Licença Creative Commons. Sob as seguintes condições: Atribuição, Uso Não-Comercial e Compartilhamento pela mesma Licença. </a:t>
            </a:r>
            <a:endParaRPr sz="2300"/>
          </a:p>
          <a:p>
            <a:pPr indent="-374650" lvl="0" marL="457200" rtl="0" algn="l">
              <a:lnSpc>
                <a:spcPct val="115000"/>
              </a:lnSpc>
              <a:spcBef>
                <a:spcPts val="0"/>
              </a:spcBef>
              <a:spcAft>
                <a:spcPts val="0"/>
              </a:spcAft>
              <a:buSzPts val="2300"/>
              <a:buChar char="●"/>
            </a:pPr>
            <a:r>
              <a:rPr lang="pt-BR" sz="2300"/>
              <a:t>Mais detalhes sobre a referida licença Creative Commons veja no link:</a:t>
            </a:r>
            <a:br>
              <a:rPr lang="pt-BR" sz="2300"/>
            </a:br>
            <a:r>
              <a:rPr lang="pt-BR" sz="2300" u="sng">
                <a:solidFill>
                  <a:schemeClr val="hlink"/>
                </a:solidFill>
                <a:hlinkClick r:id="rId3"/>
              </a:rPr>
              <a:t>http://creativecommons.org/licenses/by-nc-sa/3.0/</a:t>
            </a:r>
            <a:endParaRPr sz="23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