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Tahoma"/>
      <p:regular r:id="rId55"/>
      <p:bold r:id="rId56"/>
    </p:embeddedFont>
    <p:embeddedFont>
      <p:font typeface="Advent Pro Medium"/>
      <p:regular r:id="rId57"/>
      <p:bold r:id="rId58"/>
      <p:italic r:id="rId59"/>
      <p:boldItalic r:id="rId60"/>
    </p:embeddedFont>
    <p:embeddedFont>
      <p:font typeface="Advent Pro"/>
      <p:regular r:id="rId61"/>
      <p:bold r:id="rId62"/>
      <p:italic r:id="rId63"/>
      <p:boldItalic r:id="rId64"/>
    </p:embeddedFont>
    <p:embeddedFont>
      <p:font typeface="Comfortaa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hBayFTIQ2ubpQayUswYU5tqEOA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37C963-6717-4167-975A-3A631CACA38F}">
  <a:tblStyle styleId="{A137C963-6717-4167-975A-3A631CACA3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dventPro-bold.fntdata"/><Relationship Id="rId61" Type="http://schemas.openxmlformats.org/officeDocument/2006/relationships/font" Target="fonts/AdventPro-regular.fntdata"/><Relationship Id="rId20" Type="http://schemas.openxmlformats.org/officeDocument/2006/relationships/slide" Target="slides/slide14.xml"/><Relationship Id="rId64" Type="http://schemas.openxmlformats.org/officeDocument/2006/relationships/font" Target="fonts/AdventPro-boldItalic.fntdata"/><Relationship Id="rId63" Type="http://schemas.openxmlformats.org/officeDocument/2006/relationships/font" Target="fonts/AdventPro-italic.fntdata"/><Relationship Id="rId22" Type="http://schemas.openxmlformats.org/officeDocument/2006/relationships/slide" Target="slides/slide16.xml"/><Relationship Id="rId66" Type="http://schemas.openxmlformats.org/officeDocument/2006/relationships/font" Target="fonts/Comfortaa-bold.fntdata"/><Relationship Id="rId21" Type="http://schemas.openxmlformats.org/officeDocument/2006/relationships/slide" Target="slides/slide15.xml"/><Relationship Id="rId65" Type="http://schemas.openxmlformats.org/officeDocument/2006/relationships/font" Target="fonts/Comfortaa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font" Target="fonts/AdventPro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Tahoma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AdventProMedium-regular.fntdata"/><Relationship Id="rId12" Type="http://schemas.openxmlformats.org/officeDocument/2006/relationships/slide" Target="slides/slide6.xml"/><Relationship Id="rId56" Type="http://schemas.openxmlformats.org/officeDocument/2006/relationships/font" Target="fonts/Tahoma-bold.fntdata"/><Relationship Id="rId15" Type="http://schemas.openxmlformats.org/officeDocument/2006/relationships/slide" Target="slides/slide9.xml"/><Relationship Id="rId59" Type="http://schemas.openxmlformats.org/officeDocument/2006/relationships/font" Target="fonts/AdventProMedium-italic.fntdata"/><Relationship Id="rId14" Type="http://schemas.openxmlformats.org/officeDocument/2006/relationships/slide" Target="slides/slide8.xml"/><Relationship Id="rId58" Type="http://schemas.openxmlformats.org/officeDocument/2006/relationships/font" Target="fonts/AdventPro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36f98b04b4fc2dcc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h36f98b04b4fc2dcc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Este curso tomou como ponto de partida os slides do colega Luiz Celso Gomes-Jr, a quem agradeço. Slides reutilizados e/ou adaptados receberão o selo ao lado.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36f98b04b4fc2dcc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36f98b04b4fc2dcc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d3a3cf9feb04bd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d3a3cf9feb04bd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d3a3cf9feb04b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hd3a3cf9feb04b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703caca149ccc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4703caca149ccc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36394527f7dc36b1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36394527f7dc36b1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We're showing the activation function here as sigma, but it can be the sigmoid, tanh, or ReLU activation function we defined earlier.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we’re applying the σ function here to a vector, allowing σ(·), to apply to a vector element-wise, so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3] = [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1),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2),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3)].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 saw in the lecture on XOR, the resulting value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forms a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representation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input. The role of the output layer is to take this new representation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compute a final output. This output could be a real- valued number, but in many cases the goal of the network is to make some sort of classification decision, and so we will focus on the case of classification.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are doing a binary task like sentiment classification, we might have a single output node, and its value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probability of positive versus negative sentiment.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layer has a weight matrix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some models don’t include a bias vector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output layer, so we’ll simplify by eliminating the bias vector in this example. The weight matrix is multiplied by its input vector (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produce the intermediate output 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Uh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then we use the sigmoid to turn this into a probability.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36394527f7dc36b1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36394527f7dc36b1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36394527f7dc36b1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36394527f7dc36b1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790ff578c93ec93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790ff578c93ec93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4703caca149ccce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4703caca149ccce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36f98b04b4fc2dcc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36f98b04b4fc2dcc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36394527f7dc36b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36394527f7dc36b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36394527f7dc36b1_0_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h36394527f7dc36b1_0_0:notes"/>
          <p:cNvSpPr txBox="1"/>
          <p:nvPr>
            <p:ph idx="1" type="body"/>
          </p:nvPr>
        </p:nvSpPr>
        <p:spPr>
          <a:xfrm>
            <a:off x="685801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Here's the intuition of parameters we’ll need. Skip-gram actually stores two embeddings for each word, one for the word as a target, and one for the word considered as context. Thus the parameters we need to learn are two matrices </a:t>
            </a:r>
            <a:r>
              <a:rPr i="0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each containing an embedding for every one of the |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words in the vocbulary</a:t>
            </a:r>
            <a:endParaRPr/>
          </a:p>
        </p:txBody>
      </p:sp>
      <p:sp>
        <p:nvSpPr>
          <p:cNvPr id="464" name="Google Shape;464;h36394527f7dc36b1_0_0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36394527f7dc36b1_0_74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h36394527f7dc36b1_0_74:notes"/>
          <p:cNvSpPr txBox="1"/>
          <p:nvPr>
            <p:ph idx="1" type="body"/>
          </p:nvPr>
        </p:nvSpPr>
        <p:spPr>
          <a:xfrm>
            <a:off x="685801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Here's the setting where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2, so we’ll have 2 negative examples in the negative training set − for each positive example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cpos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 noise words are chosen according to their weighted unigram frequency. </a:t>
            </a:r>
            <a:endParaRPr/>
          </a:p>
        </p:txBody>
      </p:sp>
      <p:sp>
        <p:nvSpPr>
          <p:cNvPr id="472" name="Google Shape;472;h36394527f7dc36b1_0_74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36394527f7dc36b1_0_88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h36394527f7dc36b1_0_88:notes"/>
          <p:cNvSpPr txBox="1"/>
          <p:nvPr>
            <p:ph idx="1" type="body"/>
          </p:nvPr>
        </p:nvSpPr>
        <p:spPr>
          <a:xfrm>
            <a:off x="685801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set of positive and negative training instances, and an initial set of embeddings, the goal of the learning algorithm is to adjust those embeddings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Maximize the similarity of the target word, context word pairs (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cpos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drawn from the positive examples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Minimize the similarity of the (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cneg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pairs from the negative examples.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h36394527f7dc36b1_0_88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36394527f7dc36b1_0_95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19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h36394527f7dc36b1_0_95:notes"/>
          <p:cNvSpPr txBox="1"/>
          <p:nvPr>
            <p:ph idx="1" type="body"/>
          </p:nvPr>
        </p:nvSpPr>
        <p:spPr>
          <a:xfrm>
            <a:off x="685801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Let's look at the intuition of one step of gradient descent. The skip-gram model tries to shift embeddings so the target embeddings (here for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apricot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are closer to (have a higher dot product with) context embeddings for nearby words (here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further from (lower dot product with) context embeddings for noise words that don’t occur nearby (here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Tolstoy 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</a:t>
            </a: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h36394527f7dc36b1_0_95:notes"/>
          <p:cNvSpPr txBox="1"/>
          <p:nvPr>
            <p:ph idx="12" type="sldNum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4703caca149ccce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h4703caca149ccce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4703caca149ccce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4703caca149ccce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h36f98b04b4fc2dc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h36f98b04b4fc2dc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h36f98b04b4fc2dc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h36f98b04b4fc2dc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h747215552b4ace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h747215552b4ace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36f98b04b4fc2dc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h36f98b04b4fc2dc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h36f98b04b4fc2dc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h36f98b04b4fc2dc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h790ff578c93ec937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h790ff578c93ec937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h36f98b04b4fc2dc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h36f98b04b4fc2dc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h36f98b04b4fc2dcc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h36f98b04b4fc2dcc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36f98b04b4fc2dcc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h36f98b04b4fc2dcc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he44d9eb361d832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he44d9eb361d832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he44d9eb361d8323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he44d9eb361d832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he44d9eb361d832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he44d9eb361d832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h36f98b04b4fc2dcc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h36f98b04b4fc2dcc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h36f98b04b4fc2dcc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h36f98b04b4fc2dcc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h36f98b04b4fc2dcc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h36f98b04b4fc2dcc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h36f98b04b4fc2dc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h36f98b04b4fc2dc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h36f98b04b4fc2dcc_0_5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h36f98b04b4fc2dcc_0_5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36f98b04b4fc2dc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h36f98b04b4fc2dc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h36f98b04b4fc2dcc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h36f98b04b4fc2dcc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h36f98b04b4fc2dcc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h36f98b04b4fc2dcc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h36f98b04b4fc2dcc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h36f98b04b4fc2dcc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h36f98b04b4fc2dcc_0_848:notes"/>
          <p:cNvSpPr txBox="1"/>
          <p:nvPr>
            <p:ph idx="1" type="body"/>
          </p:nvPr>
        </p:nvSpPr>
        <p:spPr>
          <a:xfrm>
            <a:off x="685829" y="4343327"/>
            <a:ext cx="54864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h36f98b04b4fc2dcc_0_848:notes"/>
          <p:cNvSpPr/>
          <p:nvPr>
            <p:ph idx="2" type="sldImg"/>
          </p:nvPr>
        </p:nvSpPr>
        <p:spPr>
          <a:xfrm>
            <a:off x="196381" y="694895"/>
            <a:ext cx="6465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h36f98b04b4fc2dcc_0_854:notes"/>
          <p:cNvSpPr txBox="1"/>
          <p:nvPr>
            <p:ph idx="1" type="body"/>
          </p:nvPr>
        </p:nvSpPr>
        <p:spPr>
          <a:xfrm>
            <a:off x="685829" y="4343327"/>
            <a:ext cx="54864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h36f98b04b4fc2dcc_0_854:notes"/>
          <p:cNvSpPr/>
          <p:nvPr>
            <p:ph idx="2" type="sldImg"/>
          </p:nvPr>
        </p:nvSpPr>
        <p:spPr>
          <a:xfrm>
            <a:off x="196381" y="694895"/>
            <a:ext cx="6465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h36f98b04b4fc2dcc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h36f98b04b4fc2dcc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h36f98b04b4fc2dcc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h36f98b04b4fc2dcc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6" name="Google Shape;10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he44d9eb361d832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he44d9eb361d832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h747215552b4acee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h747215552b4ace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f6939d4d9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g3f6939d4d9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6F647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000"/>
              <a:buNone/>
              <a:defRPr sz="20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6F64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B2E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 sz="1400">
                <a:solidFill>
                  <a:srgbClr val="D9D9D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None/>
              <a:defRPr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457172" y="205014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457172" y="1203631"/>
            <a:ext cx="8228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3E7E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mfortaa"/>
              <a:buNone/>
              <a:defRPr b="1" i="0" sz="3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fortaa"/>
              <a:buNone/>
              <a:defRPr b="1" i="0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Comfortaa"/>
              <a:buChar char="●"/>
              <a:defRPr b="0" i="0" sz="3000" u="none" cap="none" strike="noStrike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810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fortaa"/>
              <a:buChar char="○"/>
              <a:defRPr b="0" i="0" sz="2400" u="none" cap="none" strike="noStrike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mfortaa"/>
              <a:buChar char="■"/>
              <a:defRPr b="0" i="0" sz="1800" u="none" cap="none" strike="noStrike">
                <a:solidFill>
                  <a:srgbClr val="666666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mfortaa"/>
              <a:buChar char="●"/>
              <a:defRPr b="0" i="0" sz="1400" u="none" cap="none" strike="noStrike">
                <a:solidFill>
                  <a:srgbClr val="666666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mfortaa"/>
              <a:buChar char="○"/>
              <a:defRPr b="0" i="0" sz="1400" u="none" cap="none" strike="noStrike">
                <a:solidFill>
                  <a:srgbClr val="666666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mfortaa"/>
              <a:buChar char="■"/>
              <a:defRPr b="0" i="0" sz="1400" u="none" cap="none" strike="noStrike">
                <a:solidFill>
                  <a:srgbClr val="666666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omfortaa"/>
              <a:buChar char="●"/>
              <a:defRPr b="0" i="0" sz="1400" u="none" cap="none" strike="noStrike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Comfortaa"/>
              <a:buChar char="○"/>
              <a:defRPr b="0" i="0" sz="1400" u="none" cap="none" strike="noStrike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Comfortaa"/>
              <a:buChar char="■"/>
              <a:defRPr b="0" i="0" sz="1400" u="none" cap="none" strike="noStrike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pessoal.dainf.ct.utfpr.edu.br/lcjunior/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eb.archive.org/web/20180520170332/http://www.cs.ucr.edu/%7Evagelis/classes/CS242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santanche.github.io/nlp2learn/machine-learning/neural-network/feedforward/" TargetMode="External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hyperlink" Target="https://cs231n.github.io/neural-networks-3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ai-artificial-intelligence.webyes.com.br/most-used-activation-functions-in-neural-networks/" TargetMode="External"/><Relationship Id="rId4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doi.org/10.1007/S00422-022-00937-6" TargetMode="External"/><Relationship Id="rId4" Type="http://schemas.openxmlformats.org/officeDocument/2006/relationships/hyperlink" Target="https://web.stanford.edu/class/cs124/" TargetMode="External"/><Relationship Id="rId5" Type="http://schemas.openxmlformats.org/officeDocument/2006/relationships/hyperlink" Target="https://doi.org/10.1016/B978-0-12-815739-8.00011-0" TargetMode="External"/><Relationship Id="rId6" Type="http://schemas.openxmlformats.org/officeDocument/2006/relationships/hyperlink" Target="https://doi.org/10.1016/J.ASOC.2023.110176" TargetMode="External"/><Relationship Id="rId7" Type="http://schemas.openxmlformats.org/officeDocument/2006/relationships/hyperlink" Target="https://arxiv.org/abs/1301.3781v3" TargetMode="External"/><Relationship Id="rId8" Type="http://schemas.openxmlformats.org/officeDocument/2006/relationships/hyperlink" Target="https://aclanthology.org/N13-1090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/>
          <p:nvPr/>
        </p:nvSpPr>
        <p:spPr>
          <a:xfrm>
            <a:off x="4449625" y="4177875"/>
            <a:ext cx="2864700" cy="219300"/>
          </a:xfrm>
          <a:prstGeom prst="rect">
            <a:avLst/>
          </a:prstGeom>
          <a:solidFill>
            <a:srgbClr val="E3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49625" y="3958575"/>
            <a:ext cx="1355100" cy="219300"/>
          </a:xfrm>
          <a:prstGeom prst="rect">
            <a:avLst/>
          </a:prstGeom>
          <a:solidFill>
            <a:srgbClr val="E3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449625" y="4397175"/>
            <a:ext cx="2477400" cy="219300"/>
          </a:xfrm>
          <a:prstGeom prst="rect">
            <a:avLst/>
          </a:prstGeom>
          <a:solidFill>
            <a:srgbClr val="E3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4400875" y="3866000"/>
            <a:ext cx="29583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André Santanchè</a:t>
            </a:r>
            <a:endParaRPr b="0" i="0" sz="1400" u="none" cap="none" strike="noStrike">
              <a:solidFill>
                <a:srgbClr val="BF3730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Laboratory of Information Systems - LIS</a:t>
            </a:r>
            <a:endParaRPr b="0" i="0" sz="1400" u="none" cap="none" strike="noStrike"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Instituto de Computação - UNICAMP</a:t>
            </a:r>
            <a:endParaRPr b="0" i="0" sz="1400" u="none" cap="none" strike="noStrike"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4295300" y="311000"/>
            <a:ext cx="4763400" cy="22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EFEFEF"/>
                </a:solidFill>
                <a:latin typeface="Advent Pro"/>
                <a:ea typeface="Advent Pro"/>
                <a:cs typeface="Advent Pro"/>
                <a:sym typeface="Advent Pro"/>
              </a:rPr>
              <a:t>NATURAL LANGUAGE PROCESSING</a:t>
            </a:r>
            <a:endParaRPr b="1" i="0" sz="1200" u="none" cap="none" strike="noStrike">
              <a:solidFill>
                <a:srgbClr val="EFEFEF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pt-BR" sz="4800">
                <a:solidFill>
                  <a:srgbClr val="FFFFFF"/>
                </a:solidFill>
                <a:latin typeface="Advent Pro"/>
                <a:ea typeface="Advent Pro"/>
                <a:cs typeface="Advent Pro"/>
                <a:sym typeface="Advent Pro"/>
              </a:rPr>
              <a:t>Deep Learning for NLP</a:t>
            </a:r>
            <a:endParaRPr b="1" i="0" sz="4800" u="none" cap="none" strike="noStrike">
              <a:solidFill>
                <a:srgbClr val="FFFFFF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400875" y="4648400"/>
            <a:ext cx="23265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lt1"/>
                </a:solidFill>
                <a:latin typeface="Advent Pro"/>
                <a:ea typeface="Advent Pro"/>
                <a:cs typeface="Advent Pro"/>
                <a:sym typeface="Advent Pro"/>
              </a:rPr>
              <a:t>October</a:t>
            </a:r>
            <a:r>
              <a:rPr b="1" i="0" lang="pt-BR" sz="1100" u="none" cap="none" strike="noStrike">
                <a:solidFill>
                  <a:schemeClr val="lt1"/>
                </a:solidFill>
                <a:latin typeface="Advent Pro"/>
                <a:ea typeface="Advent Pro"/>
                <a:cs typeface="Advent Pro"/>
                <a:sym typeface="Advent Pro"/>
              </a:rPr>
              <a:t> 2026</a:t>
            </a:r>
            <a:endParaRPr b="1" i="0" sz="1100" u="none" cap="none" strike="noStrike">
              <a:solidFill>
                <a:schemeClr val="l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36f98b04b4fc2dcc_0_438"/>
          <p:cNvSpPr txBox="1"/>
          <p:nvPr>
            <p:ph type="title"/>
          </p:nvPr>
        </p:nvSpPr>
        <p:spPr>
          <a:xfrm>
            <a:off x="311700" y="1244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pt-BR"/>
              <a:t>Acknowledgments</a:t>
            </a:r>
            <a:endParaRPr/>
          </a:p>
        </p:txBody>
      </p:sp>
      <p:pic>
        <p:nvPicPr>
          <p:cNvPr id="68" name="Google Shape;68;h36f98b04b4fc2dcc_0_4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500" y="2055748"/>
            <a:ext cx="2899225" cy="240256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h36f98b04b4fc2dcc_0_438"/>
          <p:cNvSpPr txBox="1"/>
          <p:nvPr/>
        </p:nvSpPr>
        <p:spPr>
          <a:xfrm>
            <a:off x="1749750" y="4549000"/>
            <a:ext cx="56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4"/>
              </a:rPr>
              <a:t>https://pessoal.dainf.ct.utfpr.edu.br/lcjunior/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0" name="Google Shape;70;h36f98b04b4fc2dcc_0_4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2376" y="895438"/>
            <a:ext cx="9525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h36f98b04b4fc2dcc_0_438"/>
          <p:cNvSpPr txBox="1"/>
          <p:nvPr>
            <p:ph idx="1" type="body"/>
          </p:nvPr>
        </p:nvSpPr>
        <p:spPr>
          <a:xfrm>
            <a:off x="311700" y="781100"/>
            <a:ext cx="74250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This course took the slides of my colleague Luiz Celso Gomes-Jr—to whom I extend my thanks—as a starting point. Slides that have been reused and/or adapted will bear the seal shown here.</a:t>
            </a:r>
            <a:endParaRPr sz="1700"/>
          </a:p>
        </p:txBody>
      </p:sp>
      <p:pic>
        <p:nvPicPr>
          <p:cNvPr id="72" name="Google Shape;72;h36f98b04b4fc2dcc_0_438" title="13a - Neural Networks for NL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1775" y="2059113"/>
            <a:ext cx="3201423" cy="2402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36f98b04b4fc2dcc_0_4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pt-BR"/>
              <a:t>Acknowledgments</a:t>
            </a:r>
            <a:endParaRPr/>
          </a:p>
        </p:txBody>
      </p:sp>
      <p:sp>
        <p:nvSpPr>
          <p:cNvPr id="78" name="Google Shape;78;h36f98b04b4fc2dcc_0_447"/>
          <p:cNvSpPr txBox="1"/>
          <p:nvPr>
            <p:ph idx="1" type="body"/>
          </p:nvPr>
        </p:nvSpPr>
        <p:spPr>
          <a:xfrm>
            <a:off x="4165975" y="2077325"/>
            <a:ext cx="4816500" cy="18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1600"/>
              <a:t>CS 242: Information Retrieval &amp; Web Search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1600"/>
              <a:t>Vagelis Hristidis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1600"/>
              <a:t>Spring 2015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1600" u="sng">
                <a:solidFill>
                  <a:schemeClr val="hlink"/>
                </a:solidFill>
                <a:hlinkClick r:id="rId3"/>
              </a:rPr>
              <a:t>https://web.archive.org/web/20180520170332/http://www.cs.ucr.edu/%7Evagelis/classes/CS242/</a:t>
            </a:r>
            <a:endParaRPr sz="1600"/>
          </a:p>
        </p:txBody>
      </p:sp>
      <p:pic>
        <p:nvPicPr>
          <p:cNvPr id="79" name="Google Shape;79;h36f98b04b4fc2dcc_0_4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00" y="1617352"/>
            <a:ext cx="3703199" cy="277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d3a3cf9feb04bd8_0_5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Neural Network Design Patterns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d3a3cf9feb04bd8_0_5"/>
          <p:cNvSpPr txBox="1"/>
          <p:nvPr>
            <p:ph type="title"/>
          </p:nvPr>
        </p:nvSpPr>
        <p:spPr>
          <a:xfrm>
            <a:off x="311700" y="2150850"/>
            <a:ext cx="5684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Níveis de Abstração</a:t>
            </a:r>
            <a:endParaRPr/>
          </a:p>
        </p:txBody>
      </p:sp>
      <p:pic>
        <p:nvPicPr>
          <p:cNvPr id="90" name="Google Shape;90;hd3a3cf9feb04bd8_0_5" title="ChatGPT Image Sep 1, 2025, 03_50_20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000" y="193988"/>
            <a:ext cx="3170350" cy="475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4703caca149ccce2_0_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Feedforward Neural Network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Presentation Approach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6394527f7dc36b1_0_368"/>
          <p:cNvSpPr txBox="1"/>
          <p:nvPr>
            <p:ph type="title"/>
          </p:nvPr>
        </p:nvSpPr>
        <p:spPr>
          <a:xfrm>
            <a:off x="311700" y="33425"/>
            <a:ext cx="8520600" cy="5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300"/>
              <a:t>Two-Layer Network with scalar output</a:t>
            </a:r>
            <a:endParaRPr sz="3100"/>
          </a:p>
        </p:txBody>
      </p:sp>
      <p:sp>
        <p:nvSpPr>
          <p:cNvPr id="101" name="Google Shape;101;h36394527f7dc36b1_0_368"/>
          <p:cNvSpPr/>
          <p:nvPr/>
        </p:nvSpPr>
        <p:spPr>
          <a:xfrm rot="5400000">
            <a:off x="1883300" y="1356725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2" name="Google Shape;102;h36394527f7dc36b1_0_368"/>
          <p:cNvSpPr txBox="1"/>
          <p:nvPr/>
        </p:nvSpPr>
        <p:spPr>
          <a:xfrm>
            <a:off x="1251338" y="974325"/>
            <a:ext cx="1465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input layer</a:t>
            </a:r>
            <a:endParaRPr sz="16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(vector x)</a:t>
            </a:r>
            <a:endParaRPr sz="16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3" name="Google Shape;103;h36394527f7dc36b1_0_368"/>
          <p:cNvSpPr/>
          <p:nvPr/>
        </p:nvSpPr>
        <p:spPr>
          <a:xfrm rot="5400000">
            <a:off x="4884075" y="1154284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" name="Google Shape;104;h36394527f7dc36b1_0_368"/>
          <p:cNvSpPr txBox="1"/>
          <p:nvPr/>
        </p:nvSpPr>
        <p:spPr>
          <a:xfrm>
            <a:off x="4153275" y="802484"/>
            <a:ext cx="166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hidden units</a:t>
            </a:r>
            <a:endParaRPr sz="16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(</a:t>
            </a:r>
            <a:r>
              <a:rPr lang="pt-BR" sz="16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σ nodes</a:t>
            </a:r>
            <a:r>
              <a:rPr lang="pt-BR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" name="Google Shape;105;h36394527f7dc36b1_0_368"/>
          <p:cNvSpPr/>
          <p:nvPr/>
        </p:nvSpPr>
        <p:spPr>
          <a:xfrm rot="5400000">
            <a:off x="7149875" y="1432175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6" name="Google Shape;106;h36394527f7dc36b1_0_368"/>
          <p:cNvSpPr txBox="1"/>
          <p:nvPr/>
        </p:nvSpPr>
        <p:spPr>
          <a:xfrm>
            <a:off x="6419075" y="1004925"/>
            <a:ext cx="166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output layer</a:t>
            </a:r>
            <a:endParaRPr sz="16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(</a:t>
            </a:r>
            <a:r>
              <a:rPr lang="pt-BR" sz="16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σ node</a:t>
            </a:r>
            <a:r>
              <a:rPr lang="pt-BR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" name="Google Shape;107;h36394527f7dc36b1_0_368"/>
          <p:cNvSpPr txBox="1"/>
          <p:nvPr/>
        </p:nvSpPr>
        <p:spPr>
          <a:xfrm>
            <a:off x="107425" y="4658825"/>
            <a:ext cx="25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adapted from (Jurafsky, 2026)</a:t>
            </a:r>
            <a:endParaRPr sz="12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8" name="Google Shape;108;h36394527f7dc36b1_0_3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405" y="4133326"/>
            <a:ext cx="2107012" cy="4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h36394527f7dc36b1_0_3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5800" y="3346875"/>
            <a:ext cx="1380357" cy="8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h36394527f7dc36b1_0_368"/>
          <p:cNvSpPr txBox="1"/>
          <p:nvPr/>
        </p:nvSpPr>
        <p:spPr>
          <a:xfrm>
            <a:off x="3860975" y="4713750"/>
            <a:ext cx="24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could be a ReLU or tanh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111" name="Google Shape;111;h36394527f7dc36b1_0_368"/>
          <p:cNvGrpSpPr/>
          <p:nvPr/>
        </p:nvGrpSpPr>
        <p:grpSpPr>
          <a:xfrm>
            <a:off x="1629113" y="1673881"/>
            <a:ext cx="5397013" cy="2926314"/>
            <a:chOff x="1629113" y="1673881"/>
            <a:chExt cx="5397013" cy="2926314"/>
          </a:xfrm>
        </p:grpSpPr>
        <p:sp>
          <p:nvSpPr>
            <p:cNvPr id="112" name="Google Shape;112;h36394527f7dc36b1_0_368"/>
            <p:cNvSpPr/>
            <p:nvPr/>
          </p:nvSpPr>
          <p:spPr>
            <a:xfrm>
              <a:off x="1629113" y="2689627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x</a:t>
              </a:r>
              <a:r>
                <a:rPr b="0" baseline="-25000" lang="pt-BR" sz="1241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h36394527f7dc36b1_0_368"/>
            <p:cNvSpPr/>
            <p:nvPr/>
          </p:nvSpPr>
          <p:spPr>
            <a:xfrm>
              <a:off x="1629132" y="3265600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x</a:t>
              </a:r>
              <a:r>
                <a:rPr b="0" baseline="-25000" lang="pt-BR" sz="1241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h36394527f7dc36b1_0_368"/>
            <p:cNvSpPr/>
            <p:nvPr/>
          </p:nvSpPr>
          <p:spPr>
            <a:xfrm>
              <a:off x="1629132" y="4093795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x</a:t>
              </a:r>
              <a:r>
                <a:rPr baseline="-25000" lang="pt-BR" sz="1241"/>
                <a:t>n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h36394527f7dc36b1_0_368"/>
            <p:cNvSpPr/>
            <p:nvPr/>
          </p:nvSpPr>
          <p:spPr>
            <a:xfrm>
              <a:off x="1629113" y="2113644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h36394527f7dc36b1_0_368"/>
            <p:cNvSpPr txBox="1"/>
            <p:nvPr/>
          </p:nvSpPr>
          <p:spPr>
            <a:xfrm>
              <a:off x="1629126" y="2199716"/>
              <a:ext cx="5064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00" lIns="70900" spcFirstLastPara="1" rIns="70900" wrap="square" tIns="709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>
                  <a:solidFill>
                    <a:schemeClr val="dk1"/>
                  </a:solidFill>
                </a:rPr>
                <a:t>x</a:t>
              </a:r>
              <a:r>
                <a:rPr baseline="-25000" lang="pt-BR" sz="1241">
                  <a:solidFill>
                    <a:schemeClr val="dk1"/>
                  </a:solidFill>
                </a:rPr>
                <a:t>0</a:t>
              </a:r>
              <a:r>
                <a:rPr lang="pt-BR" sz="1241">
                  <a:solidFill>
                    <a:schemeClr val="dk1"/>
                  </a:solidFill>
                </a:rPr>
                <a:t>=1</a:t>
              </a:r>
              <a:endParaRPr sz="1241">
                <a:solidFill>
                  <a:schemeClr val="dk1"/>
                </a:solidFill>
              </a:endParaRPr>
            </a:p>
          </p:txBody>
        </p:sp>
        <p:grpSp>
          <p:nvGrpSpPr>
            <p:cNvPr id="117" name="Google Shape;117;h36394527f7dc36b1_0_368"/>
            <p:cNvGrpSpPr/>
            <p:nvPr/>
          </p:nvGrpSpPr>
          <p:grpSpPr>
            <a:xfrm>
              <a:off x="1753845" y="3865858"/>
              <a:ext cx="288564" cy="74448"/>
              <a:chOff x="3272500" y="3440675"/>
              <a:chExt cx="372100" cy="96000"/>
            </a:xfrm>
          </p:grpSpPr>
          <p:sp>
            <p:nvSpPr>
              <p:cNvPr id="118" name="Google Shape;118;h36394527f7dc36b1_0_368"/>
              <p:cNvSpPr/>
              <p:nvPr/>
            </p:nvSpPr>
            <p:spPr>
              <a:xfrm>
                <a:off x="3272500" y="3440675"/>
                <a:ext cx="96000" cy="96000"/>
              </a:xfrm>
              <a:prstGeom prst="ellipse">
                <a:avLst/>
              </a:prstGeom>
              <a:solidFill>
                <a:schemeClr val="lt1"/>
              </a:solidFill>
              <a:ln cap="flat" cmpd="sng" w="73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0900" lIns="70900" spcFirstLastPara="1" rIns="70900" wrap="square" tIns="70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86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119" name="Google Shape;119;h36394527f7dc36b1_0_368"/>
              <p:cNvSpPr/>
              <p:nvPr/>
            </p:nvSpPr>
            <p:spPr>
              <a:xfrm>
                <a:off x="3410550" y="3440675"/>
                <a:ext cx="96000" cy="96000"/>
              </a:xfrm>
              <a:prstGeom prst="ellipse">
                <a:avLst/>
              </a:prstGeom>
              <a:solidFill>
                <a:schemeClr val="lt1"/>
              </a:solidFill>
              <a:ln cap="flat" cmpd="sng" w="73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0900" lIns="70900" spcFirstLastPara="1" rIns="70900" wrap="square" tIns="70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86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120" name="Google Shape;120;h36394527f7dc36b1_0_368"/>
              <p:cNvSpPr/>
              <p:nvPr/>
            </p:nvSpPr>
            <p:spPr>
              <a:xfrm>
                <a:off x="3548600" y="3440675"/>
                <a:ext cx="96000" cy="96000"/>
              </a:xfrm>
              <a:prstGeom prst="ellipse">
                <a:avLst/>
              </a:prstGeom>
              <a:solidFill>
                <a:schemeClr val="lt1"/>
              </a:solidFill>
              <a:ln cap="flat" cmpd="sng" w="73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0900" lIns="70900" spcFirstLastPara="1" rIns="70900" wrap="square" tIns="70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86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  <p:sp>
          <p:nvSpPr>
            <p:cNvPr id="121" name="Google Shape;121;h36394527f7dc36b1_0_368"/>
            <p:cNvSpPr/>
            <p:nvPr/>
          </p:nvSpPr>
          <p:spPr>
            <a:xfrm>
              <a:off x="4686288" y="2921194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chemeClr val="dk1"/>
                  </a:solidFill>
                </a:rPr>
                <a:t>σ</a:t>
              </a:r>
              <a:r>
                <a:rPr baseline="-25000" lang="pt-BR">
                  <a:solidFill>
                    <a:schemeClr val="dk1"/>
                  </a:solidFill>
                </a:rPr>
                <a:t>2</a:t>
              </a:r>
              <a:endParaRPr b="0" baseline="-2500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h36394527f7dc36b1_0_368"/>
            <p:cNvSpPr/>
            <p:nvPr/>
          </p:nvSpPr>
          <p:spPr>
            <a:xfrm>
              <a:off x="4656738" y="2304694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chemeClr val="dk1"/>
                  </a:solidFill>
                </a:rPr>
                <a:t>σ</a:t>
              </a:r>
              <a:r>
                <a:rPr baseline="-25000" lang="pt-BR">
                  <a:solidFill>
                    <a:schemeClr val="dk1"/>
                  </a:solidFill>
                </a:rPr>
                <a:t>1</a:t>
              </a:r>
              <a:endParaRPr b="0" baseline="-2500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h36394527f7dc36b1_0_368"/>
            <p:cNvSpPr/>
            <p:nvPr/>
          </p:nvSpPr>
          <p:spPr>
            <a:xfrm>
              <a:off x="4686288" y="3526319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chemeClr val="dk1"/>
                  </a:solidFill>
                </a:rPr>
                <a:t>σ</a:t>
              </a:r>
              <a:r>
                <a:rPr baseline="-25000" lang="pt-BR">
                  <a:solidFill>
                    <a:schemeClr val="dk1"/>
                  </a:solidFill>
                </a:rPr>
                <a:t>3</a:t>
              </a:r>
              <a:endParaRPr b="0" baseline="-2500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h36394527f7dc36b1_0_368"/>
            <p:cNvCxnSpPr>
              <a:stCxn id="116" idx="3"/>
              <a:endCxn id="122" idx="1"/>
            </p:cNvCxnSpPr>
            <p:nvPr/>
          </p:nvCxnSpPr>
          <p:spPr>
            <a:xfrm>
              <a:off x="2135526" y="2366816"/>
              <a:ext cx="2595300" cy="12000"/>
            </a:xfrm>
            <a:prstGeom prst="straightConnector1">
              <a:avLst/>
            </a:prstGeom>
            <a:noFill/>
            <a:ln cap="flat" cmpd="sng" w="20500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" name="Google Shape;125;h36394527f7dc36b1_0_368"/>
            <p:cNvCxnSpPr>
              <a:stCxn id="112" idx="6"/>
            </p:cNvCxnSpPr>
            <p:nvPr/>
          </p:nvCxnSpPr>
          <p:spPr>
            <a:xfrm flipH="1" rot="10800000">
              <a:off x="2135513" y="2503027"/>
              <a:ext cx="2515500" cy="439800"/>
            </a:xfrm>
            <a:prstGeom prst="straightConnector1">
              <a:avLst/>
            </a:prstGeom>
            <a:noFill/>
            <a:ln cap="flat" cmpd="sng" w="20500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" name="Google Shape;126;h36394527f7dc36b1_0_368"/>
            <p:cNvCxnSpPr>
              <a:stCxn id="113" idx="6"/>
            </p:cNvCxnSpPr>
            <p:nvPr/>
          </p:nvCxnSpPr>
          <p:spPr>
            <a:xfrm flipH="1" rot="10800000">
              <a:off x="2135532" y="2640400"/>
              <a:ext cx="2529300" cy="878400"/>
            </a:xfrm>
            <a:prstGeom prst="straightConnector1">
              <a:avLst/>
            </a:prstGeom>
            <a:noFill/>
            <a:ln cap="flat" cmpd="sng" w="20500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h36394527f7dc36b1_0_368"/>
            <p:cNvCxnSpPr>
              <a:stCxn id="114" idx="6"/>
              <a:endCxn id="122" idx="3"/>
            </p:cNvCxnSpPr>
            <p:nvPr/>
          </p:nvCxnSpPr>
          <p:spPr>
            <a:xfrm flipH="1" rot="10800000">
              <a:off x="2135532" y="2736895"/>
              <a:ext cx="2595300" cy="1610100"/>
            </a:xfrm>
            <a:prstGeom prst="straightConnector1">
              <a:avLst/>
            </a:prstGeom>
            <a:noFill/>
            <a:ln cap="flat" cmpd="sng" w="20500">
              <a:solidFill>
                <a:srgbClr val="B7B7B7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" name="Google Shape;128;h36394527f7dc36b1_0_368"/>
            <p:cNvCxnSpPr>
              <a:stCxn id="112" idx="6"/>
            </p:cNvCxnSpPr>
            <p:nvPr/>
          </p:nvCxnSpPr>
          <p:spPr>
            <a:xfrm>
              <a:off x="2135513" y="2942827"/>
              <a:ext cx="2550000" cy="1653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9" name="Google Shape;129;h36394527f7dc36b1_0_368"/>
            <p:cNvCxnSpPr>
              <a:stCxn id="113" idx="6"/>
            </p:cNvCxnSpPr>
            <p:nvPr/>
          </p:nvCxnSpPr>
          <p:spPr>
            <a:xfrm flipH="1" rot="10800000">
              <a:off x="2135532" y="3232000"/>
              <a:ext cx="2543100" cy="2868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0" name="Google Shape;130;h36394527f7dc36b1_0_368"/>
            <p:cNvCxnSpPr>
              <a:stCxn id="114" idx="6"/>
              <a:endCxn id="121" idx="3"/>
            </p:cNvCxnSpPr>
            <p:nvPr/>
          </p:nvCxnSpPr>
          <p:spPr>
            <a:xfrm flipH="1" rot="10800000">
              <a:off x="2135532" y="3353395"/>
              <a:ext cx="2625000" cy="9936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1" name="Google Shape;131;h36394527f7dc36b1_0_368"/>
            <p:cNvCxnSpPr>
              <a:stCxn id="116" idx="3"/>
              <a:endCxn id="121" idx="1"/>
            </p:cNvCxnSpPr>
            <p:nvPr/>
          </p:nvCxnSpPr>
          <p:spPr>
            <a:xfrm>
              <a:off x="2135526" y="2366816"/>
              <a:ext cx="2625000" cy="6285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2" name="Google Shape;132;h36394527f7dc36b1_0_368"/>
            <p:cNvCxnSpPr>
              <a:stCxn id="116" idx="3"/>
              <a:endCxn id="123" idx="1"/>
            </p:cNvCxnSpPr>
            <p:nvPr/>
          </p:nvCxnSpPr>
          <p:spPr>
            <a:xfrm>
              <a:off x="2135526" y="2366816"/>
              <a:ext cx="2625000" cy="12336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3" name="Google Shape;133;h36394527f7dc36b1_0_368"/>
            <p:cNvCxnSpPr>
              <a:stCxn id="114" idx="6"/>
              <a:endCxn id="123" idx="3"/>
            </p:cNvCxnSpPr>
            <p:nvPr/>
          </p:nvCxnSpPr>
          <p:spPr>
            <a:xfrm flipH="1" rot="10800000">
              <a:off x="2135532" y="3958495"/>
              <a:ext cx="2625000" cy="3885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" name="Google Shape;134;h36394527f7dc36b1_0_368"/>
            <p:cNvCxnSpPr>
              <a:stCxn id="112" idx="6"/>
            </p:cNvCxnSpPr>
            <p:nvPr/>
          </p:nvCxnSpPr>
          <p:spPr>
            <a:xfrm>
              <a:off x="2135513" y="2942827"/>
              <a:ext cx="2529300" cy="7773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5" name="Google Shape;135;h36394527f7dc36b1_0_368"/>
            <p:cNvCxnSpPr>
              <a:stCxn id="113" idx="6"/>
            </p:cNvCxnSpPr>
            <p:nvPr/>
          </p:nvCxnSpPr>
          <p:spPr>
            <a:xfrm>
              <a:off x="2135532" y="3518800"/>
              <a:ext cx="2543100" cy="3183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6" name="Google Shape;136;h36394527f7dc36b1_0_368"/>
            <p:cNvCxnSpPr>
              <a:stCxn id="122" idx="6"/>
            </p:cNvCxnSpPr>
            <p:nvPr/>
          </p:nvCxnSpPr>
          <p:spPr>
            <a:xfrm>
              <a:off x="5163138" y="2557894"/>
              <a:ext cx="1774800" cy="4611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7" name="Google Shape;137;h36394527f7dc36b1_0_368"/>
            <p:cNvCxnSpPr>
              <a:stCxn id="121" idx="6"/>
            </p:cNvCxnSpPr>
            <p:nvPr/>
          </p:nvCxnSpPr>
          <p:spPr>
            <a:xfrm flipH="1" rot="10800000">
              <a:off x="5192688" y="3126994"/>
              <a:ext cx="1759500" cy="474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8" name="Google Shape;138;h36394527f7dc36b1_0_368"/>
            <p:cNvCxnSpPr>
              <a:stCxn id="123" idx="6"/>
            </p:cNvCxnSpPr>
            <p:nvPr/>
          </p:nvCxnSpPr>
          <p:spPr>
            <a:xfrm flipH="1" rot="10800000">
              <a:off x="5192688" y="3227219"/>
              <a:ext cx="1738500" cy="5523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9" name="Google Shape;139;h36394527f7dc36b1_0_368"/>
            <p:cNvSpPr/>
            <p:nvPr/>
          </p:nvSpPr>
          <p:spPr>
            <a:xfrm>
              <a:off x="4651013" y="1673881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h36394527f7dc36b1_0_368"/>
            <p:cNvSpPr txBox="1"/>
            <p:nvPr/>
          </p:nvSpPr>
          <p:spPr>
            <a:xfrm>
              <a:off x="4651026" y="1759954"/>
              <a:ext cx="5064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00" lIns="70900" spcFirstLastPara="1" rIns="70900" wrap="square" tIns="709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>
                  <a:solidFill>
                    <a:schemeClr val="dk1"/>
                  </a:solidFill>
                </a:rPr>
                <a:t>h</a:t>
              </a:r>
              <a:r>
                <a:rPr baseline="-25000" lang="pt-BR" sz="1241">
                  <a:solidFill>
                    <a:schemeClr val="dk1"/>
                  </a:solidFill>
                </a:rPr>
                <a:t>0</a:t>
              </a:r>
              <a:r>
                <a:rPr lang="pt-BR" sz="1241">
                  <a:solidFill>
                    <a:schemeClr val="dk1"/>
                  </a:solidFill>
                </a:rPr>
                <a:t>=1</a:t>
              </a:r>
              <a:endParaRPr sz="1241">
                <a:solidFill>
                  <a:schemeClr val="dk1"/>
                </a:solidFill>
              </a:endParaRPr>
            </a:p>
          </p:txBody>
        </p:sp>
        <p:cxnSp>
          <p:nvCxnSpPr>
            <p:cNvPr id="141" name="Google Shape;141;h36394527f7dc36b1_0_368"/>
            <p:cNvCxnSpPr>
              <a:stCxn id="140" idx="3"/>
            </p:cNvCxnSpPr>
            <p:nvPr/>
          </p:nvCxnSpPr>
          <p:spPr>
            <a:xfrm>
              <a:off x="5157426" y="1927054"/>
              <a:ext cx="1868700" cy="1020900"/>
            </a:xfrm>
            <a:prstGeom prst="straightConnector1">
              <a:avLst/>
            </a:prstGeom>
            <a:noFill/>
            <a:ln cap="flat" cmpd="sng" w="2050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42" name="Google Shape;142;h36394527f7dc36b1_0_368"/>
          <p:cNvSpPr/>
          <p:nvPr/>
        </p:nvSpPr>
        <p:spPr>
          <a:xfrm>
            <a:off x="6952088" y="28737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36394527f7dc36b1_0_514"/>
          <p:cNvSpPr txBox="1"/>
          <p:nvPr/>
        </p:nvSpPr>
        <p:spPr>
          <a:xfrm>
            <a:off x="6583350" y="4720400"/>
            <a:ext cx="25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adapted from (Jurafsky, 2026)</a:t>
            </a:r>
            <a:endParaRPr sz="12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8" name="Google Shape;148;h36394527f7dc36b1_0_514"/>
          <p:cNvSpPr/>
          <p:nvPr/>
        </p:nvSpPr>
        <p:spPr>
          <a:xfrm>
            <a:off x="1629113" y="2689627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="0" baseline="-25000" lang="pt-BR" sz="1241" strike="noStrike">
                <a:latin typeface="Arial"/>
                <a:ea typeface="Arial"/>
                <a:cs typeface="Arial"/>
                <a:sym typeface="Arial"/>
              </a:rPr>
              <a:t>1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h36394527f7dc36b1_0_514"/>
          <p:cNvSpPr/>
          <p:nvPr/>
        </p:nvSpPr>
        <p:spPr>
          <a:xfrm>
            <a:off x="1629132" y="3265600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="0" baseline="-25000" lang="pt-BR" sz="1241" strike="noStrike">
                <a:latin typeface="Arial"/>
                <a:ea typeface="Arial"/>
                <a:cs typeface="Arial"/>
                <a:sym typeface="Arial"/>
              </a:rPr>
              <a:t>2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h36394527f7dc36b1_0_514"/>
          <p:cNvSpPr/>
          <p:nvPr/>
        </p:nvSpPr>
        <p:spPr>
          <a:xfrm>
            <a:off x="1629132" y="4093795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aseline="-25000" lang="pt-BR" sz="1241"/>
              <a:t>n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36394527f7dc36b1_0_514"/>
          <p:cNvSpPr/>
          <p:nvPr/>
        </p:nvSpPr>
        <p:spPr>
          <a:xfrm>
            <a:off x="1629113" y="211364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36394527f7dc36b1_0_514"/>
          <p:cNvSpPr txBox="1"/>
          <p:nvPr/>
        </p:nvSpPr>
        <p:spPr>
          <a:xfrm>
            <a:off x="1629126" y="2199716"/>
            <a:ext cx="506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900" lIns="70900" spcFirstLastPara="1" rIns="70900" wrap="square" tIns="70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>
                <a:solidFill>
                  <a:schemeClr val="dk1"/>
                </a:solidFill>
              </a:rPr>
              <a:t>x</a:t>
            </a:r>
            <a:r>
              <a:rPr baseline="-25000" lang="pt-BR" sz="1241">
                <a:solidFill>
                  <a:schemeClr val="dk1"/>
                </a:solidFill>
              </a:rPr>
              <a:t>0</a:t>
            </a:r>
            <a:r>
              <a:rPr lang="pt-BR" sz="1241">
                <a:solidFill>
                  <a:schemeClr val="dk1"/>
                </a:solidFill>
              </a:rPr>
              <a:t>=1</a:t>
            </a:r>
            <a:endParaRPr sz="1241">
              <a:solidFill>
                <a:schemeClr val="dk1"/>
              </a:solidFill>
            </a:endParaRPr>
          </a:p>
        </p:txBody>
      </p:sp>
      <p:grpSp>
        <p:nvGrpSpPr>
          <p:cNvPr id="153" name="Google Shape;153;h36394527f7dc36b1_0_514"/>
          <p:cNvGrpSpPr/>
          <p:nvPr/>
        </p:nvGrpSpPr>
        <p:grpSpPr>
          <a:xfrm>
            <a:off x="1753845" y="3865858"/>
            <a:ext cx="288564" cy="74448"/>
            <a:chOff x="3272500" y="3440675"/>
            <a:chExt cx="372100" cy="96000"/>
          </a:xfrm>
        </p:grpSpPr>
        <p:sp>
          <p:nvSpPr>
            <p:cNvPr id="154" name="Google Shape;154;h36394527f7dc36b1_0_514"/>
            <p:cNvSpPr/>
            <p:nvPr/>
          </p:nvSpPr>
          <p:spPr>
            <a:xfrm>
              <a:off x="327250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55" name="Google Shape;155;h36394527f7dc36b1_0_514"/>
            <p:cNvSpPr/>
            <p:nvPr/>
          </p:nvSpPr>
          <p:spPr>
            <a:xfrm>
              <a:off x="341055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156" name="Google Shape;156;h36394527f7dc36b1_0_514"/>
            <p:cNvSpPr/>
            <p:nvPr/>
          </p:nvSpPr>
          <p:spPr>
            <a:xfrm>
              <a:off x="354860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157" name="Google Shape;157;h36394527f7dc36b1_0_514"/>
          <p:cNvSpPr/>
          <p:nvPr/>
        </p:nvSpPr>
        <p:spPr>
          <a:xfrm>
            <a:off x="4686288" y="29211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2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h36394527f7dc36b1_0_514"/>
          <p:cNvSpPr/>
          <p:nvPr/>
        </p:nvSpPr>
        <p:spPr>
          <a:xfrm rot="5400000">
            <a:off x="1837913" y="1528653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9" name="Google Shape;159;h36394527f7dc36b1_0_514"/>
          <p:cNvSpPr/>
          <p:nvPr/>
        </p:nvSpPr>
        <p:spPr>
          <a:xfrm rot="5400000">
            <a:off x="4838688" y="1125553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" name="Google Shape;160;h36394527f7dc36b1_0_514"/>
          <p:cNvSpPr txBox="1"/>
          <p:nvPr/>
        </p:nvSpPr>
        <p:spPr>
          <a:xfrm>
            <a:off x="3264660" y="4675903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W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1" name="Google Shape;161;h36394527f7dc36b1_0_514"/>
          <p:cNvSpPr/>
          <p:nvPr/>
        </p:nvSpPr>
        <p:spPr>
          <a:xfrm>
            <a:off x="4656738" y="23046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1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h36394527f7dc36b1_0_514"/>
          <p:cNvSpPr/>
          <p:nvPr/>
        </p:nvSpPr>
        <p:spPr>
          <a:xfrm>
            <a:off x="4686288" y="3526319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3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h36394527f7dc36b1_0_514"/>
          <p:cNvCxnSpPr>
            <a:stCxn id="152" idx="3"/>
            <a:endCxn id="161" idx="1"/>
          </p:cNvCxnSpPr>
          <p:nvPr/>
        </p:nvCxnSpPr>
        <p:spPr>
          <a:xfrm>
            <a:off x="2135526" y="2366816"/>
            <a:ext cx="2595300" cy="120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h36394527f7dc36b1_0_514"/>
          <p:cNvCxnSpPr>
            <a:stCxn id="148" idx="6"/>
          </p:cNvCxnSpPr>
          <p:nvPr/>
        </p:nvCxnSpPr>
        <p:spPr>
          <a:xfrm flipH="1" rot="10800000">
            <a:off x="2135513" y="2503027"/>
            <a:ext cx="2515500" cy="4398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h36394527f7dc36b1_0_514"/>
          <p:cNvCxnSpPr>
            <a:stCxn id="149" idx="6"/>
          </p:cNvCxnSpPr>
          <p:nvPr/>
        </p:nvCxnSpPr>
        <p:spPr>
          <a:xfrm flipH="1" rot="10800000">
            <a:off x="2135532" y="2640400"/>
            <a:ext cx="2529300" cy="8784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h36394527f7dc36b1_0_514"/>
          <p:cNvCxnSpPr>
            <a:stCxn id="150" idx="6"/>
            <a:endCxn id="161" idx="3"/>
          </p:cNvCxnSpPr>
          <p:nvPr/>
        </p:nvCxnSpPr>
        <p:spPr>
          <a:xfrm flipH="1" rot="10800000">
            <a:off x="2135532" y="2736895"/>
            <a:ext cx="2595300" cy="16101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h36394527f7dc36b1_0_514"/>
          <p:cNvCxnSpPr>
            <a:stCxn id="148" idx="6"/>
          </p:cNvCxnSpPr>
          <p:nvPr/>
        </p:nvCxnSpPr>
        <p:spPr>
          <a:xfrm>
            <a:off x="2135513" y="2942827"/>
            <a:ext cx="2550000" cy="1653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h36394527f7dc36b1_0_514"/>
          <p:cNvCxnSpPr>
            <a:stCxn id="149" idx="6"/>
          </p:cNvCxnSpPr>
          <p:nvPr/>
        </p:nvCxnSpPr>
        <p:spPr>
          <a:xfrm flipH="1" rot="10800000">
            <a:off x="2135532" y="3232000"/>
            <a:ext cx="2543100" cy="2868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h36394527f7dc36b1_0_514"/>
          <p:cNvCxnSpPr>
            <a:stCxn id="150" idx="6"/>
            <a:endCxn id="157" idx="3"/>
          </p:cNvCxnSpPr>
          <p:nvPr/>
        </p:nvCxnSpPr>
        <p:spPr>
          <a:xfrm flipH="1" rot="10800000">
            <a:off x="2135532" y="3353395"/>
            <a:ext cx="2625000" cy="9936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h36394527f7dc36b1_0_514"/>
          <p:cNvCxnSpPr>
            <a:stCxn id="152" idx="3"/>
            <a:endCxn id="157" idx="1"/>
          </p:cNvCxnSpPr>
          <p:nvPr/>
        </p:nvCxnSpPr>
        <p:spPr>
          <a:xfrm>
            <a:off x="2135526" y="2366816"/>
            <a:ext cx="2625000" cy="6285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h36394527f7dc36b1_0_514"/>
          <p:cNvCxnSpPr>
            <a:stCxn id="152" idx="3"/>
            <a:endCxn id="162" idx="1"/>
          </p:cNvCxnSpPr>
          <p:nvPr/>
        </p:nvCxnSpPr>
        <p:spPr>
          <a:xfrm>
            <a:off x="2135526" y="2366816"/>
            <a:ext cx="2625000" cy="12336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h36394527f7dc36b1_0_514"/>
          <p:cNvCxnSpPr>
            <a:stCxn id="150" idx="6"/>
            <a:endCxn id="162" idx="3"/>
          </p:cNvCxnSpPr>
          <p:nvPr/>
        </p:nvCxnSpPr>
        <p:spPr>
          <a:xfrm flipH="1" rot="10800000">
            <a:off x="2135532" y="3958495"/>
            <a:ext cx="2625000" cy="3885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h36394527f7dc36b1_0_514"/>
          <p:cNvCxnSpPr>
            <a:stCxn id="148" idx="6"/>
          </p:cNvCxnSpPr>
          <p:nvPr/>
        </p:nvCxnSpPr>
        <p:spPr>
          <a:xfrm>
            <a:off x="2135513" y="2942827"/>
            <a:ext cx="2529300" cy="7773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h36394527f7dc36b1_0_514"/>
          <p:cNvCxnSpPr>
            <a:stCxn id="149" idx="6"/>
          </p:cNvCxnSpPr>
          <p:nvPr/>
        </p:nvCxnSpPr>
        <p:spPr>
          <a:xfrm>
            <a:off x="2135532" y="3518800"/>
            <a:ext cx="2543100" cy="3183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" name="Google Shape;175;h36394527f7dc36b1_0_514"/>
          <p:cNvSpPr/>
          <p:nvPr/>
        </p:nvSpPr>
        <p:spPr>
          <a:xfrm>
            <a:off x="6952088" y="28737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h36394527f7dc36b1_0_514"/>
          <p:cNvCxnSpPr>
            <a:stCxn id="161" idx="6"/>
          </p:cNvCxnSpPr>
          <p:nvPr/>
        </p:nvCxnSpPr>
        <p:spPr>
          <a:xfrm>
            <a:off x="5163138" y="2557894"/>
            <a:ext cx="1774800" cy="4611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h36394527f7dc36b1_0_514"/>
          <p:cNvCxnSpPr>
            <a:stCxn id="157" idx="6"/>
            <a:endCxn id="175" idx="2"/>
          </p:cNvCxnSpPr>
          <p:nvPr/>
        </p:nvCxnSpPr>
        <p:spPr>
          <a:xfrm flipH="1" rot="10800000">
            <a:off x="5192688" y="3126994"/>
            <a:ext cx="1759500" cy="474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h36394527f7dc36b1_0_514"/>
          <p:cNvCxnSpPr>
            <a:stCxn id="162" idx="6"/>
          </p:cNvCxnSpPr>
          <p:nvPr/>
        </p:nvCxnSpPr>
        <p:spPr>
          <a:xfrm flipH="1" rot="10800000">
            <a:off x="5192688" y="3227219"/>
            <a:ext cx="1738500" cy="5523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h36394527f7dc36b1_0_514"/>
          <p:cNvSpPr txBox="1"/>
          <p:nvPr/>
        </p:nvSpPr>
        <p:spPr>
          <a:xfrm>
            <a:off x="5747085" y="4093803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W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0" name="Google Shape;180;h36394527f7dc36b1_0_514"/>
          <p:cNvSpPr/>
          <p:nvPr/>
        </p:nvSpPr>
        <p:spPr>
          <a:xfrm rot="5400000">
            <a:off x="7104488" y="1604103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1" name="Google Shape;181;h36394527f7dc36b1_0_514"/>
          <p:cNvSpPr txBox="1"/>
          <p:nvPr/>
        </p:nvSpPr>
        <p:spPr>
          <a:xfrm>
            <a:off x="1623860" y="1253990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[0]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2" name="Google Shape;182;h36394527f7dc36b1_0_514"/>
          <p:cNvSpPr txBox="1"/>
          <p:nvPr/>
        </p:nvSpPr>
        <p:spPr>
          <a:xfrm>
            <a:off x="4595085" y="897590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3" name="Google Shape;183;h36394527f7dc36b1_0_514"/>
          <p:cNvSpPr txBox="1"/>
          <p:nvPr/>
        </p:nvSpPr>
        <p:spPr>
          <a:xfrm>
            <a:off x="6834635" y="1336790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4" name="Google Shape;184;h36394527f7dc36b1_0_514"/>
          <p:cNvSpPr/>
          <p:nvPr/>
        </p:nvSpPr>
        <p:spPr>
          <a:xfrm flipH="1" rot="5400000">
            <a:off x="3398388" y="3440028"/>
            <a:ext cx="125100" cy="2414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5" name="Google Shape;185;h36394527f7dc36b1_0_514"/>
          <p:cNvSpPr/>
          <p:nvPr/>
        </p:nvSpPr>
        <p:spPr>
          <a:xfrm flipH="1" rot="5400000">
            <a:off x="6056413" y="3204453"/>
            <a:ext cx="125100" cy="1691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6" name="Google Shape;186;h36394527f7dc36b1_0_514"/>
          <p:cNvSpPr txBox="1"/>
          <p:nvPr/>
        </p:nvSpPr>
        <p:spPr>
          <a:xfrm>
            <a:off x="3124248" y="1913515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7" name="Google Shape;187;h36394527f7dc36b1_0_514"/>
          <p:cNvSpPr txBox="1"/>
          <p:nvPr/>
        </p:nvSpPr>
        <p:spPr>
          <a:xfrm>
            <a:off x="5776923" y="1887965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8" name="Google Shape;188;h36394527f7dc36b1_0_514"/>
          <p:cNvSpPr/>
          <p:nvPr/>
        </p:nvSpPr>
        <p:spPr>
          <a:xfrm>
            <a:off x="4651013" y="1673881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36394527f7dc36b1_0_514"/>
          <p:cNvSpPr txBox="1"/>
          <p:nvPr/>
        </p:nvSpPr>
        <p:spPr>
          <a:xfrm>
            <a:off x="4651026" y="1759954"/>
            <a:ext cx="506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900" lIns="70900" spcFirstLastPara="1" rIns="70900" wrap="square" tIns="70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>
                <a:solidFill>
                  <a:schemeClr val="dk1"/>
                </a:solidFill>
              </a:rPr>
              <a:t>h</a:t>
            </a:r>
            <a:r>
              <a:rPr baseline="-25000" lang="pt-BR" sz="1241">
                <a:solidFill>
                  <a:schemeClr val="dk1"/>
                </a:solidFill>
              </a:rPr>
              <a:t>0</a:t>
            </a:r>
            <a:r>
              <a:rPr lang="pt-BR" sz="1241">
                <a:solidFill>
                  <a:schemeClr val="dk1"/>
                </a:solidFill>
              </a:rPr>
              <a:t>=1</a:t>
            </a:r>
            <a:endParaRPr sz="1241">
              <a:solidFill>
                <a:schemeClr val="dk1"/>
              </a:solidFill>
            </a:endParaRPr>
          </a:p>
        </p:txBody>
      </p:sp>
      <p:cxnSp>
        <p:nvCxnSpPr>
          <p:cNvPr id="190" name="Google Shape;190;h36394527f7dc36b1_0_514"/>
          <p:cNvCxnSpPr>
            <a:stCxn id="189" idx="3"/>
            <a:endCxn id="175" idx="1"/>
          </p:cNvCxnSpPr>
          <p:nvPr/>
        </p:nvCxnSpPr>
        <p:spPr>
          <a:xfrm>
            <a:off x="5157426" y="1927054"/>
            <a:ext cx="1868700" cy="10209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h36394527f7dc36b1_0_514"/>
          <p:cNvSpPr/>
          <p:nvPr/>
        </p:nvSpPr>
        <p:spPr>
          <a:xfrm>
            <a:off x="1753850" y="551075"/>
            <a:ext cx="537000" cy="38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[0]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2" name="Google Shape;192;h36394527f7dc36b1_0_514"/>
          <p:cNvSpPr/>
          <p:nvPr/>
        </p:nvSpPr>
        <p:spPr>
          <a:xfrm>
            <a:off x="4280700" y="54550"/>
            <a:ext cx="1565700" cy="87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[1]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=g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[1]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(z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[1]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z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=W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[0]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+b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3" name="Google Shape;193;h36394527f7dc36b1_0_514"/>
          <p:cNvSpPr txBox="1"/>
          <p:nvPr/>
        </p:nvSpPr>
        <p:spPr>
          <a:xfrm>
            <a:off x="3283350" y="384925"/>
            <a:ext cx="88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900FF"/>
                </a:solidFill>
                <a:latin typeface="Comfortaa"/>
                <a:ea typeface="Comfortaa"/>
                <a:cs typeface="Comfortaa"/>
                <a:sym typeface="Comfortaa"/>
              </a:rPr>
              <a:t>e.g., ReLU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94" name="Google Shape;194;h36394527f7dc36b1_0_514"/>
          <p:cNvSpPr/>
          <p:nvPr/>
        </p:nvSpPr>
        <p:spPr>
          <a:xfrm flipH="1">
            <a:off x="4164454" y="429625"/>
            <a:ext cx="787492" cy="165304"/>
          </a:xfrm>
          <a:custGeom>
            <a:rect b="b" l="l" r="r" t="t"/>
            <a:pathLst>
              <a:path extrusionOk="0" h="6136" w="51244">
                <a:moveTo>
                  <a:pt x="3569" y="0"/>
                </a:moveTo>
                <a:cubicBezTo>
                  <a:pt x="3569" y="993"/>
                  <a:pt x="-4377" y="5250"/>
                  <a:pt x="3569" y="5959"/>
                </a:cubicBezTo>
                <a:cubicBezTo>
                  <a:pt x="11515" y="6668"/>
                  <a:pt x="43298" y="4540"/>
                  <a:pt x="51244" y="4256"/>
                </a:cubicBez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Google Shape;195;h36394527f7dc36b1_0_514"/>
          <p:cNvSpPr/>
          <p:nvPr/>
        </p:nvSpPr>
        <p:spPr>
          <a:xfrm>
            <a:off x="6475950" y="99125"/>
            <a:ext cx="1565700" cy="12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y=a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[2]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=g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[2]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(z</a:t>
            </a:r>
            <a:r>
              <a:rPr baseline="30000" lang="pt-BR" sz="1600">
                <a:latin typeface="Comfortaa"/>
                <a:ea typeface="Comfortaa"/>
                <a:cs typeface="Comfortaa"/>
                <a:sym typeface="Comfortaa"/>
              </a:rPr>
              <a:t>[2]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)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z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=W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r>
              <a:rPr lang="pt-BR" sz="1600">
                <a:latin typeface="Comfortaa"/>
                <a:ea typeface="Comfortaa"/>
                <a:cs typeface="Comfortaa"/>
                <a:sym typeface="Comfortaa"/>
              </a:rPr>
              <a:t>+b</a:t>
            </a:r>
            <a:r>
              <a:rPr baseline="30000" lang="pt-BR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6" name="Google Shape;196;h36394527f7dc36b1_0_514"/>
          <p:cNvSpPr txBox="1"/>
          <p:nvPr/>
        </p:nvSpPr>
        <p:spPr>
          <a:xfrm>
            <a:off x="8041650" y="685875"/>
            <a:ext cx="108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900FF"/>
                </a:solidFill>
                <a:latin typeface="Comfortaa"/>
                <a:ea typeface="Comfortaa"/>
                <a:cs typeface="Comfortaa"/>
                <a:sym typeface="Comfortaa"/>
              </a:rPr>
              <a:t>e.g., sigmoid or sofmax</a:t>
            </a:r>
            <a:endParaRPr sz="1100">
              <a:solidFill>
                <a:srgbClr val="99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7" name="Google Shape;197;h36394527f7dc36b1_0_514"/>
          <p:cNvSpPr/>
          <p:nvPr/>
        </p:nvSpPr>
        <p:spPr>
          <a:xfrm>
            <a:off x="7066100" y="929375"/>
            <a:ext cx="1050000" cy="170700"/>
          </a:xfrm>
          <a:custGeom>
            <a:rect b="b" l="l" r="r" t="t"/>
            <a:pathLst>
              <a:path extrusionOk="0" h="6828" w="42000">
                <a:moveTo>
                  <a:pt x="0" y="851"/>
                </a:moveTo>
                <a:cubicBezTo>
                  <a:pt x="2176" y="1844"/>
                  <a:pt x="6054" y="6953"/>
                  <a:pt x="13054" y="6811"/>
                </a:cubicBezTo>
                <a:cubicBezTo>
                  <a:pt x="20054" y="6669"/>
                  <a:pt x="37176" y="1135"/>
                  <a:pt x="42000" y="0"/>
                </a:cubicBez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36394527f7dc36b1_0_622"/>
          <p:cNvSpPr/>
          <p:nvPr/>
        </p:nvSpPr>
        <p:spPr>
          <a:xfrm>
            <a:off x="1629113" y="2689627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="0" baseline="-25000" lang="pt-BR" sz="1241" strike="noStrike">
                <a:latin typeface="Arial"/>
                <a:ea typeface="Arial"/>
                <a:cs typeface="Arial"/>
                <a:sym typeface="Arial"/>
              </a:rPr>
              <a:t>1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h36394527f7dc36b1_0_622"/>
          <p:cNvSpPr/>
          <p:nvPr/>
        </p:nvSpPr>
        <p:spPr>
          <a:xfrm>
            <a:off x="1629132" y="3265600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="0" baseline="-25000" lang="pt-BR" sz="1241" strike="noStrike">
                <a:latin typeface="Arial"/>
                <a:ea typeface="Arial"/>
                <a:cs typeface="Arial"/>
                <a:sym typeface="Arial"/>
              </a:rPr>
              <a:t>2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36394527f7dc36b1_0_622"/>
          <p:cNvSpPr/>
          <p:nvPr/>
        </p:nvSpPr>
        <p:spPr>
          <a:xfrm>
            <a:off x="1629132" y="4093795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aseline="-25000" lang="pt-BR" sz="1241"/>
              <a:t>n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36394527f7dc36b1_0_622"/>
          <p:cNvSpPr/>
          <p:nvPr/>
        </p:nvSpPr>
        <p:spPr>
          <a:xfrm>
            <a:off x="1629113" y="211364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36394527f7dc36b1_0_622"/>
          <p:cNvSpPr txBox="1"/>
          <p:nvPr/>
        </p:nvSpPr>
        <p:spPr>
          <a:xfrm>
            <a:off x="1629126" y="2199716"/>
            <a:ext cx="506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900" lIns="70900" spcFirstLastPara="1" rIns="70900" wrap="square" tIns="70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>
                <a:solidFill>
                  <a:schemeClr val="dk1"/>
                </a:solidFill>
              </a:rPr>
              <a:t>x</a:t>
            </a:r>
            <a:r>
              <a:rPr baseline="-25000" lang="pt-BR" sz="1241">
                <a:solidFill>
                  <a:schemeClr val="dk1"/>
                </a:solidFill>
              </a:rPr>
              <a:t>0</a:t>
            </a:r>
            <a:r>
              <a:rPr lang="pt-BR" sz="1241">
                <a:solidFill>
                  <a:schemeClr val="dk1"/>
                </a:solidFill>
              </a:rPr>
              <a:t>=1</a:t>
            </a:r>
            <a:endParaRPr sz="1241">
              <a:solidFill>
                <a:schemeClr val="dk1"/>
              </a:solidFill>
            </a:endParaRPr>
          </a:p>
        </p:txBody>
      </p:sp>
      <p:grpSp>
        <p:nvGrpSpPr>
          <p:cNvPr id="207" name="Google Shape;207;h36394527f7dc36b1_0_622"/>
          <p:cNvGrpSpPr/>
          <p:nvPr/>
        </p:nvGrpSpPr>
        <p:grpSpPr>
          <a:xfrm>
            <a:off x="1753845" y="3865858"/>
            <a:ext cx="288564" cy="74448"/>
            <a:chOff x="3272500" y="3440675"/>
            <a:chExt cx="372100" cy="96000"/>
          </a:xfrm>
        </p:grpSpPr>
        <p:sp>
          <p:nvSpPr>
            <p:cNvPr id="208" name="Google Shape;208;h36394527f7dc36b1_0_622"/>
            <p:cNvSpPr/>
            <p:nvPr/>
          </p:nvSpPr>
          <p:spPr>
            <a:xfrm>
              <a:off x="327250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09" name="Google Shape;209;h36394527f7dc36b1_0_622"/>
            <p:cNvSpPr/>
            <p:nvPr/>
          </p:nvSpPr>
          <p:spPr>
            <a:xfrm>
              <a:off x="341055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10" name="Google Shape;210;h36394527f7dc36b1_0_622"/>
            <p:cNvSpPr/>
            <p:nvPr/>
          </p:nvSpPr>
          <p:spPr>
            <a:xfrm>
              <a:off x="354860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211" name="Google Shape;211;h36394527f7dc36b1_0_622"/>
          <p:cNvSpPr/>
          <p:nvPr/>
        </p:nvSpPr>
        <p:spPr>
          <a:xfrm>
            <a:off x="4686288" y="29211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2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36394527f7dc36b1_0_622"/>
          <p:cNvSpPr/>
          <p:nvPr/>
        </p:nvSpPr>
        <p:spPr>
          <a:xfrm flipH="1" rot="5400000">
            <a:off x="1781513" y="4340278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3" name="Google Shape;213;h36394527f7dc36b1_0_622"/>
          <p:cNvSpPr/>
          <p:nvPr/>
        </p:nvSpPr>
        <p:spPr>
          <a:xfrm flipH="1" rot="5400000">
            <a:off x="4838688" y="3852253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4" name="Google Shape;214;h36394527f7dc36b1_0_622"/>
          <p:cNvSpPr txBox="1"/>
          <p:nvPr/>
        </p:nvSpPr>
        <p:spPr>
          <a:xfrm>
            <a:off x="3122175" y="4504153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W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5" name="Google Shape;215;h36394527f7dc36b1_0_622"/>
          <p:cNvSpPr/>
          <p:nvPr/>
        </p:nvSpPr>
        <p:spPr>
          <a:xfrm>
            <a:off x="4656738" y="23046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1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36394527f7dc36b1_0_622"/>
          <p:cNvSpPr/>
          <p:nvPr/>
        </p:nvSpPr>
        <p:spPr>
          <a:xfrm>
            <a:off x="4686288" y="3526319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3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h36394527f7dc36b1_0_622"/>
          <p:cNvCxnSpPr>
            <a:stCxn id="206" idx="3"/>
            <a:endCxn id="215" idx="1"/>
          </p:cNvCxnSpPr>
          <p:nvPr/>
        </p:nvCxnSpPr>
        <p:spPr>
          <a:xfrm>
            <a:off x="2135526" y="2366816"/>
            <a:ext cx="2595300" cy="120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" name="Google Shape;218;h36394527f7dc36b1_0_622"/>
          <p:cNvCxnSpPr>
            <a:stCxn id="202" idx="6"/>
          </p:cNvCxnSpPr>
          <p:nvPr/>
        </p:nvCxnSpPr>
        <p:spPr>
          <a:xfrm flipH="1" rot="10800000">
            <a:off x="2135513" y="2503027"/>
            <a:ext cx="2515500" cy="4398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h36394527f7dc36b1_0_622"/>
          <p:cNvCxnSpPr>
            <a:stCxn id="203" idx="6"/>
          </p:cNvCxnSpPr>
          <p:nvPr/>
        </p:nvCxnSpPr>
        <p:spPr>
          <a:xfrm flipH="1" rot="10800000">
            <a:off x="2135532" y="2640400"/>
            <a:ext cx="2529300" cy="8784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h36394527f7dc36b1_0_622"/>
          <p:cNvCxnSpPr>
            <a:stCxn id="204" idx="6"/>
            <a:endCxn id="215" idx="3"/>
          </p:cNvCxnSpPr>
          <p:nvPr/>
        </p:nvCxnSpPr>
        <p:spPr>
          <a:xfrm flipH="1" rot="10800000">
            <a:off x="2135532" y="2736895"/>
            <a:ext cx="2595300" cy="16101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h36394527f7dc36b1_0_622"/>
          <p:cNvCxnSpPr>
            <a:stCxn id="202" idx="6"/>
          </p:cNvCxnSpPr>
          <p:nvPr/>
        </p:nvCxnSpPr>
        <p:spPr>
          <a:xfrm>
            <a:off x="2135513" y="2942827"/>
            <a:ext cx="2550000" cy="1653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h36394527f7dc36b1_0_622"/>
          <p:cNvCxnSpPr>
            <a:stCxn id="203" idx="6"/>
          </p:cNvCxnSpPr>
          <p:nvPr/>
        </p:nvCxnSpPr>
        <p:spPr>
          <a:xfrm flipH="1" rot="10800000">
            <a:off x="2135532" y="3232000"/>
            <a:ext cx="2543100" cy="2868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h36394527f7dc36b1_0_622"/>
          <p:cNvCxnSpPr>
            <a:stCxn id="204" idx="6"/>
            <a:endCxn id="211" idx="3"/>
          </p:cNvCxnSpPr>
          <p:nvPr/>
        </p:nvCxnSpPr>
        <p:spPr>
          <a:xfrm flipH="1" rot="10800000">
            <a:off x="2135532" y="3353395"/>
            <a:ext cx="2625000" cy="9936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h36394527f7dc36b1_0_622"/>
          <p:cNvCxnSpPr>
            <a:stCxn id="206" idx="3"/>
            <a:endCxn id="211" idx="1"/>
          </p:cNvCxnSpPr>
          <p:nvPr/>
        </p:nvCxnSpPr>
        <p:spPr>
          <a:xfrm>
            <a:off x="2135526" y="2366816"/>
            <a:ext cx="2625000" cy="6285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h36394527f7dc36b1_0_622"/>
          <p:cNvCxnSpPr>
            <a:stCxn id="206" idx="3"/>
            <a:endCxn id="216" idx="1"/>
          </p:cNvCxnSpPr>
          <p:nvPr/>
        </p:nvCxnSpPr>
        <p:spPr>
          <a:xfrm>
            <a:off x="2135526" y="2366816"/>
            <a:ext cx="2625000" cy="12336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h36394527f7dc36b1_0_622"/>
          <p:cNvCxnSpPr>
            <a:stCxn id="204" idx="6"/>
            <a:endCxn id="216" idx="3"/>
          </p:cNvCxnSpPr>
          <p:nvPr/>
        </p:nvCxnSpPr>
        <p:spPr>
          <a:xfrm flipH="1" rot="10800000">
            <a:off x="2135532" y="3958495"/>
            <a:ext cx="2625000" cy="3885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h36394527f7dc36b1_0_622"/>
          <p:cNvCxnSpPr>
            <a:stCxn id="202" idx="6"/>
          </p:cNvCxnSpPr>
          <p:nvPr/>
        </p:nvCxnSpPr>
        <p:spPr>
          <a:xfrm>
            <a:off x="2135513" y="2942827"/>
            <a:ext cx="2529300" cy="7773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h36394527f7dc36b1_0_622"/>
          <p:cNvCxnSpPr>
            <a:stCxn id="203" idx="6"/>
          </p:cNvCxnSpPr>
          <p:nvPr/>
        </p:nvCxnSpPr>
        <p:spPr>
          <a:xfrm>
            <a:off x="2135532" y="3518800"/>
            <a:ext cx="2543100" cy="3183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h36394527f7dc36b1_0_622"/>
          <p:cNvSpPr/>
          <p:nvPr/>
        </p:nvSpPr>
        <p:spPr>
          <a:xfrm>
            <a:off x="6952088" y="2873794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h36394527f7dc36b1_0_622"/>
          <p:cNvCxnSpPr>
            <a:stCxn id="215" idx="6"/>
          </p:cNvCxnSpPr>
          <p:nvPr/>
        </p:nvCxnSpPr>
        <p:spPr>
          <a:xfrm>
            <a:off x="5163138" y="2557894"/>
            <a:ext cx="1774800" cy="4611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h36394527f7dc36b1_0_622"/>
          <p:cNvCxnSpPr>
            <a:stCxn id="211" idx="6"/>
            <a:endCxn id="229" idx="2"/>
          </p:cNvCxnSpPr>
          <p:nvPr/>
        </p:nvCxnSpPr>
        <p:spPr>
          <a:xfrm flipH="1" rot="10800000">
            <a:off x="5192688" y="3126994"/>
            <a:ext cx="1759500" cy="474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h36394527f7dc36b1_0_622"/>
          <p:cNvCxnSpPr>
            <a:stCxn id="216" idx="6"/>
          </p:cNvCxnSpPr>
          <p:nvPr/>
        </p:nvCxnSpPr>
        <p:spPr>
          <a:xfrm flipH="1" rot="10800000">
            <a:off x="5192688" y="3227219"/>
            <a:ext cx="1738500" cy="5523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h36394527f7dc36b1_0_622"/>
          <p:cNvSpPr txBox="1"/>
          <p:nvPr/>
        </p:nvSpPr>
        <p:spPr>
          <a:xfrm>
            <a:off x="5804113" y="4093803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W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4" name="Google Shape;234;h36394527f7dc36b1_0_622"/>
          <p:cNvSpPr/>
          <p:nvPr/>
        </p:nvSpPr>
        <p:spPr>
          <a:xfrm flipH="1" rot="5400000">
            <a:off x="7104488" y="3210428"/>
            <a:ext cx="201600" cy="74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5" name="Google Shape;235;h36394527f7dc36b1_0_622"/>
          <p:cNvSpPr txBox="1"/>
          <p:nvPr/>
        </p:nvSpPr>
        <p:spPr>
          <a:xfrm>
            <a:off x="1567475" y="4747118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[0]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6" name="Google Shape;236;h36394527f7dc36b1_0_622"/>
          <p:cNvSpPr txBox="1"/>
          <p:nvPr/>
        </p:nvSpPr>
        <p:spPr>
          <a:xfrm>
            <a:off x="6952102" y="3672225"/>
            <a:ext cx="5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h36394527f7dc36b1_0_622"/>
          <p:cNvSpPr/>
          <p:nvPr/>
        </p:nvSpPr>
        <p:spPr>
          <a:xfrm flipH="1" rot="5400000">
            <a:off x="3374475" y="3224625"/>
            <a:ext cx="125100" cy="2502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8" name="Google Shape;238;h36394527f7dc36b1_0_622"/>
          <p:cNvSpPr/>
          <p:nvPr/>
        </p:nvSpPr>
        <p:spPr>
          <a:xfrm flipH="1" rot="5400000">
            <a:off x="6056413" y="3204453"/>
            <a:ext cx="125100" cy="1691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9" name="Google Shape;239;h36394527f7dc36b1_0_622"/>
          <p:cNvSpPr txBox="1"/>
          <p:nvPr/>
        </p:nvSpPr>
        <p:spPr>
          <a:xfrm>
            <a:off x="3124248" y="2025635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0" name="Google Shape;240;h36394527f7dc36b1_0_622"/>
          <p:cNvSpPr txBox="1"/>
          <p:nvPr/>
        </p:nvSpPr>
        <p:spPr>
          <a:xfrm>
            <a:off x="5815873" y="1988190"/>
            <a:ext cx="6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h36394527f7dc36b1_0_622"/>
          <p:cNvSpPr/>
          <p:nvPr/>
        </p:nvSpPr>
        <p:spPr>
          <a:xfrm>
            <a:off x="4651013" y="1673881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h36394527f7dc36b1_0_622"/>
          <p:cNvSpPr txBox="1"/>
          <p:nvPr/>
        </p:nvSpPr>
        <p:spPr>
          <a:xfrm>
            <a:off x="4651026" y="1759954"/>
            <a:ext cx="506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900" lIns="70900" spcFirstLastPara="1" rIns="70900" wrap="square" tIns="70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>
                <a:solidFill>
                  <a:schemeClr val="dk1"/>
                </a:solidFill>
              </a:rPr>
              <a:t>h</a:t>
            </a:r>
            <a:r>
              <a:rPr baseline="-25000" lang="pt-BR" sz="1241">
                <a:solidFill>
                  <a:schemeClr val="dk1"/>
                </a:solidFill>
              </a:rPr>
              <a:t>0</a:t>
            </a:r>
            <a:r>
              <a:rPr lang="pt-BR" sz="1241">
                <a:solidFill>
                  <a:schemeClr val="dk1"/>
                </a:solidFill>
              </a:rPr>
              <a:t>=1</a:t>
            </a:r>
            <a:endParaRPr sz="1241">
              <a:solidFill>
                <a:schemeClr val="dk1"/>
              </a:solidFill>
            </a:endParaRPr>
          </a:p>
        </p:txBody>
      </p:sp>
      <p:cxnSp>
        <p:nvCxnSpPr>
          <p:cNvPr id="243" name="Google Shape;243;h36394527f7dc36b1_0_622"/>
          <p:cNvCxnSpPr>
            <a:stCxn id="242" idx="3"/>
            <a:endCxn id="229" idx="1"/>
          </p:cNvCxnSpPr>
          <p:nvPr/>
        </p:nvCxnSpPr>
        <p:spPr>
          <a:xfrm>
            <a:off x="5157426" y="1927054"/>
            <a:ext cx="1868700" cy="10209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44" name="Google Shape;244;h36394527f7dc36b1_0_622"/>
          <p:cNvGrpSpPr/>
          <p:nvPr/>
        </p:nvGrpSpPr>
        <p:grpSpPr>
          <a:xfrm>
            <a:off x="896975" y="2395925"/>
            <a:ext cx="453300" cy="1871100"/>
            <a:chOff x="1100175" y="2340500"/>
            <a:chExt cx="453300" cy="1871100"/>
          </a:xfrm>
        </p:grpSpPr>
        <p:sp>
          <p:nvSpPr>
            <p:cNvPr id="245" name="Google Shape;245;h36394527f7dc36b1_0_622"/>
            <p:cNvSpPr/>
            <p:nvPr/>
          </p:nvSpPr>
          <p:spPr>
            <a:xfrm>
              <a:off x="1100175" y="2340500"/>
              <a:ext cx="453300" cy="18711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5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246" name="Google Shape;246;h36394527f7dc36b1_0_622"/>
            <p:cNvGrpSpPr/>
            <p:nvPr/>
          </p:nvGrpSpPr>
          <p:grpSpPr>
            <a:xfrm>
              <a:off x="1154325" y="2378825"/>
              <a:ext cx="345000" cy="1787250"/>
              <a:chOff x="1132863" y="2378825"/>
              <a:chExt cx="345000" cy="1787250"/>
            </a:xfrm>
          </p:grpSpPr>
          <p:sp>
            <p:nvSpPr>
              <p:cNvPr id="247" name="Google Shape;247;h36394527f7dc36b1_0_622"/>
              <p:cNvSpPr/>
              <p:nvPr/>
            </p:nvSpPr>
            <p:spPr>
              <a:xfrm>
                <a:off x="1132863" y="23788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>
                    <a:latin typeface="Comfortaa"/>
                    <a:ea typeface="Comfortaa"/>
                    <a:cs typeface="Comfortaa"/>
                    <a:sym typeface="Comfortaa"/>
                  </a:rPr>
                  <a:t>1</a:t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248" name="Google Shape;248;h36394527f7dc36b1_0_622"/>
              <p:cNvSpPr/>
              <p:nvPr/>
            </p:nvSpPr>
            <p:spPr>
              <a:xfrm>
                <a:off x="1132863" y="27238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249" name="Google Shape;249;h36394527f7dc36b1_0_622"/>
              <p:cNvSpPr/>
              <p:nvPr/>
            </p:nvSpPr>
            <p:spPr>
              <a:xfrm>
                <a:off x="1132863" y="30688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250" name="Google Shape;250;h36394527f7dc36b1_0_622"/>
              <p:cNvSpPr/>
              <p:nvPr/>
            </p:nvSpPr>
            <p:spPr>
              <a:xfrm>
                <a:off x="1132863" y="382107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251" name="Google Shape;251;h36394527f7dc36b1_0_622"/>
              <p:cNvGrpSpPr/>
              <p:nvPr/>
            </p:nvGrpSpPr>
            <p:grpSpPr>
              <a:xfrm rot="5400000">
                <a:off x="1177588" y="3573500"/>
                <a:ext cx="294077" cy="87900"/>
                <a:chOff x="1534650" y="2004150"/>
                <a:chExt cx="294077" cy="87900"/>
              </a:xfrm>
            </p:grpSpPr>
            <p:sp>
              <p:nvSpPr>
                <p:cNvPr id="252" name="Google Shape;252;h36394527f7dc36b1_0_622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253" name="Google Shape;253;h36394527f7dc36b1_0_622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254" name="Google Shape;254;h36394527f7dc36b1_0_622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</p:grpSp>
      <p:sp>
        <p:nvSpPr>
          <p:cNvPr id="255" name="Google Shape;255;h36394527f7dc36b1_0_622"/>
          <p:cNvSpPr/>
          <p:nvPr/>
        </p:nvSpPr>
        <p:spPr>
          <a:xfrm flipH="1">
            <a:off x="701171" y="2434250"/>
            <a:ext cx="146100" cy="17946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6" name="Google Shape;256;h36394527f7dc36b1_0_622"/>
          <p:cNvSpPr txBox="1"/>
          <p:nvPr/>
        </p:nvSpPr>
        <p:spPr>
          <a:xfrm>
            <a:off x="153975" y="3096650"/>
            <a:ext cx="5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n+1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7" name="Google Shape;257;h36394527f7dc36b1_0_622"/>
          <p:cNvSpPr txBox="1"/>
          <p:nvPr/>
        </p:nvSpPr>
        <p:spPr>
          <a:xfrm>
            <a:off x="4738527" y="4347000"/>
            <a:ext cx="5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aseline="30000" lang="pt-BR" sz="1800">
                <a:solidFill>
                  <a:srgbClr val="0000FF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baseline="30000" sz="1800">
              <a:solidFill>
                <a:srgbClr val="0000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8" name="Google Shape;258;h36394527f7dc36b1_0_622"/>
          <p:cNvSpPr/>
          <p:nvPr/>
        </p:nvSpPr>
        <p:spPr>
          <a:xfrm>
            <a:off x="3109625" y="184600"/>
            <a:ext cx="852600" cy="13869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9" name="Google Shape;259;h36394527f7dc36b1_0_622"/>
          <p:cNvSpPr/>
          <p:nvPr/>
        </p:nvSpPr>
        <p:spPr>
          <a:xfrm>
            <a:off x="3157759" y="23235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0" name="Google Shape;260;h36394527f7dc36b1_0_622"/>
          <p:cNvSpPr/>
          <p:nvPr/>
        </p:nvSpPr>
        <p:spPr>
          <a:xfrm>
            <a:off x="3407049" y="23235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1" name="Google Shape;261;h36394527f7dc36b1_0_622"/>
          <p:cNvSpPr/>
          <p:nvPr/>
        </p:nvSpPr>
        <p:spPr>
          <a:xfrm>
            <a:off x="3656339" y="23235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2" name="Google Shape;262;h36394527f7dc36b1_0_622"/>
          <p:cNvSpPr/>
          <p:nvPr/>
        </p:nvSpPr>
        <p:spPr>
          <a:xfrm>
            <a:off x="3157759" y="48163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3" name="Google Shape;263;h36394527f7dc36b1_0_622"/>
          <p:cNvSpPr/>
          <p:nvPr/>
        </p:nvSpPr>
        <p:spPr>
          <a:xfrm>
            <a:off x="3407049" y="48163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4" name="Google Shape;264;h36394527f7dc36b1_0_622"/>
          <p:cNvSpPr/>
          <p:nvPr/>
        </p:nvSpPr>
        <p:spPr>
          <a:xfrm>
            <a:off x="3656339" y="48163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5" name="Google Shape;265;h36394527f7dc36b1_0_622"/>
          <p:cNvSpPr/>
          <p:nvPr/>
        </p:nvSpPr>
        <p:spPr>
          <a:xfrm>
            <a:off x="3157759" y="73092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6" name="Google Shape;266;h36394527f7dc36b1_0_622"/>
          <p:cNvSpPr/>
          <p:nvPr/>
        </p:nvSpPr>
        <p:spPr>
          <a:xfrm>
            <a:off x="3407049" y="73092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7" name="Google Shape;267;h36394527f7dc36b1_0_622"/>
          <p:cNvSpPr/>
          <p:nvPr/>
        </p:nvSpPr>
        <p:spPr>
          <a:xfrm>
            <a:off x="3656339" y="73092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8" name="Google Shape;268;h36394527f7dc36b1_0_622"/>
          <p:cNvSpPr/>
          <p:nvPr/>
        </p:nvSpPr>
        <p:spPr>
          <a:xfrm>
            <a:off x="3157759" y="127448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9" name="Google Shape;269;h36394527f7dc36b1_0_622"/>
          <p:cNvSpPr/>
          <p:nvPr/>
        </p:nvSpPr>
        <p:spPr>
          <a:xfrm>
            <a:off x="3407049" y="127448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0" name="Google Shape;270;h36394527f7dc36b1_0_622"/>
          <p:cNvSpPr/>
          <p:nvPr/>
        </p:nvSpPr>
        <p:spPr>
          <a:xfrm>
            <a:off x="3656339" y="127448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71" name="Google Shape;271;h36394527f7dc36b1_0_622"/>
          <p:cNvGrpSpPr/>
          <p:nvPr/>
        </p:nvGrpSpPr>
        <p:grpSpPr>
          <a:xfrm rot="5400000">
            <a:off x="3425449" y="1095633"/>
            <a:ext cx="212500" cy="63517"/>
            <a:chOff x="1534650" y="2004150"/>
            <a:chExt cx="294077" cy="87900"/>
          </a:xfrm>
        </p:grpSpPr>
        <p:sp>
          <p:nvSpPr>
            <p:cNvPr id="272" name="Google Shape;272;h36394527f7dc36b1_0_622"/>
            <p:cNvSpPr/>
            <p:nvPr/>
          </p:nvSpPr>
          <p:spPr>
            <a:xfrm>
              <a:off x="1534650" y="2004150"/>
              <a:ext cx="87900" cy="87900"/>
            </a:xfrm>
            <a:prstGeom prst="ellipse">
              <a:avLst/>
            </a:prstGeom>
            <a:solidFill>
              <a:schemeClr val="lt2"/>
            </a:solidFill>
            <a:ln cap="flat" cmpd="sng" w="137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125" lIns="46125" spcFirstLastPara="1" rIns="46125" wrap="square" tIns="46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73" name="Google Shape;273;h36394527f7dc36b1_0_622"/>
            <p:cNvSpPr/>
            <p:nvPr/>
          </p:nvSpPr>
          <p:spPr>
            <a:xfrm>
              <a:off x="1637739" y="2004150"/>
              <a:ext cx="87900" cy="87900"/>
            </a:xfrm>
            <a:prstGeom prst="ellipse">
              <a:avLst/>
            </a:prstGeom>
            <a:solidFill>
              <a:schemeClr val="lt2"/>
            </a:solidFill>
            <a:ln cap="flat" cmpd="sng" w="137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125" lIns="46125" spcFirstLastPara="1" rIns="46125" wrap="square" tIns="46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74" name="Google Shape;274;h36394527f7dc36b1_0_622"/>
            <p:cNvSpPr/>
            <p:nvPr/>
          </p:nvSpPr>
          <p:spPr>
            <a:xfrm>
              <a:off x="1740827" y="2004150"/>
              <a:ext cx="87900" cy="87900"/>
            </a:xfrm>
            <a:prstGeom prst="ellipse">
              <a:avLst/>
            </a:prstGeom>
            <a:solidFill>
              <a:schemeClr val="lt2"/>
            </a:solidFill>
            <a:ln cap="flat" cmpd="sng" w="137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125" lIns="46125" spcFirstLastPara="1" rIns="46125" wrap="square" tIns="46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275" name="Google Shape;275;h36394527f7dc36b1_0_622"/>
          <p:cNvSpPr/>
          <p:nvPr/>
        </p:nvSpPr>
        <p:spPr>
          <a:xfrm flipH="1">
            <a:off x="2926160" y="184600"/>
            <a:ext cx="119400" cy="13980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6" name="Google Shape;276;h36394527f7dc36b1_0_622"/>
          <p:cNvSpPr txBox="1"/>
          <p:nvPr/>
        </p:nvSpPr>
        <p:spPr>
          <a:xfrm>
            <a:off x="2511363" y="740676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n+1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7" name="Google Shape;277;h36394527f7dc36b1_0_622"/>
          <p:cNvSpPr/>
          <p:nvPr/>
        </p:nvSpPr>
        <p:spPr>
          <a:xfrm flipH="1" rot="5400000">
            <a:off x="3448374" y="1243950"/>
            <a:ext cx="165000" cy="842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8" name="Google Shape;278;h36394527f7dc36b1_0_622"/>
          <p:cNvSpPr txBox="1"/>
          <p:nvPr/>
        </p:nvSpPr>
        <p:spPr>
          <a:xfrm>
            <a:off x="3306774" y="1681139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9" name="Google Shape;279;h36394527f7dc36b1_0_622"/>
          <p:cNvSpPr/>
          <p:nvPr/>
        </p:nvSpPr>
        <p:spPr>
          <a:xfrm>
            <a:off x="6028988" y="96150"/>
            <a:ext cx="453300" cy="1472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5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0" name="Google Shape;280;h36394527f7dc36b1_0_622"/>
          <p:cNvSpPr/>
          <p:nvPr/>
        </p:nvSpPr>
        <p:spPr>
          <a:xfrm>
            <a:off x="6083138" y="13447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1" name="Google Shape;281;h36394527f7dc36b1_0_622"/>
          <p:cNvSpPr/>
          <p:nvPr/>
        </p:nvSpPr>
        <p:spPr>
          <a:xfrm>
            <a:off x="6083138" y="47947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2" name="Google Shape;282;h36394527f7dc36b1_0_622"/>
          <p:cNvSpPr/>
          <p:nvPr/>
        </p:nvSpPr>
        <p:spPr>
          <a:xfrm>
            <a:off x="6083138" y="82447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3" name="Google Shape;283;h36394527f7dc36b1_0_622"/>
          <p:cNvSpPr/>
          <p:nvPr/>
        </p:nvSpPr>
        <p:spPr>
          <a:xfrm>
            <a:off x="6083138" y="116947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4" name="Google Shape;284;h36394527f7dc36b1_0_622"/>
          <p:cNvSpPr/>
          <p:nvPr/>
        </p:nvSpPr>
        <p:spPr>
          <a:xfrm flipH="1">
            <a:off x="5873947" y="121500"/>
            <a:ext cx="119400" cy="13980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5" name="Google Shape;285;h36394527f7dc36b1_0_622"/>
          <p:cNvSpPr txBox="1"/>
          <p:nvPr/>
        </p:nvSpPr>
        <p:spPr>
          <a:xfrm>
            <a:off x="5618808" y="677575"/>
            <a:ext cx="288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4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790ff578c93ec937_0_53"/>
          <p:cNvSpPr/>
          <p:nvPr/>
        </p:nvSpPr>
        <p:spPr>
          <a:xfrm>
            <a:off x="2380807" y="3096062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="0" baseline="-25000" lang="pt-BR" sz="1241" strike="noStrike">
                <a:latin typeface="Arial"/>
                <a:ea typeface="Arial"/>
                <a:cs typeface="Arial"/>
                <a:sym typeface="Arial"/>
              </a:rPr>
              <a:t>1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790ff578c93ec937_0_53"/>
          <p:cNvSpPr/>
          <p:nvPr/>
        </p:nvSpPr>
        <p:spPr>
          <a:xfrm>
            <a:off x="2380826" y="3672035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="0" baseline="-25000" lang="pt-BR" sz="1241" strike="noStrike">
                <a:latin typeface="Arial"/>
                <a:ea typeface="Arial"/>
                <a:cs typeface="Arial"/>
                <a:sym typeface="Arial"/>
              </a:rPr>
              <a:t>2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h790ff578c93ec937_0_53"/>
          <p:cNvSpPr/>
          <p:nvPr/>
        </p:nvSpPr>
        <p:spPr>
          <a:xfrm>
            <a:off x="2380826" y="4500229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41"/>
              <a:t>x</a:t>
            </a:r>
            <a:r>
              <a:rPr baseline="-25000" lang="pt-BR" sz="1241"/>
              <a:t>n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h790ff578c93ec937_0_53"/>
          <p:cNvGrpSpPr/>
          <p:nvPr/>
        </p:nvGrpSpPr>
        <p:grpSpPr>
          <a:xfrm>
            <a:off x="2505539" y="4272293"/>
            <a:ext cx="288564" cy="74448"/>
            <a:chOff x="3272500" y="3440675"/>
            <a:chExt cx="372100" cy="96000"/>
          </a:xfrm>
        </p:grpSpPr>
        <p:sp>
          <p:nvSpPr>
            <p:cNvPr id="294" name="Google Shape;294;h790ff578c93ec937_0_53"/>
            <p:cNvSpPr/>
            <p:nvPr/>
          </p:nvSpPr>
          <p:spPr>
            <a:xfrm>
              <a:off x="327250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95" name="Google Shape;295;h790ff578c93ec937_0_53"/>
            <p:cNvSpPr/>
            <p:nvPr/>
          </p:nvSpPr>
          <p:spPr>
            <a:xfrm>
              <a:off x="341055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96" name="Google Shape;296;h790ff578c93ec937_0_53"/>
            <p:cNvSpPr/>
            <p:nvPr/>
          </p:nvSpPr>
          <p:spPr>
            <a:xfrm>
              <a:off x="3548600" y="3440675"/>
              <a:ext cx="96000" cy="96000"/>
            </a:xfrm>
            <a:prstGeom prst="ellipse">
              <a:avLst/>
            </a:prstGeom>
            <a:solidFill>
              <a:schemeClr val="lt1"/>
            </a:solidFill>
            <a:ln cap="flat" cmpd="sng" w="7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900" lIns="70900" spcFirstLastPara="1" rIns="70900" wrap="square" tIns="70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297" name="Google Shape;297;h790ff578c93ec937_0_53"/>
          <p:cNvSpPr/>
          <p:nvPr/>
        </p:nvSpPr>
        <p:spPr>
          <a:xfrm>
            <a:off x="5437982" y="3700866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2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790ff578c93ec937_0_53"/>
          <p:cNvSpPr/>
          <p:nvPr/>
        </p:nvSpPr>
        <p:spPr>
          <a:xfrm>
            <a:off x="5408432" y="3084366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1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790ff578c93ec937_0_53"/>
          <p:cNvSpPr/>
          <p:nvPr/>
        </p:nvSpPr>
        <p:spPr>
          <a:xfrm>
            <a:off x="5437982" y="4305991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r>
              <a:rPr baseline="-25000" lang="pt-BR">
                <a:solidFill>
                  <a:schemeClr val="dk1"/>
                </a:solidFill>
              </a:rPr>
              <a:t>3</a:t>
            </a:r>
            <a:endParaRPr b="0" baseline="-2500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h790ff578c93ec937_0_53"/>
          <p:cNvCxnSpPr>
            <a:stCxn id="290" idx="6"/>
          </p:cNvCxnSpPr>
          <p:nvPr/>
        </p:nvCxnSpPr>
        <p:spPr>
          <a:xfrm flipH="1" rot="10800000">
            <a:off x="2887207" y="3258362"/>
            <a:ext cx="2531400" cy="909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" name="Google Shape;301;h790ff578c93ec937_0_53"/>
          <p:cNvCxnSpPr>
            <a:stCxn id="291" idx="6"/>
            <a:endCxn id="298" idx="2"/>
          </p:cNvCxnSpPr>
          <p:nvPr/>
        </p:nvCxnSpPr>
        <p:spPr>
          <a:xfrm flipH="1" rot="10800000">
            <a:off x="2887226" y="3337535"/>
            <a:ext cx="2521200" cy="5877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2" name="Google Shape;302;h790ff578c93ec937_0_53"/>
          <p:cNvCxnSpPr>
            <a:stCxn id="292" idx="6"/>
          </p:cNvCxnSpPr>
          <p:nvPr/>
        </p:nvCxnSpPr>
        <p:spPr>
          <a:xfrm flipH="1" rot="10800000">
            <a:off x="2887226" y="3426529"/>
            <a:ext cx="2531400" cy="1326900"/>
          </a:xfrm>
          <a:prstGeom prst="straightConnector1">
            <a:avLst/>
          </a:prstGeom>
          <a:noFill/>
          <a:ln cap="flat" cmpd="sng" w="20500">
            <a:solidFill>
              <a:srgbClr val="B7B7B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h790ff578c93ec937_0_53"/>
          <p:cNvCxnSpPr>
            <a:stCxn id="290" idx="6"/>
          </p:cNvCxnSpPr>
          <p:nvPr/>
        </p:nvCxnSpPr>
        <p:spPr>
          <a:xfrm>
            <a:off x="2887207" y="3349262"/>
            <a:ext cx="2573400" cy="5049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h790ff578c93ec937_0_53"/>
          <p:cNvCxnSpPr>
            <a:stCxn id="291" idx="6"/>
            <a:endCxn id="297" idx="2"/>
          </p:cNvCxnSpPr>
          <p:nvPr/>
        </p:nvCxnSpPr>
        <p:spPr>
          <a:xfrm>
            <a:off x="2887226" y="3925235"/>
            <a:ext cx="2550900" cy="288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" name="Google Shape;305;h790ff578c93ec937_0_53"/>
          <p:cNvCxnSpPr>
            <a:stCxn id="292" idx="6"/>
          </p:cNvCxnSpPr>
          <p:nvPr/>
        </p:nvCxnSpPr>
        <p:spPr>
          <a:xfrm flipH="1" rot="10800000">
            <a:off x="2887226" y="4043329"/>
            <a:ext cx="2559600" cy="7101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h790ff578c93ec937_0_53"/>
          <p:cNvCxnSpPr>
            <a:stCxn id="292" idx="6"/>
          </p:cNvCxnSpPr>
          <p:nvPr/>
        </p:nvCxnSpPr>
        <p:spPr>
          <a:xfrm flipH="1" rot="10800000">
            <a:off x="2887226" y="4646029"/>
            <a:ext cx="2573400" cy="1074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7" name="Google Shape;307;h790ff578c93ec937_0_53"/>
          <p:cNvCxnSpPr>
            <a:stCxn id="290" idx="6"/>
          </p:cNvCxnSpPr>
          <p:nvPr/>
        </p:nvCxnSpPr>
        <p:spPr>
          <a:xfrm>
            <a:off x="2887207" y="3349262"/>
            <a:ext cx="2608500" cy="10653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h790ff578c93ec937_0_53"/>
          <p:cNvCxnSpPr>
            <a:stCxn id="291" idx="6"/>
            <a:endCxn id="299" idx="2"/>
          </p:cNvCxnSpPr>
          <p:nvPr/>
        </p:nvCxnSpPr>
        <p:spPr>
          <a:xfrm>
            <a:off x="2887226" y="3925235"/>
            <a:ext cx="2550900" cy="633900"/>
          </a:xfrm>
          <a:prstGeom prst="straightConnector1">
            <a:avLst/>
          </a:pr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h790ff578c93ec937_0_53"/>
          <p:cNvSpPr/>
          <p:nvPr/>
        </p:nvSpPr>
        <p:spPr>
          <a:xfrm>
            <a:off x="7682882" y="3672028"/>
            <a:ext cx="506400" cy="506400"/>
          </a:xfrm>
          <a:prstGeom prst="ellipse">
            <a:avLst/>
          </a:prstGeom>
          <a:solidFill>
            <a:srgbClr val="FFFFFF"/>
          </a:solidFill>
          <a:ln cap="flat" cmpd="sng" w="26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800" lIns="76450" spcFirstLastPara="1" rIns="76450" wrap="square" tIns="44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σ</a:t>
            </a:r>
            <a:endParaRPr b="0" sz="1241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h790ff578c93ec937_0_53"/>
          <p:cNvCxnSpPr>
            <a:stCxn id="298" idx="6"/>
          </p:cNvCxnSpPr>
          <p:nvPr/>
        </p:nvCxnSpPr>
        <p:spPr>
          <a:xfrm>
            <a:off x="5914832" y="3337566"/>
            <a:ext cx="1774800" cy="4611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" name="Google Shape;311;h790ff578c93ec937_0_53"/>
          <p:cNvCxnSpPr>
            <a:stCxn id="297" idx="6"/>
            <a:endCxn id="309" idx="2"/>
          </p:cNvCxnSpPr>
          <p:nvPr/>
        </p:nvCxnSpPr>
        <p:spPr>
          <a:xfrm flipH="1" rot="10800000">
            <a:off x="5944382" y="3925266"/>
            <a:ext cx="1738500" cy="288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h790ff578c93ec937_0_53"/>
          <p:cNvCxnSpPr>
            <a:stCxn id="299" idx="6"/>
          </p:cNvCxnSpPr>
          <p:nvPr/>
        </p:nvCxnSpPr>
        <p:spPr>
          <a:xfrm flipH="1" rot="10800000">
            <a:off x="5944382" y="4006891"/>
            <a:ext cx="1738500" cy="552300"/>
          </a:xfrm>
          <a:prstGeom prst="straightConnector1">
            <a:avLst/>
          </a:prstGeom>
          <a:noFill/>
          <a:ln cap="flat" cmpd="sng" w="205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3" name="Google Shape;313;h790ff578c93ec937_0_53"/>
          <p:cNvGrpSpPr/>
          <p:nvPr/>
        </p:nvGrpSpPr>
        <p:grpSpPr>
          <a:xfrm>
            <a:off x="1711718" y="3154435"/>
            <a:ext cx="453300" cy="1871100"/>
            <a:chOff x="1100175" y="2340500"/>
            <a:chExt cx="453300" cy="1871100"/>
          </a:xfrm>
        </p:grpSpPr>
        <p:sp>
          <p:nvSpPr>
            <p:cNvPr id="314" name="Google Shape;314;h790ff578c93ec937_0_53"/>
            <p:cNvSpPr/>
            <p:nvPr/>
          </p:nvSpPr>
          <p:spPr>
            <a:xfrm>
              <a:off x="1100175" y="2340500"/>
              <a:ext cx="453300" cy="18711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5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315" name="Google Shape;315;h790ff578c93ec937_0_53"/>
            <p:cNvGrpSpPr/>
            <p:nvPr/>
          </p:nvGrpSpPr>
          <p:grpSpPr>
            <a:xfrm>
              <a:off x="1154325" y="2378825"/>
              <a:ext cx="345000" cy="1787250"/>
              <a:chOff x="1132863" y="2378825"/>
              <a:chExt cx="345000" cy="1787250"/>
            </a:xfrm>
          </p:grpSpPr>
          <p:sp>
            <p:nvSpPr>
              <p:cNvPr id="316" name="Google Shape;316;h790ff578c93ec937_0_53"/>
              <p:cNvSpPr/>
              <p:nvPr/>
            </p:nvSpPr>
            <p:spPr>
              <a:xfrm>
                <a:off x="1132863" y="23788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>
                    <a:latin typeface="Comfortaa"/>
                    <a:ea typeface="Comfortaa"/>
                    <a:cs typeface="Comfortaa"/>
                    <a:sym typeface="Comfortaa"/>
                  </a:rPr>
                  <a:t>1</a:t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17" name="Google Shape;317;h790ff578c93ec937_0_53"/>
              <p:cNvSpPr/>
              <p:nvPr/>
            </p:nvSpPr>
            <p:spPr>
              <a:xfrm>
                <a:off x="1132863" y="27238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18" name="Google Shape;318;h790ff578c93ec937_0_53"/>
              <p:cNvSpPr/>
              <p:nvPr/>
            </p:nvSpPr>
            <p:spPr>
              <a:xfrm>
                <a:off x="1132863" y="30688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19" name="Google Shape;319;h790ff578c93ec937_0_53"/>
              <p:cNvSpPr/>
              <p:nvPr/>
            </p:nvSpPr>
            <p:spPr>
              <a:xfrm>
                <a:off x="1132863" y="382107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320" name="Google Shape;320;h790ff578c93ec937_0_53"/>
              <p:cNvGrpSpPr/>
              <p:nvPr/>
            </p:nvGrpSpPr>
            <p:grpSpPr>
              <a:xfrm rot="5400000">
                <a:off x="1177588" y="3573500"/>
                <a:ext cx="294077" cy="87900"/>
                <a:chOff x="1534650" y="2004150"/>
                <a:chExt cx="294077" cy="87900"/>
              </a:xfrm>
            </p:grpSpPr>
            <p:sp>
              <p:nvSpPr>
                <p:cNvPr id="321" name="Google Shape;321;h790ff578c93ec937_0_53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322" name="Google Shape;322;h790ff578c93ec937_0_53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323" name="Google Shape;323;h790ff578c93ec937_0_53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</p:grpSp>
      <p:sp>
        <p:nvSpPr>
          <p:cNvPr id="324" name="Google Shape;324;h790ff578c93ec937_0_53"/>
          <p:cNvSpPr/>
          <p:nvPr/>
        </p:nvSpPr>
        <p:spPr>
          <a:xfrm flipH="1">
            <a:off x="1515914" y="3192760"/>
            <a:ext cx="146100" cy="17946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5" name="Google Shape;325;h790ff578c93ec937_0_53"/>
          <p:cNvSpPr txBox="1"/>
          <p:nvPr/>
        </p:nvSpPr>
        <p:spPr>
          <a:xfrm>
            <a:off x="968718" y="3855160"/>
            <a:ext cx="5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n+1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6" name="Google Shape;326;h790ff578c93ec937_0_53"/>
          <p:cNvSpPr/>
          <p:nvPr/>
        </p:nvSpPr>
        <p:spPr>
          <a:xfrm>
            <a:off x="3938419" y="1356935"/>
            <a:ext cx="852600" cy="13869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7" name="Google Shape;327;h790ff578c93ec937_0_53"/>
          <p:cNvSpPr/>
          <p:nvPr/>
        </p:nvSpPr>
        <p:spPr>
          <a:xfrm>
            <a:off x="3986552" y="140468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8" name="Google Shape;328;h790ff578c93ec937_0_53"/>
          <p:cNvSpPr/>
          <p:nvPr/>
        </p:nvSpPr>
        <p:spPr>
          <a:xfrm>
            <a:off x="4235843" y="140468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9" name="Google Shape;329;h790ff578c93ec937_0_53"/>
          <p:cNvSpPr/>
          <p:nvPr/>
        </p:nvSpPr>
        <p:spPr>
          <a:xfrm>
            <a:off x="4485133" y="140468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0" name="Google Shape;330;h790ff578c93ec937_0_53"/>
          <p:cNvSpPr/>
          <p:nvPr/>
        </p:nvSpPr>
        <p:spPr>
          <a:xfrm>
            <a:off x="3986552" y="165397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1" name="Google Shape;331;h790ff578c93ec937_0_53"/>
          <p:cNvSpPr/>
          <p:nvPr/>
        </p:nvSpPr>
        <p:spPr>
          <a:xfrm>
            <a:off x="4235843" y="165397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2" name="Google Shape;332;h790ff578c93ec937_0_53"/>
          <p:cNvSpPr/>
          <p:nvPr/>
        </p:nvSpPr>
        <p:spPr>
          <a:xfrm>
            <a:off x="4485133" y="165397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3" name="Google Shape;333;h790ff578c93ec937_0_53"/>
          <p:cNvSpPr/>
          <p:nvPr/>
        </p:nvSpPr>
        <p:spPr>
          <a:xfrm>
            <a:off x="3986552" y="1903262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4" name="Google Shape;334;h790ff578c93ec937_0_53"/>
          <p:cNvSpPr/>
          <p:nvPr/>
        </p:nvSpPr>
        <p:spPr>
          <a:xfrm>
            <a:off x="4235843" y="1903262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5" name="Google Shape;335;h790ff578c93ec937_0_53"/>
          <p:cNvSpPr/>
          <p:nvPr/>
        </p:nvSpPr>
        <p:spPr>
          <a:xfrm>
            <a:off x="4485133" y="1903262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6" name="Google Shape;336;h790ff578c93ec937_0_53"/>
          <p:cNvSpPr/>
          <p:nvPr/>
        </p:nvSpPr>
        <p:spPr>
          <a:xfrm>
            <a:off x="3986552" y="244682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7" name="Google Shape;337;h790ff578c93ec937_0_53"/>
          <p:cNvSpPr/>
          <p:nvPr/>
        </p:nvSpPr>
        <p:spPr>
          <a:xfrm>
            <a:off x="4235843" y="244682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8" name="Google Shape;338;h790ff578c93ec937_0_53"/>
          <p:cNvSpPr/>
          <p:nvPr/>
        </p:nvSpPr>
        <p:spPr>
          <a:xfrm>
            <a:off x="4485133" y="244682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39" name="Google Shape;339;h790ff578c93ec937_0_53"/>
          <p:cNvGrpSpPr/>
          <p:nvPr/>
        </p:nvGrpSpPr>
        <p:grpSpPr>
          <a:xfrm rot="5400000">
            <a:off x="4254242" y="2267967"/>
            <a:ext cx="212500" cy="63517"/>
            <a:chOff x="1534650" y="2004150"/>
            <a:chExt cx="294077" cy="87900"/>
          </a:xfrm>
        </p:grpSpPr>
        <p:sp>
          <p:nvSpPr>
            <p:cNvPr id="340" name="Google Shape;340;h790ff578c93ec937_0_53"/>
            <p:cNvSpPr/>
            <p:nvPr/>
          </p:nvSpPr>
          <p:spPr>
            <a:xfrm>
              <a:off x="1534650" y="2004150"/>
              <a:ext cx="87900" cy="87900"/>
            </a:xfrm>
            <a:prstGeom prst="ellipse">
              <a:avLst/>
            </a:prstGeom>
            <a:solidFill>
              <a:schemeClr val="lt2"/>
            </a:solidFill>
            <a:ln cap="flat" cmpd="sng" w="137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125" lIns="46125" spcFirstLastPara="1" rIns="46125" wrap="square" tIns="46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41" name="Google Shape;341;h790ff578c93ec937_0_53"/>
            <p:cNvSpPr/>
            <p:nvPr/>
          </p:nvSpPr>
          <p:spPr>
            <a:xfrm>
              <a:off x="1637739" y="2004150"/>
              <a:ext cx="87900" cy="87900"/>
            </a:xfrm>
            <a:prstGeom prst="ellipse">
              <a:avLst/>
            </a:prstGeom>
            <a:solidFill>
              <a:schemeClr val="lt2"/>
            </a:solidFill>
            <a:ln cap="flat" cmpd="sng" w="137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125" lIns="46125" spcFirstLastPara="1" rIns="46125" wrap="square" tIns="46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42" name="Google Shape;342;h790ff578c93ec937_0_53"/>
            <p:cNvSpPr/>
            <p:nvPr/>
          </p:nvSpPr>
          <p:spPr>
            <a:xfrm>
              <a:off x="1740827" y="2004150"/>
              <a:ext cx="87900" cy="87900"/>
            </a:xfrm>
            <a:prstGeom prst="ellipse">
              <a:avLst/>
            </a:prstGeom>
            <a:solidFill>
              <a:schemeClr val="lt2"/>
            </a:solidFill>
            <a:ln cap="flat" cmpd="sng" w="137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125" lIns="46125" spcFirstLastPara="1" rIns="46125" wrap="square" tIns="46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6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343" name="Google Shape;343;h790ff578c93ec937_0_53"/>
          <p:cNvSpPr/>
          <p:nvPr/>
        </p:nvSpPr>
        <p:spPr>
          <a:xfrm flipH="1">
            <a:off x="3754953" y="1356935"/>
            <a:ext cx="119400" cy="13980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4" name="Google Shape;344;h790ff578c93ec937_0_53"/>
          <p:cNvSpPr txBox="1"/>
          <p:nvPr/>
        </p:nvSpPr>
        <p:spPr>
          <a:xfrm>
            <a:off x="3340156" y="1913011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n+1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5" name="Google Shape;345;h790ff578c93ec937_0_53"/>
          <p:cNvSpPr/>
          <p:nvPr/>
        </p:nvSpPr>
        <p:spPr>
          <a:xfrm flipH="1" rot="5400000">
            <a:off x="4277167" y="2416285"/>
            <a:ext cx="165000" cy="842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6" name="Google Shape;346;h790ff578c93ec937_0_53"/>
          <p:cNvSpPr txBox="1"/>
          <p:nvPr/>
        </p:nvSpPr>
        <p:spPr>
          <a:xfrm>
            <a:off x="4135567" y="2853474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7" name="Google Shape;347;h790ff578c93ec937_0_53"/>
          <p:cNvSpPr/>
          <p:nvPr/>
        </p:nvSpPr>
        <p:spPr>
          <a:xfrm>
            <a:off x="6724631" y="1340760"/>
            <a:ext cx="453300" cy="1472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5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8" name="Google Shape;348;h790ff578c93ec937_0_53"/>
          <p:cNvSpPr/>
          <p:nvPr/>
        </p:nvSpPr>
        <p:spPr>
          <a:xfrm>
            <a:off x="6778781" y="137908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9" name="Google Shape;349;h790ff578c93ec937_0_53"/>
          <p:cNvSpPr/>
          <p:nvPr/>
        </p:nvSpPr>
        <p:spPr>
          <a:xfrm>
            <a:off x="6778781" y="172408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0" name="Google Shape;350;h790ff578c93ec937_0_53"/>
          <p:cNvSpPr/>
          <p:nvPr/>
        </p:nvSpPr>
        <p:spPr>
          <a:xfrm>
            <a:off x="6778781" y="206908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1" name="Google Shape;351;h790ff578c93ec937_0_53"/>
          <p:cNvSpPr/>
          <p:nvPr/>
        </p:nvSpPr>
        <p:spPr>
          <a:xfrm>
            <a:off x="6778781" y="2414085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2" name="Google Shape;352;h790ff578c93ec937_0_53"/>
          <p:cNvSpPr/>
          <p:nvPr/>
        </p:nvSpPr>
        <p:spPr>
          <a:xfrm flipH="1">
            <a:off x="6569591" y="1366110"/>
            <a:ext cx="119400" cy="13980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3" name="Google Shape;353;h790ff578c93ec937_0_53"/>
          <p:cNvSpPr txBox="1"/>
          <p:nvPr/>
        </p:nvSpPr>
        <p:spPr>
          <a:xfrm>
            <a:off x="6314452" y="1922185"/>
            <a:ext cx="288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4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4" name="Google Shape;354;h790ff578c93ec937_0_53"/>
          <p:cNvSpPr txBox="1"/>
          <p:nvPr>
            <p:ph type="title"/>
          </p:nvPr>
        </p:nvSpPr>
        <p:spPr>
          <a:xfrm>
            <a:off x="311700" y="176275"/>
            <a:ext cx="85206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Simplified Representation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(hiding bias)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4703caca149ccce2_0_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Word2Vec as a Neural Network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36f98b04b4fc2dcc_0_4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Word2Vec</a:t>
            </a:r>
            <a:endParaRPr/>
          </a:p>
        </p:txBody>
      </p:sp>
      <p:sp>
        <p:nvSpPr>
          <p:cNvPr id="365" name="Google Shape;365;h36f98b04b4fc2dcc_0_4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/>
              <a:t>Popular embedding method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/>
              <a:t>Very fast to train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h36f98b04b4fc2dcc_0_422"/>
          <p:cNvSpPr txBox="1"/>
          <p:nvPr/>
        </p:nvSpPr>
        <p:spPr>
          <a:xfrm>
            <a:off x="6349225" y="4530025"/>
            <a:ext cx="262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(Jurafsky, 2026)</a:t>
            </a:r>
            <a:endParaRPr sz="24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36394527f7dc36b1_0_169"/>
          <p:cNvSpPr/>
          <p:nvPr/>
        </p:nvSpPr>
        <p:spPr>
          <a:xfrm>
            <a:off x="5654700" y="2264700"/>
            <a:ext cx="1904400" cy="1919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72" name="Google Shape;372;h36394527f7dc36b1_0_1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Two Matrices</a:t>
            </a:r>
            <a:endParaRPr/>
          </a:p>
        </p:txBody>
      </p:sp>
      <p:grpSp>
        <p:nvGrpSpPr>
          <p:cNvPr id="373" name="Google Shape;373;h36394527f7dc36b1_0_169"/>
          <p:cNvGrpSpPr/>
          <p:nvPr/>
        </p:nvGrpSpPr>
        <p:grpSpPr>
          <a:xfrm>
            <a:off x="1574550" y="2226850"/>
            <a:ext cx="1904400" cy="1919400"/>
            <a:chOff x="1574550" y="2226850"/>
            <a:chExt cx="1904400" cy="1919400"/>
          </a:xfrm>
        </p:grpSpPr>
        <p:sp>
          <p:nvSpPr>
            <p:cNvPr id="374" name="Google Shape;374;h36394527f7dc36b1_0_169"/>
            <p:cNvSpPr/>
            <p:nvPr/>
          </p:nvSpPr>
          <p:spPr>
            <a:xfrm>
              <a:off x="1574550" y="2226850"/>
              <a:ext cx="1904400" cy="19194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75" name="Google Shape;375;h36394527f7dc36b1_0_169"/>
            <p:cNvSpPr/>
            <p:nvPr/>
          </p:nvSpPr>
          <p:spPr>
            <a:xfrm>
              <a:off x="1641163" y="229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76" name="Google Shape;376;h36394527f7dc36b1_0_169"/>
            <p:cNvSpPr/>
            <p:nvPr/>
          </p:nvSpPr>
          <p:spPr>
            <a:xfrm>
              <a:off x="1986163" y="229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77" name="Google Shape;377;h36394527f7dc36b1_0_169"/>
            <p:cNvSpPr/>
            <p:nvPr/>
          </p:nvSpPr>
          <p:spPr>
            <a:xfrm>
              <a:off x="2331163" y="229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78" name="Google Shape;378;h36394527f7dc36b1_0_169"/>
            <p:cNvSpPr/>
            <p:nvPr/>
          </p:nvSpPr>
          <p:spPr>
            <a:xfrm>
              <a:off x="3067338" y="229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379" name="Google Shape;379;h36394527f7dc36b1_0_169"/>
            <p:cNvGrpSpPr/>
            <p:nvPr/>
          </p:nvGrpSpPr>
          <p:grpSpPr>
            <a:xfrm>
              <a:off x="2724713" y="2421475"/>
              <a:ext cx="294077" cy="87900"/>
              <a:chOff x="1534650" y="2004150"/>
              <a:chExt cx="294077" cy="87900"/>
            </a:xfrm>
          </p:grpSpPr>
          <p:sp>
            <p:nvSpPr>
              <p:cNvPr id="380" name="Google Shape;380;h36394527f7dc36b1_0_169"/>
              <p:cNvSpPr/>
              <p:nvPr/>
            </p:nvSpPr>
            <p:spPr>
              <a:xfrm>
                <a:off x="1534650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81" name="Google Shape;381;h36394527f7dc36b1_0_169"/>
              <p:cNvSpPr/>
              <p:nvPr/>
            </p:nvSpPr>
            <p:spPr>
              <a:xfrm>
                <a:off x="1637739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82" name="Google Shape;382;h36394527f7dc36b1_0_169"/>
              <p:cNvSpPr/>
              <p:nvPr/>
            </p:nvSpPr>
            <p:spPr>
              <a:xfrm>
                <a:off x="1740827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  <p:sp>
          <p:nvSpPr>
            <p:cNvPr id="383" name="Google Shape;383;h36394527f7dc36b1_0_169"/>
            <p:cNvSpPr/>
            <p:nvPr/>
          </p:nvSpPr>
          <p:spPr>
            <a:xfrm>
              <a:off x="1641163" y="2637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84" name="Google Shape;384;h36394527f7dc36b1_0_169"/>
            <p:cNvSpPr/>
            <p:nvPr/>
          </p:nvSpPr>
          <p:spPr>
            <a:xfrm>
              <a:off x="1986163" y="2637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85" name="Google Shape;385;h36394527f7dc36b1_0_169"/>
            <p:cNvSpPr/>
            <p:nvPr/>
          </p:nvSpPr>
          <p:spPr>
            <a:xfrm>
              <a:off x="2331163" y="2637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86" name="Google Shape;386;h36394527f7dc36b1_0_169"/>
            <p:cNvSpPr/>
            <p:nvPr/>
          </p:nvSpPr>
          <p:spPr>
            <a:xfrm>
              <a:off x="3067338" y="2637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387" name="Google Shape;387;h36394527f7dc36b1_0_169"/>
            <p:cNvGrpSpPr/>
            <p:nvPr/>
          </p:nvGrpSpPr>
          <p:grpSpPr>
            <a:xfrm>
              <a:off x="2724713" y="2766475"/>
              <a:ext cx="294077" cy="87900"/>
              <a:chOff x="1534650" y="2004150"/>
              <a:chExt cx="294077" cy="87900"/>
            </a:xfrm>
          </p:grpSpPr>
          <p:sp>
            <p:nvSpPr>
              <p:cNvPr id="388" name="Google Shape;388;h36394527f7dc36b1_0_169"/>
              <p:cNvSpPr/>
              <p:nvPr/>
            </p:nvSpPr>
            <p:spPr>
              <a:xfrm>
                <a:off x="1534650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89" name="Google Shape;389;h36394527f7dc36b1_0_169"/>
              <p:cNvSpPr/>
              <p:nvPr/>
            </p:nvSpPr>
            <p:spPr>
              <a:xfrm>
                <a:off x="1637739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90" name="Google Shape;390;h36394527f7dc36b1_0_169"/>
              <p:cNvSpPr/>
              <p:nvPr/>
            </p:nvSpPr>
            <p:spPr>
              <a:xfrm>
                <a:off x="1740827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  <p:sp>
          <p:nvSpPr>
            <p:cNvPr id="391" name="Google Shape;391;h36394527f7dc36b1_0_169"/>
            <p:cNvSpPr/>
            <p:nvPr/>
          </p:nvSpPr>
          <p:spPr>
            <a:xfrm>
              <a:off x="1641163" y="298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92" name="Google Shape;392;h36394527f7dc36b1_0_169"/>
            <p:cNvSpPr/>
            <p:nvPr/>
          </p:nvSpPr>
          <p:spPr>
            <a:xfrm>
              <a:off x="1986163" y="298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93" name="Google Shape;393;h36394527f7dc36b1_0_169"/>
            <p:cNvSpPr/>
            <p:nvPr/>
          </p:nvSpPr>
          <p:spPr>
            <a:xfrm>
              <a:off x="2331163" y="298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394" name="Google Shape;394;h36394527f7dc36b1_0_169"/>
            <p:cNvSpPr/>
            <p:nvPr/>
          </p:nvSpPr>
          <p:spPr>
            <a:xfrm>
              <a:off x="3067338" y="298292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395" name="Google Shape;395;h36394527f7dc36b1_0_169"/>
            <p:cNvGrpSpPr/>
            <p:nvPr/>
          </p:nvGrpSpPr>
          <p:grpSpPr>
            <a:xfrm>
              <a:off x="2724713" y="3111475"/>
              <a:ext cx="294077" cy="87900"/>
              <a:chOff x="1534650" y="2004150"/>
              <a:chExt cx="294077" cy="87900"/>
            </a:xfrm>
          </p:grpSpPr>
          <p:sp>
            <p:nvSpPr>
              <p:cNvPr id="396" name="Google Shape;396;h36394527f7dc36b1_0_169"/>
              <p:cNvSpPr/>
              <p:nvPr/>
            </p:nvSpPr>
            <p:spPr>
              <a:xfrm>
                <a:off x="1534650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97" name="Google Shape;397;h36394527f7dc36b1_0_169"/>
              <p:cNvSpPr/>
              <p:nvPr/>
            </p:nvSpPr>
            <p:spPr>
              <a:xfrm>
                <a:off x="1637739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398" name="Google Shape;398;h36394527f7dc36b1_0_169"/>
              <p:cNvSpPr/>
              <p:nvPr/>
            </p:nvSpPr>
            <p:spPr>
              <a:xfrm>
                <a:off x="1740827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  <p:sp>
          <p:nvSpPr>
            <p:cNvPr id="399" name="Google Shape;399;h36394527f7dc36b1_0_169"/>
            <p:cNvSpPr/>
            <p:nvPr/>
          </p:nvSpPr>
          <p:spPr>
            <a:xfrm>
              <a:off x="1641163" y="373517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400" name="Google Shape;400;h36394527f7dc36b1_0_169"/>
            <p:cNvSpPr/>
            <p:nvPr/>
          </p:nvSpPr>
          <p:spPr>
            <a:xfrm>
              <a:off x="1986163" y="373517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401" name="Google Shape;401;h36394527f7dc36b1_0_169"/>
            <p:cNvSpPr/>
            <p:nvPr/>
          </p:nvSpPr>
          <p:spPr>
            <a:xfrm>
              <a:off x="2331163" y="373517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402" name="Google Shape;402;h36394527f7dc36b1_0_169"/>
            <p:cNvSpPr/>
            <p:nvPr/>
          </p:nvSpPr>
          <p:spPr>
            <a:xfrm>
              <a:off x="3067338" y="373517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403" name="Google Shape;403;h36394527f7dc36b1_0_169"/>
            <p:cNvGrpSpPr/>
            <p:nvPr/>
          </p:nvGrpSpPr>
          <p:grpSpPr>
            <a:xfrm>
              <a:off x="2724713" y="3863725"/>
              <a:ext cx="294077" cy="87900"/>
              <a:chOff x="1534650" y="2004150"/>
              <a:chExt cx="294077" cy="87900"/>
            </a:xfrm>
          </p:grpSpPr>
          <p:sp>
            <p:nvSpPr>
              <p:cNvPr id="404" name="Google Shape;404;h36394527f7dc36b1_0_169"/>
              <p:cNvSpPr/>
              <p:nvPr/>
            </p:nvSpPr>
            <p:spPr>
              <a:xfrm>
                <a:off x="1534650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05" name="Google Shape;405;h36394527f7dc36b1_0_169"/>
              <p:cNvSpPr/>
              <p:nvPr/>
            </p:nvSpPr>
            <p:spPr>
              <a:xfrm>
                <a:off x="1637739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06" name="Google Shape;406;h36394527f7dc36b1_0_169"/>
              <p:cNvSpPr/>
              <p:nvPr/>
            </p:nvSpPr>
            <p:spPr>
              <a:xfrm>
                <a:off x="1740827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  <p:grpSp>
          <p:nvGrpSpPr>
            <p:cNvPr id="407" name="Google Shape;407;h36394527f7dc36b1_0_169"/>
            <p:cNvGrpSpPr/>
            <p:nvPr/>
          </p:nvGrpSpPr>
          <p:grpSpPr>
            <a:xfrm rot="5400000">
              <a:off x="2375888" y="3487600"/>
              <a:ext cx="294077" cy="87900"/>
              <a:chOff x="1534650" y="2004150"/>
              <a:chExt cx="294077" cy="87900"/>
            </a:xfrm>
          </p:grpSpPr>
          <p:sp>
            <p:nvSpPr>
              <p:cNvPr id="408" name="Google Shape;408;h36394527f7dc36b1_0_169"/>
              <p:cNvSpPr/>
              <p:nvPr/>
            </p:nvSpPr>
            <p:spPr>
              <a:xfrm>
                <a:off x="1534650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09" name="Google Shape;409;h36394527f7dc36b1_0_169"/>
              <p:cNvSpPr/>
              <p:nvPr/>
            </p:nvSpPr>
            <p:spPr>
              <a:xfrm>
                <a:off x="1637739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10" name="Google Shape;410;h36394527f7dc36b1_0_169"/>
              <p:cNvSpPr/>
              <p:nvPr/>
            </p:nvSpPr>
            <p:spPr>
              <a:xfrm>
                <a:off x="1740827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</p:grpSp>
      <p:sp>
        <p:nvSpPr>
          <p:cNvPr id="411" name="Google Shape;411;h36394527f7dc36b1_0_169"/>
          <p:cNvSpPr/>
          <p:nvPr/>
        </p:nvSpPr>
        <p:spPr>
          <a:xfrm>
            <a:off x="3609271" y="2305025"/>
            <a:ext cx="146100" cy="17946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2" name="Google Shape;412;h36394527f7dc36b1_0_169"/>
          <p:cNvSpPr/>
          <p:nvPr/>
        </p:nvSpPr>
        <p:spPr>
          <a:xfrm rot="5400000">
            <a:off x="2479921" y="1196363"/>
            <a:ext cx="114300" cy="1763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3" name="Google Shape;413;h36394527f7dc36b1_0_169"/>
          <p:cNvSpPr txBox="1"/>
          <p:nvPr/>
        </p:nvSpPr>
        <p:spPr>
          <a:xfrm>
            <a:off x="1709121" y="1475475"/>
            <a:ext cx="166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embedding size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e.g., 300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4" name="Google Shape;414;h36394527f7dc36b1_0_169"/>
          <p:cNvSpPr txBox="1"/>
          <p:nvPr/>
        </p:nvSpPr>
        <p:spPr>
          <a:xfrm>
            <a:off x="3702396" y="2894525"/>
            <a:ext cx="182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number of words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e.g., 30.000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415" name="Google Shape;415;h36394527f7dc36b1_0_169"/>
          <p:cNvGrpSpPr/>
          <p:nvPr/>
        </p:nvGrpSpPr>
        <p:grpSpPr>
          <a:xfrm>
            <a:off x="5717529" y="2308700"/>
            <a:ext cx="1771175" cy="1787250"/>
            <a:chOff x="374900" y="1983800"/>
            <a:chExt cx="1771175" cy="1787250"/>
          </a:xfrm>
        </p:grpSpPr>
        <p:grpSp>
          <p:nvGrpSpPr>
            <p:cNvPr id="416" name="Google Shape;416;h36394527f7dc36b1_0_169"/>
            <p:cNvGrpSpPr/>
            <p:nvPr/>
          </p:nvGrpSpPr>
          <p:grpSpPr>
            <a:xfrm>
              <a:off x="374900" y="1983800"/>
              <a:ext cx="1771175" cy="345000"/>
              <a:chOff x="374900" y="1983800"/>
              <a:chExt cx="1771175" cy="345000"/>
            </a:xfrm>
          </p:grpSpPr>
          <p:sp>
            <p:nvSpPr>
              <p:cNvPr id="417" name="Google Shape;417;h36394527f7dc36b1_0_169"/>
              <p:cNvSpPr/>
              <p:nvPr/>
            </p:nvSpPr>
            <p:spPr>
              <a:xfrm>
                <a:off x="374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18" name="Google Shape;418;h36394527f7dc36b1_0_169"/>
              <p:cNvSpPr/>
              <p:nvPr/>
            </p:nvSpPr>
            <p:spPr>
              <a:xfrm>
                <a:off x="719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19" name="Google Shape;419;h36394527f7dc36b1_0_169"/>
              <p:cNvSpPr/>
              <p:nvPr/>
            </p:nvSpPr>
            <p:spPr>
              <a:xfrm>
                <a:off x="1064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20" name="Google Shape;420;h36394527f7dc36b1_0_169"/>
              <p:cNvSpPr/>
              <p:nvPr/>
            </p:nvSpPr>
            <p:spPr>
              <a:xfrm>
                <a:off x="1801075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421" name="Google Shape;421;h36394527f7dc36b1_0_169"/>
              <p:cNvGrpSpPr/>
              <p:nvPr/>
            </p:nvGrpSpPr>
            <p:grpSpPr>
              <a:xfrm>
                <a:off x="1458450" y="2112350"/>
                <a:ext cx="294077" cy="87900"/>
                <a:chOff x="1534650" y="2004150"/>
                <a:chExt cx="294077" cy="87900"/>
              </a:xfrm>
            </p:grpSpPr>
            <p:sp>
              <p:nvSpPr>
                <p:cNvPr id="422" name="Google Shape;422;h36394527f7dc36b1_0_169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23" name="Google Shape;423;h36394527f7dc36b1_0_169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24" name="Google Shape;424;h36394527f7dc36b1_0_169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  <p:grpSp>
          <p:nvGrpSpPr>
            <p:cNvPr id="425" name="Google Shape;425;h36394527f7dc36b1_0_169"/>
            <p:cNvGrpSpPr/>
            <p:nvPr/>
          </p:nvGrpSpPr>
          <p:grpSpPr>
            <a:xfrm>
              <a:off x="374900" y="2328800"/>
              <a:ext cx="1771175" cy="345000"/>
              <a:chOff x="374900" y="1983800"/>
              <a:chExt cx="1771175" cy="345000"/>
            </a:xfrm>
          </p:grpSpPr>
          <p:sp>
            <p:nvSpPr>
              <p:cNvPr id="426" name="Google Shape;426;h36394527f7dc36b1_0_169"/>
              <p:cNvSpPr/>
              <p:nvPr/>
            </p:nvSpPr>
            <p:spPr>
              <a:xfrm>
                <a:off x="374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27" name="Google Shape;427;h36394527f7dc36b1_0_169"/>
              <p:cNvSpPr/>
              <p:nvPr/>
            </p:nvSpPr>
            <p:spPr>
              <a:xfrm>
                <a:off x="719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28" name="Google Shape;428;h36394527f7dc36b1_0_169"/>
              <p:cNvSpPr/>
              <p:nvPr/>
            </p:nvSpPr>
            <p:spPr>
              <a:xfrm>
                <a:off x="1064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29" name="Google Shape;429;h36394527f7dc36b1_0_169"/>
              <p:cNvSpPr/>
              <p:nvPr/>
            </p:nvSpPr>
            <p:spPr>
              <a:xfrm>
                <a:off x="1801075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430" name="Google Shape;430;h36394527f7dc36b1_0_169"/>
              <p:cNvGrpSpPr/>
              <p:nvPr/>
            </p:nvGrpSpPr>
            <p:grpSpPr>
              <a:xfrm>
                <a:off x="1458450" y="2112350"/>
                <a:ext cx="294077" cy="87900"/>
                <a:chOff x="1534650" y="2004150"/>
                <a:chExt cx="294077" cy="87900"/>
              </a:xfrm>
            </p:grpSpPr>
            <p:sp>
              <p:nvSpPr>
                <p:cNvPr id="431" name="Google Shape;431;h36394527f7dc36b1_0_169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32" name="Google Shape;432;h36394527f7dc36b1_0_169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33" name="Google Shape;433;h36394527f7dc36b1_0_169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  <p:grpSp>
          <p:nvGrpSpPr>
            <p:cNvPr id="434" name="Google Shape;434;h36394527f7dc36b1_0_169"/>
            <p:cNvGrpSpPr/>
            <p:nvPr/>
          </p:nvGrpSpPr>
          <p:grpSpPr>
            <a:xfrm>
              <a:off x="374900" y="2673800"/>
              <a:ext cx="1771175" cy="345000"/>
              <a:chOff x="374900" y="1983800"/>
              <a:chExt cx="1771175" cy="345000"/>
            </a:xfrm>
          </p:grpSpPr>
          <p:sp>
            <p:nvSpPr>
              <p:cNvPr id="435" name="Google Shape;435;h36394527f7dc36b1_0_169"/>
              <p:cNvSpPr/>
              <p:nvPr/>
            </p:nvSpPr>
            <p:spPr>
              <a:xfrm>
                <a:off x="374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36" name="Google Shape;436;h36394527f7dc36b1_0_169"/>
              <p:cNvSpPr/>
              <p:nvPr/>
            </p:nvSpPr>
            <p:spPr>
              <a:xfrm>
                <a:off x="719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37" name="Google Shape;437;h36394527f7dc36b1_0_169"/>
              <p:cNvSpPr/>
              <p:nvPr/>
            </p:nvSpPr>
            <p:spPr>
              <a:xfrm>
                <a:off x="1064900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38" name="Google Shape;438;h36394527f7dc36b1_0_169"/>
              <p:cNvSpPr/>
              <p:nvPr/>
            </p:nvSpPr>
            <p:spPr>
              <a:xfrm>
                <a:off x="1801075" y="1983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439" name="Google Shape;439;h36394527f7dc36b1_0_169"/>
              <p:cNvGrpSpPr/>
              <p:nvPr/>
            </p:nvGrpSpPr>
            <p:grpSpPr>
              <a:xfrm>
                <a:off x="1458450" y="2112350"/>
                <a:ext cx="294077" cy="87900"/>
                <a:chOff x="1534650" y="2004150"/>
                <a:chExt cx="294077" cy="87900"/>
              </a:xfrm>
            </p:grpSpPr>
            <p:sp>
              <p:nvSpPr>
                <p:cNvPr id="440" name="Google Shape;440;h36394527f7dc36b1_0_169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41" name="Google Shape;441;h36394527f7dc36b1_0_169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42" name="Google Shape;442;h36394527f7dc36b1_0_169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  <p:grpSp>
          <p:nvGrpSpPr>
            <p:cNvPr id="443" name="Google Shape;443;h36394527f7dc36b1_0_169"/>
            <p:cNvGrpSpPr/>
            <p:nvPr/>
          </p:nvGrpSpPr>
          <p:grpSpPr>
            <a:xfrm>
              <a:off x="374900" y="3426050"/>
              <a:ext cx="1771175" cy="345000"/>
              <a:chOff x="374900" y="3471800"/>
              <a:chExt cx="1771175" cy="345000"/>
            </a:xfrm>
          </p:grpSpPr>
          <p:sp>
            <p:nvSpPr>
              <p:cNvPr id="444" name="Google Shape;444;h36394527f7dc36b1_0_169"/>
              <p:cNvSpPr/>
              <p:nvPr/>
            </p:nvSpPr>
            <p:spPr>
              <a:xfrm>
                <a:off x="374900" y="3471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45" name="Google Shape;445;h36394527f7dc36b1_0_169"/>
              <p:cNvSpPr/>
              <p:nvPr/>
            </p:nvSpPr>
            <p:spPr>
              <a:xfrm>
                <a:off x="719900" y="3471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46" name="Google Shape;446;h36394527f7dc36b1_0_169"/>
              <p:cNvSpPr/>
              <p:nvPr/>
            </p:nvSpPr>
            <p:spPr>
              <a:xfrm>
                <a:off x="1064900" y="3471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47" name="Google Shape;447;h36394527f7dc36b1_0_169"/>
              <p:cNvSpPr/>
              <p:nvPr/>
            </p:nvSpPr>
            <p:spPr>
              <a:xfrm>
                <a:off x="1801075" y="3471800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448" name="Google Shape;448;h36394527f7dc36b1_0_169"/>
              <p:cNvGrpSpPr/>
              <p:nvPr/>
            </p:nvGrpSpPr>
            <p:grpSpPr>
              <a:xfrm>
                <a:off x="1458450" y="3600350"/>
                <a:ext cx="294077" cy="87900"/>
                <a:chOff x="1534650" y="2004150"/>
                <a:chExt cx="294077" cy="87900"/>
              </a:xfrm>
            </p:grpSpPr>
            <p:sp>
              <p:nvSpPr>
                <p:cNvPr id="449" name="Google Shape;449;h36394527f7dc36b1_0_169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50" name="Google Shape;450;h36394527f7dc36b1_0_169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451" name="Google Shape;451;h36394527f7dc36b1_0_169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25" lIns="63825" spcFirstLastPara="1" rIns="63825" wrap="square" tIns="63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7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  <p:grpSp>
          <p:nvGrpSpPr>
            <p:cNvPr id="452" name="Google Shape;452;h36394527f7dc36b1_0_169"/>
            <p:cNvGrpSpPr/>
            <p:nvPr/>
          </p:nvGrpSpPr>
          <p:grpSpPr>
            <a:xfrm rot="5400000">
              <a:off x="1109625" y="3178475"/>
              <a:ext cx="294077" cy="87900"/>
              <a:chOff x="1534650" y="2004150"/>
              <a:chExt cx="294077" cy="87900"/>
            </a:xfrm>
          </p:grpSpPr>
          <p:sp>
            <p:nvSpPr>
              <p:cNvPr id="453" name="Google Shape;453;h36394527f7dc36b1_0_169"/>
              <p:cNvSpPr/>
              <p:nvPr/>
            </p:nvSpPr>
            <p:spPr>
              <a:xfrm>
                <a:off x="1534650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54" name="Google Shape;454;h36394527f7dc36b1_0_169"/>
              <p:cNvSpPr/>
              <p:nvPr/>
            </p:nvSpPr>
            <p:spPr>
              <a:xfrm>
                <a:off x="1637739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455" name="Google Shape;455;h36394527f7dc36b1_0_169"/>
              <p:cNvSpPr/>
              <p:nvPr/>
            </p:nvSpPr>
            <p:spPr>
              <a:xfrm>
                <a:off x="1740827" y="2004150"/>
                <a:ext cx="87900" cy="87900"/>
              </a:xfrm>
              <a:prstGeom prst="ellipse">
                <a:avLst/>
              </a:prstGeom>
              <a:solidFill>
                <a:schemeClr val="lt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825" lIns="63825" spcFirstLastPara="1" rIns="63825" wrap="square" tIns="63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7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</p:grpSp>
      </p:grpSp>
      <p:sp>
        <p:nvSpPr>
          <p:cNvPr id="456" name="Google Shape;456;h36394527f7dc36b1_0_169"/>
          <p:cNvSpPr txBox="1"/>
          <p:nvPr/>
        </p:nvSpPr>
        <p:spPr>
          <a:xfrm>
            <a:off x="1938921" y="4313575"/>
            <a:ext cx="120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Target</a:t>
            </a:r>
            <a:endParaRPr b="1" sz="24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7" name="Google Shape;457;h36394527f7dc36b1_0_169"/>
          <p:cNvSpPr txBox="1"/>
          <p:nvPr/>
        </p:nvSpPr>
        <p:spPr>
          <a:xfrm>
            <a:off x="5843057" y="4313575"/>
            <a:ext cx="152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Context</a:t>
            </a:r>
            <a:endParaRPr b="1" sz="24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8" name="Google Shape;458;h36394527f7dc36b1_0_169"/>
          <p:cNvSpPr/>
          <p:nvPr/>
        </p:nvSpPr>
        <p:spPr>
          <a:xfrm rot="5400000">
            <a:off x="6545954" y="1196363"/>
            <a:ext cx="114300" cy="1763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9" name="Google Shape;459;h36394527f7dc36b1_0_169"/>
          <p:cNvSpPr txBox="1"/>
          <p:nvPr/>
        </p:nvSpPr>
        <p:spPr>
          <a:xfrm>
            <a:off x="5775154" y="1475475"/>
            <a:ext cx="166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embedding size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e.g., 300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0" name="Google Shape;460;h36394527f7dc36b1_0_169"/>
          <p:cNvSpPr/>
          <p:nvPr/>
        </p:nvSpPr>
        <p:spPr>
          <a:xfrm flipH="1">
            <a:off x="5477771" y="2305025"/>
            <a:ext cx="146100" cy="17946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36394527f7dc36b1_0_0"/>
          <p:cNvSpPr txBox="1"/>
          <p:nvPr>
            <p:ph type="title"/>
          </p:nvPr>
        </p:nvSpPr>
        <p:spPr>
          <a:xfrm>
            <a:off x="311700" y="134950"/>
            <a:ext cx="85206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pt-BR" sz="2650"/>
              <a:t>Word2Vec</a:t>
            </a:r>
            <a:endParaRPr sz="2650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pt-BR"/>
              <a:t>Target and Context</a:t>
            </a:r>
            <a:endParaRPr/>
          </a:p>
        </p:txBody>
      </p:sp>
      <p:pic>
        <p:nvPicPr>
          <p:cNvPr id="467" name="Google Shape;467;h36394527f7dc36b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813" y="1017725"/>
            <a:ext cx="5646375" cy="39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h36394527f7dc36b1_0_0"/>
          <p:cNvSpPr txBox="1"/>
          <p:nvPr/>
        </p:nvSpPr>
        <p:spPr>
          <a:xfrm>
            <a:off x="6898650" y="4615725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(Jurafsky, 2026)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36394527f7dc36b1_0_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0" lang="pt-BR"/>
              <a:t>Skip-Gram Training data</a:t>
            </a:r>
            <a:endParaRPr/>
          </a:p>
        </p:txBody>
      </p:sp>
      <p:sp>
        <p:nvSpPr>
          <p:cNvPr id="475" name="Google Shape;475;h36394527f7dc36b1_0_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6" name="Google Shape;476;h36394527f7dc36b1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1" y="3143250"/>
            <a:ext cx="2295393" cy="1904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h36394527f7dc36b1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3159349"/>
            <a:ext cx="3932193" cy="196609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h36394527f7dc36b1_0_74"/>
          <p:cNvSpPr txBox="1"/>
          <p:nvPr>
            <p:ph idx="1" type="body"/>
          </p:nvPr>
        </p:nvSpPr>
        <p:spPr>
          <a:xfrm>
            <a:off x="311700" y="1152475"/>
            <a:ext cx="85206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/>
          <a:p>
            <a:pPr indent="0" lvl="1" marL="152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pt-BR" sz="2100">
                <a:latin typeface="Courier New"/>
                <a:ea typeface="Courier New"/>
                <a:cs typeface="Courier New"/>
                <a:sym typeface="Courier New"/>
              </a:rPr>
              <a:t>…lemon, a [tablespoon of  apricot  jam,   a]  pinch…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 sz="2100">
                <a:latin typeface="Courier New"/>
                <a:ea typeface="Courier New"/>
                <a:cs typeface="Courier New"/>
                <a:sym typeface="Courier New"/>
              </a:rPr>
              <a:t>                c1     c2 </a:t>
            </a:r>
            <a:r>
              <a:rPr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lang="pt-BR" sz="2100">
                <a:latin typeface="Courier New"/>
                <a:ea typeface="Courier New"/>
                <a:cs typeface="Courier New"/>
                <a:sym typeface="Courier New"/>
              </a:rPr>
              <a:t>c3    c4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h36394527f7dc36b1_0_74"/>
          <p:cNvSpPr/>
          <p:nvPr/>
        </p:nvSpPr>
        <p:spPr>
          <a:xfrm>
            <a:off x="2206775" y="1210600"/>
            <a:ext cx="5185500" cy="281100"/>
          </a:xfrm>
          <a:prstGeom prst="roundRect">
            <a:avLst>
              <a:gd fmla="val 16667" name="adj"/>
            </a:avLst>
          </a:prstGeom>
          <a:solidFill>
            <a:srgbClr val="FFFF00">
              <a:alpha val="2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99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0" name="Google Shape;480;h36394527f7dc36b1_0_74"/>
          <p:cNvSpPr/>
          <p:nvPr/>
        </p:nvSpPr>
        <p:spPr>
          <a:xfrm>
            <a:off x="4588800" y="1210600"/>
            <a:ext cx="1234500" cy="281100"/>
          </a:xfrm>
          <a:prstGeom prst="roundRect">
            <a:avLst>
              <a:gd fmla="val 16667" name="adj"/>
            </a:avLst>
          </a:prstGeom>
          <a:solidFill>
            <a:srgbClr val="FF0066">
              <a:alpha val="2588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99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1" name="Google Shape;481;h36394527f7dc36b1_0_74"/>
          <p:cNvSpPr/>
          <p:nvPr/>
        </p:nvSpPr>
        <p:spPr>
          <a:xfrm>
            <a:off x="4429650" y="1526700"/>
            <a:ext cx="1552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[target]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2" name="Google Shape;482;h36394527f7dc36b1_0_74"/>
          <p:cNvSpPr/>
          <p:nvPr/>
        </p:nvSpPr>
        <p:spPr>
          <a:xfrm>
            <a:off x="4928700" y="1954100"/>
            <a:ext cx="554700" cy="66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3" name="Google Shape;483;h36394527f7dc36b1_0_74"/>
          <p:cNvSpPr txBox="1"/>
          <p:nvPr/>
        </p:nvSpPr>
        <p:spPr>
          <a:xfrm>
            <a:off x="6399450" y="377200"/>
            <a:ext cx="262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(Jurafsky, 2026)</a:t>
            </a:r>
            <a:endParaRPr sz="24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36394527f7dc36b1_0_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b="0" lang="pt-BR"/>
              <a:t>Word2vec: how to learn vectors</a:t>
            </a:r>
            <a:endParaRPr/>
          </a:p>
        </p:txBody>
      </p:sp>
      <p:sp>
        <p:nvSpPr>
          <p:cNvPr id="490" name="Google Shape;490;h36394527f7dc36b1_0_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pt-BR"/>
              <a:t>Given the set of positive and negative training instances, and an initial set of embedding vectors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pt-BR"/>
              <a:t>The goal of learning is to adjust those word vectors such that we:</a:t>
            </a:r>
            <a:endParaRPr/>
          </a:p>
          <a:p>
            <a:pPr indent="-3905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>
                <a:solidFill>
                  <a:schemeClr val="dk1"/>
                </a:solidFill>
              </a:rPr>
              <a:t>Maximize</a:t>
            </a:r>
            <a:r>
              <a:rPr lang="pt-BR"/>
              <a:t> the similarity of the </a:t>
            </a:r>
            <a:r>
              <a:rPr b="1" lang="pt-BR">
                <a:solidFill>
                  <a:srgbClr val="38761D"/>
                </a:solidFill>
              </a:rPr>
              <a:t>target word</a:t>
            </a:r>
            <a:r>
              <a:rPr lang="pt-BR"/>
              <a:t>, </a:t>
            </a:r>
            <a:r>
              <a:rPr b="1" lang="pt-BR">
                <a:solidFill>
                  <a:srgbClr val="38761D"/>
                </a:solidFill>
              </a:rPr>
              <a:t>context word</a:t>
            </a:r>
            <a:r>
              <a:rPr lang="pt-BR"/>
              <a:t> pairs (w , c</a:t>
            </a:r>
            <a:r>
              <a:rPr baseline="-25000" lang="pt-BR"/>
              <a:t>pos</a:t>
            </a:r>
            <a:r>
              <a:rPr lang="pt-BR"/>
              <a:t>) drawn from the positive data</a:t>
            </a:r>
            <a:endParaRPr/>
          </a:p>
          <a:p>
            <a:pPr indent="-3905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>
                <a:solidFill>
                  <a:schemeClr val="dk1"/>
                </a:solidFill>
              </a:rPr>
              <a:t>Minimize</a:t>
            </a:r>
            <a:r>
              <a:rPr lang="pt-BR"/>
              <a:t> the similarity of the (w , c</a:t>
            </a:r>
            <a:r>
              <a:rPr baseline="-25000" lang="pt-BR"/>
              <a:t>neg</a:t>
            </a:r>
            <a:r>
              <a:rPr lang="pt-BR"/>
              <a:t>) pairs drawn from the negative data.</a:t>
            </a:r>
            <a:endParaRPr/>
          </a:p>
        </p:txBody>
      </p:sp>
      <p:sp>
        <p:nvSpPr>
          <p:cNvPr id="491" name="Google Shape;491;h36394527f7dc36b1_0_88"/>
          <p:cNvSpPr txBox="1"/>
          <p:nvPr/>
        </p:nvSpPr>
        <p:spPr>
          <a:xfrm>
            <a:off x="6349225" y="4530025"/>
            <a:ext cx="262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(Jurafsky, 2026)</a:t>
            </a:r>
            <a:endParaRPr sz="24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36394527f7dc36b1_0_95"/>
          <p:cNvSpPr txBox="1"/>
          <p:nvPr>
            <p:ph type="title"/>
          </p:nvPr>
        </p:nvSpPr>
        <p:spPr>
          <a:xfrm>
            <a:off x="311700" y="76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5882"/>
              <a:buFont typeface="Calibri"/>
              <a:buNone/>
            </a:pPr>
            <a:r>
              <a:rPr lang="pt-BR"/>
              <a:t>Intuition of one step of gradient descent</a:t>
            </a:r>
            <a:endParaRPr/>
          </a:p>
        </p:txBody>
      </p:sp>
      <p:pic>
        <p:nvPicPr>
          <p:cNvPr id="498" name="Google Shape;498;h36394527f7dc36b1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025" y="700825"/>
            <a:ext cx="7333951" cy="432460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h36394527f7dc36b1_0_95"/>
          <p:cNvSpPr txBox="1"/>
          <p:nvPr/>
        </p:nvSpPr>
        <p:spPr>
          <a:xfrm>
            <a:off x="7022875" y="611650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(Jurafsky, 2026)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4703caca149ccce2_0_8"/>
          <p:cNvSpPr txBox="1"/>
          <p:nvPr>
            <p:ph type="title"/>
          </p:nvPr>
        </p:nvSpPr>
        <p:spPr>
          <a:xfrm>
            <a:off x="311700" y="62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Task 1</a:t>
            </a:r>
            <a:endParaRPr/>
          </a:p>
        </p:txBody>
      </p:sp>
      <p:sp>
        <p:nvSpPr>
          <p:cNvPr id="505" name="Google Shape;505;h4703caca149ccce2_0_8"/>
          <p:cNvSpPr txBox="1"/>
          <p:nvPr>
            <p:ph idx="1" type="body"/>
          </p:nvPr>
        </p:nvSpPr>
        <p:spPr>
          <a:xfrm>
            <a:off x="311700" y="764775"/>
            <a:ext cx="8520600" cy="4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Draw a neural network diagram for Word2Vec that, upon training, yields the same Target and Context matrices.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___________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Escreva um diagrama de uma rede neural para o Word2Vec que, ao ser treinada, resulte nas mesmas matrizes Target e Context.</a:t>
            </a:r>
            <a:endParaRPr sz="1800"/>
          </a:p>
        </p:txBody>
      </p:sp>
      <p:grpSp>
        <p:nvGrpSpPr>
          <p:cNvPr id="506" name="Google Shape;506;h4703caca149ccce2_0_8"/>
          <p:cNvGrpSpPr/>
          <p:nvPr/>
        </p:nvGrpSpPr>
        <p:grpSpPr>
          <a:xfrm>
            <a:off x="2714117" y="1730364"/>
            <a:ext cx="4221296" cy="2392854"/>
            <a:chOff x="3381465" y="2420200"/>
            <a:chExt cx="2529388" cy="1433791"/>
          </a:xfrm>
        </p:grpSpPr>
        <p:sp>
          <p:nvSpPr>
            <p:cNvPr id="507" name="Google Shape;507;h4703caca149ccce2_0_8"/>
            <p:cNvSpPr/>
            <p:nvPr/>
          </p:nvSpPr>
          <p:spPr>
            <a:xfrm>
              <a:off x="5105953" y="2753757"/>
              <a:ext cx="804900" cy="811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64500" lIns="64500" spcFirstLastPara="1" rIns="64500" wrap="square" tIns="6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7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508" name="Google Shape;508;h4703caca149ccce2_0_8"/>
            <p:cNvGrpSpPr/>
            <p:nvPr/>
          </p:nvGrpSpPr>
          <p:grpSpPr>
            <a:xfrm>
              <a:off x="3381465" y="2737674"/>
              <a:ext cx="804799" cy="811138"/>
              <a:chOff x="1574550" y="2226850"/>
              <a:chExt cx="1904400" cy="1919400"/>
            </a:xfrm>
          </p:grpSpPr>
          <p:sp>
            <p:nvSpPr>
              <p:cNvPr id="509" name="Google Shape;509;h4703caca149ccce2_0_8"/>
              <p:cNvSpPr/>
              <p:nvPr/>
            </p:nvSpPr>
            <p:spPr>
              <a:xfrm>
                <a:off x="1574550" y="2226850"/>
                <a:ext cx="1904400" cy="1919400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10" name="Google Shape;510;h4703caca149ccce2_0_8"/>
              <p:cNvSpPr/>
              <p:nvPr/>
            </p:nvSpPr>
            <p:spPr>
              <a:xfrm>
                <a:off x="1641163" y="229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11" name="Google Shape;511;h4703caca149ccce2_0_8"/>
              <p:cNvSpPr/>
              <p:nvPr/>
            </p:nvSpPr>
            <p:spPr>
              <a:xfrm>
                <a:off x="1986163" y="229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12" name="Google Shape;512;h4703caca149ccce2_0_8"/>
              <p:cNvSpPr/>
              <p:nvPr/>
            </p:nvSpPr>
            <p:spPr>
              <a:xfrm>
                <a:off x="2331163" y="229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13" name="Google Shape;513;h4703caca149ccce2_0_8"/>
              <p:cNvSpPr/>
              <p:nvPr/>
            </p:nvSpPr>
            <p:spPr>
              <a:xfrm>
                <a:off x="3067338" y="229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514" name="Google Shape;514;h4703caca149ccce2_0_8"/>
              <p:cNvGrpSpPr/>
              <p:nvPr/>
            </p:nvGrpSpPr>
            <p:grpSpPr>
              <a:xfrm>
                <a:off x="2724713" y="2421475"/>
                <a:ext cx="294077" cy="87900"/>
                <a:chOff x="1534650" y="2004150"/>
                <a:chExt cx="294077" cy="87900"/>
              </a:xfrm>
            </p:grpSpPr>
            <p:sp>
              <p:nvSpPr>
                <p:cNvPr id="515" name="Google Shape;515;h4703caca149ccce2_0_8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16" name="Google Shape;516;h4703caca149ccce2_0_8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17" name="Google Shape;517;h4703caca149ccce2_0_8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  <p:sp>
            <p:nvSpPr>
              <p:cNvPr id="518" name="Google Shape;518;h4703caca149ccce2_0_8"/>
              <p:cNvSpPr/>
              <p:nvPr/>
            </p:nvSpPr>
            <p:spPr>
              <a:xfrm>
                <a:off x="1641163" y="2637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19" name="Google Shape;519;h4703caca149ccce2_0_8"/>
              <p:cNvSpPr/>
              <p:nvPr/>
            </p:nvSpPr>
            <p:spPr>
              <a:xfrm>
                <a:off x="1986163" y="2637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20" name="Google Shape;520;h4703caca149ccce2_0_8"/>
              <p:cNvSpPr/>
              <p:nvPr/>
            </p:nvSpPr>
            <p:spPr>
              <a:xfrm>
                <a:off x="2331163" y="2637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21" name="Google Shape;521;h4703caca149ccce2_0_8"/>
              <p:cNvSpPr/>
              <p:nvPr/>
            </p:nvSpPr>
            <p:spPr>
              <a:xfrm>
                <a:off x="3067338" y="2637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522" name="Google Shape;522;h4703caca149ccce2_0_8"/>
              <p:cNvGrpSpPr/>
              <p:nvPr/>
            </p:nvGrpSpPr>
            <p:grpSpPr>
              <a:xfrm>
                <a:off x="2724713" y="2766475"/>
                <a:ext cx="294077" cy="87900"/>
                <a:chOff x="1534650" y="2004150"/>
                <a:chExt cx="294077" cy="87900"/>
              </a:xfrm>
            </p:grpSpPr>
            <p:sp>
              <p:nvSpPr>
                <p:cNvPr id="523" name="Google Shape;523;h4703caca149ccce2_0_8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24" name="Google Shape;524;h4703caca149ccce2_0_8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25" name="Google Shape;525;h4703caca149ccce2_0_8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  <p:sp>
            <p:nvSpPr>
              <p:cNvPr id="526" name="Google Shape;526;h4703caca149ccce2_0_8"/>
              <p:cNvSpPr/>
              <p:nvPr/>
            </p:nvSpPr>
            <p:spPr>
              <a:xfrm>
                <a:off x="1641163" y="298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27" name="Google Shape;527;h4703caca149ccce2_0_8"/>
              <p:cNvSpPr/>
              <p:nvPr/>
            </p:nvSpPr>
            <p:spPr>
              <a:xfrm>
                <a:off x="1986163" y="298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28" name="Google Shape;528;h4703caca149ccce2_0_8"/>
              <p:cNvSpPr/>
              <p:nvPr/>
            </p:nvSpPr>
            <p:spPr>
              <a:xfrm>
                <a:off x="2331163" y="298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29" name="Google Shape;529;h4703caca149ccce2_0_8"/>
              <p:cNvSpPr/>
              <p:nvPr/>
            </p:nvSpPr>
            <p:spPr>
              <a:xfrm>
                <a:off x="3067338" y="298292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530" name="Google Shape;530;h4703caca149ccce2_0_8"/>
              <p:cNvGrpSpPr/>
              <p:nvPr/>
            </p:nvGrpSpPr>
            <p:grpSpPr>
              <a:xfrm>
                <a:off x="2724713" y="3111475"/>
                <a:ext cx="294077" cy="87900"/>
                <a:chOff x="1534650" y="2004150"/>
                <a:chExt cx="294077" cy="87900"/>
              </a:xfrm>
            </p:grpSpPr>
            <p:sp>
              <p:nvSpPr>
                <p:cNvPr id="531" name="Google Shape;531;h4703caca149ccce2_0_8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32" name="Google Shape;532;h4703caca149ccce2_0_8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33" name="Google Shape;533;h4703caca149ccce2_0_8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  <p:sp>
            <p:nvSpPr>
              <p:cNvPr id="534" name="Google Shape;534;h4703caca149ccce2_0_8"/>
              <p:cNvSpPr/>
              <p:nvPr/>
            </p:nvSpPr>
            <p:spPr>
              <a:xfrm>
                <a:off x="1641163" y="373517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35" name="Google Shape;535;h4703caca149ccce2_0_8"/>
              <p:cNvSpPr/>
              <p:nvPr/>
            </p:nvSpPr>
            <p:spPr>
              <a:xfrm>
                <a:off x="1986163" y="373517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36" name="Google Shape;536;h4703caca149ccce2_0_8"/>
              <p:cNvSpPr/>
              <p:nvPr/>
            </p:nvSpPr>
            <p:spPr>
              <a:xfrm>
                <a:off x="2331163" y="373517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sp>
            <p:nvSpPr>
              <p:cNvPr id="537" name="Google Shape;537;h4703caca149ccce2_0_8"/>
              <p:cNvSpPr/>
              <p:nvPr/>
            </p:nvSpPr>
            <p:spPr>
              <a:xfrm>
                <a:off x="3067338" y="3735175"/>
                <a:ext cx="345000" cy="345000"/>
              </a:xfrm>
              <a:prstGeom prst="rect">
                <a:avLst/>
              </a:prstGeom>
              <a:solidFill>
                <a:schemeClr val="lt2"/>
              </a:solidFill>
              <a:ln cap="flat" cmpd="sng" w="13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500" lIns="64500" spcFirstLastPara="1" rIns="64500" wrap="square" tIns="64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87">
                  <a:latin typeface="Comfortaa"/>
                  <a:ea typeface="Comfortaa"/>
                  <a:cs typeface="Comfortaa"/>
                  <a:sym typeface="Comfortaa"/>
                </a:endParaRPr>
              </a:p>
            </p:txBody>
          </p:sp>
          <p:grpSp>
            <p:nvGrpSpPr>
              <p:cNvPr id="538" name="Google Shape;538;h4703caca149ccce2_0_8"/>
              <p:cNvGrpSpPr/>
              <p:nvPr/>
            </p:nvGrpSpPr>
            <p:grpSpPr>
              <a:xfrm>
                <a:off x="2724713" y="3863725"/>
                <a:ext cx="294077" cy="87900"/>
                <a:chOff x="1534650" y="2004150"/>
                <a:chExt cx="294077" cy="87900"/>
              </a:xfrm>
            </p:grpSpPr>
            <p:sp>
              <p:nvSpPr>
                <p:cNvPr id="539" name="Google Shape;539;h4703caca149ccce2_0_8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40" name="Google Shape;540;h4703caca149ccce2_0_8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41" name="Google Shape;541;h4703caca149ccce2_0_8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  <p:grpSp>
            <p:nvGrpSpPr>
              <p:cNvPr id="542" name="Google Shape;542;h4703caca149ccce2_0_8"/>
              <p:cNvGrpSpPr/>
              <p:nvPr/>
            </p:nvGrpSpPr>
            <p:grpSpPr>
              <a:xfrm rot="5400000">
                <a:off x="2375888" y="3487600"/>
                <a:ext cx="294077" cy="87900"/>
                <a:chOff x="1534650" y="2004150"/>
                <a:chExt cx="294077" cy="87900"/>
              </a:xfrm>
            </p:grpSpPr>
            <p:sp>
              <p:nvSpPr>
                <p:cNvPr id="543" name="Google Shape;543;h4703caca149ccce2_0_8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44" name="Google Shape;544;h4703caca149ccce2_0_8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45" name="Google Shape;545;h4703caca149ccce2_0_8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  <p:sp>
          <p:nvSpPr>
            <p:cNvPr id="546" name="Google Shape;546;h4703caca149ccce2_0_8"/>
            <p:cNvSpPr/>
            <p:nvPr/>
          </p:nvSpPr>
          <p:spPr>
            <a:xfrm>
              <a:off x="4241476" y="2770800"/>
              <a:ext cx="61800" cy="758400"/>
            </a:xfrm>
            <a:prstGeom prst="rightBrace">
              <a:avLst>
                <a:gd fmla="val 50000" name="adj1"/>
                <a:gd fmla="val 49728" name="adj2"/>
              </a:avLst>
            </a:prstGeom>
            <a:noFill/>
            <a:ln cap="flat" cmpd="sng" w="13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500" lIns="64500" spcFirstLastPara="1" rIns="64500" wrap="square" tIns="6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7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47" name="Google Shape;547;h4703caca149ccce2_0_8"/>
            <p:cNvSpPr/>
            <p:nvPr/>
          </p:nvSpPr>
          <p:spPr>
            <a:xfrm rot="5400000">
              <a:off x="3764213" y="2302273"/>
              <a:ext cx="48300" cy="745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3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500" lIns="64500" spcFirstLastPara="1" rIns="64500" wrap="square" tIns="6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7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48" name="Google Shape;548;h4703caca149ccce2_0_8"/>
            <p:cNvSpPr txBox="1"/>
            <p:nvPr/>
          </p:nvSpPr>
          <p:spPr>
            <a:xfrm>
              <a:off x="3438400" y="2420200"/>
              <a:ext cx="7032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500" lIns="64500" spcFirstLastPara="1" rIns="64500" wrap="square" tIns="645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87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embedding size</a:t>
              </a:r>
              <a:endParaRPr sz="987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87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e.g., 300</a:t>
              </a:r>
              <a:endParaRPr sz="987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49" name="Google Shape;549;h4703caca149ccce2_0_8"/>
            <p:cNvSpPr txBox="1"/>
            <p:nvPr/>
          </p:nvSpPr>
          <p:spPr>
            <a:xfrm>
              <a:off x="4280834" y="3019945"/>
              <a:ext cx="7710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500" lIns="64500" spcFirstLastPara="1" rIns="64500" wrap="square" tIns="645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87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number of words</a:t>
              </a:r>
              <a:endParaRPr sz="987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87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e.g., 30.000</a:t>
              </a:r>
              <a:endParaRPr sz="987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grpSp>
          <p:nvGrpSpPr>
            <p:cNvPr id="550" name="Google Shape;550;h4703caca149ccce2_0_8"/>
            <p:cNvGrpSpPr/>
            <p:nvPr/>
          </p:nvGrpSpPr>
          <p:grpSpPr>
            <a:xfrm>
              <a:off x="5132492" y="2772276"/>
              <a:ext cx="748499" cy="755292"/>
              <a:chOff x="374900" y="1983800"/>
              <a:chExt cx="1771175" cy="1787250"/>
            </a:xfrm>
          </p:grpSpPr>
          <p:grpSp>
            <p:nvGrpSpPr>
              <p:cNvPr id="551" name="Google Shape;551;h4703caca149ccce2_0_8"/>
              <p:cNvGrpSpPr/>
              <p:nvPr/>
            </p:nvGrpSpPr>
            <p:grpSpPr>
              <a:xfrm>
                <a:off x="374900" y="1983800"/>
                <a:ext cx="1771175" cy="345000"/>
                <a:chOff x="374900" y="1983800"/>
                <a:chExt cx="1771175" cy="345000"/>
              </a:xfrm>
            </p:grpSpPr>
            <p:sp>
              <p:nvSpPr>
                <p:cNvPr id="552" name="Google Shape;552;h4703caca149ccce2_0_8"/>
                <p:cNvSpPr/>
                <p:nvPr/>
              </p:nvSpPr>
              <p:spPr>
                <a:xfrm>
                  <a:off x="374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53" name="Google Shape;553;h4703caca149ccce2_0_8"/>
                <p:cNvSpPr/>
                <p:nvPr/>
              </p:nvSpPr>
              <p:spPr>
                <a:xfrm>
                  <a:off x="719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54" name="Google Shape;554;h4703caca149ccce2_0_8"/>
                <p:cNvSpPr/>
                <p:nvPr/>
              </p:nvSpPr>
              <p:spPr>
                <a:xfrm>
                  <a:off x="1064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55" name="Google Shape;555;h4703caca149ccce2_0_8"/>
                <p:cNvSpPr/>
                <p:nvPr/>
              </p:nvSpPr>
              <p:spPr>
                <a:xfrm>
                  <a:off x="1801075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grpSp>
              <p:nvGrpSpPr>
                <p:cNvPr id="556" name="Google Shape;556;h4703caca149ccce2_0_8"/>
                <p:cNvGrpSpPr/>
                <p:nvPr/>
              </p:nvGrpSpPr>
              <p:grpSpPr>
                <a:xfrm>
                  <a:off x="1458450" y="2112350"/>
                  <a:ext cx="294077" cy="87900"/>
                  <a:chOff x="1534650" y="2004150"/>
                  <a:chExt cx="294077" cy="87900"/>
                </a:xfrm>
              </p:grpSpPr>
              <p:sp>
                <p:nvSpPr>
                  <p:cNvPr id="557" name="Google Shape;557;h4703caca149ccce2_0_8"/>
                  <p:cNvSpPr/>
                  <p:nvPr/>
                </p:nvSpPr>
                <p:spPr>
                  <a:xfrm>
                    <a:off x="1534650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58" name="Google Shape;558;h4703caca149ccce2_0_8"/>
                  <p:cNvSpPr/>
                  <p:nvPr/>
                </p:nvSpPr>
                <p:spPr>
                  <a:xfrm>
                    <a:off x="1637739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59" name="Google Shape;559;h4703caca149ccce2_0_8"/>
                  <p:cNvSpPr/>
                  <p:nvPr/>
                </p:nvSpPr>
                <p:spPr>
                  <a:xfrm>
                    <a:off x="1740827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</p:grpSp>
          </p:grpSp>
          <p:grpSp>
            <p:nvGrpSpPr>
              <p:cNvPr id="560" name="Google Shape;560;h4703caca149ccce2_0_8"/>
              <p:cNvGrpSpPr/>
              <p:nvPr/>
            </p:nvGrpSpPr>
            <p:grpSpPr>
              <a:xfrm>
                <a:off x="374900" y="2328800"/>
                <a:ext cx="1771175" cy="345000"/>
                <a:chOff x="374900" y="1983800"/>
                <a:chExt cx="1771175" cy="345000"/>
              </a:xfrm>
            </p:grpSpPr>
            <p:sp>
              <p:nvSpPr>
                <p:cNvPr id="561" name="Google Shape;561;h4703caca149ccce2_0_8"/>
                <p:cNvSpPr/>
                <p:nvPr/>
              </p:nvSpPr>
              <p:spPr>
                <a:xfrm>
                  <a:off x="374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62" name="Google Shape;562;h4703caca149ccce2_0_8"/>
                <p:cNvSpPr/>
                <p:nvPr/>
              </p:nvSpPr>
              <p:spPr>
                <a:xfrm>
                  <a:off x="719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63" name="Google Shape;563;h4703caca149ccce2_0_8"/>
                <p:cNvSpPr/>
                <p:nvPr/>
              </p:nvSpPr>
              <p:spPr>
                <a:xfrm>
                  <a:off x="1064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64" name="Google Shape;564;h4703caca149ccce2_0_8"/>
                <p:cNvSpPr/>
                <p:nvPr/>
              </p:nvSpPr>
              <p:spPr>
                <a:xfrm>
                  <a:off x="1801075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grpSp>
              <p:nvGrpSpPr>
                <p:cNvPr id="565" name="Google Shape;565;h4703caca149ccce2_0_8"/>
                <p:cNvGrpSpPr/>
                <p:nvPr/>
              </p:nvGrpSpPr>
              <p:grpSpPr>
                <a:xfrm>
                  <a:off x="1458450" y="2112350"/>
                  <a:ext cx="294077" cy="87900"/>
                  <a:chOff x="1534650" y="2004150"/>
                  <a:chExt cx="294077" cy="87900"/>
                </a:xfrm>
              </p:grpSpPr>
              <p:sp>
                <p:nvSpPr>
                  <p:cNvPr id="566" name="Google Shape;566;h4703caca149ccce2_0_8"/>
                  <p:cNvSpPr/>
                  <p:nvPr/>
                </p:nvSpPr>
                <p:spPr>
                  <a:xfrm>
                    <a:off x="1534650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67" name="Google Shape;567;h4703caca149ccce2_0_8"/>
                  <p:cNvSpPr/>
                  <p:nvPr/>
                </p:nvSpPr>
                <p:spPr>
                  <a:xfrm>
                    <a:off x="1637739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68" name="Google Shape;568;h4703caca149ccce2_0_8"/>
                  <p:cNvSpPr/>
                  <p:nvPr/>
                </p:nvSpPr>
                <p:spPr>
                  <a:xfrm>
                    <a:off x="1740827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</p:grpSp>
          </p:grpSp>
          <p:grpSp>
            <p:nvGrpSpPr>
              <p:cNvPr id="569" name="Google Shape;569;h4703caca149ccce2_0_8"/>
              <p:cNvGrpSpPr/>
              <p:nvPr/>
            </p:nvGrpSpPr>
            <p:grpSpPr>
              <a:xfrm>
                <a:off x="374900" y="2673800"/>
                <a:ext cx="1771175" cy="345000"/>
                <a:chOff x="374900" y="1983800"/>
                <a:chExt cx="1771175" cy="345000"/>
              </a:xfrm>
            </p:grpSpPr>
            <p:sp>
              <p:nvSpPr>
                <p:cNvPr id="570" name="Google Shape;570;h4703caca149ccce2_0_8"/>
                <p:cNvSpPr/>
                <p:nvPr/>
              </p:nvSpPr>
              <p:spPr>
                <a:xfrm>
                  <a:off x="374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71" name="Google Shape;571;h4703caca149ccce2_0_8"/>
                <p:cNvSpPr/>
                <p:nvPr/>
              </p:nvSpPr>
              <p:spPr>
                <a:xfrm>
                  <a:off x="719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72" name="Google Shape;572;h4703caca149ccce2_0_8"/>
                <p:cNvSpPr/>
                <p:nvPr/>
              </p:nvSpPr>
              <p:spPr>
                <a:xfrm>
                  <a:off x="1064900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73" name="Google Shape;573;h4703caca149ccce2_0_8"/>
                <p:cNvSpPr/>
                <p:nvPr/>
              </p:nvSpPr>
              <p:spPr>
                <a:xfrm>
                  <a:off x="1801075" y="1983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grpSp>
              <p:nvGrpSpPr>
                <p:cNvPr id="574" name="Google Shape;574;h4703caca149ccce2_0_8"/>
                <p:cNvGrpSpPr/>
                <p:nvPr/>
              </p:nvGrpSpPr>
              <p:grpSpPr>
                <a:xfrm>
                  <a:off x="1458450" y="2112350"/>
                  <a:ext cx="294077" cy="87900"/>
                  <a:chOff x="1534650" y="2004150"/>
                  <a:chExt cx="294077" cy="87900"/>
                </a:xfrm>
              </p:grpSpPr>
              <p:sp>
                <p:nvSpPr>
                  <p:cNvPr id="575" name="Google Shape;575;h4703caca149ccce2_0_8"/>
                  <p:cNvSpPr/>
                  <p:nvPr/>
                </p:nvSpPr>
                <p:spPr>
                  <a:xfrm>
                    <a:off x="1534650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76" name="Google Shape;576;h4703caca149ccce2_0_8"/>
                  <p:cNvSpPr/>
                  <p:nvPr/>
                </p:nvSpPr>
                <p:spPr>
                  <a:xfrm>
                    <a:off x="1637739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77" name="Google Shape;577;h4703caca149ccce2_0_8"/>
                  <p:cNvSpPr/>
                  <p:nvPr/>
                </p:nvSpPr>
                <p:spPr>
                  <a:xfrm>
                    <a:off x="1740827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</p:grpSp>
          </p:grpSp>
          <p:grpSp>
            <p:nvGrpSpPr>
              <p:cNvPr id="578" name="Google Shape;578;h4703caca149ccce2_0_8"/>
              <p:cNvGrpSpPr/>
              <p:nvPr/>
            </p:nvGrpSpPr>
            <p:grpSpPr>
              <a:xfrm>
                <a:off x="374900" y="3426050"/>
                <a:ext cx="1771175" cy="345000"/>
                <a:chOff x="374900" y="3471800"/>
                <a:chExt cx="1771175" cy="345000"/>
              </a:xfrm>
            </p:grpSpPr>
            <p:sp>
              <p:nvSpPr>
                <p:cNvPr id="579" name="Google Shape;579;h4703caca149ccce2_0_8"/>
                <p:cNvSpPr/>
                <p:nvPr/>
              </p:nvSpPr>
              <p:spPr>
                <a:xfrm>
                  <a:off x="374900" y="3471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80" name="Google Shape;580;h4703caca149ccce2_0_8"/>
                <p:cNvSpPr/>
                <p:nvPr/>
              </p:nvSpPr>
              <p:spPr>
                <a:xfrm>
                  <a:off x="719900" y="3471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81" name="Google Shape;581;h4703caca149ccce2_0_8"/>
                <p:cNvSpPr/>
                <p:nvPr/>
              </p:nvSpPr>
              <p:spPr>
                <a:xfrm>
                  <a:off x="1064900" y="3471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82" name="Google Shape;582;h4703caca149ccce2_0_8"/>
                <p:cNvSpPr/>
                <p:nvPr/>
              </p:nvSpPr>
              <p:spPr>
                <a:xfrm>
                  <a:off x="1801075" y="3471800"/>
                  <a:ext cx="345000" cy="3450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500" lIns="64500" spcFirstLastPara="1" rIns="64500" wrap="square" tIns="645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987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grpSp>
              <p:nvGrpSpPr>
                <p:cNvPr id="583" name="Google Shape;583;h4703caca149ccce2_0_8"/>
                <p:cNvGrpSpPr/>
                <p:nvPr/>
              </p:nvGrpSpPr>
              <p:grpSpPr>
                <a:xfrm>
                  <a:off x="1458450" y="3600350"/>
                  <a:ext cx="294077" cy="87900"/>
                  <a:chOff x="1534650" y="2004150"/>
                  <a:chExt cx="294077" cy="87900"/>
                </a:xfrm>
              </p:grpSpPr>
              <p:sp>
                <p:nvSpPr>
                  <p:cNvPr id="584" name="Google Shape;584;h4703caca149ccce2_0_8"/>
                  <p:cNvSpPr/>
                  <p:nvPr/>
                </p:nvSpPr>
                <p:spPr>
                  <a:xfrm>
                    <a:off x="1534650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85" name="Google Shape;585;h4703caca149ccce2_0_8"/>
                  <p:cNvSpPr/>
                  <p:nvPr/>
                </p:nvSpPr>
                <p:spPr>
                  <a:xfrm>
                    <a:off x="1637739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  <p:sp>
                <p:nvSpPr>
                  <p:cNvPr id="586" name="Google Shape;586;h4703caca149ccce2_0_8"/>
                  <p:cNvSpPr/>
                  <p:nvPr/>
                </p:nvSpPr>
                <p:spPr>
                  <a:xfrm>
                    <a:off x="1740827" y="2004150"/>
                    <a:ext cx="87900" cy="87900"/>
                  </a:xfrm>
                  <a:prstGeom prst="ellipse">
                    <a:avLst/>
                  </a:prstGeom>
                  <a:solidFill>
                    <a:schemeClr val="lt2"/>
                  </a:solidFill>
                  <a:ln cap="flat" cmpd="sng" w="134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025" lIns="45025" spcFirstLastPara="1" rIns="45025" wrap="square" tIns="450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689">
                      <a:latin typeface="Comfortaa"/>
                      <a:ea typeface="Comfortaa"/>
                      <a:cs typeface="Comfortaa"/>
                      <a:sym typeface="Comfortaa"/>
                    </a:endParaRPr>
                  </a:p>
                </p:txBody>
              </p:sp>
            </p:grpSp>
          </p:grpSp>
          <p:grpSp>
            <p:nvGrpSpPr>
              <p:cNvPr id="587" name="Google Shape;587;h4703caca149ccce2_0_8"/>
              <p:cNvGrpSpPr/>
              <p:nvPr/>
            </p:nvGrpSpPr>
            <p:grpSpPr>
              <a:xfrm rot="5400000">
                <a:off x="1109625" y="3178475"/>
                <a:ext cx="294077" cy="87900"/>
                <a:chOff x="1534650" y="2004150"/>
                <a:chExt cx="294077" cy="87900"/>
              </a:xfrm>
            </p:grpSpPr>
            <p:sp>
              <p:nvSpPr>
                <p:cNvPr id="588" name="Google Shape;588;h4703caca149ccce2_0_8"/>
                <p:cNvSpPr/>
                <p:nvPr/>
              </p:nvSpPr>
              <p:spPr>
                <a:xfrm>
                  <a:off x="1534650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89" name="Google Shape;589;h4703caca149ccce2_0_8"/>
                <p:cNvSpPr/>
                <p:nvPr/>
              </p:nvSpPr>
              <p:spPr>
                <a:xfrm>
                  <a:off x="1637739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  <p:sp>
              <p:nvSpPr>
                <p:cNvPr id="590" name="Google Shape;590;h4703caca149ccce2_0_8"/>
                <p:cNvSpPr/>
                <p:nvPr/>
              </p:nvSpPr>
              <p:spPr>
                <a:xfrm>
                  <a:off x="1740827" y="2004150"/>
                  <a:ext cx="87900" cy="879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3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025" lIns="45025" spcFirstLastPara="1" rIns="45025" wrap="square" tIns="450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89">
                    <a:latin typeface="Comfortaa"/>
                    <a:ea typeface="Comfortaa"/>
                    <a:cs typeface="Comfortaa"/>
                    <a:sym typeface="Comfortaa"/>
                  </a:endParaRPr>
                </a:p>
              </p:txBody>
            </p:sp>
          </p:grpSp>
        </p:grpSp>
        <p:sp>
          <p:nvSpPr>
            <p:cNvPr id="591" name="Google Shape;591;h4703caca149ccce2_0_8"/>
            <p:cNvSpPr txBox="1"/>
            <p:nvPr/>
          </p:nvSpPr>
          <p:spPr>
            <a:xfrm>
              <a:off x="3535522" y="3619691"/>
              <a:ext cx="508800" cy="2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500" lIns="64500" spcFirstLastPara="1" rIns="64500" wrap="square" tIns="645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93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Target</a:t>
              </a:r>
              <a:endParaRPr b="1" sz="1693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92" name="Google Shape;592;h4703caca149ccce2_0_8"/>
            <p:cNvSpPr txBox="1"/>
            <p:nvPr/>
          </p:nvSpPr>
          <p:spPr>
            <a:xfrm>
              <a:off x="5185560" y="3619691"/>
              <a:ext cx="642600" cy="2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500" lIns="64500" spcFirstLastPara="1" rIns="64500" wrap="square" tIns="645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93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Context</a:t>
              </a:r>
              <a:endParaRPr b="1" sz="1693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93" name="Google Shape;593;h4703caca149ccce2_0_8"/>
            <p:cNvSpPr/>
            <p:nvPr/>
          </p:nvSpPr>
          <p:spPr>
            <a:xfrm rot="5400000">
              <a:off x="5482675" y="2302273"/>
              <a:ext cx="48300" cy="7452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13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500" lIns="64500" spcFirstLastPara="1" rIns="64500" wrap="square" tIns="6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7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94" name="Google Shape;594;h4703caca149ccce2_0_8"/>
            <p:cNvSpPr txBox="1"/>
            <p:nvPr/>
          </p:nvSpPr>
          <p:spPr>
            <a:xfrm>
              <a:off x="5156861" y="2420200"/>
              <a:ext cx="7032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500" lIns="64500" spcFirstLastPara="1" rIns="64500" wrap="square" tIns="645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87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embedding size</a:t>
              </a:r>
              <a:endParaRPr sz="987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87">
                  <a:solidFill>
                    <a:srgbClr val="434343"/>
                  </a:solidFill>
                  <a:latin typeface="Comfortaa"/>
                  <a:ea typeface="Comfortaa"/>
                  <a:cs typeface="Comfortaa"/>
                  <a:sym typeface="Comfortaa"/>
                </a:rPr>
                <a:t>e.g., 300</a:t>
              </a:r>
              <a:endParaRPr sz="987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595" name="Google Shape;595;h4703caca149ccce2_0_8"/>
            <p:cNvSpPr/>
            <p:nvPr/>
          </p:nvSpPr>
          <p:spPr>
            <a:xfrm flipH="1">
              <a:off x="5031123" y="2770800"/>
              <a:ext cx="61800" cy="758400"/>
            </a:xfrm>
            <a:prstGeom prst="rightBrace">
              <a:avLst>
                <a:gd fmla="val 50000" name="adj1"/>
                <a:gd fmla="val 49728" name="adj2"/>
              </a:avLst>
            </a:prstGeom>
            <a:noFill/>
            <a:ln cap="flat" cmpd="sng" w="13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4500" lIns="64500" spcFirstLastPara="1" rIns="64500" wrap="square" tIns="6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7"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4703caca149ccce2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1.1</a:t>
            </a:r>
            <a:endParaRPr/>
          </a:p>
        </p:txBody>
      </p:sp>
      <p:sp>
        <p:nvSpPr>
          <p:cNvPr id="601" name="Google Shape;601;h4703caca149ccce2_0_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Autoencoder inspired mapping.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h36f98b04b4fc2dcc_0_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Autoencoder</a:t>
            </a:r>
            <a:endParaRPr/>
          </a:p>
        </p:txBody>
      </p:sp>
      <p:sp>
        <p:nvSpPr>
          <p:cNvPr id="607" name="Google Shape;607;h36f98b04b4fc2dcc_0_48"/>
          <p:cNvSpPr txBox="1"/>
          <p:nvPr>
            <p:ph idx="1" type="body"/>
          </p:nvPr>
        </p:nvSpPr>
        <p:spPr>
          <a:xfrm>
            <a:off x="311700" y="1152475"/>
            <a:ext cx="8520600" cy="14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Proposed by (LeCun, 1987)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R</a:t>
            </a:r>
            <a:r>
              <a:rPr lang="pt-BR" sz="1900"/>
              <a:t>econstruct d-dimensional input (i.e., observation) vectors as d-dimensional output vectors (Bourlard &amp; Kabil, 2022)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T</a:t>
            </a:r>
            <a:r>
              <a:rPr lang="pt-BR" sz="1900"/>
              <a:t>wo parts: an encoder and a decoder</a:t>
            </a:r>
            <a:endParaRPr sz="1900"/>
          </a:p>
        </p:txBody>
      </p:sp>
      <p:pic>
        <p:nvPicPr>
          <p:cNvPr id="608" name="Google Shape;608;h36f98b04b4fc2dcc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925" y="2616575"/>
            <a:ext cx="37623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h36f98b04b4fc2dcc_0_48"/>
          <p:cNvSpPr txBox="1"/>
          <p:nvPr/>
        </p:nvSpPr>
        <p:spPr>
          <a:xfrm>
            <a:off x="2662950" y="4512050"/>
            <a:ext cx="32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(Lopez Pinaya et al., 2020)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h36f98b04b4fc2dcc_0_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Autoencoder Architecture</a:t>
            </a:r>
            <a:endParaRPr/>
          </a:p>
        </p:txBody>
      </p:sp>
      <p:pic>
        <p:nvPicPr>
          <p:cNvPr id="615" name="Google Shape;615;h36f98b04b4fc2dcc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750" y="1782700"/>
            <a:ext cx="37623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h36f98b04b4fc2dcc_0_63"/>
          <p:cNvSpPr txBox="1"/>
          <p:nvPr/>
        </p:nvSpPr>
        <p:spPr>
          <a:xfrm>
            <a:off x="637775" y="3678175"/>
            <a:ext cx="32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(Lopez Pinaya et al., 2020)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17" name="Google Shape;617;h36f98b04b4fc2dcc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000" y="1182475"/>
            <a:ext cx="4385475" cy="33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h36f98b04b4fc2dcc_0_63"/>
          <p:cNvSpPr txBox="1"/>
          <p:nvPr/>
        </p:nvSpPr>
        <p:spPr>
          <a:xfrm>
            <a:off x="5847705" y="4570625"/>
            <a:ext cx="19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(Li et al., 2020)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h747215552b4acee0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Autoencoder Applications</a:t>
            </a:r>
            <a:endParaRPr/>
          </a:p>
        </p:txBody>
      </p:sp>
      <p:pic>
        <p:nvPicPr>
          <p:cNvPr id="624" name="Google Shape;624;h747215552b4acee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35275"/>
            <a:ext cx="430530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h747215552b4acee0_0_0"/>
          <p:cNvSpPr txBox="1"/>
          <p:nvPr/>
        </p:nvSpPr>
        <p:spPr>
          <a:xfrm>
            <a:off x="2963850" y="4427825"/>
            <a:ext cx="32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(Lopez Pinaya et al., 2020)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26" name="Google Shape;626;h747215552b4acee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225" y="2301950"/>
            <a:ext cx="3762375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h747215552b4acee0_0_0"/>
          <p:cNvSpPr txBox="1"/>
          <p:nvPr/>
        </p:nvSpPr>
        <p:spPr>
          <a:xfrm>
            <a:off x="402175" y="1840250"/>
            <a:ext cx="376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Undercomplete autoencoder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8" name="Google Shape;628;h747215552b4acee0_0_0"/>
          <p:cNvSpPr txBox="1"/>
          <p:nvPr/>
        </p:nvSpPr>
        <p:spPr>
          <a:xfrm>
            <a:off x="5116500" y="1840250"/>
            <a:ext cx="32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Denoising autoencoder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h36f98b04b4fc2dcc_0_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1.1</a:t>
            </a:r>
            <a:endParaRPr/>
          </a:p>
        </p:txBody>
      </p:sp>
      <p:sp>
        <p:nvSpPr>
          <p:cNvPr id="634" name="Google Shape;634;h36f98b04b4fc2dcc_0_76"/>
          <p:cNvSpPr txBox="1"/>
          <p:nvPr>
            <p:ph idx="1" type="body"/>
          </p:nvPr>
        </p:nvSpPr>
        <p:spPr>
          <a:xfrm>
            <a:off x="311700" y="1152475"/>
            <a:ext cx="8520600" cy="3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Consider the labels for the cardinal directions: north, south, east, and west. Propose an autoencoder network architecture to reconstruct the four labels using two hidden neurons.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_____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Considere os rótulos para os pontos cardeais: norte, sul, leste e oeste. Proponha uma arquitetura de rede autoencoder para reconstruir os quatro rótulos utilizando dois neurônios ocultos.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h36f98b04b4fc2dcc_0_14"/>
          <p:cNvSpPr txBox="1"/>
          <p:nvPr>
            <p:ph type="title"/>
          </p:nvPr>
        </p:nvSpPr>
        <p:spPr>
          <a:xfrm>
            <a:off x="311700" y="445025"/>
            <a:ext cx="8520600" cy="9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Subtask 1.1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One-hot Encoding</a:t>
            </a:r>
            <a:endParaRPr/>
          </a:p>
        </p:txBody>
      </p:sp>
      <p:grpSp>
        <p:nvGrpSpPr>
          <p:cNvPr id="640" name="Google Shape;640;h36f98b04b4fc2dcc_0_14"/>
          <p:cNvGrpSpPr/>
          <p:nvPr/>
        </p:nvGrpSpPr>
        <p:grpSpPr>
          <a:xfrm>
            <a:off x="4916068" y="2372260"/>
            <a:ext cx="345000" cy="1380000"/>
            <a:chOff x="2709368" y="3474710"/>
            <a:chExt cx="345000" cy="1380000"/>
          </a:xfrm>
        </p:grpSpPr>
        <p:sp>
          <p:nvSpPr>
            <p:cNvPr id="641" name="Google Shape;641;h36f98b04b4fc2dcc_0_14"/>
            <p:cNvSpPr/>
            <p:nvPr/>
          </p:nvSpPr>
          <p:spPr>
            <a:xfrm>
              <a:off x="2709368" y="3474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42" name="Google Shape;642;h36f98b04b4fc2dcc_0_14"/>
            <p:cNvSpPr/>
            <p:nvPr/>
          </p:nvSpPr>
          <p:spPr>
            <a:xfrm>
              <a:off x="2709368" y="381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43" name="Google Shape;643;h36f98b04b4fc2dcc_0_14"/>
            <p:cNvSpPr/>
            <p:nvPr/>
          </p:nvSpPr>
          <p:spPr>
            <a:xfrm>
              <a:off x="2709368" y="450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1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44" name="Google Shape;644;h36f98b04b4fc2dcc_0_14"/>
            <p:cNvSpPr/>
            <p:nvPr/>
          </p:nvSpPr>
          <p:spPr>
            <a:xfrm>
              <a:off x="2709368" y="416283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645" name="Google Shape;645;h36f98b04b4fc2dcc_0_14"/>
          <p:cNvSpPr txBox="1"/>
          <p:nvPr/>
        </p:nvSpPr>
        <p:spPr>
          <a:xfrm>
            <a:off x="5444125" y="2313900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rPr>
              <a:t>north</a:t>
            </a:r>
            <a:endParaRPr sz="1800">
              <a:solidFill>
                <a:srgbClr val="9999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6" name="Google Shape;646;h36f98b04b4fc2dcc_0_14"/>
          <p:cNvSpPr txBox="1"/>
          <p:nvPr/>
        </p:nvSpPr>
        <p:spPr>
          <a:xfrm>
            <a:off x="5444125" y="2661525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rPr>
              <a:t>south</a:t>
            </a:r>
            <a:endParaRPr sz="1800">
              <a:solidFill>
                <a:srgbClr val="9999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7" name="Google Shape;647;h36f98b04b4fc2dcc_0_14"/>
          <p:cNvSpPr txBox="1"/>
          <p:nvPr/>
        </p:nvSpPr>
        <p:spPr>
          <a:xfrm>
            <a:off x="5444125" y="3002025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rPr>
              <a:t>east</a:t>
            </a:r>
            <a:endParaRPr sz="1800">
              <a:solidFill>
                <a:srgbClr val="9999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8" name="Google Shape;648;h36f98b04b4fc2dcc_0_14"/>
          <p:cNvSpPr txBox="1"/>
          <p:nvPr/>
        </p:nvSpPr>
        <p:spPr>
          <a:xfrm>
            <a:off x="5444125" y="3348900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latin typeface="Comfortaa"/>
                <a:ea typeface="Comfortaa"/>
                <a:cs typeface="Comfortaa"/>
                <a:sym typeface="Comfortaa"/>
              </a:rPr>
              <a:t>west</a:t>
            </a:r>
            <a:endParaRPr sz="1800">
              <a:solidFill>
                <a:srgbClr val="9999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649" name="Google Shape;649;h36f98b04b4fc2dcc_0_14"/>
          <p:cNvGrpSpPr/>
          <p:nvPr/>
        </p:nvGrpSpPr>
        <p:grpSpPr>
          <a:xfrm>
            <a:off x="4114868" y="2372260"/>
            <a:ext cx="345000" cy="1380000"/>
            <a:chOff x="2364368" y="3474710"/>
            <a:chExt cx="345000" cy="1380000"/>
          </a:xfrm>
        </p:grpSpPr>
        <p:sp>
          <p:nvSpPr>
            <p:cNvPr id="650" name="Google Shape;650;h36f98b04b4fc2dcc_0_14"/>
            <p:cNvSpPr/>
            <p:nvPr/>
          </p:nvSpPr>
          <p:spPr>
            <a:xfrm>
              <a:off x="2364368" y="3474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51" name="Google Shape;651;h36f98b04b4fc2dcc_0_14"/>
            <p:cNvSpPr/>
            <p:nvPr/>
          </p:nvSpPr>
          <p:spPr>
            <a:xfrm>
              <a:off x="2364368" y="381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52" name="Google Shape;652;h36f98b04b4fc2dcc_0_14"/>
            <p:cNvSpPr/>
            <p:nvPr/>
          </p:nvSpPr>
          <p:spPr>
            <a:xfrm>
              <a:off x="2364368" y="450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53" name="Google Shape;653;h36f98b04b4fc2dcc_0_14"/>
            <p:cNvSpPr/>
            <p:nvPr/>
          </p:nvSpPr>
          <p:spPr>
            <a:xfrm>
              <a:off x="2364368" y="416283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1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654" name="Google Shape;654;h36f98b04b4fc2dcc_0_14"/>
          <p:cNvGrpSpPr/>
          <p:nvPr/>
        </p:nvGrpSpPr>
        <p:grpSpPr>
          <a:xfrm>
            <a:off x="3313675" y="2372260"/>
            <a:ext cx="345000" cy="1380000"/>
            <a:chOff x="2019368" y="3474710"/>
            <a:chExt cx="345000" cy="1380000"/>
          </a:xfrm>
        </p:grpSpPr>
        <p:sp>
          <p:nvSpPr>
            <p:cNvPr id="655" name="Google Shape;655;h36f98b04b4fc2dcc_0_14"/>
            <p:cNvSpPr/>
            <p:nvPr/>
          </p:nvSpPr>
          <p:spPr>
            <a:xfrm>
              <a:off x="2019368" y="3474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56" name="Google Shape;656;h36f98b04b4fc2dcc_0_14"/>
            <p:cNvSpPr/>
            <p:nvPr/>
          </p:nvSpPr>
          <p:spPr>
            <a:xfrm>
              <a:off x="2019368" y="381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1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57" name="Google Shape;657;h36f98b04b4fc2dcc_0_14"/>
            <p:cNvSpPr/>
            <p:nvPr/>
          </p:nvSpPr>
          <p:spPr>
            <a:xfrm>
              <a:off x="2019368" y="450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58" name="Google Shape;658;h36f98b04b4fc2dcc_0_14"/>
            <p:cNvSpPr/>
            <p:nvPr/>
          </p:nvSpPr>
          <p:spPr>
            <a:xfrm>
              <a:off x="2019368" y="416283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grpSp>
        <p:nvGrpSpPr>
          <p:cNvPr id="659" name="Google Shape;659;h36f98b04b4fc2dcc_0_14"/>
          <p:cNvGrpSpPr/>
          <p:nvPr/>
        </p:nvGrpSpPr>
        <p:grpSpPr>
          <a:xfrm>
            <a:off x="2512475" y="2372260"/>
            <a:ext cx="345000" cy="1380000"/>
            <a:chOff x="1590693" y="3474710"/>
            <a:chExt cx="345000" cy="1380000"/>
          </a:xfrm>
        </p:grpSpPr>
        <p:sp>
          <p:nvSpPr>
            <p:cNvPr id="660" name="Google Shape;660;h36f98b04b4fc2dcc_0_14"/>
            <p:cNvSpPr/>
            <p:nvPr/>
          </p:nvSpPr>
          <p:spPr>
            <a:xfrm>
              <a:off x="1590693" y="3474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1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61" name="Google Shape;661;h36f98b04b4fc2dcc_0_14"/>
            <p:cNvSpPr/>
            <p:nvPr/>
          </p:nvSpPr>
          <p:spPr>
            <a:xfrm>
              <a:off x="1590693" y="381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62" name="Google Shape;662;h36f98b04b4fc2dcc_0_14"/>
            <p:cNvSpPr/>
            <p:nvPr/>
          </p:nvSpPr>
          <p:spPr>
            <a:xfrm>
              <a:off x="1590693" y="4509710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663" name="Google Shape;663;h36f98b04b4fc2dcc_0_14"/>
            <p:cNvSpPr/>
            <p:nvPr/>
          </p:nvSpPr>
          <p:spPr>
            <a:xfrm>
              <a:off x="1590693" y="4162835"/>
              <a:ext cx="345000" cy="3450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Comfortaa"/>
                  <a:ea typeface="Comfortaa"/>
                  <a:cs typeface="Comfortaa"/>
                  <a:sym typeface="Comfortaa"/>
                </a:rPr>
                <a:t>0</a:t>
              </a:r>
              <a:endParaRPr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664" name="Google Shape;664;h36f98b04b4fc2dcc_0_14"/>
          <p:cNvSpPr txBox="1"/>
          <p:nvPr/>
        </p:nvSpPr>
        <p:spPr>
          <a:xfrm>
            <a:off x="2239325" y="1910550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north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5" name="Google Shape;665;h36f98b04b4fc2dcc_0_14"/>
          <p:cNvSpPr txBox="1"/>
          <p:nvPr/>
        </p:nvSpPr>
        <p:spPr>
          <a:xfrm>
            <a:off x="3040525" y="1910550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south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6" name="Google Shape;666;h36f98b04b4fc2dcc_0_14"/>
          <p:cNvSpPr txBox="1"/>
          <p:nvPr/>
        </p:nvSpPr>
        <p:spPr>
          <a:xfrm>
            <a:off x="3841725" y="1910550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east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7" name="Google Shape;667;h36f98b04b4fc2dcc_0_14"/>
          <p:cNvSpPr txBox="1"/>
          <p:nvPr/>
        </p:nvSpPr>
        <p:spPr>
          <a:xfrm>
            <a:off x="4642925" y="1910550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west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h790ff578c93ec937_0_212"/>
          <p:cNvSpPr txBox="1"/>
          <p:nvPr/>
        </p:nvSpPr>
        <p:spPr>
          <a:xfrm>
            <a:off x="3569257" y="2425154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673" name="Google Shape;673;h790ff578c93ec937_0_212"/>
          <p:cNvGrpSpPr/>
          <p:nvPr/>
        </p:nvGrpSpPr>
        <p:grpSpPr>
          <a:xfrm>
            <a:off x="2433696" y="2428797"/>
            <a:ext cx="4444619" cy="2539039"/>
            <a:chOff x="2847138" y="2113631"/>
            <a:chExt cx="4444619" cy="2539039"/>
          </a:xfrm>
        </p:grpSpPr>
        <p:sp>
          <p:nvSpPr>
            <p:cNvPr id="674" name="Google Shape;674;h790ff578c93ec937_0_212"/>
            <p:cNvSpPr/>
            <p:nvPr/>
          </p:nvSpPr>
          <p:spPr>
            <a:xfrm>
              <a:off x="2847138" y="2826169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I</a:t>
              </a:r>
              <a:r>
                <a:rPr baseline="-25000" lang="pt-BR" sz="1241"/>
                <a:t>2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h790ff578c93ec937_0_212"/>
            <p:cNvSpPr/>
            <p:nvPr/>
          </p:nvSpPr>
          <p:spPr>
            <a:xfrm>
              <a:off x="2857932" y="3486220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I</a:t>
              </a:r>
              <a:r>
                <a:rPr baseline="-25000" lang="pt-BR" sz="1241"/>
                <a:t>3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h790ff578c93ec937_0_212"/>
            <p:cNvSpPr/>
            <p:nvPr/>
          </p:nvSpPr>
          <p:spPr>
            <a:xfrm>
              <a:off x="2857932" y="4146270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I</a:t>
              </a:r>
              <a:r>
                <a:rPr baseline="-25000" lang="pt-BR" sz="1241"/>
                <a:t>4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h790ff578c93ec937_0_212"/>
            <p:cNvSpPr/>
            <p:nvPr/>
          </p:nvSpPr>
          <p:spPr>
            <a:xfrm>
              <a:off x="2857913" y="2166119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>
                  <a:solidFill>
                    <a:schemeClr val="dk1"/>
                  </a:solidFill>
                </a:rPr>
                <a:t>I</a:t>
              </a:r>
              <a:r>
                <a:rPr baseline="-25000" lang="pt-BR" sz="1241">
                  <a:solidFill>
                    <a:schemeClr val="dk1"/>
                  </a:solidFill>
                </a:rPr>
                <a:t>1</a:t>
              </a:r>
              <a:endParaRPr sz="1241"/>
            </a:p>
          </p:txBody>
        </p:sp>
        <p:sp>
          <p:nvSpPr>
            <p:cNvPr id="678" name="Google Shape;678;h790ff578c93ec937_0_212"/>
            <p:cNvSpPr/>
            <p:nvPr/>
          </p:nvSpPr>
          <p:spPr>
            <a:xfrm>
              <a:off x="4794398" y="2650582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chemeClr val="dk1"/>
                  </a:solidFill>
                </a:rPr>
                <a:t>σ</a:t>
              </a:r>
              <a:r>
                <a:rPr baseline="-25000" lang="pt-BR">
                  <a:solidFill>
                    <a:schemeClr val="dk1"/>
                  </a:solidFill>
                </a:rPr>
                <a:t>1</a:t>
              </a:r>
              <a:endParaRPr b="0" baseline="-2500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h790ff578c93ec937_0_212"/>
            <p:cNvSpPr/>
            <p:nvPr/>
          </p:nvSpPr>
          <p:spPr>
            <a:xfrm>
              <a:off x="4838098" y="3556857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>
                  <a:solidFill>
                    <a:schemeClr val="dk1"/>
                  </a:solidFill>
                </a:rPr>
                <a:t>σ</a:t>
              </a:r>
              <a:r>
                <a:rPr baseline="-25000" lang="pt-BR">
                  <a:solidFill>
                    <a:schemeClr val="dk1"/>
                  </a:solidFill>
                </a:rPr>
                <a:t>2</a:t>
              </a:r>
              <a:endParaRPr b="0" baseline="-2500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0" name="Google Shape;680;h790ff578c93ec937_0_212"/>
            <p:cNvCxnSpPr>
              <a:stCxn id="674" idx="6"/>
            </p:cNvCxnSpPr>
            <p:nvPr/>
          </p:nvCxnSpPr>
          <p:spPr>
            <a:xfrm flipH="1" rot="10800000">
              <a:off x="3353538" y="2826769"/>
              <a:ext cx="1440900" cy="2526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1" name="Google Shape;681;h790ff578c93ec937_0_212"/>
            <p:cNvCxnSpPr>
              <a:stCxn id="675" idx="6"/>
            </p:cNvCxnSpPr>
            <p:nvPr/>
          </p:nvCxnSpPr>
          <p:spPr>
            <a:xfrm flipH="1" rot="10800000">
              <a:off x="3364332" y="2954620"/>
              <a:ext cx="1423200" cy="7848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2" name="Google Shape;682;h790ff578c93ec937_0_212"/>
            <p:cNvCxnSpPr>
              <a:stCxn id="676" idx="6"/>
              <a:endCxn id="678" idx="3"/>
            </p:cNvCxnSpPr>
            <p:nvPr/>
          </p:nvCxnSpPr>
          <p:spPr>
            <a:xfrm flipH="1" rot="10800000">
              <a:off x="3364332" y="3082770"/>
              <a:ext cx="1504200" cy="13167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3" name="Google Shape;683;h790ff578c93ec937_0_212"/>
            <p:cNvCxnSpPr>
              <a:stCxn id="677" idx="6"/>
            </p:cNvCxnSpPr>
            <p:nvPr/>
          </p:nvCxnSpPr>
          <p:spPr>
            <a:xfrm>
              <a:off x="3364313" y="2419319"/>
              <a:ext cx="1476900" cy="3204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4" name="Google Shape;684;h790ff578c93ec937_0_212"/>
            <p:cNvCxnSpPr>
              <a:stCxn id="677" idx="6"/>
              <a:endCxn id="679" idx="1"/>
            </p:cNvCxnSpPr>
            <p:nvPr/>
          </p:nvCxnSpPr>
          <p:spPr>
            <a:xfrm>
              <a:off x="3364313" y="2419319"/>
              <a:ext cx="1548000" cy="12117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5" name="Google Shape;685;h790ff578c93ec937_0_212"/>
            <p:cNvCxnSpPr>
              <a:stCxn id="676" idx="6"/>
              <a:endCxn id="679" idx="3"/>
            </p:cNvCxnSpPr>
            <p:nvPr/>
          </p:nvCxnSpPr>
          <p:spPr>
            <a:xfrm flipH="1" rot="10800000">
              <a:off x="3364332" y="3989070"/>
              <a:ext cx="1548000" cy="4104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6" name="Google Shape;686;h790ff578c93ec937_0_212"/>
            <p:cNvCxnSpPr>
              <a:stCxn id="674" idx="6"/>
            </p:cNvCxnSpPr>
            <p:nvPr/>
          </p:nvCxnSpPr>
          <p:spPr>
            <a:xfrm>
              <a:off x="3353538" y="3079369"/>
              <a:ext cx="1474500" cy="6609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7" name="Google Shape;687;h790ff578c93ec937_0_212"/>
            <p:cNvCxnSpPr>
              <a:stCxn id="675" idx="6"/>
            </p:cNvCxnSpPr>
            <p:nvPr/>
          </p:nvCxnSpPr>
          <p:spPr>
            <a:xfrm>
              <a:off x="3364332" y="3739420"/>
              <a:ext cx="1483800" cy="1149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8" name="Google Shape;688;h790ff578c93ec937_0_212"/>
            <p:cNvSpPr/>
            <p:nvPr/>
          </p:nvSpPr>
          <p:spPr>
            <a:xfrm>
              <a:off x="6774563" y="2773682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O</a:t>
              </a:r>
              <a:r>
                <a:rPr baseline="-25000" lang="pt-BR" sz="1241"/>
                <a:t>2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h790ff578c93ec937_0_212"/>
            <p:cNvSpPr/>
            <p:nvPr/>
          </p:nvSpPr>
          <p:spPr>
            <a:xfrm>
              <a:off x="6785357" y="3433732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O</a:t>
              </a:r>
              <a:r>
                <a:rPr baseline="-25000" lang="pt-BR" sz="1241"/>
                <a:t>3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h790ff578c93ec937_0_212"/>
            <p:cNvSpPr/>
            <p:nvPr/>
          </p:nvSpPr>
          <p:spPr>
            <a:xfrm>
              <a:off x="6785357" y="4093782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/>
                <a:t>O</a:t>
              </a:r>
              <a:r>
                <a:rPr baseline="-25000" lang="pt-BR" sz="1241"/>
                <a:t>4</a:t>
              </a:r>
              <a:endParaRPr b="0" sz="1241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h790ff578c93ec937_0_212"/>
            <p:cNvSpPr/>
            <p:nvPr/>
          </p:nvSpPr>
          <p:spPr>
            <a:xfrm>
              <a:off x="6785338" y="2113631"/>
              <a:ext cx="506400" cy="506400"/>
            </a:xfrm>
            <a:prstGeom prst="ellipse">
              <a:avLst/>
            </a:prstGeom>
            <a:solidFill>
              <a:srgbClr val="FFFFFF"/>
            </a:solidFill>
            <a:ln cap="flat" cmpd="sng" w="26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800" lIns="76450" spcFirstLastPara="1" rIns="76450" wrap="square" tIns="44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41">
                  <a:solidFill>
                    <a:schemeClr val="dk1"/>
                  </a:solidFill>
                </a:rPr>
                <a:t>O</a:t>
              </a:r>
              <a:r>
                <a:rPr baseline="-25000" lang="pt-BR" sz="1241">
                  <a:solidFill>
                    <a:schemeClr val="dk1"/>
                  </a:solidFill>
                </a:rPr>
                <a:t>1</a:t>
              </a:r>
              <a:endParaRPr sz="1241"/>
            </a:p>
          </p:txBody>
        </p:sp>
        <p:cxnSp>
          <p:nvCxnSpPr>
            <p:cNvPr id="692" name="Google Shape;692;h790ff578c93ec937_0_212"/>
            <p:cNvCxnSpPr>
              <a:stCxn id="678" idx="6"/>
            </p:cNvCxnSpPr>
            <p:nvPr/>
          </p:nvCxnSpPr>
          <p:spPr>
            <a:xfrm flipH="1" rot="10800000">
              <a:off x="5300798" y="2350282"/>
              <a:ext cx="1487700" cy="5535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3" name="Google Shape;693;h790ff578c93ec937_0_212"/>
            <p:cNvCxnSpPr>
              <a:stCxn id="678" idx="6"/>
            </p:cNvCxnSpPr>
            <p:nvPr/>
          </p:nvCxnSpPr>
          <p:spPr>
            <a:xfrm>
              <a:off x="5300798" y="2903782"/>
              <a:ext cx="1487700" cy="909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4" name="Google Shape;694;h790ff578c93ec937_0_212"/>
            <p:cNvCxnSpPr>
              <a:stCxn id="678" idx="6"/>
            </p:cNvCxnSpPr>
            <p:nvPr/>
          </p:nvCxnSpPr>
          <p:spPr>
            <a:xfrm>
              <a:off x="5300798" y="2903782"/>
              <a:ext cx="1528200" cy="6753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5" name="Google Shape;695;h790ff578c93ec937_0_212"/>
            <p:cNvCxnSpPr>
              <a:stCxn id="678" idx="6"/>
            </p:cNvCxnSpPr>
            <p:nvPr/>
          </p:nvCxnSpPr>
          <p:spPr>
            <a:xfrm>
              <a:off x="5300798" y="2903782"/>
              <a:ext cx="1514700" cy="1339800"/>
            </a:xfrm>
            <a:prstGeom prst="straightConnector1">
              <a:avLst/>
            </a:prstGeom>
            <a:noFill/>
            <a:ln cap="flat" cmpd="sng" w="20500">
              <a:solidFill>
                <a:srgbClr val="9999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6" name="Google Shape;696;h790ff578c93ec937_0_212"/>
            <p:cNvCxnSpPr>
              <a:stCxn id="679" idx="6"/>
            </p:cNvCxnSpPr>
            <p:nvPr/>
          </p:nvCxnSpPr>
          <p:spPr>
            <a:xfrm flipH="1" rot="10800000">
              <a:off x="5344498" y="2524857"/>
              <a:ext cx="1497900" cy="12852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7" name="Google Shape;697;h790ff578c93ec937_0_212"/>
            <p:cNvCxnSpPr>
              <a:stCxn id="679" idx="6"/>
            </p:cNvCxnSpPr>
            <p:nvPr/>
          </p:nvCxnSpPr>
          <p:spPr>
            <a:xfrm flipH="1" rot="10800000">
              <a:off x="5344498" y="3122457"/>
              <a:ext cx="1464300" cy="6876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8" name="Google Shape;698;h790ff578c93ec937_0_212"/>
            <p:cNvCxnSpPr>
              <a:stCxn id="679" idx="6"/>
            </p:cNvCxnSpPr>
            <p:nvPr/>
          </p:nvCxnSpPr>
          <p:spPr>
            <a:xfrm flipH="1" rot="10800000">
              <a:off x="5344498" y="3766857"/>
              <a:ext cx="1444200" cy="432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9" name="Google Shape;699;h790ff578c93ec937_0_212"/>
            <p:cNvCxnSpPr>
              <a:stCxn id="679" idx="6"/>
            </p:cNvCxnSpPr>
            <p:nvPr/>
          </p:nvCxnSpPr>
          <p:spPr>
            <a:xfrm>
              <a:off x="5344498" y="3810057"/>
              <a:ext cx="1464300" cy="567900"/>
            </a:xfrm>
            <a:prstGeom prst="straightConnector1">
              <a:avLst/>
            </a:prstGeom>
            <a:noFill/>
            <a:ln cap="flat" cmpd="sng" w="205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700" name="Google Shape;700;h790ff578c93ec937_0_212"/>
          <p:cNvSpPr/>
          <p:nvPr/>
        </p:nvSpPr>
        <p:spPr>
          <a:xfrm>
            <a:off x="440883" y="2787478"/>
            <a:ext cx="453300" cy="18069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5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1" name="Google Shape;701;h790ff578c93ec937_0_212"/>
          <p:cNvSpPr/>
          <p:nvPr/>
        </p:nvSpPr>
        <p:spPr>
          <a:xfrm>
            <a:off x="495026" y="2825813"/>
            <a:ext cx="345000" cy="345000"/>
          </a:xfrm>
          <a:prstGeom prst="rect">
            <a:avLst/>
          </a:prstGeom>
          <a:solidFill>
            <a:srgbClr val="CBB7B7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2" name="Google Shape;702;h790ff578c93ec937_0_212"/>
          <p:cNvSpPr/>
          <p:nvPr/>
        </p:nvSpPr>
        <p:spPr>
          <a:xfrm>
            <a:off x="495026" y="3170813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3" name="Google Shape;703;h790ff578c93ec937_0_212"/>
          <p:cNvSpPr/>
          <p:nvPr/>
        </p:nvSpPr>
        <p:spPr>
          <a:xfrm>
            <a:off x="495026" y="3515813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4" name="Google Shape;704;h790ff578c93ec937_0_212"/>
          <p:cNvSpPr/>
          <p:nvPr/>
        </p:nvSpPr>
        <p:spPr>
          <a:xfrm>
            <a:off x="495026" y="4205813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5" name="Google Shape;705;h790ff578c93ec937_0_212"/>
          <p:cNvSpPr/>
          <p:nvPr/>
        </p:nvSpPr>
        <p:spPr>
          <a:xfrm>
            <a:off x="495026" y="3858938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6" name="Google Shape;706;h790ff578c93ec937_0_212"/>
          <p:cNvSpPr txBox="1"/>
          <p:nvPr/>
        </p:nvSpPr>
        <p:spPr>
          <a:xfrm>
            <a:off x="923708" y="3112453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north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7" name="Google Shape;707;h790ff578c93ec937_0_212"/>
          <p:cNvSpPr txBox="1"/>
          <p:nvPr/>
        </p:nvSpPr>
        <p:spPr>
          <a:xfrm>
            <a:off x="923708" y="3460078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south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8" name="Google Shape;708;h790ff578c93ec937_0_212"/>
          <p:cNvSpPr txBox="1"/>
          <p:nvPr/>
        </p:nvSpPr>
        <p:spPr>
          <a:xfrm>
            <a:off x="923708" y="3800578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east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9" name="Google Shape;709;h790ff578c93ec937_0_212"/>
          <p:cNvSpPr txBox="1"/>
          <p:nvPr/>
        </p:nvSpPr>
        <p:spPr>
          <a:xfrm>
            <a:off x="923708" y="4147453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west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710" name="Google Shape;710;h790ff578c93ec937_0_212"/>
          <p:cNvGrpSpPr/>
          <p:nvPr/>
        </p:nvGrpSpPr>
        <p:grpSpPr>
          <a:xfrm>
            <a:off x="1618590" y="2823703"/>
            <a:ext cx="815106" cy="1871132"/>
            <a:chOff x="1618590" y="2508538"/>
            <a:chExt cx="815106" cy="1871132"/>
          </a:xfrm>
        </p:grpSpPr>
        <p:cxnSp>
          <p:nvCxnSpPr>
            <p:cNvPr id="711" name="Google Shape;711;h790ff578c93ec937_0_212"/>
            <p:cNvCxnSpPr>
              <a:stCxn id="706" idx="3"/>
            </p:cNvCxnSpPr>
            <p:nvPr/>
          </p:nvCxnSpPr>
          <p:spPr>
            <a:xfrm flipH="1" rot="10800000">
              <a:off x="1815008" y="2508538"/>
              <a:ext cx="539400" cy="51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h790ff578c93ec937_0_212"/>
            <p:cNvCxnSpPr>
              <a:endCxn id="674" idx="2"/>
            </p:cNvCxnSpPr>
            <p:nvPr/>
          </p:nvCxnSpPr>
          <p:spPr>
            <a:xfrm flipH="1" rot="10800000">
              <a:off x="1772796" y="3079369"/>
              <a:ext cx="660900" cy="31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h790ff578c93ec937_0_212"/>
            <p:cNvCxnSpPr/>
            <p:nvPr/>
          </p:nvCxnSpPr>
          <p:spPr>
            <a:xfrm>
              <a:off x="1632758" y="3742000"/>
              <a:ext cx="707700" cy="1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h790ff578c93ec937_0_212"/>
            <p:cNvCxnSpPr/>
            <p:nvPr/>
          </p:nvCxnSpPr>
          <p:spPr>
            <a:xfrm>
              <a:off x="1618590" y="4106370"/>
              <a:ext cx="721800" cy="273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5" name="Google Shape;715;h790ff578c93ec937_0_212"/>
          <p:cNvGrpSpPr/>
          <p:nvPr/>
        </p:nvGrpSpPr>
        <p:grpSpPr>
          <a:xfrm flipH="1">
            <a:off x="6878315" y="2752753"/>
            <a:ext cx="815106" cy="1871132"/>
            <a:chOff x="1618590" y="2508538"/>
            <a:chExt cx="815106" cy="1871132"/>
          </a:xfrm>
        </p:grpSpPr>
        <p:cxnSp>
          <p:nvCxnSpPr>
            <p:cNvPr id="716" name="Google Shape;716;h790ff578c93ec937_0_212"/>
            <p:cNvCxnSpPr/>
            <p:nvPr/>
          </p:nvCxnSpPr>
          <p:spPr>
            <a:xfrm flipH="1" rot="10800000">
              <a:off x="1815008" y="2508538"/>
              <a:ext cx="539400" cy="51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17" name="Google Shape;717;h790ff578c93ec937_0_212"/>
            <p:cNvCxnSpPr/>
            <p:nvPr/>
          </p:nvCxnSpPr>
          <p:spPr>
            <a:xfrm flipH="1" rot="10800000">
              <a:off x="1772796" y="3079369"/>
              <a:ext cx="660900" cy="31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18" name="Google Shape;718;h790ff578c93ec937_0_212"/>
            <p:cNvCxnSpPr/>
            <p:nvPr/>
          </p:nvCxnSpPr>
          <p:spPr>
            <a:xfrm>
              <a:off x="1632758" y="3742000"/>
              <a:ext cx="707700" cy="1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h790ff578c93ec937_0_212"/>
            <p:cNvCxnSpPr/>
            <p:nvPr/>
          </p:nvCxnSpPr>
          <p:spPr>
            <a:xfrm>
              <a:off x="1618590" y="4106370"/>
              <a:ext cx="721800" cy="273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720" name="Google Shape;720;h790ff578c93ec937_0_212"/>
          <p:cNvSpPr txBox="1"/>
          <p:nvPr/>
        </p:nvSpPr>
        <p:spPr>
          <a:xfrm>
            <a:off x="7537008" y="3112453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north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1" name="Google Shape;721;h790ff578c93ec937_0_212"/>
          <p:cNvSpPr txBox="1"/>
          <p:nvPr/>
        </p:nvSpPr>
        <p:spPr>
          <a:xfrm>
            <a:off x="7537008" y="3460078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south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2" name="Google Shape;722;h790ff578c93ec937_0_212"/>
          <p:cNvSpPr txBox="1"/>
          <p:nvPr/>
        </p:nvSpPr>
        <p:spPr>
          <a:xfrm>
            <a:off x="7537008" y="3800578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east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3" name="Google Shape;723;h790ff578c93ec937_0_212"/>
          <p:cNvSpPr txBox="1"/>
          <p:nvPr/>
        </p:nvSpPr>
        <p:spPr>
          <a:xfrm>
            <a:off x="7537008" y="4147453"/>
            <a:ext cx="89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west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4" name="Google Shape;724;h790ff578c93ec937_0_212"/>
          <p:cNvSpPr/>
          <p:nvPr/>
        </p:nvSpPr>
        <p:spPr>
          <a:xfrm>
            <a:off x="8371600" y="3048088"/>
            <a:ext cx="453300" cy="1511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5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5" name="Google Shape;725;h790ff578c93ec937_0_212"/>
          <p:cNvSpPr/>
          <p:nvPr/>
        </p:nvSpPr>
        <p:spPr>
          <a:xfrm>
            <a:off x="8425751" y="3136088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6" name="Google Shape;726;h790ff578c93ec937_0_212"/>
          <p:cNvSpPr/>
          <p:nvPr/>
        </p:nvSpPr>
        <p:spPr>
          <a:xfrm>
            <a:off x="8425751" y="3481088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7" name="Google Shape;727;h790ff578c93ec937_0_212"/>
          <p:cNvSpPr/>
          <p:nvPr/>
        </p:nvSpPr>
        <p:spPr>
          <a:xfrm>
            <a:off x="8425751" y="4171088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8" name="Google Shape;728;h790ff578c93ec937_0_212"/>
          <p:cNvSpPr/>
          <p:nvPr/>
        </p:nvSpPr>
        <p:spPr>
          <a:xfrm>
            <a:off x="8425751" y="3824213"/>
            <a:ext cx="345000" cy="345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9" name="Google Shape;729;h790ff578c93ec937_0_212"/>
          <p:cNvSpPr/>
          <p:nvPr/>
        </p:nvSpPr>
        <p:spPr>
          <a:xfrm>
            <a:off x="3522825" y="896840"/>
            <a:ext cx="609300" cy="1335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0" name="Google Shape;730;h790ff578c93ec937_0_212"/>
          <p:cNvSpPr/>
          <p:nvPr/>
        </p:nvSpPr>
        <p:spPr>
          <a:xfrm>
            <a:off x="3570959" y="944590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1" name="Google Shape;731;h790ff578c93ec937_0_212"/>
          <p:cNvSpPr/>
          <p:nvPr/>
        </p:nvSpPr>
        <p:spPr>
          <a:xfrm>
            <a:off x="3820249" y="944590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2" name="Google Shape;732;h790ff578c93ec937_0_212"/>
          <p:cNvSpPr/>
          <p:nvPr/>
        </p:nvSpPr>
        <p:spPr>
          <a:xfrm>
            <a:off x="3570959" y="1193879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3" name="Google Shape;733;h790ff578c93ec937_0_212"/>
          <p:cNvSpPr/>
          <p:nvPr/>
        </p:nvSpPr>
        <p:spPr>
          <a:xfrm>
            <a:off x="3820249" y="1193879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4" name="Google Shape;734;h790ff578c93ec937_0_212"/>
          <p:cNvSpPr/>
          <p:nvPr/>
        </p:nvSpPr>
        <p:spPr>
          <a:xfrm>
            <a:off x="3570959" y="144316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5" name="Google Shape;735;h790ff578c93ec937_0_212"/>
          <p:cNvSpPr/>
          <p:nvPr/>
        </p:nvSpPr>
        <p:spPr>
          <a:xfrm>
            <a:off x="3820249" y="144316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6" name="Google Shape;736;h790ff578c93ec937_0_212"/>
          <p:cNvSpPr/>
          <p:nvPr/>
        </p:nvSpPr>
        <p:spPr>
          <a:xfrm>
            <a:off x="3570959" y="1916651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7" name="Google Shape;737;h790ff578c93ec937_0_212"/>
          <p:cNvSpPr/>
          <p:nvPr/>
        </p:nvSpPr>
        <p:spPr>
          <a:xfrm>
            <a:off x="3820249" y="1916651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8" name="Google Shape;738;h790ff578c93ec937_0_212"/>
          <p:cNvSpPr/>
          <p:nvPr/>
        </p:nvSpPr>
        <p:spPr>
          <a:xfrm flipH="1">
            <a:off x="3339360" y="896840"/>
            <a:ext cx="119400" cy="13980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9" name="Google Shape;739;h790ff578c93ec937_0_212"/>
          <p:cNvSpPr txBox="1"/>
          <p:nvPr/>
        </p:nvSpPr>
        <p:spPr>
          <a:xfrm>
            <a:off x="2965678" y="1452917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5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0" name="Google Shape;740;h790ff578c93ec937_0_212"/>
          <p:cNvSpPr/>
          <p:nvPr/>
        </p:nvSpPr>
        <p:spPr>
          <a:xfrm flipH="1" rot="5400000">
            <a:off x="3710850" y="2106790"/>
            <a:ext cx="165000" cy="541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1" name="Google Shape;741;h790ff578c93ec937_0_212"/>
          <p:cNvSpPr/>
          <p:nvPr/>
        </p:nvSpPr>
        <p:spPr>
          <a:xfrm>
            <a:off x="3570134" y="166900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2" name="Google Shape;742;h790ff578c93ec937_0_212"/>
          <p:cNvSpPr/>
          <p:nvPr/>
        </p:nvSpPr>
        <p:spPr>
          <a:xfrm>
            <a:off x="3819424" y="166900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3" name="Google Shape;743;h790ff578c93ec937_0_212"/>
          <p:cNvSpPr/>
          <p:nvPr/>
        </p:nvSpPr>
        <p:spPr>
          <a:xfrm flipH="1">
            <a:off x="291952" y="2825815"/>
            <a:ext cx="119400" cy="16902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4" name="Google Shape;744;h790ff578c93ec937_0_212"/>
          <p:cNvSpPr txBox="1"/>
          <p:nvPr/>
        </p:nvSpPr>
        <p:spPr>
          <a:xfrm>
            <a:off x="-36862" y="3534517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5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5" name="Google Shape;745;h790ff578c93ec937_0_212"/>
          <p:cNvSpPr/>
          <p:nvPr/>
        </p:nvSpPr>
        <p:spPr>
          <a:xfrm flipH="1">
            <a:off x="4930125" y="1162490"/>
            <a:ext cx="178200" cy="8478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6" name="Google Shape;746;h790ff578c93ec937_0_212"/>
          <p:cNvSpPr txBox="1"/>
          <p:nvPr/>
        </p:nvSpPr>
        <p:spPr>
          <a:xfrm>
            <a:off x="4571738" y="1432042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7" name="Google Shape;747;h790ff578c93ec937_0_212"/>
          <p:cNvSpPr/>
          <p:nvPr/>
        </p:nvSpPr>
        <p:spPr>
          <a:xfrm flipH="1" rot="5400000">
            <a:off x="5609775" y="1637915"/>
            <a:ext cx="165000" cy="1003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8" name="Google Shape;748;h790ff578c93ec937_0_212"/>
          <p:cNvSpPr/>
          <p:nvPr/>
        </p:nvSpPr>
        <p:spPr>
          <a:xfrm rot="5400000">
            <a:off x="5274025" y="1034490"/>
            <a:ext cx="847800" cy="1104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9" name="Google Shape;749;h790ff578c93ec937_0_212"/>
          <p:cNvSpPr/>
          <p:nvPr/>
        </p:nvSpPr>
        <p:spPr>
          <a:xfrm rot="5400000">
            <a:off x="5934687" y="146787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0" name="Google Shape;750;h790ff578c93ec937_0_212"/>
          <p:cNvSpPr/>
          <p:nvPr/>
        </p:nvSpPr>
        <p:spPr>
          <a:xfrm rot="5400000">
            <a:off x="5934687" y="171716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1" name="Google Shape;751;h790ff578c93ec937_0_212"/>
          <p:cNvSpPr/>
          <p:nvPr/>
        </p:nvSpPr>
        <p:spPr>
          <a:xfrm rot="5400000">
            <a:off x="5685398" y="146787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2" name="Google Shape;752;h790ff578c93ec937_0_212"/>
          <p:cNvSpPr/>
          <p:nvPr/>
        </p:nvSpPr>
        <p:spPr>
          <a:xfrm rot="5400000">
            <a:off x="5685398" y="171716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3" name="Google Shape;753;h790ff578c93ec937_0_212"/>
          <p:cNvSpPr/>
          <p:nvPr/>
        </p:nvSpPr>
        <p:spPr>
          <a:xfrm rot="5400000">
            <a:off x="5211915" y="146787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4" name="Google Shape;754;h790ff578c93ec937_0_212"/>
          <p:cNvSpPr/>
          <p:nvPr/>
        </p:nvSpPr>
        <p:spPr>
          <a:xfrm rot="5400000">
            <a:off x="5211915" y="171716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5" name="Google Shape;755;h790ff578c93ec937_0_212"/>
          <p:cNvSpPr/>
          <p:nvPr/>
        </p:nvSpPr>
        <p:spPr>
          <a:xfrm rot="5400000">
            <a:off x="5459565" y="146705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6" name="Google Shape;756;h790ff578c93ec937_0_212"/>
          <p:cNvSpPr/>
          <p:nvPr/>
        </p:nvSpPr>
        <p:spPr>
          <a:xfrm rot="5400000">
            <a:off x="5459565" y="171634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7" name="Google Shape;757;h790ff578c93ec937_0_212"/>
          <p:cNvSpPr txBox="1"/>
          <p:nvPr/>
        </p:nvSpPr>
        <p:spPr>
          <a:xfrm>
            <a:off x="5473832" y="2228117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4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8" name="Google Shape;758;h790ff578c93ec937_0_212"/>
          <p:cNvSpPr/>
          <p:nvPr/>
        </p:nvSpPr>
        <p:spPr>
          <a:xfrm rot="5400000">
            <a:off x="5934662" y="121692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9" name="Google Shape;759;h790ff578c93ec937_0_212"/>
          <p:cNvSpPr/>
          <p:nvPr/>
        </p:nvSpPr>
        <p:spPr>
          <a:xfrm rot="5400000">
            <a:off x="5685373" y="121692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0" name="Google Shape;760;h790ff578c93ec937_0_212"/>
          <p:cNvSpPr/>
          <p:nvPr/>
        </p:nvSpPr>
        <p:spPr>
          <a:xfrm rot="5400000">
            <a:off x="5211890" y="121692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1" name="Google Shape;761;h790ff578c93ec937_0_212"/>
          <p:cNvSpPr/>
          <p:nvPr/>
        </p:nvSpPr>
        <p:spPr>
          <a:xfrm rot="5400000">
            <a:off x="5459540" y="1216100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2" name="Google Shape;762;h790ff578c93ec937_0_212"/>
          <p:cNvSpPr txBox="1"/>
          <p:nvPr>
            <p:ph type="title"/>
          </p:nvPr>
        </p:nvSpPr>
        <p:spPr>
          <a:xfrm>
            <a:off x="311700" y="8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h36f98b04b4fc2dcc_0_234"/>
          <p:cNvSpPr txBox="1"/>
          <p:nvPr/>
        </p:nvSpPr>
        <p:spPr>
          <a:xfrm>
            <a:off x="801832" y="3330579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8" name="Google Shape;768;h36f98b04b4fc2dcc_0_234"/>
          <p:cNvSpPr/>
          <p:nvPr/>
        </p:nvSpPr>
        <p:spPr>
          <a:xfrm>
            <a:off x="755400" y="1802265"/>
            <a:ext cx="609300" cy="1335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9" name="Google Shape;769;h36f98b04b4fc2dcc_0_234"/>
          <p:cNvSpPr/>
          <p:nvPr/>
        </p:nvSpPr>
        <p:spPr>
          <a:xfrm>
            <a:off x="803534" y="185001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0" name="Google Shape;770;h36f98b04b4fc2dcc_0_234"/>
          <p:cNvSpPr/>
          <p:nvPr/>
        </p:nvSpPr>
        <p:spPr>
          <a:xfrm>
            <a:off x="1052824" y="185001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1" name="Google Shape;771;h36f98b04b4fc2dcc_0_234"/>
          <p:cNvSpPr/>
          <p:nvPr/>
        </p:nvSpPr>
        <p:spPr>
          <a:xfrm>
            <a:off x="803534" y="209930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2" name="Google Shape;772;h36f98b04b4fc2dcc_0_234"/>
          <p:cNvSpPr/>
          <p:nvPr/>
        </p:nvSpPr>
        <p:spPr>
          <a:xfrm>
            <a:off x="1052824" y="209930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3" name="Google Shape;773;h36f98b04b4fc2dcc_0_234"/>
          <p:cNvSpPr/>
          <p:nvPr/>
        </p:nvSpPr>
        <p:spPr>
          <a:xfrm>
            <a:off x="803534" y="234859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4" name="Google Shape;774;h36f98b04b4fc2dcc_0_234"/>
          <p:cNvSpPr/>
          <p:nvPr/>
        </p:nvSpPr>
        <p:spPr>
          <a:xfrm>
            <a:off x="1052824" y="234859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5" name="Google Shape;775;h36f98b04b4fc2dcc_0_234"/>
          <p:cNvSpPr/>
          <p:nvPr/>
        </p:nvSpPr>
        <p:spPr>
          <a:xfrm>
            <a:off x="803534" y="282207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6" name="Google Shape;776;h36f98b04b4fc2dcc_0_234"/>
          <p:cNvSpPr/>
          <p:nvPr/>
        </p:nvSpPr>
        <p:spPr>
          <a:xfrm>
            <a:off x="1052824" y="282207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7" name="Google Shape;777;h36f98b04b4fc2dcc_0_234"/>
          <p:cNvSpPr/>
          <p:nvPr/>
        </p:nvSpPr>
        <p:spPr>
          <a:xfrm flipH="1">
            <a:off x="571935" y="1802265"/>
            <a:ext cx="119400" cy="13980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8" name="Google Shape;778;h36f98b04b4fc2dcc_0_234"/>
          <p:cNvSpPr txBox="1"/>
          <p:nvPr/>
        </p:nvSpPr>
        <p:spPr>
          <a:xfrm>
            <a:off x="216013" y="2309442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5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9" name="Google Shape;779;h36f98b04b4fc2dcc_0_234"/>
          <p:cNvSpPr/>
          <p:nvPr/>
        </p:nvSpPr>
        <p:spPr>
          <a:xfrm flipH="1" rot="5400000">
            <a:off x="943425" y="3012215"/>
            <a:ext cx="165000" cy="541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0" name="Google Shape;780;h36f98b04b4fc2dcc_0_234"/>
          <p:cNvSpPr/>
          <p:nvPr/>
        </p:nvSpPr>
        <p:spPr>
          <a:xfrm>
            <a:off x="802709" y="257442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1" name="Google Shape;781;h36f98b04b4fc2dcc_0_234"/>
          <p:cNvSpPr/>
          <p:nvPr/>
        </p:nvSpPr>
        <p:spPr>
          <a:xfrm>
            <a:off x="1051999" y="257442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2" name="Google Shape;782;h36f98b04b4fc2dcc_0_234"/>
          <p:cNvSpPr/>
          <p:nvPr/>
        </p:nvSpPr>
        <p:spPr>
          <a:xfrm flipH="1">
            <a:off x="1779450" y="2024603"/>
            <a:ext cx="178200" cy="847800"/>
          </a:xfrm>
          <a:prstGeom prst="rightBrace">
            <a:avLst>
              <a:gd fmla="val 50000" name="adj1"/>
              <a:gd fmla="val 49728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3" name="Google Shape;783;h36f98b04b4fc2dcc_0_234"/>
          <p:cNvSpPr txBox="1"/>
          <p:nvPr/>
        </p:nvSpPr>
        <p:spPr>
          <a:xfrm>
            <a:off x="1455875" y="2290823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4" name="Google Shape;784;h36f98b04b4fc2dcc_0_234"/>
          <p:cNvSpPr/>
          <p:nvPr/>
        </p:nvSpPr>
        <p:spPr>
          <a:xfrm flipH="1" rot="5400000">
            <a:off x="2459100" y="2500028"/>
            <a:ext cx="165000" cy="1003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5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50" lIns="74850" spcFirstLastPara="1" rIns="74850" wrap="square" tIns="7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5" name="Google Shape;785;h36f98b04b4fc2dcc_0_234"/>
          <p:cNvSpPr/>
          <p:nvPr/>
        </p:nvSpPr>
        <p:spPr>
          <a:xfrm rot="5400000">
            <a:off x="2123350" y="1896603"/>
            <a:ext cx="847800" cy="1104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6" name="Google Shape;786;h36f98b04b4fc2dcc_0_234"/>
          <p:cNvSpPr/>
          <p:nvPr/>
        </p:nvSpPr>
        <p:spPr>
          <a:xfrm rot="5400000">
            <a:off x="2784012" y="232998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7" name="Google Shape;787;h36f98b04b4fc2dcc_0_234"/>
          <p:cNvSpPr/>
          <p:nvPr/>
        </p:nvSpPr>
        <p:spPr>
          <a:xfrm rot="5400000">
            <a:off x="2784012" y="257927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8" name="Google Shape;788;h36f98b04b4fc2dcc_0_234"/>
          <p:cNvSpPr/>
          <p:nvPr/>
        </p:nvSpPr>
        <p:spPr>
          <a:xfrm rot="5400000">
            <a:off x="2534723" y="232998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9" name="Google Shape;789;h36f98b04b4fc2dcc_0_234"/>
          <p:cNvSpPr/>
          <p:nvPr/>
        </p:nvSpPr>
        <p:spPr>
          <a:xfrm rot="5400000">
            <a:off x="2534723" y="257927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0" name="Google Shape;790;h36f98b04b4fc2dcc_0_234"/>
          <p:cNvSpPr/>
          <p:nvPr/>
        </p:nvSpPr>
        <p:spPr>
          <a:xfrm rot="5400000">
            <a:off x="2061240" y="232998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1" name="Google Shape;791;h36f98b04b4fc2dcc_0_234"/>
          <p:cNvSpPr/>
          <p:nvPr/>
        </p:nvSpPr>
        <p:spPr>
          <a:xfrm rot="5400000">
            <a:off x="2061240" y="257927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2" name="Google Shape;792;h36f98b04b4fc2dcc_0_234"/>
          <p:cNvSpPr/>
          <p:nvPr/>
        </p:nvSpPr>
        <p:spPr>
          <a:xfrm rot="5400000">
            <a:off x="2308890" y="2329162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3" name="Google Shape;793;h36f98b04b4fc2dcc_0_234"/>
          <p:cNvSpPr/>
          <p:nvPr/>
        </p:nvSpPr>
        <p:spPr>
          <a:xfrm rot="5400000">
            <a:off x="2308890" y="2578452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4" name="Google Shape;794;h36f98b04b4fc2dcc_0_234"/>
          <p:cNvSpPr txBox="1"/>
          <p:nvPr/>
        </p:nvSpPr>
        <p:spPr>
          <a:xfrm>
            <a:off x="2323157" y="3090229"/>
            <a:ext cx="4482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850" lIns="74850" spcFirstLastPara="1" rIns="74850" wrap="square" tIns="74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6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4</a:t>
            </a:r>
            <a:endParaRPr sz="1146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5" name="Google Shape;795;h36f98b04b4fc2dcc_0_234"/>
          <p:cNvSpPr/>
          <p:nvPr/>
        </p:nvSpPr>
        <p:spPr>
          <a:xfrm rot="5400000">
            <a:off x="2783987" y="2079037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6" name="Google Shape;796;h36f98b04b4fc2dcc_0_234"/>
          <p:cNvSpPr/>
          <p:nvPr/>
        </p:nvSpPr>
        <p:spPr>
          <a:xfrm rot="5400000">
            <a:off x="2534698" y="2079037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7" name="Google Shape;797;h36f98b04b4fc2dcc_0_234"/>
          <p:cNvSpPr/>
          <p:nvPr/>
        </p:nvSpPr>
        <p:spPr>
          <a:xfrm rot="5400000">
            <a:off x="2061215" y="2079037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8" name="Google Shape;798;h36f98b04b4fc2dcc_0_234"/>
          <p:cNvSpPr/>
          <p:nvPr/>
        </p:nvSpPr>
        <p:spPr>
          <a:xfrm rot="5400000">
            <a:off x="2308865" y="2078212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9" name="Google Shape;799;h36f98b04b4fc2dcc_0_234"/>
          <p:cNvSpPr txBox="1"/>
          <p:nvPr>
            <p:ph type="title"/>
          </p:nvPr>
        </p:nvSpPr>
        <p:spPr>
          <a:xfrm>
            <a:off x="311700" y="8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1.1</a:t>
            </a:r>
            <a:endParaRPr/>
          </a:p>
        </p:txBody>
      </p:sp>
      <p:sp>
        <p:nvSpPr>
          <p:cNvPr id="800" name="Google Shape;800;h36f98b04b4fc2dcc_0_234"/>
          <p:cNvSpPr/>
          <p:nvPr/>
        </p:nvSpPr>
        <p:spPr>
          <a:xfrm>
            <a:off x="3729788" y="1802265"/>
            <a:ext cx="609300" cy="1335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1" name="Google Shape;801;h36f98b04b4fc2dcc_0_234"/>
          <p:cNvSpPr/>
          <p:nvPr/>
        </p:nvSpPr>
        <p:spPr>
          <a:xfrm>
            <a:off x="3777922" y="185001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2" name="Google Shape;802;h36f98b04b4fc2dcc_0_234"/>
          <p:cNvSpPr/>
          <p:nvPr/>
        </p:nvSpPr>
        <p:spPr>
          <a:xfrm>
            <a:off x="4027212" y="1850015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3" name="Google Shape;803;h36f98b04b4fc2dcc_0_234"/>
          <p:cNvSpPr/>
          <p:nvPr/>
        </p:nvSpPr>
        <p:spPr>
          <a:xfrm>
            <a:off x="3777922" y="209930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4" name="Google Shape;804;h36f98b04b4fc2dcc_0_234"/>
          <p:cNvSpPr/>
          <p:nvPr/>
        </p:nvSpPr>
        <p:spPr>
          <a:xfrm>
            <a:off x="4027212" y="2099304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5" name="Google Shape;805;h36f98b04b4fc2dcc_0_234"/>
          <p:cNvSpPr/>
          <p:nvPr/>
        </p:nvSpPr>
        <p:spPr>
          <a:xfrm>
            <a:off x="3777922" y="234859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6" name="Google Shape;806;h36f98b04b4fc2dcc_0_234"/>
          <p:cNvSpPr/>
          <p:nvPr/>
        </p:nvSpPr>
        <p:spPr>
          <a:xfrm>
            <a:off x="4027212" y="2348593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7" name="Google Shape;807;h36f98b04b4fc2dcc_0_234"/>
          <p:cNvSpPr/>
          <p:nvPr/>
        </p:nvSpPr>
        <p:spPr>
          <a:xfrm>
            <a:off x="3777922" y="282207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8" name="Google Shape;808;h36f98b04b4fc2dcc_0_234"/>
          <p:cNvSpPr/>
          <p:nvPr/>
        </p:nvSpPr>
        <p:spPr>
          <a:xfrm>
            <a:off x="4027212" y="282207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9" name="Google Shape;809;h36f98b04b4fc2dcc_0_234"/>
          <p:cNvSpPr/>
          <p:nvPr/>
        </p:nvSpPr>
        <p:spPr>
          <a:xfrm>
            <a:off x="3777097" y="257442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0" name="Google Shape;810;h36f98b04b4fc2dcc_0_234"/>
          <p:cNvSpPr/>
          <p:nvPr/>
        </p:nvSpPr>
        <p:spPr>
          <a:xfrm>
            <a:off x="4026387" y="257442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1" name="Google Shape;811;h36f98b04b4fc2dcc_0_234"/>
          <p:cNvSpPr/>
          <p:nvPr/>
        </p:nvSpPr>
        <p:spPr>
          <a:xfrm rot="10800000">
            <a:off x="4516150" y="1917765"/>
            <a:ext cx="847800" cy="1104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2" name="Google Shape;812;h36f98b04b4fc2dcc_0_234"/>
          <p:cNvSpPr/>
          <p:nvPr/>
        </p:nvSpPr>
        <p:spPr>
          <a:xfrm rot="10800000">
            <a:off x="4809366" y="270652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3" name="Google Shape;813;h36f98b04b4fc2dcc_0_234"/>
          <p:cNvSpPr/>
          <p:nvPr/>
        </p:nvSpPr>
        <p:spPr>
          <a:xfrm rot="10800000">
            <a:off x="4560076" y="270652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4" name="Google Shape;814;h36f98b04b4fc2dcc_0_234"/>
          <p:cNvSpPr/>
          <p:nvPr/>
        </p:nvSpPr>
        <p:spPr>
          <a:xfrm rot="10800000">
            <a:off x="4809366" y="245723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5" name="Google Shape;815;h36f98b04b4fc2dcc_0_234"/>
          <p:cNvSpPr/>
          <p:nvPr/>
        </p:nvSpPr>
        <p:spPr>
          <a:xfrm rot="10800000">
            <a:off x="4560076" y="245723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6" name="Google Shape;816;h36f98b04b4fc2dcc_0_234"/>
          <p:cNvSpPr/>
          <p:nvPr/>
        </p:nvSpPr>
        <p:spPr>
          <a:xfrm rot="10800000">
            <a:off x="4809366" y="198375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7" name="Google Shape;817;h36f98b04b4fc2dcc_0_234"/>
          <p:cNvSpPr/>
          <p:nvPr/>
        </p:nvSpPr>
        <p:spPr>
          <a:xfrm rot="10800000">
            <a:off x="4560076" y="198375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8" name="Google Shape;818;h36f98b04b4fc2dcc_0_234"/>
          <p:cNvSpPr/>
          <p:nvPr/>
        </p:nvSpPr>
        <p:spPr>
          <a:xfrm rot="10800000">
            <a:off x="4810191" y="223140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9" name="Google Shape;819;h36f98b04b4fc2dcc_0_234"/>
          <p:cNvSpPr/>
          <p:nvPr/>
        </p:nvSpPr>
        <p:spPr>
          <a:xfrm rot="10800000">
            <a:off x="4560901" y="223140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0" name="Google Shape;820;h36f98b04b4fc2dcc_0_234"/>
          <p:cNvSpPr/>
          <p:nvPr/>
        </p:nvSpPr>
        <p:spPr>
          <a:xfrm rot="10800000">
            <a:off x="5060316" y="2706502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1" name="Google Shape;821;h36f98b04b4fc2dcc_0_234"/>
          <p:cNvSpPr/>
          <p:nvPr/>
        </p:nvSpPr>
        <p:spPr>
          <a:xfrm rot="10800000">
            <a:off x="5060316" y="2457213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2" name="Google Shape;822;h36f98b04b4fc2dcc_0_234"/>
          <p:cNvSpPr/>
          <p:nvPr/>
        </p:nvSpPr>
        <p:spPr>
          <a:xfrm rot="10800000">
            <a:off x="5060316" y="1983730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3" name="Google Shape;823;h36f98b04b4fc2dcc_0_234"/>
          <p:cNvSpPr/>
          <p:nvPr/>
        </p:nvSpPr>
        <p:spPr>
          <a:xfrm rot="10800000">
            <a:off x="5061141" y="2231381"/>
            <a:ext cx="249300" cy="249300"/>
          </a:xfrm>
          <a:prstGeom prst="rect">
            <a:avLst/>
          </a:prstGeom>
          <a:solidFill>
            <a:srgbClr val="CBB7B7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4" name="Google Shape;824;h36f98b04b4fc2dcc_0_234"/>
          <p:cNvSpPr/>
          <p:nvPr/>
        </p:nvSpPr>
        <p:spPr>
          <a:xfrm>
            <a:off x="4669300" y="1426238"/>
            <a:ext cx="541500" cy="4050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5" name="Google Shape;825;h36f98b04b4fc2dcc_0_234"/>
          <p:cNvSpPr/>
          <p:nvPr/>
        </p:nvSpPr>
        <p:spPr>
          <a:xfrm>
            <a:off x="6503025" y="1923788"/>
            <a:ext cx="609300" cy="1104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6" name="Google Shape;826;h36f98b04b4fc2dcc_0_234"/>
          <p:cNvSpPr/>
          <p:nvPr/>
        </p:nvSpPr>
        <p:spPr>
          <a:xfrm>
            <a:off x="6551147" y="1989829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7" name="Google Shape;827;h36f98b04b4fc2dcc_0_234"/>
          <p:cNvSpPr/>
          <p:nvPr/>
        </p:nvSpPr>
        <p:spPr>
          <a:xfrm>
            <a:off x="6800437" y="1989829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8" name="Google Shape;828;h36f98b04b4fc2dcc_0_234"/>
          <p:cNvSpPr/>
          <p:nvPr/>
        </p:nvSpPr>
        <p:spPr>
          <a:xfrm>
            <a:off x="6551147" y="223911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9" name="Google Shape;829;h36f98b04b4fc2dcc_0_234"/>
          <p:cNvSpPr/>
          <p:nvPr/>
        </p:nvSpPr>
        <p:spPr>
          <a:xfrm>
            <a:off x="6800437" y="223911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0" name="Google Shape;830;h36f98b04b4fc2dcc_0_234"/>
          <p:cNvSpPr/>
          <p:nvPr/>
        </p:nvSpPr>
        <p:spPr>
          <a:xfrm>
            <a:off x="6551147" y="2712601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1" name="Google Shape;831;h36f98b04b4fc2dcc_0_234"/>
          <p:cNvSpPr/>
          <p:nvPr/>
        </p:nvSpPr>
        <p:spPr>
          <a:xfrm>
            <a:off x="6800437" y="2712601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2" name="Google Shape;832;h36f98b04b4fc2dcc_0_234"/>
          <p:cNvSpPr/>
          <p:nvPr/>
        </p:nvSpPr>
        <p:spPr>
          <a:xfrm>
            <a:off x="6550322" y="246495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3" name="Google Shape;833;h36f98b04b4fc2dcc_0_234"/>
          <p:cNvSpPr/>
          <p:nvPr/>
        </p:nvSpPr>
        <p:spPr>
          <a:xfrm>
            <a:off x="6799612" y="2464950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4" name="Google Shape;834;h36f98b04b4fc2dcc_0_234"/>
          <p:cNvSpPr/>
          <p:nvPr/>
        </p:nvSpPr>
        <p:spPr>
          <a:xfrm rot="10800000">
            <a:off x="7290700" y="1918713"/>
            <a:ext cx="621300" cy="11040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5" name="Google Shape;835;h36f98b04b4fc2dcc_0_234"/>
          <p:cNvSpPr/>
          <p:nvPr/>
        </p:nvSpPr>
        <p:spPr>
          <a:xfrm rot="10800000">
            <a:off x="7584016" y="270747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6" name="Google Shape;836;h36f98b04b4fc2dcc_0_234"/>
          <p:cNvSpPr/>
          <p:nvPr/>
        </p:nvSpPr>
        <p:spPr>
          <a:xfrm rot="10800000">
            <a:off x="7334726" y="2707477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h36f98b04b4fc2dcc_0_234"/>
          <p:cNvSpPr/>
          <p:nvPr/>
        </p:nvSpPr>
        <p:spPr>
          <a:xfrm rot="10800000">
            <a:off x="7584016" y="245818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h36f98b04b4fc2dcc_0_234"/>
          <p:cNvSpPr/>
          <p:nvPr/>
        </p:nvSpPr>
        <p:spPr>
          <a:xfrm rot="10800000">
            <a:off x="7334726" y="2458188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9" name="Google Shape;839;h36f98b04b4fc2dcc_0_234"/>
          <p:cNvSpPr/>
          <p:nvPr/>
        </p:nvSpPr>
        <p:spPr>
          <a:xfrm rot="10800000">
            <a:off x="7584016" y="198470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0" name="Google Shape;840;h36f98b04b4fc2dcc_0_234"/>
          <p:cNvSpPr/>
          <p:nvPr/>
        </p:nvSpPr>
        <p:spPr>
          <a:xfrm rot="10800000">
            <a:off x="7334726" y="1984705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1" name="Google Shape;841;h36f98b04b4fc2dcc_0_234"/>
          <p:cNvSpPr/>
          <p:nvPr/>
        </p:nvSpPr>
        <p:spPr>
          <a:xfrm rot="10800000">
            <a:off x="7584841" y="223235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2" name="Google Shape;842;h36f98b04b4fc2dcc_0_234"/>
          <p:cNvSpPr/>
          <p:nvPr/>
        </p:nvSpPr>
        <p:spPr>
          <a:xfrm rot="10800000">
            <a:off x="7335551" y="2232356"/>
            <a:ext cx="249300" cy="249300"/>
          </a:xfrm>
          <a:prstGeom prst="rect">
            <a:avLst/>
          </a:prstGeom>
          <a:solidFill>
            <a:schemeClr val="lt2"/>
          </a:solidFill>
          <a:ln cap="flat" cmpd="sng" w="137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050" lIns="66050" spcFirstLastPara="1" rIns="66050" wrap="square" tIns="6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3" name="Google Shape;843;h36f98b04b4fc2dcc_0_234"/>
          <p:cNvSpPr txBox="1"/>
          <p:nvPr/>
        </p:nvSpPr>
        <p:spPr>
          <a:xfrm>
            <a:off x="5899425" y="1326425"/>
            <a:ext cx="254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Embedding</a:t>
            </a:r>
            <a:endParaRPr sz="30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h36f98b04b4fc2dcc_0_3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1.2</a:t>
            </a:r>
            <a:endParaRPr/>
          </a:p>
        </p:txBody>
      </p:sp>
      <p:sp>
        <p:nvSpPr>
          <p:cNvPr id="849" name="Google Shape;849;h36f98b04b4fc2dcc_0_394"/>
          <p:cNvSpPr txBox="1"/>
          <p:nvPr>
            <p:ph idx="1" type="body"/>
          </p:nvPr>
        </p:nvSpPr>
        <p:spPr>
          <a:xfrm>
            <a:off x="311700" y="1152475"/>
            <a:ext cx="8520600" cy="3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Manually set the weights between the layers to achieve the desired result.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_____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Defina manualmente os pesos entre as camadas para obter o resultado desejado.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h36f98b04b4fc2dcc_0_3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Cardinal Directions </a:t>
            </a:r>
            <a:r>
              <a:rPr lang="pt-BR" sz="2400"/>
              <a:t>Embeddings</a:t>
            </a:r>
            <a:endParaRPr sz="2400"/>
          </a:p>
        </p:txBody>
      </p:sp>
      <p:sp>
        <p:nvSpPr>
          <p:cNvPr id="855" name="Google Shape;855;h36f98b04b4fc2dcc_0_3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l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https://santanche.github.io/nlp2learn/machine-learning/neural-network/feedforward/</a:t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856" name="Google Shape;856;h36f98b04b4fc2dcc_0_3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5550" y="830800"/>
            <a:ext cx="4328975" cy="348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he44d9eb361d8323_0_190"/>
          <p:cNvSpPr/>
          <p:nvPr/>
        </p:nvSpPr>
        <p:spPr>
          <a:xfrm>
            <a:off x="6801649" y="1208975"/>
            <a:ext cx="756300" cy="766200"/>
          </a:xfrm>
          <a:prstGeom prst="ellipse">
            <a:avLst/>
          </a:prstGeom>
          <a:solidFill>
            <a:srgbClr val="FFFFFF"/>
          </a:solidFill>
          <a:ln cap="flat" cmpd="sng" w="29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b="0" i="0" lang="pt-BR" sz="109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0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he44d9eb361d8323_0_190"/>
          <p:cNvSpPr/>
          <p:nvPr/>
        </p:nvSpPr>
        <p:spPr>
          <a:xfrm>
            <a:off x="6277664" y="1795055"/>
            <a:ext cx="1047900" cy="363600"/>
          </a:xfrm>
          <a:prstGeom prst="roundRect">
            <a:avLst>
              <a:gd fmla="val 26225" name="adj"/>
            </a:avLst>
          </a:prstGeom>
          <a:solidFill>
            <a:srgbClr val="FFFFFF"/>
          </a:solidFill>
          <a:ln cap="flat" cmpd="sng" w="22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lang="pt-BR" sz="1093"/>
              <a:t>Classification Function</a:t>
            </a:r>
            <a:endParaRPr b="0" i="0" sz="10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he44d9eb361d8323_0_190"/>
          <p:cNvSpPr/>
          <p:nvPr/>
        </p:nvSpPr>
        <p:spPr>
          <a:xfrm>
            <a:off x="6257047" y="3570935"/>
            <a:ext cx="1047900" cy="363600"/>
          </a:xfrm>
          <a:prstGeom prst="roundRect">
            <a:avLst>
              <a:gd fmla="val 26225" name="adj"/>
            </a:avLst>
          </a:prstGeom>
          <a:solidFill>
            <a:srgbClr val="FFFFFF"/>
          </a:solidFill>
          <a:ln cap="flat" cmpd="sng" w="22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lang="pt-BR" sz="1093"/>
              <a:t>Objective Function</a:t>
            </a:r>
            <a:endParaRPr b="0" i="0" sz="10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he44d9eb361d8323_0_190"/>
          <p:cNvCxnSpPr>
            <a:stCxn id="862" idx="2"/>
            <a:endCxn id="863" idx="0"/>
          </p:cNvCxnSpPr>
          <p:nvPr/>
        </p:nvCxnSpPr>
        <p:spPr>
          <a:xfrm flipH="1">
            <a:off x="6780914" y="2158655"/>
            <a:ext cx="20700" cy="1412400"/>
          </a:xfrm>
          <a:prstGeom prst="straightConnector1">
            <a:avLst/>
          </a:prstGeom>
          <a:noFill/>
          <a:ln cap="flat" cmpd="sng" w="297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5" name="Google Shape;865;he44d9eb361d8323_0_190"/>
          <p:cNvSpPr/>
          <p:nvPr/>
        </p:nvSpPr>
        <p:spPr>
          <a:xfrm>
            <a:off x="7860794" y="2513392"/>
            <a:ext cx="1047900" cy="363600"/>
          </a:xfrm>
          <a:prstGeom prst="roundRect">
            <a:avLst>
              <a:gd fmla="val 26225" name="adj"/>
            </a:avLst>
          </a:prstGeom>
          <a:solidFill>
            <a:srgbClr val="FFFFFF"/>
          </a:solidFill>
          <a:ln cap="flat" cmpd="sng" w="22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lang="pt-BR" sz="1093"/>
              <a:t>Optimization</a:t>
            </a:r>
            <a:endParaRPr sz="1093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lang="pt-BR" sz="1093"/>
              <a:t>Algorithm</a:t>
            </a:r>
            <a:endParaRPr sz="1093"/>
          </a:p>
        </p:txBody>
      </p:sp>
      <p:cxnSp>
        <p:nvCxnSpPr>
          <p:cNvPr id="866" name="Google Shape;866;he44d9eb361d8323_0_190"/>
          <p:cNvCxnSpPr>
            <a:stCxn id="863" idx="3"/>
            <a:endCxn id="865" idx="2"/>
          </p:cNvCxnSpPr>
          <p:nvPr/>
        </p:nvCxnSpPr>
        <p:spPr>
          <a:xfrm flipH="1" rot="10800000">
            <a:off x="7304947" y="2877035"/>
            <a:ext cx="1079700" cy="875700"/>
          </a:xfrm>
          <a:prstGeom prst="straightConnector1">
            <a:avLst/>
          </a:prstGeom>
          <a:noFill/>
          <a:ln cap="flat" cmpd="sng" w="297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7" name="Google Shape;867;he44d9eb361d8323_0_190"/>
          <p:cNvCxnSpPr>
            <a:stCxn id="865" idx="0"/>
            <a:endCxn id="862" idx="3"/>
          </p:cNvCxnSpPr>
          <p:nvPr/>
        </p:nvCxnSpPr>
        <p:spPr>
          <a:xfrm rot="10800000">
            <a:off x="7325444" y="1976992"/>
            <a:ext cx="1059300" cy="536400"/>
          </a:xfrm>
          <a:prstGeom prst="straightConnector1">
            <a:avLst/>
          </a:prstGeom>
          <a:noFill/>
          <a:ln cap="flat" cmpd="sng" w="297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he44d9eb361d8323_0_190"/>
          <p:cNvSpPr/>
          <p:nvPr/>
        </p:nvSpPr>
        <p:spPr>
          <a:xfrm>
            <a:off x="4572000" y="2544973"/>
            <a:ext cx="1185000" cy="363600"/>
          </a:xfrm>
          <a:prstGeom prst="roundRect">
            <a:avLst>
              <a:gd fmla="val 40544" name="adj"/>
            </a:avLst>
          </a:prstGeom>
          <a:solidFill>
            <a:srgbClr val="FFFFFF"/>
          </a:solidFill>
          <a:ln cap="flat" cmpd="sng" w="29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3"/>
              <a:buFont typeface="Arial"/>
              <a:buNone/>
            </a:pPr>
            <a:r>
              <a:rPr lang="pt-BR" sz="1093"/>
              <a:t>Feature Representation</a:t>
            </a:r>
            <a:endParaRPr b="0" i="0" sz="10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he44d9eb361d8323_0_190"/>
          <p:cNvCxnSpPr>
            <a:stCxn id="868" idx="3"/>
            <a:endCxn id="862" idx="1"/>
          </p:cNvCxnSpPr>
          <p:nvPr/>
        </p:nvCxnSpPr>
        <p:spPr>
          <a:xfrm flipH="1" rot="10800000">
            <a:off x="5757000" y="1976773"/>
            <a:ext cx="520800" cy="750000"/>
          </a:xfrm>
          <a:prstGeom prst="straightConnector1">
            <a:avLst/>
          </a:prstGeom>
          <a:noFill/>
          <a:ln cap="flat" cmpd="sng" w="2977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870" name="Google Shape;870;he44d9eb361d8323_0_190"/>
          <p:cNvCxnSpPr>
            <a:stCxn id="868" idx="3"/>
            <a:endCxn id="863" idx="1"/>
          </p:cNvCxnSpPr>
          <p:nvPr/>
        </p:nvCxnSpPr>
        <p:spPr>
          <a:xfrm>
            <a:off x="5757000" y="2726773"/>
            <a:ext cx="500100" cy="1026000"/>
          </a:xfrm>
          <a:prstGeom prst="straightConnector1">
            <a:avLst/>
          </a:prstGeom>
          <a:noFill/>
          <a:ln cap="flat" cmpd="sng" w="29775">
            <a:solidFill>
              <a:schemeClr val="dk2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871" name="Google Shape;871;he44d9eb361d8323_0_190"/>
          <p:cNvSpPr txBox="1"/>
          <p:nvPr>
            <p:ph type="title"/>
          </p:nvPr>
        </p:nvSpPr>
        <p:spPr>
          <a:xfrm>
            <a:off x="265500" y="2025900"/>
            <a:ext cx="4045200" cy="109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Summary</a:t>
            </a:r>
            <a:endParaRPr/>
          </a:p>
        </p:txBody>
      </p:sp>
      <p:sp>
        <p:nvSpPr>
          <p:cNvPr id="872" name="Google Shape;872;he44d9eb361d8323_0_190"/>
          <p:cNvSpPr/>
          <p:nvPr/>
        </p:nvSpPr>
        <p:spPr>
          <a:xfrm flipH="1" rot="6969533">
            <a:off x="7028341" y="2596662"/>
            <a:ext cx="605632" cy="536402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3" name="Google Shape;873;he44d9eb361d8323_0_190"/>
          <p:cNvSpPr txBox="1"/>
          <p:nvPr/>
        </p:nvSpPr>
        <p:spPr>
          <a:xfrm>
            <a:off x="6780925" y="2172675"/>
            <a:ext cx="124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epoch</a:t>
            </a:r>
            <a:endParaRPr sz="24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he44d9eb361d8323_0_2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Tanh Activation Function</a:t>
            </a:r>
            <a:endParaRPr/>
          </a:p>
        </p:txBody>
      </p:sp>
      <p:pic>
        <p:nvPicPr>
          <p:cNvPr id="879" name="Google Shape;879;he44d9eb361d8323_0_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300" y="1149100"/>
            <a:ext cx="364539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he44d9eb361d8323_0_183"/>
          <p:cNvSpPr txBox="1"/>
          <p:nvPr>
            <p:ph type="title"/>
          </p:nvPr>
        </p:nvSpPr>
        <p:spPr>
          <a:xfrm>
            <a:off x="311700" y="445025"/>
            <a:ext cx="321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Epoch x Loss</a:t>
            </a:r>
            <a:endParaRPr/>
          </a:p>
        </p:txBody>
      </p:sp>
      <p:pic>
        <p:nvPicPr>
          <p:cNvPr id="885" name="Google Shape;885;he44d9eb361d8323_0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225" y="201375"/>
            <a:ext cx="5256025" cy="4740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he44d9eb361d8323_0_183"/>
          <p:cNvSpPr txBox="1"/>
          <p:nvPr/>
        </p:nvSpPr>
        <p:spPr>
          <a:xfrm>
            <a:off x="123725" y="4371650"/>
            <a:ext cx="367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CS231n: Deep Learning for Computer Vision</a:t>
            </a:r>
            <a:endParaRPr sz="12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4"/>
              </a:rPr>
              <a:t>https://cs231n.github.io/neural-networks-3/</a:t>
            </a:r>
            <a:endParaRPr sz="12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h36f98b04b4fc2dcc_0_3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1.3</a:t>
            </a:r>
            <a:endParaRPr/>
          </a:p>
        </p:txBody>
      </p:sp>
      <p:sp>
        <p:nvSpPr>
          <p:cNvPr id="892" name="Google Shape;892;h36f98b04b4fc2dcc_0_399"/>
          <p:cNvSpPr txBox="1"/>
          <p:nvPr>
            <p:ph idx="1" type="body"/>
          </p:nvPr>
        </p:nvSpPr>
        <p:spPr>
          <a:xfrm>
            <a:off x="311700" y="1152475"/>
            <a:ext cx="8520600" cy="3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Adapt the network to perform the following translation into a sequence of two symbols: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_____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Adapte a rede para realizar a seguinte tradução para uma sequência de dois símbolos:</a:t>
            </a:r>
            <a:endParaRPr sz="1200"/>
          </a:p>
        </p:txBody>
      </p:sp>
      <p:graphicFrame>
        <p:nvGraphicFramePr>
          <p:cNvPr id="893" name="Google Shape;893;h36f98b04b4fc2dcc_0_399"/>
          <p:cNvGraphicFramePr/>
          <p:nvPr/>
        </p:nvGraphicFramePr>
        <p:xfrm>
          <a:off x="3049350" y="207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{A137C963-6717-4167-975A-3A631CACA38F}</a:tableStyleId>
              </a:tblPr>
              <a:tblGrid>
                <a:gridCol w="1522650"/>
                <a:gridCol w="1522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</a:t>
                      </a: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orth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|^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</a:t>
                      </a: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outh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|v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</a:t>
                      </a: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ast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-&gt;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w</a:t>
                      </a:r>
                      <a:r>
                        <a:rPr lang="pt-BR" sz="1800">
                          <a:solidFill>
                            <a:srgbClr val="434343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est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>
                          <a:solidFill>
                            <a:srgbClr val="43434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&lt;-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h36f98b04b4fc2dcc_0_405"/>
          <p:cNvSpPr txBox="1"/>
          <p:nvPr>
            <p:ph idx="1" type="body"/>
          </p:nvPr>
        </p:nvSpPr>
        <p:spPr>
          <a:xfrm>
            <a:off x="311700" y="1152475"/>
            <a:ext cx="8520600" cy="3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Adapt the network to perform the following translation for the images: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_____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Adapte a rede para realizar a seguinte tradução para as imagens:</a:t>
            </a:r>
            <a:endParaRPr sz="1200"/>
          </a:p>
        </p:txBody>
      </p:sp>
      <p:pic>
        <p:nvPicPr>
          <p:cNvPr id="899" name="Google Shape;899;h36f98b04b4fc2dcc_0_4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6846" y="2622575"/>
            <a:ext cx="10572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h36f98b04b4fc2dcc_0_4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Subtask 1.4</a:t>
            </a:r>
            <a:endParaRPr/>
          </a:p>
        </p:txBody>
      </p:sp>
      <p:pic>
        <p:nvPicPr>
          <p:cNvPr id="901" name="Google Shape;901;h36f98b04b4fc2dcc_0_4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613" y="2622575"/>
            <a:ext cx="10382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h36f98b04b4fc2dcc_0_4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3967" y="2622575"/>
            <a:ext cx="10477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h36f98b04b4fc2dcc_0_4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9250" y="2622575"/>
            <a:ext cx="10668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h36f98b04b4fc2dcc_0_405"/>
          <p:cNvSpPr txBox="1"/>
          <p:nvPr/>
        </p:nvSpPr>
        <p:spPr>
          <a:xfrm>
            <a:off x="1553488" y="2160875"/>
            <a:ext cx="9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north</a:t>
            </a:r>
            <a:endParaRPr/>
          </a:p>
        </p:txBody>
      </p:sp>
      <p:sp>
        <p:nvSpPr>
          <p:cNvPr id="905" name="Google Shape;905;h36f98b04b4fc2dcc_0_405"/>
          <p:cNvSpPr txBox="1"/>
          <p:nvPr/>
        </p:nvSpPr>
        <p:spPr>
          <a:xfrm>
            <a:off x="3190163" y="2160875"/>
            <a:ext cx="9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south</a:t>
            </a:r>
            <a:endParaRPr/>
          </a:p>
        </p:txBody>
      </p:sp>
      <p:sp>
        <p:nvSpPr>
          <p:cNvPr id="906" name="Google Shape;906;h36f98b04b4fc2dcc_0_405"/>
          <p:cNvSpPr txBox="1"/>
          <p:nvPr/>
        </p:nvSpPr>
        <p:spPr>
          <a:xfrm>
            <a:off x="6556400" y="2160875"/>
            <a:ext cx="9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west</a:t>
            </a:r>
            <a:endParaRPr/>
          </a:p>
        </p:txBody>
      </p:sp>
      <p:sp>
        <p:nvSpPr>
          <p:cNvPr id="907" name="Google Shape;907;h36f98b04b4fc2dcc_0_405"/>
          <p:cNvSpPr txBox="1"/>
          <p:nvPr/>
        </p:nvSpPr>
        <p:spPr>
          <a:xfrm>
            <a:off x="4879238" y="2160875"/>
            <a:ext cx="9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east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h36f98b04b4fc2dcc_0_4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Word2Vec</a:t>
            </a:r>
            <a:endParaRPr/>
          </a:p>
        </p:txBody>
      </p:sp>
      <p:sp>
        <p:nvSpPr>
          <p:cNvPr id="913" name="Google Shape;913;h36f98b04b4fc2dcc_0_4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Two model architectures:</a:t>
            </a:r>
            <a:endParaRPr sz="29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pt-BR" sz="2300"/>
              <a:t>continuous bag-of-words (CBOW)</a:t>
            </a:r>
            <a:r>
              <a:rPr lang="pt-BR" sz="2300"/>
              <a:t>: predicts the current word from the window of surrounding context words. faster.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pt-BR" sz="2300"/>
              <a:t>continuous skip-gram</a:t>
            </a:r>
            <a:r>
              <a:rPr lang="pt-BR" sz="2300"/>
              <a:t>: uses the current word to predict the surrounding window of context words. weighs nearby context words more heavily than more distant context words. more precise.</a:t>
            </a:r>
            <a:endParaRPr sz="2300"/>
          </a:p>
        </p:txBody>
      </p:sp>
      <p:pic>
        <p:nvPicPr>
          <p:cNvPr id="914" name="Google Shape;914;h36f98b04b4fc2dcc_0_4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401" y="370588"/>
            <a:ext cx="9525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h36f98b04b4fc2dcc_0_5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Architectures</a:t>
            </a:r>
            <a:endParaRPr/>
          </a:p>
        </p:txBody>
      </p:sp>
      <p:pic>
        <p:nvPicPr>
          <p:cNvPr id="920" name="Google Shape;920;h36f98b04b4fc2dcc_0_5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513" y="1086025"/>
            <a:ext cx="5810976" cy="348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h36f98b04b4fc2dcc_0_510"/>
          <p:cNvSpPr txBox="1"/>
          <p:nvPr/>
        </p:nvSpPr>
        <p:spPr>
          <a:xfrm>
            <a:off x="6516925" y="4540850"/>
            <a:ext cx="242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(Mikolov et al., 2013)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h36f98b04b4fc2dcc_0_5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412"/>
              <a:buFont typeface="Calibri"/>
              <a:buNone/>
            </a:pPr>
            <a:r>
              <a:rPr lang="pt-BR"/>
              <a:t>Word2vec – Continuous Bag of Word</a:t>
            </a:r>
            <a:endParaRPr/>
          </a:p>
        </p:txBody>
      </p:sp>
      <p:sp>
        <p:nvSpPr>
          <p:cNvPr id="927" name="Google Shape;927;h36f98b04b4fc2dcc_0_518"/>
          <p:cNvSpPr txBox="1"/>
          <p:nvPr>
            <p:ph idx="1" type="body"/>
          </p:nvPr>
        </p:nvSpPr>
        <p:spPr>
          <a:xfrm>
            <a:off x="311700" y="1152475"/>
            <a:ext cx="85206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pt-BR"/>
              <a:t>E.g. “The cat sat on floor”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pt-BR"/>
              <a:t>Window size = 2</a:t>
            </a:r>
            <a:endParaRPr/>
          </a:p>
        </p:txBody>
      </p:sp>
      <p:pic>
        <p:nvPicPr>
          <p:cNvPr id="928" name="Google Shape;928;h36f98b04b4fc2dcc_0_5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438" y="2036576"/>
            <a:ext cx="2548933" cy="2971876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h36f98b04b4fc2dcc_0_518"/>
          <p:cNvSpPr txBox="1"/>
          <p:nvPr/>
        </p:nvSpPr>
        <p:spPr>
          <a:xfrm>
            <a:off x="1894415" y="2427893"/>
            <a:ext cx="496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50" lIns="107925" spcFirstLastPara="1" rIns="107925" wrap="square" tIns="5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4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endParaRPr sz="1653"/>
          </a:p>
        </p:txBody>
      </p:sp>
      <p:sp>
        <p:nvSpPr>
          <p:cNvPr id="930" name="Google Shape;930;h36f98b04b4fc2dcc_0_518"/>
          <p:cNvSpPr txBox="1"/>
          <p:nvPr/>
        </p:nvSpPr>
        <p:spPr>
          <a:xfrm>
            <a:off x="1894415" y="2990809"/>
            <a:ext cx="46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50" lIns="107925" spcFirstLastPara="1" rIns="107925" wrap="square" tIns="5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4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653"/>
          </a:p>
        </p:txBody>
      </p:sp>
      <p:sp>
        <p:nvSpPr>
          <p:cNvPr id="931" name="Google Shape;931;h36f98b04b4fc2dcc_0_518"/>
          <p:cNvSpPr txBox="1"/>
          <p:nvPr/>
        </p:nvSpPr>
        <p:spPr>
          <a:xfrm>
            <a:off x="1890875" y="4049333"/>
            <a:ext cx="433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50" lIns="107925" spcFirstLastPara="1" rIns="107925" wrap="square" tIns="5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4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endParaRPr sz="1653"/>
          </a:p>
        </p:txBody>
      </p:sp>
      <p:sp>
        <p:nvSpPr>
          <p:cNvPr id="932" name="Google Shape;932;h36f98b04b4fc2dcc_0_518"/>
          <p:cNvSpPr txBox="1"/>
          <p:nvPr/>
        </p:nvSpPr>
        <p:spPr>
          <a:xfrm>
            <a:off x="1894415" y="4565392"/>
            <a:ext cx="615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50" lIns="107925" spcFirstLastPara="1" rIns="107925" wrap="square" tIns="5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4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floor</a:t>
            </a:r>
            <a:endParaRPr sz="1653"/>
          </a:p>
        </p:txBody>
      </p:sp>
      <p:sp>
        <p:nvSpPr>
          <p:cNvPr id="933" name="Google Shape;933;h36f98b04b4fc2dcc_0_518"/>
          <p:cNvSpPr txBox="1"/>
          <p:nvPr/>
        </p:nvSpPr>
        <p:spPr>
          <a:xfrm>
            <a:off x="5418733" y="3447539"/>
            <a:ext cx="462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50" lIns="107925" spcFirstLastPara="1" rIns="107925" wrap="square" tIns="5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94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sat</a:t>
            </a:r>
            <a:endParaRPr sz="1653"/>
          </a:p>
        </p:txBody>
      </p:sp>
      <p:sp>
        <p:nvSpPr>
          <p:cNvPr id="934" name="Google Shape;934;h36f98b04b4fc2dcc_0_518"/>
          <p:cNvSpPr txBox="1"/>
          <p:nvPr/>
        </p:nvSpPr>
        <p:spPr>
          <a:xfrm>
            <a:off x="6981800" y="4511700"/>
            <a:ext cx="19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</a:t>
            </a: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Hristidis</a:t>
            </a: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, 2015)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oogle Shape;939;h36f98b04b4fc2dcc_0_672"/>
          <p:cNvGrpSpPr/>
          <p:nvPr/>
        </p:nvGrpSpPr>
        <p:grpSpPr>
          <a:xfrm>
            <a:off x="1190435" y="246700"/>
            <a:ext cx="6763130" cy="4650101"/>
            <a:chOff x="1190442" y="671206"/>
            <a:chExt cx="6763130" cy="4650101"/>
          </a:xfrm>
        </p:grpSpPr>
        <p:grpSp>
          <p:nvGrpSpPr>
            <p:cNvPr id="940" name="Google Shape;940;h36f98b04b4fc2dcc_0_672"/>
            <p:cNvGrpSpPr/>
            <p:nvPr/>
          </p:nvGrpSpPr>
          <p:grpSpPr>
            <a:xfrm>
              <a:off x="1829927" y="1354930"/>
              <a:ext cx="205875" cy="1783197"/>
              <a:chOff x="1800225" y="419100"/>
              <a:chExt cx="183000" cy="1828920"/>
            </a:xfrm>
          </p:grpSpPr>
          <p:sp>
            <p:nvSpPr>
              <p:cNvPr id="941" name="Google Shape;941;h36f98b04b4fc2dcc_0_672"/>
              <p:cNvSpPr/>
              <p:nvPr/>
            </p:nvSpPr>
            <p:spPr>
              <a:xfrm>
                <a:off x="1800225" y="4191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2" name="Google Shape;942;h36f98b04b4fc2dcc_0_672"/>
              <p:cNvSpPr/>
              <p:nvPr/>
            </p:nvSpPr>
            <p:spPr>
              <a:xfrm>
                <a:off x="1800225" y="6019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25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943" name="Google Shape;943;h36f98b04b4fc2dcc_0_672"/>
              <p:cNvSpPr/>
              <p:nvPr/>
            </p:nvSpPr>
            <p:spPr>
              <a:xfrm>
                <a:off x="1800225" y="7848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4" name="Google Shape;944;h36f98b04b4fc2dcc_0_672"/>
              <p:cNvSpPr/>
              <p:nvPr/>
            </p:nvSpPr>
            <p:spPr>
              <a:xfrm>
                <a:off x="1800225" y="9677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5" name="Google Shape;945;h36f98b04b4fc2dcc_0_672"/>
              <p:cNvSpPr/>
              <p:nvPr/>
            </p:nvSpPr>
            <p:spPr>
              <a:xfrm>
                <a:off x="1800225" y="11506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6" name="Google Shape;946;h36f98b04b4fc2dcc_0_672"/>
              <p:cNvSpPr/>
              <p:nvPr/>
            </p:nvSpPr>
            <p:spPr>
              <a:xfrm>
                <a:off x="1800225" y="13335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7" name="Google Shape;947;h36f98b04b4fc2dcc_0_672"/>
              <p:cNvSpPr/>
              <p:nvPr/>
            </p:nvSpPr>
            <p:spPr>
              <a:xfrm>
                <a:off x="1800225" y="15163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8" name="Google Shape;948;h36f98b04b4fc2dcc_0_672"/>
              <p:cNvSpPr/>
              <p:nvPr/>
            </p:nvSpPr>
            <p:spPr>
              <a:xfrm>
                <a:off x="1800225" y="16992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49" name="Google Shape;949;h36f98b04b4fc2dcc_0_672"/>
              <p:cNvSpPr/>
              <p:nvPr/>
            </p:nvSpPr>
            <p:spPr>
              <a:xfrm>
                <a:off x="1800225" y="18821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950" name="Google Shape;950;h36f98b04b4fc2dcc_0_672"/>
              <p:cNvSpPr/>
              <p:nvPr/>
            </p:nvSpPr>
            <p:spPr>
              <a:xfrm>
                <a:off x="1800225" y="20650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</p:grpSp>
        <p:grpSp>
          <p:nvGrpSpPr>
            <p:cNvPr id="951" name="Google Shape;951;h36f98b04b4fc2dcc_0_672"/>
            <p:cNvGrpSpPr/>
            <p:nvPr/>
          </p:nvGrpSpPr>
          <p:grpSpPr>
            <a:xfrm>
              <a:off x="1829928" y="3505689"/>
              <a:ext cx="205875" cy="1783197"/>
              <a:chOff x="1800225" y="419100"/>
              <a:chExt cx="183000" cy="1828920"/>
            </a:xfrm>
          </p:grpSpPr>
          <p:sp>
            <p:nvSpPr>
              <p:cNvPr id="952" name="Google Shape;952;h36f98b04b4fc2dcc_0_672"/>
              <p:cNvSpPr/>
              <p:nvPr/>
            </p:nvSpPr>
            <p:spPr>
              <a:xfrm>
                <a:off x="1800225" y="4191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53" name="Google Shape;953;h36f98b04b4fc2dcc_0_672"/>
              <p:cNvSpPr/>
              <p:nvPr/>
            </p:nvSpPr>
            <p:spPr>
              <a:xfrm>
                <a:off x="1800225" y="6019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54" name="Google Shape;954;h36f98b04b4fc2dcc_0_672"/>
              <p:cNvSpPr/>
              <p:nvPr/>
            </p:nvSpPr>
            <p:spPr>
              <a:xfrm>
                <a:off x="1800225" y="7848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55" name="Google Shape;955;h36f98b04b4fc2dcc_0_672"/>
              <p:cNvSpPr/>
              <p:nvPr/>
            </p:nvSpPr>
            <p:spPr>
              <a:xfrm>
                <a:off x="1800225" y="9677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25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956" name="Google Shape;956;h36f98b04b4fc2dcc_0_672"/>
              <p:cNvSpPr/>
              <p:nvPr/>
            </p:nvSpPr>
            <p:spPr>
              <a:xfrm>
                <a:off x="1800225" y="11506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57" name="Google Shape;957;h36f98b04b4fc2dcc_0_672"/>
              <p:cNvSpPr/>
              <p:nvPr/>
            </p:nvSpPr>
            <p:spPr>
              <a:xfrm>
                <a:off x="1800225" y="13335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58" name="Google Shape;958;h36f98b04b4fc2dcc_0_672"/>
              <p:cNvSpPr/>
              <p:nvPr/>
            </p:nvSpPr>
            <p:spPr>
              <a:xfrm>
                <a:off x="1800225" y="15163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59" name="Google Shape;959;h36f98b04b4fc2dcc_0_672"/>
              <p:cNvSpPr/>
              <p:nvPr/>
            </p:nvSpPr>
            <p:spPr>
              <a:xfrm>
                <a:off x="1800225" y="16992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60" name="Google Shape;960;h36f98b04b4fc2dcc_0_672"/>
              <p:cNvSpPr/>
              <p:nvPr/>
            </p:nvSpPr>
            <p:spPr>
              <a:xfrm>
                <a:off x="1800225" y="18821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961" name="Google Shape;961;h36f98b04b4fc2dcc_0_672"/>
              <p:cNvSpPr/>
              <p:nvPr/>
            </p:nvSpPr>
            <p:spPr>
              <a:xfrm>
                <a:off x="1800225" y="20650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</p:grpSp>
        <p:sp>
          <p:nvSpPr>
            <p:cNvPr id="962" name="Google Shape;962;h36f98b04b4fc2dcc_0_672"/>
            <p:cNvSpPr txBox="1"/>
            <p:nvPr/>
          </p:nvSpPr>
          <p:spPr>
            <a:xfrm>
              <a:off x="1421875" y="2018816"/>
              <a:ext cx="3966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</a:t>
              </a:r>
              <a:endParaRPr/>
            </a:p>
          </p:txBody>
        </p:sp>
        <p:sp>
          <p:nvSpPr>
            <p:cNvPr id="963" name="Google Shape;963;h36f98b04b4fc2dcc_0_672"/>
            <p:cNvSpPr txBox="1"/>
            <p:nvPr/>
          </p:nvSpPr>
          <p:spPr>
            <a:xfrm>
              <a:off x="1421874" y="4218921"/>
              <a:ext cx="3675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</a:t>
              </a:r>
              <a:endParaRPr/>
            </a:p>
          </p:txBody>
        </p:sp>
        <p:grpSp>
          <p:nvGrpSpPr>
            <p:cNvPr id="964" name="Google Shape;964;h36f98b04b4fc2dcc_0_672"/>
            <p:cNvGrpSpPr/>
            <p:nvPr/>
          </p:nvGrpSpPr>
          <p:grpSpPr>
            <a:xfrm>
              <a:off x="4425270" y="2716809"/>
              <a:ext cx="205875" cy="1069965"/>
              <a:chOff x="1800225" y="419100"/>
              <a:chExt cx="183000" cy="1097400"/>
            </a:xfrm>
          </p:grpSpPr>
          <p:sp>
            <p:nvSpPr>
              <p:cNvPr id="965" name="Google Shape;965;h36f98b04b4fc2dcc_0_672"/>
              <p:cNvSpPr/>
              <p:nvPr/>
            </p:nvSpPr>
            <p:spPr>
              <a:xfrm>
                <a:off x="1800225" y="4191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h36f98b04b4fc2dcc_0_672"/>
              <p:cNvSpPr/>
              <p:nvPr/>
            </p:nvSpPr>
            <p:spPr>
              <a:xfrm>
                <a:off x="1800225" y="6019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25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h36f98b04b4fc2dcc_0_672"/>
              <p:cNvSpPr/>
              <p:nvPr/>
            </p:nvSpPr>
            <p:spPr>
              <a:xfrm>
                <a:off x="1800225" y="7848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h36f98b04b4fc2dcc_0_672"/>
              <p:cNvSpPr/>
              <p:nvPr/>
            </p:nvSpPr>
            <p:spPr>
              <a:xfrm>
                <a:off x="1800225" y="9677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h36f98b04b4fc2dcc_0_672"/>
              <p:cNvSpPr/>
              <p:nvPr/>
            </p:nvSpPr>
            <p:spPr>
              <a:xfrm>
                <a:off x="1800225" y="11506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h36f98b04b4fc2dcc_0_672"/>
              <p:cNvSpPr/>
              <p:nvPr/>
            </p:nvSpPr>
            <p:spPr>
              <a:xfrm>
                <a:off x="1800225" y="13335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2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1" name="Google Shape;971;h36f98b04b4fc2dcc_0_672"/>
            <p:cNvGrpSpPr/>
            <p:nvPr/>
          </p:nvGrpSpPr>
          <p:grpSpPr>
            <a:xfrm>
              <a:off x="7026905" y="2424778"/>
              <a:ext cx="205875" cy="1783197"/>
              <a:chOff x="1800225" y="419100"/>
              <a:chExt cx="183000" cy="1828920"/>
            </a:xfrm>
          </p:grpSpPr>
          <p:sp>
            <p:nvSpPr>
              <p:cNvPr id="972" name="Google Shape;972;h36f98b04b4fc2dcc_0_672"/>
              <p:cNvSpPr/>
              <p:nvPr/>
            </p:nvSpPr>
            <p:spPr>
              <a:xfrm>
                <a:off x="1800225" y="4191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3" name="Google Shape;973;h36f98b04b4fc2dcc_0_672"/>
              <p:cNvSpPr/>
              <p:nvPr/>
            </p:nvSpPr>
            <p:spPr>
              <a:xfrm>
                <a:off x="1800225" y="6019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4" name="Google Shape;974;h36f98b04b4fc2dcc_0_672"/>
              <p:cNvSpPr/>
              <p:nvPr/>
            </p:nvSpPr>
            <p:spPr>
              <a:xfrm>
                <a:off x="1800225" y="7848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5" name="Google Shape;975;h36f98b04b4fc2dcc_0_672"/>
              <p:cNvSpPr/>
              <p:nvPr/>
            </p:nvSpPr>
            <p:spPr>
              <a:xfrm>
                <a:off x="1800225" y="9677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6" name="Google Shape;976;h36f98b04b4fc2dcc_0_672"/>
              <p:cNvSpPr/>
              <p:nvPr/>
            </p:nvSpPr>
            <p:spPr>
              <a:xfrm>
                <a:off x="1800225" y="11506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7" name="Google Shape;977;h36f98b04b4fc2dcc_0_672"/>
              <p:cNvSpPr/>
              <p:nvPr/>
            </p:nvSpPr>
            <p:spPr>
              <a:xfrm>
                <a:off x="1800225" y="133350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8" name="Google Shape;978;h36f98b04b4fc2dcc_0_672"/>
              <p:cNvSpPr/>
              <p:nvPr/>
            </p:nvSpPr>
            <p:spPr>
              <a:xfrm>
                <a:off x="1800225" y="151638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  <p:sp>
            <p:nvSpPr>
              <p:cNvPr id="979" name="Google Shape;979;h36f98b04b4fc2dcc_0_672"/>
              <p:cNvSpPr/>
              <p:nvPr/>
            </p:nvSpPr>
            <p:spPr>
              <a:xfrm>
                <a:off x="1800225" y="169926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825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980" name="Google Shape;980;h36f98b04b4fc2dcc_0_672"/>
              <p:cNvSpPr/>
              <p:nvPr/>
            </p:nvSpPr>
            <p:spPr>
              <a:xfrm>
                <a:off x="1800225" y="188214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981" name="Google Shape;981;h36f98b04b4fc2dcc_0_672"/>
              <p:cNvSpPr/>
              <p:nvPr/>
            </p:nvSpPr>
            <p:spPr>
              <a:xfrm>
                <a:off x="1800225" y="2065020"/>
                <a:ext cx="183000" cy="183000"/>
              </a:xfrm>
              <a:prstGeom prst="rect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825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/>
              </a:p>
            </p:txBody>
          </p:sp>
        </p:grpSp>
        <p:sp>
          <p:nvSpPr>
            <p:cNvPr id="982" name="Google Shape;982;h36f98b04b4fc2dcc_0_672"/>
            <p:cNvSpPr txBox="1"/>
            <p:nvPr/>
          </p:nvSpPr>
          <p:spPr>
            <a:xfrm>
              <a:off x="1485102" y="977713"/>
              <a:ext cx="9423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Input layer</a:t>
              </a:r>
              <a:endParaRPr/>
            </a:p>
          </p:txBody>
        </p:sp>
        <p:cxnSp>
          <p:nvCxnSpPr>
            <p:cNvPr id="983" name="Google Shape;983;h36f98b04b4fc2dcc_0_672"/>
            <p:cNvCxnSpPr/>
            <p:nvPr/>
          </p:nvCxnSpPr>
          <p:spPr>
            <a:xfrm>
              <a:off x="2035667" y="1354930"/>
              <a:ext cx="2389500" cy="13620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4" name="Google Shape;984;h36f98b04b4fc2dcc_0_672"/>
            <p:cNvCxnSpPr/>
            <p:nvPr/>
          </p:nvCxnSpPr>
          <p:spPr>
            <a:xfrm flipH="1" rot="10800000">
              <a:off x="2035667" y="2713989"/>
              <a:ext cx="2389500" cy="7917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5" name="Google Shape;985;h36f98b04b4fc2dcc_0_672"/>
            <p:cNvCxnSpPr/>
            <p:nvPr/>
          </p:nvCxnSpPr>
          <p:spPr>
            <a:xfrm>
              <a:off x="2029375" y="3136118"/>
              <a:ext cx="2395800" cy="6504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6" name="Google Shape;986;h36f98b04b4fc2dcc_0_672"/>
            <p:cNvCxnSpPr/>
            <p:nvPr/>
          </p:nvCxnSpPr>
          <p:spPr>
            <a:xfrm flipH="1" rot="10800000">
              <a:off x="2035667" y="3797769"/>
              <a:ext cx="2389500" cy="14910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87" name="Google Shape;987;h36f98b04b4fc2dcc_0_672"/>
            <p:cNvSpPr txBox="1"/>
            <p:nvPr/>
          </p:nvSpPr>
          <p:spPr>
            <a:xfrm>
              <a:off x="4080445" y="1944694"/>
              <a:ext cx="10755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Hidden layer</a:t>
              </a:r>
              <a:endParaRPr/>
            </a:p>
          </p:txBody>
        </p:sp>
        <p:sp>
          <p:nvSpPr>
            <p:cNvPr id="988" name="Google Shape;988;h36f98b04b4fc2dcc_0_672"/>
            <p:cNvSpPr txBox="1"/>
            <p:nvPr/>
          </p:nvSpPr>
          <p:spPr>
            <a:xfrm>
              <a:off x="7455965" y="3162579"/>
              <a:ext cx="3915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sat</a:t>
              </a:r>
              <a:endParaRPr/>
            </a:p>
          </p:txBody>
        </p:sp>
        <p:cxnSp>
          <p:nvCxnSpPr>
            <p:cNvPr id="989" name="Google Shape;989;h36f98b04b4fc2dcc_0_672"/>
            <p:cNvCxnSpPr/>
            <p:nvPr/>
          </p:nvCxnSpPr>
          <p:spPr>
            <a:xfrm flipH="1" rot="10800000">
              <a:off x="4631010" y="2423753"/>
              <a:ext cx="2395800" cy="2901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0" name="Google Shape;990;h36f98b04b4fc2dcc_0_672"/>
            <p:cNvCxnSpPr/>
            <p:nvPr/>
          </p:nvCxnSpPr>
          <p:spPr>
            <a:xfrm>
              <a:off x="4631010" y="3786657"/>
              <a:ext cx="2395800" cy="4212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91" name="Google Shape;991;h36f98b04b4fc2dcc_0_672"/>
            <p:cNvSpPr txBox="1"/>
            <p:nvPr/>
          </p:nvSpPr>
          <p:spPr>
            <a:xfrm>
              <a:off x="6615357" y="1989283"/>
              <a:ext cx="10722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Output layer</a:t>
              </a:r>
              <a:endParaRPr/>
            </a:p>
          </p:txBody>
        </p:sp>
        <p:sp>
          <p:nvSpPr>
            <p:cNvPr id="992" name="Google Shape;992;h36f98b04b4fc2dcc_0_672"/>
            <p:cNvSpPr txBox="1"/>
            <p:nvPr/>
          </p:nvSpPr>
          <p:spPr>
            <a:xfrm>
              <a:off x="2241407" y="2016492"/>
              <a:ext cx="906300" cy="415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93" name="Google Shape;993;h36f98b04b4fc2dcc_0_672"/>
            <p:cNvSpPr txBox="1"/>
            <p:nvPr/>
          </p:nvSpPr>
          <p:spPr>
            <a:xfrm>
              <a:off x="2262702" y="3949850"/>
              <a:ext cx="906300" cy="415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94" name="Google Shape;994;h36f98b04b4fc2dcc_0_672"/>
            <p:cNvSpPr txBox="1"/>
            <p:nvPr/>
          </p:nvSpPr>
          <p:spPr>
            <a:xfrm>
              <a:off x="1190442" y="2895117"/>
              <a:ext cx="604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V-dim</a:t>
              </a:r>
              <a:endParaRPr/>
            </a:p>
          </p:txBody>
        </p:sp>
        <p:sp>
          <p:nvSpPr>
            <p:cNvPr id="995" name="Google Shape;995;h36f98b04b4fc2dcc_0_672"/>
            <p:cNvSpPr txBox="1"/>
            <p:nvPr/>
          </p:nvSpPr>
          <p:spPr>
            <a:xfrm>
              <a:off x="1190442" y="5021307"/>
              <a:ext cx="604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V-dim</a:t>
              </a:r>
              <a:endParaRPr/>
            </a:p>
          </p:txBody>
        </p:sp>
        <p:sp>
          <p:nvSpPr>
            <p:cNvPr id="996" name="Google Shape;996;h36f98b04b4fc2dcc_0_672"/>
            <p:cNvSpPr txBox="1"/>
            <p:nvPr/>
          </p:nvSpPr>
          <p:spPr>
            <a:xfrm>
              <a:off x="4248496" y="3925091"/>
              <a:ext cx="6192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N-dim</a:t>
              </a:r>
              <a:endParaRPr/>
            </a:p>
          </p:txBody>
        </p:sp>
        <p:sp>
          <p:nvSpPr>
            <p:cNvPr id="997" name="Google Shape;997;h36f98b04b4fc2dcc_0_672"/>
            <p:cNvSpPr txBox="1"/>
            <p:nvPr/>
          </p:nvSpPr>
          <p:spPr>
            <a:xfrm>
              <a:off x="5576032" y="3034670"/>
              <a:ext cx="1011000" cy="4155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998" name="Google Shape;998;h36f98b04b4fc2dcc_0_672"/>
            <p:cNvSpPr txBox="1"/>
            <p:nvPr/>
          </p:nvSpPr>
          <p:spPr>
            <a:xfrm>
              <a:off x="7348772" y="3973728"/>
              <a:ext cx="6048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V-dim</a:t>
              </a:r>
              <a:endParaRPr/>
            </a:p>
          </p:txBody>
        </p:sp>
        <p:sp>
          <p:nvSpPr>
            <p:cNvPr id="999" name="Google Shape;999;h36f98b04b4fc2dcc_0_672"/>
            <p:cNvSpPr txBox="1"/>
            <p:nvPr/>
          </p:nvSpPr>
          <p:spPr>
            <a:xfrm>
              <a:off x="3359868" y="5021307"/>
              <a:ext cx="2435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 will be the size of word vector</a:t>
              </a:r>
              <a:endParaRPr/>
            </a:p>
          </p:txBody>
        </p:sp>
        <p:sp>
          <p:nvSpPr>
            <p:cNvPr id="1000" name="Google Shape;1000;h36f98b04b4fc2dcc_0_672"/>
            <p:cNvSpPr txBox="1"/>
            <p:nvPr/>
          </p:nvSpPr>
          <p:spPr>
            <a:xfrm>
              <a:off x="3669617" y="671206"/>
              <a:ext cx="1968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5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We must learn W and W</a:t>
              </a:r>
              <a:r>
                <a:rPr baseline="30000" lang="pt-BR" sz="135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r>
                <a:rPr lang="pt-BR" sz="135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cxnSp>
          <p:nvCxnSpPr>
            <p:cNvPr id="1001" name="Google Shape;1001;h36f98b04b4fc2dcc_0_672"/>
            <p:cNvCxnSpPr>
              <a:stCxn id="1000" idx="2"/>
              <a:endCxn id="992" idx="3"/>
            </p:cNvCxnSpPr>
            <p:nvPr/>
          </p:nvCxnSpPr>
          <p:spPr>
            <a:xfrm flipH="1">
              <a:off x="3147617" y="971206"/>
              <a:ext cx="1506000" cy="12531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002" name="Google Shape;1002;h36f98b04b4fc2dcc_0_672"/>
            <p:cNvCxnSpPr>
              <a:stCxn id="1000" idx="2"/>
              <a:endCxn id="997" idx="0"/>
            </p:cNvCxnSpPr>
            <p:nvPr/>
          </p:nvCxnSpPr>
          <p:spPr>
            <a:xfrm>
              <a:off x="4653617" y="971206"/>
              <a:ext cx="1428000" cy="2063400"/>
            </a:xfrm>
            <a:prstGeom prst="straightConnector1">
              <a:avLst/>
            </a:prstGeom>
            <a:noFill/>
            <a:ln cap="flat" cmpd="sng" w="9525">
              <a:solidFill>
                <a:srgbClr val="5B9BD5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1003" name="Google Shape;1003;h36f98b04b4fc2dcc_0_672"/>
          <p:cNvSpPr txBox="1"/>
          <p:nvPr/>
        </p:nvSpPr>
        <p:spPr>
          <a:xfrm>
            <a:off x="6981800" y="4511700"/>
            <a:ext cx="19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(Hristidis, 2015)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h36f98b04b4fc2dcc_0_8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75" y="100600"/>
            <a:ext cx="8373700" cy="49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h36f98b04b4fc2dcc_0_829"/>
          <p:cNvSpPr txBox="1"/>
          <p:nvPr/>
        </p:nvSpPr>
        <p:spPr>
          <a:xfrm>
            <a:off x="243175" y="4449750"/>
            <a:ext cx="19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(Hristidis, 2015)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h36f98b04b4fc2dcc_0_8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875" y="140550"/>
            <a:ext cx="7306250" cy="48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h36f98b04b4fc2dcc_0_834"/>
          <p:cNvSpPr txBox="1"/>
          <p:nvPr/>
        </p:nvSpPr>
        <p:spPr>
          <a:xfrm>
            <a:off x="6703025" y="283525"/>
            <a:ext cx="19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(Hristidis, 2015)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h36f98b04b4fc2dcc_0_8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13" y="152400"/>
            <a:ext cx="787817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h36f98b04b4fc2dcc_0_840"/>
          <p:cNvSpPr txBox="1"/>
          <p:nvPr/>
        </p:nvSpPr>
        <p:spPr>
          <a:xfrm>
            <a:off x="6935325" y="66700"/>
            <a:ext cx="19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(Hristidis, 2015)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h36f98b04b4fc2dcc_0_8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12" y="230937"/>
            <a:ext cx="6608724" cy="46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h36f98b04b4fc2dcc_0_848"/>
          <p:cNvSpPr txBox="1"/>
          <p:nvPr/>
        </p:nvSpPr>
        <p:spPr>
          <a:xfrm>
            <a:off x="6981800" y="4511700"/>
            <a:ext cx="19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(Hristidis, 2015)</a:t>
            </a:r>
            <a:endParaRPr sz="18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oogle Shape;1032;h36f98b04b4fc2dcc_0_8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913" y="1159885"/>
            <a:ext cx="6694186" cy="290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h36f98b04b4fc2dcc_0_854"/>
          <p:cNvSpPr txBox="1"/>
          <p:nvPr/>
        </p:nvSpPr>
        <p:spPr>
          <a:xfrm>
            <a:off x="4861800" y="4497000"/>
            <a:ext cx="428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(Mikolov et al., 2013)</a:t>
            </a:r>
            <a:endParaRPr sz="300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h36f98b04b4fc2dcc_0_7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19" y="152400"/>
            <a:ext cx="681176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h36f98b04b4fc2dcc_0_8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19" y="152400"/>
            <a:ext cx="681176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"/>
          <p:cNvSpPr txBox="1"/>
          <p:nvPr>
            <p:ph idx="1" type="subTitle"/>
          </p:nvPr>
        </p:nvSpPr>
        <p:spPr>
          <a:xfrm>
            <a:off x="1495500" y="1959725"/>
            <a:ext cx="61530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pt-BR" sz="5000">
                <a:solidFill>
                  <a:srgbClr val="FFFFFF"/>
                </a:solidFill>
              </a:rPr>
              <a:t>André Santanchè</a:t>
            </a:r>
            <a:endParaRPr b="1" sz="5000">
              <a:solidFill>
                <a:srgbClr val="FFFFFF"/>
              </a:solidFill>
            </a:endParaRPr>
          </a:p>
        </p:txBody>
      </p:sp>
      <p:sp>
        <p:nvSpPr>
          <p:cNvPr id="1049" name="Google Shape;1049;p7"/>
          <p:cNvSpPr txBox="1"/>
          <p:nvPr/>
        </p:nvSpPr>
        <p:spPr>
          <a:xfrm>
            <a:off x="2339550" y="3134950"/>
            <a:ext cx="44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https://www.ic.unicamp.br/~santanche/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he44d9eb361d8323_0_2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Acknowledgement</a:t>
            </a:r>
            <a:endParaRPr/>
          </a:p>
        </p:txBody>
      </p:sp>
      <p:sp>
        <p:nvSpPr>
          <p:cNvPr id="1055" name="Google Shape;1055;he44d9eb361d8323_0_26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Most used activation functions in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AI ML – Artificial Intelligence and Machine Learning</a:t>
            </a:r>
            <a:r>
              <a:rPr lang="pt-BR"/>
              <a:t>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https://ai-artificial-intelligence.webyes.com.br/most-used-activation-functions-in-neural-networks/</a:t>
            </a:r>
            <a:endParaRPr/>
          </a:p>
        </p:txBody>
      </p:sp>
      <p:pic>
        <p:nvPicPr>
          <p:cNvPr id="1056" name="Google Shape;1056;he44d9eb361d8323_0_2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50" y="1152475"/>
            <a:ext cx="3608286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h747215552b4acee0_0_6"/>
          <p:cNvSpPr txBox="1"/>
          <p:nvPr>
            <p:ph type="title"/>
          </p:nvPr>
        </p:nvSpPr>
        <p:spPr>
          <a:xfrm>
            <a:off x="311700" y="1656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References</a:t>
            </a:r>
            <a:endParaRPr/>
          </a:p>
        </p:txBody>
      </p:sp>
      <p:sp>
        <p:nvSpPr>
          <p:cNvPr id="1062" name="Google Shape;1062;h747215552b4acee0_0_6"/>
          <p:cNvSpPr txBox="1"/>
          <p:nvPr>
            <p:ph idx="1" type="body"/>
          </p:nvPr>
        </p:nvSpPr>
        <p:spPr>
          <a:xfrm>
            <a:off x="311700" y="873101"/>
            <a:ext cx="8520600" cy="39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Bourlard, H., &amp; Kabil, S. H. (2022). </a:t>
            </a:r>
            <a:r>
              <a:rPr b="1" lang="pt-BR" sz="1200"/>
              <a:t>Autoencoders reloaded</a:t>
            </a:r>
            <a:r>
              <a:rPr lang="pt-BR" sz="1200"/>
              <a:t>. Biological Cybernetics, 116(4), 389–406. </a:t>
            </a:r>
            <a:r>
              <a:rPr lang="pt-BR" sz="1200" u="sng">
                <a:solidFill>
                  <a:schemeClr val="hlink"/>
                </a:solidFill>
                <a:hlinkClick r:id="rId3"/>
              </a:rPr>
              <a:t>https://doi.org/10.1007/S00422-022-00937-6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Jurafsky, </a:t>
            </a:r>
            <a:r>
              <a:rPr lang="pt-BR" sz="1200"/>
              <a:t>Dan. </a:t>
            </a:r>
            <a:r>
              <a:rPr lang="pt-BR" sz="1200"/>
              <a:t>CS 124: From Languages to Information. </a:t>
            </a:r>
            <a:r>
              <a:rPr lang="pt-BR" sz="1200"/>
              <a:t>Winter 2026. </a:t>
            </a:r>
            <a:r>
              <a:rPr lang="pt-BR" sz="1200" u="sng">
                <a:solidFill>
                  <a:schemeClr val="hlink"/>
                </a:solidFill>
                <a:hlinkClick r:id="rId4"/>
              </a:rPr>
              <a:t>https://web.stanford.edu/class/cs124/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LeCun, Y. (1987). PhD thesis: </a:t>
            </a:r>
            <a:r>
              <a:rPr b="1" lang="pt-BR" sz="1200"/>
              <a:t>Modeles connexionnistes de l’apprentissage</a:t>
            </a:r>
            <a:r>
              <a:rPr lang="pt-BR" sz="1200"/>
              <a:t> (connectionist learning models).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Lopez Pinaya, W. H., Vieira, S., Garcia-Dias, R., &amp; Mechelli, A. (2020). </a:t>
            </a:r>
            <a:r>
              <a:rPr b="1" lang="pt-BR" sz="1200"/>
              <a:t>Autoencoders</a:t>
            </a:r>
            <a:r>
              <a:rPr lang="pt-BR" sz="1200"/>
              <a:t>. Machine Learning: Methods and Applications to Brain Disorders, 193–208. </a:t>
            </a:r>
            <a:r>
              <a:rPr lang="pt-BR" sz="1200" u="sng">
                <a:solidFill>
                  <a:schemeClr val="hlink"/>
                </a:solidFill>
                <a:hlinkClick r:id="rId5"/>
              </a:rPr>
              <a:t>https://doi.org/10.1016/B978-0-12-815739-8.00011-0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Li, P., Pei, Y., &amp; Li, J. (2023). </a:t>
            </a:r>
            <a:r>
              <a:rPr b="1" lang="pt-BR" sz="1200"/>
              <a:t>A comprehensive survey on design and application of autoencoder in deep learning</a:t>
            </a:r>
            <a:r>
              <a:rPr lang="pt-BR" sz="1200"/>
              <a:t>. Applied Soft Computing, 138, 110176. </a:t>
            </a:r>
            <a:r>
              <a:rPr lang="pt-BR" sz="1200" u="sng">
                <a:solidFill>
                  <a:schemeClr val="hlink"/>
                </a:solidFill>
                <a:hlinkClick r:id="rId6"/>
              </a:rPr>
              <a:t>https://doi.org/10.1016/J.ASOC.2023.110176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Mikolov, T., Chen, K., Corrado, G., &amp; Dean, J. (2013). </a:t>
            </a:r>
            <a:r>
              <a:rPr b="1" lang="pt-BR" sz="1200"/>
              <a:t>Efficient Estimation of Word Representations in Vector Space</a:t>
            </a:r>
            <a:r>
              <a:rPr lang="pt-BR" sz="1200"/>
              <a:t>. 1st International Conference on Learning Representations, ICLR 2013 - Workshop Track Proceedings. </a:t>
            </a:r>
            <a:r>
              <a:rPr lang="pt-BR" sz="1200" u="sng">
                <a:solidFill>
                  <a:schemeClr val="hlink"/>
                </a:solidFill>
                <a:hlinkClick r:id="rId7"/>
              </a:rPr>
              <a:t>https://arxiv.org/abs/1301.3781v3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 sz="1200"/>
              <a:t>Mikolov, T., Yih, W., &amp; Zweig, G. (2013). </a:t>
            </a:r>
            <a:r>
              <a:rPr b="1" lang="pt-BR" sz="1200"/>
              <a:t>Linguistic Regularities in Continuous Space Word Representations.</a:t>
            </a:r>
            <a:r>
              <a:rPr lang="pt-BR" sz="1200"/>
              <a:t> Proc. 2013 Conf. of the North American Chapter of the Association for Computational Linguistics: Human Language Technologies, 746–751. </a:t>
            </a:r>
            <a:r>
              <a:rPr lang="pt-BR" sz="1200" u="sng">
                <a:solidFill>
                  <a:schemeClr val="hlink"/>
                </a:solidFill>
                <a:hlinkClick r:id="rId8"/>
              </a:rPr>
              <a:t>https://aclanthology.org/N13-1090</a:t>
            </a:r>
            <a:endParaRPr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f6939d4d94_0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pt-BR"/>
              <a:t>Licença</a:t>
            </a:r>
            <a:endParaRPr/>
          </a:p>
        </p:txBody>
      </p:sp>
      <p:sp>
        <p:nvSpPr>
          <p:cNvPr id="1068" name="Google Shape;1068;g3f6939d4d94_0_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Estes slides são concedidos sob uma Licença Creative Commons. Sob as seguintes condições: Atribuição, Uso Não-Comercial e Compartilhamento pela mesma Licença. 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Mais detalhes sobre a referida licença Creative Commons veja no link:</a:t>
            </a:r>
            <a:br>
              <a:rPr lang="pt-BR" sz="2300"/>
            </a:br>
            <a:r>
              <a:rPr lang="pt-BR" sz="2300" u="sng">
                <a:solidFill>
                  <a:schemeClr val="hlink"/>
                </a:solidFill>
                <a:hlinkClick r:id="rId3"/>
              </a:rPr>
              <a:t>http://creativecommons.org/licenses/by-nc-sa/3.0/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