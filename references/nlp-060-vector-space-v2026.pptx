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Lst>
  <p:sldSz cy="5143500" cx="9144000"/>
  <p:notesSz cx="6858000" cy="9144000"/>
  <p:embeddedFontLst>
    <p:embeddedFont>
      <p:font typeface="Advent Pro Medium"/>
      <p:regular r:id="rId148"/>
      <p:bold r:id="rId149"/>
      <p:italic r:id="rId150"/>
      <p:boldItalic r:id="rId151"/>
    </p:embeddedFont>
    <p:embeddedFont>
      <p:font typeface="Advent Pro"/>
      <p:regular r:id="rId152"/>
      <p:bold r:id="rId153"/>
      <p:italic r:id="rId154"/>
      <p:boldItalic r:id="rId155"/>
    </p:embeddedFont>
    <p:embeddedFont>
      <p:font typeface="Comfortaa"/>
      <p:regular r:id="rId156"/>
      <p:bold r:id="rId1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58" roundtripDataSignature="AMtx7mgstciccfWAr+tcrjFkWVNfG8h6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282B75-BEEB-4B1D-A43F-99505807CED8}">
  <a:tblStyle styleId="{72282B75-BEEB-4B1D-A43F-99505807CED8}"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rgbClr val="FFFFFF">
              <a:alpha val="20000"/>
            </a:srgbClr>
          </a:solidFill>
        </a:fill>
      </a:tcStyle>
    </a:band1H>
    <a:band2H>
      <a:tcTxStyle/>
    </a:band2H>
    <a:band1V>
      <a:tcTxStyle/>
      <a:tcStyle>
        <a:fill>
          <a:solidFill>
            <a:srgbClr val="FFFFFF">
              <a:alpha val="20000"/>
            </a:srgbClr>
          </a:solidFill>
        </a:fill>
      </a:tcStyle>
    </a:band1V>
    <a:band2V>
      <a:tcTxStyle/>
    </a:band2V>
    <a:lastCol>
      <a:tcTxStyle b="on" i="off"/>
    </a:lastCol>
    <a:firstCol>
      <a:tcTxStyle b="on" i="off"/>
    </a:firstCol>
    <a:lastRow>
      <a:tcTxStyle b="on" i="off"/>
      <a:tcStyle>
        <a:tcBdr>
          <a:top>
            <a:ln cap="flat" cmpd="sng" w="12700">
              <a:solidFill>
                <a:srgbClr val="FFFFFF"/>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rgbClr val="FFFFFF"/>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2AFFE05A-0F0C-4C9B-8F10-4FA16DCC8F30}"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3"/>
              </a:solidFill>
              <a:prstDash val="solid"/>
              <a:round/>
              <a:headEnd len="sm" w="sm" type="none"/>
              <a:tailEnd len="sm" w="sm" type="none"/>
            </a:ln>
          </a:top>
          <a:bottom>
            <a:ln cap="flat" cmpd="sng" w="12700">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3">
              <a:alpha val="20000"/>
            </a:schemeClr>
          </a:solidFill>
        </a:fill>
      </a:tcStyle>
    </a:band1H>
    <a:band2H>
      <a:tcTxStyle/>
    </a:band2H>
    <a:band1V>
      <a:tcTxStyle/>
      <a:tcStyle>
        <a:fill>
          <a:solidFill>
            <a:schemeClr val="accent3">
              <a:alpha val="20000"/>
            </a:schemeClr>
          </a:solidFill>
        </a:fill>
      </a:tcStyle>
    </a:band1V>
    <a:band2V>
      <a:tcTxStyle/>
    </a:band2V>
    <a:lastCol>
      <a:tcTxStyle b="on" i="off"/>
    </a:lastCol>
    <a:firstCol>
      <a:tcTxStyle b="on" i="off"/>
    </a:firstCol>
    <a:lastRow>
      <a:tcTxStyle b="on" i="off"/>
      <a:tcStyle>
        <a:tcBdr>
          <a:top>
            <a:ln cap="flat" cmpd="sng" w="12700">
              <a:solidFill>
                <a:schemeClr val="accent3"/>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3"/>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21883011-008D-4DB6-BC79-789B9463DC1F}"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67FECD5-6A5C-4673-8E3D-DED955AC76FF}" styleName="Table_3">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font" Target="fonts/AdventProMedium-italic.fntdata"/><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font" Target="fonts/AdventProMedium-bold.fntdata"/><Relationship Id="rId4" Type="http://schemas.openxmlformats.org/officeDocument/2006/relationships/tableStyles" Target="tableStyles.xml"/><Relationship Id="rId148" Type="http://schemas.openxmlformats.org/officeDocument/2006/relationships/font" Target="fonts/AdventProMedium-regular.fntdata"/><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154" Type="http://schemas.openxmlformats.org/officeDocument/2006/relationships/font" Target="fonts/AdventPro-italic.fntdata"/><Relationship Id="rId58" Type="http://schemas.openxmlformats.org/officeDocument/2006/relationships/slide" Target="slides/slide52.xml"/><Relationship Id="rId153" Type="http://schemas.openxmlformats.org/officeDocument/2006/relationships/font" Target="fonts/AdventPro-bold.fntdata"/><Relationship Id="rId152" Type="http://schemas.openxmlformats.org/officeDocument/2006/relationships/font" Target="fonts/AdventPro-regular.fntdata"/><Relationship Id="rId151" Type="http://schemas.openxmlformats.org/officeDocument/2006/relationships/font" Target="fonts/AdventProMedium-boldItalic.fntdata"/><Relationship Id="rId158" Type="http://customschemas.google.com/relationships/presentationmetadata" Target="metadata"/><Relationship Id="rId157" Type="http://schemas.openxmlformats.org/officeDocument/2006/relationships/font" Target="fonts/Comfortaa-bold.fntdata"/><Relationship Id="rId156" Type="http://schemas.openxmlformats.org/officeDocument/2006/relationships/font" Target="fonts/Comfortaa-regular.fntdata"/><Relationship Id="rId155" Type="http://schemas.openxmlformats.org/officeDocument/2006/relationships/font" Target="fonts/AdventPr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8b35c8c4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f8b35c8c4a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8b35c8c4a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f8b35c8c4a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8b35c8c4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3f8b35c8c4a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pt-BR"/>
              <a:t>Este curso tomou como ponto de partida os slides do colega Luiz Celso Gomes-Jr, a quem agradeço. Slides reutilizados e/ou adaptados receberão o selo ao lado.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9e35ce0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9e35ce0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9e35ce08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f9e35ce08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9e35ce08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9e35ce08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9e35ce08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9e35ce08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9e35ce08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9e35ce08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9e35ce08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9e35ce08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9e35ce08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f9e35ce08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9e35ce08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f9e35ce08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9e35ce08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9e35ce08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9e35ce08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9e35ce08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9e35ce08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9e35ce08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9e35ce08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f9e35ce08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9e35ce08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9e35ce08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9e35ce08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f9e35ce08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9e35ce08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f9e35ce08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f9e35ce08f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f9e35ce08f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9e35ce08f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f9e35ce08f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9e35ce08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9e35ce08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9e35ce08f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9e35ce08f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9e35ce08f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9e35ce08f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9edaecf4b_0_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261" name="Google Shape;261;g3f9edaecf4b_0_0: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9edaecf4b_0_7: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269" name="Google Shape;269;g3f9edaecf4b_0_7: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f9edaecf4b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f9edaecf4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f9e35ce08f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f9e35ce08f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f9e35ce08f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f9e35ce08f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9ebdf94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f9ebdf94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f9ebdf94e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f9ebdf94e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f9ebdf94e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f9ebdf94e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9ebdf94e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f9ebdf94e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h6db80df229f767c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h6db80df229f767c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f9ebdf94e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f9ebdf94e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f9ebdf94e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f9ebdf94e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f9ebdf94e2_0_58:notes"/>
          <p:cNvSpPr txBox="1"/>
          <p:nvPr>
            <p:ph idx="12" type="sldNum"/>
          </p:nvPr>
        </p:nvSpPr>
        <p:spPr>
          <a:xfrm>
            <a:off x="3885903" y="8685893"/>
            <a:ext cx="2966100" cy="450600"/>
          </a:xfrm>
          <a:prstGeom prst="rect">
            <a:avLst/>
          </a:prstGeom>
          <a:noFill/>
          <a:ln>
            <a:noFill/>
          </a:ln>
        </p:spPr>
        <p:txBody>
          <a:bodyPr anchorCtr="0" anchor="b" bIns="44775" lIns="89900" spcFirstLastPara="1" rIns="89900" wrap="square" tIns="44775">
            <a:noAutofit/>
          </a:bodyPr>
          <a:lstStyle/>
          <a:p>
            <a:pPr indent="0" lvl="0" marL="0" rtl="0" algn="r">
              <a:spcBef>
                <a:spcPts val="0"/>
              </a:spcBef>
              <a:spcAft>
                <a:spcPts val="0"/>
              </a:spcAft>
              <a:buClr>
                <a:srgbClr val="000000"/>
              </a:buClr>
              <a:buSzPts val="1100"/>
              <a:buFont typeface="Times New Roman"/>
              <a:buNone/>
            </a:pPr>
            <a:fld id="{00000000-1234-1234-1234-123412341234}" type="slidenum">
              <a:rPr lang="pt-BR" sz="1300"/>
              <a:t>‹#›</a:t>
            </a:fld>
            <a:endParaRPr sz="1300"/>
          </a:p>
        </p:txBody>
      </p:sp>
      <p:sp>
        <p:nvSpPr>
          <p:cNvPr id="351" name="Google Shape;351;g3f9ebdf94e2_0_5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52" name="Google Shape;352;g3f9ebdf94e2_0_58:notes"/>
          <p:cNvSpPr txBox="1"/>
          <p:nvPr>
            <p:ph idx="1" type="body"/>
          </p:nvPr>
        </p:nvSpPr>
        <p:spPr>
          <a:xfrm>
            <a:off x="913805" y="4343703"/>
            <a:ext cx="5025900" cy="4110900"/>
          </a:xfrm>
          <a:prstGeom prst="rect">
            <a:avLst/>
          </a:prstGeom>
          <a:noFill/>
          <a:ln>
            <a:noFill/>
          </a:ln>
        </p:spPr>
        <p:txBody>
          <a:bodyPr anchorCtr="0" anchor="ctr" bIns="44775" lIns="89900" spcFirstLastPara="1" rIns="89900" wrap="square" tIns="4477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9ebdf94e2_0_68:notes"/>
          <p:cNvSpPr txBox="1"/>
          <p:nvPr>
            <p:ph idx="12" type="sldNum"/>
          </p:nvPr>
        </p:nvSpPr>
        <p:spPr>
          <a:xfrm>
            <a:off x="3885903" y="8685893"/>
            <a:ext cx="2966100" cy="450600"/>
          </a:xfrm>
          <a:prstGeom prst="rect">
            <a:avLst/>
          </a:prstGeom>
          <a:noFill/>
          <a:ln>
            <a:noFill/>
          </a:ln>
        </p:spPr>
        <p:txBody>
          <a:bodyPr anchorCtr="0" anchor="b" bIns="44775" lIns="89900" spcFirstLastPara="1" rIns="89900" wrap="square" tIns="44775">
            <a:noAutofit/>
          </a:bodyPr>
          <a:lstStyle/>
          <a:p>
            <a:pPr indent="0" lvl="0" marL="0" rtl="0" algn="r">
              <a:spcBef>
                <a:spcPts val="0"/>
              </a:spcBef>
              <a:spcAft>
                <a:spcPts val="0"/>
              </a:spcAft>
              <a:buClr>
                <a:srgbClr val="000000"/>
              </a:buClr>
              <a:buSzPts val="1100"/>
              <a:buFont typeface="Times New Roman"/>
              <a:buNone/>
            </a:pPr>
            <a:fld id="{00000000-1234-1234-1234-123412341234}" type="slidenum">
              <a:rPr lang="pt-BR" sz="1300"/>
              <a:t>‹#›</a:t>
            </a:fld>
            <a:endParaRPr sz="1300"/>
          </a:p>
        </p:txBody>
      </p:sp>
      <p:sp>
        <p:nvSpPr>
          <p:cNvPr id="361" name="Google Shape;361;g3f9ebdf94e2_0_6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62" name="Google Shape;362;g3f9ebdf94e2_0_68:notes"/>
          <p:cNvSpPr txBox="1"/>
          <p:nvPr>
            <p:ph idx="1" type="body"/>
          </p:nvPr>
        </p:nvSpPr>
        <p:spPr>
          <a:xfrm>
            <a:off x="913805" y="4343703"/>
            <a:ext cx="5025900" cy="4110900"/>
          </a:xfrm>
          <a:prstGeom prst="rect">
            <a:avLst/>
          </a:prstGeom>
          <a:noFill/>
          <a:ln>
            <a:noFill/>
          </a:ln>
        </p:spPr>
        <p:txBody>
          <a:bodyPr anchorCtr="0" anchor="ctr" bIns="44775" lIns="89900" spcFirstLastPara="1" rIns="89900" wrap="square" tIns="4477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9ebdf94e2_0_78:notes"/>
          <p:cNvSpPr txBox="1"/>
          <p:nvPr>
            <p:ph idx="12" type="sldNum"/>
          </p:nvPr>
        </p:nvSpPr>
        <p:spPr>
          <a:xfrm>
            <a:off x="3885903" y="8685893"/>
            <a:ext cx="2966100" cy="450600"/>
          </a:xfrm>
          <a:prstGeom prst="rect">
            <a:avLst/>
          </a:prstGeom>
          <a:noFill/>
          <a:ln>
            <a:noFill/>
          </a:ln>
        </p:spPr>
        <p:txBody>
          <a:bodyPr anchorCtr="0" anchor="b" bIns="44775" lIns="89900" spcFirstLastPara="1" rIns="89900" wrap="square" tIns="44775">
            <a:noAutofit/>
          </a:bodyPr>
          <a:lstStyle/>
          <a:p>
            <a:pPr indent="0" lvl="0" marL="0" rtl="0" algn="r">
              <a:spcBef>
                <a:spcPts val="0"/>
              </a:spcBef>
              <a:spcAft>
                <a:spcPts val="0"/>
              </a:spcAft>
              <a:buClr>
                <a:srgbClr val="000000"/>
              </a:buClr>
              <a:buSzPts val="1100"/>
              <a:buFont typeface="Times New Roman"/>
              <a:buNone/>
            </a:pPr>
            <a:fld id="{00000000-1234-1234-1234-123412341234}" type="slidenum">
              <a:rPr lang="pt-BR" sz="1300"/>
              <a:t>‹#›</a:t>
            </a:fld>
            <a:endParaRPr sz="1300"/>
          </a:p>
        </p:txBody>
      </p:sp>
      <p:sp>
        <p:nvSpPr>
          <p:cNvPr id="371" name="Google Shape;371;g3f9ebdf94e2_0_7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72" name="Google Shape;372;g3f9ebdf94e2_0_78:notes"/>
          <p:cNvSpPr txBox="1"/>
          <p:nvPr>
            <p:ph idx="1" type="body"/>
          </p:nvPr>
        </p:nvSpPr>
        <p:spPr>
          <a:xfrm>
            <a:off x="913805" y="4343703"/>
            <a:ext cx="5025900" cy="4110900"/>
          </a:xfrm>
          <a:prstGeom prst="rect">
            <a:avLst/>
          </a:prstGeom>
          <a:noFill/>
          <a:ln>
            <a:noFill/>
          </a:ln>
        </p:spPr>
        <p:txBody>
          <a:bodyPr anchorCtr="0" anchor="ctr" bIns="44775" lIns="89900" spcFirstLastPara="1" rIns="89900" wrap="square" tIns="4477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f9edaecf4b_0_132:notes"/>
          <p:cNvSpPr txBox="1"/>
          <p:nvPr>
            <p:ph idx="12" type="sldNum"/>
          </p:nvPr>
        </p:nvSpPr>
        <p:spPr>
          <a:xfrm>
            <a:off x="3885903" y="8685893"/>
            <a:ext cx="2966100" cy="450600"/>
          </a:xfrm>
          <a:prstGeom prst="rect">
            <a:avLst/>
          </a:prstGeom>
          <a:noFill/>
          <a:ln>
            <a:noFill/>
          </a:ln>
        </p:spPr>
        <p:txBody>
          <a:bodyPr anchorCtr="0" anchor="b" bIns="44775" lIns="89900" spcFirstLastPara="1" rIns="89900" wrap="square" tIns="44775">
            <a:noAutofit/>
          </a:bodyPr>
          <a:lstStyle/>
          <a:p>
            <a:pPr indent="0" lvl="0" marL="0" rtl="0" algn="r">
              <a:spcBef>
                <a:spcPts val="0"/>
              </a:spcBef>
              <a:spcAft>
                <a:spcPts val="0"/>
              </a:spcAft>
              <a:buClr>
                <a:srgbClr val="000000"/>
              </a:buClr>
              <a:buSzPts val="1100"/>
              <a:buFont typeface="Times New Roman"/>
              <a:buNone/>
            </a:pPr>
            <a:fld id="{00000000-1234-1234-1234-123412341234}" type="slidenum">
              <a:rPr lang="pt-BR" sz="1300"/>
              <a:t>‹#›</a:t>
            </a:fld>
            <a:endParaRPr sz="1300"/>
          </a:p>
        </p:txBody>
      </p:sp>
      <p:sp>
        <p:nvSpPr>
          <p:cNvPr id="382" name="Google Shape;382;g3f9edaecf4b_0_13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83" name="Google Shape;383;g3f9edaecf4b_0_132:notes"/>
          <p:cNvSpPr txBox="1"/>
          <p:nvPr>
            <p:ph idx="1" type="body"/>
          </p:nvPr>
        </p:nvSpPr>
        <p:spPr>
          <a:xfrm>
            <a:off x="913805" y="4343703"/>
            <a:ext cx="5025900" cy="4110900"/>
          </a:xfrm>
          <a:prstGeom prst="rect">
            <a:avLst/>
          </a:prstGeom>
          <a:noFill/>
          <a:ln>
            <a:noFill/>
          </a:ln>
        </p:spPr>
        <p:txBody>
          <a:bodyPr anchorCtr="0" anchor="ctr" bIns="44775" lIns="89900" spcFirstLastPara="1" rIns="89900" wrap="square" tIns="4477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f9ebdf94e2_0_89:notes"/>
          <p:cNvSpPr txBox="1"/>
          <p:nvPr>
            <p:ph idx="12" type="sldNum"/>
          </p:nvPr>
        </p:nvSpPr>
        <p:spPr>
          <a:xfrm>
            <a:off x="3885903" y="8685893"/>
            <a:ext cx="2966100" cy="450600"/>
          </a:xfrm>
          <a:prstGeom prst="rect">
            <a:avLst/>
          </a:prstGeom>
          <a:noFill/>
          <a:ln>
            <a:noFill/>
          </a:ln>
        </p:spPr>
        <p:txBody>
          <a:bodyPr anchorCtr="0" anchor="b" bIns="44775" lIns="89900" spcFirstLastPara="1" rIns="89900" wrap="square" tIns="44775">
            <a:noAutofit/>
          </a:bodyPr>
          <a:lstStyle/>
          <a:p>
            <a:pPr indent="0" lvl="0" marL="0" rtl="0" algn="r">
              <a:spcBef>
                <a:spcPts val="0"/>
              </a:spcBef>
              <a:spcAft>
                <a:spcPts val="0"/>
              </a:spcAft>
              <a:buClr>
                <a:srgbClr val="000000"/>
              </a:buClr>
              <a:buSzPts val="1100"/>
              <a:buFont typeface="Times New Roman"/>
              <a:buNone/>
            </a:pPr>
            <a:fld id="{00000000-1234-1234-1234-123412341234}" type="slidenum">
              <a:rPr lang="pt-BR" sz="1300"/>
              <a:t>‹#›</a:t>
            </a:fld>
            <a:endParaRPr sz="1300"/>
          </a:p>
        </p:txBody>
      </p:sp>
      <p:sp>
        <p:nvSpPr>
          <p:cNvPr id="394" name="Google Shape;394;g3f9ebdf94e2_0_8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95" name="Google Shape;395;g3f9ebdf94e2_0_89:notes"/>
          <p:cNvSpPr txBox="1"/>
          <p:nvPr>
            <p:ph idx="1" type="body"/>
          </p:nvPr>
        </p:nvSpPr>
        <p:spPr>
          <a:xfrm>
            <a:off x="913805" y="4343703"/>
            <a:ext cx="5025900" cy="4110900"/>
          </a:xfrm>
          <a:prstGeom prst="rect">
            <a:avLst/>
          </a:prstGeom>
          <a:noFill/>
          <a:ln>
            <a:noFill/>
          </a:ln>
        </p:spPr>
        <p:txBody>
          <a:bodyPr anchorCtr="0" anchor="ctr" bIns="44775" lIns="89900" spcFirstLastPara="1" rIns="89900" wrap="square" tIns="4477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f8e6e790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g3f8e6e7904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f8b35c8c4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f8b35c8c4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f8b35c8c4a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f8b35c8c4a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f8b35c8c4a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f8b35c8c4a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f8b35c8c4a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f8b35c8c4a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8b35c8c4a_0_378: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445" name="Google Shape;445;g3f8b35c8c4a_0_378: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f8b35c8c4a_0_383: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451" name="Google Shape;451;g3f8b35c8c4a_0_383: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f8b35c8c4a_0_245: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3f8b35c8c4a_0_24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8b35c8c4a_0_311: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3f8b35c8c4a_0_31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f8b5dd33d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f8b5dd33d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f8b5dd33d0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f8b5dd33d0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f8b35c8c4a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f8b35c8c4a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f8b35c8c4a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f8b35c8c4a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f9d17cb37f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f9d17cb37f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8b5dd33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f8b5dd33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f8b5dd33d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f8b5dd33d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f8b5dd33d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f8b5dd33d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f8b5dd33d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f8b5dd33d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f8b5dd33d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f8b5dd33d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f9d17cb37f_0_4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550" name="Google Shape;550;g3f9d17cb37f_0_43: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One way of getting values for word similarity is to ask humans to judge how similar one word is to another. A number of datasets have resulted from such experiments. For example the SimLex-999 dataset (Hill et al., 2015) gives values on a scale from 0 to 10, from near-synonyms (</a:t>
            </a:r>
            <a:r>
              <a:rPr i="1" lang="pt-BR" sz="1100">
                <a:solidFill>
                  <a:schemeClr val="dk1"/>
                </a:solidFill>
                <a:latin typeface="Calibri"/>
                <a:ea typeface="Calibri"/>
                <a:cs typeface="Calibri"/>
                <a:sym typeface="Calibri"/>
              </a:rPr>
              <a:t>vanish</a:t>
            </a:r>
            <a:r>
              <a:rPr lang="pt-BR" sz="1100">
                <a:solidFill>
                  <a:schemeClr val="dk1"/>
                </a:solidFill>
                <a:latin typeface="Calibri"/>
                <a:ea typeface="Calibri"/>
                <a:cs typeface="Calibri"/>
                <a:sym typeface="Calibri"/>
              </a:rPr>
              <a:t>, </a:t>
            </a:r>
            <a:r>
              <a:rPr i="1" lang="pt-BR" sz="1100">
                <a:solidFill>
                  <a:schemeClr val="dk1"/>
                </a:solidFill>
                <a:latin typeface="Calibri"/>
                <a:ea typeface="Calibri"/>
                <a:cs typeface="Calibri"/>
                <a:sym typeface="Calibri"/>
              </a:rPr>
              <a:t>disappear</a:t>
            </a:r>
            <a:r>
              <a:rPr lang="pt-BR" sz="1100">
                <a:solidFill>
                  <a:schemeClr val="dk1"/>
                </a:solidFill>
                <a:latin typeface="Calibri"/>
                <a:ea typeface="Calibri"/>
                <a:cs typeface="Calibri"/>
                <a:sym typeface="Calibri"/>
              </a:rPr>
              <a:t>) to pairs that scarcely seem to have anything in common (</a:t>
            </a:r>
            <a:r>
              <a:rPr i="1" lang="pt-BR" sz="1100">
                <a:solidFill>
                  <a:schemeClr val="dk1"/>
                </a:solidFill>
                <a:latin typeface="Calibri"/>
                <a:ea typeface="Calibri"/>
                <a:cs typeface="Calibri"/>
                <a:sym typeface="Calibri"/>
              </a:rPr>
              <a:t>hole</a:t>
            </a:r>
            <a:r>
              <a:rPr lang="pt-BR" sz="1100">
                <a:solidFill>
                  <a:schemeClr val="dk1"/>
                </a:solidFill>
                <a:latin typeface="Calibri"/>
                <a:ea typeface="Calibri"/>
                <a:cs typeface="Calibri"/>
                <a:sym typeface="Calibri"/>
              </a:rPr>
              <a:t>, </a:t>
            </a:r>
            <a:r>
              <a:rPr i="1" lang="pt-BR" sz="1100">
                <a:solidFill>
                  <a:schemeClr val="dk1"/>
                </a:solidFill>
                <a:latin typeface="Calibri"/>
                <a:ea typeface="Calibri"/>
                <a:cs typeface="Calibri"/>
                <a:sym typeface="Calibri"/>
              </a:rPr>
              <a:t>agreement</a:t>
            </a:r>
            <a:r>
              <a:rPr lang="pt-BR" sz="11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p:txBody>
      </p:sp>
      <p:sp>
        <p:nvSpPr>
          <p:cNvPr id="551" name="Google Shape;551;g3f9d17cb37f_0_43: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f8b5dd33d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f8b5dd33d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b4b53f0be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fb4b53f0be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One common kind of relatedness between words is if they belong to the same </a:t>
            </a:r>
            <a:endParaRPr/>
          </a:p>
          <a:p>
            <a:pPr indent="0" lvl="0" marL="0" rtl="0" algn="l">
              <a:spcBef>
                <a:spcPts val="0"/>
              </a:spcBef>
              <a:spcAft>
                <a:spcPts val="0"/>
              </a:spcAft>
              <a:buNone/>
            </a:pPr>
            <a:r>
              <a:rPr lang="pt-BR"/>
              <a:t>semantic field. A semantic field is a set of words which cover a particular semantic domain and bear structured relations with each other. For example, words might be related by being in the semantic field of hospitals (surgeon, scalpel, nurse, anes- thetic, hospital), restaurants (waiter, menu, plate, food, chef), or houses (door, roof, kitchen, family, bed).</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fb4b53f0be_3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fb4b53f0be_3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f8b5dd33d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f8b5dd33d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fb4b53f0be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fb4b53f0be_3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fb4b53f0be_3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fb4b53f0be_3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Calibri"/>
              <a:buNone/>
            </a:pPr>
            <a:r>
              <a:rPr lang="pt-BR">
                <a:solidFill>
                  <a:schemeClr val="dk1"/>
                </a:solidFill>
                <a:latin typeface="Calibri"/>
                <a:ea typeface="Calibri"/>
                <a:cs typeface="Calibri"/>
                <a:sym typeface="Calibri"/>
              </a:rPr>
              <a:t>Finally, words have </a:t>
            </a:r>
            <a:r>
              <a:rPr i="1" lang="pt-BR">
                <a:solidFill>
                  <a:schemeClr val="dk1"/>
                </a:solidFill>
                <a:latin typeface="Calibri"/>
                <a:ea typeface="Calibri"/>
                <a:cs typeface="Calibri"/>
                <a:sym typeface="Calibri"/>
              </a:rPr>
              <a:t>affective meanings </a:t>
            </a:r>
            <a:r>
              <a:rPr lang="pt-BR">
                <a:solidFill>
                  <a:schemeClr val="dk1"/>
                </a:solidFill>
                <a:latin typeface="Calibri"/>
                <a:ea typeface="Calibri"/>
                <a:cs typeface="Calibri"/>
                <a:sym typeface="Calibri"/>
              </a:rPr>
              <a:t>or connotations. The word </a:t>
            </a:r>
            <a:r>
              <a:rPr i="1" lang="pt-BR">
                <a:solidFill>
                  <a:schemeClr val="dk1"/>
                </a:solidFill>
                <a:latin typeface="Calibri"/>
                <a:ea typeface="Calibri"/>
                <a:cs typeface="Calibri"/>
                <a:sym typeface="Calibri"/>
              </a:rPr>
              <a:t>connotation </a:t>
            </a:r>
            <a:r>
              <a:rPr lang="pt-BR">
                <a:solidFill>
                  <a:schemeClr val="dk1"/>
                </a:solidFill>
                <a:latin typeface="Calibri"/>
                <a:ea typeface="Calibri"/>
                <a:cs typeface="Calibri"/>
                <a:sym typeface="Calibri"/>
              </a:rPr>
              <a:t>has different meanings in different fields, but here we use it to mean the aspects of a word’s meaning that are related to a writer or reader’s emotions, sentiment, opinions, or evaluations. For example some words have positive conno- tations (</a:t>
            </a:r>
            <a:r>
              <a:rPr i="1" lang="pt-BR">
                <a:solidFill>
                  <a:schemeClr val="dk1"/>
                </a:solidFill>
                <a:latin typeface="Calibri"/>
                <a:ea typeface="Calibri"/>
                <a:cs typeface="Calibri"/>
                <a:sym typeface="Calibri"/>
              </a:rPr>
              <a:t>happy</a:t>
            </a:r>
            <a:r>
              <a:rPr lang="pt-BR">
                <a:solidFill>
                  <a:schemeClr val="dk1"/>
                </a:solidFill>
                <a:latin typeface="Calibri"/>
                <a:ea typeface="Calibri"/>
                <a:cs typeface="Calibri"/>
                <a:sym typeface="Calibri"/>
              </a:rPr>
              <a:t>) while others have negative connotations (</a:t>
            </a:r>
            <a:r>
              <a:rPr i="1" lang="pt-BR">
                <a:solidFill>
                  <a:schemeClr val="dk1"/>
                </a:solidFill>
                <a:latin typeface="Calibri"/>
                <a:ea typeface="Calibri"/>
                <a:cs typeface="Calibri"/>
                <a:sym typeface="Calibri"/>
              </a:rPr>
              <a:t>sad</a:t>
            </a:r>
            <a:r>
              <a:rPr lang="pt-BR">
                <a:solidFill>
                  <a:schemeClr val="dk1"/>
                </a:solidFill>
                <a:latin typeface="Calibri"/>
                <a:ea typeface="Calibri"/>
                <a:cs typeface="Calibri"/>
                <a:sym typeface="Calibri"/>
              </a:rPr>
              <a:t>). Even words whose meanings are similar in other ways can vary in connotation; consider the difference in connotations between </a:t>
            </a:r>
            <a:r>
              <a:rPr i="1" lang="pt-BR">
                <a:solidFill>
                  <a:schemeClr val="dk1"/>
                </a:solidFill>
                <a:latin typeface="Calibri"/>
                <a:ea typeface="Calibri"/>
                <a:cs typeface="Calibri"/>
                <a:sym typeface="Calibri"/>
              </a:rPr>
              <a:t>fake</a:t>
            </a:r>
            <a:r>
              <a:rPr lang="pt-BR">
                <a:solidFill>
                  <a:schemeClr val="dk1"/>
                </a:solidFill>
                <a:latin typeface="Calibri"/>
                <a:ea typeface="Calibri"/>
                <a:cs typeface="Calibri"/>
                <a:sym typeface="Calibri"/>
              </a:rPr>
              <a:t>, </a:t>
            </a:r>
            <a:r>
              <a:rPr i="1" lang="pt-BR">
                <a:solidFill>
                  <a:schemeClr val="dk1"/>
                </a:solidFill>
                <a:latin typeface="Calibri"/>
                <a:ea typeface="Calibri"/>
                <a:cs typeface="Calibri"/>
                <a:sym typeface="Calibri"/>
              </a:rPr>
              <a:t>knockoff</a:t>
            </a:r>
            <a:r>
              <a:rPr lang="pt-BR">
                <a:solidFill>
                  <a:schemeClr val="dk1"/>
                </a:solidFill>
                <a:latin typeface="Calibri"/>
                <a:ea typeface="Calibri"/>
                <a:cs typeface="Calibri"/>
                <a:sym typeface="Calibri"/>
              </a:rPr>
              <a:t>, </a:t>
            </a:r>
            <a:r>
              <a:rPr i="1" lang="pt-BR">
                <a:solidFill>
                  <a:schemeClr val="dk1"/>
                </a:solidFill>
                <a:latin typeface="Calibri"/>
                <a:ea typeface="Calibri"/>
                <a:cs typeface="Calibri"/>
                <a:sym typeface="Calibri"/>
              </a:rPr>
              <a:t>forgery</a:t>
            </a:r>
            <a:r>
              <a:rPr lang="pt-BR">
                <a:solidFill>
                  <a:schemeClr val="dk1"/>
                </a:solidFill>
                <a:latin typeface="Calibri"/>
                <a:ea typeface="Calibri"/>
                <a:cs typeface="Calibri"/>
                <a:sym typeface="Calibri"/>
              </a:rPr>
              <a:t>, on the one hand, and </a:t>
            </a:r>
            <a:r>
              <a:rPr i="1" lang="pt-BR">
                <a:solidFill>
                  <a:schemeClr val="dk1"/>
                </a:solidFill>
                <a:latin typeface="Calibri"/>
                <a:ea typeface="Calibri"/>
                <a:cs typeface="Calibri"/>
                <a:sym typeface="Calibri"/>
              </a:rPr>
              <a:t>copy</a:t>
            </a:r>
            <a:r>
              <a:rPr lang="pt-BR">
                <a:solidFill>
                  <a:schemeClr val="dk1"/>
                </a:solidFill>
                <a:latin typeface="Calibri"/>
                <a:ea typeface="Calibri"/>
                <a:cs typeface="Calibri"/>
                <a:sym typeface="Calibri"/>
              </a:rPr>
              <a:t>, </a:t>
            </a:r>
            <a:r>
              <a:rPr i="1" lang="pt-BR">
                <a:solidFill>
                  <a:schemeClr val="dk1"/>
                </a:solidFill>
                <a:latin typeface="Calibri"/>
                <a:ea typeface="Calibri"/>
                <a:cs typeface="Calibri"/>
                <a:sym typeface="Calibri"/>
              </a:rPr>
              <a:t>replica</a:t>
            </a:r>
            <a:r>
              <a:rPr lang="pt-BR">
                <a:solidFill>
                  <a:schemeClr val="dk1"/>
                </a:solidFill>
                <a:latin typeface="Calibri"/>
                <a:ea typeface="Calibri"/>
                <a:cs typeface="Calibri"/>
                <a:sym typeface="Calibri"/>
              </a:rPr>
              <a:t>, </a:t>
            </a:r>
            <a:r>
              <a:rPr i="1" lang="pt-BR">
                <a:solidFill>
                  <a:schemeClr val="dk1"/>
                </a:solidFill>
                <a:latin typeface="Calibri"/>
                <a:ea typeface="Calibri"/>
                <a:cs typeface="Calibri"/>
                <a:sym typeface="Calibri"/>
              </a:rPr>
              <a:t>reproduction </a:t>
            </a:r>
            <a:r>
              <a:rPr lang="pt-BR">
                <a:solidFill>
                  <a:schemeClr val="dk1"/>
                </a:solidFill>
                <a:latin typeface="Calibri"/>
                <a:ea typeface="Calibri"/>
                <a:cs typeface="Calibri"/>
                <a:sym typeface="Calibri"/>
              </a:rPr>
              <a:t>on the other </a:t>
            </a:r>
            <a:endParaRPr>
              <a:solidFill>
                <a:schemeClr val="dk1"/>
              </a:solidFill>
            </a:endParaRPr>
          </a:p>
          <a:p>
            <a:pPr indent="0" lvl="0" marL="0" rtl="0" algn="l">
              <a:spcBef>
                <a:spcPts val="0"/>
              </a:spcBef>
              <a:spcAft>
                <a:spcPts val="0"/>
              </a:spcAft>
              <a:buNone/>
            </a:pPr>
            <a:r>
              <a:rPr lang="pt-BR">
                <a:solidFill>
                  <a:schemeClr val="dk1"/>
                </a:solidFill>
                <a:latin typeface="Calibri"/>
                <a:ea typeface="Calibri"/>
                <a:cs typeface="Calibri"/>
                <a:sym typeface="Calibri"/>
              </a:rPr>
              <a:t>Some words describe positive evaluation (</a:t>
            </a:r>
            <a:r>
              <a:rPr i="1" lang="pt-BR">
                <a:solidFill>
                  <a:schemeClr val="dk1"/>
                </a:solidFill>
                <a:latin typeface="Calibri"/>
                <a:ea typeface="Calibri"/>
                <a:cs typeface="Calibri"/>
                <a:sym typeface="Calibri"/>
              </a:rPr>
              <a:t>great</a:t>
            </a:r>
            <a:r>
              <a:rPr lang="pt-BR">
                <a:solidFill>
                  <a:schemeClr val="dk1"/>
                </a:solidFill>
                <a:latin typeface="Calibri"/>
                <a:ea typeface="Calibri"/>
                <a:cs typeface="Calibri"/>
                <a:sym typeface="Calibri"/>
              </a:rPr>
              <a:t>, </a:t>
            </a:r>
            <a:r>
              <a:rPr i="1" lang="pt-BR">
                <a:solidFill>
                  <a:schemeClr val="dk1"/>
                </a:solidFill>
                <a:latin typeface="Calibri"/>
                <a:ea typeface="Calibri"/>
                <a:cs typeface="Calibri"/>
                <a:sym typeface="Calibri"/>
              </a:rPr>
              <a:t>love</a:t>
            </a:r>
            <a:r>
              <a:rPr lang="pt-BR">
                <a:solidFill>
                  <a:schemeClr val="dk1"/>
                </a:solidFill>
                <a:latin typeface="Calibri"/>
                <a:ea typeface="Calibri"/>
                <a:cs typeface="Calibri"/>
                <a:sym typeface="Calibri"/>
              </a:rPr>
              <a:t>) and others neg- ative evaluation (</a:t>
            </a:r>
            <a:r>
              <a:rPr i="1" lang="pt-BR">
                <a:solidFill>
                  <a:schemeClr val="dk1"/>
                </a:solidFill>
                <a:latin typeface="Calibri"/>
                <a:ea typeface="Calibri"/>
                <a:cs typeface="Calibri"/>
                <a:sym typeface="Calibri"/>
              </a:rPr>
              <a:t>terrible</a:t>
            </a:r>
            <a:r>
              <a:rPr lang="pt-BR">
                <a:solidFill>
                  <a:schemeClr val="dk1"/>
                </a:solidFill>
                <a:latin typeface="Calibri"/>
                <a:ea typeface="Calibri"/>
                <a:cs typeface="Calibri"/>
                <a:sym typeface="Calibri"/>
              </a:rPr>
              <a:t>, </a:t>
            </a:r>
            <a:r>
              <a:rPr i="1" lang="pt-BR">
                <a:solidFill>
                  <a:schemeClr val="dk1"/>
                </a:solidFill>
                <a:latin typeface="Calibri"/>
                <a:ea typeface="Calibri"/>
                <a:cs typeface="Calibri"/>
                <a:sym typeface="Calibri"/>
              </a:rPr>
              <a:t>hate</a:t>
            </a:r>
            <a:r>
              <a:rPr lang="pt-BR">
                <a:solidFill>
                  <a:schemeClr val="dk1"/>
                </a:solidFill>
                <a:latin typeface="Calibri"/>
                <a:ea typeface="Calibri"/>
                <a:cs typeface="Calibri"/>
                <a:sym typeface="Calibri"/>
              </a:rPr>
              <a:t>). Positive or negative evaluation language is called sentiment, as we saw already, and word sentiment plays a role in important tasks like sentiment analysis, stance detection, and applications of NLP to the lan- guage of politics and consumer reviews.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fb4b53f0be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fb4b53f0be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fb4b53f0be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fb4b53f0be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solidFill>
                  <a:schemeClr val="dk1"/>
                </a:solidFill>
                <a:latin typeface="Calibri"/>
                <a:ea typeface="Calibri"/>
                <a:cs typeface="Calibri"/>
                <a:sym typeface="Calibri"/>
              </a:rPr>
              <a:t>Early work on affective meaning (Osgood et al., 1957) found that words varied along three important dimensions of affective meaning:</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fb4b53f0be_3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fb4b53f0be_3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7a047440f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1" name="Google Shape;621;g37a047440fb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f9ebdf94e2_0_176:notes"/>
          <p:cNvSpPr txBox="1"/>
          <p:nvPr>
            <p:ph idx="1" type="body"/>
          </p:nvPr>
        </p:nvSpPr>
        <p:spPr>
          <a:xfrm>
            <a:off x="685829" y="4343327"/>
            <a:ext cx="54864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g3f9ebdf94e2_0_176: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f9ebdf94e2_0_234:notes"/>
          <p:cNvSpPr txBox="1"/>
          <p:nvPr>
            <p:ph idx="1" type="body"/>
          </p:nvPr>
        </p:nvSpPr>
        <p:spPr>
          <a:xfrm>
            <a:off x="685829" y="4343327"/>
            <a:ext cx="54864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g3f9ebdf94e2_0_234: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f9ebdf94e2_0_292:notes"/>
          <p:cNvSpPr txBox="1"/>
          <p:nvPr>
            <p:ph idx="1" type="body"/>
          </p:nvPr>
        </p:nvSpPr>
        <p:spPr>
          <a:xfrm>
            <a:off x="685829" y="4343327"/>
            <a:ext cx="54864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g3f9ebdf94e2_0_292: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f9ebdf94e2_0_626:notes"/>
          <p:cNvSpPr txBox="1"/>
          <p:nvPr>
            <p:ph idx="1" type="body"/>
          </p:nvPr>
        </p:nvSpPr>
        <p:spPr>
          <a:xfrm>
            <a:off x="685829" y="4343327"/>
            <a:ext cx="54864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g3f9ebdf94e2_0_626: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f9ebdf94e2_0_418:notes"/>
          <p:cNvSpPr txBox="1"/>
          <p:nvPr>
            <p:ph idx="1" type="body"/>
          </p:nvPr>
        </p:nvSpPr>
        <p:spPr>
          <a:xfrm>
            <a:off x="685829" y="4343327"/>
            <a:ext cx="54864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g3f9ebdf94e2_0_418: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f9ebdf94e2_0_438:notes"/>
          <p:cNvSpPr txBox="1"/>
          <p:nvPr>
            <p:ph idx="1" type="body"/>
          </p:nvPr>
        </p:nvSpPr>
        <p:spPr>
          <a:xfrm>
            <a:off x="685829" y="4343327"/>
            <a:ext cx="54864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g3f9ebdf94e2_0_438: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f9ebdf94e2_0_467:notes"/>
          <p:cNvSpPr txBox="1"/>
          <p:nvPr>
            <p:ph idx="1" type="body"/>
          </p:nvPr>
        </p:nvSpPr>
        <p:spPr>
          <a:xfrm>
            <a:off x="685829" y="4343327"/>
            <a:ext cx="54864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g3f9ebdf94e2_0_467: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f9ebdf94e2_0_501:notes"/>
          <p:cNvSpPr txBox="1"/>
          <p:nvPr>
            <p:ph idx="1" type="body"/>
          </p:nvPr>
        </p:nvSpPr>
        <p:spPr>
          <a:xfrm>
            <a:off x="685829" y="4343327"/>
            <a:ext cx="54864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g3f9ebdf94e2_0_501: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f9ebdf94e2_0_534:notes"/>
          <p:cNvSpPr txBox="1"/>
          <p:nvPr>
            <p:ph idx="1" type="body"/>
          </p:nvPr>
        </p:nvSpPr>
        <p:spPr>
          <a:xfrm>
            <a:off x="685829" y="4343327"/>
            <a:ext cx="54864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g3f9ebdf94e2_0_534: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f9ebdf94e2_0_684: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972" name="Google Shape;972;g3f9ebdf94e2_0_684: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f9ebdf94e2_0_696: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984" name="Google Shape;984;g3f9ebdf94e2_0_696: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f9ebdf94e2_0_70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989" name="Google Shape;989;g3f9ebdf94e2_0_700: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f9ebdf94e2_0_722: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012" name="Google Shape;1012;g3f9ebdf94e2_0_722: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f9ebdf94e2_0_758: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049" name="Google Shape;1049;g3f9ebdf94e2_0_758: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f9ebdf94e2_0_763: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055" name="Google Shape;1055;g3f9ebdf94e2_0_763: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9ebdf94e2_0_768: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061" name="Google Shape;1061;g3f9ebdf94e2_0_768: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9ebdf94e2_0_787: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081" name="Google Shape;1081;g3f9ebdf94e2_0_787: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f9ebdf94e2_0_792: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087" name="Google Shape;1087;g3f9ebdf94e2_0_792: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f9ebdf94e2_0_826: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122" name="Google Shape;1122;g3f9ebdf94e2_0_826: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f9ebdf94e2_0_83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127" name="Google Shape;1127;g3f9ebdf94e2_0_830: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3f9ebdf94e2_0_84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138" name="Google Shape;1138;g3f9ebdf94e2_0_840: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3f9ebdf94e2_0_859: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158" name="Google Shape;1158;g3f9ebdf94e2_0_859: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3f9ebdf94e2_0_882: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182" name="Google Shape;1182;g3f9ebdf94e2_0_882: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3f9ebdf94e2_0_909: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210" name="Google Shape;1210;g3f9ebdf94e2_0_909: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3f9ebdf94e2_0_94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242" name="Google Shape;1242;g3f9ebdf94e2_0_940: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3f9ebdf94e2_0_975: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278" name="Google Shape;1278;g3f9ebdf94e2_0_975: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f9ebdf94e2_0_997: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301" name="Google Shape;1301;g3f9ebdf94e2_0_997: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g3f9ebdf94e2_0_1029: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334" name="Google Shape;1334;g3f9ebdf94e2_0_1029: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3f9ebdf94e2_0_1033: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339" name="Google Shape;1339;g3f9ebdf94e2_0_1033: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3f9ebdf94e2_0_1038: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345" name="Google Shape;1345;g3f9ebdf94e2_0_1038: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3f9ebdf94e2_0_1048: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356" name="Google Shape;1356;g3f9ebdf94e2_0_1048: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3f9ebdf94e2_0_1053: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362" name="Google Shape;1362;g3f9ebdf94e2_0_1053: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3f9ebdf94e2_0_1069: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379" name="Google Shape;1379;g3f9ebdf94e2_0_1069: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3f9ebdf94e2_0_1074: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385" name="Google Shape;1385;g3f9ebdf94e2_0_1074: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3f9ebdf94e2_0_1109: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421" name="Google Shape;1421;g3f9ebdf94e2_0_1109: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g3f9ebdf94e2_0_1114: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427" name="Google Shape;1427;g3f9ebdf94e2_0_1114: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3f9ebdf94e2_0_112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434" name="Google Shape;1434;g3f9ebdf94e2_0_1120: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3f9ebdf94e2_0_1126: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441" name="Google Shape;1441;g3f9ebdf94e2_0_1126: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3f9ebdf94e2_0_1157: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473" name="Google Shape;1473;g3f9ebdf94e2_0_1157: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3f9ebdf94e2_0_1162: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479" name="Google Shape;1479;g3f9ebdf94e2_0_1162: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g3f9ebdf94e2_0_120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518" name="Google Shape;1518;g3f9ebdf94e2_0_1200: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g3f9ebdf94e2_0_133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537" name="Google Shape;1537;g3f9ebdf94e2_0_1330: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1" name="Shape 1561"/>
        <p:cNvGrpSpPr/>
        <p:nvPr/>
      </p:nvGrpSpPr>
      <p:grpSpPr>
        <a:xfrm>
          <a:off x="0" y="0"/>
          <a:ext cx="0" cy="0"/>
          <a:chOff x="0" y="0"/>
          <a:chExt cx="0" cy="0"/>
        </a:xfrm>
      </p:grpSpPr>
      <p:sp>
        <p:nvSpPr>
          <p:cNvPr id="1562" name="Google Shape;1562;g3f9ebdf94e2_0_1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3" name="Google Shape;1563;g3f9ebdf94e2_0_1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3f9ebdf94e2_0_1618: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571" name="Google Shape;1571;g3f9ebdf94e2_0_1618: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3f9ebdf94e2_0_148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1578" name="Google Shape;1578;g3f9ebdf94e2_0_1485: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marR="0" rtl="0" algn="l">
              <a:lnSpc>
                <a:spcPct val="100000"/>
              </a:lnSpc>
              <a:spcBef>
                <a:spcPts val="0"/>
              </a:spcBef>
              <a:spcAft>
                <a:spcPts val="0"/>
              </a:spcAft>
              <a:buClr>
                <a:schemeClr val="dk1"/>
              </a:buClr>
              <a:buSzPts val="1100"/>
              <a:buFont typeface="Calibri"/>
              <a:buNone/>
            </a:pPr>
            <a:r>
              <a:rPr b="0" lang="pt-BR" sz="1100">
                <a:solidFill>
                  <a:schemeClr val="dk1"/>
                </a:solidFill>
                <a:latin typeface="Calibri"/>
                <a:ea typeface="Calibri"/>
                <a:cs typeface="Calibri"/>
                <a:sym typeface="Calibri"/>
              </a:rPr>
              <a:t>Vector semantics </a:t>
            </a:r>
            <a:r>
              <a:rPr lang="pt-BR" sz="1100">
                <a:solidFill>
                  <a:schemeClr val="dk1"/>
                </a:solidFill>
                <a:latin typeface="Calibri"/>
                <a:ea typeface="Calibri"/>
                <a:cs typeface="Calibri"/>
                <a:sym typeface="Calibri"/>
              </a:rPr>
              <a:t>is the standard way to represent word meaning in NLP, helping us model many of the aspects of word meaning we saw in the previous section. The roots of the model lie in the 1950s when two big ideas converged: </a:t>
            </a:r>
            <a:endParaRPr/>
          </a:p>
          <a:p>
            <a:pPr indent="0" lvl="0" marL="0" rtl="0" algn="l">
              <a:spcBef>
                <a:spcPts val="0"/>
              </a:spcBef>
              <a:spcAft>
                <a:spcPts val="0"/>
              </a:spcAft>
              <a:buNone/>
            </a:pPr>
            <a:r>
              <a:t/>
            </a:r>
            <a:endParaRPr/>
          </a:p>
        </p:txBody>
      </p:sp>
      <p:sp>
        <p:nvSpPr>
          <p:cNvPr id="1579" name="Google Shape;1579;g3f9ebdf94e2_0_1485: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3f9ebdf94e2_0_149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1585" name="Google Shape;1585;g3f9ebdf94e2_0_1491: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pt-BR"/>
              <a:t>The first draws on the philosopher Wittgenstein's idea that the meaning of a word should be tied to how it is used</a:t>
            </a:r>
            <a:endParaRPr/>
          </a:p>
        </p:txBody>
      </p:sp>
      <p:sp>
        <p:nvSpPr>
          <p:cNvPr id="1586" name="Google Shape;1586;g3f9ebdf94e2_0_1491: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g3f8d41e330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3" name="Google Shape;1593;g3f8d41e330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solidFill>
                  <a:schemeClr val="dk1"/>
                </a:solidFill>
                <a:latin typeface="Calibri"/>
                <a:ea typeface="Calibri"/>
                <a:cs typeface="Calibri"/>
                <a:sym typeface="Calibri"/>
              </a:rPr>
              <a:t>linguists like Joos (1950), Harris (1954), and Firth (1957) had the related idea of defining the meaning of a word by its distribution in language use, meaning its neighboring words or grammatical environments.</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g3f8d41e330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0" name="Google Shape;1600;g3f8d41e330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Calibri"/>
              <a:buNone/>
            </a:pPr>
            <a:r>
              <a:rPr lang="pt-BR">
                <a:solidFill>
                  <a:schemeClr val="dk1"/>
                </a:solidFill>
                <a:latin typeface="Calibri"/>
                <a:ea typeface="Calibri"/>
                <a:cs typeface="Calibri"/>
                <a:sym typeface="Calibri"/>
              </a:rPr>
              <a:t>For example, suppose you didn’t know the meaning of the word </a:t>
            </a:r>
            <a:r>
              <a:rPr i="1" lang="pt-BR">
                <a:solidFill>
                  <a:schemeClr val="dk1"/>
                </a:solidFill>
                <a:latin typeface="Calibri"/>
                <a:ea typeface="Calibri"/>
                <a:cs typeface="Calibri"/>
                <a:sym typeface="Calibri"/>
              </a:rPr>
              <a:t>ongchoi </a:t>
            </a:r>
            <a:r>
              <a:rPr lang="pt-BR">
                <a:solidFill>
                  <a:schemeClr val="dk1"/>
                </a:solidFill>
                <a:latin typeface="Calibri"/>
                <a:ea typeface="Calibri"/>
                <a:cs typeface="Calibri"/>
                <a:sym typeface="Calibri"/>
              </a:rPr>
              <a:t>(a recent borrowing from Cantonese) but you see it in the following contexts: </a:t>
            </a:r>
            <a:endParaRPr>
              <a:solidFill>
                <a:schemeClr val="dk1"/>
              </a:solidFill>
            </a:endParaRPr>
          </a:p>
          <a:p>
            <a:pPr indent="0" lvl="0" marL="0" rtl="0" algn="l">
              <a:spcBef>
                <a:spcPts val="0"/>
              </a:spcBef>
              <a:spcAft>
                <a:spcPts val="0"/>
              </a:spcAft>
              <a:buClr>
                <a:schemeClr val="dk1"/>
              </a:buClr>
              <a:buSzPts val="1100"/>
              <a:buFont typeface="Calibri"/>
              <a:buNone/>
            </a:pPr>
            <a:r>
              <a:rPr lang="pt-BR">
                <a:solidFill>
                  <a:schemeClr val="dk1"/>
                </a:solidFill>
                <a:latin typeface="Calibri"/>
                <a:ea typeface="Calibri"/>
                <a:cs typeface="Calibri"/>
                <a:sym typeface="Calibri"/>
              </a:rPr>
              <a:t>…</a:t>
            </a:r>
            <a:endParaRPr>
              <a:solidFill>
                <a:schemeClr val="dk1"/>
              </a:solidFill>
            </a:endParaRPr>
          </a:p>
          <a:p>
            <a:pPr indent="0" lvl="0" marL="0" rtl="0" algn="l">
              <a:spcBef>
                <a:spcPts val="0"/>
              </a:spcBef>
              <a:spcAft>
                <a:spcPts val="0"/>
              </a:spcAft>
              <a:buNone/>
            </a:pPr>
            <a:r>
              <a:rPr lang="pt-BR">
                <a:solidFill>
                  <a:schemeClr val="dk1"/>
                </a:solidFill>
                <a:latin typeface="Calibri"/>
                <a:ea typeface="Calibri"/>
                <a:cs typeface="Calibri"/>
                <a:sym typeface="Calibri"/>
              </a:rPr>
              <a:t>We can do the same thing computationally by just counting words in the context of </a:t>
            </a:r>
            <a:r>
              <a:rPr i="1" lang="pt-BR">
                <a:solidFill>
                  <a:schemeClr val="dk1"/>
                </a:solidFill>
                <a:latin typeface="Calibri"/>
                <a:ea typeface="Calibri"/>
                <a:cs typeface="Calibri"/>
                <a:sym typeface="Calibri"/>
              </a:rPr>
              <a:t>ongchoi</a:t>
            </a:r>
            <a:r>
              <a:rPr lang="pt-BR">
                <a:solidFill>
                  <a:schemeClr val="dk1"/>
                </a:solidFill>
                <a:latin typeface="Calibri"/>
                <a:ea typeface="Calibri"/>
                <a:cs typeface="Calibri"/>
                <a:sym typeface="Calibri"/>
              </a:rPr>
              <a:t>.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g3f8d41e330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7" name="Google Shape;1607;g3f8d41e330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solidFill>
                  <a:schemeClr val="dk1"/>
                </a:solidFill>
              </a:rPr>
              <a:t>Here's a picture of ongchoi for you food fans</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g3fb4b53f0be_3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6" name="Google Shape;1616;g3fb4b53f0be_3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3fb4b53f0be_3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g3fb4b53f0be_3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3fb4b53f0be_3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0" name="Google Shape;1630;g3fb4b53f0be_3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3fb4b53f0be_3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7" name="Google Shape;1637;g3fb4b53f0be_3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g3f8d41e330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3" name="Google Shape;1643;g3f8d41e330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solidFill>
                  <a:schemeClr val="dk1"/>
                </a:solidFill>
              </a:rPr>
              <a:t>So we can express this first intuition as Idea 1:</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g3fb4b53f0be_3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9" name="Google Shape;1649;g3fb4b53f0be_3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g3f8d41e330d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6" name="Google Shape;1656;g3f8d41e330d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9" name="Shape 1669"/>
        <p:cNvGrpSpPr/>
        <p:nvPr/>
      </p:nvGrpSpPr>
      <p:grpSpPr>
        <a:xfrm>
          <a:off x="0" y="0"/>
          <a:ext cx="0" cy="0"/>
          <a:chOff x="0" y="0"/>
          <a:chExt cx="0" cy="0"/>
        </a:xfrm>
      </p:grpSpPr>
      <p:sp>
        <p:nvSpPr>
          <p:cNvPr id="1670" name="Google Shape;1670;g3fb4b53f0be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1" name="Google Shape;1671;g3fb4b53f0be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6" name="Shape 1676"/>
        <p:cNvGrpSpPr/>
        <p:nvPr/>
      </p:nvGrpSpPr>
      <p:grpSpPr>
        <a:xfrm>
          <a:off x="0" y="0"/>
          <a:ext cx="0" cy="0"/>
          <a:chOff x="0" y="0"/>
          <a:chExt cx="0" cy="0"/>
        </a:xfrm>
      </p:grpSpPr>
      <p:sp>
        <p:nvSpPr>
          <p:cNvPr id="1677" name="Google Shape;1677;g3f8d41e330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8" name="Google Shape;1678;g3f8d41e330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solidFill>
                  <a:schemeClr val="dk1"/>
                </a:solidFill>
                <a:latin typeface="Calibri"/>
                <a:ea typeface="Calibri"/>
                <a:cs typeface="Calibri"/>
                <a:sym typeface="Calibri"/>
              </a:rPr>
              <a:t>And the second idea is Osgood’s (1957) idea mentioned in the prior lecture, in which the connotation of a word is represented by 3 numbers, it's valence, arousal, and dominance.  That means we are essentially  representing a word's connotation by a point in three-dimensional space!  But suppose we represent more than just a word's connotation</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3f9ebdf94e2_0_153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1688" name="Google Shape;1688;g3f9ebdf94e2_0_1531: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pt-BR"/>
              <a:t>So we're going to combine these two ideas: </a:t>
            </a:r>
            <a:endParaRPr/>
          </a:p>
        </p:txBody>
      </p:sp>
      <p:sp>
        <p:nvSpPr>
          <p:cNvPr id="1689" name="Google Shape;1689;g3f9ebdf94e2_0_1531: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3" name="Shape 1693"/>
        <p:cNvGrpSpPr/>
        <p:nvPr/>
      </p:nvGrpSpPr>
      <p:grpSpPr>
        <a:xfrm>
          <a:off x="0" y="0"/>
          <a:ext cx="0" cy="0"/>
          <a:chOff x="0" y="0"/>
          <a:chExt cx="0" cy="0"/>
        </a:xfrm>
      </p:grpSpPr>
      <p:sp>
        <p:nvSpPr>
          <p:cNvPr id="1694" name="Google Shape;1694;g3fb4b53f0be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5" name="Google Shape;1695;g3fb4b53f0be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In vector semantics, we define meaning as a point in space based on distribution.  Each word is a vector, not just a string like "good" or an index like "w_45". Similar words are nearby in semantic space, and, crucially, as we'll see, we build this space automatically by seeing which words are nearby in text. Here we see shows a visualization of embeddings learned for sentiment analysis, showing the location of selected words projected down from 60-dimensional space into a two dimensional space. Notice the distinct regions containing positive words, negative words, and neutral function words.</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g3f9ebdf94e2_0_1543: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g3f9ebdf94e2_0_154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g3f9ebdf94e2_0_1548: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g3f9ebdf94e2_0_154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1" name="Shape 1711"/>
        <p:cNvGrpSpPr/>
        <p:nvPr/>
      </p:nvGrpSpPr>
      <p:grpSpPr>
        <a:xfrm>
          <a:off x="0" y="0"/>
          <a:ext cx="0" cy="0"/>
          <a:chOff x="0" y="0"/>
          <a:chExt cx="0" cy="0"/>
        </a:xfrm>
      </p:grpSpPr>
      <p:sp>
        <p:nvSpPr>
          <p:cNvPr id="1712" name="Google Shape;1712;g3f9ebdf94e2_0_1553: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g3f9ebdf94e2_0_155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g3f9ebdf94e2_0_1558: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g3f9ebdf94e2_0_155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3" name="Shape 1723"/>
        <p:cNvGrpSpPr/>
        <p:nvPr/>
      </p:nvGrpSpPr>
      <p:grpSpPr>
        <a:xfrm>
          <a:off x="0" y="0"/>
          <a:ext cx="0" cy="0"/>
          <a:chOff x="0" y="0"/>
          <a:chExt cx="0" cy="0"/>
        </a:xfrm>
      </p:grpSpPr>
      <p:sp>
        <p:nvSpPr>
          <p:cNvPr id="1724" name="Google Shape;1724;g3fb4b53f0be_3_87: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725" name="Google Shape;1725;g3fb4b53f0be_3_87: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2" name="Google Shape;173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3f8d50099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8" name="Google Shape;1738;g3f8d500992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3f8b35c8c4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4" name="Google Shape;1744;g3f8b35c8c4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g3f8b9352fab_0_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p:txBody>
      </p:sp>
      <p:sp>
        <p:nvSpPr>
          <p:cNvPr id="1751" name="Google Shape;1751;g3f8b9352fab_0_0:notes"/>
          <p:cNvSpPr/>
          <p:nvPr>
            <p:ph idx="2" type="sldImg"/>
          </p:nvPr>
        </p:nvSpPr>
        <p:spPr>
          <a:xfrm>
            <a:off x="1004165" y="694895"/>
            <a:ext cx="48495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0" name="Shape 1760"/>
        <p:cNvGrpSpPr/>
        <p:nvPr/>
      </p:nvGrpSpPr>
      <p:grpSpPr>
        <a:xfrm>
          <a:off x="0" y="0"/>
          <a:ext cx="0" cy="0"/>
          <a:chOff x="0" y="0"/>
          <a:chExt cx="0" cy="0"/>
        </a:xfrm>
      </p:grpSpPr>
      <p:sp>
        <p:nvSpPr>
          <p:cNvPr id="1761" name="Google Shape;1761;g3f6939d4d9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2" name="Google Shape;1762;g3f6939d4d94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6F6476"/>
        </a:solidFill>
      </p:bgPr>
    </p:bg>
    <p:spTree>
      <p:nvGrpSpPr>
        <p:cNvPr id="9" name="Shape 9"/>
        <p:cNvGrpSpPr/>
        <p:nvPr/>
      </p:nvGrpSpPr>
      <p:grpSpPr>
        <a:xfrm>
          <a:off x="0" y="0"/>
          <a:ext cx="0" cy="0"/>
          <a:chOff x="0" y="0"/>
          <a:chExt cx="0" cy="0"/>
        </a:xfrm>
      </p:grpSpPr>
      <p:sp>
        <p:nvSpPr>
          <p:cNvPr id="10" name="Google Shape;1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4000"/>
              <a:buNone/>
              <a:defRPr sz="4000">
                <a:solidFill>
                  <a:schemeClr val="lt1"/>
                </a:solidFill>
              </a:defRPr>
            </a:lvl1pPr>
            <a:lvl2pPr lvl="1" algn="ctr">
              <a:lnSpc>
                <a:spcPct val="100000"/>
              </a:lnSpc>
              <a:spcBef>
                <a:spcPts val="0"/>
              </a:spcBef>
              <a:spcAft>
                <a:spcPts val="0"/>
              </a:spcAft>
              <a:buClr>
                <a:schemeClr val="lt1"/>
              </a:buClr>
              <a:buSzPts val="5200"/>
              <a:buNone/>
              <a:defRPr sz="5200">
                <a:solidFill>
                  <a:schemeClr val="lt1"/>
                </a:solidFill>
              </a:defRPr>
            </a:lvl2pPr>
            <a:lvl3pPr lvl="2" algn="ctr">
              <a:lnSpc>
                <a:spcPct val="100000"/>
              </a:lnSpc>
              <a:spcBef>
                <a:spcPts val="0"/>
              </a:spcBef>
              <a:spcAft>
                <a:spcPts val="0"/>
              </a:spcAft>
              <a:buClr>
                <a:schemeClr val="lt1"/>
              </a:buClr>
              <a:buSzPts val="5200"/>
              <a:buNone/>
              <a:defRPr sz="5200">
                <a:solidFill>
                  <a:schemeClr val="lt1"/>
                </a:solidFill>
              </a:defRPr>
            </a:lvl3pPr>
            <a:lvl4pPr lvl="3" algn="ctr">
              <a:lnSpc>
                <a:spcPct val="100000"/>
              </a:lnSpc>
              <a:spcBef>
                <a:spcPts val="0"/>
              </a:spcBef>
              <a:spcAft>
                <a:spcPts val="0"/>
              </a:spcAft>
              <a:buClr>
                <a:schemeClr val="lt1"/>
              </a:buClr>
              <a:buSzPts val="5200"/>
              <a:buNone/>
              <a:defRPr sz="5200">
                <a:solidFill>
                  <a:schemeClr val="lt1"/>
                </a:solidFill>
              </a:defRPr>
            </a:lvl4pPr>
            <a:lvl5pPr lvl="4" algn="ctr">
              <a:lnSpc>
                <a:spcPct val="100000"/>
              </a:lnSpc>
              <a:spcBef>
                <a:spcPts val="0"/>
              </a:spcBef>
              <a:spcAft>
                <a:spcPts val="0"/>
              </a:spcAft>
              <a:buClr>
                <a:schemeClr val="lt1"/>
              </a:buClr>
              <a:buSzPts val="5200"/>
              <a:buNone/>
              <a:defRPr sz="5200">
                <a:solidFill>
                  <a:schemeClr val="lt1"/>
                </a:solidFill>
              </a:defRPr>
            </a:lvl5pPr>
            <a:lvl6pPr lvl="5" algn="ctr">
              <a:lnSpc>
                <a:spcPct val="100000"/>
              </a:lnSpc>
              <a:spcBef>
                <a:spcPts val="0"/>
              </a:spcBef>
              <a:spcAft>
                <a:spcPts val="0"/>
              </a:spcAft>
              <a:buClr>
                <a:schemeClr val="lt1"/>
              </a:buClr>
              <a:buSzPts val="5200"/>
              <a:buNone/>
              <a:defRPr sz="5200">
                <a:solidFill>
                  <a:schemeClr val="lt1"/>
                </a:solidFill>
              </a:defRPr>
            </a:lvl6pPr>
            <a:lvl7pPr lvl="6" algn="ctr">
              <a:lnSpc>
                <a:spcPct val="100000"/>
              </a:lnSpc>
              <a:spcBef>
                <a:spcPts val="0"/>
              </a:spcBef>
              <a:spcAft>
                <a:spcPts val="0"/>
              </a:spcAft>
              <a:buClr>
                <a:schemeClr val="lt1"/>
              </a:buClr>
              <a:buSzPts val="5200"/>
              <a:buNone/>
              <a:defRPr sz="5200">
                <a:solidFill>
                  <a:schemeClr val="lt1"/>
                </a:solidFill>
              </a:defRPr>
            </a:lvl7pPr>
            <a:lvl8pPr lvl="7" algn="ctr">
              <a:lnSpc>
                <a:spcPct val="100000"/>
              </a:lnSpc>
              <a:spcBef>
                <a:spcPts val="0"/>
              </a:spcBef>
              <a:spcAft>
                <a:spcPts val="0"/>
              </a:spcAft>
              <a:buClr>
                <a:schemeClr val="lt1"/>
              </a:buClr>
              <a:buSzPts val="5200"/>
              <a:buNone/>
              <a:defRPr sz="5200">
                <a:solidFill>
                  <a:schemeClr val="lt1"/>
                </a:solidFill>
              </a:defRPr>
            </a:lvl8pPr>
            <a:lvl9pPr lvl="8" algn="ctr">
              <a:lnSpc>
                <a:spcPct val="100000"/>
              </a:lnSpc>
              <a:spcBef>
                <a:spcPts val="0"/>
              </a:spcBef>
              <a:spcAft>
                <a:spcPts val="0"/>
              </a:spcAft>
              <a:buClr>
                <a:schemeClr val="lt1"/>
              </a:buClr>
              <a:buSzPts val="5200"/>
              <a:buNone/>
              <a:defRPr sz="5200">
                <a:solidFill>
                  <a:schemeClr val="lt1"/>
                </a:solidFill>
              </a:defRPr>
            </a:lvl9pPr>
          </a:lstStyle>
          <a:p/>
        </p:txBody>
      </p:sp>
      <p:sp>
        <p:nvSpPr>
          <p:cNvPr id="11" name="Google Shape;1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B7B7B7"/>
              </a:buClr>
              <a:buSzPts val="2000"/>
              <a:buNone/>
              <a:defRPr sz="2000">
                <a:solidFill>
                  <a:srgbClr val="B7B7B7"/>
                </a:solidFill>
              </a:defRPr>
            </a:lvl1pPr>
            <a:lvl2pPr lvl="1" algn="ctr">
              <a:lnSpc>
                <a:spcPct val="100000"/>
              </a:lnSpc>
              <a:spcBef>
                <a:spcPts val="0"/>
              </a:spcBef>
              <a:spcAft>
                <a:spcPts val="0"/>
              </a:spcAft>
              <a:buClr>
                <a:srgbClr val="B7B7B7"/>
              </a:buClr>
              <a:buSzPts val="2000"/>
              <a:buNone/>
              <a:defRPr sz="2000">
                <a:solidFill>
                  <a:srgbClr val="B7B7B7"/>
                </a:solidFill>
              </a:defRPr>
            </a:lvl2pPr>
            <a:lvl3pPr lvl="2" algn="ctr">
              <a:lnSpc>
                <a:spcPct val="100000"/>
              </a:lnSpc>
              <a:spcBef>
                <a:spcPts val="0"/>
              </a:spcBef>
              <a:spcAft>
                <a:spcPts val="0"/>
              </a:spcAft>
              <a:buClr>
                <a:srgbClr val="B7B7B7"/>
              </a:buClr>
              <a:buSzPts val="2000"/>
              <a:buNone/>
              <a:defRPr sz="2000">
                <a:solidFill>
                  <a:srgbClr val="B7B7B7"/>
                </a:solidFill>
              </a:defRPr>
            </a:lvl3pPr>
            <a:lvl4pPr lvl="3" algn="ctr">
              <a:lnSpc>
                <a:spcPct val="100000"/>
              </a:lnSpc>
              <a:spcBef>
                <a:spcPts val="0"/>
              </a:spcBef>
              <a:spcAft>
                <a:spcPts val="0"/>
              </a:spcAft>
              <a:buClr>
                <a:srgbClr val="B7B7B7"/>
              </a:buClr>
              <a:buSzPts val="2000"/>
              <a:buNone/>
              <a:defRPr sz="2000">
                <a:solidFill>
                  <a:srgbClr val="B7B7B7"/>
                </a:solidFill>
              </a:defRPr>
            </a:lvl4pPr>
            <a:lvl5pPr lvl="4" algn="ctr">
              <a:lnSpc>
                <a:spcPct val="100000"/>
              </a:lnSpc>
              <a:spcBef>
                <a:spcPts val="0"/>
              </a:spcBef>
              <a:spcAft>
                <a:spcPts val="0"/>
              </a:spcAft>
              <a:buClr>
                <a:srgbClr val="B7B7B7"/>
              </a:buClr>
              <a:buSzPts val="2000"/>
              <a:buNone/>
              <a:defRPr sz="2000">
                <a:solidFill>
                  <a:srgbClr val="B7B7B7"/>
                </a:solidFill>
              </a:defRPr>
            </a:lvl5pPr>
            <a:lvl6pPr lvl="5" algn="ctr">
              <a:lnSpc>
                <a:spcPct val="100000"/>
              </a:lnSpc>
              <a:spcBef>
                <a:spcPts val="0"/>
              </a:spcBef>
              <a:spcAft>
                <a:spcPts val="0"/>
              </a:spcAft>
              <a:buClr>
                <a:srgbClr val="B7B7B7"/>
              </a:buClr>
              <a:buSzPts val="2000"/>
              <a:buNone/>
              <a:defRPr sz="2000">
                <a:solidFill>
                  <a:srgbClr val="B7B7B7"/>
                </a:solidFill>
              </a:defRPr>
            </a:lvl6pPr>
            <a:lvl7pPr lvl="6" algn="ctr">
              <a:lnSpc>
                <a:spcPct val="100000"/>
              </a:lnSpc>
              <a:spcBef>
                <a:spcPts val="0"/>
              </a:spcBef>
              <a:spcAft>
                <a:spcPts val="0"/>
              </a:spcAft>
              <a:buClr>
                <a:srgbClr val="B7B7B7"/>
              </a:buClr>
              <a:buSzPts val="2000"/>
              <a:buNone/>
              <a:defRPr sz="2000">
                <a:solidFill>
                  <a:srgbClr val="B7B7B7"/>
                </a:solidFill>
              </a:defRPr>
            </a:lvl7pPr>
            <a:lvl8pPr lvl="7" algn="ctr">
              <a:lnSpc>
                <a:spcPct val="100000"/>
              </a:lnSpc>
              <a:spcBef>
                <a:spcPts val="0"/>
              </a:spcBef>
              <a:spcAft>
                <a:spcPts val="0"/>
              </a:spcAft>
              <a:buClr>
                <a:srgbClr val="B7B7B7"/>
              </a:buClr>
              <a:buSzPts val="2000"/>
              <a:buNone/>
              <a:defRPr sz="2000">
                <a:solidFill>
                  <a:srgbClr val="B7B7B7"/>
                </a:solidFill>
              </a:defRPr>
            </a:lvl8pPr>
            <a:lvl9pPr lvl="8" algn="ctr">
              <a:lnSpc>
                <a:spcPct val="100000"/>
              </a:lnSpc>
              <a:spcBef>
                <a:spcPts val="0"/>
              </a:spcBef>
              <a:spcAft>
                <a:spcPts val="0"/>
              </a:spcAft>
              <a:buClr>
                <a:srgbClr val="B7B7B7"/>
              </a:buClr>
              <a:buSzPts val="2000"/>
              <a:buNone/>
              <a:defRPr sz="2000">
                <a:solidFill>
                  <a:srgbClr val="B7B7B7"/>
                </a:solidFill>
              </a:defRPr>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419100" lvl="0" marL="457200" algn="l">
              <a:lnSpc>
                <a:spcPct val="115000"/>
              </a:lnSpc>
              <a:spcBef>
                <a:spcPts val="0"/>
              </a:spcBef>
              <a:spcAft>
                <a:spcPts val="0"/>
              </a:spcAft>
              <a:buSzPts val="3000"/>
              <a:buChar char="●"/>
              <a:defRPr/>
            </a:lvl1pPr>
            <a:lvl2pPr indent="-381000" lvl="1" marL="914400" algn="l">
              <a:lnSpc>
                <a:spcPct val="115000"/>
              </a:lnSpc>
              <a:spcBef>
                <a:spcPts val="1600"/>
              </a:spcBef>
              <a:spcAft>
                <a:spcPts val="0"/>
              </a:spcAft>
              <a:buSzPts val="2400"/>
              <a:buChar char="○"/>
              <a:defRPr/>
            </a:lvl2pPr>
            <a:lvl3pPr indent="-342900" lvl="2" marL="1371600" algn="l">
              <a:lnSpc>
                <a:spcPct val="115000"/>
              </a:lnSpc>
              <a:spcBef>
                <a:spcPts val="1600"/>
              </a:spcBef>
              <a:spcAft>
                <a:spcPts val="0"/>
              </a:spcAft>
              <a:buSzPts val="18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 name="Shape 20"/>
        <p:cNvGrpSpPr/>
        <p:nvPr/>
      </p:nvGrpSpPr>
      <p:grpSpPr>
        <a:xfrm>
          <a:off x="0" y="0"/>
          <a:ext cx="0" cy="0"/>
          <a:chOff x="0" y="0"/>
          <a:chExt cx="0" cy="0"/>
        </a:xfrm>
      </p:grpSpPr>
      <p:sp>
        <p:nvSpPr>
          <p:cNvPr id="21" name="Google Shape;21;p12"/>
          <p:cNvSpPr/>
          <p:nvPr/>
        </p:nvSpPr>
        <p:spPr>
          <a:xfrm>
            <a:off x="0" y="-125"/>
            <a:ext cx="4572000" cy="5143500"/>
          </a:xfrm>
          <a:prstGeom prst="rect">
            <a:avLst/>
          </a:prstGeom>
          <a:solidFill>
            <a:srgbClr val="6F64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B2E2C"/>
              </a:solidFill>
              <a:latin typeface="Arial"/>
              <a:ea typeface="Arial"/>
              <a:cs typeface="Arial"/>
              <a:sym typeface="Arial"/>
            </a:endParaRPr>
          </a:p>
        </p:txBody>
      </p:sp>
      <p:sp>
        <p:nvSpPr>
          <p:cNvPr id="22" name="Google Shape;22;p1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3000"/>
              <a:buNone/>
              <a:defRPr sz="30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p:txBody>
      </p:sp>
      <p:sp>
        <p:nvSpPr>
          <p:cNvPr id="23" name="Google Shape;23;p1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D9D9D9"/>
              </a:buClr>
              <a:buSzPts val="1400"/>
              <a:buNone/>
              <a:defRPr sz="1400">
                <a:solidFill>
                  <a:srgbClr val="D9D9D9"/>
                </a:solidFill>
              </a:defRPr>
            </a:lvl1pPr>
            <a:lvl2pPr lvl="1" algn="ctr">
              <a:lnSpc>
                <a:spcPct val="100000"/>
              </a:lnSpc>
              <a:spcBef>
                <a:spcPts val="0"/>
              </a:spcBef>
              <a:spcAft>
                <a:spcPts val="0"/>
              </a:spcAft>
              <a:buClr>
                <a:srgbClr val="D9D9D9"/>
              </a:buClr>
              <a:buSzPts val="2400"/>
              <a:buNone/>
              <a:defRPr>
                <a:solidFill>
                  <a:srgbClr val="D9D9D9"/>
                </a:solidFill>
              </a:defRPr>
            </a:lvl2pPr>
            <a:lvl3pPr lvl="2" algn="ctr">
              <a:lnSpc>
                <a:spcPct val="100000"/>
              </a:lnSpc>
              <a:spcBef>
                <a:spcPts val="0"/>
              </a:spcBef>
              <a:spcAft>
                <a:spcPts val="0"/>
              </a:spcAft>
              <a:buClr>
                <a:srgbClr val="D9D9D9"/>
              </a:buClr>
              <a:buSzPts val="1800"/>
              <a:buNone/>
              <a:defRPr>
                <a:solidFill>
                  <a:srgbClr val="D9D9D9"/>
                </a:solidFill>
              </a:defRPr>
            </a:lvl3pPr>
            <a:lvl4pPr lvl="3" algn="ctr">
              <a:lnSpc>
                <a:spcPct val="100000"/>
              </a:lnSpc>
              <a:spcBef>
                <a:spcPts val="0"/>
              </a:spcBef>
              <a:spcAft>
                <a:spcPts val="0"/>
              </a:spcAft>
              <a:buClr>
                <a:srgbClr val="D9D9D9"/>
              </a:buClr>
              <a:buSzPts val="1400"/>
              <a:buNone/>
              <a:defRPr>
                <a:solidFill>
                  <a:srgbClr val="D9D9D9"/>
                </a:solidFill>
              </a:defRPr>
            </a:lvl4pPr>
            <a:lvl5pPr lvl="4" algn="ctr">
              <a:lnSpc>
                <a:spcPct val="100000"/>
              </a:lnSpc>
              <a:spcBef>
                <a:spcPts val="0"/>
              </a:spcBef>
              <a:spcAft>
                <a:spcPts val="0"/>
              </a:spcAft>
              <a:buClr>
                <a:srgbClr val="D9D9D9"/>
              </a:buClr>
              <a:buSzPts val="1400"/>
              <a:buNone/>
              <a:defRPr>
                <a:solidFill>
                  <a:srgbClr val="D9D9D9"/>
                </a:solidFill>
              </a:defRPr>
            </a:lvl5pPr>
            <a:lvl6pPr lvl="5" algn="ctr">
              <a:lnSpc>
                <a:spcPct val="100000"/>
              </a:lnSpc>
              <a:spcBef>
                <a:spcPts val="0"/>
              </a:spcBef>
              <a:spcAft>
                <a:spcPts val="0"/>
              </a:spcAft>
              <a:buClr>
                <a:srgbClr val="D9D9D9"/>
              </a:buClr>
              <a:buSzPts val="1400"/>
              <a:buNone/>
              <a:defRPr>
                <a:solidFill>
                  <a:srgbClr val="D9D9D9"/>
                </a:solidFill>
              </a:defRPr>
            </a:lvl6pPr>
            <a:lvl7pPr lvl="6" algn="ctr">
              <a:lnSpc>
                <a:spcPct val="100000"/>
              </a:lnSpc>
              <a:spcBef>
                <a:spcPts val="0"/>
              </a:spcBef>
              <a:spcAft>
                <a:spcPts val="0"/>
              </a:spcAft>
              <a:buClr>
                <a:srgbClr val="D9D9D9"/>
              </a:buClr>
              <a:buSzPts val="1400"/>
              <a:buNone/>
              <a:defRPr>
                <a:solidFill>
                  <a:srgbClr val="D9D9D9"/>
                </a:solidFill>
              </a:defRPr>
            </a:lvl7pPr>
            <a:lvl8pPr lvl="7" algn="ctr">
              <a:lnSpc>
                <a:spcPct val="100000"/>
              </a:lnSpc>
              <a:spcBef>
                <a:spcPts val="0"/>
              </a:spcBef>
              <a:spcAft>
                <a:spcPts val="0"/>
              </a:spcAft>
              <a:buClr>
                <a:srgbClr val="D9D9D9"/>
              </a:buClr>
              <a:buSzPts val="1400"/>
              <a:buNone/>
              <a:defRPr>
                <a:solidFill>
                  <a:srgbClr val="D9D9D9"/>
                </a:solidFill>
              </a:defRPr>
            </a:lvl8pPr>
            <a:lvl9pPr lvl="8" algn="ctr">
              <a:lnSpc>
                <a:spcPct val="100000"/>
              </a:lnSpc>
              <a:spcBef>
                <a:spcPts val="0"/>
              </a:spcBef>
              <a:spcAft>
                <a:spcPts val="0"/>
              </a:spcAft>
              <a:buClr>
                <a:srgbClr val="D9D9D9"/>
              </a:buClr>
              <a:buSzPts val="1400"/>
              <a:buNone/>
              <a:defRPr>
                <a:solidFill>
                  <a:srgbClr val="D9D9D9"/>
                </a:solidFill>
              </a:defRPr>
            </a:lvl9pPr>
          </a:lstStyle>
          <a:p/>
        </p:txBody>
      </p:sp>
      <p:sp>
        <p:nvSpPr>
          <p:cNvPr id="24" name="Google Shape;24;p1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419100" lvl="0" marL="457200" algn="l">
              <a:lnSpc>
                <a:spcPct val="115000"/>
              </a:lnSpc>
              <a:spcBef>
                <a:spcPts val="0"/>
              </a:spcBef>
              <a:spcAft>
                <a:spcPts val="0"/>
              </a:spcAft>
              <a:buClr>
                <a:schemeClr val="dk1"/>
              </a:buClr>
              <a:buSzPts val="3000"/>
              <a:buChar char="●"/>
              <a:defRPr>
                <a:solidFill>
                  <a:schemeClr val="dk1"/>
                </a:solidFill>
              </a:defRPr>
            </a:lvl1pPr>
            <a:lvl2pPr indent="-381000" lvl="1" marL="914400" algn="l">
              <a:lnSpc>
                <a:spcPct val="115000"/>
              </a:lnSpc>
              <a:spcBef>
                <a:spcPts val="1600"/>
              </a:spcBef>
              <a:spcAft>
                <a:spcPts val="0"/>
              </a:spcAft>
              <a:buClr>
                <a:schemeClr val="dk1"/>
              </a:buClr>
              <a:buSzPts val="2400"/>
              <a:buChar char="○"/>
              <a:defRPr>
                <a:solidFill>
                  <a:schemeClr val="dk1"/>
                </a:solidFill>
              </a:defRPr>
            </a:lvl2pPr>
            <a:lvl3pPr indent="-342900" lvl="2" marL="1371600" algn="l">
              <a:lnSpc>
                <a:spcPct val="115000"/>
              </a:lnSpc>
              <a:spcBef>
                <a:spcPts val="1600"/>
              </a:spcBef>
              <a:spcAft>
                <a:spcPts val="0"/>
              </a:spcAft>
              <a:buClr>
                <a:schemeClr val="dk1"/>
              </a:buClr>
              <a:buSzPts val="1800"/>
              <a:buChar char="■"/>
              <a:defRPr>
                <a:solidFill>
                  <a:schemeClr val="dk1"/>
                </a:solidFill>
              </a:defRPr>
            </a:lvl3pPr>
            <a:lvl4pPr indent="-317500" lvl="3" marL="1828800" algn="l">
              <a:lnSpc>
                <a:spcPct val="115000"/>
              </a:lnSpc>
              <a:spcBef>
                <a:spcPts val="1600"/>
              </a:spcBef>
              <a:spcAft>
                <a:spcPts val="0"/>
              </a:spcAft>
              <a:buClr>
                <a:schemeClr val="dk1"/>
              </a:buClr>
              <a:buSzPts val="1400"/>
              <a:buChar char="●"/>
              <a:defRPr>
                <a:solidFill>
                  <a:schemeClr val="dk1"/>
                </a:solidFill>
              </a:defRPr>
            </a:lvl4pPr>
            <a:lvl5pPr indent="-317500" lvl="4" marL="2286000" algn="l">
              <a:lnSpc>
                <a:spcPct val="115000"/>
              </a:lnSpc>
              <a:spcBef>
                <a:spcPts val="1600"/>
              </a:spcBef>
              <a:spcAft>
                <a:spcPts val="0"/>
              </a:spcAft>
              <a:buClr>
                <a:schemeClr val="dk1"/>
              </a:buClr>
              <a:buSzPts val="1400"/>
              <a:buChar char="○"/>
              <a:defRPr>
                <a:solidFill>
                  <a:schemeClr val="dk1"/>
                </a:solidFill>
              </a:defRPr>
            </a:lvl5pPr>
            <a:lvl6pPr indent="-317500" lvl="5" marL="2743200" algn="l">
              <a:lnSpc>
                <a:spcPct val="115000"/>
              </a:lnSpc>
              <a:spcBef>
                <a:spcPts val="1600"/>
              </a:spcBef>
              <a:spcAft>
                <a:spcPts val="0"/>
              </a:spcAft>
              <a:buClr>
                <a:schemeClr val="dk1"/>
              </a:buClr>
              <a:buSzPts val="1400"/>
              <a:buChar char="■"/>
              <a:defRPr>
                <a:solidFill>
                  <a:schemeClr val="dk1"/>
                </a:solidFill>
              </a:defRPr>
            </a:lvl6pPr>
            <a:lvl7pPr indent="-317500" lvl="6" marL="3200400" algn="l">
              <a:lnSpc>
                <a:spcPct val="115000"/>
              </a:lnSpc>
              <a:spcBef>
                <a:spcPts val="1600"/>
              </a:spcBef>
              <a:spcAft>
                <a:spcPts val="0"/>
              </a:spcAft>
              <a:buClr>
                <a:schemeClr val="dk1"/>
              </a:buClr>
              <a:buSzPts val="1400"/>
              <a:buChar char="●"/>
              <a:defRPr>
                <a:solidFill>
                  <a:schemeClr val="dk1"/>
                </a:solidFill>
              </a:defRPr>
            </a:lvl7pPr>
            <a:lvl8pPr indent="-317500" lvl="7" marL="3657600" algn="l">
              <a:lnSpc>
                <a:spcPct val="115000"/>
              </a:lnSpc>
              <a:spcBef>
                <a:spcPts val="1600"/>
              </a:spcBef>
              <a:spcAft>
                <a:spcPts val="0"/>
              </a:spcAft>
              <a:buClr>
                <a:schemeClr val="dk1"/>
              </a:buClr>
              <a:buSzPts val="1400"/>
              <a:buChar char="○"/>
              <a:defRPr>
                <a:solidFill>
                  <a:schemeClr val="dk1"/>
                </a:solidFill>
              </a:defRPr>
            </a:lvl8pPr>
            <a:lvl9pPr indent="-317500" lvl="8" marL="4114800" algn="l">
              <a:lnSpc>
                <a:spcPct val="115000"/>
              </a:lnSpc>
              <a:spcBef>
                <a:spcPts val="1600"/>
              </a:spcBef>
              <a:spcAft>
                <a:spcPts val="1600"/>
              </a:spcAft>
              <a:buClr>
                <a:schemeClr val="dk1"/>
              </a:buClr>
              <a:buSzPts val="1400"/>
              <a:buChar char="■"/>
              <a:defRPr>
                <a:solidFill>
                  <a:schemeClr val="dk1"/>
                </a:solidFill>
              </a:defRPr>
            </a:lvl9pPr>
          </a:lstStyle>
          <a:p/>
        </p:txBody>
      </p:sp>
      <p:sp>
        <p:nvSpPr>
          <p:cNvPr id="25" name="Google Shape;2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1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1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0" name="Google Shape;3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1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1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7" name="Google Shape;3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1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3000"/>
              <a:buNone/>
              <a:defRPr/>
            </a:lvl1pPr>
          </a:lstStyle>
          <a:p/>
        </p:txBody>
      </p:sp>
      <p:sp>
        <p:nvSpPr>
          <p:cNvPr id="43" name="Google Shape;4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419100" lvl="0" marL="457200" algn="ctr">
              <a:lnSpc>
                <a:spcPct val="115000"/>
              </a:lnSpc>
              <a:spcBef>
                <a:spcPts val="0"/>
              </a:spcBef>
              <a:spcAft>
                <a:spcPts val="0"/>
              </a:spcAft>
              <a:buSzPts val="3000"/>
              <a:buChar char="●"/>
              <a:defRPr/>
            </a:lvl1pPr>
            <a:lvl2pPr indent="-381000" lvl="1" marL="914400" algn="ctr">
              <a:lnSpc>
                <a:spcPct val="115000"/>
              </a:lnSpc>
              <a:spcBef>
                <a:spcPts val="1600"/>
              </a:spcBef>
              <a:spcAft>
                <a:spcPts val="0"/>
              </a:spcAft>
              <a:buSzPts val="2400"/>
              <a:buChar char="○"/>
              <a:defRPr/>
            </a:lvl2pPr>
            <a:lvl3pPr indent="-342900" lvl="2" marL="1371600" algn="ctr">
              <a:lnSpc>
                <a:spcPct val="115000"/>
              </a:lnSpc>
              <a:spcBef>
                <a:spcPts val="1600"/>
              </a:spcBef>
              <a:spcAft>
                <a:spcPts val="0"/>
              </a:spcAft>
              <a:buSzPts val="18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50" name="Shape 50"/>
        <p:cNvGrpSpPr/>
        <p:nvPr/>
      </p:nvGrpSpPr>
      <p:grpSpPr>
        <a:xfrm>
          <a:off x="0" y="0"/>
          <a:ext cx="0" cy="0"/>
          <a:chOff x="0" y="0"/>
          <a:chExt cx="0" cy="0"/>
        </a:xfrm>
      </p:grpSpPr>
      <p:sp>
        <p:nvSpPr>
          <p:cNvPr id="51" name="Google Shape;51;p20"/>
          <p:cNvSpPr txBox="1"/>
          <p:nvPr>
            <p:ph type="title"/>
          </p:nvPr>
        </p:nvSpPr>
        <p:spPr>
          <a:xfrm>
            <a:off x="457172" y="205014"/>
            <a:ext cx="8228700" cy="858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20"/>
          <p:cNvSpPr txBox="1"/>
          <p:nvPr>
            <p:ph idx="1" type="body"/>
          </p:nvPr>
        </p:nvSpPr>
        <p:spPr>
          <a:xfrm>
            <a:off x="457172" y="1203631"/>
            <a:ext cx="8228700" cy="33948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3000"/>
              <a:buNone/>
              <a:defRPr/>
            </a:lvl1pPr>
            <a:lvl2pPr indent="-228600" lvl="1" marL="914400" algn="l">
              <a:lnSpc>
                <a:spcPct val="115000"/>
              </a:lnSpc>
              <a:spcBef>
                <a:spcPts val="1600"/>
              </a:spcBef>
              <a:spcAft>
                <a:spcPts val="0"/>
              </a:spcAft>
              <a:buSzPts val="2400"/>
              <a:buNone/>
              <a:defRPr/>
            </a:lvl2pPr>
            <a:lvl3pPr indent="-228600" lvl="2" marL="1371600" algn="l">
              <a:lnSpc>
                <a:spcPct val="115000"/>
              </a:lnSpc>
              <a:spcBef>
                <a:spcPts val="1600"/>
              </a:spcBef>
              <a:spcAft>
                <a:spcPts val="0"/>
              </a:spcAft>
              <a:buSzPts val="1800"/>
              <a:buNone/>
              <a:defRPr/>
            </a:lvl3pPr>
            <a:lvl4pPr indent="-228600" lvl="3" marL="1828800" algn="l">
              <a:lnSpc>
                <a:spcPct val="115000"/>
              </a:lnSpc>
              <a:spcBef>
                <a:spcPts val="1600"/>
              </a:spcBef>
              <a:spcAft>
                <a:spcPts val="0"/>
              </a:spcAft>
              <a:buSzPts val="1400"/>
              <a:buNone/>
              <a:defRPr/>
            </a:lvl4pPr>
            <a:lvl5pPr indent="-228600" lvl="4" marL="2286000" algn="l">
              <a:lnSpc>
                <a:spcPct val="115000"/>
              </a:lnSpc>
              <a:spcBef>
                <a:spcPts val="1600"/>
              </a:spcBef>
              <a:spcAft>
                <a:spcPts val="0"/>
              </a:spcAft>
              <a:buSzPts val="1400"/>
              <a:buNone/>
              <a:defRPr/>
            </a:lvl5pPr>
            <a:lvl6pPr indent="-228600" lvl="5" marL="2743200" algn="l">
              <a:lnSpc>
                <a:spcPct val="115000"/>
              </a:lnSpc>
              <a:spcBef>
                <a:spcPts val="1600"/>
              </a:spcBef>
              <a:spcAft>
                <a:spcPts val="0"/>
              </a:spcAft>
              <a:buSzPts val="1400"/>
              <a:buNone/>
              <a:defRPr/>
            </a:lvl6pPr>
            <a:lvl7pPr indent="-228600" lvl="6" marL="3200400" algn="l">
              <a:lnSpc>
                <a:spcPct val="115000"/>
              </a:lnSpc>
              <a:spcBef>
                <a:spcPts val="1600"/>
              </a:spcBef>
              <a:spcAft>
                <a:spcPts val="0"/>
              </a:spcAft>
              <a:buSzPts val="1400"/>
              <a:buNone/>
              <a:defRPr/>
            </a:lvl7pPr>
            <a:lvl8pPr indent="-228600" lvl="7" marL="3657600" algn="l">
              <a:lnSpc>
                <a:spcPct val="115000"/>
              </a:lnSpc>
              <a:spcBef>
                <a:spcPts val="1600"/>
              </a:spcBef>
              <a:spcAft>
                <a:spcPts val="0"/>
              </a:spcAft>
              <a:buSzPts val="1400"/>
              <a:buNone/>
              <a:defRPr/>
            </a:lvl8pPr>
            <a:lvl9pPr indent="-228600" lvl="8" marL="4114800" algn="l">
              <a:lnSpc>
                <a:spcPct val="115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53" name="Shape 53"/>
        <p:cNvGrpSpPr/>
        <p:nvPr/>
      </p:nvGrpSpPr>
      <p:grpSpPr>
        <a:xfrm>
          <a:off x="0" y="0"/>
          <a:ext cx="0" cy="0"/>
          <a:chOff x="0" y="0"/>
          <a:chExt cx="0" cy="0"/>
        </a:xfrm>
      </p:grpSpPr>
      <p:sp>
        <p:nvSpPr>
          <p:cNvPr id="54" name="Google Shape;54;g3f8b35c8c4a_0_305"/>
          <p:cNvSpPr txBox="1"/>
          <p:nvPr>
            <p:ph type="title"/>
          </p:nvPr>
        </p:nvSpPr>
        <p:spPr>
          <a:xfrm>
            <a:off x="822960" y="119702"/>
            <a:ext cx="7543800" cy="6804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 name="Google Shape;55;g3f8b35c8c4a_0_305"/>
          <p:cNvSpPr txBox="1"/>
          <p:nvPr>
            <p:ph idx="1" type="body"/>
          </p:nvPr>
        </p:nvSpPr>
        <p:spPr>
          <a:xfrm>
            <a:off x="822961" y="1200150"/>
            <a:ext cx="7543800" cy="34290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900"/>
              </a:spcBef>
              <a:spcAft>
                <a:spcPts val="0"/>
              </a:spcAft>
              <a:buSzPts val="2800"/>
              <a:buNone/>
              <a:defRPr sz="2800"/>
            </a:lvl1pPr>
            <a:lvl2pPr indent="-381000" lvl="1" marL="914400" algn="l">
              <a:lnSpc>
                <a:spcPct val="90000"/>
              </a:lnSpc>
              <a:spcBef>
                <a:spcPts val="200"/>
              </a:spcBef>
              <a:spcAft>
                <a:spcPts val="0"/>
              </a:spcAft>
              <a:buSzPts val="2400"/>
              <a:buChar char="○"/>
              <a:defRPr sz="2400"/>
            </a:lvl2pPr>
            <a:lvl3pPr indent="-355600" lvl="2" marL="1371600" algn="l">
              <a:lnSpc>
                <a:spcPct val="90000"/>
              </a:lnSpc>
              <a:spcBef>
                <a:spcPts val="300"/>
              </a:spcBef>
              <a:spcAft>
                <a:spcPts val="0"/>
              </a:spcAft>
              <a:buSzPts val="2000"/>
              <a:buChar char="■"/>
              <a:defRPr sz="2000"/>
            </a:lvl3pPr>
            <a:lvl4pPr indent="-330200" lvl="3" marL="1828800" algn="l">
              <a:lnSpc>
                <a:spcPct val="90000"/>
              </a:lnSpc>
              <a:spcBef>
                <a:spcPts val="300"/>
              </a:spcBef>
              <a:spcAft>
                <a:spcPts val="0"/>
              </a:spcAft>
              <a:buSzPts val="1600"/>
              <a:buChar char="●"/>
              <a:defRPr sz="1600"/>
            </a:lvl4pPr>
            <a:lvl5pPr indent="-317500" lvl="4" marL="2286000" algn="l">
              <a:lnSpc>
                <a:spcPct val="90000"/>
              </a:lnSpc>
              <a:spcBef>
                <a:spcPts val="300"/>
              </a:spcBef>
              <a:spcAft>
                <a:spcPts val="0"/>
              </a:spcAft>
              <a:buSzPts val="1400"/>
              <a:buChar char="○"/>
              <a:defRPr sz="1400">
                <a:latin typeface="Calibri"/>
                <a:ea typeface="Calibri"/>
                <a:cs typeface="Calibri"/>
                <a:sym typeface="Calibri"/>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56" name="Google Shape;56;g3f8b35c8c4a_0_305"/>
          <p:cNvSpPr txBox="1"/>
          <p:nvPr>
            <p:ph idx="10" type="dt"/>
          </p:nvPr>
        </p:nvSpPr>
        <p:spPr>
          <a:xfrm>
            <a:off x="822962" y="4844840"/>
            <a:ext cx="18543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7" name="Google Shape;57;g3f8b35c8c4a_0_305"/>
          <p:cNvSpPr txBox="1"/>
          <p:nvPr>
            <p:ph idx="11" type="ftr"/>
          </p:nvPr>
        </p:nvSpPr>
        <p:spPr>
          <a:xfrm>
            <a:off x="2764640" y="5029202"/>
            <a:ext cx="3617100" cy="897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600">
                <a:solidFill>
                  <a:schemeClr val="dk1"/>
                </a:solidFil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8" name="Google Shape;58;g3f8b35c8c4a_0_305"/>
          <p:cNvSpPr txBox="1"/>
          <p:nvPr>
            <p:ph idx="12" type="sldNum"/>
          </p:nvPr>
        </p:nvSpPr>
        <p:spPr>
          <a:xfrm>
            <a:off x="7425346" y="4844840"/>
            <a:ext cx="9840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extLst>
    <p:ext uri="{DCECCB84-F9BA-43D5-87BE-67443E8EF086}">
      <p15:sldGuideLst>
        <p15:guide id="1" orient="horz" pos="1620">
          <p15:clr>
            <a:srgbClr val="FBAE40"/>
          </p15:clr>
        </p15:guide>
        <p15:guide id="2"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59" name="Shape 59"/>
        <p:cNvGrpSpPr/>
        <p:nvPr/>
      </p:nvGrpSpPr>
      <p:grpSpPr>
        <a:xfrm>
          <a:off x="0" y="0"/>
          <a:ext cx="0" cy="0"/>
          <a:chOff x="0" y="0"/>
          <a:chExt cx="0" cy="0"/>
        </a:xfrm>
      </p:grpSpPr>
      <p:sp>
        <p:nvSpPr>
          <p:cNvPr id="60" name="Google Shape;60;g3f8b9352fab_0_64"/>
          <p:cNvSpPr txBox="1"/>
          <p:nvPr>
            <p:ph type="title"/>
          </p:nvPr>
        </p:nvSpPr>
        <p:spPr>
          <a:xfrm>
            <a:off x="457172" y="204740"/>
            <a:ext cx="8228700" cy="858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p:txBody>
      </p:sp>
      <p:sp>
        <p:nvSpPr>
          <p:cNvPr id="61" name="Google Shape;61;g3f8b9352fab_0_64"/>
          <p:cNvSpPr txBox="1"/>
          <p:nvPr>
            <p:ph idx="1" type="body"/>
          </p:nvPr>
        </p:nvSpPr>
        <p:spPr>
          <a:xfrm>
            <a:off x="457172" y="1203299"/>
            <a:ext cx="4015500" cy="33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
              <a:buNone/>
              <a:defRPr/>
            </a:lvl1pPr>
            <a:lvl2pPr indent="-228600" lvl="1" marL="914400" algn="l">
              <a:lnSpc>
                <a:spcPct val="100000"/>
              </a:lnSpc>
              <a:spcBef>
                <a:spcPts val="0"/>
              </a:spcBef>
              <a:spcAft>
                <a:spcPts val="0"/>
              </a:spcAft>
              <a:buSzPts val="1300"/>
              <a:buNone/>
              <a:defRPr/>
            </a:lvl2pPr>
            <a:lvl3pPr indent="-228600" lvl="2" marL="1371600" algn="l">
              <a:lnSpc>
                <a:spcPct val="100000"/>
              </a:lnSpc>
              <a:spcBef>
                <a:spcPts val="0"/>
              </a:spcBef>
              <a:spcAft>
                <a:spcPts val="0"/>
              </a:spcAft>
              <a:buSzPts val="1300"/>
              <a:buNone/>
              <a:defRPr/>
            </a:lvl3pPr>
            <a:lvl4pPr indent="-228600" lvl="3" marL="1828800" algn="l">
              <a:lnSpc>
                <a:spcPct val="100000"/>
              </a:lnSpc>
              <a:spcBef>
                <a:spcPts val="0"/>
              </a:spcBef>
              <a:spcAft>
                <a:spcPts val="0"/>
              </a:spcAft>
              <a:buSzPts val="1300"/>
              <a:buNone/>
              <a:defRPr/>
            </a:lvl4pPr>
            <a:lvl5pPr indent="-228600" lvl="4" marL="2286000" algn="l">
              <a:lnSpc>
                <a:spcPct val="100000"/>
              </a:lnSpc>
              <a:spcBef>
                <a:spcPts val="0"/>
              </a:spcBef>
              <a:spcAft>
                <a:spcPts val="0"/>
              </a:spcAft>
              <a:buSzPts val="1300"/>
              <a:buNone/>
              <a:defRPr/>
            </a:lvl5pPr>
            <a:lvl6pPr indent="-228600" lvl="5" marL="2743200" algn="l">
              <a:lnSpc>
                <a:spcPct val="100000"/>
              </a:lnSpc>
              <a:spcBef>
                <a:spcPts val="0"/>
              </a:spcBef>
              <a:spcAft>
                <a:spcPts val="0"/>
              </a:spcAft>
              <a:buSzPts val="1300"/>
              <a:buNone/>
              <a:defRPr/>
            </a:lvl6pPr>
            <a:lvl7pPr indent="-228600" lvl="6" marL="3200400" algn="l">
              <a:lnSpc>
                <a:spcPct val="100000"/>
              </a:lnSpc>
              <a:spcBef>
                <a:spcPts val="0"/>
              </a:spcBef>
              <a:spcAft>
                <a:spcPts val="0"/>
              </a:spcAft>
              <a:buSzPts val="1300"/>
              <a:buNone/>
              <a:defRPr/>
            </a:lvl7pPr>
            <a:lvl8pPr indent="-228600" lvl="7" marL="3657600" algn="l">
              <a:lnSpc>
                <a:spcPct val="100000"/>
              </a:lnSpc>
              <a:spcBef>
                <a:spcPts val="0"/>
              </a:spcBef>
              <a:spcAft>
                <a:spcPts val="0"/>
              </a:spcAft>
              <a:buSzPts val="1300"/>
              <a:buNone/>
              <a:defRPr/>
            </a:lvl8pPr>
            <a:lvl9pPr indent="-228600" lvl="8" marL="4114800" algn="l">
              <a:lnSpc>
                <a:spcPct val="100000"/>
              </a:lnSpc>
              <a:spcBef>
                <a:spcPts val="0"/>
              </a:spcBef>
              <a:spcAft>
                <a:spcPts val="0"/>
              </a:spcAft>
              <a:buSzPts val="1300"/>
              <a:buNone/>
              <a:defRPr/>
            </a:lvl9pPr>
          </a:lstStyle>
          <a:p/>
        </p:txBody>
      </p:sp>
      <p:sp>
        <p:nvSpPr>
          <p:cNvPr id="62" name="Google Shape;62;g3f8b9352fab_0_64"/>
          <p:cNvSpPr txBox="1"/>
          <p:nvPr>
            <p:ph idx="2" type="body"/>
          </p:nvPr>
        </p:nvSpPr>
        <p:spPr>
          <a:xfrm>
            <a:off x="4673927" y="1203299"/>
            <a:ext cx="4015500" cy="33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
              <a:buNone/>
              <a:defRPr/>
            </a:lvl1pPr>
            <a:lvl2pPr indent="-228600" lvl="1" marL="914400" algn="l">
              <a:lnSpc>
                <a:spcPct val="100000"/>
              </a:lnSpc>
              <a:spcBef>
                <a:spcPts val="0"/>
              </a:spcBef>
              <a:spcAft>
                <a:spcPts val="0"/>
              </a:spcAft>
              <a:buSzPts val="1300"/>
              <a:buNone/>
              <a:defRPr/>
            </a:lvl2pPr>
            <a:lvl3pPr indent="-228600" lvl="2" marL="1371600" algn="l">
              <a:lnSpc>
                <a:spcPct val="100000"/>
              </a:lnSpc>
              <a:spcBef>
                <a:spcPts val="0"/>
              </a:spcBef>
              <a:spcAft>
                <a:spcPts val="0"/>
              </a:spcAft>
              <a:buSzPts val="1300"/>
              <a:buNone/>
              <a:defRPr/>
            </a:lvl3pPr>
            <a:lvl4pPr indent="-228600" lvl="3" marL="1828800" algn="l">
              <a:lnSpc>
                <a:spcPct val="100000"/>
              </a:lnSpc>
              <a:spcBef>
                <a:spcPts val="0"/>
              </a:spcBef>
              <a:spcAft>
                <a:spcPts val="0"/>
              </a:spcAft>
              <a:buSzPts val="1300"/>
              <a:buNone/>
              <a:defRPr/>
            </a:lvl4pPr>
            <a:lvl5pPr indent="-228600" lvl="4" marL="2286000" algn="l">
              <a:lnSpc>
                <a:spcPct val="100000"/>
              </a:lnSpc>
              <a:spcBef>
                <a:spcPts val="0"/>
              </a:spcBef>
              <a:spcAft>
                <a:spcPts val="0"/>
              </a:spcAft>
              <a:buSzPts val="1300"/>
              <a:buNone/>
              <a:defRPr/>
            </a:lvl5pPr>
            <a:lvl6pPr indent="-228600" lvl="5" marL="2743200" algn="l">
              <a:lnSpc>
                <a:spcPct val="100000"/>
              </a:lnSpc>
              <a:spcBef>
                <a:spcPts val="0"/>
              </a:spcBef>
              <a:spcAft>
                <a:spcPts val="0"/>
              </a:spcAft>
              <a:buSzPts val="1300"/>
              <a:buNone/>
              <a:defRPr/>
            </a:lvl6pPr>
            <a:lvl7pPr indent="-228600" lvl="6" marL="3200400" algn="l">
              <a:lnSpc>
                <a:spcPct val="100000"/>
              </a:lnSpc>
              <a:spcBef>
                <a:spcPts val="0"/>
              </a:spcBef>
              <a:spcAft>
                <a:spcPts val="0"/>
              </a:spcAft>
              <a:buSzPts val="1300"/>
              <a:buNone/>
              <a:defRPr/>
            </a:lvl7pPr>
            <a:lvl8pPr indent="-228600" lvl="7" marL="3657600" algn="l">
              <a:lnSpc>
                <a:spcPct val="100000"/>
              </a:lnSpc>
              <a:spcBef>
                <a:spcPts val="0"/>
              </a:spcBef>
              <a:spcAft>
                <a:spcPts val="0"/>
              </a:spcAft>
              <a:buSzPts val="1300"/>
              <a:buNone/>
              <a:defRPr/>
            </a:lvl8pPr>
            <a:lvl9pPr indent="-228600" lvl="8" marL="4114800" algn="l">
              <a:lnSpc>
                <a:spcPct val="100000"/>
              </a:lnSpc>
              <a:spcBef>
                <a:spcPts val="0"/>
              </a:spcBef>
              <a:spcAft>
                <a:spcPts val="0"/>
              </a:spcAft>
              <a:buSzPts val="13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3" name="Shape 63"/>
        <p:cNvGrpSpPr/>
        <p:nvPr/>
      </p:nvGrpSpPr>
      <p:grpSpPr>
        <a:xfrm>
          <a:off x="0" y="0"/>
          <a:ext cx="0" cy="0"/>
          <a:chOff x="0" y="0"/>
          <a:chExt cx="0" cy="0"/>
        </a:xfrm>
      </p:grpSpPr>
      <p:sp>
        <p:nvSpPr>
          <p:cNvPr id="64" name="Google Shape;64;g3fb4b53f0be_3_307"/>
          <p:cNvSpPr/>
          <p:nvPr/>
        </p:nvSpPr>
        <p:spPr>
          <a:xfrm>
            <a:off x="14" y="0"/>
            <a:ext cx="3038100" cy="5143500"/>
          </a:xfrm>
          <a:prstGeom prst="rect">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 name="Google Shape;65;g3fb4b53f0be_3_307"/>
          <p:cNvSpPr/>
          <p:nvPr/>
        </p:nvSpPr>
        <p:spPr>
          <a:xfrm>
            <a:off x="3030053" y="0"/>
            <a:ext cx="48000" cy="5143500"/>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 name="Google Shape;66;g3fb4b53f0be_3_307"/>
          <p:cNvSpPr txBox="1"/>
          <p:nvPr>
            <p:ph type="title"/>
          </p:nvPr>
        </p:nvSpPr>
        <p:spPr>
          <a:xfrm>
            <a:off x="342900" y="445769"/>
            <a:ext cx="2400300" cy="17145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g3fb4b53f0be_3_307"/>
          <p:cNvSpPr txBox="1"/>
          <p:nvPr>
            <p:ph idx="1" type="body"/>
          </p:nvPr>
        </p:nvSpPr>
        <p:spPr>
          <a:xfrm>
            <a:off x="3460238" y="548640"/>
            <a:ext cx="5009400" cy="3943200"/>
          </a:xfrm>
          <a:prstGeom prst="rect">
            <a:avLst/>
          </a:prstGeom>
          <a:noFill/>
          <a:ln>
            <a:noFill/>
          </a:ln>
        </p:spPr>
        <p:txBody>
          <a:bodyPr anchorCtr="0" anchor="t" bIns="34275" lIns="0" spcFirstLastPara="1" rIns="0" wrap="square" tIns="34275">
            <a:normAutofit/>
          </a:bodyPr>
          <a:lstStyle>
            <a:lvl1pPr indent="-431800" lvl="0" marL="457200" algn="l">
              <a:lnSpc>
                <a:spcPct val="90000"/>
              </a:lnSpc>
              <a:spcBef>
                <a:spcPts val="900"/>
              </a:spcBef>
              <a:spcAft>
                <a:spcPts val="0"/>
              </a:spcAft>
              <a:buSzPts val="3200"/>
              <a:buChar char="●"/>
              <a:defRPr sz="3200">
                <a:solidFill>
                  <a:schemeClr val="accent2"/>
                </a:solidFill>
              </a:defRPr>
            </a:lvl1pPr>
            <a:lvl2pPr indent="-406400" lvl="1" marL="914400" algn="l">
              <a:lnSpc>
                <a:spcPct val="90000"/>
              </a:lnSpc>
              <a:spcBef>
                <a:spcPts val="200"/>
              </a:spcBef>
              <a:spcAft>
                <a:spcPts val="0"/>
              </a:spcAft>
              <a:buSzPts val="2800"/>
              <a:buChar char="○"/>
              <a:defRPr sz="2800">
                <a:solidFill>
                  <a:schemeClr val="accent2"/>
                </a:solidFill>
              </a:defRPr>
            </a:lvl2pPr>
            <a:lvl3pPr indent="-381000" lvl="2" marL="1371600" algn="l">
              <a:lnSpc>
                <a:spcPct val="90000"/>
              </a:lnSpc>
              <a:spcBef>
                <a:spcPts val="300"/>
              </a:spcBef>
              <a:spcAft>
                <a:spcPts val="0"/>
              </a:spcAft>
              <a:buSzPts val="2400"/>
              <a:buChar char="■"/>
              <a:defRPr sz="2400">
                <a:solidFill>
                  <a:schemeClr val="accent2"/>
                </a:solidFill>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68" name="Google Shape;68;g3fb4b53f0be_3_307"/>
          <p:cNvSpPr txBox="1"/>
          <p:nvPr>
            <p:ph idx="2" type="body"/>
          </p:nvPr>
        </p:nvSpPr>
        <p:spPr>
          <a:xfrm>
            <a:off x="342900" y="2194561"/>
            <a:ext cx="2400300" cy="2534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100"/>
              <a:buNone/>
              <a:defRPr sz="1100">
                <a:solidFill>
                  <a:srgbClr val="FFFFFF"/>
                </a:solidFill>
              </a:defRPr>
            </a:lvl1pPr>
            <a:lvl2pPr indent="-228600" lvl="1" marL="914400" algn="l">
              <a:lnSpc>
                <a:spcPct val="90000"/>
              </a:lnSpc>
              <a:spcBef>
                <a:spcPts val="200"/>
              </a:spcBef>
              <a:spcAft>
                <a:spcPts val="0"/>
              </a:spcAft>
              <a:buSzPts val="900"/>
              <a:buNone/>
              <a:defRPr sz="900"/>
            </a:lvl2pPr>
            <a:lvl3pPr indent="-228600" lvl="2" marL="1371600" algn="l">
              <a:lnSpc>
                <a:spcPct val="90000"/>
              </a:lnSpc>
              <a:spcBef>
                <a:spcPts val="300"/>
              </a:spcBef>
              <a:spcAft>
                <a:spcPts val="0"/>
              </a:spcAft>
              <a:buSzPts val="800"/>
              <a:buNone/>
              <a:defRPr sz="800"/>
            </a:lvl3pPr>
            <a:lvl4pPr indent="-228600" lvl="3" marL="1828800" algn="l">
              <a:lnSpc>
                <a:spcPct val="90000"/>
              </a:lnSpc>
              <a:spcBef>
                <a:spcPts val="300"/>
              </a:spcBef>
              <a:spcAft>
                <a:spcPts val="0"/>
              </a:spcAft>
              <a:buSzPts val="700"/>
              <a:buNone/>
              <a:defRPr sz="700"/>
            </a:lvl4pPr>
            <a:lvl5pPr indent="-228600" lvl="4" marL="2286000" algn="l">
              <a:lnSpc>
                <a:spcPct val="90000"/>
              </a:lnSpc>
              <a:spcBef>
                <a:spcPts val="300"/>
              </a:spcBef>
              <a:spcAft>
                <a:spcPts val="0"/>
              </a:spcAft>
              <a:buSzPts val="700"/>
              <a:buNone/>
              <a:defRPr sz="700"/>
            </a:lvl5pPr>
            <a:lvl6pPr indent="-228600" lvl="5" marL="2743200" algn="l">
              <a:lnSpc>
                <a:spcPct val="90000"/>
              </a:lnSpc>
              <a:spcBef>
                <a:spcPts val="300"/>
              </a:spcBef>
              <a:spcAft>
                <a:spcPts val="0"/>
              </a:spcAft>
              <a:buSzPts val="700"/>
              <a:buNone/>
              <a:defRPr sz="700"/>
            </a:lvl6pPr>
            <a:lvl7pPr indent="-228600" lvl="6" marL="3200400" algn="l">
              <a:lnSpc>
                <a:spcPct val="90000"/>
              </a:lnSpc>
              <a:spcBef>
                <a:spcPts val="300"/>
              </a:spcBef>
              <a:spcAft>
                <a:spcPts val="0"/>
              </a:spcAft>
              <a:buSzPts val="700"/>
              <a:buNone/>
              <a:defRPr sz="700"/>
            </a:lvl7pPr>
            <a:lvl8pPr indent="-228600" lvl="7" marL="3657600" algn="l">
              <a:lnSpc>
                <a:spcPct val="90000"/>
              </a:lnSpc>
              <a:spcBef>
                <a:spcPts val="300"/>
              </a:spcBef>
              <a:spcAft>
                <a:spcPts val="0"/>
              </a:spcAft>
              <a:buSzPts val="700"/>
              <a:buNone/>
              <a:defRPr sz="700"/>
            </a:lvl8pPr>
            <a:lvl9pPr indent="-228600" lvl="8" marL="4114800" algn="l">
              <a:lnSpc>
                <a:spcPct val="90000"/>
              </a:lnSpc>
              <a:spcBef>
                <a:spcPts val="300"/>
              </a:spcBef>
              <a:spcAft>
                <a:spcPts val="300"/>
              </a:spcAft>
              <a:buSzPts val="700"/>
              <a:buNone/>
              <a:defRPr sz="700"/>
            </a:lvl9pPr>
          </a:lstStyle>
          <a:p/>
        </p:txBody>
      </p:sp>
      <p:sp>
        <p:nvSpPr>
          <p:cNvPr id="69" name="Google Shape;69;g3fb4b53f0be_3_307"/>
          <p:cNvSpPr txBox="1"/>
          <p:nvPr>
            <p:ph idx="10" type="dt"/>
          </p:nvPr>
        </p:nvSpPr>
        <p:spPr>
          <a:xfrm>
            <a:off x="349135" y="4844840"/>
            <a:ext cx="19638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70" name="Google Shape;70;g3fb4b53f0be_3_307"/>
          <p:cNvSpPr txBox="1"/>
          <p:nvPr>
            <p:ph idx="11" type="ftr"/>
          </p:nvPr>
        </p:nvSpPr>
        <p:spPr>
          <a:xfrm>
            <a:off x="3600450" y="4844840"/>
            <a:ext cx="34863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solidFill>
                  <a:schemeClr val="dk2"/>
                </a:solidFil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71" name="Google Shape;71;g3fb4b53f0be_3_307"/>
          <p:cNvSpPr txBox="1"/>
          <p:nvPr>
            <p:ph idx="12" type="sldNum"/>
          </p:nvPr>
        </p:nvSpPr>
        <p:spPr>
          <a:xfrm>
            <a:off x="7425346" y="4844840"/>
            <a:ext cx="9840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800" u="none" cap="none" strike="noStrike">
                <a:solidFill>
                  <a:schemeClr val="dk2"/>
                </a:solidFill>
                <a:latin typeface="Calibri"/>
                <a:ea typeface="Calibri"/>
                <a:cs typeface="Calibri"/>
                <a:sym typeface="Calibri"/>
              </a:defRPr>
            </a:lvl1pPr>
            <a:lvl2pPr indent="0" lvl="1" marL="0" algn="r">
              <a:spcBef>
                <a:spcPts val="0"/>
              </a:spcBef>
              <a:buNone/>
              <a:defRPr b="0" i="0" sz="800" u="none" cap="none" strike="noStrike">
                <a:solidFill>
                  <a:schemeClr val="dk2"/>
                </a:solidFill>
                <a:latin typeface="Calibri"/>
                <a:ea typeface="Calibri"/>
                <a:cs typeface="Calibri"/>
                <a:sym typeface="Calibri"/>
              </a:defRPr>
            </a:lvl2pPr>
            <a:lvl3pPr indent="0" lvl="2" marL="0" algn="r">
              <a:spcBef>
                <a:spcPts val="0"/>
              </a:spcBef>
              <a:buNone/>
              <a:defRPr b="0" i="0" sz="800" u="none" cap="none" strike="noStrike">
                <a:solidFill>
                  <a:schemeClr val="dk2"/>
                </a:solidFill>
                <a:latin typeface="Calibri"/>
                <a:ea typeface="Calibri"/>
                <a:cs typeface="Calibri"/>
                <a:sym typeface="Calibri"/>
              </a:defRPr>
            </a:lvl3pPr>
            <a:lvl4pPr indent="0" lvl="3" marL="0" algn="r">
              <a:spcBef>
                <a:spcPts val="0"/>
              </a:spcBef>
              <a:buNone/>
              <a:defRPr b="0" i="0" sz="800" u="none" cap="none" strike="noStrike">
                <a:solidFill>
                  <a:schemeClr val="dk2"/>
                </a:solidFill>
                <a:latin typeface="Calibri"/>
                <a:ea typeface="Calibri"/>
                <a:cs typeface="Calibri"/>
                <a:sym typeface="Calibri"/>
              </a:defRPr>
            </a:lvl4pPr>
            <a:lvl5pPr indent="0" lvl="4" marL="0" algn="r">
              <a:spcBef>
                <a:spcPts val="0"/>
              </a:spcBef>
              <a:buNone/>
              <a:defRPr b="0" i="0" sz="800" u="none" cap="none" strike="noStrike">
                <a:solidFill>
                  <a:schemeClr val="dk2"/>
                </a:solidFill>
                <a:latin typeface="Calibri"/>
                <a:ea typeface="Calibri"/>
                <a:cs typeface="Calibri"/>
                <a:sym typeface="Calibri"/>
              </a:defRPr>
            </a:lvl5pPr>
            <a:lvl6pPr indent="0" lvl="5" marL="0" algn="r">
              <a:spcBef>
                <a:spcPts val="0"/>
              </a:spcBef>
              <a:buNone/>
              <a:defRPr b="0" i="0" sz="800" u="none" cap="none" strike="noStrike">
                <a:solidFill>
                  <a:schemeClr val="dk2"/>
                </a:solidFill>
                <a:latin typeface="Calibri"/>
                <a:ea typeface="Calibri"/>
                <a:cs typeface="Calibri"/>
                <a:sym typeface="Calibri"/>
              </a:defRPr>
            </a:lvl6pPr>
            <a:lvl7pPr indent="0" lvl="6" marL="0" algn="r">
              <a:spcBef>
                <a:spcPts val="0"/>
              </a:spcBef>
              <a:buNone/>
              <a:defRPr b="0" i="0" sz="800" u="none" cap="none" strike="noStrike">
                <a:solidFill>
                  <a:schemeClr val="dk2"/>
                </a:solidFill>
                <a:latin typeface="Calibri"/>
                <a:ea typeface="Calibri"/>
                <a:cs typeface="Calibri"/>
                <a:sym typeface="Calibri"/>
              </a:defRPr>
            </a:lvl7pPr>
            <a:lvl8pPr indent="0" lvl="7" marL="0" algn="r">
              <a:spcBef>
                <a:spcPts val="0"/>
              </a:spcBef>
              <a:buNone/>
              <a:defRPr b="0" i="0" sz="800" u="none" cap="none" strike="noStrike">
                <a:solidFill>
                  <a:schemeClr val="dk2"/>
                </a:solidFill>
                <a:latin typeface="Calibri"/>
                <a:ea typeface="Calibri"/>
                <a:cs typeface="Calibri"/>
                <a:sym typeface="Calibri"/>
              </a:defRPr>
            </a:lvl8pPr>
            <a:lvl9pPr indent="0" lvl="8" marL="0" algn="r">
              <a:spcBef>
                <a:spcPts val="0"/>
              </a:spcBef>
              <a:buNone/>
              <a:defRPr b="0" i="0" sz="80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3E7EA"/>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400"/>
              <a:buFont typeface="Comfortaa"/>
              <a:buNone/>
              <a:defRPr b="1" i="0" sz="3400" u="none" cap="none" strike="noStrike">
                <a:solidFill>
                  <a:schemeClr val="dk1"/>
                </a:solidFill>
                <a:latin typeface="Comfortaa"/>
                <a:ea typeface="Comfortaa"/>
                <a:cs typeface="Comfortaa"/>
                <a:sym typeface="Comfortaa"/>
              </a:defRPr>
            </a:lvl1pPr>
            <a:lvl2pPr lvl="1"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2pPr>
            <a:lvl3pPr lvl="2"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3pPr>
            <a:lvl4pPr lvl="3"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4pPr>
            <a:lvl5pPr lvl="4"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5pPr>
            <a:lvl6pPr lvl="5"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6pPr>
            <a:lvl7pPr lvl="6"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7pPr>
            <a:lvl8pPr lvl="7"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8pPr>
            <a:lvl9pPr lvl="8"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15000"/>
              </a:lnSpc>
              <a:spcBef>
                <a:spcPts val="0"/>
              </a:spcBef>
              <a:spcAft>
                <a:spcPts val="0"/>
              </a:spcAft>
              <a:buClr>
                <a:srgbClr val="434343"/>
              </a:buClr>
              <a:buSzPts val="3000"/>
              <a:buFont typeface="Comfortaa"/>
              <a:buChar char="●"/>
              <a:defRPr b="0" i="0" sz="3000" u="none" cap="none" strike="noStrike">
                <a:solidFill>
                  <a:srgbClr val="434343"/>
                </a:solidFill>
                <a:latin typeface="Comfortaa"/>
                <a:ea typeface="Comfortaa"/>
                <a:cs typeface="Comfortaa"/>
                <a:sym typeface="Comfortaa"/>
              </a:defRPr>
            </a:lvl1pPr>
            <a:lvl2pPr indent="-381000" lvl="1" marL="914400" marR="0" rtl="0" algn="l">
              <a:lnSpc>
                <a:spcPct val="115000"/>
              </a:lnSpc>
              <a:spcBef>
                <a:spcPts val="1600"/>
              </a:spcBef>
              <a:spcAft>
                <a:spcPts val="0"/>
              </a:spcAft>
              <a:buClr>
                <a:srgbClr val="434343"/>
              </a:buClr>
              <a:buSzPts val="2400"/>
              <a:buFont typeface="Comfortaa"/>
              <a:buChar char="○"/>
              <a:defRPr b="0" i="0" sz="2400" u="none" cap="none" strike="noStrike">
                <a:solidFill>
                  <a:srgbClr val="434343"/>
                </a:solidFill>
                <a:latin typeface="Comfortaa"/>
                <a:ea typeface="Comfortaa"/>
                <a:cs typeface="Comfortaa"/>
                <a:sym typeface="Comfortaa"/>
              </a:defRPr>
            </a:lvl2pPr>
            <a:lvl3pPr indent="-342900" lvl="2" marL="1371600" marR="0" rtl="0" algn="l">
              <a:lnSpc>
                <a:spcPct val="115000"/>
              </a:lnSpc>
              <a:spcBef>
                <a:spcPts val="1600"/>
              </a:spcBef>
              <a:spcAft>
                <a:spcPts val="0"/>
              </a:spcAft>
              <a:buClr>
                <a:srgbClr val="666666"/>
              </a:buClr>
              <a:buSzPts val="1800"/>
              <a:buFont typeface="Comfortaa"/>
              <a:buChar char="■"/>
              <a:defRPr b="0" i="0" sz="1800" u="none" cap="none" strike="noStrike">
                <a:solidFill>
                  <a:srgbClr val="666666"/>
                </a:solidFill>
                <a:latin typeface="Comfortaa"/>
                <a:ea typeface="Comfortaa"/>
                <a:cs typeface="Comfortaa"/>
                <a:sym typeface="Comfortaa"/>
              </a:defRPr>
            </a:lvl3pPr>
            <a:lvl4pPr indent="-317500" lvl="3" marL="18288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4pPr>
            <a:lvl5pPr indent="-317500" lvl="4" marL="22860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5pPr>
            <a:lvl6pPr indent="-317500" lvl="5" marL="27432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6pPr>
            <a:lvl7pPr indent="-317500" lvl="6" marL="3200400" marR="0" rtl="0" algn="l">
              <a:lnSpc>
                <a:spcPct val="115000"/>
              </a:lnSpc>
              <a:spcBef>
                <a:spcPts val="1600"/>
              </a:spcBef>
              <a:spcAft>
                <a:spcPts val="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7pPr>
            <a:lvl8pPr indent="-317500" lvl="7" marL="3657600" marR="0" rtl="0" algn="l">
              <a:lnSpc>
                <a:spcPct val="115000"/>
              </a:lnSpc>
              <a:spcBef>
                <a:spcPts val="1600"/>
              </a:spcBef>
              <a:spcAft>
                <a:spcPts val="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8pPr>
            <a:lvl9pPr indent="-317500" lvl="8" marL="4114800" marR="0" rtl="0" algn="l">
              <a:lnSpc>
                <a:spcPct val="115000"/>
              </a:lnSpc>
              <a:spcBef>
                <a:spcPts val="1600"/>
              </a:spcBef>
              <a:spcAft>
                <a:spcPts val="160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hyperlink" Target="https://nlp.stanford.edu/IR-book/" TargetMode="External"/><Relationship Id="rId5" Type="http://schemas.openxmlformats.org/officeDocument/2006/relationships/hyperlink" Target="https://nlp.stanford.edu/IR-book/ppt/" TargetMode="External"/><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eb.stanford.edu/class/cs124/" TargetMode="External"/><Relationship Id="rId4" Type="http://schemas.openxmlformats.org/officeDocument/2006/relationships/image" Target="../media/image3.png"/><Relationship Id="rId5" Type="http://schemas.openxmlformats.org/officeDocument/2006/relationships/hyperlink" Target="https://web.stanford.edu/~jurafsky/slp3/"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hyperlink" Target="https://pessoal.dainf.ct.utfpr.edu.br/lcjunior/" TargetMode="External"/><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hyperlink" Target="https://nlp.stanford.edu/IR-book/" TargetMode="External"/><Relationship Id="rId5" Type="http://schemas.openxmlformats.org/officeDocument/2006/relationships/hyperlink" Target="https://nlp.stanford.edu/IR-book/ppt/" TargetMode="External"/><Relationship Id="rId6" Type="http://schemas.openxmlformats.org/officeDocument/2006/relationships/image" Target="../media/image5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hyperlink" Target="https://nlp.stanford.edu/IR-book/" TargetMode="External"/><Relationship Id="rId5" Type="http://schemas.openxmlformats.org/officeDocument/2006/relationships/hyperlink" Target="https://web.stanford.edu/class/cs276/" TargetMode="External"/><Relationship Id="rId6" Type="http://schemas.openxmlformats.org/officeDocument/2006/relationships/image" Target="../media/image4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hyperlink" Target="https://commons.wikimedia.org/w/index.php?curid=67617313" TargetMode="External"/><Relationship Id="rId4" Type="http://schemas.openxmlformats.org/officeDocument/2006/relationships/image" Target="../media/image14.png"/><Relationship Id="rId5"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3.png"/><Relationship Id="rId4" Type="http://schemas.openxmlformats.org/officeDocument/2006/relationships/hyperlink" Target="https://toolwaves.com/tools/unit-circle-simulator"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71.png"/><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hyperlink" Target="https://www.desmos.com/calculator/acidu77shs" TargetMode="Externa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3.png"/><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image" Target="../media/image4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image" Target="../media/image26.png"/><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image" Target="../media/image7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47.png"/><Relationship Id="rId4" Type="http://schemas.openxmlformats.org/officeDocument/2006/relationships/image" Target="../media/image2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 Id="rId3" Type="http://schemas.openxmlformats.org/officeDocument/2006/relationships/image" Target="../media/image7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 Id="rId3" Type="http://schemas.openxmlformats.org/officeDocument/2006/relationships/image" Target="../media/image3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 Id="rId3" Type="http://schemas.openxmlformats.org/officeDocument/2006/relationships/image" Target="../media/image7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 Id="rId7" Type="http://schemas.openxmlformats.org/officeDocument/2006/relationships/image" Target="../media/image8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 Id="rId3" Type="http://schemas.openxmlformats.org/officeDocument/2006/relationships/image" Target="../media/image78.png"/><Relationship Id="rId4" Type="http://schemas.openxmlformats.org/officeDocument/2006/relationships/image" Target="../media/image86.png"/><Relationship Id="rId5" Type="http://schemas.openxmlformats.org/officeDocument/2006/relationships/image" Target="../media/image79.png"/><Relationship Id="rId6" Type="http://schemas.openxmlformats.org/officeDocument/2006/relationships/image" Target="../media/image84.png"/><Relationship Id="rId7" Type="http://schemas.openxmlformats.org/officeDocument/2006/relationships/image" Target="../media/image8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 Id="rId3" Type="http://schemas.openxmlformats.org/officeDocument/2006/relationships/image" Target="../media/image2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 Id="rId3" Type="http://schemas.openxmlformats.org/officeDocument/2006/relationships/image" Target="../media/image30.png"/><Relationship Id="rId4" Type="http://schemas.openxmlformats.org/officeDocument/2006/relationships/image" Target="../media/image2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 Id="rId3" Type="http://schemas.openxmlformats.org/officeDocument/2006/relationships/image" Target="../media/image78.png"/><Relationship Id="rId4" Type="http://schemas.openxmlformats.org/officeDocument/2006/relationships/image" Target="../media/image86.png"/><Relationship Id="rId5" Type="http://schemas.openxmlformats.org/officeDocument/2006/relationships/image" Target="../media/image79.png"/><Relationship Id="rId6" Type="http://schemas.openxmlformats.org/officeDocument/2006/relationships/image" Target="../media/image84.png"/><Relationship Id="rId7" Type="http://schemas.openxmlformats.org/officeDocument/2006/relationships/image" Target="../media/image8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2.xml"/><Relationship Id="rId3" Type="http://schemas.openxmlformats.org/officeDocument/2006/relationships/image" Target="../media/image83.png"/><Relationship Id="rId4" Type="http://schemas.openxmlformats.org/officeDocument/2006/relationships/image" Target="../media/image78.png"/><Relationship Id="rId5" Type="http://schemas.openxmlformats.org/officeDocument/2006/relationships/image" Target="../media/image86.png"/><Relationship Id="rId6" Type="http://schemas.openxmlformats.org/officeDocument/2006/relationships/image" Target="../media/image79.png"/><Relationship Id="rId7" Type="http://schemas.openxmlformats.org/officeDocument/2006/relationships/image" Target="../media/image8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3.xml"/><Relationship Id="rId3" Type="http://schemas.openxmlformats.org/officeDocument/2006/relationships/image" Target="../media/image78.png"/><Relationship Id="rId4" Type="http://schemas.openxmlformats.org/officeDocument/2006/relationships/image" Target="../media/image83.png"/><Relationship Id="rId5" Type="http://schemas.openxmlformats.org/officeDocument/2006/relationships/image" Target="../media/image86.png"/><Relationship Id="rId6" Type="http://schemas.openxmlformats.org/officeDocument/2006/relationships/image" Target="../media/image79.png"/><Relationship Id="rId7" Type="http://schemas.openxmlformats.org/officeDocument/2006/relationships/image" Target="../media/image8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 Id="rId3" Type="http://schemas.openxmlformats.org/officeDocument/2006/relationships/image" Target="../media/image84.png"/><Relationship Id="rId4" Type="http://schemas.openxmlformats.org/officeDocument/2006/relationships/image" Target="../media/image78.png"/><Relationship Id="rId5" Type="http://schemas.openxmlformats.org/officeDocument/2006/relationships/image" Target="../media/image83.png"/><Relationship Id="rId6" Type="http://schemas.openxmlformats.org/officeDocument/2006/relationships/image" Target="../media/image86.png"/><Relationship Id="rId7" Type="http://schemas.openxmlformats.org/officeDocument/2006/relationships/image" Target="../media/image79.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5.xml"/><Relationship Id="rId3" Type="http://schemas.openxmlformats.org/officeDocument/2006/relationships/image" Target="../media/image79.png"/><Relationship Id="rId4" Type="http://schemas.openxmlformats.org/officeDocument/2006/relationships/image" Target="../media/image84.png"/><Relationship Id="rId5" Type="http://schemas.openxmlformats.org/officeDocument/2006/relationships/image" Target="../media/image78.png"/><Relationship Id="rId6" Type="http://schemas.openxmlformats.org/officeDocument/2006/relationships/image" Target="../media/image83.png"/><Relationship Id="rId7" Type="http://schemas.openxmlformats.org/officeDocument/2006/relationships/image" Target="../media/image86.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6.xml"/><Relationship Id="rId3" Type="http://schemas.openxmlformats.org/officeDocument/2006/relationships/image" Target="../media/image86.png"/><Relationship Id="rId4" Type="http://schemas.openxmlformats.org/officeDocument/2006/relationships/image" Target="../media/image79.png"/><Relationship Id="rId5" Type="http://schemas.openxmlformats.org/officeDocument/2006/relationships/image" Target="../media/image84.png"/><Relationship Id="rId6" Type="http://schemas.openxmlformats.org/officeDocument/2006/relationships/image" Target="../media/image78.png"/><Relationship Id="rId7" Type="http://schemas.openxmlformats.org/officeDocument/2006/relationships/image" Target="../media/image8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 Id="rId3" Type="http://schemas.openxmlformats.org/officeDocument/2006/relationships/image" Target="../media/image79.png"/><Relationship Id="rId4" Type="http://schemas.openxmlformats.org/officeDocument/2006/relationships/image" Target="../media/image83.png"/><Relationship Id="rId5" Type="http://schemas.openxmlformats.org/officeDocument/2006/relationships/image" Target="../media/image8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8.xml"/><Relationship Id="rId3" Type="http://schemas.openxmlformats.org/officeDocument/2006/relationships/image" Target="../media/image86.png"/><Relationship Id="rId4" Type="http://schemas.openxmlformats.org/officeDocument/2006/relationships/image" Target="../media/image79.png"/><Relationship Id="rId5" Type="http://schemas.openxmlformats.org/officeDocument/2006/relationships/image" Target="../media/image84.png"/><Relationship Id="rId6" Type="http://schemas.openxmlformats.org/officeDocument/2006/relationships/image" Target="../media/image78.png"/><Relationship Id="rId7" Type="http://schemas.openxmlformats.org/officeDocument/2006/relationships/image" Target="../media/image8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0.xml"/><Relationship Id="rId3" Type="http://schemas.openxmlformats.org/officeDocument/2006/relationships/image" Target="../media/image9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1.xml"/><Relationship Id="rId3" Type="http://schemas.openxmlformats.org/officeDocument/2006/relationships/image" Target="../media/image89.png"/><Relationship Id="rId4" Type="http://schemas.openxmlformats.org/officeDocument/2006/relationships/image" Target="../media/image97.png"/><Relationship Id="rId5" Type="http://schemas.openxmlformats.org/officeDocument/2006/relationships/hyperlink" Target="http://www.cs.wisc.edu/~olvi/uwmp/mpml.html" TargetMode="External"/><Relationship Id="rId6" Type="http://schemas.openxmlformats.org/officeDocument/2006/relationships/hyperlink" Target="https://archive.ics.uci.edu/dataset/17/breast+cancer+wisconsin+diagnostic"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2.xml"/><Relationship Id="rId3" Type="http://schemas.openxmlformats.org/officeDocument/2006/relationships/hyperlink" Target="https://github.com/datasci4health/datasci4health.github.io" TargetMode="External"/><Relationship Id="rId4" Type="http://schemas.openxmlformats.org/officeDocument/2006/relationships/hyperlink" Target="https://github.com/datasci4health/datasci4health.github.io/tree/master/data/breast-cancer/wisconsin" TargetMode="External"/><Relationship Id="rId5" Type="http://schemas.openxmlformats.org/officeDocument/2006/relationships/hyperlink" Target="https://github.com/datasci4health/datasci4health.github.io/tree/master/workflows/breast-cancer"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3.xml"/><Relationship Id="rId3" Type="http://schemas.openxmlformats.org/officeDocument/2006/relationships/image" Target="../media/image99.png"/><Relationship Id="rId4" Type="http://schemas.openxmlformats.org/officeDocument/2006/relationships/image" Target="../media/image90.png"/><Relationship Id="rId5" Type="http://schemas.openxmlformats.org/officeDocument/2006/relationships/image" Target="../media/image113.png"/><Relationship Id="rId6" Type="http://schemas.openxmlformats.org/officeDocument/2006/relationships/image" Target="../media/image96.png"/><Relationship Id="rId7" Type="http://schemas.openxmlformats.org/officeDocument/2006/relationships/image" Target="../media/image9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5.xml"/><Relationship Id="rId3" Type="http://schemas.openxmlformats.org/officeDocument/2006/relationships/image" Target="../media/image92.png"/><Relationship Id="rId4" Type="http://schemas.openxmlformats.org/officeDocument/2006/relationships/image" Target="../media/image10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6.xml"/><Relationship Id="rId3" Type="http://schemas.openxmlformats.org/officeDocument/2006/relationships/image" Target="../media/image9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7.xml"/><Relationship Id="rId3" Type="http://schemas.openxmlformats.org/officeDocument/2006/relationships/image" Target="../media/image9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8.xml"/><Relationship Id="rId3" Type="http://schemas.openxmlformats.org/officeDocument/2006/relationships/image" Target="../media/image10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9.xml"/><Relationship Id="rId3" Type="http://schemas.openxmlformats.org/officeDocument/2006/relationships/image" Target="../media/image92.png"/><Relationship Id="rId4" Type="http://schemas.openxmlformats.org/officeDocument/2006/relationships/image" Target="../media/image108.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1.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2.xml"/><Relationship Id="rId3" Type="http://schemas.openxmlformats.org/officeDocument/2006/relationships/image" Target="../media/image30.png"/><Relationship Id="rId4" Type="http://schemas.openxmlformats.org/officeDocument/2006/relationships/image" Target="../media/image29.png"/><Relationship Id="rId5" Type="http://schemas.openxmlformats.org/officeDocument/2006/relationships/image" Target="../media/image64.png"/><Relationship Id="rId6" Type="http://schemas.openxmlformats.org/officeDocument/2006/relationships/image" Target="../media/image3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4.png"/><Relationship Id="rId6" Type="http://schemas.openxmlformats.org/officeDocument/2006/relationships/image" Target="../media/image3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4.xml"/><Relationship Id="rId3" Type="http://schemas.openxmlformats.org/officeDocument/2006/relationships/image" Target="../media/image4.png"/><Relationship Id="rId4" Type="http://schemas.openxmlformats.org/officeDocument/2006/relationships/image" Target="../media/image115.png"/><Relationship Id="rId5" Type="http://schemas.openxmlformats.org/officeDocument/2006/relationships/image" Target="../media/image116.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0.xml"/><Relationship Id="rId3" Type="http://schemas.openxmlformats.org/officeDocument/2006/relationships/image" Target="../media/image109.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11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hyperlink" Target="https://forms.gle/wzicEu8648eSvXMH9" TargetMode="External"/><Relationship Id="rId4" Type="http://schemas.openxmlformats.org/officeDocument/2006/relationships/image" Target="../media/image11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4.xml"/><Relationship Id="rId3" Type="http://schemas.openxmlformats.org/officeDocument/2006/relationships/image" Target="../media/image10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8.xml"/><Relationship Id="rId3" Type="http://schemas.openxmlformats.org/officeDocument/2006/relationships/hyperlink" Target="https://saifmohammad.com/WebPages/nrc-vad.html" TargetMode="External"/><Relationship Id="rId4" Type="http://schemas.openxmlformats.org/officeDocument/2006/relationships/image" Target="../media/image10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5.xml"/><Relationship Id="rId3" Type="http://schemas.openxmlformats.org/officeDocument/2006/relationships/image" Target="../media/image11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6.xml"/><Relationship Id="rId3" Type="http://schemas.openxmlformats.org/officeDocument/2006/relationships/image" Target="../media/image10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hyperlink" Target="https://web.stanford.edu/~jurafsky/slp3/" TargetMode="External"/><Relationship Id="rId4" Type="http://schemas.openxmlformats.org/officeDocument/2006/relationships/hyperlink" Target="https://nlp.stanford.edu/IR-book/" TargetMode="External"/><Relationship Id="rId5" Type="http://schemas.openxmlformats.org/officeDocument/2006/relationships/hyperlink" Target="https://doi.org/10.18653/V1/P18-1017" TargetMode="Externa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9.xml"/><Relationship Id="rId3" Type="http://schemas.openxmlformats.org/officeDocument/2006/relationships/hyperlink" Target="https://commons.wikimedia.org/w/index.php?curid=117199094" TargetMode="External"/><Relationship Id="rId4" Type="http://schemas.openxmlformats.org/officeDocument/2006/relationships/image" Target="../media/image22.png"/></Relationships>
</file>

<file path=ppt/slides/_rels/slide140.xml.rels><?xml version="1.0" encoding="UTF-8" standalone="yes"?><Relationships xmlns="http://schemas.openxmlformats.org/package/2006/relationships"><Relationship Id="rId11" Type="http://schemas.openxmlformats.org/officeDocument/2006/relationships/image" Target="../media/image104.png"/><Relationship Id="rId10" Type="http://schemas.openxmlformats.org/officeDocument/2006/relationships/image" Target="../media/image106.png"/><Relationship Id="rId12" Type="http://schemas.openxmlformats.org/officeDocument/2006/relationships/image" Target="../media/image107.png"/><Relationship Id="rId1" Type="http://schemas.openxmlformats.org/officeDocument/2006/relationships/slideLayout" Target="../slideLayouts/slideLayout14.xml"/><Relationship Id="rId2" Type="http://schemas.openxmlformats.org/officeDocument/2006/relationships/notesSlide" Target="../notesSlides/notesSlide140.xml"/><Relationship Id="rId3" Type="http://schemas.openxmlformats.org/officeDocument/2006/relationships/hyperlink" Target="https://pixabay.com/illustrations/platypus-character-cartoon-cute-8354976/" TargetMode="External"/><Relationship Id="rId4" Type="http://schemas.openxmlformats.org/officeDocument/2006/relationships/hyperlink" Target="https://pixabay.com/illustrations/pterodactyl-dinosaur-creature-8240037/" TargetMode="External"/><Relationship Id="rId9" Type="http://schemas.openxmlformats.org/officeDocument/2006/relationships/image" Target="../media/image33.png"/><Relationship Id="rId5" Type="http://schemas.openxmlformats.org/officeDocument/2006/relationships/hyperlink" Target="https://pixabay.com/illustrations/eagle-bird-hawk-wild-animal-prey-1643086/" TargetMode="External"/><Relationship Id="rId6" Type="http://schemas.openxmlformats.org/officeDocument/2006/relationships/hyperlink" Target="https://pixabay.com/illustrations/duck-icon-duck-icon-mallard-bird-5569004/" TargetMode="External"/><Relationship Id="rId7" Type="http://schemas.openxmlformats.org/officeDocument/2006/relationships/hyperlink" Target="https://pixabay.com/vectors/beaver-animal-rodent-mammal-48437/" TargetMode="External"/><Relationship Id="rId8" Type="http://schemas.openxmlformats.org/officeDocument/2006/relationships/image" Target="../media/image105.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hyperlink" Target="http://creativecommons.org/licenses/by-nc-sa/3.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2"/>
          <p:cNvSpPr/>
          <p:nvPr/>
        </p:nvSpPr>
        <p:spPr>
          <a:xfrm>
            <a:off x="4449625" y="4177875"/>
            <a:ext cx="28647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4449625" y="3958575"/>
            <a:ext cx="13551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4449625" y="4397175"/>
            <a:ext cx="24774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txBox="1"/>
          <p:nvPr/>
        </p:nvSpPr>
        <p:spPr>
          <a:xfrm>
            <a:off x="4400875" y="3866000"/>
            <a:ext cx="2958300" cy="75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André Santanchè</a:t>
            </a:r>
            <a:endParaRPr b="0" i="0" sz="1400" u="none" cap="none" strike="noStrike">
              <a:solidFill>
                <a:srgbClr val="BF3730"/>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Laboratory of Information Systems - LIS</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Instituto de Computação - UNICAMP</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dvent Pro Medium"/>
              <a:ea typeface="Advent Pro Medium"/>
              <a:cs typeface="Advent Pro Medium"/>
              <a:sym typeface="Advent Pro Medium"/>
            </a:endParaRPr>
          </a:p>
        </p:txBody>
      </p:sp>
      <p:sp>
        <p:nvSpPr>
          <p:cNvPr id="80" name="Google Shape;80;p2"/>
          <p:cNvSpPr txBox="1"/>
          <p:nvPr/>
        </p:nvSpPr>
        <p:spPr>
          <a:xfrm>
            <a:off x="4295300" y="311000"/>
            <a:ext cx="4763400" cy="225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pt-BR" sz="1200" u="none" cap="none" strike="noStrike">
                <a:solidFill>
                  <a:srgbClr val="EFEFEF"/>
                </a:solidFill>
                <a:latin typeface="Advent Pro"/>
                <a:ea typeface="Advent Pro"/>
                <a:cs typeface="Advent Pro"/>
                <a:sym typeface="Advent Pro"/>
              </a:rPr>
              <a:t>NATURAL LANGUAGE PROCESSING</a:t>
            </a:r>
            <a:endParaRPr b="1" i="0" sz="1200" u="none" cap="none" strike="noStrike">
              <a:solidFill>
                <a:srgbClr val="EFEFEF"/>
              </a:solidFill>
              <a:latin typeface="Advent Pro"/>
              <a:ea typeface="Advent Pro"/>
              <a:cs typeface="Advent Pro"/>
              <a:sym typeface="Advent Pro"/>
            </a:endParaRPr>
          </a:p>
          <a:p>
            <a:pPr indent="0" lvl="0" marL="0" marR="0" rtl="0" algn="l">
              <a:lnSpc>
                <a:spcPct val="100000"/>
              </a:lnSpc>
              <a:spcBef>
                <a:spcPts val="0"/>
              </a:spcBef>
              <a:spcAft>
                <a:spcPts val="0"/>
              </a:spcAft>
              <a:buClr>
                <a:srgbClr val="000000"/>
              </a:buClr>
              <a:buSzPts val="4800"/>
              <a:buFont typeface="Arial"/>
              <a:buNone/>
            </a:pPr>
            <a:r>
              <a:rPr b="1" lang="pt-BR" sz="4800">
                <a:solidFill>
                  <a:srgbClr val="FFFFFF"/>
                </a:solidFill>
                <a:latin typeface="Advent Pro"/>
                <a:ea typeface="Advent Pro"/>
                <a:cs typeface="Advent Pro"/>
                <a:sym typeface="Advent Pro"/>
              </a:rPr>
              <a:t>Vector Space</a:t>
            </a:r>
            <a:endParaRPr b="1" sz="4800">
              <a:solidFill>
                <a:srgbClr val="FFFFFF"/>
              </a:solidFill>
              <a:latin typeface="Advent Pro"/>
              <a:ea typeface="Advent Pro"/>
              <a:cs typeface="Advent Pro"/>
              <a:sym typeface="Advent Pro"/>
            </a:endParaRPr>
          </a:p>
        </p:txBody>
      </p:sp>
      <p:sp>
        <p:nvSpPr>
          <p:cNvPr id="81" name="Google Shape;81;p2"/>
          <p:cNvSpPr txBox="1"/>
          <p:nvPr/>
        </p:nvSpPr>
        <p:spPr>
          <a:xfrm>
            <a:off x="4400875" y="4648400"/>
            <a:ext cx="2326500" cy="27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pt-BR" sz="1100">
                <a:solidFill>
                  <a:schemeClr val="lt1"/>
                </a:solidFill>
                <a:latin typeface="Advent Pro"/>
                <a:ea typeface="Advent Pro"/>
                <a:cs typeface="Advent Pro"/>
                <a:sym typeface="Advent Pro"/>
              </a:rPr>
              <a:t>September</a:t>
            </a:r>
            <a:r>
              <a:rPr b="1" i="0" lang="pt-BR" sz="1100" u="none" cap="none" strike="noStrike">
                <a:solidFill>
                  <a:schemeClr val="lt1"/>
                </a:solidFill>
                <a:latin typeface="Advent Pro"/>
                <a:ea typeface="Advent Pro"/>
                <a:cs typeface="Advent Pro"/>
                <a:sym typeface="Advent Pro"/>
              </a:rPr>
              <a:t> 2026</a:t>
            </a:r>
            <a:endParaRPr b="1" i="0" sz="1100" u="none" cap="none" strike="noStrike">
              <a:solidFill>
                <a:schemeClr val="lt1"/>
              </a:solidFill>
              <a:latin typeface="Advent Pro"/>
              <a:ea typeface="Advent Pro"/>
              <a:cs typeface="Advent Pro"/>
              <a:sym typeface="Advent Pro"/>
            </a:endParaRPr>
          </a:p>
        </p:txBody>
      </p:sp>
      <p:pic>
        <p:nvPicPr>
          <p:cNvPr id="82" name="Google Shape;82;p2"/>
          <p:cNvPicPr preferRelativeResize="0"/>
          <p:nvPr/>
        </p:nvPicPr>
        <p:blipFill rotWithShape="1">
          <a:blip r:embed="rId3">
            <a:alphaModFix/>
          </a:blip>
          <a:srcRect b="0" l="0" r="0" t="0"/>
          <a:stretch/>
        </p:blipFill>
        <p:spPr>
          <a:xfrm>
            <a:off x="163398" y="588827"/>
            <a:ext cx="3716575" cy="2195250"/>
          </a:xfrm>
          <a:prstGeom prst="rect">
            <a:avLst/>
          </a:prstGeom>
          <a:noFill/>
          <a:ln>
            <a:noFill/>
          </a:ln>
        </p:spPr>
      </p:pic>
      <p:pic>
        <p:nvPicPr>
          <p:cNvPr id="83" name="Google Shape;83;p2"/>
          <p:cNvPicPr preferRelativeResize="0"/>
          <p:nvPr/>
        </p:nvPicPr>
        <p:blipFill>
          <a:blip r:embed="rId4">
            <a:alphaModFix/>
          </a:blip>
          <a:stretch>
            <a:fillRect/>
          </a:stretch>
        </p:blipFill>
        <p:spPr>
          <a:xfrm>
            <a:off x="977625" y="3230375"/>
            <a:ext cx="2690172" cy="1241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f8b35c8c4a_0_137"/>
          <p:cNvSpPr txBox="1"/>
          <p:nvPr>
            <p:ph type="title"/>
          </p:nvPr>
        </p:nvSpPr>
        <p:spPr>
          <a:xfrm>
            <a:off x="311700" y="128615"/>
            <a:ext cx="4349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Acknowledgments</a:t>
            </a:r>
            <a:endParaRPr/>
          </a:p>
        </p:txBody>
      </p:sp>
      <p:pic>
        <p:nvPicPr>
          <p:cNvPr id="89" name="Google Shape;89;g3f8b35c8c4a_0_137"/>
          <p:cNvPicPr preferRelativeResize="0"/>
          <p:nvPr/>
        </p:nvPicPr>
        <p:blipFill rotWithShape="1">
          <a:blip r:embed="rId3">
            <a:alphaModFix/>
          </a:blip>
          <a:srcRect b="0" l="0" r="0" t="0"/>
          <a:stretch/>
        </p:blipFill>
        <p:spPr>
          <a:xfrm>
            <a:off x="6159125" y="832175"/>
            <a:ext cx="1714500" cy="2524125"/>
          </a:xfrm>
          <a:prstGeom prst="rect">
            <a:avLst/>
          </a:prstGeom>
          <a:noFill/>
          <a:ln>
            <a:noFill/>
          </a:ln>
        </p:spPr>
      </p:pic>
      <p:sp>
        <p:nvSpPr>
          <p:cNvPr id="90" name="Google Shape;90;g3f8b35c8c4a_0_137"/>
          <p:cNvSpPr txBox="1"/>
          <p:nvPr/>
        </p:nvSpPr>
        <p:spPr>
          <a:xfrm>
            <a:off x="5114075" y="3356300"/>
            <a:ext cx="3804600" cy="1563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pt-BR" sz="1600" u="none" cap="none" strike="noStrike">
                <a:solidFill>
                  <a:srgbClr val="434343"/>
                </a:solidFill>
                <a:latin typeface="Comfortaa"/>
                <a:ea typeface="Comfortaa"/>
                <a:cs typeface="Comfortaa"/>
                <a:sym typeface="Comfortaa"/>
              </a:rPr>
              <a:t>Manning, C. D., Raghavan, P., &amp; Schütze, H. (2009). </a:t>
            </a:r>
            <a:r>
              <a:rPr b="1" i="0" lang="pt-BR" sz="1600" u="none" cap="none" strike="noStrike">
                <a:solidFill>
                  <a:srgbClr val="434343"/>
                </a:solidFill>
                <a:latin typeface="Comfortaa"/>
                <a:ea typeface="Comfortaa"/>
                <a:cs typeface="Comfortaa"/>
                <a:sym typeface="Comfortaa"/>
              </a:rPr>
              <a:t>Introduction to Information Retrieval</a:t>
            </a:r>
            <a:r>
              <a:rPr b="0" i="0" lang="pt-BR" sz="1600" u="none" cap="none" strike="noStrike">
                <a:solidFill>
                  <a:srgbClr val="434343"/>
                </a:solidFill>
                <a:latin typeface="Comfortaa"/>
                <a:ea typeface="Comfortaa"/>
                <a:cs typeface="Comfortaa"/>
                <a:sym typeface="Comfortaa"/>
              </a:rPr>
              <a:t>. Cambridge University Press. </a:t>
            </a:r>
            <a:r>
              <a:rPr b="0" i="0" lang="pt-BR" sz="1600" u="sng" cap="none" strike="noStrike">
                <a:solidFill>
                  <a:schemeClr val="accent5"/>
                </a:solidFill>
                <a:latin typeface="Comfortaa"/>
                <a:ea typeface="Comfortaa"/>
                <a:cs typeface="Comfortaa"/>
                <a:sym typeface="Comfortaa"/>
                <a:hlinkClick r:id="rId4">
                  <a:extLst>
                    <a:ext uri="{A12FA001-AC4F-418D-AE19-62706E023703}">
                      <ahyp:hlinkClr val="tx"/>
                    </a:ext>
                  </a:extLst>
                </a:hlinkClick>
              </a:rPr>
              <a:t>https://nlp.stanford.edu/IR-book/</a:t>
            </a:r>
            <a:endParaRPr b="0" i="0" sz="1600" u="none" cap="none" strike="noStrike">
              <a:solidFill>
                <a:srgbClr val="434343"/>
              </a:solidFill>
              <a:latin typeface="Comfortaa"/>
              <a:ea typeface="Comfortaa"/>
              <a:cs typeface="Comfortaa"/>
              <a:sym typeface="Comfortaa"/>
            </a:endParaRPr>
          </a:p>
        </p:txBody>
      </p:sp>
      <p:sp>
        <p:nvSpPr>
          <p:cNvPr id="91" name="Google Shape;91;g3f8b35c8c4a_0_137"/>
          <p:cNvSpPr txBox="1"/>
          <p:nvPr/>
        </p:nvSpPr>
        <p:spPr>
          <a:xfrm>
            <a:off x="311688" y="3973025"/>
            <a:ext cx="42384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434343"/>
                </a:solidFill>
                <a:latin typeface="Comfortaa"/>
                <a:ea typeface="Comfortaa"/>
                <a:cs typeface="Comfortaa"/>
                <a:sym typeface="Comfortaa"/>
              </a:rPr>
              <a:t>Hinrich Schütze and Christina Lioma</a:t>
            </a:r>
            <a:endParaRPr b="1" i="0" sz="1600" u="none" cap="none" strike="noStrike">
              <a:solidFill>
                <a:srgbClr val="434343"/>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434343"/>
                </a:solidFill>
                <a:latin typeface="Comfortaa"/>
                <a:ea typeface="Comfortaa"/>
                <a:cs typeface="Comfortaa"/>
                <a:sym typeface="Comfortaa"/>
              </a:rPr>
              <a:t>08/02/2011</a:t>
            </a:r>
            <a:endParaRPr b="1" i="0" sz="1600" u="none" cap="none" strike="noStrike">
              <a:solidFill>
                <a:srgbClr val="434343"/>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00"/>
              <a:buFont typeface="Arial"/>
              <a:buNone/>
            </a:pPr>
            <a:r>
              <a:rPr b="0" i="0" lang="pt-BR" sz="1600" u="sng" cap="none" strike="noStrike">
                <a:solidFill>
                  <a:schemeClr val="hlink"/>
                </a:solidFill>
                <a:latin typeface="Comfortaa"/>
                <a:ea typeface="Comfortaa"/>
                <a:cs typeface="Comfortaa"/>
                <a:sym typeface="Comfortaa"/>
                <a:hlinkClick r:id="rId5"/>
              </a:rPr>
              <a:t>https://nlp.stanford.edu/IR-book/ppt/</a:t>
            </a:r>
            <a:endParaRPr b="0" i="0" sz="1600" u="none" cap="none" strike="noStrike">
              <a:solidFill>
                <a:srgbClr val="434343"/>
              </a:solidFill>
              <a:latin typeface="Comfortaa"/>
              <a:ea typeface="Comfortaa"/>
              <a:cs typeface="Comfortaa"/>
              <a:sym typeface="Comfortaa"/>
            </a:endParaRPr>
          </a:p>
        </p:txBody>
      </p:sp>
      <p:pic>
        <p:nvPicPr>
          <p:cNvPr id="92" name="Google Shape;92;g3f8b35c8c4a_0_137"/>
          <p:cNvPicPr preferRelativeResize="0"/>
          <p:nvPr/>
        </p:nvPicPr>
        <p:blipFill rotWithShape="1">
          <a:blip r:embed="rId6">
            <a:alphaModFix/>
          </a:blip>
          <a:srcRect b="0" l="0" r="0" t="0"/>
          <a:stretch/>
        </p:blipFill>
        <p:spPr>
          <a:xfrm>
            <a:off x="311700" y="853725"/>
            <a:ext cx="4160441" cy="31193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f8b35c8c4a_0_1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Acknowledgments</a:t>
            </a:r>
            <a:endParaRPr/>
          </a:p>
        </p:txBody>
      </p:sp>
      <p:sp>
        <p:nvSpPr>
          <p:cNvPr id="98" name="Google Shape;98;g3f8b35c8c4a_0_145"/>
          <p:cNvSpPr txBox="1"/>
          <p:nvPr>
            <p:ph idx="1" type="body"/>
          </p:nvPr>
        </p:nvSpPr>
        <p:spPr>
          <a:xfrm>
            <a:off x="229625" y="3696850"/>
            <a:ext cx="4403100" cy="136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000"/>
              <a:buNone/>
            </a:pPr>
            <a:r>
              <a:rPr lang="pt-BR" sz="1600"/>
              <a:t>CS 124: From Languages to Information</a:t>
            </a:r>
            <a:endParaRPr sz="1600"/>
          </a:p>
          <a:p>
            <a:pPr indent="0" lvl="0" marL="0" rtl="0" algn="l">
              <a:lnSpc>
                <a:spcPct val="115000"/>
              </a:lnSpc>
              <a:spcBef>
                <a:spcPts val="0"/>
              </a:spcBef>
              <a:spcAft>
                <a:spcPts val="0"/>
              </a:spcAft>
              <a:buSzPts val="3000"/>
              <a:buNone/>
            </a:pPr>
            <a:r>
              <a:rPr lang="pt-BR" sz="1600"/>
              <a:t>Dan Jurafsky</a:t>
            </a:r>
            <a:endParaRPr sz="1600"/>
          </a:p>
          <a:p>
            <a:pPr indent="0" lvl="0" marL="0" rtl="0" algn="l">
              <a:lnSpc>
                <a:spcPct val="115000"/>
              </a:lnSpc>
              <a:spcBef>
                <a:spcPts val="0"/>
              </a:spcBef>
              <a:spcAft>
                <a:spcPts val="0"/>
              </a:spcAft>
              <a:buSzPts val="3000"/>
              <a:buNone/>
            </a:pPr>
            <a:r>
              <a:rPr lang="pt-BR" sz="1600"/>
              <a:t>Winter 2026</a:t>
            </a:r>
            <a:endParaRPr sz="1600"/>
          </a:p>
          <a:p>
            <a:pPr indent="0" lvl="0" marL="0" rtl="0" algn="l">
              <a:lnSpc>
                <a:spcPct val="115000"/>
              </a:lnSpc>
              <a:spcBef>
                <a:spcPts val="0"/>
              </a:spcBef>
              <a:spcAft>
                <a:spcPts val="0"/>
              </a:spcAft>
              <a:buSzPts val="3000"/>
              <a:buNone/>
            </a:pPr>
            <a:r>
              <a:rPr lang="pt-BR" sz="1600" u="sng">
                <a:solidFill>
                  <a:schemeClr val="hlink"/>
                </a:solidFill>
                <a:hlinkClick r:id="rId3"/>
              </a:rPr>
              <a:t>https://web.stanford.edu/class/cs124/</a:t>
            </a:r>
            <a:endParaRPr sz="1600"/>
          </a:p>
        </p:txBody>
      </p:sp>
      <p:pic>
        <p:nvPicPr>
          <p:cNvPr id="99" name="Google Shape;99;g3f8b35c8c4a_0_145"/>
          <p:cNvPicPr preferRelativeResize="0"/>
          <p:nvPr/>
        </p:nvPicPr>
        <p:blipFill rotWithShape="1">
          <a:blip r:embed="rId4">
            <a:alphaModFix/>
          </a:blip>
          <a:srcRect b="0" l="0" r="0" t="0"/>
          <a:stretch/>
        </p:blipFill>
        <p:spPr>
          <a:xfrm>
            <a:off x="373900" y="1447425"/>
            <a:ext cx="3997598" cy="2248649"/>
          </a:xfrm>
          <a:prstGeom prst="rect">
            <a:avLst/>
          </a:prstGeom>
          <a:noFill/>
          <a:ln>
            <a:noFill/>
          </a:ln>
        </p:spPr>
      </p:pic>
      <p:sp>
        <p:nvSpPr>
          <p:cNvPr id="100" name="Google Shape;100;g3f8b35c8c4a_0_145"/>
          <p:cNvSpPr txBox="1"/>
          <p:nvPr/>
        </p:nvSpPr>
        <p:spPr>
          <a:xfrm>
            <a:off x="5079700" y="1495650"/>
            <a:ext cx="3584100" cy="269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pt-BR" sz="1600" u="none" cap="none" strike="noStrike">
                <a:solidFill>
                  <a:srgbClr val="434343"/>
                </a:solidFill>
                <a:latin typeface="Comfortaa"/>
                <a:ea typeface="Comfortaa"/>
                <a:cs typeface="Comfortaa"/>
                <a:sym typeface="Comfortaa"/>
              </a:rPr>
              <a:t>Jurafsky, D. and Martin, J. H. (2025). </a:t>
            </a:r>
            <a:r>
              <a:rPr b="1" i="0" lang="pt-BR" sz="1600" u="none" cap="none" strike="noStrike">
                <a:solidFill>
                  <a:srgbClr val="434343"/>
                </a:solidFill>
                <a:latin typeface="Comfortaa"/>
                <a:ea typeface="Comfortaa"/>
                <a:cs typeface="Comfortaa"/>
                <a:sym typeface="Comfortaa"/>
              </a:rPr>
              <a:t>Speech and Language Processing: An Introduction to Natural Language Processing, Computational Linguistics, and Speech Recognition with Language Models</a:t>
            </a:r>
            <a:r>
              <a:rPr b="0" i="0" lang="pt-BR" sz="1600" u="none" cap="none" strike="noStrike">
                <a:solidFill>
                  <a:srgbClr val="434343"/>
                </a:solidFill>
                <a:latin typeface="Comfortaa"/>
                <a:ea typeface="Comfortaa"/>
                <a:cs typeface="Comfortaa"/>
                <a:sym typeface="Comfortaa"/>
              </a:rPr>
              <a:t>. 3rd edition. </a:t>
            </a:r>
            <a:r>
              <a:rPr b="0" i="0" lang="pt-BR" sz="1600" u="sng" cap="none" strike="noStrike">
                <a:solidFill>
                  <a:schemeClr val="accent5"/>
                </a:solidFill>
                <a:latin typeface="Comfortaa"/>
                <a:ea typeface="Comfortaa"/>
                <a:cs typeface="Comfortaa"/>
                <a:sym typeface="Comfortaa"/>
                <a:hlinkClick r:id="rId5">
                  <a:extLst>
                    <a:ext uri="{A12FA001-AC4F-418D-AE19-62706E023703}">
                      <ahyp:hlinkClr val="tx"/>
                    </a:ext>
                  </a:extLst>
                </a:hlinkClick>
              </a:rPr>
              <a:t>https://web.stanford.edu/~jurafsky/slp3/</a:t>
            </a:r>
            <a:endParaRPr b="0" i="0" sz="3000" u="none" cap="none" strike="noStrike">
              <a:solidFill>
                <a:srgbClr val="434343"/>
              </a:solidFill>
              <a:latin typeface="Comfortaa"/>
              <a:ea typeface="Comfortaa"/>
              <a:cs typeface="Comfortaa"/>
              <a:sym typeface="Comforta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f8b35c8c4a_0_152"/>
          <p:cNvSpPr txBox="1"/>
          <p:nvPr>
            <p:ph type="title"/>
          </p:nvPr>
        </p:nvSpPr>
        <p:spPr>
          <a:xfrm>
            <a:off x="311700" y="124447"/>
            <a:ext cx="85206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400"/>
              <a:buNone/>
            </a:pPr>
            <a:r>
              <a:rPr lang="pt-BR"/>
              <a:t>Acknowledgments</a:t>
            </a:r>
            <a:endParaRPr/>
          </a:p>
        </p:txBody>
      </p:sp>
      <p:grpSp>
        <p:nvGrpSpPr>
          <p:cNvPr id="106" name="Google Shape;106;g3f8b35c8c4a_0_152"/>
          <p:cNvGrpSpPr/>
          <p:nvPr/>
        </p:nvGrpSpPr>
        <p:grpSpPr>
          <a:xfrm>
            <a:off x="1575500" y="2055748"/>
            <a:ext cx="5993001" cy="2402566"/>
            <a:chOff x="311700" y="2055748"/>
            <a:chExt cx="5993001" cy="2402566"/>
          </a:xfrm>
        </p:grpSpPr>
        <p:pic>
          <p:nvPicPr>
            <p:cNvPr id="107" name="Google Shape;107;g3f8b35c8c4a_0_152"/>
            <p:cNvPicPr preferRelativeResize="0"/>
            <p:nvPr/>
          </p:nvPicPr>
          <p:blipFill>
            <a:blip r:embed="rId3">
              <a:alphaModFix/>
            </a:blip>
            <a:stretch>
              <a:fillRect/>
            </a:stretch>
          </p:blipFill>
          <p:spPr>
            <a:xfrm>
              <a:off x="3405475" y="2090788"/>
              <a:ext cx="2899226" cy="2332501"/>
            </a:xfrm>
            <a:prstGeom prst="rect">
              <a:avLst/>
            </a:prstGeom>
            <a:noFill/>
            <a:ln cap="flat" cmpd="sng" w="19050">
              <a:solidFill>
                <a:schemeClr val="dk2"/>
              </a:solidFill>
              <a:prstDash val="solid"/>
              <a:round/>
              <a:headEnd len="sm" w="sm" type="none"/>
              <a:tailEnd len="sm" w="sm" type="none"/>
            </a:ln>
          </p:spPr>
        </p:pic>
        <p:pic>
          <p:nvPicPr>
            <p:cNvPr id="108" name="Google Shape;108;g3f8b35c8c4a_0_152"/>
            <p:cNvPicPr preferRelativeResize="0"/>
            <p:nvPr/>
          </p:nvPicPr>
          <p:blipFill>
            <a:blip r:embed="rId4">
              <a:alphaModFix/>
            </a:blip>
            <a:stretch>
              <a:fillRect/>
            </a:stretch>
          </p:blipFill>
          <p:spPr>
            <a:xfrm>
              <a:off x="311700" y="2055748"/>
              <a:ext cx="2899225" cy="2402566"/>
            </a:xfrm>
            <a:prstGeom prst="rect">
              <a:avLst/>
            </a:prstGeom>
            <a:noFill/>
            <a:ln cap="flat" cmpd="sng" w="19050">
              <a:solidFill>
                <a:schemeClr val="dk2"/>
              </a:solidFill>
              <a:prstDash val="solid"/>
              <a:round/>
              <a:headEnd len="sm" w="sm" type="none"/>
              <a:tailEnd len="sm" w="sm" type="none"/>
            </a:ln>
          </p:spPr>
        </p:pic>
      </p:grpSp>
      <p:sp>
        <p:nvSpPr>
          <p:cNvPr id="109" name="Google Shape;109;g3f8b35c8c4a_0_152"/>
          <p:cNvSpPr txBox="1"/>
          <p:nvPr/>
        </p:nvSpPr>
        <p:spPr>
          <a:xfrm>
            <a:off x="1749750" y="4549000"/>
            <a:ext cx="5644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u="sng">
                <a:solidFill>
                  <a:schemeClr val="hlink"/>
                </a:solidFill>
                <a:latin typeface="Comfortaa"/>
                <a:ea typeface="Comfortaa"/>
                <a:cs typeface="Comfortaa"/>
                <a:sym typeface="Comfortaa"/>
                <a:hlinkClick r:id="rId5"/>
              </a:rPr>
              <a:t>https://pessoal.dainf.ct.utfpr.edu.br/lcjunior/</a:t>
            </a:r>
            <a:endParaRPr sz="1800">
              <a:solidFill>
                <a:srgbClr val="434343"/>
              </a:solidFill>
              <a:latin typeface="Comfortaa"/>
              <a:ea typeface="Comfortaa"/>
              <a:cs typeface="Comfortaa"/>
              <a:sym typeface="Comfortaa"/>
            </a:endParaRPr>
          </a:p>
        </p:txBody>
      </p:sp>
      <p:pic>
        <p:nvPicPr>
          <p:cNvPr id="110" name="Google Shape;110;g3f8b35c8c4a_0_152"/>
          <p:cNvPicPr preferRelativeResize="0"/>
          <p:nvPr/>
        </p:nvPicPr>
        <p:blipFill>
          <a:blip r:embed="rId6">
            <a:alphaModFix/>
          </a:blip>
          <a:stretch>
            <a:fillRect/>
          </a:stretch>
        </p:blipFill>
        <p:spPr>
          <a:xfrm>
            <a:off x="7822376" y="895438"/>
            <a:ext cx="952500" cy="962025"/>
          </a:xfrm>
          <a:prstGeom prst="rect">
            <a:avLst/>
          </a:prstGeom>
          <a:noFill/>
          <a:ln>
            <a:noFill/>
          </a:ln>
        </p:spPr>
      </p:pic>
      <p:sp>
        <p:nvSpPr>
          <p:cNvPr id="111" name="Google Shape;111;g3f8b35c8c4a_0_152"/>
          <p:cNvSpPr txBox="1"/>
          <p:nvPr>
            <p:ph idx="1" type="body"/>
          </p:nvPr>
        </p:nvSpPr>
        <p:spPr>
          <a:xfrm>
            <a:off x="311700" y="781100"/>
            <a:ext cx="7425000" cy="119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700"/>
              <a:t>This course took the slides of my colleague Luiz Celso Gomes-Jr—to whom I extend my thanks—as a starting point. Slides that have been reused and/or adapted will bear the seal shown here.</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f9e35ce08f_0_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Ranked Retrieval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f9e35ce08f_0_4"/>
          <p:cNvSpPr txBox="1"/>
          <p:nvPr>
            <p:ph type="title"/>
          </p:nvPr>
        </p:nvSpPr>
        <p:spPr>
          <a:xfrm>
            <a:off x="311700" y="128615"/>
            <a:ext cx="43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Acknowledgments</a:t>
            </a:r>
            <a:endParaRPr/>
          </a:p>
        </p:txBody>
      </p:sp>
      <p:pic>
        <p:nvPicPr>
          <p:cNvPr id="122" name="Google Shape;122;g3f9e35ce08f_0_4"/>
          <p:cNvPicPr preferRelativeResize="0"/>
          <p:nvPr/>
        </p:nvPicPr>
        <p:blipFill>
          <a:blip r:embed="rId3">
            <a:alphaModFix/>
          </a:blip>
          <a:stretch>
            <a:fillRect/>
          </a:stretch>
        </p:blipFill>
        <p:spPr>
          <a:xfrm>
            <a:off x="6159125" y="832175"/>
            <a:ext cx="1714500" cy="2524125"/>
          </a:xfrm>
          <a:prstGeom prst="rect">
            <a:avLst/>
          </a:prstGeom>
          <a:noFill/>
          <a:ln>
            <a:noFill/>
          </a:ln>
        </p:spPr>
      </p:pic>
      <p:sp>
        <p:nvSpPr>
          <p:cNvPr id="123" name="Google Shape;123;g3f9e35ce08f_0_4"/>
          <p:cNvSpPr txBox="1"/>
          <p:nvPr/>
        </p:nvSpPr>
        <p:spPr>
          <a:xfrm>
            <a:off x="5114075" y="3356300"/>
            <a:ext cx="3804600" cy="15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pt-BR" sz="1600">
                <a:solidFill>
                  <a:srgbClr val="434343"/>
                </a:solidFill>
                <a:latin typeface="Comfortaa"/>
                <a:ea typeface="Comfortaa"/>
                <a:cs typeface="Comfortaa"/>
                <a:sym typeface="Comfortaa"/>
              </a:rPr>
              <a:t>Manning, C. D., Raghavan, P., &amp; Schütze, H. (2009). </a:t>
            </a:r>
            <a:r>
              <a:rPr b="1" lang="pt-BR" sz="1600">
                <a:solidFill>
                  <a:srgbClr val="434343"/>
                </a:solidFill>
                <a:latin typeface="Comfortaa"/>
                <a:ea typeface="Comfortaa"/>
                <a:cs typeface="Comfortaa"/>
                <a:sym typeface="Comfortaa"/>
              </a:rPr>
              <a:t>Introduction to Information Retrieval</a:t>
            </a:r>
            <a:r>
              <a:rPr lang="pt-BR" sz="1600">
                <a:solidFill>
                  <a:srgbClr val="434343"/>
                </a:solidFill>
                <a:latin typeface="Comfortaa"/>
                <a:ea typeface="Comfortaa"/>
                <a:cs typeface="Comfortaa"/>
                <a:sym typeface="Comfortaa"/>
              </a:rPr>
              <a:t>. Cambridge University Press. </a:t>
            </a:r>
            <a:r>
              <a:rPr lang="pt-BR" sz="1600" u="sng">
                <a:solidFill>
                  <a:schemeClr val="accent5"/>
                </a:solidFill>
                <a:latin typeface="Comfortaa"/>
                <a:ea typeface="Comfortaa"/>
                <a:cs typeface="Comfortaa"/>
                <a:sym typeface="Comfortaa"/>
                <a:hlinkClick r:id="rId4">
                  <a:extLst>
                    <a:ext uri="{A12FA001-AC4F-418D-AE19-62706E023703}">
                      <ahyp:hlinkClr val="tx"/>
                    </a:ext>
                  </a:extLst>
                </a:hlinkClick>
              </a:rPr>
              <a:t>https://nlp.stanford.edu/IR-book/</a:t>
            </a:r>
            <a:endParaRPr sz="1600">
              <a:solidFill>
                <a:srgbClr val="434343"/>
              </a:solidFill>
              <a:latin typeface="Comfortaa"/>
              <a:ea typeface="Comfortaa"/>
              <a:cs typeface="Comfortaa"/>
              <a:sym typeface="Comfortaa"/>
            </a:endParaRPr>
          </a:p>
        </p:txBody>
      </p:sp>
      <p:sp>
        <p:nvSpPr>
          <p:cNvPr id="124" name="Google Shape;124;g3f9e35ce08f_0_4"/>
          <p:cNvSpPr txBox="1"/>
          <p:nvPr/>
        </p:nvSpPr>
        <p:spPr>
          <a:xfrm>
            <a:off x="311688" y="3973025"/>
            <a:ext cx="4238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600">
                <a:solidFill>
                  <a:srgbClr val="434343"/>
                </a:solidFill>
                <a:latin typeface="Comfortaa"/>
                <a:ea typeface="Comfortaa"/>
                <a:cs typeface="Comfortaa"/>
                <a:sym typeface="Comfortaa"/>
              </a:rPr>
              <a:t>Hinrich Schütze and Christina Lioma</a:t>
            </a:r>
            <a:endParaRPr b="1" sz="1600">
              <a:solidFill>
                <a:srgbClr val="434343"/>
              </a:solidFill>
              <a:latin typeface="Comfortaa"/>
              <a:ea typeface="Comfortaa"/>
              <a:cs typeface="Comfortaa"/>
              <a:sym typeface="Comfortaa"/>
            </a:endParaRPr>
          </a:p>
          <a:p>
            <a:pPr indent="0" lvl="0" marL="0" rtl="0" algn="l">
              <a:spcBef>
                <a:spcPts val="0"/>
              </a:spcBef>
              <a:spcAft>
                <a:spcPts val="0"/>
              </a:spcAft>
              <a:buNone/>
            </a:pPr>
            <a:r>
              <a:rPr b="1" lang="pt-BR" sz="1600">
                <a:solidFill>
                  <a:srgbClr val="434343"/>
                </a:solidFill>
                <a:latin typeface="Comfortaa"/>
                <a:ea typeface="Comfortaa"/>
                <a:cs typeface="Comfortaa"/>
                <a:sym typeface="Comfortaa"/>
              </a:rPr>
              <a:t>30/10/2010</a:t>
            </a:r>
            <a:endParaRPr b="1" sz="1600">
              <a:solidFill>
                <a:srgbClr val="434343"/>
              </a:solidFill>
              <a:latin typeface="Comfortaa"/>
              <a:ea typeface="Comfortaa"/>
              <a:cs typeface="Comfortaa"/>
              <a:sym typeface="Comfortaa"/>
            </a:endParaRPr>
          </a:p>
          <a:p>
            <a:pPr indent="0" lvl="0" marL="0" rtl="0" algn="l">
              <a:spcBef>
                <a:spcPts val="0"/>
              </a:spcBef>
              <a:spcAft>
                <a:spcPts val="0"/>
              </a:spcAft>
              <a:buNone/>
            </a:pPr>
            <a:r>
              <a:rPr lang="pt-BR" sz="1600" u="sng">
                <a:solidFill>
                  <a:schemeClr val="hlink"/>
                </a:solidFill>
                <a:latin typeface="Comfortaa"/>
                <a:ea typeface="Comfortaa"/>
                <a:cs typeface="Comfortaa"/>
                <a:sym typeface="Comfortaa"/>
                <a:hlinkClick r:id="rId5"/>
              </a:rPr>
              <a:t>https://nlp.stanford.edu/IR-book/ppt/</a:t>
            </a:r>
            <a:endParaRPr sz="1600">
              <a:solidFill>
                <a:srgbClr val="434343"/>
              </a:solidFill>
              <a:latin typeface="Comfortaa"/>
              <a:ea typeface="Comfortaa"/>
              <a:cs typeface="Comfortaa"/>
              <a:sym typeface="Comfortaa"/>
            </a:endParaRPr>
          </a:p>
        </p:txBody>
      </p:sp>
      <p:pic>
        <p:nvPicPr>
          <p:cNvPr id="125" name="Google Shape;125;g3f9e35ce08f_0_4"/>
          <p:cNvPicPr preferRelativeResize="0"/>
          <p:nvPr/>
        </p:nvPicPr>
        <p:blipFill>
          <a:blip r:embed="rId6">
            <a:alphaModFix/>
          </a:blip>
          <a:stretch>
            <a:fillRect/>
          </a:stretch>
        </p:blipFill>
        <p:spPr>
          <a:xfrm>
            <a:off x="358425" y="888065"/>
            <a:ext cx="3938191" cy="29526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f9e35ce08f_0_162"/>
          <p:cNvSpPr txBox="1"/>
          <p:nvPr>
            <p:ph type="title"/>
          </p:nvPr>
        </p:nvSpPr>
        <p:spPr>
          <a:xfrm>
            <a:off x="311700" y="128615"/>
            <a:ext cx="43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Acknowledgments</a:t>
            </a:r>
            <a:endParaRPr/>
          </a:p>
        </p:txBody>
      </p:sp>
      <p:pic>
        <p:nvPicPr>
          <p:cNvPr id="131" name="Google Shape;131;g3f9e35ce08f_0_162"/>
          <p:cNvPicPr preferRelativeResize="0"/>
          <p:nvPr/>
        </p:nvPicPr>
        <p:blipFill>
          <a:blip r:embed="rId3">
            <a:alphaModFix/>
          </a:blip>
          <a:stretch>
            <a:fillRect/>
          </a:stretch>
        </p:blipFill>
        <p:spPr>
          <a:xfrm>
            <a:off x="6159125" y="832175"/>
            <a:ext cx="1714500" cy="2524125"/>
          </a:xfrm>
          <a:prstGeom prst="rect">
            <a:avLst/>
          </a:prstGeom>
          <a:noFill/>
          <a:ln>
            <a:noFill/>
          </a:ln>
        </p:spPr>
      </p:pic>
      <p:sp>
        <p:nvSpPr>
          <p:cNvPr id="132" name="Google Shape;132;g3f9e35ce08f_0_162"/>
          <p:cNvSpPr txBox="1"/>
          <p:nvPr/>
        </p:nvSpPr>
        <p:spPr>
          <a:xfrm>
            <a:off x="5114075" y="3356300"/>
            <a:ext cx="3804600" cy="15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pt-BR" sz="1600">
                <a:solidFill>
                  <a:srgbClr val="434343"/>
                </a:solidFill>
                <a:latin typeface="Comfortaa"/>
                <a:ea typeface="Comfortaa"/>
                <a:cs typeface="Comfortaa"/>
                <a:sym typeface="Comfortaa"/>
              </a:rPr>
              <a:t>Manning, C. D., Raghavan, P., &amp; Schütze, H. (2009). </a:t>
            </a:r>
            <a:r>
              <a:rPr b="1" lang="pt-BR" sz="1600">
                <a:solidFill>
                  <a:srgbClr val="434343"/>
                </a:solidFill>
                <a:latin typeface="Comfortaa"/>
                <a:ea typeface="Comfortaa"/>
                <a:cs typeface="Comfortaa"/>
                <a:sym typeface="Comfortaa"/>
              </a:rPr>
              <a:t>Introduction to Information Retrieval</a:t>
            </a:r>
            <a:r>
              <a:rPr lang="pt-BR" sz="1600">
                <a:solidFill>
                  <a:srgbClr val="434343"/>
                </a:solidFill>
                <a:latin typeface="Comfortaa"/>
                <a:ea typeface="Comfortaa"/>
                <a:cs typeface="Comfortaa"/>
                <a:sym typeface="Comfortaa"/>
              </a:rPr>
              <a:t>. Cambridge University Press. </a:t>
            </a:r>
            <a:r>
              <a:rPr lang="pt-BR" sz="1600" u="sng">
                <a:solidFill>
                  <a:schemeClr val="accent5"/>
                </a:solidFill>
                <a:latin typeface="Comfortaa"/>
                <a:ea typeface="Comfortaa"/>
                <a:cs typeface="Comfortaa"/>
                <a:sym typeface="Comfortaa"/>
                <a:hlinkClick r:id="rId4">
                  <a:extLst>
                    <a:ext uri="{A12FA001-AC4F-418D-AE19-62706E023703}">
                      <ahyp:hlinkClr val="tx"/>
                    </a:ext>
                  </a:extLst>
                </a:hlinkClick>
              </a:rPr>
              <a:t>https://nlp.stanford.edu/IR-book/</a:t>
            </a:r>
            <a:endParaRPr sz="1600">
              <a:solidFill>
                <a:srgbClr val="434343"/>
              </a:solidFill>
              <a:latin typeface="Comfortaa"/>
              <a:ea typeface="Comfortaa"/>
              <a:cs typeface="Comfortaa"/>
              <a:sym typeface="Comfortaa"/>
            </a:endParaRPr>
          </a:p>
        </p:txBody>
      </p:sp>
      <p:sp>
        <p:nvSpPr>
          <p:cNvPr id="133" name="Google Shape;133;g3f9e35ce08f_0_162"/>
          <p:cNvSpPr txBox="1"/>
          <p:nvPr/>
        </p:nvSpPr>
        <p:spPr>
          <a:xfrm>
            <a:off x="367351" y="3973025"/>
            <a:ext cx="4448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600">
                <a:solidFill>
                  <a:srgbClr val="434343"/>
                </a:solidFill>
                <a:latin typeface="Comfortaa"/>
                <a:ea typeface="Comfortaa"/>
                <a:cs typeface="Comfortaa"/>
                <a:sym typeface="Comfortaa"/>
              </a:rPr>
              <a:t>Pandu Nayak and Prabhakar Raghavan</a:t>
            </a:r>
            <a:endParaRPr b="1" sz="1600">
              <a:solidFill>
                <a:srgbClr val="434343"/>
              </a:solidFill>
              <a:latin typeface="Comfortaa"/>
              <a:ea typeface="Comfortaa"/>
              <a:cs typeface="Comfortaa"/>
              <a:sym typeface="Comfortaa"/>
            </a:endParaRPr>
          </a:p>
          <a:p>
            <a:pPr indent="0" lvl="0" marL="0" rtl="0" algn="l">
              <a:spcBef>
                <a:spcPts val="0"/>
              </a:spcBef>
              <a:spcAft>
                <a:spcPts val="0"/>
              </a:spcAft>
              <a:buNone/>
            </a:pPr>
            <a:r>
              <a:rPr b="1" lang="pt-BR" sz="1100">
                <a:solidFill>
                  <a:srgbClr val="434343"/>
                </a:solidFill>
                <a:latin typeface="Comfortaa"/>
                <a:ea typeface="Comfortaa"/>
                <a:cs typeface="Comfortaa"/>
                <a:sym typeface="Comfortaa"/>
              </a:rPr>
              <a:t>CS 276 / LING 286: Information Retrieval and Web Search</a:t>
            </a:r>
            <a:endParaRPr b="1" sz="1100">
              <a:solidFill>
                <a:srgbClr val="434343"/>
              </a:solidFill>
              <a:latin typeface="Comfortaa"/>
              <a:ea typeface="Comfortaa"/>
              <a:cs typeface="Comfortaa"/>
              <a:sym typeface="Comfortaa"/>
            </a:endParaRPr>
          </a:p>
          <a:p>
            <a:pPr indent="0" lvl="0" marL="0" rtl="0" algn="l">
              <a:spcBef>
                <a:spcPts val="0"/>
              </a:spcBef>
              <a:spcAft>
                <a:spcPts val="0"/>
              </a:spcAft>
              <a:buNone/>
            </a:pPr>
            <a:r>
              <a:rPr b="1" lang="pt-BR" sz="1100">
                <a:solidFill>
                  <a:srgbClr val="434343"/>
                </a:solidFill>
                <a:latin typeface="Comfortaa"/>
                <a:ea typeface="Comfortaa"/>
                <a:cs typeface="Comfortaa"/>
                <a:sym typeface="Comfortaa"/>
              </a:rPr>
              <a:t>Spring quarter 2019</a:t>
            </a:r>
            <a:endParaRPr b="1" sz="1100">
              <a:solidFill>
                <a:srgbClr val="434343"/>
              </a:solidFill>
              <a:latin typeface="Comfortaa"/>
              <a:ea typeface="Comfortaa"/>
              <a:cs typeface="Comfortaa"/>
              <a:sym typeface="Comfortaa"/>
            </a:endParaRPr>
          </a:p>
          <a:p>
            <a:pPr indent="0" lvl="0" marL="0" rtl="0" algn="l">
              <a:spcBef>
                <a:spcPts val="0"/>
              </a:spcBef>
              <a:spcAft>
                <a:spcPts val="0"/>
              </a:spcAft>
              <a:buNone/>
            </a:pPr>
            <a:r>
              <a:rPr lang="pt-BR" sz="1600" u="sng">
                <a:solidFill>
                  <a:schemeClr val="hlink"/>
                </a:solidFill>
                <a:latin typeface="Comfortaa"/>
                <a:ea typeface="Comfortaa"/>
                <a:cs typeface="Comfortaa"/>
                <a:sym typeface="Comfortaa"/>
                <a:hlinkClick r:id="rId5"/>
              </a:rPr>
              <a:t>https://web.stanford.edu/class/cs276/</a:t>
            </a:r>
            <a:endParaRPr sz="1600">
              <a:solidFill>
                <a:srgbClr val="434343"/>
              </a:solidFill>
              <a:latin typeface="Comfortaa"/>
              <a:ea typeface="Comfortaa"/>
              <a:cs typeface="Comfortaa"/>
              <a:sym typeface="Comfortaa"/>
            </a:endParaRPr>
          </a:p>
        </p:txBody>
      </p:sp>
      <p:pic>
        <p:nvPicPr>
          <p:cNvPr id="134" name="Google Shape;134;g3f9e35ce08f_0_162"/>
          <p:cNvPicPr preferRelativeResize="0"/>
          <p:nvPr/>
        </p:nvPicPr>
        <p:blipFill>
          <a:blip r:embed="rId6">
            <a:alphaModFix/>
          </a:blip>
          <a:stretch>
            <a:fillRect/>
          </a:stretch>
        </p:blipFill>
        <p:spPr>
          <a:xfrm>
            <a:off x="454338" y="853715"/>
            <a:ext cx="3953134" cy="296691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f9e35ce08f_0_1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Ranked retrieval</a:t>
            </a:r>
            <a:endParaRPr/>
          </a:p>
        </p:txBody>
      </p:sp>
      <p:sp>
        <p:nvSpPr>
          <p:cNvPr id="140" name="Google Shape;140;g3f9e35ce08f_0_12"/>
          <p:cNvSpPr txBox="1"/>
          <p:nvPr>
            <p:ph idx="1" type="body"/>
          </p:nvPr>
        </p:nvSpPr>
        <p:spPr>
          <a:xfrm>
            <a:off x="311700" y="1152475"/>
            <a:ext cx="8520600" cy="358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sz="1800"/>
              <a:t>Thus far, our queries have all been </a:t>
            </a:r>
            <a:r>
              <a:rPr b="1" lang="pt-BR" sz="1800"/>
              <a:t>Boolean</a:t>
            </a:r>
            <a:r>
              <a:rPr lang="pt-BR" sz="1800"/>
              <a:t>.</a:t>
            </a:r>
            <a:endParaRPr sz="1800"/>
          </a:p>
          <a:p>
            <a:pPr indent="-342900" lvl="1" marL="914400" rtl="0" algn="l">
              <a:spcBef>
                <a:spcPts val="0"/>
              </a:spcBef>
              <a:spcAft>
                <a:spcPts val="0"/>
              </a:spcAft>
              <a:buSzPts val="1800"/>
              <a:buChar char="○"/>
            </a:pPr>
            <a:r>
              <a:rPr lang="pt-BR" sz="1800"/>
              <a:t>Documents either match or don’t.</a:t>
            </a:r>
            <a:endParaRPr sz="1800"/>
          </a:p>
          <a:p>
            <a:pPr indent="-342900" lvl="0" marL="457200" rtl="0" algn="l">
              <a:spcBef>
                <a:spcPts val="0"/>
              </a:spcBef>
              <a:spcAft>
                <a:spcPts val="0"/>
              </a:spcAft>
              <a:buSzPts val="1800"/>
              <a:buChar char="●"/>
            </a:pPr>
            <a:r>
              <a:rPr b="1" lang="pt-BR" sz="1800"/>
              <a:t>Good for expert users</a:t>
            </a:r>
            <a:r>
              <a:rPr lang="pt-BR" sz="1800"/>
              <a:t> with precise understanding of their needs and of the collection.</a:t>
            </a:r>
            <a:endParaRPr sz="1800"/>
          </a:p>
          <a:p>
            <a:pPr indent="-342900" lvl="0" marL="457200" rtl="0" algn="l">
              <a:spcBef>
                <a:spcPts val="0"/>
              </a:spcBef>
              <a:spcAft>
                <a:spcPts val="0"/>
              </a:spcAft>
              <a:buSzPts val="1800"/>
              <a:buChar char="●"/>
            </a:pPr>
            <a:r>
              <a:rPr lang="pt-BR" sz="1800"/>
              <a:t>Also </a:t>
            </a:r>
            <a:r>
              <a:rPr b="1" lang="pt-BR" sz="1800"/>
              <a:t>good for applications</a:t>
            </a:r>
            <a:r>
              <a:rPr lang="pt-BR" sz="1800"/>
              <a:t>: Applications can easily consum 1000s of results.</a:t>
            </a:r>
            <a:endParaRPr sz="1800"/>
          </a:p>
          <a:p>
            <a:pPr indent="-342900" lvl="0" marL="457200" rtl="0" algn="l">
              <a:spcBef>
                <a:spcPts val="0"/>
              </a:spcBef>
              <a:spcAft>
                <a:spcPts val="0"/>
              </a:spcAft>
              <a:buSzPts val="1800"/>
              <a:buChar char="●"/>
            </a:pPr>
            <a:r>
              <a:rPr b="1" lang="pt-BR" sz="1800"/>
              <a:t>Not good for the majority of users</a:t>
            </a:r>
            <a:endParaRPr b="1" sz="1800"/>
          </a:p>
          <a:p>
            <a:pPr indent="-342900" lvl="0" marL="457200" rtl="0" algn="l">
              <a:spcBef>
                <a:spcPts val="0"/>
              </a:spcBef>
              <a:spcAft>
                <a:spcPts val="0"/>
              </a:spcAft>
              <a:buSzPts val="1800"/>
              <a:buChar char="●"/>
            </a:pPr>
            <a:r>
              <a:rPr lang="pt-BR" sz="1800"/>
              <a:t>Most users are not capable of writing Boolean queries . . .</a:t>
            </a:r>
            <a:endParaRPr sz="1800"/>
          </a:p>
          <a:p>
            <a:pPr indent="-342900" lvl="1" marL="914400" rtl="0" algn="l">
              <a:spcBef>
                <a:spcPts val="0"/>
              </a:spcBef>
              <a:spcAft>
                <a:spcPts val="0"/>
              </a:spcAft>
              <a:buSzPts val="1800"/>
              <a:buChar char="○"/>
            </a:pPr>
            <a:r>
              <a:rPr lang="pt-BR" sz="1800"/>
              <a:t>. . . or they are, but they think it’s too much work.</a:t>
            </a:r>
            <a:endParaRPr sz="1800"/>
          </a:p>
          <a:p>
            <a:pPr indent="-342900" lvl="0" marL="457200" rtl="0" algn="l">
              <a:spcBef>
                <a:spcPts val="0"/>
              </a:spcBef>
              <a:spcAft>
                <a:spcPts val="0"/>
              </a:spcAft>
              <a:buSzPts val="1800"/>
              <a:buChar char="●"/>
            </a:pPr>
            <a:r>
              <a:rPr lang="pt-BR" sz="1800"/>
              <a:t>Most users don’t want to wade through 1000s of results.</a:t>
            </a:r>
            <a:endParaRPr sz="1800"/>
          </a:p>
          <a:p>
            <a:pPr indent="-342900" lvl="0" marL="457200" rtl="0" algn="l">
              <a:spcBef>
                <a:spcPts val="0"/>
              </a:spcBef>
              <a:spcAft>
                <a:spcPts val="0"/>
              </a:spcAft>
              <a:buSzPts val="1800"/>
              <a:buChar char="●"/>
            </a:pPr>
            <a:r>
              <a:rPr lang="pt-BR" sz="1800"/>
              <a:t>This is particularly true of web search.</a:t>
            </a:r>
            <a:endParaRPr sz="1800"/>
          </a:p>
        </p:txBody>
      </p:sp>
      <p:sp>
        <p:nvSpPr>
          <p:cNvPr id="141" name="Google Shape;141;g3f9e35ce08f_0_12"/>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f9e35ce08f_0_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No problem in ranked retrieval</a:t>
            </a:r>
            <a:endParaRPr/>
          </a:p>
        </p:txBody>
      </p:sp>
      <p:sp>
        <p:nvSpPr>
          <p:cNvPr id="147" name="Google Shape;147;g3f9e35ce08f_0_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pt-BR" sz="2400">
                <a:solidFill>
                  <a:schemeClr val="dk1"/>
                </a:solidFill>
              </a:rPr>
              <a:t>With ranking, large result sets are not an issue.</a:t>
            </a:r>
            <a:endParaRPr sz="2400">
              <a:solidFill>
                <a:schemeClr val="dk1"/>
              </a:solidFill>
            </a:endParaRPr>
          </a:p>
          <a:p>
            <a:pPr indent="-381000" lvl="0" marL="457200" rtl="0" algn="l">
              <a:spcBef>
                <a:spcPts val="0"/>
              </a:spcBef>
              <a:spcAft>
                <a:spcPts val="0"/>
              </a:spcAft>
              <a:buSzPts val="2400"/>
              <a:buChar char="●"/>
            </a:pPr>
            <a:r>
              <a:rPr lang="pt-BR" sz="2400">
                <a:solidFill>
                  <a:schemeClr val="dk1"/>
                </a:solidFill>
              </a:rPr>
              <a:t>Just show the top 10 results</a:t>
            </a:r>
            <a:endParaRPr sz="2400">
              <a:solidFill>
                <a:schemeClr val="dk1"/>
              </a:solidFill>
            </a:endParaRPr>
          </a:p>
          <a:p>
            <a:pPr indent="-381000" lvl="0" marL="457200" rtl="0" algn="l">
              <a:spcBef>
                <a:spcPts val="0"/>
              </a:spcBef>
              <a:spcAft>
                <a:spcPts val="0"/>
              </a:spcAft>
              <a:buSzPts val="2400"/>
              <a:buChar char="●"/>
            </a:pPr>
            <a:r>
              <a:rPr lang="pt-BR" sz="2400">
                <a:solidFill>
                  <a:schemeClr val="dk1"/>
                </a:solidFill>
              </a:rPr>
              <a:t>Doesn’t overwhelm the user</a:t>
            </a:r>
            <a:endParaRPr sz="2400">
              <a:solidFill>
                <a:schemeClr val="dk1"/>
              </a:solidFill>
            </a:endParaRPr>
          </a:p>
          <a:p>
            <a:pPr indent="-381000" lvl="0" marL="457200" rtl="0" algn="l">
              <a:spcBef>
                <a:spcPts val="0"/>
              </a:spcBef>
              <a:spcAft>
                <a:spcPts val="0"/>
              </a:spcAft>
              <a:buSzPts val="2400"/>
              <a:buChar char="●"/>
            </a:pPr>
            <a:r>
              <a:rPr lang="pt-BR" sz="2400">
                <a:solidFill>
                  <a:schemeClr val="dk1"/>
                </a:solidFill>
              </a:rPr>
              <a:t>Premise: the ranking algorithm works: </a:t>
            </a:r>
            <a:r>
              <a:rPr b="1" lang="pt-BR" sz="2400">
                <a:solidFill>
                  <a:schemeClr val="dk1"/>
                </a:solidFill>
              </a:rPr>
              <a:t>More relevant results are ranked higher than less relevant results</a:t>
            </a:r>
            <a:r>
              <a:rPr lang="pt-BR" sz="2400">
                <a:solidFill>
                  <a:schemeClr val="dk1"/>
                </a:solidFill>
              </a:rPr>
              <a:t>.</a:t>
            </a:r>
            <a:endParaRPr sz="2400">
              <a:solidFill>
                <a:schemeClr val="dk1"/>
              </a:solidFill>
            </a:endParaRPr>
          </a:p>
        </p:txBody>
      </p:sp>
      <p:sp>
        <p:nvSpPr>
          <p:cNvPr id="148" name="Google Shape;148;g3f9e35ce08f_0_18"/>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f9e35ce08f_0_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Binary incidence matrix</a:t>
            </a:r>
            <a:endParaRPr/>
          </a:p>
        </p:txBody>
      </p:sp>
      <p:graphicFrame>
        <p:nvGraphicFramePr>
          <p:cNvPr id="154" name="Google Shape;154;g3f9e35ce08f_0_24"/>
          <p:cNvGraphicFramePr/>
          <p:nvPr/>
        </p:nvGraphicFramePr>
        <p:xfrm>
          <a:off x="214282" y="1617356"/>
          <a:ext cx="3000000" cy="3000000"/>
        </p:xfrm>
        <a:graphic>
          <a:graphicData uri="http://schemas.openxmlformats.org/drawingml/2006/table">
            <a:tbl>
              <a:tblPr bandRow="1" firstRow="1">
                <a:noFill/>
                <a:tableStyleId>{72282B75-BEEB-4B1D-A43F-99505807CED8}</a:tableStyleId>
              </a:tblPr>
              <a:tblGrid>
                <a:gridCol w="1285875"/>
                <a:gridCol w="1285875"/>
                <a:gridCol w="1081750"/>
                <a:gridCol w="1217850"/>
                <a:gridCol w="1217850"/>
                <a:gridCol w="1217850"/>
                <a:gridCol w="1217850"/>
              </a:tblGrid>
              <a:tr h="370850">
                <a:tc>
                  <a:txBody>
                    <a:bodyPr/>
                    <a:lstStyle/>
                    <a:p>
                      <a:pPr indent="0" lvl="0" marL="0" marR="0" rtl="0" algn="l">
                        <a:spcBef>
                          <a:spcPts val="0"/>
                        </a:spcBef>
                        <a:spcAft>
                          <a:spcPts val="0"/>
                        </a:spcAft>
                        <a:buNone/>
                      </a:pPr>
                      <a:r>
                        <a:t/>
                      </a:r>
                      <a:endParaRPr b="0" sz="2200"/>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Calibri"/>
                        <a:buNone/>
                      </a:pPr>
                      <a:r>
                        <a:rPr b="0" lang="pt-BR" sz="1800">
                          <a:latin typeface="Arial"/>
                          <a:ea typeface="Arial"/>
                          <a:cs typeface="Arial"/>
                          <a:sym typeface="Arial"/>
                        </a:rPr>
                        <a:t>Anthony and  Cleopatra</a:t>
                      </a:r>
                      <a:endParaRPr b="0" sz="1800">
                        <a:solidFill>
                          <a:srgbClr val="FFFFFF"/>
                        </a:solidFill>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b="0" lang="pt-BR" sz="1800">
                          <a:latin typeface="Arial"/>
                          <a:ea typeface="Arial"/>
                          <a:cs typeface="Arial"/>
                          <a:sym typeface="Arial"/>
                        </a:rPr>
                        <a:t>Julius Caesar </a:t>
                      </a:r>
                      <a:endParaRPr b="0" sz="18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Calibri"/>
                        <a:buNone/>
                      </a:pPr>
                      <a:r>
                        <a:rPr b="0" lang="pt-BR" sz="1800">
                          <a:latin typeface="Arial"/>
                          <a:ea typeface="Arial"/>
                          <a:cs typeface="Arial"/>
                          <a:sym typeface="Arial"/>
                        </a:rPr>
                        <a:t>The  Tempest</a:t>
                      </a:r>
                      <a:endParaRPr b="0"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b="0" lang="pt-BR" sz="1800">
                          <a:latin typeface="Arial"/>
                          <a:ea typeface="Arial"/>
                          <a:cs typeface="Arial"/>
                          <a:sym typeface="Arial"/>
                        </a:rPr>
                        <a:t>Hamlet </a:t>
                      </a:r>
                      <a:endParaRPr b="0"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b="0" lang="pt-BR" sz="1800">
                          <a:latin typeface="Arial"/>
                          <a:ea typeface="Arial"/>
                          <a:cs typeface="Arial"/>
                          <a:sym typeface="Arial"/>
                        </a:rPr>
                        <a:t>Othello </a:t>
                      </a:r>
                      <a:endParaRPr b="0" sz="18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Calibri"/>
                        <a:buNone/>
                      </a:pPr>
                      <a:r>
                        <a:rPr b="0" lang="pt-BR" sz="1800">
                          <a:latin typeface="Arial"/>
                          <a:ea typeface="Arial"/>
                          <a:cs typeface="Arial"/>
                          <a:sym typeface="Arial"/>
                        </a:rPr>
                        <a:t>Macbeth . . .</a:t>
                      </a:r>
                      <a:endParaRPr sz="1800">
                        <a:latin typeface="Arial"/>
                        <a:ea typeface="Arial"/>
                        <a:cs typeface="Arial"/>
                        <a:sym typeface="Arial"/>
                      </a:endParaRPr>
                    </a:p>
                    <a:p>
                      <a:pPr indent="0" lvl="0" marL="0" marR="0" rtl="0" algn="l">
                        <a:spcBef>
                          <a:spcPts val="0"/>
                        </a:spcBef>
                        <a:spcAft>
                          <a:spcPts val="0"/>
                        </a:spcAft>
                        <a:buNone/>
                      </a:pPr>
                      <a:r>
                        <a:t/>
                      </a:r>
                      <a:endParaRPr b="0"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pt-BR">
                          <a:latin typeface="Arial"/>
                          <a:ea typeface="Arial"/>
                          <a:cs typeface="Arial"/>
                          <a:sym typeface="Arial"/>
                        </a:rPr>
                        <a:t>ANTHONY</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BRUTUS</a:t>
                      </a:r>
                      <a:r>
                        <a:rPr lang="pt-BR">
                          <a:latin typeface="Arial"/>
                          <a:ea typeface="Arial"/>
                          <a:cs typeface="Arial"/>
                          <a:sym typeface="Arial"/>
                        </a:rPr>
                        <a:t> </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CAESAR</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CALPURNIA</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CLEOPATRA</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MERCY</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WORSER</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 .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r>
            </a:tbl>
          </a:graphicData>
        </a:graphic>
      </p:graphicFrame>
      <p:sp>
        <p:nvSpPr>
          <p:cNvPr id="155" name="Google Shape;155;g3f9e35ce08f_0_24"/>
          <p:cNvSpPr txBox="1"/>
          <p:nvPr/>
        </p:nvSpPr>
        <p:spPr>
          <a:xfrm>
            <a:off x="2111800" y="4500900"/>
            <a:ext cx="51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Each document is represented as a binary vector ∈ {0, 1}</a:t>
            </a:r>
            <a:r>
              <a:rPr baseline="30000" lang="pt-BR"/>
              <a:t>|V|</a:t>
            </a:r>
            <a:r>
              <a:rPr lang="pt-BR"/>
              <a:t>.</a:t>
            </a:r>
            <a:endParaRPr/>
          </a:p>
        </p:txBody>
      </p:sp>
      <p:sp>
        <p:nvSpPr>
          <p:cNvPr id="156" name="Google Shape;156;g3f9e35ce08f_0_24"/>
          <p:cNvSpPr txBox="1"/>
          <p:nvPr/>
        </p:nvSpPr>
        <p:spPr>
          <a:xfrm>
            <a:off x="5844725" y="120850"/>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f9e35ce08f_0_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Count matrix</a:t>
            </a:r>
            <a:endParaRPr/>
          </a:p>
        </p:txBody>
      </p:sp>
      <p:sp>
        <p:nvSpPr>
          <p:cNvPr id="162" name="Google Shape;162;g3f9e35ce08f_0_31"/>
          <p:cNvSpPr txBox="1"/>
          <p:nvPr/>
        </p:nvSpPr>
        <p:spPr>
          <a:xfrm>
            <a:off x="2111800" y="4500900"/>
            <a:ext cx="51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Each document is now represented as a count vector ∈ N</a:t>
            </a:r>
            <a:r>
              <a:rPr baseline="30000" lang="pt-BR"/>
              <a:t>|V|</a:t>
            </a:r>
            <a:r>
              <a:rPr lang="pt-BR"/>
              <a:t>.</a:t>
            </a:r>
            <a:endParaRPr/>
          </a:p>
        </p:txBody>
      </p:sp>
      <p:graphicFrame>
        <p:nvGraphicFramePr>
          <p:cNvPr id="163" name="Google Shape;163;g3f9e35ce08f_0_31"/>
          <p:cNvGraphicFramePr/>
          <p:nvPr/>
        </p:nvGraphicFramePr>
        <p:xfrm>
          <a:off x="214282" y="1617356"/>
          <a:ext cx="3000000" cy="3000000"/>
        </p:xfrm>
        <a:graphic>
          <a:graphicData uri="http://schemas.openxmlformats.org/drawingml/2006/table">
            <a:tbl>
              <a:tblPr bandRow="1" firstRow="1">
                <a:noFill/>
                <a:tableStyleId>{72282B75-BEEB-4B1D-A43F-99505807CED8}</a:tableStyleId>
              </a:tblPr>
              <a:tblGrid>
                <a:gridCol w="1285875"/>
                <a:gridCol w="1285875"/>
                <a:gridCol w="1081750"/>
                <a:gridCol w="1217850"/>
                <a:gridCol w="1217850"/>
                <a:gridCol w="1217850"/>
                <a:gridCol w="1217850"/>
              </a:tblGrid>
              <a:tr h="370850">
                <a:tc>
                  <a:txBody>
                    <a:bodyPr/>
                    <a:lstStyle/>
                    <a:p>
                      <a:pPr indent="0" lvl="0" marL="0" marR="0" rtl="0" algn="l">
                        <a:spcBef>
                          <a:spcPts val="0"/>
                        </a:spcBef>
                        <a:spcAft>
                          <a:spcPts val="0"/>
                        </a:spcAft>
                        <a:buNone/>
                      </a:pPr>
                      <a:r>
                        <a:t/>
                      </a:r>
                      <a:endParaRPr b="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Calibri"/>
                        <a:buNone/>
                      </a:pPr>
                      <a:r>
                        <a:rPr b="0" lang="pt-BR" sz="1800">
                          <a:latin typeface="Arial"/>
                          <a:ea typeface="Arial"/>
                          <a:cs typeface="Arial"/>
                          <a:sym typeface="Arial"/>
                        </a:rPr>
                        <a:t>Anthony and  Cleopatra</a:t>
                      </a:r>
                      <a:endParaRPr b="0" sz="1800">
                        <a:solidFill>
                          <a:srgbClr val="FFFFFF"/>
                        </a:solidFill>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b="0" lang="pt-BR" sz="1800">
                          <a:latin typeface="Arial"/>
                          <a:ea typeface="Arial"/>
                          <a:cs typeface="Arial"/>
                          <a:sym typeface="Arial"/>
                        </a:rPr>
                        <a:t>Julius Caesar </a:t>
                      </a:r>
                      <a:endParaRPr b="0" sz="18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Calibri"/>
                        <a:buNone/>
                      </a:pPr>
                      <a:r>
                        <a:rPr b="0" lang="pt-BR" sz="1800">
                          <a:latin typeface="Arial"/>
                          <a:ea typeface="Arial"/>
                          <a:cs typeface="Arial"/>
                          <a:sym typeface="Arial"/>
                        </a:rPr>
                        <a:t>The  Tempest</a:t>
                      </a:r>
                      <a:endParaRPr b="0"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b="0" lang="pt-BR" sz="1800">
                          <a:latin typeface="Arial"/>
                          <a:ea typeface="Arial"/>
                          <a:cs typeface="Arial"/>
                          <a:sym typeface="Arial"/>
                        </a:rPr>
                        <a:t>Hamlet </a:t>
                      </a:r>
                      <a:endParaRPr b="0"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b="0" lang="pt-BR" sz="1800">
                          <a:latin typeface="Arial"/>
                          <a:ea typeface="Arial"/>
                          <a:cs typeface="Arial"/>
                          <a:sym typeface="Arial"/>
                        </a:rPr>
                        <a:t>Othello </a:t>
                      </a:r>
                      <a:endParaRPr b="0" sz="18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Calibri"/>
                        <a:buNone/>
                      </a:pPr>
                      <a:r>
                        <a:rPr b="0" lang="pt-BR" sz="1800">
                          <a:latin typeface="Arial"/>
                          <a:ea typeface="Arial"/>
                          <a:cs typeface="Arial"/>
                          <a:sym typeface="Arial"/>
                        </a:rPr>
                        <a:t>Macbeth . . .</a:t>
                      </a:r>
                      <a:endParaRPr sz="1800">
                        <a:latin typeface="Arial"/>
                        <a:ea typeface="Arial"/>
                        <a:cs typeface="Arial"/>
                        <a:sym typeface="Arial"/>
                      </a:endParaRPr>
                    </a:p>
                    <a:p>
                      <a:pPr indent="0" lvl="0" marL="0" marR="0" rtl="0" algn="l">
                        <a:spcBef>
                          <a:spcPts val="0"/>
                        </a:spcBef>
                        <a:spcAft>
                          <a:spcPts val="0"/>
                        </a:spcAft>
                        <a:buNone/>
                      </a:pPr>
                      <a:r>
                        <a:t/>
                      </a:r>
                      <a:endParaRPr b="0"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pt-BR">
                          <a:latin typeface="Arial"/>
                          <a:ea typeface="Arial"/>
                          <a:cs typeface="Arial"/>
                          <a:sym typeface="Arial"/>
                        </a:rPr>
                        <a:t>ANTHONY</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BRUTUS</a:t>
                      </a:r>
                      <a:r>
                        <a:rPr lang="pt-BR">
                          <a:latin typeface="Arial"/>
                          <a:ea typeface="Arial"/>
                          <a:cs typeface="Arial"/>
                          <a:sym typeface="Arial"/>
                        </a:rPr>
                        <a:t> </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CAESAR</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CALPURNIA</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CLEOPATRA</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MERCY</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WORSER</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 .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157</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4</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232</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57</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2</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2</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73</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157</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227</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3</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2</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2</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8</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5</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8</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5</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r>
            </a:tbl>
          </a:graphicData>
        </a:graphic>
      </p:graphicFrame>
      <p:sp>
        <p:nvSpPr>
          <p:cNvPr id="164" name="Google Shape;164;g3f9e35ce08f_0_31"/>
          <p:cNvSpPr txBox="1"/>
          <p:nvPr/>
        </p:nvSpPr>
        <p:spPr>
          <a:xfrm>
            <a:off x="5844725" y="120850"/>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f9e35ce08f_0_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Bag of words model</a:t>
            </a:r>
            <a:endParaRPr/>
          </a:p>
        </p:txBody>
      </p:sp>
      <p:sp>
        <p:nvSpPr>
          <p:cNvPr id="170" name="Google Shape;170;g3f9e35ce08f_0_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sz="1800"/>
              <a:t>We do not consider the </a:t>
            </a:r>
            <a:r>
              <a:rPr b="1" lang="pt-BR" sz="1800"/>
              <a:t>order</a:t>
            </a:r>
            <a:r>
              <a:rPr lang="pt-BR" sz="1800"/>
              <a:t> of words in a document.</a:t>
            </a:r>
            <a:endParaRPr sz="1800"/>
          </a:p>
          <a:p>
            <a:pPr indent="-342900" lvl="0" marL="457200" rtl="0" algn="l">
              <a:spcBef>
                <a:spcPts val="0"/>
              </a:spcBef>
              <a:spcAft>
                <a:spcPts val="0"/>
              </a:spcAft>
              <a:buSzPts val="1800"/>
              <a:buChar char="●"/>
            </a:pPr>
            <a:r>
              <a:rPr lang="pt-BR" sz="1800"/>
              <a:t>John is quicker than Mary and Mary is quicker than John are represented the same way.</a:t>
            </a:r>
            <a:endParaRPr sz="1800"/>
          </a:p>
          <a:p>
            <a:pPr indent="-342900" lvl="0" marL="457200" rtl="0" algn="l">
              <a:spcBef>
                <a:spcPts val="0"/>
              </a:spcBef>
              <a:spcAft>
                <a:spcPts val="0"/>
              </a:spcAft>
              <a:buSzPts val="1800"/>
              <a:buChar char="●"/>
            </a:pPr>
            <a:r>
              <a:rPr lang="pt-BR" sz="1800"/>
              <a:t>This is called a </a:t>
            </a:r>
            <a:r>
              <a:rPr b="1" lang="pt-BR" sz="1800"/>
              <a:t>bag of words model</a:t>
            </a:r>
            <a:r>
              <a:rPr lang="pt-BR" sz="1800"/>
              <a:t>.</a:t>
            </a:r>
            <a:endParaRPr sz="1800"/>
          </a:p>
        </p:txBody>
      </p:sp>
      <p:sp>
        <p:nvSpPr>
          <p:cNvPr id="171" name="Google Shape;171;g3f9e35ce08f_0_38"/>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f9e35ce08f_0_44"/>
          <p:cNvSpPr txBox="1"/>
          <p:nvPr>
            <p:ph type="title"/>
          </p:nvPr>
        </p:nvSpPr>
        <p:spPr>
          <a:xfrm>
            <a:off x="265500" y="1877150"/>
            <a:ext cx="4045200" cy="1216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sz="4800"/>
              <a:t>tf</a:t>
            </a:r>
            <a:endParaRPr sz="4800"/>
          </a:p>
          <a:p>
            <a:pPr indent="0" lvl="0" marL="0" rtl="0" algn="ctr">
              <a:spcBef>
                <a:spcPts val="0"/>
              </a:spcBef>
              <a:spcAft>
                <a:spcPts val="0"/>
              </a:spcAft>
              <a:buNone/>
            </a:pPr>
            <a:r>
              <a:rPr lang="pt-BR"/>
              <a:t>Term Frequency</a:t>
            </a:r>
            <a:endParaRPr/>
          </a:p>
        </p:txBody>
      </p:sp>
      <p:sp>
        <p:nvSpPr>
          <p:cNvPr id="177" name="Google Shape;177;g3f9e35ce08f_0_4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sz="2400"/>
              <a:t>The term frequency </a:t>
            </a:r>
            <a:r>
              <a:rPr b="1" lang="pt-BR" sz="2400">
                <a:latin typeface="Courier New"/>
                <a:ea typeface="Courier New"/>
                <a:cs typeface="Courier New"/>
                <a:sym typeface="Courier New"/>
              </a:rPr>
              <a:t>tf</a:t>
            </a:r>
            <a:r>
              <a:rPr b="1" baseline="-25000" lang="pt-BR" sz="2400">
                <a:latin typeface="Courier New"/>
                <a:ea typeface="Courier New"/>
                <a:cs typeface="Courier New"/>
                <a:sym typeface="Courier New"/>
              </a:rPr>
              <a:t>t,d</a:t>
            </a:r>
            <a:r>
              <a:rPr lang="pt-BR" sz="2400"/>
              <a:t> of term </a:t>
            </a:r>
            <a:r>
              <a:rPr b="1" lang="pt-BR" sz="2400">
                <a:latin typeface="Courier New"/>
                <a:ea typeface="Courier New"/>
                <a:cs typeface="Courier New"/>
                <a:sym typeface="Courier New"/>
              </a:rPr>
              <a:t>t</a:t>
            </a:r>
            <a:r>
              <a:rPr lang="pt-BR" sz="2400"/>
              <a:t> in document </a:t>
            </a:r>
            <a:r>
              <a:rPr b="1" lang="pt-BR" sz="2400">
                <a:latin typeface="Courier New"/>
                <a:ea typeface="Courier New"/>
                <a:cs typeface="Courier New"/>
                <a:sym typeface="Courier New"/>
              </a:rPr>
              <a:t>d</a:t>
            </a:r>
            <a:r>
              <a:rPr lang="pt-BR" sz="2400"/>
              <a:t> is defined as the number of times that </a:t>
            </a:r>
            <a:r>
              <a:rPr b="1" lang="pt-BR" sz="2400">
                <a:latin typeface="Courier New"/>
                <a:ea typeface="Courier New"/>
                <a:cs typeface="Courier New"/>
                <a:sym typeface="Courier New"/>
              </a:rPr>
              <a:t>t</a:t>
            </a:r>
            <a:r>
              <a:rPr lang="pt-BR" sz="2400"/>
              <a:t> occurs in </a:t>
            </a:r>
            <a:r>
              <a:rPr b="1" lang="pt-BR" sz="2400">
                <a:latin typeface="Courier New"/>
                <a:ea typeface="Courier New"/>
                <a:cs typeface="Courier New"/>
                <a:sym typeface="Courier New"/>
              </a:rPr>
              <a:t>d</a:t>
            </a:r>
            <a:r>
              <a:rPr lang="pt-BR" sz="2400"/>
              <a:t>.</a:t>
            </a:r>
            <a:endParaRPr sz="2400"/>
          </a:p>
        </p:txBody>
      </p:sp>
      <p:sp>
        <p:nvSpPr>
          <p:cNvPr id="178" name="Google Shape;178;g3f9e35ce08f_0_44"/>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f9e35ce08f_0_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Term frequency tf</a:t>
            </a:r>
            <a:endParaRPr/>
          </a:p>
        </p:txBody>
      </p:sp>
      <p:sp>
        <p:nvSpPr>
          <p:cNvPr id="184" name="Google Shape;184;g3f9e35ce08f_0_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pt-BR" sz="2800"/>
              <a:t>Raw term frequency is not what we want:</a:t>
            </a:r>
            <a:endParaRPr sz="2800"/>
          </a:p>
          <a:p>
            <a:pPr indent="-368300" lvl="1" marL="914400" rtl="0" algn="l">
              <a:spcBef>
                <a:spcPts val="1600"/>
              </a:spcBef>
              <a:spcAft>
                <a:spcPts val="0"/>
              </a:spcAft>
              <a:buSzPts val="2200"/>
              <a:buChar char="○"/>
            </a:pPr>
            <a:r>
              <a:rPr lang="pt-BR" sz="2200"/>
              <a:t>A document with 10 occurrences of the term is more relevant than a document with 1 occurrence of the term.</a:t>
            </a:r>
            <a:endParaRPr sz="2200"/>
          </a:p>
          <a:p>
            <a:pPr indent="-368300" lvl="1" marL="914400" rtl="0" algn="l">
              <a:spcBef>
                <a:spcPts val="1600"/>
              </a:spcBef>
              <a:spcAft>
                <a:spcPts val="0"/>
              </a:spcAft>
              <a:buSzPts val="2200"/>
              <a:buChar char="○"/>
            </a:pPr>
            <a:r>
              <a:rPr lang="pt-BR" sz="2200"/>
              <a:t>But not 10 times more relevant.</a:t>
            </a:r>
            <a:endParaRPr sz="2200"/>
          </a:p>
          <a:p>
            <a:pPr indent="-406400" lvl="0" marL="457200" rtl="0" algn="l">
              <a:spcBef>
                <a:spcPts val="0"/>
              </a:spcBef>
              <a:spcAft>
                <a:spcPts val="0"/>
              </a:spcAft>
              <a:buSzPts val="2800"/>
              <a:buChar char="●"/>
            </a:pPr>
            <a:r>
              <a:rPr lang="pt-BR" sz="2800"/>
              <a:t>Relevance does not increase proportionally with term frequency.</a:t>
            </a:r>
            <a:endParaRPr sz="2800"/>
          </a:p>
        </p:txBody>
      </p:sp>
      <p:sp>
        <p:nvSpPr>
          <p:cNvPr id="185" name="Google Shape;185;g3f9e35ce08f_0_49"/>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f9e35ce08f_0_54"/>
          <p:cNvSpPr/>
          <p:nvPr/>
        </p:nvSpPr>
        <p:spPr>
          <a:xfrm>
            <a:off x="4015025" y="1856450"/>
            <a:ext cx="5129100" cy="1449300"/>
          </a:xfrm>
          <a:prstGeom prst="rect">
            <a:avLst/>
          </a:prstGeom>
          <a:solidFill>
            <a:srgbClr val="E3E7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91" name="Google Shape;191;g3f9e35ce08f_0_54"/>
          <p:cNvSpPr txBox="1"/>
          <p:nvPr>
            <p:ph type="title"/>
          </p:nvPr>
        </p:nvSpPr>
        <p:spPr>
          <a:xfrm>
            <a:off x="99197" y="1877150"/>
            <a:ext cx="3654600" cy="1216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sz="4800"/>
              <a:t>tf</a:t>
            </a:r>
            <a:endParaRPr sz="4800"/>
          </a:p>
          <a:p>
            <a:pPr indent="0" lvl="0" marL="0" rtl="0" algn="ctr">
              <a:spcBef>
                <a:spcPts val="0"/>
              </a:spcBef>
              <a:spcAft>
                <a:spcPts val="0"/>
              </a:spcAft>
              <a:buNone/>
            </a:pPr>
            <a:r>
              <a:rPr lang="pt-BR"/>
              <a:t>Term Frequency</a:t>
            </a:r>
            <a:endParaRPr/>
          </a:p>
        </p:txBody>
      </p:sp>
      <p:pic>
        <p:nvPicPr>
          <p:cNvPr id="192" name="Google Shape;192;g3f9e35ce08f_0_54"/>
          <p:cNvPicPr preferRelativeResize="0"/>
          <p:nvPr/>
        </p:nvPicPr>
        <p:blipFill rotWithShape="1">
          <a:blip r:embed="rId3">
            <a:alphaModFix/>
          </a:blip>
          <a:srcRect b="0" l="0" r="0" t="0"/>
          <a:stretch/>
        </p:blipFill>
        <p:spPr>
          <a:xfrm>
            <a:off x="4015025" y="2143485"/>
            <a:ext cx="5129099" cy="856530"/>
          </a:xfrm>
          <a:prstGeom prst="rect">
            <a:avLst/>
          </a:prstGeom>
          <a:noFill/>
          <a:ln>
            <a:noFill/>
          </a:ln>
        </p:spPr>
      </p:pic>
      <p:sp>
        <p:nvSpPr>
          <p:cNvPr id="193" name="Google Shape;193;g3f9e35ce08f_0_54"/>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f9e35ce08f_0_60"/>
          <p:cNvSpPr txBox="1"/>
          <p:nvPr>
            <p:ph type="title"/>
          </p:nvPr>
        </p:nvSpPr>
        <p:spPr>
          <a:xfrm>
            <a:off x="265500" y="1877150"/>
            <a:ext cx="4045200" cy="1216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sz="4800"/>
              <a:t>idf</a:t>
            </a:r>
            <a:endParaRPr sz="4800"/>
          </a:p>
          <a:p>
            <a:pPr indent="0" lvl="0" marL="0" rtl="0" algn="ctr">
              <a:spcBef>
                <a:spcPts val="0"/>
              </a:spcBef>
              <a:spcAft>
                <a:spcPts val="0"/>
              </a:spcAft>
              <a:buNone/>
            </a:pPr>
            <a:r>
              <a:rPr lang="pt-BR"/>
              <a:t>Inverse Document Frequency</a:t>
            </a:r>
            <a:endParaRPr/>
          </a:p>
        </p:txBody>
      </p:sp>
      <p:sp>
        <p:nvSpPr>
          <p:cNvPr id="199" name="Google Shape;199;g3f9e35ce08f_0_60"/>
          <p:cNvSpPr txBox="1"/>
          <p:nvPr>
            <p:ph idx="2" type="body"/>
          </p:nvPr>
        </p:nvSpPr>
        <p:spPr>
          <a:xfrm>
            <a:off x="4939500" y="391225"/>
            <a:ext cx="3958200" cy="436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sz="2600">
                <a:solidFill>
                  <a:srgbClr val="434343"/>
                </a:solidFill>
              </a:rPr>
              <a:t>df</a:t>
            </a:r>
            <a:r>
              <a:rPr baseline="-25000" lang="pt-BR" sz="2600">
                <a:solidFill>
                  <a:srgbClr val="434343"/>
                </a:solidFill>
              </a:rPr>
              <a:t>t</a:t>
            </a:r>
            <a:r>
              <a:rPr lang="pt-BR" sz="2600">
                <a:solidFill>
                  <a:srgbClr val="434343"/>
                </a:solidFill>
              </a:rPr>
              <a:t> is the document frequency of t: the number of documents that contain t</a:t>
            </a:r>
            <a:endParaRPr sz="2600">
              <a:solidFill>
                <a:srgbClr val="434343"/>
              </a:solidFill>
            </a:endParaRPr>
          </a:p>
          <a:p>
            <a:pPr indent="-355600" lvl="1" marL="914400" rtl="0" algn="l">
              <a:spcBef>
                <a:spcPts val="1600"/>
              </a:spcBef>
              <a:spcAft>
                <a:spcPts val="0"/>
              </a:spcAft>
              <a:buClr>
                <a:srgbClr val="434343"/>
              </a:buClr>
              <a:buSzPts val="2000"/>
              <a:buChar char="○"/>
            </a:pPr>
            <a:r>
              <a:rPr lang="pt-BR" sz="2000">
                <a:solidFill>
                  <a:srgbClr val="434343"/>
                </a:solidFill>
              </a:rPr>
              <a:t>df</a:t>
            </a:r>
            <a:r>
              <a:rPr baseline="-25000" lang="pt-BR" sz="2000">
                <a:solidFill>
                  <a:srgbClr val="434343"/>
                </a:solidFill>
              </a:rPr>
              <a:t>t</a:t>
            </a:r>
            <a:r>
              <a:rPr lang="pt-BR" sz="2000">
                <a:solidFill>
                  <a:srgbClr val="434343"/>
                </a:solidFill>
              </a:rPr>
              <a:t> is an inverse measure of the informativeness of t</a:t>
            </a:r>
            <a:endParaRPr sz="2000">
              <a:solidFill>
                <a:srgbClr val="434343"/>
              </a:solidFill>
            </a:endParaRPr>
          </a:p>
          <a:p>
            <a:pPr indent="-355600" lvl="1" marL="914400" rtl="0" algn="l">
              <a:spcBef>
                <a:spcPts val="0"/>
              </a:spcBef>
              <a:spcAft>
                <a:spcPts val="0"/>
              </a:spcAft>
              <a:buClr>
                <a:srgbClr val="434343"/>
              </a:buClr>
              <a:buSzPts val="2000"/>
              <a:buChar char="○"/>
            </a:pPr>
            <a:r>
              <a:rPr lang="pt-BR" sz="2000">
                <a:solidFill>
                  <a:srgbClr val="434343"/>
                </a:solidFill>
              </a:rPr>
              <a:t>df</a:t>
            </a:r>
            <a:r>
              <a:rPr baseline="-25000" lang="pt-BR" sz="2000">
                <a:solidFill>
                  <a:srgbClr val="434343"/>
                </a:solidFill>
              </a:rPr>
              <a:t>t</a:t>
            </a:r>
            <a:r>
              <a:rPr lang="pt-BR" sz="2000">
                <a:solidFill>
                  <a:srgbClr val="434343"/>
                </a:solidFill>
              </a:rPr>
              <a:t>  ≤ N</a:t>
            </a:r>
            <a:endParaRPr sz="2000">
              <a:solidFill>
                <a:srgbClr val="434343"/>
              </a:solidFill>
            </a:endParaRPr>
          </a:p>
          <a:p>
            <a:pPr indent="0" lvl="0" marL="0" rtl="0" algn="l">
              <a:spcBef>
                <a:spcPts val="0"/>
              </a:spcBef>
              <a:spcAft>
                <a:spcPts val="0"/>
              </a:spcAft>
              <a:buNone/>
            </a:pPr>
            <a:r>
              <a:t/>
            </a:r>
            <a:endParaRPr sz="2400"/>
          </a:p>
        </p:txBody>
      </p:sp>
      <p:sp>
        <p:nvSpPr>
          <p:cNvPr id="200" name="Google Shape;200;g3f9e35ce08f_0_60"/>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a:t>
            </a:r>
            <a:r>
              <a:rPr lang="pt-BR" sz="1800">
                <a:solidFill>
                  <a:srgbClr val="434343"/>
                </a:solidFill>
                <a:latin typeface="Comfortaa"/>
                <a:ea typeface="Comfortaa"/>
                <a:cs typeface="Comfortaa"/>
                <a:sym typeface="Comfortaa"/>
              </a:rPr>
              <a:t>Nayak &amp; Raghavan</a:t>
            </a:r>
            <a:r>
              <a:rPr lang="pt-BR" sz="1800">
                <a:solidFill>
                  <a:srgbClr val="434343"/>
                </a:solidFill>
                <a:latin typeface="Comfortaa"/>
                <a:ea typeface="Comfortaa"/>
                <a:cs typeface="Comfortaa"/>
                <a:sym typeface="Comfortaa"/>
              </a:rPr>
              <a:t>, 2019)</a:t>
            </a:r>
            <a:endParaRPr sz="1800">
              <a:solidFill>
                <a:srgbClr val="434343"/>
              </a:solidFill>
              <a:latin typeface="Comfortaa"/>
              <a:ea typeface="Comfortaa"/>
              <a:cs typeface="Comfortaa"/>
              <a:sym typeface="Comforta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f9e35ce08f_0_65"/>
          <p:cNvSpPr txBox="1"/>
          <p:nvPr>
            <p:ph type="title"/>
          </p:nvPr>
        </p:nvSpPr>
        <p:spPr>
          <a:xfrm>
            <a:off x="265500" y="1877150"/>
            <a:ext cx="4045200" cy="1216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sz="4800"/>
              <a:t>idf</a:t>
            </a:r>
            <a:endParaRPr sz="4800"/>
          </a:p>
          <a:p>
            <a:pPr indent="0" lvl="0" marL="0" rtl="0" algn="ctr">
              <a:spcBef>
                <a:spcPts val="0"/>
              </a:spcBef>
              <a:spcAft>
                <a:spcPts val="0"/>
              </a:spcAft>
              <a:buNone/>
            </a:pPr>
            <a:r>
              <a:rPr lang="pt-BR"/>
              <a:t>Inverse Document Frequency</a:t>
            </a:r>
            <a:endParaRPr/>
          </a:p>
        </p:txBody>
      </p:sp>
      <p:pic>
        <p:nvPicPr>
          <p:cNvPr id="206" name="Google Shape;206;g3f9e35ce08f_0_65"/>
          <p:cNvPicPr preferRelativeResize="0"/>
          <p:nvPr/>
        </p:nvPicPr>
        <p:blipFill rotWithShape="1">
          <a:blip r:embed="rId3">
            <a:alphaModFix/>
          </a:blip>
          <a:srcRect b="0" l="0" r="0" t="0"/>
          <a:stretch/>
        </p:blipFill>
        <p:spPr>
          <a:xfrm>
            <a:off x="4917775" y="2212182"/>
            <a:ext cx="3636962" cy="719137"/>
          </a:xfrm>
          <a:prstGeom prst="rect">
            <a:avLst/>
          </a:prstGeom>
          <a:noFill/>
          <a:ln>
            <a:noFill/>
          </a:ln>
        </p:spPr>
      </p:pic>
      <p:sp>
        <p:nvSpPr>
          <p:cNvPr id="207" name="Google Shape;207;g3f9e35ce08f_0_65"/>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(Nayak &amp; Raghavan, 2019)</a:t>
            </a:r>
            <a:endParaRPr sz="1800">
              <a:solidFill>
                <a:srgbClr val="434343"/>
              </a:solidFill>
              <a:latin typeface="Comfortaa"/>
              <a:ea typeface="Comfortaa"/>
              <a:cs typeface="Comfortaa"/>
              <a:sym typeface="Comforta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f9e35ce08f_0_70"/>
          <p:cNvSpPr/>
          <p:nvPr/>
        </p:nvSpPr>
        <p:spPr>
          <a:xfrm>
            <a:off x="2779625" y="2260325"/>
            <a:ext cx="6288000" cy="718500"/>
          </a:xfrm>
          <a:prstGeom prst="rect">
            <a:avLst/>
          </a:prstGeom>
          <a:solidFill>
            <a:srgbClr val="E3E7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13" name="Google Shape;213;g3f9e35ce08f_0_70"/>
          <p:cNvSpPr txBox="1"/>
          <p:nvPr>
            <p:ph type="title"/>
          </p:nvPr>
        </p:nvSpPr>
        <p:spPr>
          <a:xfrm>
            <a:off x="265500" y="1877150"/>
            <a:ext cx="2590500" cy="1216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sz="4800"/>
              <a:t>tf-idf</a:t>
            </a:r>
            <a:endParaRPr/>
          </a:p>
        </p:txBody>
      </p:sp>
      <p:pic>
        <p:nvPicPr>
          <p:cNvPr id="214" name="Google Shape;214;g3f9e35ce08f_0_70"/>
          <p:cNvPicPr preferRelativeResize="0"/>
          <p:nvPr/>
        </p:nvPicPr>
        <p:blipFill rotWithShape="1">
          <a:blip r:embed="rId3">
            <a:alphaModFix/>
          </a:blip>
          <a:srcRect b="0" l="0" r="0" t="0"/>
          <a:stretch/>
        </p:blipFill>
        <p:spPr>
          <a:xfrm>
            <a:off x="2796525" y="2212133"/>
            <a:ext cx="6288084" cy="766762"/>
          </a:xfrm>
          <a:prstGeom prst="rect">
            <a:avLst/>
          </a:prstGeom>
          <a:noFill/>
          <a:ln>
            <a:noFill/>
          </a:ln>
        </p:spPr>
      </p:pic>
      <p:sp>
        <p:nvSpPr>
          <p:cNvPr id="215" name="Google Shape;215;g3f9e35ce08f_0_70"/>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(Nayak &amp; Raghavan, 2019)</a:t>
            </a:r>
            <a:endParaRPr sz="1800">
              <a:solidFill>
                <a:srgbClr val="434343"/>
              </a:solidFill>
              <a:latin typeface="Comfortaa"/>
              <a:ea typeface="Comfortaa"/>
              <a:cs typeface="Comfortaa"/>
              <a:sym typeface="Comforta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f9e35ce08f_0_76"/>
          <p:cNvSpPr txBox="1"/>
          <p:nvPr>
            <p:ph idx="2" type="body"/>
          </p:nvPr>
        </p:nvSpPr>
        <p:spPr>
          <a:xfrm>
            <a:off x="4939500" y="391225"/>
            <a:ext cx="3958200" cy="4368600"/>
          </a:xfrm>
          <a:prstGeom prst="rect">
            <a:avLst/>
          </a:prstGeom>
        </p:spPr>
        <p:txBody>
          <a:bodyPr anchorCtr="0" anchor="ctr" bIns="91425" lIns="91425" spcFirstLastPara="1" rIns="91425" wrap="square" tIns="91425">
            <a:noAutofit/>
          </a:bodyPr>
          <a:lstStyle/>
          <a:p>
            <a:pPr indent="-393700" lvl="0" marL="457200" rtl="0" algn="l">
              <a:spcBef>
                <a:spcPts val="0"/>
              </a:spcBef>
              <a:spcAft>
                <a:spcPts val="0"/>
              </a:spcAft>
              <a:buClr>
                <a:srgbClr val="434343"/>
              </a:buClr>
              <a:buSzPts val="2600"/>
              <a:buChar char="●"/>
            </a:pPr>
            <a:r>
              <a:rPr lang="pt-BR" sz="2600">
                <a:solidFill>
                  <a:srgbClr val="434343"/>
                </a:solidFill>
              </a:rPr>
              <a:t>Increases with the number of </a:t>
            </a:r>
            <a:r>
              <a:rPr b="1" lang="pt-BR" sz="2600">
                <a:solidFill>
                  <a:srgbClr val="434343"/>
                </a:solidFill>
              </a:rPr>
              <a:t>occurrences within a document</a:t>
            </a:r>
            <a:endParaRPr b="1" sz="2600">
              <a:solidFill>
                <a:srgbClr val="434343"/>
              </a:solidFill>
            </a:endParaRPr>
          </a:p>
          <a:p>
            <a:pPr indent="-393700" lvl="0" marL="457200" rtl="0" algn="l">
              <a:spcBef>
                <a:spcPts val="0"/>
              </a:spcBef>
              <a:spcAft>
                <a:spcPts val="0"/>
              </a:spcAft>
              <a:buClr>
                <a:srgbClr val="434343"/>
              </a:buClr>
              <a:buSzPts val="2600"/>
              <a:buChar char="●"/>
            </a:pPr>
            <a:r>
              <a:rPr lang="pt-BR" sz="2600">
                <a:solidFill>
                  <a:srgbClr val="434343"/>
                </a:solidFill>
              </a:rPr>
              <a:t>Increases with the </a:t>
            </a:r>
            <a:r>
              <a:rPr b="1" lang="pt-BR" sz="2600">
                <a:solidFill>
                  <a:srgbClr val="434343"/>
                </a:solidFill>
              </a:rPr>
              <a:t>rarity</a:t>
            </a:r>
            <a:r>
              <a:rPr lang="pt-BR" sz="2600">
                <a:solidFill>
                  <a:srgbClr val="434343"/>
                </a:solidFill>
              </a:rPr>
              <a:t> of the term in the collection</a:t>
            </a:r>
            <a:endParaRPr sz="2000">
              <a:solidFill>
                <a:srgbClr val="434343"/>
              </a:solidFill>
            </a:endParaRPr>
          </a:p>
          <a:p>
            <a:pPr indent="0" lvl="0" marL="0" rtl="0" algn="l">
              <a:spcBef>
                <a:spcPts val="0"/>
              </a:spcBef>
              <a:spcAft>
                <a:spcPts val="0"/>
              </a:spcAft>
              <a:buNone/>
            </a:pPr>
            <a:r>
              <a:t/>
            </a:r>
            <a:endParaRPr sz="2400"/>
          </a:p>
        </p:txBody>
      </p:sp>
      <p:sp>
        <p:nvSpPr>
          <p:cNvPr id="221" name="Google Shape;221;g3f9e35ce08f_0_76"/>
          <p:cNvSpPr txBox="1"/>
          <p:nvPr>
            <p:ph type="title"/>
          </p:nvPr>
        </p:nvSpPr>
        <p:spPr>
          <a:xfrm>
            <a:off x="1120500" y="2142150"/>
            <a:ext cx="2590500" cy="859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sz="4800"/>
              <a:t>tf-idf</a:t>
            </a:r>
            <a:endParaRPr/>
          </a:p>
        </p:txBody>
      </p:sp>
      <p:sp>
        <p:nvSpPr>
          <p:cNvPr id="222" name="Google Shape;222;g3f9e35ce08f_0_76"/>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(Nayak &amp; Raghavan, 2019)</a:t>
            </a:r>
            <a:endParaRPr sz="1800">
              <a:solidFill>
                <a:srgbClr val="434343"/>
              </a:solidFill>
              <a:latin typeface="Comfortaa"/>
              <a:ea typeface="Comfortaa"/>
              <a:cs typeface="Comfortaa"/>
              <a:sym typeface="Comforta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f9e35ce08f_0_81"/>
          <p:cNvSpPr txBox="1"/>
          <p:nvPr>
            <p:ph type="title"/>
          </p:nvPr>
        </p:nvSpPr>
        <p:spPr>
          <a:xfrm>
            <a:off x="265500" y="1893600"/>
            <a:ext cx="3951600" cy="1356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sz="4800"/>
              <a:t>tf-idf</a:t>
            </a:r>
            <a:endParaRPr sz="4800"/>
          </a:p>
          <a:p>
            <a:pPr indent="0" lvl="0" marL="0" rtl="0" algn="ctr">
              <a:spcBef>
                <a:spcPts val="0"/>
              </a:spcBef>
              <a:spcAft>
                <a:spcPts val="0"/>
              </a:spcAft>
              <a:buNone/>
            </a:pPr>
            <a:r>
              <a:rPr lang="pt-BR" sz="3500"/>
              <a:t>for a document</a:t>
            </a:r>
            <a:endParaRPr sz="3500"/>
          </a:p>
        </p:txBody>
      </p:sp>
      <p:pic>
        <p:nvPicPr>
          <p:cNvPr id="228" name="Google Shape;228;g3f9e35ce08f_0_81"/>
          <p:cNvPicPr preferRelativeResize="0"/>
          <p:nvPr/>
        </p:nvPicPr>
        <p:blipFill>
          <a:blip r:embed="rId3">
            <a:alphaModFix/>
          </a:blip>
          <a:stretch>
            <a:fillRect/>
          </a:stretch>
        </p:blipFill>
        <p:spPr>
          <a:xfrm>
            <a:off x="4605250" y="2212500"/>
            <a:ext cx="4418452" cy="718500"/>
          </a:xfrm>
          <a:prstGeom prst="rect">
            <a:avLst/>
          </a:prstGeom>
          <a:noFill/>
          <a:ln>
            <a:noFill/>
          </a:ln>
        </p:spPr>
      </p:pic>
      <p:sp>
        <p:nvSpPr>
          <p:cNvPr id="229" name="Google Shape;229;g3f9e35ce08f_0_81"/>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(Nayak &amp; Raghavan, 2019)</a:t>
            </a:r>
            <a:endParaRPr sz="1800">
              <a:solidFill>
                <a:srgbClr val="434343"/>
              </a:solidFill>
              <a:latin typeface="Comfortaa"/>
              <a:ea typeface="Comfortaa"/>
              <a:cs typeface="Comfortaa"/>
              <a:sym typeface="Comforta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f9e35ce08f_0_8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Binary → count → weight matrix</a:t>
            </a:r>
            <a:endParaRPr/>
          </a:p>
        </p:txBody>
      </p:sp>
      <p:sp>
        <p:nvSpPr>
          <p:cNvPr id="235" name="Google Shape;235;g3f9e35ce08f_0_86"/>
          <p:cNvSpPr txBox="1"/>
          <p:nvPr/>
        </p:nvSpPr>
        <p:spPr>
          <a:xfrm>
            <a:off x="911175" y="4480450"/>
            <a:ext cx="682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Each document is now represented as a real-valued vector of tf	idf weights ∈ R</a:t>
            </a:r>
            <a:r>
              <a:rPr baseline="30000" lang="pt-BR"/>
              <a:t>|V|</a:t>
            </a:r>
            <a:r>
              <a:rPr lang="pt-BR"/>
              <a:t>.</a:t>
            </a:r>
            <a:endParaRPr/>
          </a:p>
        </p:txBody>
      </p:sp>
      <p:sp>
        <p:nvSpPr>
          <p:cNvPr id="236" name="Google Shape;236;g3f9e35ce08f_0_86"/>
          <p:cNvSpPr txBox="1"/>
          <p:nvPr/>
        </p:nvSpPr>
        <p:spPr>
          <a:xfrm>
            <a:off x="5844725" y="120850"/>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graphicFrame>
        <p:nvGraphicFramePr>
          <p:cNvPr id="237" name="Google Shape;237;g3f9e35ce08f_0_86"/>
          <p:cNvGraphicFramePr/>
          <p:nvPr/>
        </p:nvGraphicFramePr>
        <p:xfrm>
          <a:off x="214282" y="1460803"/>
          <a:ext cx="3000000" cy="3000000"/>
        </p:xfrm>
        <a:graphic>
          <a:graphicData uri="http://schemas.openxmlformats.org/drawingml/2006/table">
            <a:tbl>
              <a:tblPr bandRow="1" firstRow="1">
                <a:noFill/>
                <a:tableStyleId>{72282B75-BEEB-4B1D-A43F-99505807CED8}</a:tableStyleId>
              </a:tblPr>
              <a:tblGrid>
                <a:gridCol w="1333125"/>
                <a:gridCol w="1312675"/>
                <a:gridCol w="1112900"/>
                <a:gridCol w="1252900"/>
                <a:gridCol w="1252900"/>
                <a:gridCol w="1252900"/>
                <a:gridCol w="1252900"/>
              </a:tblGrid>
              <a:tr h="370850">
                <a:tc>
                  <a:txBody>
                    <a:bodyPr/>
                    <a:lstStyle/>
                    <a:p>
                      <a:pPr indent="0" lvl="0" marL="0" marR="0" rtl="0" algn="l">
                        <a:spcBef>
                          <a:spcPts val="0"/>
                        </a:spcBef>
                        <a:spcAft>
                          <a:spcPts val="0"/>
                        </a:spcAft>
                        <a:buNone/>
                      </a:pPr>
                      <a:r>
                        <a:t/>
                      </a:r>
                      <a:endParaRPr b="0" sz="18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Calibri"/>
                        <a:buNone/>
                      </a:pPr>
                      <a:r>
                        <a:rPr b="0" lang="pt-BR" sz="1800">
                          <a:latin typeface="Arial"/>
                          <a:ea typeface="Arial"/>
                          <a:cs typeface="Arial"/>
                          <a:sym typeface="Arial"/>
                        </a:rPr>
                        <a:t>Anthony and  Cleopatra</a:t>
                      </a:r>
                      <a:endParaRPr b="0" sz="1800">
                        <a:solidFill>
                          <a:srgbClr val="FFFFFF"/>
                        </a:solidFill>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b="0" lang="pt-BR" sz="1800">
                          <a:latin typeface="Arial"/>
                          <a:ea typeface="Arial"/>
                          <a:cs typeface="Arial"/>
                          <a:sym typeface="Arial"/>
                        </a:rPr>
                        <a:t>Julius Caesar </a:t>
                      </a:r>
                      <a:endParaRPr b="0" sz="18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Calibri"/>
                        <a:buNone/>
                      </a:pPr>
                      <a:r>
                        <a:rPr b="0" lang="pt-BR" sz="1800">
                          <a:latin typeface="Arial"/>
                          <a:ea typeface="Arial"/>
                          <a:cs typeface="Arial"/>
                          <a:sym typeface="Arial"/>
                        </a:rPr>
                        <a:t>The  Tempest</a:t>
                      </a:r>
                      <a:endParaRPr b="0"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b="0" lang="pt-BR" sz="1800">
                          <a:latin typeface="Arial"/>
                          <a:ea typeface="Arial"/>
                          <a:cs typeface="Arial"/>
                          <a:sym typeface="Arial"/>
                        </a:rPr>
                        <a:t>Hamlet </a:t>
                      </a:r>
                      <a:endParaRPr b="0"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b="0" lang="pt-BR" sz="1800">
                          <a:latin typeface="Arial"/>
                          <a:ea typeface="Arial"/>
                          <a:cs typeface="Arial"/>
                          <a:sym typeface="Arial"/>
                        </a:rPr>
                        <a:t>Othello </a:t>
                      </a:r>
                      <a:endParaRPr b="0" sz="18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Calibri"/>
                        <a:buNone/>
                      </a:pPr>
                      <a:r>
                        <a:rPr b="0" lang="pt-BR" sz="1800">
                          <a:latin typeface="Arial"/>
                          <a:ea typeface="Arial"/>
                          <a:cs typeface="Arial"/>
                          <a:sym typeface="Arial"/>
                        </a:rPr>
                        <a:t>Macbeth . . .</a:t>
                      </a:r>
                      <a:endParaRPr sz="1800">
                        <a:latin typeface="Arial"/>
                        <a:ea typeface="Arial"/>
                        <a:cs typeface="Arial"/>
                        <a:sym typeface="Arial"/>
                      </a:endParaRPr>
                    </a:p>
                    <a:p>
                      <a:pPr indent="0" lvl="0" marL="0" marR="0" rtl="0" algn="l">
                        <a:spcBef>
                          <a:spcPts val="0"/>
                        </a:spcBef>
                        <a:spcAft>
                          <a:spcPts val="0"/>
                        </a:spcAft>
                        <a:buNone/>
                      </a:pPr>
                      <a:r>
                        <a:t/>
                      </a:r>
                      <a:endParaRPr b="0"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pt-BR">
                          <a:latin typeface="Arial"/>
                          <a:ea typeface="Arial"/>
                          <a:cs typeface="Arial"/>
                          <a:sym typeface="Arial"/>
                        </a:rPr>
                        <a:t>ANTHONY</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BRUTUS</a:t>
                      </a:r>
                      <a:r>
                        <a:rPr lang="pt-BR">
                          <a:latin typeface="Arial"/>
                          <a:ea typeface="Arial"/>
                          <a:cs typeface="Arial"/>
                          <a:sym typeface="Arial"/>
                        </a:rPr>
                        <a:t> </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CAESAR</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CALPURNIA</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CLEOPATRA</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MERCY</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WORSER</a:t>
                      </a:r>
                      <a:endParaRPr>
                        <a:latin typeface="Arial"/>
                        <a:ea typeface="Arial"/>
                        <a:cs typeface="Arial"/>
                        <a:sym typeface="Arial"/>
                      </a:endParaRPr>
                    </a:p>
                    <a:p>
                      <a:pPr indent="0" lvl="0" marL="0" marR="0" rtl="0" algn="l">
                        <a:spcBef>
                          <a:spcPts val="0"/>
                        </a:spcBef>
                        <a:spcAft>
                          <a:spcPts val="0"/>
                        </a:spcAft>
                        <a:buNone/>
                      </a:pPr>
                      <a:r>
                        <a:rPr lang="pt-BR">
                          <a:latin typeface="Arial"/>
                          <a:ea typeface="Arial"/>
                          <a:cs typeface="Arial"/>
                          <a:sym typeface="Arial"/>
                        </a:rPr>
                        <a:t>. .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5.25</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1.21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8.59</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2.85</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1.51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1.37</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3.18</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6.10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2.54</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1.54</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1.90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0.11</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1.51</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0.12</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4.15</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0.25</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5.25</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0.25</a:t>
                      </a:r>
                      <a:endParaRPr>
                        <a:latin typeface="Arial"/>
                        <a:ea typeface="Arial"/>
                        <a:cs typeface="Arial"/>
                        <a:sym typeface="Arial"/>
                      </a:endParaRPr>
                    </a:p>
                  </a:txBody>
                  <a:tcPr marT="45725" marB="45725" marR="91450" marL="91450"/>
                </a:tc>
                <a:tc>
                  <a:txBody>
                    <a:bodyPr/>
                    <a:lstStyle/>
                    <a:p>
                      <a:pPr indent="0" lvl="0" marL="0" marR="0" rtl="0" algn="r">
                        <a:spcBef>
                          <a:spcPts val="0"/>
                        </a:spcBef>
                        <a:spcAft>
                          <a:spcPts val="0"/>
                        </a:spcAft>
                        <a:buNone/>
                      </a:pPr>
                      <a:r>
                        <a:rPr lang="pt-BR">
                          <a:latin typeface="Arial"/>
                          <a:ea typeface="Arial"/>
                          <a:cs typeface="Arial"/>
                          <a:sym typeface="Arial"/>
                        </a:rPr>
                        <a:t>0.35</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0.0</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0.88</a:t>
                      </a:r>
                      <a:endParaRPr>
                        <a:latin typeface="Arial"/>
                        <a:ea typeface="Arial"/>
                        <a:cs typeface="Arial"/>
                        <a:sym typeface="Arial"/>
                      </a:endParaRPr>
                    </a:p>
                    <a:p>
                      <a:pPr indent="0" lvl="0" marL="0" marR="0" rtl="0" algn="r">
                        <a:spcBef>
                          <a:spcPts val="0"/>
                        </a:spcBef>
                        <a:spcAft>
                          <a:spcPts val="0"/>
                        </a:spcAft>
                        <a:buNone/>
                      </a:pPr>
                      <a:r>
                        <a:rPr lang="pt-BR">
                          <a:latin typeface="Arial"/>
                          <a:ea typeface="Arial"/>
                          <a:cs typeface="Arial"/>
                          <a:sym typeface="Arial"/>
                        </a:rPr>
                        <a:t>1.95</a:t>
                      </a:r>
                      <a:endParaRPr>
                        <a:latin typeface="Arial"/>
                        <a:ea typeface="Arial"/>
                        <a:cs typeface="Arial"/>
                        <a:sym typeface="Arial"/>
                      </a:endParaRPr>
                    </a:p>
                  </a:txBody>
                  <a:tcPr marT="45725" marB="45725" marR="91450" marL="9145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f9e35ce08f_0_1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Documents as vectors</a:t>
            </a:r>
            <a:endParaRPr/>
          </a:p>
        </p:txBody>
      </p:sp>
      <p:sp>
        <p:nvSpPr>
          <p:cNvPr id="243" name="Google Shape;243;g3f9e35ce08f_0_1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pt-BR" sz="2400"/>
              <a:t>So we have a |V|-dimensional vector space</a:t>
            </a:r>
            <a:endParaRPr sz="2400"/>
          </a:p>
          <a:p>
            <a:pPr indent="-381000" lvl="0" marL="457200" rtl="0" algn="l">
              <a:spcBef>
                <a:spcPts val="0"/>
              </a:spcBef>
              <a:spcAft>
                <a:spcPts val="0"/>
              </a:spcAft>
              <a:buSzPts val="2400"/>
              <a:buChar char="●"/>
            </a:pPr>
            <a:r>
              <a:rPr b="1" lang="pt-BR" sz="2400"/>
              <a:t>Terms are axes of the space</a:t>
            </a:r>
            <a:endParaRPr b="1" sz="2400"/>
          </a:p>
          <a:p>
            <a:pPr indent="-381000" lvl="0" marL="457200" rtl="0" algn="l">
              <a:spcBef>
                <a:spcPts val="0"/>
              </a:spcBef>
              <a:spcAft>
                <a:spcPts val="0"/>
              </a:spcAft>
              <a:buSzPts val="2400"/>
              <a:buChar char="●"/>
            </a:pPr>
            <a:r>
              <a:rPr lang="pt-BR" sz="2400"/>
              <a:t>Documents are points or vectors in this space</a:t>
            </a:r>
            <a:endParaRPr sz="2400"/>
          </a:p>
          <a:p>
            <a:pPr indent="-381000" lvl="0" marL="457200" rtl="0" algn="l">
              <a:spcBef>
                <a:spcPts val="0"/>
              </a:spcBef>
              <a:spcAft>
                <a:spcPts val="0"/>
              </a:spcAft>
              <a:buSzPts val="2400"/>
              <a:buChar char="●"/>
            </a:pPr>
            <a:r>
              <a:rPr b="1" lang="pt-BR" sz="2400"/>
              <a:t>Very high-dimensional: tens of millions of dimensions when you apply this to a web search engine</a:t>
            </a:r>
            <a:endParaRPr b="1" sz="2400"/>
          </a:p>
          <a:p>
            <a:pPr indent="-381000" lvl="0" marL="457200" rtl="0" algn="l">
              <a:spcBef>
                <a:spcPts val="0"/>
              </a:spcBef>
              <a:spcAft>
                <a:spcPts val="0"/>
              </a:spcAft>
              <a:buSzPts val="2400"/>
              <a:buChar char="●"/>
            </a:pPr>
            <a:r>
              <a:rPr lang="pt-BR" sz="2400"/>
              <a:t>These are very sparse vectors - most entries are zero.</a:t>
            </a:r>
            <a:endParaRPr sz="2400"/>
          </a:p>
        </p:txBody>
      </p:sp>
      <p:sp>
        <p:nvSpPr>
          <p:cNvPr id="244" name="Google Shape;244;g3f9e35ce08f_0_141"/>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(Nayak &amp; Raghavan, 2019)</a:t>
            </a:r>
            <a:endParaRPr sz="1800">
              <a:solidFill>
                <a:srgbClr val="434343"/>
              </a:solidFill>
              <a:latin typeface="Comfortaa"/>
              <a:ea typeface="Comfortaa"/>
              <a:cs typeface="Comfortaa"/>
              <a:sym typeface="Comforta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f9e35ce08f_0_1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Queries as vectors</a:t>
            </a:r>
            <a:endParaRPr/>
          </a:p>
        </p:txBody>
      </p:sp>
      <p:sp>
        <p:nvSpPr>
          <p:cNvPr id="250" name="Google Shape;250;g3f9e35ce08f_0_15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2750" lvl="0" marL="457200" rtl="0" algn="l">
              <a:spcBef>
                <a:spcPts val="0"/>
              </a:spcBef>
              <a:spcAft>
                <a:spcPts val="0"/>
              </a:spcAft>
              <a:buSzPts val="2900"/>
              <a:buChar char="●"/>
            </a:pPr>
            <a:r>
              <a:rPr b="1" lang="pt-BR" sz="2900"/>
              <a:t>Key idea 1:</a:t>
            </a:r>
            <a:r>
              <a:rPr lang="pt-BR" sz="2900"/>
              <a:t> Do the same for queries: represent them as vectors in the space</a:t>
            </a:r>
            <a:endParaRPr sz="2900"/>
          </a:p>
          <a:p>
            <a:pPr indent="-412750" lvl="0" marL="457200" rtl="0" algn="l">
              <a:spcBef>
                <a:spcPts val="0"/>
              </a:spcBef>
              <a:spcAft>
                <a:spcPts val="0"/>
              </a:spcAft>
              <a:buSzPts val="2900"/>
              <a:buChar char="●"/>
            </a:pPr>
            <a:r>
              <a:rPr b="1" lang="pt-BR" sz="2900"/>
              <a:t>Key idea 2:</a:t>
            </a:r>
            <a:r>
              <a:rPr lang="pt-BR" sz="2900"/>
              <a:t> Rank documents according to their proximity to the query in this space</a:t>
            </a:r>
            <a:endParaRPr sz="2900"/>
          </a:p>
          <a:p>
            <a:pPr indent="-412750" lvl="0" marL="457200" rtl="0" algn="l">
              <a:spcBef>
                <a:spcPts val="0"/>
              </a:spcBef>
              <a:spcAft>
                <a:spcPts val="0"/>
              </a:spcAft>
              <a:buSzPts val="2900"/>
              <a:buChar char="●"/>
            </a:pPr>
            <a:r>
              <a:rPr lang="pt-BR" sz="2900"/>
              <a:t>proximity = similarity of vectors</a:t>
            </a:r>
            <a:endParaRPr sz="2900"/>
          </a:p>
          <a:p>
            <a:pPr indent="-412750" lvl="0" marL="457200" rtl="0" algn="l">
              <a:spcBef>
                <a:spcPts val="0"/>
              </a:spcBef>
              <a:spcAft>
                <a:spcPts val="0"/>
              </a:spcAft>
              <a:buSzPts val="2900"/>
              <a:buChar char="●"/>
            </a:pPr>
            <a:r>
              <a:rPr lang="pt-BR" sz="2900"/>
              <a:t>proximity ≈ inverse of distance</a:t>
            </a:r>
            <a:endParaRPr sz="2900"/>
          </a:p>
        </p:txBody>
      </p:sp>
      <p:sp>
        <p:nvSpPr>
          <p:cNvPr id="251" name="Google Shape;251;g3f9e35ce08f_0_156"/>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(Nayak &amp; Raghavan, 2019)</a:t>
            </a:r>
            <a:endParaRPr sz="1800">
              <a:solidFill>
                <a:srgbClr val="434343"/>
              </a:solidFill>
              <a:latin typeface="Comfortaa"/>
              <a:ea typeface="Comfortaa"/>
              <a:cs typeface="Comfortaa"/>
              <a:sym typeface="Comforta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f9e35ce08f_0_17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Formalizing vector space proximity</a:t>
            </a:r>
            <a:endParaRPr/>
          </a:p>
        </p:txBody>
      </p:sp>
      <p:sp>
        <p:nvSpPr>
          <p:cNvPr id="257" name="Google Shape;257;g3f9e35ce08f_0_17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2750" lvl="0" marL="457200" rtl="0" algn="l">
              <a:spcBef>
                <a:spcPts val="0"/>
              </a:spcBef>
              <a:spcAft>
                <a:spcPts val="0"/>
              </a:spcAft>
              <a:buSzPts val="2900"/>
              <a:buChar char="●"/>
            </a:pPr>
            <a:r>
              <a:rPr lang="pt-BR" sz="2900"/>
              <a:t>First cut: distance between two points</a:t>
            </a:r>
            <a:endParaRPr sz="2900"/>
          </a:p>
          <a:p>
            <a:pPr indent="-374650" lvl="1" marL="914400" rtl="0" algn="l">
              <a:spcBef>
                <a:spcPts val="0"/>
              </a:spcBef>
              <a:spcAft>
                <a:spcPts val="0"/>
              </a:spcAft>
              <a:buSzPts val="2300"/>
              <a:buChar char="○"/>
            </a:pPr>
            <a:r>
              <a:rPr lang="pt-BR" sz="2300"/>
              <a:t>( = distance between the end points of the two vectors)</a:t>
            </a:r>
            <a:endParaRPr sz="2300"/>
          </a:p>
          <a:p>
            <a:pPr indent="-412750" lvl="0" marL="457200" rtl="0" algn="l">
              <a:spcBef>
                <a:spcPts val="0"/>
              </a:spcBef>
              <a:spcAft>
                <a:spcPts val="0"/>
              </a:spcAft>
              <a:buSzPts val="2900"/>
              <a:buChar char="●"/>
            </a:pPr>
            <a:r>
              <a:rPr b="1" lang="pt-BR" sz="2900"/>
              <a:t>Euclidean distance?</a:t>
            </a:r>
            <a:endParaRPr b="1" sz="2900"/>
          </a:p>
          <a:p>
            <a:pPr indent="-412750" lvl="0" marL="457200" rtl="0" algn="l">
              <a:spcBef>
                <a:spcPts val="0"/>
              </a:spcBef>
              <a:spcAft>
                <a:spcPts val="0"/>
              </a:spcAft>
              <a:buSzPts val="2900"/>
              <a:buChar char="●"/>
            </a:pPr>
            <a:r>
              <a:rPr lang="pt-BR" sz="2900"/>
              <a:t>Euclidean distance is a bad idea . . .</a:t>
            </a:r>
            <a:endParaRPr sz="2900"/>
          </a:p>
          <a:p>
            <a:pPr indent="-412750" lvl="0" marL="457200" rtl="0" algn="l">
              <a:spcBef>
                <a:spcPts val="0"/>
              </a:spcBef>
              <a:spcAft>
                <a:spcPts val="0"/>
              </a:spcAft>
              <a:buSzPts val="2900"/>
              <a:buChar char="●"/>
            </a:pPr>
            <a:r>
              <a:rPr lang="pt-BR" sz="2900"/>
              <a:t>. . . because Euclidean distance is large for vectors of different lengths.</a:t>
            </a:r>
            <a:endParaRPr sz="2900"/>
          </a:p>
        </p:txBody>
      </p:sp>
      <p:sp>
        <p:nvSpPr>
          <p:cNvPr id="258" name="Google Shape;258;g3f9e35ce08f_0_178"/>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(Nayak &amp; Raghavan, 2019)</a:t>
            </a:r>
            <a:endParaRPr sz="1800">
              <a:solidFill>
                <a:srgbClr val="434343"/>
              </a:solidFill>
              <a:latin typeface="Comfortaa"/>
              <a:ea typeface="Comfortaa"/>
              <a:cs typeface="Comfortaa"/>
              <a:sym typeface="Comforta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f9edaecf4b_0_0"/>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Euclidean Distance in a Plane (2D)</a:t>
            </a:r>
            <a:endParaRPr b="1" i="0" sz="3000" u="none" cap="none" strike="noStrike">
              <a:solidFill>
                <a:srgbClr val="252323"/>
              </a:solidFill>
              <a:latin typeface="Comfortaa"/>
              <a:ea typeface="Comfortaa"/>
              <a:cs typeface="Comfortaa"/>
              <a:sym typeface="Comfortaa"/>
            </a:endParaRPr>
          </a:p>
        </p:txBody>
      </p:sp>
      <p:sp>
        <p:nvSpPr>
          <p:cNvPr id="264" name="Google Shape;264;g3f9edaecf4b_0_0"/>
          <p:cNvSpPr txBox="1"/>
          <p:nvPr/>
        </p:nvSpPr>
        <p:spPr>
          <a:xfrm>
            <a:off x="5242779" y="3256254"/>
            <a:ext cx="3272400" cy="695700"/>
          </a:xfrm>
          <a:prstGeom prst="rect">
            <a:avLst/>
          </a:prstGeom>
          <a:noFill/>
          <a:ln>
            <a:noFill/>
          </a:ln>
        </p:spPr>
        <p:txBody>
          <a:bodyPr anchorCtr="0" anchor="t" bIns="82925" lIns="82925" spcFirstLastPara="1" rIns="82925" wrap="square" tIns="82925">
            <a:noAutofit/>
          </a:bodyPr>
          <a:lstStyle/>
          <a:p>
            <a:pPr indent="0" lvl="0" marL="0" marR="0" rtl="0" algn="l">
              <a:lnSpc>
                <a:spcPct val="115000"/>
              </a:lnSpc>
              <a:spcBef>
                <a:spcPts val="0"/>
              </a:spcBef>
              <a:spcAft>
                <a:spcPts val="0"/>
              </a:spcAft>
              <a:buClr>
                <a:srgbClr val="000000"/>
              </a:buClr>
              <a:buSzPts val="1100"/>
              <a:buFont typeface="Arial"/>
              <a:buNone/>
            </a:pPr>
            <a:r>
              <a:rPr b="0" i="0" lang="pt-BR" sz="1100" u="none" cap="none" strike="noStrike">
                <a:solidFill>
                  <a:srgbClr val="595959"/>
                </a:solidFill>
                <a:latin typeface="Arial"/>
                <a:ea typeface="Arial"/>
                <a:cs typeface="Arial"/>
                <a:sym typeface="Arial"/>
              </a:rPr>
              <a:t>By Kmhkmh - Own work, CC BY 4.0, </a:t>
            </a:r>
            <a:r>
              <a:rPr b="0" i="0" lang="pt-BR" sz="1100" u="sng" cap="none" strike="noStrike">
                <a:solidFill>
                  <a:schemeClr val="hlink"/>
                </a:solidFill>
                <a:latin typeface="Arial"/>
                <a:ea typeface="Arial"/>
                <a:cs typeface="Arial"/>
                <a:sym typeface="Arial"/>
                <a:hlinkClick r:id="rId3"/>
              </a:rPr>
              <a:t>https://commons.wikimedia.org/w/index.php?curid=67617313</a:t>
            </a:r>
            <a:endParaRPr b="0" i="0" sz="1100" u="none" cap="none" strike="noStrike">
              <a:solidFill>
                <a:srgbClr val="252323"/>
              </a:solidFill>
              <a:latin typeface="Comfortaa"/>
              <a:ea typeface="Comfortaa"/>
              <a:cs typeface="Comfortaa"/>
              <a:sym typeface="Comfortaa"/>
            </a:endParaRPr>
          </a:p>
        </p:txBody>
      </p:sp>
      <p:pic>
        <p:nvPicPr>
          <p:cNvPr id="265" name="Google Shape;265;g3f9edaecf4b_0_0"/>
          <p:cNvPicPr preferRelativeResize="0"/>
          <p:nvPr/>
        </p:nvPicPr>
        <p:blipFill rotWithShape="1">
          <a:blip r:embed="rId4">
            <a:alphaModFix/>
          </a:blip>
          <a:srcRect b="0" l="0" r="0" t="0"/>
          <a:stretch/>
        </p:blipFill>
        <p:spPr>
          <a:xfrm>
            <a:off x="1142929" y="1395304"/>
            <a:ext cx="3943619" cy="2717138"/>
          </a:xfrm>
          <a:prstGeom prst="rect">
            <a:avLst/>
          </a:prstGeom>
          <a:noFill/>
          <a:ln>
            <a:noFill/>
          </a:ln>
        </p:spPr>
      </p:pic>
      <p:pic>
        <p:nvPicPr>
          <p:cNvPr id="266" name="Google Shape;266;g3f9edaecf4b_0_0"/>
          <p:cNvPicPr preferRelativeResize="0"/>
          <p:nvPr/>
        </p:nvPicPr>
        <p:blipFill rotWithShape="1">
          <a:blip r:embed="rId5">
            <a:alphaModFix/>
          </a:blip>
          <a:srcRect b="0" l="0" r="0" t="0"/>
          <a:stretch/>
        </p:blipFill>
        <p:spPr>
          <a:xfrm>
            <a:off x="2749887" y="4251221"/>
            <a:ext cx="3801249" cy="48360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f9edaecf4b_0_7"/>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Euclidean Distance in a 3D Space</a:t>
            </a:r>
            <a:endParaRPr b="1" i="0" sz="3000" u="none" cap="none" strike="noStrike">
              <a:solidFill>
                <a:srgbClr val="252323"/>
              </a:solidFill>
              <a:latin typeface="Comfortaa"/>
              <a:ea typeface="Comfortaa"/>
              <a:cs typeface="Comfortaa"/>
              <a:sym typeface="Comfortaa"/>
            </a:endParaRPr>
          </a:p>
        </p:txBody>
      </p:sp>
      <p:sp>
        <p:nvSpPr>
          <p:cNvPr id="272" name="Google Shape;272;g3f9edaecf4b_0_7"/>
          <p:cNvSpPr txBox="1"/>
          <p:nvPr/>
        </p:nvSpPr>
        <p:spPr>
          <a:xfrm>
            <a:off x="6319092" y="3582794"/>
            <a:ext cx="2046300" cy="464100"/>
          </a:xfrm>
          <a:prstGeom prst="rect">
            <a:avLst/>
          </a:prstGeom>
          <a:noFill/>
          <a:ln>
            <a:noFill/>
          </a:ln>
        </p:spPr>
        <p:txBody>
          <a:bodyPr anchorCtr="0" anchor="t" bIns="82925" lIns="82925" spcFirstLastPara="1" rIns="82925" wrap="square" tIns="82925">
            <a:noAutofit/>
          </a:bodyPr>
          <a:lstStyle/>
          <a:p>
            <a:pPr indent="0" lvl="0" marL="0" marR="0" rtl="0" algn="l">
              <a:lnSpc>
                <a:spcPct val="115000"/>
              </a:lnSpc>
              <a:spcBef>
                <a:spcPts val="0"/>
              </a:spcBef>
              <a:spcAft>
                <a:spcPts val="0"/>
              </a:spcAft>
              <a:buClr>
                <a:srgbClr val="000000"/>
              </a:buClr>
              <a:buSzPts val="1900"/>
              <a:buFont typeface="Arial"/>
              <a:buNone/>
            </a:pPr>
            <a:r>
              <a:rPr b="0" i="0" lang="pt-BR" sz="1900" u="none" cap="none" strike="noStrike">
                <a:solidFill>
                  <a:srgbClr val="595959"/>
                </a:solidFill>
                <a:latin typeface="Arial"/>
                <a:ea typeface="Arial"/>
                <a:cs typeface="Arial"/>
                <a:sym typeface="Arial"/>
              </a:rPr>
              <a:t>(Halabisky, 2020)</a:t>
            </a:r>
            <a:endParaRPr b="0" i="0" sz="1900" u="none" cap="none" strike="noStrike">
              <a:solidFill>
                <a:srgbClr val="252323"/>
              </a:solidFill>
              <a:latin typeface="Comfortaa"/>
              <a:ea typeface="Comfortaa"/>
              <a:cs typeface="Comfortaa"/>
              <a:sym typeface="Comfortaa"/>
            </a:endParaRPr>
          </a:p>
        </p:txBody>
      </p:sp>
      <p:pic>
        <p:nvPicPr>
          <p:cNvPr id="273" name="Google Shape;273;g3f9edaecf4b_0_7"/>
          <p:cNvPicPr preferRelativeResize="0"/>
          <p:nvPr/>
        </p:nvPicPr>
        <p:blipFill rotWithShape="1">
          <a:blip r:embed="rId3">
            <a:alphaModFix/>
          </a:blip>
          <a:srcRect b="0" l="0" r="0" t="0"/>
          <a:stretch/>
        </p:blipFill>
        <p:spPr>
          <a:xfrm>
            <a:off x="2494198" y="1306159"/>
            <a:ext cx="3817903" cy="2745546"/>
          </a:xfrm>
          <a:prstGeom prst="rect">
            <a:avLst/>
          </a:prstGeom>
          <a:noFill/>
          <a:ln>
            <a:noFill/>
          </a:ln>
        </p:spPr>
      </p:pic>
      <p:pic>
        <p:nvPicPr>
          <p:cNvPr id="274" name="Google Shape;274;g3f9edaecf4b_0_7"/>
          <p:cNvPicPr preferRelativeResize="0"/>
          <p:nvPr/>
        </p:nvPicPr>
        <p:blipFill rotWithShape="1">
          <a:blip r:embed="rId4">
            <a:alphaModFix/>
          </a:blip>
          <a:srcRect b="0" l="0" r="0" t="0"/>
          <a:stretch/>
        </p:blipFill>
        <p:spPr>
          <a:xfrm>
            <a:off x="1632756" y="4254486"/>
            <a:ext cx="5206674" cy="48360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f9edaecf4b_0_68"/>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Properties of Distance Measure</a:t>
            </a:r>
            <a:endParaRPr/>
          </a:p>
        </p:txBody>
      </p:sp>
      <p:sp>
        <p:nvSpPr>
          <p:cNvPr id="280" name="Google Shape;280;g3f9edaecf4b_0_68"/>
          <p:cNvSpPr txBox="1"/>
          <p:nvPr>
            <p:ph idx="1" type="body"/>
          </p:nvPr>
        </p:nvSpPr>
        <p:spPr>
          <a:xfrm>
            <a:off x="457175" y="1719153"/>
            <a:ext cx="8228700" cy="1705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pt-BR" sz="2200"/>
              <a:t>D(A,B) = D(B,A)					Symmetry</a:t>
            </a:r>
            <a:endParaRPr sz="2200"/>
          </a:p>
          <a:p>
            <a:pPr indent="0" lvl="0" marL="0" rtl="0" algn="l">
              <a:spcBef>
                <a:spcPts val="0"/>
              </a:spcBef>
              <a:spcAft>
                <a:spcPts val="0"/>
              </a:spcAft>
              <a:buClr>
                <a:schemeClr val="dk1"/>
              </a:buClr>
              <a:buSzPts val="1100"/>
              <a:buFont typeface="Arial"/>
              <a:buNone/>
            </a:pPr>
            <a:r>
              <a:rPr lang="pt-BR" sz="2200"/>
              <a:t>D(A,A) = 0							Constancy of Self-Similarity</a:t>
            </a:r>
            <a:endParaRPr sz="2200"/>
          </a:p>
          <a:p>
            <a:pPr indent="0" lvl="0" marL="0" rtl="0" algn="l">
              <a:spcBef>
                <a:spcPts val="0"/>
              </a:spcBef>
              <a:spcAft>
                <a:spcPts val="0"/>
              </a:spcAft>
              <a:buClr>
                <a:schemeClr val="dk1"/>
              </a:buClr>
              <a:buSzPts val="1100"/>
              <a:buFont typeface="Arial"/>
              <a:buNone/>
            </a:pPr>
            <a:r>
              <a:rPr lang="pt-BR" sz="2200"/>
              <a:t>D(A,B) = 0 IIf A= B				Positivity (Separation)</a:t>
            </a:r>
            <a:endParaRPr sz="2200"/>
          </a:p>
          <a:p>
            <a:pPr indent="0" lvl="0" marL="0" rtl="0" algn="l">
              <a:spcBef>
                <a:spcPts val="0"/>
              </a:spcBef>
              <a:spcAft>
                <a:spcPts val="0"/>
              </a:spcAft>
              <a:buNone/>
            </a:pPr>
            <a:r>
              <a:rPr lang="pt-BR" sz="2200"/>
              <a:t>D(A,B) &lt;= D(A,C) + D(B,C)		Triangular Inequality</a:t>
            </a:r>
            <a:endParaRPr sz="2200"/>
          </a:p>
        </p:txBody>
      </p:sp>
      <p:sp>
        <p:nvSpPr>
          <p:cNvPr id="281" name="Google Shape;281;g3f9edaecf4b_0_68"/>
          <p:cNvSpPr/>
          <p:nvPr/>
        </p:nvSpPr>
        <p:spPr>
          <a:xfrm>
            <a:off x="6148528" y="4508338"/>
            <a:ext cx="2069100" cy="437100"/>
          </a:xfrm>
          <a:prstGeom prst="rect">
            <a:avLst/>
          </a:prstGeom>
          <a:noFill/>
          <a:ln>
            <a:noFill/>
          </a:ln>
        </p:spPr>
        <p:txBody>
          <a:bodyPr anchorCtr="0" anchor="t" bIns="82925" lIns="82925" spcFirstLastPara="1" rIns="82925" wrap="square" tIns="82925">
            <a:noAutofit/>
          </a:bodyPr>
          <a:lstStyle/>
          <a:p>
            <a:pPr indent="0" lvl="0" marL="0" marR="0" rtl="0" algn="l">
              <a:lnSpc>
                <a:spcPct val="115000"/>
              </a:lnSpc>
              <a:spcBef>
                <a:spcPts val="0"/>
              </a:spcBef>
              <a:spcAft>
                <a:spcPts val="0"/>
              </a:spcAft>
              <a:buNone/>
            </a:pPr>
            <a:r>
              <a:rPr b="0" lang="pt-BR" sz="2200" strike="noStrike">
                <a:solidFill>
                  <a:srgbClr val="595959"/>
                </a:solidFill>
                <a:latin typeface="Arial"/>
                <a:ea typeface="Arial"/>
                <a:cs typeface="Arial"/>
                <a:sym typeface="Arial"/>
              </a:rPr>
              <a:t> (Keogh, 2003)</a:t>
            </a:r>
            <a:endParaRPr b="0" sz="2200" strike="noStrike">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f9e35ce08f_0_184"/>
          <p:cNvSpPr txBox="1"/>
          <p:nvPr>
            <p:ph type="title"/>
          </p:nvPr>
        </p:nvSpPr>
        <p:spPr>
          <a:xfrm>
            <a:off x="311700" y="128502"/>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Why distance is a bad idea</a:t>
            </a:r>
            <a:endParaRPr/>
          </a:p>
        </p:txBody>
      </p:sp>
      <p:sp>
        <p:nvSpPr>
          <p:cNvPr id="287" name="Google Shape;287;g3f9e35ce08f_0_184"/>
          <p:cNvSpPr txBox="1"/>
          <p:nvPr>
            <p:ph idx="1" type="body"/>
          </p:nvPr>
        </p:nvSpPr>
        <p:spPr>
          <a:xfrm>
            <a:off x="255350" y="3982350"/>
            <a:ext cx="8520600" cy="106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800"/>
              <a:t>The Euclidean distance of  q  ⃗ and d</a:t>
            </a:r>
            <a:r>
              <a:rPr baseline="-25000" lang="pt-BR" sz="1800"/>
              <a:t>2</a:t>
            </a:r>
            <a:r>
              <a:rPr lang="pt-BR" sz="1800"/>
              <a:t>  ⃗</a:t>
            </a:r>
            <a:r>
              <a:rPr lang="pt-BR" sz="1800"/>
              <a:t> is large although the distribution of terms in the query q and the distribution of terms in the document d</a:t>
            </a:r>
            <a:r>
              <a:rPr baseline="-25000" lang="pt-BR" sz="1800"/>
              <a:t>2</a:t>
            </a:r>
            <a:r>
              <a:rPr lang="pt-BR" sz="1800"/>
              <a:t> are very similar.</a:t>
            </a:r>
            <a:endParaRPr sz="1800"/>
          </a:p>
        </p:txBody>
      </p:sp>
      <p:pic>
        <p:nvPicPr>
          <p:cNvPr descr="Picture4.png" id="288" name="Google Shape;288;g3f9e35ce08f_0_184"/>
          <p:cNvPicPr preferRelativeResize="0"/>
          <p:nvPr/>
        </p:nvPicPr>
        <p:blipFill rotWithShape="1">
          <a:blip r:embed="rId3">
            <a:alphaModFix/>
          </a:blip>
          <a:srcRect b="0" l="0" r="0" t="0"/>
          <a:stretch/>
        </p:blipFill>
        <p:spPr>
          <a:xfrm>
            <a:off x="1375600" y="866701"/>
            <a:ext cx="6392800" cy="3059125"/>
          </a:xfrm>
          <a:prstGeom prst="rect">
            <a:avLst/>
          </a:prstGeom>
          <a:noFill/>
          <a:ln>
            <a:noFill/>
          </a:ln>
        </p:spPr>
      </p:pic>
      <p:sp>
        <p:nvSpPr>
          <p:cNvPr id="289" name="Google Shape;289;g3f9e35ce08f_0_184"/>
          <p:cNvSpPr txBox="1"/>
          <p:nvPr/>
        </p:nvSpPr>
        <p:spPr>
          <a:xfrm>
            <a:off x="6868975" y="440875"/>
            <a:ext cx="2218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(Schütze and Lioma, 2010)</a:t>
            </a:r>
            <a:endParaRPr sz="1200">
              <a:solidFill>
                <a:srgbClr val="434343"/>
              </a:solidFill>
              <a:latin typeface="Comfortaa"/>
              <a:ea typeface="Comfortaa"/>
              <a:cs typeface="Comfortaa"/>
              <a:sym typeface="Comforta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f9e35ce08f_0_19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Use angle instead of distance</a:t>
            </a:r>
            <a:endParaRPr/>
          </a:p>
        </p:txBody>
      </p:sp>
      <p:sp>
        <p:nvSpPr>
          <p:cNvPr id="295" name="Google Shape;295;g3f9e35ce08f_0_193"/>
          <p:cNvSpPr txBox="1"/>
          <p:nvPr>
            <p:ph idx="1" type="body"/>
          </p:nvPr>
        </p:nvSpPr>
        <p:spPr>
          <a:xfrm>
            <a:off x="311700" y="1152475"/>
            <a:ext cx="8520600" cy="38472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b="1" lang="pt-BR" sz="2200"/>
              <a:t>Thought experiment: take a document d and append it to itself. Call this document d′.</a:t>
            </a:r>
            <a:endParaRPr b="1" sz="2200"/>
          </a:p>
          <a:p>
            <a:pPr indent="-368300" lvl="0" marL="457200" rtl="0" algn="l">
              <a:spcBef>
                <a:spcPts val="0"/>
              </a:spcBef>
              <a:spcAft>
                <a:spcPts val="0"/>
              </a:spcAft>
              <a:buSzPts val="2200"/>
              <a:buChar char="●"/>
            </a:pPr>
            <a:r>
              <a:rPr lang="pt-BR" sz="2200"/>
              <a:t>“Semantically” d and d′ have the same content</a:t>
            </a:r>
            <a:endParaRPr sz="2200"/>
          </a:p>
          <a:p>
            <a:pPr indent="-368300" lvl="0" marL="457200" rtl="0" algn="l">
              <a:spcBef>
                <a:spcPts val="0"/>
              </a:spcBef>
              <a:spcAft>
                <a:spcPts val="0"/>
              </a:spcAft>
              <a:buSzPts val="2200"/>
              <a:buChar char="●"/>
            </a:pPr>
            <a:r>
              <a:rPr b="1" lang="pt-BR" sz="2200"/>
              <a:t>The Euclidean distance between the two documents can be quite large</a:t>
            </a:r>
            <a:endParaRPr b="1" sz="2200"/>
          </a:p>
          <a:p>
            <a:pPr indent="-368300" lvl="0" marL="457200" rtl="0" algn="l">
              <a:spcBef>
                <a:spcPts val="0"/>
              </a:spcBef>
              <a:spcAft>
                <a:spcPts val="0"/>
              </a:spcAft>
              <a:buSzPts val="2200"/>
              <a:buChar char="●"/>
            </a:pPr>
            <a:r>
              <a:rPr lang="pt-BR" sz="2200"/>
              <a:t>The angle between the two documents is 0, corresponding to maximal similarity.</a:t>
            </a:r>
            <a:endParaRPr sz="2200"/>
          </a:p>
          <a:p>
            <a:pPr indent="-368300" lvl="0" marL="457200" rtl="0" algn="l">
              <a:spcBef>
                <a:spcPts val="1000"/>
              </a:spcBef>
              <a:spcAft>
                <a:spcPts val="0"/>
              </a:spcAft>
              <a:buSzPts val="2200"/>
              <a:buChar char="●"/>
            </a:pPr>
            <a:r>
              <a:rPr b="1" lang="pt-BR" sz="2200"/>
              <a:t>Key idea: Rank documents according to angle with query.</a:t>
            </a:r>
            <a:endParaRPr b="1" sz="2200"/>
          </a:p>
        </p:txBody>
      </p:sp>
      <p:sp>
        <p:nvSpPr>
          <p:cNvPr id="296" name="Google Shape;296;g3f9e35ce08f_0_193"/>
          <p:cNvSpPr txBox="1"/>
          <p:nvPr/>
        </p:nvSpPr>
        <p:spPr>
          <a:xfrm>
            <a:off x="5780750" y="4600425"/>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(Nayak &amp; Raghavan, 2019)</a:t>
            </a:r>
            <a:endParaRPr sz="1800">
              <a:solidFill>
                <a:srgbClr val="434343"/>
              </a:solidFill>
              <a:latin typeface="Comfortaa"/>
              <a:ea typeface="Comfortaa"/>
              <a:cs typeface="Comfortaa"/>
              <a:sym typeface="Comforta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f9ebdf94e2_0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From angles to cosines</a:t>
            </a:r>
            <a:endParaRPr/>
          </a:p>
        </p:txBody>
      </p:sp>
      <p:sp>
        <p:nvSpPr>
          <p:cNvPr id="302" name="Google Shape;302;g3f9ebdf94e2_0_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pt-BR" sz="2800"/>
              <a:t>The following two notions are equivalent.</a:t>
            </a:r>
            <a:endParaRPr sz="2800"/>
          </a:p>
          <a:p>
            <a:pPr indent="-368300" lvl="1" marL="914400" rtl="0" algn="l">
              <a:spcBef>
                <a:spcPts val="0"/>
              </a:spcBef>
              <a:spcAft>
                <a:spcPts val="0"/>
              </a:spcAft>
              <a:buSzPts val="2200"/>
              <a:buChar char="○"/>
            </a:pPr>
            <a:r>
              <a:rPr lang="pt-BR" sz="2200"/>
              <a:t>Rank documents according to the angle between query and document in decreasing order</a:t>
            </a:r>
            <a:endParaRPr sz="2200"/>
          </a:p>
          <a:p>
            <a:pPr indent="-368300" lvl="1" marL="914400" rtl="0" algn="l">
              <a:spcBef>
                <a:spcPts val="0"/>
              </a:spcBef>
              <a:spcAft>
                <a:spcPts val="0"/>
              </a:spcAft>
              <a:buSzPts val="2200"/>
              <a:buChar char="○"/>
            </a:pPr>
            <a:r>
              <a:rPr lang="pt-BR" sz="2200"/>
              <a:t>Rank documents according to cosine(query,document) in increasing order</a:t>
            </a:r>
            <a:endParaRPr sz="2200"/>
          </a:p>
          <a:p>
            <a:pPr indent="-406400" lvl="0" marL="457200" rtl="0" algn="l">
              <a:spcBef>
                <a:spcPts val="0"/>
              </a:spcBef>
              <a:spcAft>
                <a:spcPts val="0"/>
              </a:spcAft>
              <a:buSzPts val="2800"/>
              <a:buChar char="●"/>
            </a:pPr>
            <a:r>
              <a:rPr lang="pt-BR" sz="2800"/>
              <a:t>Cosine is a monotonically decreasing function of the angle for the interval [0◦, 180◦]</a:t>
            </a:r>
            <a:endParaRPr sz="2800"/>
          </a:p>
        </p:txBody>
      </p:sp>
      <p:sp>
        <p:nvSpPr>
          <p:cNvPr id="303" name="Google Shape;303;g3f9ebdf94e2_0_0"/>
          <p:cNvSpPr txBox="1"/>
          <p:nvPr/>
        </p:nvSpPr>
        <p:spPr>
          <a:xfrm>
            <a:off x="5844725" y="120850"/>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f9ebdf94e2_0_5"/>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Angles and Cosine</a:t>
            </a:r>
            <a:endParaRPr sz="2000"/>
          </a:p>
        </p:txBody>
      </p:sp>
      <p:pic>
        <p:nvPicPr>
          <p:cNvPr id="309" name="Google Shape;309;g3f9ebdf94e2_0_5"/>
          <p:cNvPicPr preferRelativeResize="0"/>
          <p:nvPr/>
        </p:nvPicPr>
        <p:blipFill>
          <a:blip r:embed="rId3">
            <a:alphaModFix/>
          </a:blip>
          <a:stretch>
            <a:fillRect/>
          </a:stretch>
        </p:blipFill>
        <p:spPr>
          <a:xfrm>
            <a:off x="5060700" y="245163"/>
            <a:ext cx="3712900" cy="4653176"/>
          </a:xfrm>
          <a:prstGeom prst="rect">
            <a:avLst/>
          </a:prstGeom>
          <a:noFill/>
          <a:ln>
            <a:noFill/>
          </a:ln>
        </p:spPr>
      </p:pic>
      <p:sp>
        <p:nvSpPr>
          <p:cNvPr id="310" name="Google Shape;310;g3f9ebdf94e2_0_5"/>
          <p:cNvSpPr txBox="1"/>
          <p:nvPr>
            <p:ph idx="1" type="subTitle"/>
          </p:nvPr>
        </p:nvSpPr>
        <p:spPr>
          <a:xfrm>
            <a:off x="265500" y="2803075"/>
            <a:ext cx="40452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sz="1100" u="sng">
                <a:solidFill>
                  <a:schemeClr val="lt2"/>
                </a:solidFill>
                <a:hlinkClick r:id="rId4">
                  <a:extLst>
                    <a:ext uri="{A12FA001-AC4F-418D-AE19-62706E023703}">
                      <ahyp:hlinkClr val="tx"/>
                    </a:ext>
                  </a:extLst>
                </a:hlinkClick>
              </a:rPr>
              <a:t>https://toolwaves.com/tools/unit-circle-simulator</a:t>
            </a:r>
            <a:endParaRPr sz="1100">
              <a:solidFill>
                <a:schemeClr val="lt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f9ebdf94e2_0_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Vector Representation</a:t>
            </a:r>
            <a:endParaRPr/>
          </a:p>
        </p:txBody>
      </p:sp>
      <p:pic>
        <p:nvPicPr>
          <p:cNvPr id="316" name="Google Shape;316;g3f9ebdf94e2_0_26"/>
          <p:cNvPicPr preferRelativeResize="0"/>
          <p:nvPr/>
        </p:nvPicPr>
        <p:blipFill>
          <a:blip r:embed="rId3">
            <a:alphaModFix/>
          </a:blip>
          <a:stretch>
            <a:fillRect/>
          </a:stretch>
        </p:blipFill>
        <p:spPr>
          <a:xfrm>
            <a:off x="152400" y="1170125"/>
            <a:ext cx="4537975" cy="3820975"/>
          </a:xfrm>
          <a:prstGeom prst="rect">
            <a:avLst/>
          </a:prstGeom>
          <a:noFill/>
          <a:ln>
            <a:noFill/>
          </a:ln>
        </p:spPr>
      </p:pic>
      <p:pic>
        <p:nvPicPr>
          <p:cNvPr id="317" name="Google Shape;317;g3f9ebdf94e2_0_26"/>
          <p:cNvPicPr preferRelativeResize="0"/>
          <p:nvPr/>
        </p:nvPicPr>
        <p:blipFill>
          <a:blip r:embed="rId4">
            <a:alphaModFix/>
          </a:blip>
          <a:stretch>
            <a:fillRect/>
          </a:stretch>
        </p:blipFill>
        <p:spPr>
          <a:xfrm>
            <a:off x="4835925" y="1170118"/>
            <a:ext cx="2639175" cy="17206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f9ebdf94e2_0_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Unit Vector</a:t>
            </a:r>
            <a:endParaRPr/>
          </a:p>
        </p:txBody>
      </p:sp>
      <p:sp>
        <p:nvSpPr>
          <p:cNvPr id="323" name="Google Shape;323;g3f9ebdf94e2_0_37"/>
          <p:cNvSpPr txBox="1"/>
          <p:nvPr>
            <p:ph idx="1" type="body"/>
          </p:nvPr>
        </p:nvSpPr>
        <p:spPr>
          <a:xfrm>
            <a:off x="311700" y="1152475"/>
            <a:ext cx="3999900" cy="22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700"/>
              <a:t>A unit vector is any vector with a length of one; normally unit vectors are used simply to indicate direction. A vector of arbitrary length can be divided by its length to create a unit vector.</a:t>
            </a:r>
            <a:endParaRPr sz="1700"/>
          </a:p>
        </p:txBody>
      </p:sp>
      <p:pic>
        <p:nvPicPr>
          <p:cNvPr id="324" name="Google Shape;324;g3f9ebdf94e2_0_37"/>
          <p:cNvPicPr preferRelativeResize="0"/>
          <p:nvPr/>
        </p:nvPicPr>
        <p:blipFill>
          <a:blip r:embed="rId3">
            <a:alphaModFix/>
          </a:blip>
          <a:stretch>
            <a:fillRect/>
          </a:stretch>
        </p:blipFill>
        <p:spPr>
          <a:xfrm>
            <a:off x="5639950" y="1108775"/>
            <a:ext cx="2163632" cy="3820975"/>
          </a:xfrm>
          <a:prstGeom prst="rect">
            <a:avLst/>
          </a:prstGeom>
          <a:noFill/>
          <a:ln>
            <a:noFill/>
          </a:ln>
        </p:spPr>
      </p:pic>
      <p:pic>
        <p:nvPicPr>
          <p:cNvPr id="325" name="Google Shape;325;g3f9ebdf94e2_0_37"/>
          <p:cNvPicPr preferRelativeResize="0"/>
          <p:nvPr/>
        </p:nvPicPr>
        <p:blipFill>
          <a:blip r:embed="rId4">
            <a:alphaModFix/>
          </a:blip>
          <a:stretch>
            <a:fillRect/>
          </a:stretch>
        </p:blipFill>
        <p:spPr>
          <a:xfrm>
            <a:off x="1922994" y="3450150"/>
            <a:ext cx="2545375" cy="1374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h6db80df229f767cb_0_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Vector Representation</a:t>
            </a:r>
            <a:endParaRPr/>
          </a:p>
        </p:txBody>
      </p:sp>
      <p:pic>
        <p:nvPicPr>
          <p:cNvPr id="331" name="Google Shape;331;h6db80df229f767cb_0_18"/>
          <p:cNvPicPr preferRelativeResize="0"/>
          <p:nvPr/>
        </p:nvPicPr>
        <p:blipFill>
          <a:blip r:embed="rId3">
            <a:alphaModFix/>
          </a:blip>
          <a:stretch>
            <a:fillRect/>
          </a:stretch>
        </p:blipFill>
        <p:spPr>
          <a:xfrm>
            <a:off x="152400" y="1170125"/>
            <a:ext cx="3141250" cy="2644925"/>
          </a:xfrm>
          <a:prstGeom prst="rect">
            <a:avLst/>
          </a:prstGeom>
          <a:noFill/>
          <a:ln>
            <a:noFill/>
          </a:ln>
        </p:spPr>
      </p:pic>
      <p:pic>
        <p:nvPicPr>
          <p:cNvPr id="332" name="Google Shape;332;h6db80df229f767cb_0_18"/>
          <p:cNvPicPr preferRelativeResize="0"/>
          <p:nvPr/>
        </p:nvPicPr>
        <p:blipFill>
          <a:blip r:embed="rId4">
            <a:alphaModFix/>
          </a:blip>
          <a:stretch>
            <a:fillRect/>
          </a:stretch>
        </p:blipFill>
        <p:spPr>
          <a:xfrm>
            <a:off x="4700575" y="1378068"/>
            <a:ext cx="2639175" cy="1720650"/>
          </a:xfrm>
          <a:prstGeom prst="rect">
            <a:avLst/>
          </a:prstGeom>
          <a:noFill/>
          <a:ln>
            <a:noFill/>
          </a:ln>
        </p:spPr>
      </p:pic>
      <p:pic>
        <p:nvPicPr>
          <p:cNvPr id="333" name="Google Shape;333;h6db80df229f767cb_0_18"/>
          <p:cNvPicPr preferRelativeResize="0"/>
          <p:nvPr/>
        </p:nvPicPr>
        <p:blipFill>
          <a:blip r:embed="rId5">
            <a:alphaModFix/>
          </a:blip>
          <a:stretch>
            <a:fillRect/>
          </a:stretch>
        </p:blipFill>
        <p:spPr>
          <a:xfrm>
            <a:off x="2537025" y="3594424"/>
            <a:ext cx="6464102" cy="14266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f9ebdf94e2_0_45"/>
          <p:cNvSpPr txBox="1"/>
          <p:nvPr>
            <p:ph type="title"/>
          </p:nvPr>
        </p:nvSpPr>
        <p:spPr>
          <a:xfrm>
            <a:off x="310613" y="1141375"/>
            <a:ext cx="4045200" cy="69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Cosine Two Vectors</a:t>
            </a:r>
            <a:endParaRPr/>
          </a:p>
        </p:txBody>
      </p:sp>
      <p:sp>
        <p:nvSpPr>
          <p:cNvPr id="339" name="Google Shape;339;g3f9ebdf94e2_0_45"/>
          <p:cNvSpPr txBox="1"/>
          <p:nvPr>
            <p:ph idx="2" type="body"/>
          </p:nvPr>
        </p:nvSpPr>
        <p:spPr>
          <a:xfrm>
            <a:off x="4977100" y="1042813"/>
            <a:ext cx="3837000" cy="88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pt-BR"/>
              <a:t>Cosine two Unit Vectors</a:t>
            </a:r>
            <a:endParaRPr b="1"/>
          </a:p>
        </p:txBody>
      </p:sp>
      <p:pic>
        <p:nvPicPr>
          <p:cNvPr id="340" name="Google Shape;340;g3f9ebdf94e2_0_45"/>
          <p:cNvPicPr preferRelativeResize="0"/>
          <p:nvPr/>
        </p:nvPicPr>
        <p:blipFill>
          <a:blip r:embed="rId3">
            <a:alphaModFix/>
          </a:blip>
          <a:stretch>
            <a:fillRect/>
          </a:stretch>
        </p:blipFill>
        <p:spPr>
          <a:xfrm>
            <a:off x="1003475" y="2729500"/>
            <a:ext cx="2659475" cy="943675"/>
          </a:xfrm>
          <a:prstGeom prst="rect">
            <a:avLst/>
          </a:prstGeom>
          <a:noFill/>
          <a:ln>
            <a:noFill/>
          </a:ln>
        </p:spPr>
      </p:pic>
      <p:pic>
        <p:nvPicPr>
          <p:cNvPr id="341" name="Google Shape;341;g3f9ebdf94e2_0_45"/>
          <p:cNvPicPr preferRelativeResize="0"/>
          <p:nvPr/>
        </p:nvPicPr>
        <p:blipFill>
          <a:blip r:embed="rId4">
            <a:alphaModFix/>
          </a:blip>
          <a:stretch>
            <a:fillRect/>
          </a:stretch>
        </p:blipFill>
        <p:spPr>
          <a:xfrm>
            <a:off x="4931838" y="2087338"/>
            <a:ext cx="3927519" cy="20133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3f9ebdf94e2_0_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Angle Between Vectors</a:t>
            </a:r>
            <a:endParaRPr sz="2000"/>
          </a:p>
        </p:txBody>
      </p:sp>
      <p:sp>
        <p:nvSpPr>
          <p:cNvPr id="347" name="Google Shape;347;g3f9ebdf94e2_0_19"/>
          <p:cNvSpPr txBox="1"/>
          <p:nvPr>
            <p:ph idx="1" type="subTitle"/>
          </p:nvPr>
        </p:nvSpPr>
        <p:spPr>
          <a:xfrm>
            <a:off x="265500" y="2803075"/>
            <a:ext cx="40452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sz="1100" u="sng">
                <a:solidFill>
                  <a:schemeClr val="lt2"/>
                </a:solidFill>
                <a:hlinkClick r:id="rId3">
                  <a:extLst>
                    <a:ext uri="{A12FA001-AC4F-418D-AE19-62706E023703}">
                      <ahyp:hlinkClr val="tx"/>
                    </a:ext>
                  </a:extLst>
                </a:hlinkClick>
              </a:rPr>
              <a:t>https://www.desmos.com/calculator/acidu77shs</a:t>
            </a:r>
            <a:endParaRPr sz="1100">
              <a:solidFill>
                <a:schemeClr val="lt2"/>
              </a:solidFill>
            </a:endParaRPr>
          </a:p>
        </p:txBody>
      </p:sp>
      <p:pic>
        <p:nvPicPr>
          <p:cNvPr id="348" name="Google Shape;348;g3f9ebdf94e2_0_19"/>
          <p:cNvPicPr preferRelativeResize="0"/>
          <p:nvPr/>
        </p:nvPicPr>
        <p:blipFill>
          <a:blip r:embed="rId4">
            <a:alphaModFix/>
          </a:blip>
          <a:stretch>
            <a:fillRect/>
          </a:stretch>
        </p:blipFill>
        <p:spPr>
          <a:xfrm>
            <a:off x="4744025" y="1060575"/>
            <a:ext cx="4298700" cy="28689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3f9ebdf94e2_0_58"/>
          <p:cNvSpPr txBox="1"/>
          <p:nvPr/>
        </p:nvSpPr>
        <p:spPr>
          <a:xfrm>
            <a:off x="285720" y="9525"/>
            <a:ext cx="8572500" cy="10527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pt-BR" sz="3600">
                <a:solidFill>
                  <a:schemeClr val="dk1"/>
                </a:solidFill>
                <a:latin typeface="Calibri"/>
                <a:ea typeface="Calibri"/>
                <a:cs typeface="Calibri"/>
                <a:sym typeface="Calibri"/>
              </a:rPr>
              <a:t>Cosine similarity illustrated</a:t>
            </a:r>
            <a:endParaRPr sz="3600">
              <a:solidFill>
                <a:schemeClr val="dk1"/>
              </a:solidFill>
              <a:latin typeface="Calibri"/>
              <a:ea typeface="Calibri"/>
              <a:cs typeface="Calibri"/>
              <a:sym typeface="Calibri"/>
            </a:endParaRPr>
          </a:p>
        </p:txBody>
      </p:sp>
      <p:sp>
        <p:nvSpPr>
          <p:cNvPr id="355" name="Google Shape;355;g3f9ebdf94e2_0_58"/>
          <p:cNvSpPr txBox="1"/>
          <p:nvPr/>
        </p:nvSpPr>
        <p:spPr>
          <a:xfrm>
            <a:off x="285720" y="1607337"/>
            <a:ext cx="8286900" cy="2732400"/>
          </a:xfrm>
          <a:prstGeom prst="rect">
            <a:avLst/>
          </a:prstGeom>
          <a:noFill/>
          <a:ln>
            <a:noFill/>
          </a:ln>
        </p:spPr>
        <p:txBody>
          <a:bodyPr anchorCtr="0" anchor="t" bIns="45700" lIns="91425" spcFirstLastPara="1" rIns="91425" wrap="square" tIns="45700">
            <a:noAutofit/>
          </a:bodyPr>
          <a:lstStyle/>
          <a:p>
            <a:pPr indent="-133350" lvl="1" marL="742950" marR="0" rtl="0" algn="l">
              <a:spcBef>
                <a:spcPts val="0"/>
              </a:spcBef>
              <a:spcAft>
                <a:spcPts val="0"/>
              </a:spcAft>
              <a:buClr>
                <a:srgbClr val="336699"/>
              </a:buClr>
              <a:buSzPts val="2400"/>
              <a:buFont typeface="Noto Sans Symbols"/>
              <a:buNone/>
            </a:pPr>
            <a:r>
              <a:t/>
            </a:r>
            <a:endParaRPr b="0" i="0" sz="2400" u="none" cap="none" strike="noStrike">
              <a:solidFill>
                <a:schemeClr val="dk1"/>
              </a:solidFill>
              <a:latin typeface="Calibri"/>
              <a:ea typeface="Calibri"/>
              <a:cs typeface="Calibri"/>
              <a:sym typeface="Calibri"/>
            </a:endParaRPr>
          </a:p>
        </p:txBody>
      </p:sp>
      <p:sp>
        <p:nvSpPr>
          <p:cNvPr id="356" name="Google Shape;356;g3f9ebdf94e2_0_58"/>
          <p:cNvSpPr txBox="1"/>
          <p:nvPr/>
        </p:nvSpPr>
        <p:spPr>
          <a:xfrm>
            <a:off x="7640638" y="-25003"/>
            <a:ext cx="925500" cy="252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400"/>
              <a:buFont typeface="Times New Roman"/>
              <a:buNone/>
            </a:pPr>
            <a:r>
              <a:t/>
            </a:r>
            <a:endParaRPr sz="2400">
              <a:solidFill>
                <a:schemeClr val="lt1"/>
              </a:solidFill>
              <a:latin typeface="Lucida Sans"/>
              <a:ea typeface="Lucida Sans"/>
              <a:cs typeface="Lucida Sans"/>
              <a:sym typeface="Lucida Sans"/>
            </a:endParaRPr>
          </a:p>
        </p:txBody>
      </p:sp>
      <p:pic>
        <p:nvPicPr>
          <p:cNvPr descr="654.png" id="357" name="Google Shape;357;g3f9ebdf94e2_0_58"/>
          <p:cNvPicPr preferRelativeResize="0"/>
          <p:nvPr/>
        </p:nvPicPr>
        <p:blipFill rotWithShape="1">
          <a:blip r:embed="rId3">
            <a:alphaModFix/>
          </a:blip>
          <a:srcRect b="0" l="0" r="0" t="0"/>
          <a:stretch/>
        </p:blipFill>
        <p:spPr>
          <a:xfrm>
            <a:off x="1071538" y="1446602"/>
            <a:ext cx="3870520" cy="2921321"/>
          </a:xfrm>
          <a:prstGeom prst="rect">
            <a:avLst/>
          </a:prstGeom>
          <a:noFill/>
          <a:ln>
            <a:noFill/>
          </a:ln>
        </p:spPr>
      </p:pic>
      <p:sp>
        <p:nvSpPr>
          <p:cNvPr id="358" name="Google Shape;358;g3f9ebdf94e2_0_58"/>
          <p:cNvSpPr txBox="1"/>
          <p:nvPr/>
        </p:nvSpPr>
        <p:spPr>
          <a:xfrm>
            <a:off x="5672825" y="4211100"/>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3f9ebdf94e2_0_68"/>
          <p:cNvSpPr txBox="1"/>
          <p:nvPr/>
        </p:nvSpPr>
        <p:spPr>
          <a:xfrm>
            <a:off x="285720" y="9525"/>
            <a:ext cx="8572500" cy="10527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pt-BR" sz="3200">
                <a:solidFill>
                  <a:schemeClr val="dk1"/>
                </a:solidFill>
                <a:latin typeface="Comfortaa"/>
                <a:ea typeface="Comfortaa"/>
                <a:cs typeface="Comfortaa"/>
                <a:sym typeface="Comfortaa"/>
              </a:rPr>
              <a:t>Cosine: Example</a:t>
            </a:r>
            <a:endParaRPr sz="3200">
              <a:solidFill>
                <a:schemeClr val="dk1"/>
              </a:solidFill>
              <a:latin typeface="Comfortaa"/>
              <a:ea typeface="Comfortaa"/>
              <a:cs typeface="Comfortaa"/>
              <a:sym typeface="Comfortaa"/>
            </a:endParaRPr>
          </a:p>
        </p:txBody>
      </p:sp>
      <p:sp>
        <p:nvSpPr>
          <p:cNvPr id="365" name="Google Shape;365;g3f9ebdf94e2_0_68"/>
          <p:cNvSpPr txBox="1"/>
          <p:nvPr/>
        </p:nvSpPr>
        <p:spPr>
          <a:xfrm>
            <a:off x="357158" y="1285866"/>
            <a:ext cx="8143800" cy="2732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2000">
                <a:solidFill>
                  <a:schemeClr val="dk1"/>
                </a:solidFill>
                <a:latin typeface="Comfortaa"/>
                <a:ea typeface="Comfortaa"/>
                <a:cs typeface="Comfortaa"/>
                <a:sym typeface="Comfortaa"/>
              </a:rPr>
              <a:t>                                                          term frequencies (counts)</a:t>
            </a:r>
            <a:endParaRPr sz="1000">
              <a:latin typeface="Comfortaa"/>
              <a:ea typeface="Comfortaa"/>
              <a:cs typeface="Comfortaa"/>
              <a:sym typeface="Comfortaa"/>
            </a:endParaRPr>
          </a:p>
          <a:p>
            <a:pPr indent="0" lvl="0" marL="0" marR="0" rtl="0" algn="l">
              <a:spcBef>
                <a:spcPts val="0"/>
              </a:spcBef>
              <a:spcAft>
                <a:spcPts val="0"/>
              </a:spcAft>
              <a:buNone/>
            </a:pPr>
            <a:r>
              <a:t/>
            </a:r>
            <a:endParaRPr sz="2000">
              <a:solidFill>
                <a:schemeClr val="dk1"/>
              </a:solidFill>
              <a:latin typeface="Comfortaa"/>
              <a:ea typeface="Comfortaa"/>
              <a:cs typeface="Comfortaa"/>
              <a:sym typeface="Comfortaa"/>
            </a:endParaRPr>
          </a:p>
          <a:p>
            <a:pPr indent="-285750" lvl="1" marL="742950" marR="0" rtl="0" algn="l">
              <a:spcBef>
                <a:spcPts val="0"/>
              </a:spcBef>
              <a:spcAft>
                <a:spcPts val="0"/>
              </a:spcAft>
              <a:buNone/>
            </a:pPr>
            <a:r>
              <a:rPr i="0" lang="pt-BR" sz="2000" u="none" cap="none" strike="noStrike">
                <a:solidFill>
                  <a:schemeClr val="dk1"/>
                </a:solidFill>
                <a:latin typeface="Comfortaa"/>
                <a:ea typeface="Comfortaa"/>
                <a:cs typeface="Comfortaa"/>
                <a:sym typeface="Comfortaa"/>
              </a:rPr>
              <a:t>How similar are</a:t>
            </a:r>
            <a:endParaRPr i="0" sz="2000" u="none" cap="none" strike="noStrike">
              <a:solidFill>
                <a:schemeClr val="dk1"/>
              </a:solidFill>
              <a:latin typeface="Comfortaa"/>
              <a:ea typeface="Comfortaa"/>
              <a:cs typeface="Comfortaa"/>
              <a:sym typeface="Comfortaa"/>
            </a:endParaRPr>
          </a:p>
          <a:p>
            <a:pPr indent="-285750" lvl="1" marL="742950" marR="0" rtl="0" algn="l">
              <a:spcBef>
                <a:spcPts val="0"/>
              </a:spcBef>
              <a:spcAft>
                <a:spcPts val="0"/>
              </a:spcAft>
              <a:buNone/>
            </a:pPr>
            <a:r>
              <a:rPr i="0" lang="pt-BR" sz="2000" u="none" cap="none" strike="noStrike">
                <a:solidFill>
                  <a:schemeClr val="dk1"/>
                </a:solidFill>
                <a:latin typeface="Comfortaa"/>
                <a:ea typeface="Comfortaa"/>
                <a:cs typeface="Comfortaa"/>
                <a:sym typeface="Comfortaa"/>
              </a:rPr>
              <a:t>these novels? SaS:</a:t>
            </a:r>
            <a:endParaRPr sz="1000">
              <a:latin typeface="Comfortaa"/>
              <a:ea typeface="Comfortaa"/>
              <a:cs typeface="Comfortaa"/>
              <a:sym typeface="Comfortaa"/>
            </a:endParaRPr>
          </a:p>
          <a:p>
            <a:pPr indent="-285750" lvl="1" marL="742950" marR="0" rtl="0" algn="l">
              <a:spcBef>
                <a:spcPts val="0"/>
              </a:spcBef>
              <a:spcAft>
                <a:spcPts val="0"/>
              </a:spcAft>
              <a:buNone/>
            </a:pPr>
            <a:r>
              <a:rPr i="0" lang="pt-BR" sz="2000" u="none" cap="none" strike="noStrike">
                <a:solidFill>
                  <a:schemeClr val="dk1"/>
                </a:solidFill>
                <a:latin typeface="Comfortaa"/>
                <a:ea typeface="Comfortaa"/>
                <a:cs typeface="Comfortaa"/>
                <a:sym typeface="Comfortaa"/>
              </a:rPr>
              <a:t>Sense and</a:t>
            </a:r>
            <a:endParaRPr i="0" sz="2000" u="none" cap="none" strike="noStrike">
              <a:solidFill>
                <a:schemeClr val="dk1"/>
              </a:solidFill>
              <a:latin typeface="Comfortaa"/>
              <a:ea typeface="Comfortaa"/>
              <a:cs typeface="Comfortaa"/>
              <a:sym typeface="Comfortaa"/>
            </a:endParaRPr>
          </a:p>
          <a:p>
            <a:pPr indent="-285750" lvl="1" marL="742950" marR="0" rtl="0" algn="l">
              <a:spcBef>
                <a:spcPts val="0"/>
              </a:spcBef>
              <a:spcAft>
                <a:spcPts val="0"/>
              </a:spcAft>
              <a:buNone/>
            </a:pPr>
            <a:r>
              <a:rPr i="0" lang="pt-BR" sz="2000" u="none" cap="none" strike="noStrike">
                <a:solidFill>
                  <a:schemeClr val="dk1"/>
                </a:solidFill>
                <a:latin typeface="Comfortaa"/>
                <a:ea typeface="Comfortaa"/>
                <a:cs typeface="Comfortaa"/>
                <a:sym typeface="Comfortaa"/>
              </a:rPr>
              <a:t>Sensibility PaP:</a:t>
            </a:r>
            <a:endParaRPr sz="1000">
              <a:latin typeface="Comfortaa"/>
              <a:ea typeface="Comfortaa"/>
              <a:cs typeface="Comfortaa"/>
              <a:sym typeface="Comfortaa"/>
            </a:endParaRPr>
          </a:p>
          <a:p>
            <a:pPr indent="-285750" lvl="1" marL="742950" marR="0" rtl="0" algn="l">
              <a:spcBef>
                <a:spcPts val="0"/>
              </a:spcBef>
              <a:spcAft>
                <a:spcPts val="0"/>
              </a:spcAft>
              <a:buNone/>
            </a:pPr>
            <a:r>
              <a:rPr i="0" lang="pt-BR" sz="2000" u="none" cap="none" strike="noStrike">
                <a:solidFill>
                  <a:schemeClr val="dk1"/>
                </a:solidFill>
                <a:latin typeface="Comfortaa"/>
                <a:ea typeface="Comfortaa"/>
                <a:cs typeface="Comfortaa"/>
                <a:sym typeface="Comfortaa"/>
              </a:rPr>
              <a:t>Pride and</a:t>
            </a:r>
            <a:endParaRPr i="0" sz="2000" u="none" cap="none" strike="noStrike">
              <a:solidFill>
                <a:schemeClr val="dk1"/>
              </a:solidFill>
              <a:latin typeface="Comfortaa"/>
              <a:ea typeface="Comfortaa"/>
              <a:cs typeface="Comfortaa"/>
              <a:sym typeface="Comfortaa"/>
            </a:endParaRPr>
          </a:p>
          <a:p>
            <a:pPr indent="-285750" lvl="1" marL="742950" marR="0" rtl="0" algn="l">
              <a:spcBef>
                <a:spcPts val="0"/>
              </a:spcBef>
              <a:spcAft>
                <a:spcPts val="0"/>
              </a:spcAft>
              <a:buNone/>
            </a:pPr>
            <a:r>
              <a:rPr i="0" lang="pt-BR" sz="2000" u="none" cap="none" strike="noStrike">
                <a:solidFill>
                  <a:schemeClr val="dk1"/>
                </a:solidFill>
                <a:latin typeface="Comfortaa"/>
                <a:ea typeface="Comfortaa"/>
                <a:cs typeface="Comfortaa"/>
                <a:sym typeface="Comfortaa"/>
              </a:rPr>
              <a:t>Prejudice WH:</a:t>
            </a:r>
            <a:endParaRPr sz="1000">
              <a:latin typeface="Comfortaa"/>
              <a:ea typeface="Comfortaa"/>
              <a:cs typeface="Comfortaa"/>
              <a:sym typeface="Comfortaa"/>
            </a:endParaRPr>
          </a:p>
          <a:p>
            <a:pPr indent="-285750" lvl="1" marL="742950" marR="0" rtl="0" algn="l">
              <a:spcBef>
                <a:spcPts val="0"/>
              </a:spcBef>
              <a:spcAft>
                <a:spcPts val="0"/>
              </a:spcAft>
              <a:buNone/>
            </a:pPr>
            <a:r>
              <a:rPr i="0" lang="pt-BR" sz="2000" u="none" cap="none" strike="noStrike">
                <a:solidFill>
                  <a:schemeClr val="dk1"/>
                </a:solidFill>
                <a:latin typeface="Comfortaa"/>
                <a:ea typeface="Comfortaa"/>
                <a:cs typeface="Comfortaa"/>
                <a:sym typeface="Comfortaa"/>
              </a:rPr>
              <a:t>Wuthering</a:t>
            </a:r>
            <a:endParaRPr sz="1000">
              <a:latin typeface="Comfortaa"/>
              <a:ea typeface="Comfortaa"/>
              <a:cs typeface="Comfortaa"/>
              <a:sym typeface="Comfortaa"/>
            </a:endParaRPr>
          </a:p>
          <a:p>
            <a:pPr indent="-285750" lvl="1" marL="742950" marR="0" rtl="0" algn="l">
              <a:spcBef>
                <a:spcPts val="0"/>
              </a:spcBef>
              <a:spcAft>
                <a:spcPts val="0"/>
              </a:spcAft>
              <a:buNone/>
            </a:pPr>
            <a:r>
              <a:rPr i="0" lang="pt-BR" sz="2000" u="none" cap="none" strike="noStrike">
                <a:solidFill>
                  <a:schemeClr val="dk1"/>
                </a:solidFill>
                <a:latin typeface="Comfortaa"/>
                <a:ea typeface="Comfortaa"/>
                <a:cs typeface="Comfortaa"/>
                <a:sym typeface="Comfortaa"/>
              </a:rPr>
              <a:t>Heights</a:t>
            </a:r>
            <a:endParaRPr i="0" sz="2000" u="none" cap="none" strike="noStrike">
              <a:solidFill>
                <a:schemeClr val="dk1"/>
              </a:solidFill>
              <a:latin typeface="Comfortaa"/>
              <a:ea typeface="Comfortaa"/>
              <a:cs typeface="Comfortaa"/>
              <a:sym typeface="Comfortaa"/>
            </a:endParaRPr>
          </a:p>
        </p:txBody>
      </p:sp>
      <p:sp>
        <p:nvSpPr>
          <p:cNvPr id="366" name="Google Shape;366;g3f9ebdf94e2_0_68"/>
          <p:cNvSpPr txBox="1"/>
          <p:nvPr/>
        </p:nvSpPr>
        <p:spPr>
          <a:xfrm>
            <a:off x="7640638" y="-25003"/>
            <a:ext cx="925500" cy="252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400"/>
              <a:buFont typeface="Times New Roman"/>
              <a:buNone/>
            </a:pPr>
            <a:r>
              <a:t/>
            </a:r>
            <a:endParaRPr sz="2000">
              <a:solidFill>
                <a:schemeClr val="lt1"/>
              </a:solidFill>
              <a:latin typeface="Comfortaa"/>
              <a:ea typeface="Comfortaa"/>
              <a:cs typeface="Comfortaa"/>
              <a:sym typeface="Comfortaa"/>
            </a:endParaRPr>
          </a:p>
        </p:txBody>
      </p:sp>
      <p:graphicFrame>
        <p:nvGraphicFramePr>
          <p:cNvPr id="367" name="Google Shape;367;g3f9ebdf94e2_0_68"/>
          <p:cNvGraphicFramePr/>
          <p:nvPr/>
        </p:nvGraphicFramePr>
        <p:xfrm>
          <a:off x="3786182" y="1813089"/>
          <a:ext cx="3000000" cy="3000000"/>
        </p:xfrm>
        <a:graphic>
          <a:graphicData uri="http://schemas.openxmlformats.org/drawingml/2006/table">
            <a:tbl>
              <a:tblPr bandRow="1" firstRow="1">
                <a:noFill/>
                <a:tableStyleId>{2AFFE05A-0F0C-4C9B-8F10-4FA16DCC8F30}</a:tableStyleId>
              </a:tblPr>
              <a:tblGrid>
                <a:gridCol w="1785950"/>
                <a:gridCol w="928700"/>
                <a:gridCol w="1071575"/>
                <a:gridCol w="857225"/>
              </a:tblGrid>
              <a:tr h="267550">
                <a:tc>
                  <a:txBody>
                    <a:bodyPr/>
                    <a:lstStyle/>
                    <a:p>
                      <a:pPr indent="0" lvl="0" marL="0" marR="0" rtl="0" algn="l">
                        <a:spcBef>
                          <a:spcPts val="0"/>
                        </a:spcBef>
                        <a:spcAft>
                          <a:spcPts val="0"/>
                        </a:spcAft>
                        <a:buNone/>
                      </a:pPr>
                      <a:r>
                        <a:rPr b="0" lang="pt-BR">
                          <a:latin typeface="Comfortaa"/>
                          <a:ea typeface="Comfortaa"/>
                          <a:cs typeface="Comfortaa"/>
                          <a:sym typeface="Comfortaa"/>
                        </a:rPr>
                        <a:t>term</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a:latin typeface="Comfortaa"/>
                          <a:ea typeface="Comfortaa"/>
                          <a:cs typeface="Comfortaa"/>
                          <a:sym typeface="Comfortaa"/>
                        </a:rPr>
                        <a:t>SaS</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a:latin typeface="Comfortaa"/>
                          <a:ea typeface="Comfortaa"/>
                          <a:cs typeface="Comfortaa"/>
                          <a:sym typeface="Comfortaa"/>
                        </a:rPr>
                        <a:t>PaP</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a:latin typeface="Comfortaa"/>
                          <a:ea typeface="Comfortaa"/>
                          <a:cs typeface="Comfortaa"/>
                          <a:sym typeface="Comfortaa"/>
                        </a:rPr>
                        <a:t>WH</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r>
              <a:tr h="857600">
                <a:tc>
                  <a:txBody>
                    <a:bodyPr/>
                    <a:lstStyle/>
                    <a:p>
                      <a:pPr indent="0" lvl="0" marL="0" marR="0" rtl="0" algn="l">
                        <a:spcBef>
                          <a:spcPts val="0"/>
                        </a:spcBef>
                        <a:spcAft>
                          <a:spcPts val="0"/>
                        </a:spcAft>
                        <a:buNone/>
                      </a:pPr>
                      <a:r>
                        <a:rPr lang="pt-BR" sz="1300">
                          <a:latin typeface="Comfortaa"/>
                          <a:ea typeface="Comfortaa"/>
                          <a:cs typeface="Comfortaa"/>
                          <a:sym typeface="Comfortaa"/>
                        </a:rPr>
                        <a:t>AFFECTION</a:t>
                      </a:r>
                      <a:endParaRPr sz="700">
                        <a:latin typeface="Comfortaa"/>
                        <a:ea typeface="Comfortaa"/>
                        <a:cs typeface="Comfortaa"/>
                        <a:sym typeface="Comfortaa"/>
                      </a:endParaRPr>
                    </a:p>
                    <a:p>
                      <a:pPr indent="0" lvl="0" marL="0" marR="0" rtl="0" algn="l">
                        <a:spcBef>
                          <a:spcPts val="0"/>
                        </a:spcBef>
                        <a:spcAft>
                          <a:spcPts val="0"/>
                        </a:spcAft>
                        <a:buNone/>
                      </a:pPr>
                      <a:r>
                        <a:rPr lang="pt-BR" sz="1300">
                          <a:latin typeface="Comfortaa"/>
                          <a:ea typeface="Comfortaa"/>
                          <a:cs typeface="Comfortaa"/>
                          <a:sym typeface="Comfortaa"/>
                        </a:rPr>
                        <a:t>JEALOUS</a:t>
                      </a:r>
                      <a:endParaRPr sz="700">
                        <a:latin typeface="Comfortaa"/>
                        <a:ea typeface="Comfortaa"/>
                        <a:cs typeface="Comfortaa"/>
                        <a:sym typeface="Comfortaa"/>
                      </a:endParaRPr>
                    </a:p>
                    <a:p>
                      <a:pPr indent="0" lvl="0" marL="0" marR="0" rtl="0" algn="l">
                        <a:spcBef>
                          <a:spcPts val="0"/>
                        </a:spcBef>
                        <a:spcAft>
                          <a:spcPts val="0"/>
                        </a:spcAft>
                        <a:buNone/>
                      </a:pPr>
                      <a:r>
                        <a:rPr lang="pt-BR" sz="1300">
                          <a:latin typeface="Comfortaa"/>
                          <a:ea typeface="Comfortaa"/>
                          <a:cs typeface="Comfortaa"/>
                          <a:sym typeface="Comfortaa"/>
                        </a:rPr>
                        <a:t>GOSSIP</a:t>
                      </a:r>
                      <a:endParaRPr sz="700">
                        <a:latin typeface="Comfortaa"/>
                        <a:ea typeface="Comfortaa"/>
                        <a:cs typeface="Comfortaa"/>
                        <a:sym typeface="Comfortaa"/>
                      </a:endParaRPr>
                    </a:p>
                    <a:p>
                      <a:pPr indent="0" lvl="0" marL="0" marR="0" rtl="0" algn="l">
                        <a:spcBef>
                          <a:spcPts val="0"/>
                        </a:spcBef>
                        <a:spcAft>
                          <a:spcPts val="0"/>
                        </a:spcAft>
                        <a:buNone/>
                      </a:pPr>
                      <a:r>
                        <a:rPr lang="pt-BR" sz="1300">
                          <a:latin typeface="Comfortaa"/>
                          <a:ea typeface="Comfortaa"/>
                          <a:cs typeface="Comfortaa"/>
                          <a:sym typeface="Comfortaa"/>
                        </a:rPr>
                        <a:t>WUTHERING</a:t>
                      </a:r>
                      <a:endParaRPr sz="13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a:latin typeface="Comfortaa"/>
                          <a:ea typeface="Comfortaa"/>
                          <a:cs typeface="Comfortaa"/>
                          <a:sym typeface="Comfortaa"/>
                        </a:rPr>
                        <a:t>115</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10</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2</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0</a:t>
                      </a:r>
                      <a:endParaRPr sz="7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a:latin typeface="Comfortaa"/>
                          <a:ea typeface="Comfortaa"/>
                          <a:cs typeface="Comfortaa"/>
                          <a:sym typeface="Comfortaa"/>
                        </a:rPr>
                        <a:t>58</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7</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0</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0</a:t>
                      </a:r>
                      <a:endParaRPr sz="7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a:latin typeface="Comfortaa"/>
                          <a:ea typeface="Comfortaa"/>
                          <a:cs typeface="Comfortaa"/>
                          <a:sym typeface="Comfortaa"/>
                        </a:rPr>
                        <a:t>20</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11</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6</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38</a:t>
                      </a:r>
                      <a:endParaRPr>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r>
            </a:tbl>
          </a:graphicData>
        </a:graphic>
      </p:graphicFrame>
      <p:sp>
        <p:nvSpPr>
          <p:cNvPr id="368" name="Google Shape;368;g3f9ebdf94e2_0_68"/>
          <p:cNvSpPr txBox="1"/>
          <p:nvPr/>
        </p:nvSpPr>
        <p:spPr>
          <a:xfrm>
            <a:off x="5844725" y="120850"/>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f9ebdf94e2_0_78"/>
          <p:cNvSpPr txBox="1"/>
          <p:nvPr/>
        </p:nvSpPr>
        <p:spPr>
          <a:xfrm>
            <a:off x="285720" y="9525"/>
            <a:ext cx="8572500" cy="10527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pt-BR" sz="3200">
                <a:solidFill>
                  <a:schemeClr val="dk1"/>
                </a:solidFill>
                <a:latin typeface="Comfortaa"/>
                <a:ea typeface="Comfortaa"/>
                <a:cs typeface="Comfortaa"/>
                <a:sym typeface="Comfortaa"/>
              </a:rPr>
              <a:t>Cosine: Example</a:t>
            </a:r>
            <a:endParaRPr sz="3200">
              <a:solidFill>
                <a:schemeClr val="dk1"/>
              </a:solidFill>
              <a:latin typeface="Comfortaa"/>
              <a:ea typeface="Comfortaa"/>
              <a:cs typeface="Comfortaa"/>
              <a:sym typeface="Comfortaa"/>
            </a:endParaRPr>
          </a:p>
        </p:txBody>
      </p:sp>
      <p:sp>
        <p:nvSpPr>
          <p:cNvPr id="375" name="Google Shape;375;g3f9ebdf94e2_0_78"/>
          <p:cNvSpPr txBox="1"/>
          <p:nvPr/>
        </p:nvSpPr>
        <p:spPr>
          <a:xfrm>
            <a:off x="357150" y="1285875"/>
            <a:ext cx="8501100" cy="421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2000">
                <a:solidFill>
                  <a:schemeClr val="dk1"/>
                </a:solidFill>
                <a:latin typeface="Comfortaa"/>
                <a:ea typeface="Comfortaa"/>
                <a:cs typeface="Comfortaa"/>
                <a:sym typeface="Comfortaa"/>
              </a:rPr>
              <a:t>         term frequencies (counts)               log frequency weighting</a:t>
            </a:r>
            <a:endParaRPr sz="20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20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20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20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20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20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20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20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2000">
              <a:solidFill>
                <a:schemeClr val="dk1"/>
              </a:solidFill>
              <a:latin typeface="Comfortaa"/>
              <a:ea typeface="Comfortaa"/>
              <a:cs typeface="Comfortaa"/>
              <a:sym typeface="Comfortaa"/>
            </a:endParaRPr>
          </a:p>
          <a:p>
            <a:pPr indent="0" lvl="0" marL="0" marR="0" rtl="0" algn="l">
              <a:spcBef>
                <a:spcPts val="0"/>
              </a:spcBef>
              <a:spcAft>
                <a:spcPts val="0"/>
              </a:spcAft>
              <a:buNone/>
            </a:pPr>
            <a:r>
              <a:rPr lang="pt-BR" sz="2000">
                <a:solidFill>
                  <a:schemeClr val="dk1"/>
                </a:solidFill>
                <a:latin typeface="Comfortaa"/>
                <a:ea typeface="Comfortaa"/>
                <a:cs typeface="Comfortaa"/>
                <a:sym typeface="Comfortaa"/>
              </a:rPr>
              <a:t>          (To simplify this example, we don</a:t>
            </a:r>
            <a:r>
              <a:rPr baseline="30000" lang="pt-BR" sz="2000">
                <a:solidFill>
                  <a:schemeClr val="dk1"/>
                </a:solidFill>
                <a:latin typeface="Comfortaa"/>
                <a:ea typeface="Comfortaa"/>
                <a:cs typeface="Comfortaa"/>
                <a:sym typeface="Comfortaa"/>
              </a:rPr>
              <a:t>'</a:t>
            </a:r>
            <a:r>
              <a:rPr lang="pt-BR" sz="2000">
                <a:solidFill>
                  <a:schemeClr val="dk1"/>
                </a:solidFill>
                <a:latin typeface="Comfortaa"/>
                <a:ea typeface="Comfortaa"/>
                <a:cs typeface="Comfortaa"/>
                <a:sym typeface="Comfortaa"/>
              </a:rPr>
              <a:t>t do idf weighting.)</a:t>
            </a:r>
            <a:endParaRPr sz="1000">
              <a:latin typeface="Comfortaa"/>
              <a:ea typeface="Comfortaa"/>
              <a:cs typeface="Comfortaa"/>
              <a:sym typeface="Comfortaa"/>
            </a:endParaRPr>
          </a:p>
          <a:p>
            <a:pPr indent="0" lvl="0" marL="0" marR="0" rtl="0" algn="l">
              <a:spcBef>
                <a:spcPts val="0"/>
              </a:spcBef>
              <a:spcAft>
                <a:spcPts val="0"/>
              </a:spcAft>
              <a:buNone/>
            </a:pPr>
            <a:r>
              <a:t/>
            </a:r>
            <a:endParaRPr sz="2000">
              <a:solidFill>
                <a:schemeClr val="dk1"/>
              </a:solidFill>
              <a:latin typeface="Comfortaa"/>
              <a:ea typeface="Comfortaa"/>
              <a:cs typeface="Comfortaa"/>
              <a:sym typeface="Comfortaa"/>
            </a:endParaRPr>
          </a:p>
        </p:txBody>
      </p:sp>
      <p:sp>
        <p:nvSpPr>
          <p:cNvPr id="376" name="Google Shape;376;g3f9ebdf94e2_0_78"/>
          <p:cNvSpPr txBox="1"/>
          <p:nvPr/>
        </p:nvSpPr>
        <p:spPr>
          <a:xfrm>
            <a:off x="7640638" y="-25003"/>
            <a:ext cx="925500" cy="252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400"/>
              <a:buFont typeface="Times New Roman"/>
              <a:buNone/>
            </a:pPr>
            <a:r>
              <a:t/>
            </a:r>
            <a:endParaRPr sz="2000">
              <a:solidFill>
                <a:schemeClr val="lt1"/>
              </a:solidFill>
              <a:latin typeface="Comfortaa"/>
              <a:ea typeface="Comfortaa"/>
              <a:cs typeface="Comfortaa"/>
              <a:sym typeface="Comfortaa"/>
            </a:endParaRPr>
          </a:p>
        </p:txBody>
      </p:sp>
      <p:graphicFrame>
        <p:nvGraphicFramePr>
          <p:cNvPr id="377" name="Google Shape;377;g3f9ebdf94e2_0_78"/>
          <p:cNvGraphicFramePr/>
          <p:nvPr/>
        </p:nvGraphicFramePr>
        <p:xfrm>
          <a:off x="4643438" y="1813089"/>
          <a:ext cx="3000000" cy="3000000"/>
        </p:xfrm>
        <a:graphic>
          <a:graphicData uri="http://schemas.openxmlformats.org/drawingml/2006/table">
            <a:tbl>
              <a:tblPr bandRow="1" firstRow="1">
                <a:noFill/>
                <a:tableStyleId>{2AFFE05A-0F0C-4C9B-8F10-4FA16DCC8F30}</a:tableStyleId>
              </a:tblPr>
              <a:tblGrid>
                <a:gridCol w="1643075"/>
                <a:gridCol w="928700"/>
                <a:gridCol w="785825"/>
                <a:gridCol w="857250"/>
              </a:tblGrid>
              <a:tr h="330050">
                <a:tc>
                  <a:txBody>
                    <a:bodyPr/>
                    <a:lstStyle/>
                    <a:p>
                      <a:pPr indent="0" lvl="0" marL="0" marR="0" rtl="0" algn="l">
                        <a:spcBef>
                          <a:spcPts val="0"/>
                        </a:spcBef>
                        <a:spcAft>
                          <a:spcPts val="0"/>
                        </a:spcAft>
                        <a:buNone/>
                      </a:pPr>
                      <a:r>
                        <a:rPr b="0" lang="pt-BR">
                          <a:latin typeface="Comfortaa"/>
                          <a:ea typeface="Comfortaa"/>
                          <a:cs typeface="Comfortaa"/>
                          <a:sym typeface="Comfortaa"/>
                        </a:rPr>
                        <a:t>term</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a:latin typeface="Comfortaa"/>
                          <a:ea typeface="Comfortaa"/>
                          <a:cs typeface="Comfortaa"/>
                          <a:sym typeface="Comfortaa"/>
                        </a:rPr>
                        <a:t>SaS</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a:latin typeface="Comfortaa"/>
                          <a:ea typeface="Comfortaa"/>
                          <a:cs typeface="Comfortaa"/>
                          <a:sym typeface="Comfortaa"/>
                        </a:rPr>
                        <a:t>PaP</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a:latin typeface="Comfortaa"/>
                          <a:ea typeface="Comfortaa"/>
                          <a:cs typeface="Comfortaa"/>
                          <a:sym typeface="Comfortaa"/>
                        </a:rPr>
                        <a:t>WH</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r>
              <a:tr h="857600">
                <a:tc>
                  <a:txBody>
                    <a:bodyPr/>
                    <a:lstStyle/>
                    <a:p>
                      <a:pPr indent="0" lvl="0" marL="0" marR="0" rtl="0" algn="l">
                        <a:spcBef>
                          <a:spcPts val="0"/>
                        </a:spcBef>
                        <a:spcAft>
                          <a:spcPts val="0"/>
                        </a:spcAft>
                        <a:buNone/>
                      </a:pPr>
                      <a:r>
                        <a:rPr lang="pt-BR" sz="1300">
                          <a:latin typeface="Comfortaa"/>
                          <a:ea typeface="Comfortaa"/>
                          <a:cs typeface="Comfortaa"/>
                          <a:sym typeface="Comfortaa"/>
                        </a:rPr>
                        <a:t>AFFECTION</a:t>
                      </a:r>
                      <a:endParaRPr sz="700">
                        <a:latin typeface="Comfortaa"/>
                        <a:ea typeface="Comfortaa"/>
                        <a:cs typeface="Comfortaa"/>
                        <a:sym typeface="Comfortaa"/>
                      </a:endParaRPr>
                    </a:p>
                    <a:p>
                      <a:pPr indent="0" lvl="0" marL="0" marR="0" rtl="0" algn="l">
                        <a:spcBef>
                          <a:spcPts val="0"/>
                        </a:spcBef>
                        <a:spcAft>
                          <a:spcPts val="0"/>
                        </a:spcAft>
                        <a:buNone/>
                      </a:pPr>
                      <a:r>
                        <a:rPr lang="pt-BR" sz="1300">
                          <a:latin typeface="Comfortaa"/>
                          <a:ea typeface="Comfortaa"/>
                          <a:cs typeface="Comfortaa"/>
                          <a:sym typeface="Comfortaa"/>
                        </a:rPr>
                        <a:t>JEALOUS</a:t>
                      </a:r>
                      <a:endParaRPr sz="700">
                        <a:latin typeface="Comfortaa"/>
                        <a:ea typeface="Comfortaa"/>
                        <a:cs typeface="Comfortaa"/>
                        <a:sym typeface="Comfortaa"/>
                      </a:endParaRPr>
                    </a:p>
                    <a:p>
                      <a:pPr indent="0" lvl="0" marL="0" marR="0" rtl="0" algn="l">
                        <a:spcBef>
                          <a:spcPts val="0"/>
                        </a:spcBef>
                        <a:spcAft>
                          <a:spcPts val="0"/>
                        </a:spcAft>
                        <a:buNone/>
                      </a:pPr>
                      <a:r>
                        <a:rPr lang="pt-BR" sz="1300">
                          <a:latin typeface="Comfortaa"/>
                          <a:ea typeface="Comfortaa"/>
                          <a:cs typeface="Comfortaa"/>
                          <a:sym typeface="Comfortaa"/>
                        </a:rPr>
                        <a:t>GOSSIP</a:t>
                      </a:r>
                      <a:endParaRPr sz="700">
                        <a:latin typeface="Comfortaa"/>
                        <a:ea typeface="Comfortaa"/>
                        <a:cs typeface="Comfortaa"/>
                        <a:sym typeface="Comfortaa"/>
                      </a:endParaRPr>
                    </a:p>
                    <a:p>
                      <a:pPr indent="0" lvl="0" marL="0" marR="0" rtl="0" algn="l">
                        <a:spcBef>
                          <a:spcPts val="0"/>
                        </a:spcBef>
                        <a:spcAft>
                          <a:spcPts val="0"/>
                        </a:spcAft>
                        <a:buNone/>
                      </a:pPr>
                      <a:r>
                        <a:rPr lang="pt-BR" sz="1300">
                          <a:latin typeface="Comfortaa"/>
                          <a:ea typeface="Comfortaa"/>
                          <a:cs typeface="Comfortaa"/>
                          <a:sym typeface="Comfortaa"/>
                        </a:rPr>
                        <a:t>WUTHERING</a:t>
                      </a:r>
                      <a:endParaRPr sz="13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a:latin typeface="Comfortaa"/>
                          <a:ea typeface="Comfortaa"/>
                          <a:cs typeface="Comfortaa"/>
                          <a:sym typeface="Comfortaa"/>
                        </a:rPr>
                        <a:t>3.06</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2.0</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1.30</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0</a:t>
                      </a:r>
                      <a:endParaRPr sz="10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a:latin typeface="Comfortaa"/>
                          <a:ea typeface="Comfortaa"/>
                          <a:cs typeface="Comfortaa"/>
                          <a:sym typeface="Comfortaa"/>
                        </a:rPr>
                        <a:t>2.76</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1.85</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0</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0</a:t>
                      </a:r>
                      <a:endParaRPr>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a:latin typeface="Comfortaa"/>
                          <a:ea typeface="Comfortaa"/>
                          <a:cs typeface="Comfortaa"/>
                          <a:sym typeface="Comfortaa"/>
                        </a:rPr>
                        <a:t>2.30</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2.04</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1.78</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2.58</a:t>
                      </a:r>
                      <a:endParaRPr>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r>
            </a:tbl>
          </a:graphicData>
        </a:graphic>
      </p:graphicFrame>
      <p:graphicFrame>
        <p:nvGraphicFramePr>
          <p:cNvPr id="378" name="Google Shape;378;g3f9ebdf94e2_0_78"/>
          <p:cNvGraphicFramePr/>
          <p:nvPr/>
        </p:nvGraphicFramePr>
        <p:xfrm>
          <a:off x="785786" y="1821651"/>
          <a:ext cx="3000000" cy="3000000"/>
        </p:xfrm>
        <a:graphic>
          <a:graphicData uri="http://schemas.openxmlformats.org/drawingml/2006/table">
            <a:tbl>
              <a:tblPr bandRow="1" firstRow="1">
                <a:noFill/>
                <a:tableStyleId>{2AFFE05A-0F0C-4C9B-8F10-4FA16DCC8F30}</a:tableStyleId>
              </a:tblPr>
              <a:tblGrid>
                <a:gridCol w="1643075"/>
                <a:gridCol w="714375"/>
                <a:gridCol w="642950"/>
                <a:gridCol w="714375"/>
              </a:tblGrid>
              <a:tr h="330050">
                <a:tc>
                  <a:txBody>
                    <a:bodyPr/>
                    <a:lstStyle/>
                    <a:p>
                      <a:pPr indent="0" lvl="0" marL="0" marR="0" rtl="0" algn="l">
                        <a:spcBef>
                          <a:spcPts val="0"/>
                        </a:spcBef>
                        <a:spcAft>
                          <a:spcPts val="0"/>
                        </a:spcAft>
                        <a:buNone/>
                      </a:pPr>
                      <a:r>
                        <a:rPr b="0" lang="pt-BR">
                          <a:latin typeface="Comfortaa"/>
                          <a:ea typeface="Comfortaa"/>
                          <a:cs typeface="Comfortaa"/>
                          <a:sym typeface="Comfortaa"/>
                        </a:rPr>
                        <a:t>term</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a:latin typeface="Comfortaa"/>
                          <a:ea typeface="Comfortaa"/>
                          <a:cs typeface="Comfortaa"/>
                          <a:sym typeface="Comfortaa"/>
                        </a:rPr>
                        <a:t>SaS</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a:latin typeface="Comfortaa"/>
                          <a:ea typeface="Comfortaa"/>
                          <a:cs typeface="Comfortaa"/>
                          <a:sym typeface="Comfortaa"/>
                        </a:rPr>
                        <a:t>PaP</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a:latin typeface="Comfortaa"/>
                          <a:ea typeface="Comfortaa"/>
                          <a:cs typeface="Comfortaa"/>
                          <a:sym typeface="Comfortaa"/>
                        </a:rPr>
                        <a:t>WH</a:t>
                      </a:r>
                      <a:endParaRPr b="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r>
              <a:tr h="857600">
                <a:tc>
                  <a:txBody>
                    <a:bodyPr/>
                    <a:lstStyle/>
                    <a:p>
                      <a:pPr indent="0" lvl="0" marL="0" marR="0" rtl="0" algn="l">
                        <a:spcBef>
                          <a:spcPts val="0"/>
                        </a:spcBef>
                        <a:spcAft>
                          <a:spcPts val="0"/>
                        </a:spcAft>
                        <a:buNone/>
                      </a:pPr>
                      <a:r>
                        <a:rPr lang="pt-BR" sz="1300">
                          <a:latin typeface="Comfortaa"/>
                          <a:ea typeface="Comfortaa"/>
                          <a:cs typeface="Comfortaa"/>
                          <a:sym typeface="Comfortaa"/>
                        </a:rPr>
                        <a:t>AFFECTION</a:t>
                      </a:r>
                      <a:endParaRPr sz="700">
                        <a:latin typeface="Comfortaa"/>
                        <a:ea typeface="Comfortaa"/>
                        <a:cs typeface="Comfortaa"/>
                        <a:sym typeface="Comfortaa"/>
                      </a:endParaRPr>
                    </a:p>
                    <a:p>
                      <a:pPr indent="0" lvl="0" marL="0" marR="0" rtl="0" algn="l">
                        <a:spcBef>
                          <a:spcPts val="0"/>
                        </a:spcBef>
                        <a:spcAft>
                          <a:spcPts val="0"/>
                        </a:spcAft>
                        <a:buNone/>
                      </a:pPr>
                      <a:r>
                        <a:rPr lang="pt-BR" sz="1300">
                          <a:latin typeface="Comfortaa"/>
                          <a:ea typeface="Comfortaa"/>
                          <a:cs typeface="Comfortaa"/>
                          <a:sym typeface="Comfortaa"/>
                        </a:rPr>
                        <a:t>JEALOUS</a:t>
                      </a:r>
                      <a:endParaRPr sz="700">
                        <a:latin typeface="Comfortaa"/>
                        <a:ea typeface="Comfortaa"/>
                        <a:cs typeface="Comfortaa"/>
                        <a:sym typeface="Comfortaa"/>
                      </a:endParaRPr>
                    </a:p>
                    <a:p>
                      <a:pPr indent="0" lvl="0" marL="0" marR="0" rtl="0" algn="l">
                        <a:spcBef>
                          <a:spcPts val="0"/>
                        </a:spcBef>
                        <a:spcAft>
                          <a:spcPts val="0"/>
                        </a:spcAft>
                        <a:buNone/>
                      </a:pPr>
                      <a:r>
                        <a:rPr lang="pt-BR" sz="1300">
                          <a:latin typeface="Comfortaa"/>
                          <a:ea typeface="Comfortaa"/>
                          <a:cs typeface="Comfortaa"/>
                          <a:sym typeface="Comfortaa"/>
                        </a:rPr>
                        <a:t>GOSSIP</a:t>
                      </a:r>
                      <a:endParaRPr sz="700">
                        <a:latin typeface="Comfortaa"/>
                        <a:ea typeface="Comfortaa"/>
                        <a:cs typeface="Comfortaa"/>
                        <a:sym typeface="Comfortaa"/>
                      </a:endParaRPr>
                    </a:p>
                    <a:p>
                      <a:pPr indent="0" lvl="0" marL="0" marR="0" rtl="0" algn="l">
                        <a:spcBef>
                          <a:spcPts val="0"/>
                        </a:spcBef>
                        <a:spcAft>
                          <a:spcPts val="0"/>
                        </a:spcAft>
                        <a:buNone/>
                      </a:pPr>
                      <a:r>
                        <a:rPr lang="pt-BR" sz="1300">
                          <a:latin typeface="Comfortaa"/>
                          <a:ea typeface="Comfortaa"/>
                          <a:cs typeface="Comfortaa"/>
                          <a:sym typeface="Comfortaa"/>
                        </a:rPr>
                        <a:t>WUTHERING</a:t>
                      </a:r>
                      <a:endParaRPr sz="13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a:latin typeface="Comfortaa"/>
                          <a:ea typeface="Comfortaa"/>
                          <a:cs typeface="Comfortaa"/>
                          <a:sym typeface="Comfortaa"/>
                        </a:rPr>
                        <a:t>115</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10</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2</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0</a:t>
                      </a:r>
                      <a:endParaRPr sz="7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a:latin typeface="Comfortaa"/>
                          <a:ea typeface="Comfortaa"/>
                          <a:cs typeface="Comfortaa"/>
                          <a:sym typeface="Comfortaa"/>
                        </a:rPr>
                        <a:t>58</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7</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0</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0</a:t>
                      </a:r>
                      <a:endParaRPr sz="7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a:latin typeface="Comfortaa"/>
                          <a:ea typeface="Comfortaa"/>
                          <a:cs typeface="Comfortaa"/>
                          <a:sym typeface="Comfortaa"/>
                        </a:rPr>
                        <a:t>20</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11</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6</a:t>
                      </a:r>
                      <a:endParaRPr sz="700">
                        <a:latin typeface="Comfortaa"/>
                        <a:ea typeface="Comfortaa"/>
                        <a:cs typeface="Comfortaa"/>
                        <a:sym typeface="Comfortaa"/>
                      </a:endParaRPr>
                    </a:p>
                    <a:p>
                      <a:pPr indent="0" lvl="0" marL="0" marR="0" rtl="0" algn="r">
                        <a:spcBef>
                          <a:spcPts val="0"/>
                        </a:spcBef>
                        <a:spcAft>
                          <a:spcPts val="0"/>
                        </a:spcAft>
                        <a:buNone/>
                      </a:pPr>
                      <a:r>
                        <a:rPr lang="pt-BR">
                          <a:latin typeface="Comfortaa"/>
                          <a:ea typeface="Comfortaa"/>
                          <a:cs typeface="Comfortaa"/>
                          <a:sym typeface="Comfortaa"/>
                        </a:rPr>
                        <a:t>38</a:t>
                      </a:r>
                      <a:endParaRPr>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r>
            </a:tbl>
          </a:graphicData>
        </a:graphic>
      </p:graphicFrame>
      <p:sp>
        <p:nvSpPr>
          <p:cNvPr id="379" name="Google Shape;379;g3f9ebdf94e2_0_78"/>
          <p:cNvSpPr txBox="1"/>
          <p:nvPr/>
        </p:nvSpPr>
        <p:spPr>
          <a:xfrm>
            <a:off x="5844725" y="120850"/>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f9edaecf4b_0_132"/>
          <p:cNvSpPr txBox="1"/>
          <p:nvPr/>
        </p:nvSpPr>
        <p:spPr>
          <a:xfrm>
            <a:off x="285725" y="9525"/>
            <a:ext cx="8572500" cy="7371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pt-BR" sz="3000">
                <a:solidFill>
                  <a:schemeClr val="dk1"/>
                </a:solidFill>
                <a:latin typeface="Comfortaa"/>
                <a:ea typeface="Comfortaa"/>
                <a:cs typeface="Comfortaa"/>
                <a:sym typeface="Comfortaa"/>
              </a:rPr>
              <a:t>Cosine: Example</a:t>
            </a:r>
            <a:endParaRPr sz="3000">
              <a:solidFill>
                <a:schemeClr val="dk1"/>
              </a:solidFill>
              <a:latin typeface="Comfortaa"/>
              <a:ea typeface="Comfortaa"/>
              <a:cs typeface="Comfortaa"/>
              <a:sym typeface="Comfortaa"/>
            </a:endParaRPr>
          </a:p>
        </p:txBody>
      </p:sp>
      <p:sp>
        <p:nvSpPr>
          <p:cNvPr id="386" name="Google Shape;386;g3f9edaecf4b_0_132"/>
          <p:cNvSpPr txBox="1"/>
          <p:nvPr/>
        </p:nvSpPr>
        <p:spPr>
          <a:xfrm>
            <a:off x="357150" y="968368"/>
            <a:ext cx="8501100" cy="565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800">
                <a:solidFill>
                  <a:schemeClr val="dk1"/>
                </a:solidFill>
                <a:latin typeface="Comfortaa"/>
                <a:ea typeface="Comfortaa"/>
                <a:cs typeface="Comfortaa"/>
                <a:sym typeface="Comfortaa"/>
              </a:rPr>
              <a:t>   log frequency weighting                     log frequency weighting &amp;</a:t>
            </a:r>
            <a:endParaRPr sz="800">
              <a:latin typeface="Comfortaa"/>
              <a:ea typeface="Comfortaa"/>
              <a:cs typeface="Comfortaa"/>
              <a:sym typeface="Comfortaa"/>
            </a:endParaRPr>
          </a:p>
          <a:p>
            <a:pPr indent="0" lvl="0" marL="0" marR="0" rtl="0" algn="l">
              <a:spcBef>
                <a:spcPts val="0"/>
              </a:spcBef>
              <a:spcAft>
                <a:spcPts val="0"/>
              </a:spcAft>
              <a:buNone/>
            </a:pPr>
            <a:r>
              <a:rPr lang="pt-BR" sz="1800">
                <a:solidFill>
                  <a:schemeClr val="dk1"/>
                </a:solidFill>
                <a:latin typeface="Comfortaa"/>
                <a:ea typeface="Comfortaa"/>
                <a:cs typeface="Comfortaa"/>
                <a:sym typeface="Comfortaa"/>
              </a:rPr>
              <a:t>                                                                        cosine normalization</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rPr lang="pt-BR" sz="1800">
                <a:solidFill>
                  <a:schemeClr val="dk1"/>
                </a:solidFill>
                <a:latin typeface="Comfortaa"/>
                <a:ea typeface="Comfortaa"/>
                <a:cs typeface="Comfortaa"/>
                <a:sym typeface="Comfortaa"/>
              </a:rPr>
              <a:t>          </a:t>
            </a:r>
            <a:endParaRPr sz="800">
              <a:latin typeface="Comfortaa"/>
              <a:ea typeface="Comfortaa"/>
              <a:cs typeface="Comfortaa"/>
              <a:sym typeface="Comfortaa"/>
            </a:endParaRPr>
          </a:p>
          <a:p>
            <a:pPr indent="0" lvl="0" marL="0" marR="0" rtl="0" algn="l">
              <a:spcBef>
                <a:spcPts val="0"/>
              </a:spcBef>
              <a:spcAft>
                <a:spcPts val="0"/>
              </a:spcAft>
              <a:buNone/>
            </a:pPr>
            <a:r>
              <a:rPr lang="pt-BR" sz="1800">
                <a:solidFill>
                  <a:schemeClr val="dk1"/>
                </a:solidFill>
                <a:latin typeface="Comfortaa"/>
                <a:ea typeface="Comfortaa"/>
                <a:cs typeface="Comfortaa"/>
                <a:sym typeface="Comfortaa"/>
              </a:rPr>
              <a:t>\</a:t>
            </a:r>
            <a:endParaRPr sz="1800">
              <a:solidFill>
                <a:schemeClr val="dk1"/>
              </a:solidFill>
              <a:latin typeface="Comfortaa"/>
              <a:ea typeface="Comfortaa"/>
              <a:cs typeface="Comfortaa"/>
              <a:sym typeface="Comfortaa"/>
            </a:endParaRPr>
          </a:p>
        </p:txBody>
      </p:sp>
      <p:sp>
        <p:nvSpPr>
          <p:cNvPr id="387" name="Google Shape;387;g3f9edaecf4b_0_132"/>
          <p:cNvSpPr txBox="1"/>
          <p:nvPr/>
        </p:nvSpPr>
        <p:spPr>
          <a:xfrm>
            <a:off x="7640638" y="-25003"/>
            <a:ext cx="925500" cy="252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400"/>
              <a:buFont typeface="Times New Roman"/>
              <a:buNone/>
            </a:pPr>
            <a:r>
              <a:t/>
            </a:r>
            <a:endParaRPr sz="1800">
              <a:solidFill>
                <a:schemeClr val="lt1"/>
              </a:solidFill>
              <a:latin typeface="Comfortaa"/>
              <a:ea typeface="Comfortaa"/>
              <a:cs typeface="Comfortaa"/>
              <a:sym typeface="Comfortaa"/>
            </a:endParaRPr>
          </a:p>
        </p:txBody>
      </p:sp>
      <p:graphicFrame>
        <p:nvGraphicFramePr>
          <p:cNvPr id="388" name="Google Shape;388;g3f9edaecf4b_0_132"/>
          <p:cNvGraphicFramePr/>
          <p:nvPr/>
        </p:nvGraphicFramePr>
        <p:xfrm>
          <a:off x="357159" y="1553189"/>
          <a:ext cx="3000000" cy="3000000"/>
        </p:xfrm>
        <a:graphic>
          <a:graphicData uri="http://schemas.openxmlformats.org/drawingml/2006/table">
            <a:tbl>
              <a:tblPr bandRow="1" firstRow="1">
                <a:noFill/>
                <a:tableStyleId>{2AFFE05A-0F0C-4C9B-8F10-4FA16DCC8F30}</a:tableStyleId>
              </a:tblPr>
              <a:tblGrid>
                <a:gridCol w="1643075"/>
                <a:gridCol w="714375"/>
                <a:gridCol w="857250"/>
                <a:gridCol w="785825"/>
              </a:tblGrid>
              <a:tr h="282550">
                <a:tc>
                  <a:txBody>
                    <a:bodyPr/>
                    <a:lstStyle/>
                    <a:p>
                      <a:pPr indent="0" lvl="0" marL="0" marR="0" rtl="0" algn="l">
                        <a:spcBef>
                          <a:spcPts val="0"/>
                        </a:spcBef>
                        <a:spcAft>
                          <a:spcPts val="0"/>
                        </a:spcAft>
                        <a:buNone/>
                      </a:pPr>
                      <a:r>
                        <a:rPr b="0" lang="pt-BR" sz="1200">
                          <a:latin typeface="Comfortaa"/>
                          <a:ea typeface="Comfortaa"/>
                          <a:cs typeface="Comfortaa"/>
                          <a:sym typeface="Comfortaa"/>
                        </a:rPr>
                        <a:t>term</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SaS</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PaP</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WH</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r>
              <a:tr h="885350">
                <a:tc>
                  <a:txBody>
                    <a:bodyPr/>
                    <a:lstStyle/>
                    <a:p>
                      <a:pPr indent="0" lvl="0" marL="0" marR="0" rtl="0" algn="l">
                        <a:spcBef>
                          <a:spcPts val="0"/>
                        </a:spcBef>
                        <a:spcAft>
                          <a:spcPts val="0"/>
                        </a:spcAft>
                        <a:buNone/>
                      </a:pPr>
                      <a:r>
                        <a:rPr lang="pt-BR" sz="1100">
                          <a:latin typeface="Comfortaa"/>
                          <a:ea typeface="Comfortaa"/>
                          <a:cs typeface="Comfortaa"/>
                          <a:sym typeface="Comfortaa"/>
                        </a:rPr>
                        <a:t>AFFECTION</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JEALOUS</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GOSSIP</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WUTHERING</a:t>
                      </a:r>
                      <a:endParaRPr sz="11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sz="1100">
                          <a:latin typeface="Comfortaa"/>
                          <a:ea typeface="Comfortaa"/>
                          <a:cs typeface="Comfortaa"/>
                          <a:sym typeface="Comfortaa"/>
                        </a:rPr>
                        <a:t>3.06</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2.0</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1.30</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a:t>
                      </a:r>
                      <a:endParaRPr sz="5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sz="1100">
                          <a:latin typeface="Comfortaa"/>
                          <a:ea typeface="Comfortaa"/>
                          <a:cs typeface="Comfortaa"/>
                          <a:sym typeface="Comfortaa"/>
                        </a:rPr>
                        <a:t>2.76</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1.85</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a:t>
                      </a:r>
                      <a:endParaRPr sz="11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sz="1100">
                          <a:latin typeface="Comfortaa"/>
                          <a:ea typeface="Comfortaa"/>
                          <a:cs typeface="Comfortaa"/>
                          <a:sym typeface="Comfortaa"/>
                        </a:rPr>
                        <a:t>2.30</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2.04</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1.78</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2.58</a:t>
                      </a:r>
                      <a:endParaRPr sz="11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r>
            </a:tbl>
          </a:graphicData>
        </a:graphic>
      </p:graphicFrame>
      <p:graphicFrame>
        <p:nvGraphicFramePr>
          <p:cNvPr id="389" name="Google Shape;389;g3f9edaecf4b_0_132"/>
          <p:cNvGraphicFramePr/>
          <p:nvPr/>
        </p:nvGraphicFramePr>
        <p:xfrm>
          <a:off x="4500563" y="1533451"/>
          <a:ext cx="3000000" cy="3000000"/>
        </p:xfrm>
        <a:graphic>
          <a:graphicData uri="http://schemas.openxmlformats.org/drawingml/2006/table">
            <a:tbl>
              <a:tblPr bandRow="1" firstRow="1">
                <a:noFill/>
                <a:tableStyleId>{2AFFE05A-0F0C-4C9B-8F10-4FA16DCC8F30}</a:tableStyleId>
              </a:tblPr>
              <a:tblGrid>
                <a:gridCol w="1643075"/>
                <a:gridCol w="928700"/>
                <a:gridCol w="857250"/>
                <a:gridCol w="928700"/>
              </a:tblGrid>
              <a:tr h="330050">
                <a:tc>
                  <a:txBody>
                    <a:bodyPr/>
                    <a:lstStyle/>
                    <a:p>
                      <a:pPr indent="0" lvl="0" marL="0" marR="0" rtl="0" algn="l">
                        <a:spcBef>
                          <a:spcPts val="0"/>
                        </a:spcBef>
                        <a:spcAft>
                          <a:spcPts val="0"/>
                        </a:spcAft>
                        <a:buNone/>
                      </a:pPr>
                      <a:r>
                        <a:rPr b="0" lang="pt-BR" sz="1200">
                          <a:latin typeface="Comfortaa"/>
                          <a:ea typeface="Comfortaa"/>
                          <a:cs typeface="Comfortaa"/>
                          <a:sym typeface="Comfortaa"/>
                        </a:rPr>
                        <a:t>term</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SaS</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PaP</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WH</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r>
              <a:tr h="857600">
                <a:tc>
                  <a:txBody>
                    <a:bodyPr/>
                    <a:lstStyle/>
                    <a:p>
                      <a:pPr indent="0" lvl="0" marL="0" marR="0" rtl="0" algn="l">
                        <a:spcBef>
                          <a:spcPts val="0"/>
                        </a:spcBef>
                        <a:spcAft>
                          <a:spcPts val="0"/>
                        </a:spcAft>
                        <a:buNone/>
                      </a:pPr>
                      <a:r>
                        <a:rPr lang="pt-BR" sz="1100">
                          <a:latin typeface="Comfortaa"/>
                          <a:ea typeface="Comfortaa"/>
                          <a:cs typeface="Comfortaa"/>
                          <a:sym typeface="Comfortaa"/>
                        </a:rPr>
                        <a:t>AFFECTION</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JEALOUS</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GOSSIP</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WUTHERING</a:t>
                      </a:r>
                      <a:endParaRPr sz="11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sz="1100">
                          <a:latin typeface="Comfortaa"/>
                          <a:ea typeface="Comfortaa"/>
                          <a:cs typeface="Comfortaa"/>
                          <a:sym typeface="Comfortaa"/>
                        </a:rPr>
                        <a:t>0.789</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0.515</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0.335</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0.0</a:t>
                      </a:r>
                      <a:endParaRPr sz="5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rPr lang="pt-BR" sz="1100">
                          <a:latin typeface="Comfortaa"/>
                          <a:ea typeface="Comfortaa"/>
                          <a:cs typeface="Comfortaa"/>
                          <a:sym typeface="Comfortaa"/>
                        </a:rPr>
                        <a:t>0.832</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0.555</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0.0</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0.0</a:t>
                      </a:r>
                      <a:endParaRPr sz="5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rPr lang="pt-BR" sz="1100">
                          <a:latin typeface="Comfortaa"/>
                          <a:ea typeface="Comfortaa"/>
                          <a:cs typeface="Comfortaa"/>
                          <a:sym typeface="Comfortaa"/>
                        </a:rPr>
                        <a:t>0.524</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0.465</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0.405</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0.588</a:t>
                      </a:r>
                      <a:endParaRPr sz="11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r>
            </a:tbl>
          </a:graphicData>
        </a:graphic>
      </p:graphicFrame>
      <p:sp>
        <p:nvSpPr>
          <p:cNvPr id="390" name="Google Shape;390;g3f9edaecf4b_0_132"/>
          <p:cNvSpPr txBox="1"/>
          <p:nvPr/>
        </p:nvSpPr>
        <p:spPr>
          <a:xfrm>
            <a:off x="5844725" y="120850"/>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
        <p:nvSpPr>
          <p:cNvPr id="391" name="Google Shape;391;g3f9edaecf4b_0_132"/>
          <p:cNvSpPr txBox="1"/>
          <p:nvPr/>
        </p:nvSpPr>
        <p:spPr>
          <a:xfrm>
            <a:off x="357150" y="3081580"/>
            <a:ext cx="85011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000">
                <a:solidFill>
                  <a:srgbClr val="434343"/>
                </a:solidFill>
                <a:latin typeface="Comfortaa"/>
                <a:ea typeface="Comfortaa"/>
                <a:cs typeface="Comfortaa"/>
                <a:sym typeface="Comfortaa"/>
              </a:rPr>
              <a:t>Cosine Normalization of SaS</a:t>
            </a:r>
            <a:endParaRPr sz="2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000">
                <a:solidFill>
                  <a:srgbClr val="434343"/>
                </a:solidFill>
                <a:latin typeface="Comfortaa"/>
                <a:ea typeface="Comfortaa"/>
                <a:cs typeface="Comfortaa"/>
                <a:sym typeface="Comfortaa"/>
              </a:rPr>
              <a:t>||SaS|| = 3.06² + 2² + 1.3² + 0² = 3.879896906</a:t>
            </a:r>
            <a:endParaRPr sz="2000">
              <a:solidFill>
                <a:srgbClr val="434343"/>
              </a:solidFill>
              <a:latin typeface="Comfortaa"/>
              <a:ea typeface="Comfortaa"/>
              <a:cs typeface="Comfortaa"/>
              <a:sym typeface="Comfortaa"/>
            </a:endParaRPr>
          </a:p>
          <a:p>
            <a:pPr indent="-355600" lvl="0" marL="457200" rtl="0" algn="l">
              <a:spcBef>
                <a:spcPts val="0"/>
              </a:spcBef>
              <a:spcAft>
                <a:spcPts val="0"/>
              </a:spcAft>
              <a:buClr>
                <a:srgbClr val="434343"/>
              </a:buClr>
              <a:buSzPts val="2000"/>
              <a:buFont typeface="Comfortaa"/>
              <a:buChar char="●"/>
            </a:pPr>
            <a:r>
              <a:rPr lang="pt-BR" sz="2000">
                <a:solidFill>
                  <a:srgbClr val="434343"/>
                </a:solidFill>
                <a:latin typeface="Comfortaa"/>
                <a:ea typeface="Comfortaa"/>
                <a:cs typeface="Comfortaa"/>
                <a:sym typeface="Comfortaa"/>
              </a:rPr>
              <a:t>Affection = 3.06 / </a:t>
            </a:r>
            <a:r>
              <a:rPr lang="pt-BR" sz="2000">
                <a:solidFill>
                  <a:srgbClr val="434343"/>
                </a:solidFill>
                <a:latin typeface="Comfortaa"/>
                <a:ea typeface="Comfortaa"/>
                <a:cs typeface="Comfortaa"/>
                <a:sym typeface="Comfortaa"/>
              </a:rPr>
              <a:t>3.879896906 = 0.789</a:t>
            </a:r>
            <a:endParaRPr sz="2000">
              <a:solidFill>
                <a:srgbClr val="434343"/>
              </a:solidFill>
              <a:latin typeface="Comfortaa"/>
              <a:ea typeface="Comfortaa"/>
              <a:cs typeface="Comfortaa"/>
              <a:sym typeface="Comfortaa"/>
            </a:endParaRPr>
          </a:p>
          <a:p>
            <a:pPr indent="-355600" lvl="0" marL="457200" rtl="0" algn="l">
              <a:spcBef>
                <a:spcPts val="0"/>
              </a:spcBef>
              <a:spcAft>
                <a:spcPts val="0"/>
              </a:spcAft>
              <a:buClr>
                <a:srgbClr val="434343"/>
              </a:buClr>
              <a:buSzPts val="2000"/>
              <a:buFont typeface="Comfortaa"/>
              <a:buChar char="●"/>
            </a:pPr>
            <a:r>
              <a:rPr lang="pt-BR" sz="2000">
                <a:solidFill>
                  <a:srgbClr val="434343"/>
                </a:solidFill>
                <a:latin typeface="Comfortaa"/>
                <a:ea typeface="Comfortaa"/>
                <a:cs typeface="Comfortaa"/>
                <a:sym typeface="Comfortaa"/>
              </a:rPr>
              <a:t>Jealous = 2.0 / 3.879896906 =  0.515</a:t>
            </a:r>
            <a:endParaRPr sz="2000">
              <a:solidFill>
                <a:srgbClr val="434343"/>
              </a:solidFill>
              <a:latin typeface="Comfortaa"/>
              <a:ea typeface="Comfortaa"/>
              <a:cs typeface="Comfortaa"/>
              <a:sym typeface="Comfortaa"/>
            </a:endParaRPr>
          </a:p>
          <a:p>
            <a:pPr indent="-355600" lvl="0" marL="457200" rtl="0" algn="l">
              <a:spcBef>
                <a:spcPts val="0"/>
              </a:spcBef>
              <a:spcAft>
                <a:spcPts val="0"/>
              </a:spcAft>
              <a:buClr>
                <a:srgbClr val="434343"/>
              </a:buClr>
              <a:buSzPts val="2000"/>
              <a:buFont typeface="Comfortaa"/>
              <a:buChar char="●"/>
            </a:pPr>
            <a:r>
              <a:rPr lang="pt-BR" sz="2000">
                <a:solidFill>
                  <a:srgbClr val="434343"/>
                </a:solidFill>
                <a:latin typeface="Comfortaa"/>
                <a:ea typeface="Comfortaa"/>
                <a:cs typeface="Comfortaa"/>
                <a:sym typeface="Comfortaa"/>
              </a:rPr>
              <a:t>Gossip = 1.30 / 3.879896906 = 0.335</a:t>
            </a:r>
            <a:endParaRPr sz="2000">
              <a:solidFill>
                <a:srgbClr val="434343"/>
              </a:solidFill>
              <a:latin typeface="Comfortaa"/>
              <a:ea typeface="Comfortaa"/>
              <a:cs typeface="Comfortaa"/>
              <a:sym typeface="Comfortaa"/>
            </a:endParaRPr>
          </a:p>
          <a:p>
            <a:pPr indent="-355600" lvl="0" marL="457200" rtl="0" algn="l">
              <a:spcBef>
                <a:spcPts val="0"/>
              </a:spcBef>
              <a:spcAft>
                <a:spcPts val="0"/>
              </a:spcAft>
              <a:buClr>
                <a:srgbClr val="434343"/>
              </a:buClr>
              <a:buSzPts val="2000"/>
              <a:buFont typeface="Comfortaa"/>
              <a:buChar char="●"/>
            </a:pPr>
            <a:r>
              <a:rPr lang="pt-BR" sz="2000">
                <a:solidFill>
                  <a:srgbClr val="434343"/>
                </a:solidFill>
                <a:latin typeface="Comfortaa"/>
                <a:ea typeface="Comfortaa"/>
                <a:cs typeface="Comfortaa"/>
                <a:sym typeface="Comfortaa"/>
              </a:rPr>
              <a:t>Wuthering = 0 / 3.879896906 = 0</a:t>
            </a:r>
            <a:endParaRPr sz="2000">
              <a:solidFill>
                <a:srgbClr val="434343"/>
              </a:solidFill>
              <a:latin typeface="Comfortaa"/>
              <a:ea typeface="Comfortaa"/>
              <a:cs typeface="Comfortaa"/>
              <a:sym typeface="Comforta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f9ebdf94e2_0_89"/>
          <p:cNvSpPr txBox="1"/>
          <p:nvPr/>
        </p:nvSpPr>
        <p:spPr>
          <a:xfrm>
            <a:off x="285720" y="9525"/>
            <a:ext cx="8572500" cy="10527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pt-BR" sz="3000">
                <a:solidFill>
                  <a:schemeClr val="dk1"/>
                </a:solidFill>
                <a:latin typeface="Comfortaa"/>
                <a:ea typeface="Comfortaa"/>
                <a:cs typeface="Comfortaa"/>
                <a:sym typeface="Comfortaa"/>
              </a:rPr>
              <a:t>Cosine: Example</a:t>
            </a:r>
            <a:endParaRPr sz="3000">
              <a:solidFill>
                <a:schemeClr val="dk1"/>
              </a:solidFill>
              <a:latin typeface="Comfortaa"/>
              <a:ea typeface="Comfortaa"/>
              <a:cs typeface="Comfortaa"/>
              <a:sym typeface="Comfortaa"/>
            </a:endParaRPr>
          </a:p>
        </p:txBody>
      </p:sp>
      <p:sp>
        <p:nvSpPr>
          <p:cNvPr id="398" name="Google Shape;398;g3f9ebdf94e2_0_89"/>
          <p:cNvSpPr txBox="1"/>
          <p:nvPr/>
        </p:nvSpPr>
        <p:spPr>
          <a:xfrm>
            <a:off x="357150" y="1285868"/>
            <a:ext cx="8501100" cy="461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800">
                <a:solidFill>
                  <a:schemeClr val="dk1"/>
                </a:solidFill>
                <a:latin typeface="Comfortaa"/>
                <a:ea typeface="Comfortaa"/>
                <a:cs typeface="Comfortaa"/>
                <a:sym typeface="Comfortaa"/>
              </a:rPr>
              <a:t>   log frequency weighting                     log frequency weighting &amp;</a:t>
            </a:r>
            <a:endParaRPr sz="800">
              <a:latin typeface="Comfortaa"/>
              <a:ea typeface="Comfortaa"/>
              <a:cs typeface="Comfortaa"/>
              <a:sym typeface="Comfortaa"/>
            </a:endParaRPr>
          </a:p>
          <a:p>
            <a:pPr indent="0" lvl="0" marL="0" marR="0" rtl="0" algn="l">
              <a:spcBef>
                <a:spcPts val="0"/>
              </a:spcBef>
              <a:spcAft>
                <a:spcPts val="0"/>
              </a:spcAft>
              <a:buNone/>
            </a:pPr>
            <a:r>
              <a:rPr lang="pt-BR" sz="1800">
                <a:solidFill>
                  <a:schemeClr val="dk1"/>
                </a:solidFill>
                <a:latin typeface="Comfortaa"/>
                <a:ea typeface="Comfortaa"/>
                <a:cs typeface="Comfortaa"/>
                <a:sym typeface="Comfortaa"/>
              </a:rPr>
              <a:t>                                                                        cosine normalization</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a:p>
            <a:pPr indent="0" lvl="0" marL="0" marR="0" rtl="0" algn="l">
              <a:spcBef>
                <a:spcPts val="0"/>
              </a:spcBef>
              <a:spcAft>
                <a:spcPts val="0"/>
              </a:spcAft>
              <a:buNone/>
            </a:pPr>
            <a:r>
              <a:rPr lang="pt-BR" sz="1800">
                <a:solidFill>
                  <a:schemeClr val="dk1"/>
                </a:solidFill>
                <a:latin typeface="Comfortaa"/>
                <a:ea typeface="Comfortaa"/>
                <a:cs typeface="Comfortaa"/>
                <a:sym typeface="Comfortaa"/>
              </a:rPr>
              <a:t>          </a:t>
            </a:r>
            <a:endParaRPr sz="800">
              <a:latin typeface="Comfortaa"/>
              <a:ea typeface="Comfortaa"/>
              <a:cs typeface="Comfortaa"/>
              <a:sym typeface="Comfortaa"/>
            </a:endParaRPr>
          </a:p>
          <a:p>
            <a:pPr indent="0" lvl="0" marL="0" marR="0" rtl="0" algn="l">
              <a:spcBef>
                <a:spcPts val="0"/>
              </a:spcBef>
              <a:spcAft>
                <a:spcPts val="0"/>
              </a:spcAft>
              <a:buNone/>
            </a:pPr>
            <a:r>
              <a:t/>
            </a:r>
            <a:endParaRPr sz="1800">
              <a:solidFill>
                <a:schemeClr val="dk1"/>
              </a:solidFill>
              <a:latin typeface="Comfortaa"/>
              <a:ea typeface="Comfortaa"/>
              <a:cs typeface="Comfortaa"/>
              <a:sym typeface="Comfortaa"/>
            </a:endParaRPr>
          </a:p>
        </p:txBody>
      </p:sp>
      <p:sp>
        <p:nvSpPr>
          <p:cNvPr id="399" name="Google Shape;399;g3f9ebdf94e2_0_89"/>
          <p:cNvSpPr txBox="1"/>
          <p:nvPr/>
        </p:nvSpPr>
        <p:spPr>
          <a:xfrm>
            <a:off x="7640638" y="-25003"/>
            <a:ext cx="925500" cy="252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400"/>
              <a:buFont typeface="Times New Roman"/>
              <a:buNone/>
            </a:pPr>
            <a:r>
              <a:t/>
            </a:r>
            <a:endParaRPr sz="1800">
              <a:solidFill>
                <a:schemeClr val="lt1"/>
              </a:solidFill>
              <a:latin typeface="Comfortaa"/>
              <a:ea typeface="Comfortaa"/>
              <a:cs typeface="Comfortaa"/>
              <a:sym typeface="Comfortaa"/>
            </a:endParaRPr>
          </a:p>
        </p:txBody>
      </p:sp>
      <p:graphicFrame>
        <p:nvGraphicFramePr>
          <p:cNvPr id="400" name="Google Shape;400;g3f9ebdf94e2_0_89"/>
          <p:cNvGraphicFramePr/>
          <p:nvPr/>
        </p:nvGraphicFramePr>
        <p:xfrm>
          <a:off x="357159" y="1850939"/>
          <a:ext cx="3000000" cy="3000000"/>
        </p:xfrm>
        <a:graphic>
          <a:graphicData uri="http://schemas.openxmlformats.org/drawingml/2006/table">
            <a:tbl>
              <a:tblPr bandRow="1" firstRow="1">
                <a:noFill/>
                <a:tableStyleId>{2AFFE05A-0F0C-4C9B-8F10-4FA16DCC8F30}</a:tableStyleId>
              </a:tblPr>
              <a:tblGrid>
                <a:gridCol w="1643075"/>
                <a:gridCol w="714375"/>
                <a:gridCol w="857250"/>
                <a:gridCol w="785825"/>
              </a:tblGrid>
              <a:tr h="287350">
                <a:tc>
                  <a:txBody>
                    <a:bodyPr/>
                    <a:lstStyle/>
                    <a:p>
                      <a:pPr indent="0" lvl="0" marL="0" marR="0" rtl="0" algn="l">
                        <a:spcBef>
                          <a:spcPts val="0"/>
                        </a:spcBef>
                        <a:spcAft>
                          <a:spcPts val="0"/>
                        </a:spcAft>
                        <a:buNone/>
                      </a:pPr>
                      <a:r>
                        <a:rPr b="0" lang="pt-BR" sz="1200">
                          <a:latin typeface="Comfortaa"/>
                          <a:ea typeface="Comfortaa"/>
                          <a:cs typeface="Comfortaa"/>
                          <a:sym typeface="Comfortaa"/>
                        </a:rPr>
                        <a:t>term</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SaS</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PaP</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WH</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r>
              <a:tr h="900300">
                <a:tc>
                  <a:txBody>
                    <a:bodyPr/>
                    <a:lstStyle/>
                    <a:p>
                      <a:pPr indent="0" lvl="0" marL="0" marR="0" rtl="0" algn="l">
                        <a:spcBef>
                          <a:spcPts val="0"/>
                        </a:spcBef>
                        <a:spcAft>
                          <a:spcPts val="0"/>
                        </a:spcAft>
                        <a:buNone/>
                      </a:pPr>
                      <a:r>
                        <a:rPr lang="pt-BR" sz="1100">
                          <a:latin typeface="Comfortaa"/>
                          <a:ea typeface="Comfortaa"/>
                          <a:cs typeface="Comfortaa"/>
                          <a:sym typeface="Comfortaa"/>
                        </a:rPr>
                        <a:t>AFFECTION</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JEALOUS</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GOSSIP</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WUTHERING</a:t>
                      </a:r>
                      <a:endParaRPr sz="11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sz="1100">
                          <a:latin typeface="Comfortaa"/>
                          <a:ea typeface="Comfortaa"/>
                          <a:cs typeface="Comfortaa"/>
                          <a:sym typeface="Comfortaa"/>
                        </a:rPr>
                        <a:t>3.06</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2.0</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1.30</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a:t>
                      </a:r>
                      <a:endParaRPr sz="5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sz="1100">
                          <a:latin typeface="Comfortaa"/>
                          <a:ea typeface="Comfortaa"/>
                          <a:cs typeface="Comfortaa"/>
                          <a:sym typeface="Comfortaa"/>
                        </a:rPr>
                        <a:t>2.76</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1.85</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a:t>
                      </a:r>
                      <a:endParaRPr sz="11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sz="1100">
                          <a:latin typeface="Comfortaa"/>
                          <a:ea typeface="Comfortaa"/>
                          <a:cs typeface="Comfortaa"/>
                          <a:sym typeface="Comfortaa"/>
                        </a:rPr>
                        <a:t>2.30</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2.04</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1.78</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2.58</a:t>
                      </a:r>
                      <a:endParaRPr sz="11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r>
            </a:tbl>
          </a:graphicData>
        </a:graphic>
      </p:graphicFrame>
      <p:graphicFrame>
        <p:nvGraphicFramePr>
          <p:cNvPr id="401" name="Google Shape;401;g3f9ebdf94e2_0_89"/>
          <p:cNvGraphicFramePr/>
          <p:nvPr/>
        </p:nvGraphicFramePr>
        <p:xfrm>
          <a:off x="4500563" y="1850951"/>
          <a:ext cx="3000000" cy="3000000"/>
        </p:xfrm>
        <a:graphic>
          <a:graphicData uri="http://schemas.openxmlformats.org/drawingml/2006/table">
            <a:tbl>
              <a:tblPr bandRow="1" firstRow="1">
                <a:noFill/>
                <a:tableStyleId>{2AFFE05A-0F0C-4C9B-8F10-4FA16DCC8F30}</a:tableStyleId>
              </a:tblPr>
              <a:tblGrid>
                <a:gridCol w="1643075"/>
                <a:gridCol w="928700"/>
                <a:gridCol w="857250"/>
                <a:gridCol w="928700"/>
              </a:tblGrid>
              <a:tr h="330050">
                <a:tc>
                  <a:txBody>
                    <a:bodyPr/>
                    <a:lstStyle/>
                    <a:p>
                      <a:pPr indent="0" lvl="0" marL="0" marR="0" rtl="0" algn="l">
                        <a:spcBef>
                          <a:spcPts val="0"/>
                        </a:spcBef>
                        <a:spcAft>
                          <a:spcPts val="0"/>
                        </a:spcAft>
                        <a:buNone/>
                      </a:pPr>
                      <a:r>
                        <a:rPr b="0" lang="pt-BR" sz="1200">
                          <a:latin typeface="Comfortaa"/>
                          <a:ea typeface="Comfortaa"/>
                          <a:cs typeface="Comfortaa"/>
                          <a:sym typeface="Comfortaa"/>
                        </a:rPr>
                        <a:t>term</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SaS</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PaP</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lang="pt-BR" sz="1200">
                          <a:latin typeface="Comfortaa"/>
                          <a:ea typeface="Comfortaa"/>
                          <a:cs typeface="Comfortaa"/>
                          <a:sym typeface="Comfortaa"/>
                        </a:rPr>
                        <a:t>WH</a:t>
                      </a:r>
                      <a:endParaRPr b="0" sz="1200">
                        <a:solidFill>
                          <a:schemeClr val="dk1"/>
                        </a:solidFill>
                        <a:latin typeface="Comfortaa"/>
                        <a:ea typeface="Comfortaa"/>
                        <a:cs typeface="Comfortaa"/>
                        <a:sym typeface="Comfortaa"/>
                      </a:endParaRPr>
                    </a:p>
                  </a:txBody>
                  <a:tcPr marT="34300" marB="34300" marR="91450" marL="91450">
                    <a:lnB cap="flat" cmpd="sng" w="12700">
                      <a:solidFill>
                        <a:schemeClr val="dk1"/>
                      </a:solidFill>
                      <a:prstDash val="solid"/>
                      <a:round/>
                      <a:headEnd len="sm" w="sm" type="none"/>
                      <a:tailEnd len="sm" w="sm" type="none"/>
                    </a:lnB>
                  </a:tcPr>
                </a:tc>
              </a:tr>
              <a:tr h="857600">
                <a:tc>
                  <a:txBody>
                    <a:bodyPr/>
                    <a:lstStyle/>
                    <a:p>
                      <a:pPr indent="0" lvl="0" marL="0" marR="0" rtl="0" algn="l">
                        <a:spcBef>
                          <a:spcPts val="0"/>
                        </a:spcBef>
                        <a:spcAft>
                          <a:spcPts val="0"/>
                        </a:spcAft>
                        <a:buNone/>
                      </a:pPr>
                      <a:r>
                        <a:rPr lang="pt-BR" sz="1100">
                          <a:latin typeface="Comfortaa"/>
                          <a:ea typeface="Comfortaa"/>
                          <a:cs typeface="Comfortaa"/>
                          <a:sym typeface="Comfortaa"/>
                        </a:rPr>
                        <a:t>AFFECTION</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JEALOUS</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GOSSIP</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WUTHERING</a:t>
                      </a:r>
                      <a:endParaRPr sz="11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r">
                        <a:spcBef>
                          <a:spcPts val="0"/>
                        </a:spcBef>
                        <a:spcAft>
                          <a:spcPts val="0"/>
                        </a:spcAft>
                        <a:buNone/>
                      </a:pPr>
                      <a:r>
                        <a:rPr lang="pt-BR" sz="1100">
                          <a:latin typeface="Comfortaa"/>
                          <a:ea typeface="Comfortaa"/>
                          <a:cs typeface="Comfortaa"/>
                          <a:sym typeface="Comfortaa"/>
                        </a:rPr>
                        <a:t>0.789</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0.515</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0.335</a:t>
                      </a:r>
                      <a:endParaRPr sz="500">
                        <a:latin typeface="Comfortaa"/>
                        <a:ea typeface="Comfortaa"/>
                        <a:cs typeface="Comfortaa"/>
                        <a:sym typeface="Comfortaa"/>
                      </a:endParaRPr>
                    </a:p>
                    <a:p>
                      <a:pPr indent="0" lvl="0" marL="0" marR="0" rtl="0" algn="r">
                        <a:spcBef>
                          <a:spcPts val="0"/>
                        </a:spcBef>
                        <a:spcAft>
                          <a:spcPts val="0"/>
                        </a:spcAft>
                        <a:buNone/>
                      </a:pPr>
                      <a:r>
                        <a:rPr lang="pt-BR" sz="1100">
                          <a:latin typeface="Comfortaa"/>
                          <a:ea typeface="Comfortaa"/>
                          <a:cs typeface="Comfortaa"/>
                          <a:sym typeface="Comfortaa"/>
                        </a:rPr>
                        <a:t>0.0</a:t>
                      </a:r>
                      <a:endParaRPr sz="5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rPr lang="pt-BR" sz="1100">
                          <a:latin typeface="Comfortaa"/>
                          <a:ea typeface="Comfortaa"/>
                          <a:cs typeface="Comfortaa"/>
                          <a:sym typeface="Comfortaa"/>
                        </a:rPr>
                        <a:t>0.832</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0.555</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0.0</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0.0</a:t>
                      </a:r>
                      <a:endParaRPr sz="5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rPr lang="pt-BR" sz="1100">
                          <a:latin typeface="Comfortaa"/>
                          <a:ea typeface="Comfortaa"/>
                          <a:cs typeface="Comfortaa"/>
                          <a:sym typeface="Comfortaa"/>
                        </a:rPr>
                        <a:t>0.524</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0.465</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0.405</a:t>
                      </a:r>
                      <a:endParaRPr sz="500">
                        <a:latin typeface="Comfortaa"/>
                        <a:ea typeface="Comfortaa"/>
                        <a:cs typeface="Comfortaa"/>
                        <a:sym typeface="Comfortaa"/>
                      </a:endParaRPr>
                    </a:p>
                    <a:p>
                      <a:pPr indent="0" lvl="0" marL="0" marR="0" rtl="0" algn="l">
                        <a:spcBef>
                          <a:spcPts val="0"/>
                        </a:spcBef>
                        <a:spcAft>
                          <a:spcPts val="0"/>
                        </a:spcAft>
                        <a:buNone/>
                      </a:pPr>
                      <a:r>
                        <a:rPr lang="pt-BR" sz="1100">
                          <a:latin typeface="Comfortaa"/>
                          <a:ea typeface="Comfortaa"/>
                          <a:cs typeface="Comfortaa"/>
                          <a:sym typeface="Comfortaa"/>
                        </a:rPr>
                        <a:t>0.588</a:t>
                      </a:r>
                      <a:endParaRPr sz="1100">
                        <a:latin typeface="Comfortaa"/>
                        <a:ea typeface="Comfortaa"/>
                        <a:cs typeface="Comfortaa"/>
                        <a:sym typeface="Comfortaa"/>
                      </a:endParaRPr>
                    </a:p>
                  </a:txBody>
                  <a:tcPr marT="34300" marB="34300" marR="91450" marL="91450">
                    <a:lnT cap="flat" cmpd="sng" w="12700">
                      <a:solidFill>
                        <a:schemeClr val="dk1"/>
                      </a:solidFill>
                      <a:prstDash val="solid"/>
                      <a:round/>
                      <a:headEnd len="sm" w="sm" type="none"/>
                      <a:tailEnd len="sm" w="sm" type="none"/>
                    </a:lnT>
                  </a:tcPr>
                </a:tc>
              </a:tr>
            </a:tbl>
          </a:graphicData>
        </a:graphic>
      </p:graphicFrame>
      <p:sp>
        <p:nvSpPr>
          <p:cNvPr id="402" name="Google Shape;402;g3f9ebdf94e2_0_89"/>
          <p:cNvSpPr/>
          <p:nvPr/>
        </p:nvSpPr>
        <p:spPr>
          <a:xfrm>
            <a:off x="428596" y="3321849"/>
            <a:ext cx="8501100" cy="1454100"/>
          </a:xfrm>
          <a:prstGeom prst="rect">
            <a:avLst/>
          </a:prstGeom>
          <a:noFill/>
          <a:ln>
            <a:noFill/>
          </a:ln>
        </p:spPr>
        <p:txBody>
          <a:bodyPr anchorCtr="0" anchor="t" bIns="45700" lIns="91425" spcFirstLastPara="1" rIns="91425" wrap="square" tIns="45700">
            <a:noAutofit/>
          </a:bodyPr>
          <a:lstStyle/>
          <a:p>
            <a:pPr indent="-247650" lvl="1" marL="742950" marR="0" rtl="0" algn="l">
              <a:spcBef>
                <a:spcPts val="0"/>
              </a:spcBef>
              <a:spcAft>
                <a:spcPts val="0"/>
              </a:spcAft>
              <a:buClr>
                <a:srgbClr val="336699"/>
              </a:buClr>
              <a:buSzPts val="1800"/>
              <a:buFont typeface="Comfortaa"/>
              <a:buChar char="▪"/>
            </a:pPr>
            <a:r>
              <a:rPr i="0" lang="pt-BR" sz="1800" u="none" cap="none" strike="noStrike">
                <a:solidFill>
                  <a:schemeClr val="dk1"/>
                </a:solidFill>
                <a:latin typeface="Comfortaa"/>
                <a:ea typeface="Comfortaa"/>
                <a:cs typeface="Comfortaa"/>
                <a:sym typeface="Comfortaa"/>
              </a:rPr>
              <a:t>cos(SaS,PaP) ≈ 0.789 ∗ 0.832 + 0.515 ∗ 0.555 + 0.335 ∗ 0.0 + 0.0 ∗ 0.0 ≈ 0.94.</a:t>
            </a:r>
            <a:endParaRPr sz="800">
              <a:latin typeface="Comfortaa"/>
              <a:ea typeface="Comfortaa"/>
              <a:cs typeface="Comfortaa"/>
              <a:sym typeface="Comfortaa"/>
            </a:endParaRPr>
          </a:p>
          <a:p>
            <a:pPr indent="-247650" lvl="1" marL="742950" marR="0" rtl="0" algn="l">
              <a:spcBef>
                <a:spcPts val="0"/>
              </a:spcBef>
              <a:spcAft>
                <a:spcPts val="0"/>
              </a:spcAft>
              <a:buClr>
                <a:srgbClr val="336699"/>
              </a:buClr>
              <a:buSzPts val="1800"/>
              <a:buFont typeface="Comfortaa"/>
              <a:buChar char="▪"/>
            </a:pPr>
            <a:r>
              <a:rPr i="0" lang="pt-BR" sz="1800" u="none" cap="none" strike="noStrike">
                <a:solidFill>
                  <a:schemeClr val="dk1"/>
                </a:solidFill>
                <a:latin typeface="Comfortaa"/>
                <a:ea typeface="Comfortaa"/>
                <a:cs typeface="Comfortaa"/>
                <a:sym typeface="Comfortaa"/>
              </a:rPr>
              <a:t>cos(SaS,WH) ≈ 0.79</a:t>
            </a:r>
            <a:endParaRPr sz="800">
              <a:latin typeface="Comfortaa"/>
              <a:ea typeface="Comfortaa"/>
              <a:cs typeface="Comfortaa"/>
              <a:sym typeface="Comfortaa"/>
            </a:endParaRPr>
          </a:p>
          <a:p>
            <a:pPr indent="-247650" lvl="1" marL="742950" marR="0" rtl="0" algn="l">
              <a:spcBef>
                <a:spcPts val="0"/>
              </a:spcBef>
              <a:spcAft>
                <a:spcPts val="0"/>
              </a:spcAft>
              <a:buClr>
                <a:srgbClr val="336699"/>
              </a:buClr>
              <a:buSzPts val="1800"/>
              <a:buFont typeface="Comfortaa"/>
              <a:buChar char="▪"/>
            </a:pPr>
            <a:r>
              <a:rPr i="0" lang="pt-BR" sz="1800" u="none" cap="none" strike="noStrike">
                <a:solidFill>
                  <a:schemeClr val="dk1"/>
                </a:solidFill>
                <a:latin typeface="Comfortaa"/>
                <a:ea typeface="Comfortaa"/>
                <a:cs typeface="Comfortaa"/>
                <a:sym typeface="Comfortaa"/>
              </a:rPr>
              <a:t>cos(PaP,WH) ≈ 0.69</a:t>
            </a:r>
            <a:endParaRPr sz="800">
              <a:latin typeface="Comfortaa"/>
              <a:ea typeface="Comfortaa"/>
              <a:cs typeface="Comfortaa"/>
              <a:sym typeface="Comfortaa"/>
            </a:endParaRPr>
          </a:p>
          <a:p>
            <a:pPr indent="-247650" lvl="1" marL="742950" marR="0" rtl="0" algn="l">
              <a:spcBef>
                <a:spcPts val="0"/>
              </a:spcBef>
              <a:spcAft>
                <a:spcPts val="0"/>
              </a:spcAft>
              <a:buClr>
                <a:srgbClr val="336699"/>
              </a:buClr>
              <a:buSzPts val="1800"/>
              <a:buFont typeface="Comfortaa"/>
              <a:buChar char="▪"/>
            </a:pPr>
            <a:r>
              <a:rPr i="0" lang="pt-BR" sz="1800" u="none" cap="none" strike="noStrike">
                <a:solidFill>
                  <a:srgbClr val="00B050"/>
                </a:solidFill>
                <a:latin typeface="Comfortaa"/>
                <a:ea typeface="Comfortaa"/>
                <a:cs typeface="Comfortaa"/>
                <a:sym typeface="Comfortaa"/>
              </a:rPr>
              <a:t>Why do we have cos(SaS,PaP) &gt; cos(SAS,WH)?</a:t>
            </a:r>
            <a:endParaRPr i="0" sz="1800" u="none" cap="none" strike="noStrike">
              <a:solidFill>
                <a:srgbClr val="00B050"/>
              </a:solidFill>
              <a:latin typeface="Comfortaa"/>
              <a:ea typeface="Comfortaa"/>
              <a:cs typeface="Comfortaa"/>
              <a:sym typeface="Comfortaa"/>
            </a:endParaRPr>
          </a:p>
        </p:txBody>
      </p:sp>
      <p:sp>
        <p:nvSpPr>
          <p:cNvPr id="403" name="Google Shape;403;g3f9ebdf94e2_0_89"/>
          <p:cNvSpPr txBox="1"/>
          <p:nvPr/>
        </p:nvSpPr>
        <p:spPr>
          <a:xfrm>
            <a:off x="5844725" y="120850"/>
            <a:ext cx="318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(Schütze and Lioma, 2010)</a:t>
            </a:r>
            <a:endParaRPr sz="1800">
              <a:solidFill>
                <a:srgbClr val="434343"/>
              </a:solidFill>
              <a:latin typeface="Comfortaa"/>
              <a:ea typeface="Comfortaa"/>
              <a:cs typeface="Comfortaa"/>
              <a:sym typeface="Comforta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f8e6e79044_0_0"/>
          <p:cNvSpPr/>
          <p:nvPr/>
        </p:nvSpPr>
        <p:spPr>
          <a:xfrm>
            <a:off x="4449625" y="4177875"/>
            <a:ext cx="28647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3f8e6e79044_0_0"/>
          <p:cNvSpPr/>
          <p:nvPr/>
        </p:nvSpPr>
        <p:spPr>
          <a:xfrm>
            <a:off x="4449625" y="3958575"/>
            <a:ext cx="13551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g3f8e6e79044_0_0"/>
          <p:cNvSpPr/>
          <p:nvPr/>
        </p:nvSpPr>
        <p:spPr>
          <a:xfrm>
            <a:off x="4449625" y="4397175"/>
            <a:ext cx="24774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3f8e6e79044_0_0"/>
          <p:cNvSpPr txBox="1"/>
          <p:nvPr/>
        </p:nvSpPr>
        <p:spPr>
          <a:xfrm>
            <a:off x="4400875" y="3866000"/>
            <a:ext cx="2958300" cy="75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André Santanchè</a:t>
            </a:r>
            <a:endParaRPr b="0" i="0" sz="1400" u="none" cap="none" strike="noStrike">
              <a:solidFill>
                <a:srgbClr val="BF3730"/>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Laboratory of Information Systems - LIS</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Instituto de Computação - UNICAMP</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dvent Pro Medium"/>
              <a:ea typeface="Advent Pro Medium"/>
              <a:cs typeface="Advent Pro Medium"/>
              <a:sym typeface="Advent Pro Medium"/>
            </a:endParaRPr>
          </a:p>
        </p:txBody>
      </p:sp>
      <p:sp>
        <p:nvSpPr>
          <p:cNvPr id="412" name="Google Shape;412;g3f8e6e79044_0_0"/>
          <p:cNvSpPr txBox="1"/>
          <p:nvPr/>
        </p:nvSpPr>
        <p:spPr>
          <a:xfrm>
            <a:off x="4295300" y="311000"/>
            <a:ext cx="4763400" cy="225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pt-BR" sz="1200" u="none" cap="none" strike="noStrike">
                <a:solidFill>
                  <a:srgbClr val="EFEFEF"/>
                </a:solidFill>
                <a:latin typeface="Advent Pro"/>
                <a:ea typeface="Advent Pro"/>
                <a:cs typeface="Advent Pro"/>
                <a:sym typeface="Advent Pro"/>
              </a:rPr>
              <a:t>NATURAL LANGUAGE PROCESSING</a:t>
            </a:r>
            <a:endParaRPr b="1" i="0" sz="1200" u="none" cap="none" strike="noStrike">
              <a:solidFill>
                <a:srgbClr val="EFEFEF"/>
              </a:solidFill>
              <a:latin typeface="Advent Pro"/>
              <a:ea typeface="Advent Pro"/>
              <a:cs typeface="Advent Pro"/>
              <a:sym typeface="Advent Pro"/>
            </a:endParaRPr>
          </a:p>
          <a:p>
            <a:pPr indent="0" lvl="0" marL="0" marR="0" rtl="0" algn="l">
              <a:lnSpc>
                <a:spcPct val="100000"/>
              </a:lnSpc>
              <a:spcBef>
                <a:spcPts val="0"/>
              </a:spcBef>
              <a:spcAft>
                <a:spcPts val="0"/>
              </a:spcAft>
              <a:buClr>
                <a:srgbClr val="000000"/>
              </a:buClr>
              <a:buSzPts val="4800"/>
              <a:buFont typeface="Arial"/>
              <a:buNone/>
            </a:pPr>
            <a:r>
              <a:rPr b="1" lang="pt-BR" sz="4800">
                <a:solidFill>
                  <a:srgbClr val="FFFFFF"/>
                </a:solidFill>
                <a:latin typeface="Advent Pro"/>
                <a:ea typeface="Advent Pro"/>
                <a:cs typeface="Advent Pro"/>
                <a:sym typeface="Advent Pro"/>
              </a:rPr>
              <a:t>Vector Space</a:t>
            </a:r>
            <a:endParaRPr b="1" sz="4800">
              <a:solidFill>
                <a:srgbClr val="FFFFFF"/>
              </a:solidFill>
              <a:latin typeface="Advent Pro"/>
              <a:ea typeface="Advent Pro"/>
              <a:cs typeface="Advent Pro"/>
              <a:sym typeface="Advent Pro"/>
            </a:endParaRPr>
          </a:p>
          <a:p>
            <a:pPr indent="0" lvl="0" marL="0" marR="0" rtl="0" algn="l">
              <a:lnSpc>
                <a:spcPct val="100000"/>
              </a:lnSpc>
              <a:spcBef>
                <a:spcPts val="0"/>
              </a:spcBef>
              <a:spcAft>
                <a:spcPts val="0"/>
              </a:spcAft>
              <a:buClr>
                <a:srgbClr val="000000"/>
              </a:buClr>
              <a:buSzPts val="4800"/>
              <a:buFont typeface="Arial"/>
              <a:buNone/>
            </a:pPr>
            <a:r>
              <a:rPr b="1" lang="pt-BR" sz="4800">
                <a:solidFill>
                  <a:srgbClr val="FFFFFF"/>
                </a:solidFill>
                <a:latin typeface="Advent Pro"/>
                <a:ea typeface="Advent Pro"/>
                <a:cs typeface="Advent Pro"/>
                <a:sym typeface="Advent Pro"/>
              </a:rPr>
              <a:t>part 2</a:t>
            </a:r>
            <a:endParaRPr b="1" sz="4800">
              <a:solidFill>
                <a:srgbClr val="FFFFFF"/>
              </a:solidFill>
              <a:latin typeface="Advent Pro"/>
              <a:ea typeface="Advent Pro"/>
              <a:cs typeface="Advent Pro"/>
              <a:sym typeface="Advent Pro"/>
            </a:endParaRPr>
          </a:p>
        </p:txBody>
      </p:sp>
      <p:sp>
        <p:nvSpPr>
          <p:cNvPr id="413" name="Google Shape;413;g3f8e6e79044_0_0"/>
          <p:cNvSpPr txBox="1"/>
          <p:nvPr/>
        </p:nvSpPr>
        <p:spPr>
          <a:xfrm>
            <a:off x="4400875" y="4648400"/>
            <a:ext cx="2326500" cy="27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pt-BR" sz="1100">
                <a:solidFill>
                  <a:schemeClr val="lt1"/>
                </a:solidFill>
                <a:latin typeface="Advent Pro"/>
                <a:ea typeface="Advent Pro"/>
                <a:cs typeface="Advent Pro"/>
                <a:sym typeface="Advent Pro"/>
              </a:rPr>
              <a:t>September</a:t>
            </a:r>
            <a:r>
              <a:rPr b="1" i="0" lang="pt-BR" sz="1100" u="none" cap="none" strike="noStrike">
                <a:solidFill>
                  <a:schemeClr val="lt1"/>
                </a:solidFill>
                <a:latin typeface="Advent Pro"/>
                <a:ea typeface="Advent Pro"/>
                <a:cs typeface="Advent Pro"/>
                <a:sym typeface="Advent Pro"/>
              </a:rPr>
              <a:t> 2026</a:t>
            </a:r>
            <a:endParaRPr b="1" i="0" sz="1100" u="none" cap="none" strike="noStrike">
              <a:solidFill>
                <a:schemeClr val="lt1"/>
              </a:solidFill>
              <a:latin typeface="Advent Pro"/>
              <a:ea typeface="Advent Pro"/>
              <a:cs typeface="Advent Pro"/>
              <a:sym typeface="Advent Pro"/>
            </a:endParaRPr>
          </a:p>
        </p:txBody>
      </p:sp>
      <p:pic>
        <p:nvPicPr>
          <p:cNvPr id="414" name="Google Shape;414;g3f8e6e79044_0_0"/>
          <p:cNvPicPr preferRelativeResize="0"/>
          <p:nvPr/>
        </p:nvPicPr>
        <p:blipFill rotWithShape="1">
          <a:blip r:embed="rId3">
            <a:alphaModFix/>
          </a:blip>
          <a:srcRect b="0" l="0" r="0" t="0"/>
          <a:stretch/>
        </p:blipFill>
        <p:spPr>
          <a:xfrm>
            <a:off x="163398" y="588827"/>
            <a:ext cx="3716575" cy="2195250"/>
          </a:xfrm>
          <a:prstGeom prst="rect">
            <a:avLst/>
          </a:prstGeom>
          <a:noFill/>
          <a:ln>
            <a:noFill/>
          </a:ln>
        </p:spPr>
      </p:pic>
      <p:pic>
        <p:nvPicPr>
          <p:cNvPr id="415" name="Google Shape;415;g3f8e6e79044_0_0"/>
          <p:cNvPicPr preferRelativeResize="0"/>
          <p:nvPr/>
        </p:nvPicPr>
        <p:blipFill>
          <a:blip r:embed="rId4">
            <a:alphaModFix/>
          </a:blip>
          <a:stretch>
            <a:fillRect/>
          </a:stretch>
        </p:blipFill>
        <p:spPr>
          <a:xfrm>
            <a:off x="977625" y="3230375"/>
            <a:ext cx="2690172" cy="1241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f8b35c8c4a_0_7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Semantics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f8b35c8c4a_0_226"/>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Syntax</a:t>
            </a:r>
            <a:r>
              <a:rPr lang="pt-BR"/>
              <a:t> and Semantics</a:t>
            </a:r>
            <a:endParaRPr/>
          </a:p>
        </p:txBody>
      </p:sp>
      <p:sp>
        <p:nvSpPr>
          <p:cNvPr id="426" name="Google Shape;426;g3f8b35c8c4a_0_226"/>
          <p:cNvSpPr txBox="1"/>
          <p:nvPr>
            <p:ph idx="1" type="body"/>
          </p:nvPr>
        </p:nvSpPr>
        <p:spPr>
          <a:xfrm>
            <a:off x="457172" y="1203631"/>
            <a:ext cx="8228700" cy="339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a:t>“Colorless green ideas sleep furiously”</a:t>
            </a:r>
            <a:endParaRPr/>
          </a:p>
          <a:p>
            <a:pPr indent="0" lvl="0" marL="0" rtl="0" algn="r">
              <a:spcBef>
                <a:spcPts val="0"/>
              </a:spcBef>
              <a:spcAft>
                <a:spcPts val="0"/>
              </a:spcAft>
              <a:buNone/>
            </a:pPr>
            <a:r>
              <a:rPr lang="pt-BR"/>
              <a:t>(Noam Chomsky, 1957)</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f8b35c8c4a_0_231"/>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Syntax and Semantics</a:t>
            </a:r>
            <a:endParaRPr/>
          </a:p>
        </p:txBody>
      </p:sp>
      <p:sp>
        <p:nvSpPr>
          <p:cNvPr id="432" name="Google Shape;432;g3f8b35c8c4a_0_231"/>
          <p:cNvSpPr txBox="1"/>
          <p:nvPr>
            <p:ph idx="1" type="body"/>
          </p:nvPr>
        </p:nvSpPr>
        <p:spPr>
          <a:xfrm>
            <a:off x="457175" y="1203629"/>
            <a:ext cx="8228700" cy="125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a:t>“Colorless green ideas sleep furiously”</a:t>
            </a:r>
            <a:endParaRPr/>
          </a:p>
          <a:p>
            <a:pPr indent="0" lvl="0" marL="0" rtl="0" algn="r">
              <a:spcBef>
                <a:spcPts val="0"/>
              </a:spcBef>
              <a:spcAft>
                <a:spcPts val="0"/>
              </a:spcAft>
              <a:buNone/>
            </a:pPr>
            <a:r>
              <a:rPr lang="pt-BR"/>
              <a:t>(Noam Chomsky, 1957)</a:t>
            </a:r>
            <a:endParaRPr/>
          </a:p>
        </p:txBody>
      </p:sp>
      <p:pic>
        <p:nvPicPr>
          <p:cNvPr id="433" name="Google Shape;433;g3f8b35c8c4a_0_231"/>
          <p:cNvPicPr preferRelativeResize="0"/>
          <p:nvPr/>
        </p:nvPicPr>
        <p:blipFill>
          <a:blip r:embed="rId3">
            <a:alphaModFix/>
          </a:blip>
          <a:stretch>
            <a:fillRect/>
          </a:stretch>
        </p:blipFill>
        <p:spPr>
          <a:xfrm>
            <a:off x="90425" y="2088549"/>
            <a:ext cx="4987500" cy="2933825"/>
          </a:xfrm>
          <a:prstGeom prst="rect">
            <a:avLst/>
          </a:prstGeom>
          <a:noFill/>
          <a:ln>
            <a:noFill/>
          </a:ln>
        </p:spPr>
      </p:pic>
      <p:sp>
        <p:nvSpPr>
          <p:cNvPr id="434" name="Google Shape;434;g3f8b35c8c4a_0_231"/>
          <p:cNvSpPr txBox="1"/>
          <p:nvPr/>
        </p:nvSpPr>
        <p:spPr>
          <a:xfrm>
            <a:off x="5505250" y="2908425"/>
            <a:ext cx="2373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Syntax ✅</a:t>
            </a:r>
            <a:endParaRPr sz="3000">
              <a:solidFill>
                <a:srgbClr val="434343"/>
              </a:solidFill>
              <a:latin typeface="Comfortaa"/>
              <a:ea typeface="Comfortaa"/>
              <a:cs typeface="Comfortaa"/>
              <a:sym typeface="Comforta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f8b35c8c4a_0_238"/>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Syntax and Semantics</a:t>
            </a:r>
            <a:endParaRPr/>
          </a:p>
        </p:txBody>
      </p:sp>
      <p:sp>
        <p:nvSpPr>
          <p:cNvPr id="440" name="Google Shape;440;g3f8b35c8c4a_0_238"/>
          <p:cNvSpPr txBox="1"/>
          <p:nvPr>
            <p:ph idx="1" type="body"/>
          </p:nvPr>
        </p:nvSpPr>
        <p:spPr>
          <a:xfrm>
            <a:off x="457175" y="1203629"/>
            <a:ext cx="8228700" cy="125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a:t>“Colorless green ideas sleep furiously”</a:t>
            </a:r>
            <a:endParaRPr/>
          </a:p>
          <a:p>
            <a:pPr indent="0" lvl="0" marL="0" rtl="0" algn="r">
              <a:spcBef>
                <a:spcPts val="0"/>
              </a:spcBef>
              <a:spcAft>
                <a:spcPts val="0"/>
              </a:spcAft>
              <a:buNone/>
            </a:pPr>
            <a:r>
              <a:rPr lang="pt-BR"/>
              <a:t>(Noam Chomsky, 1957)</a:t>
            </a:r>
            <a:endParaRPr/>
          </a:p>
        </p:txBody>
      </p:sp>
      <p:pic>
        <p:nvPicPr>
          <p:cNvPr id="441" name="Google Shape;441;g3f8b35c8c4a_0_238"/>
          <p:cNvPicPr preferRelativeResize="0"/>
          <p:nvPr/>
        </p:nvPicPr>
        <p:blipFill>
          <a:blip r:embed="rId3">
            <a:alphaModFix/>
          </a:blip>
          <a:stretch>
            <a:fillRect/>
          </a:stretch>
        </p:blipFill>
        <p:spPr>
          <a:xfrm>
            <a:off x="90425" y="2088549"/>
            <a:ext cx="4987500" cy="2933825"/>
          </a:xfrm>
          <a:prstGeom prst="rect">
            <a:avLst/>
          </a:prstGeom>
          <a:noFill/>
          <a:ln>
            <a:noFill/>
          </a:ln>
        </p:spPr>
      </p:pic>
      <p:sp>
        <p:nvSpPr>
          <p:cNvPr id="442" name="Google Shape;442;g3f8b35c8c4a_0_238"/>
          <p:cNvSpPr txBox="1"/>
          <p:nvPr/>
        </p:nvSpPr>
        <p:spPr>
          <a:xfrm>
            <a:off x="5505250" y="2908425"/>
            <a:ext cx="3034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Syntax ✅</a:t>
            </a:r>
            <a:endParaRPr sz="3000">
              <a:solidFill>
                <a:srgbClr val="434343"/>
              </a:solidFill>
              <a:latin typeface="Comfortaa"/>
              <a:ea typeface="Comfortaa"/>
              <a:cs typeface="Comfortaa"/>
              <a:sym typeface="Comfortaa"/>
            </a:endParaRPr>
          </a:p>
          <a:p>
            <a:pPr indent="0" lvl="0" marL="0" rtl="0" algn="l">
              <a:spcBef>
                <a:spcPts val="0"/>
              </a:spcBef>
              <a:spcAft>
                <a:spcPts val="0"/>
              </a:spcAft>
              <a:buNone/>
            </a:pPr>
            <a:r>
              <a:rPr lang="pt-BR" sz="3000">
                <a:solidFill>
                  <a:srgbClr val="434343"/>
                </a:solidFill>
                <a:latin typeface="Comfortaa"/>
                <a:ea typeface="Comfortaa"/>
                <a:cs typeface="Comfortaa"/>
                <a:sym typeface="Comfortaa"/>
              </a:rPr>
              <a:t>Semantics</a:t>
            </a:r>
            <a:r>
              <a:rPr lang="pt-BR" sz="3000">
                <a:solidFill>
                  <a:srgbClr val="434343"/>
                </a:solidFill>
                <a:latin typeface="Comfortaa"/>
                <a:ea typeface="Comfortaa"/>
                <a:cs typeface="Comfortaa"/>
                <a:sym typeface="Comfortaa"/>
              </a:rPr>
              <a:t>❓</a:t>
            </a:r>
            <a:endParaRPr b="1" sz="3000">
              <a:solidFill>
                <a:srgbClr val="DB2E2C"/>
              </a:solidFill>
              <a:latin typeface="Comfortaa"/>
              <a:ea typeface="Comfortaa"/>
              <a:cs typeface="Comfortaa"/>
              <a:sym typeface="Comfortaa"/>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3f8b35c8c4a_0_378"/>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Cell?</a:t>
            </a:r>
            <a:endParaRPr b="1" i="0" sz="3000" u="none" cap="none" strike="noStrike">
              <a:solidFill>
                <a:srgbClr val="252323"/>
              </a:solidFill>
              <a:latin typeface="Comfortaa"/>
              <a:ea typeface="Comfortaa"/>
              <a:cs typeface="Comfortaa"/>
              <a:sym typeface="Comfortaa"/>
            </a:endParaRPr>
          </a:p>
        </p:txBody>
      </p:sp>
      <p:sp>
        <p:nvSpPr>
          <p:cNvPr id="448" name="Google Shape;448;g3f8b35c8c4a_0_378"/>
          <p:cNvSpPr txBox="1"/>
          <p:nvPr/>
        </p:nvSpPr>
        <p:spPr>
          <a:xfrm>
            <a:off x="457172" y="1203299"/>
            <a:ext cx="8228700" cy="3394200"/>
          </a:xfrm>
          <a:prstGeom prst="rect">
            <a:avLst/>
          </a:prstGeom>
          <a:noFill/>
          <a:ln>
            <a:noFill/>
          </a:ln>
        </p:spPr>
        <p:txBody>
          <a:bodyPr anchorCtr="0" anchor="t" bIns="0" lIns="0" spcFirstLastPara="1" rIns="0" wrap="square" tIns="0">
            <a:noAutofit/>
          </a:bodyPr>
          <a:lstStyle/>
          <a:p>
            <a:pPr indent="-292100" lvl="0" marL="393700" marR="0" rtl="0" algn="l">
              <a:lnSpc>
                <a:spcPct val="100000"/>
              </a:lnSpc>
              <a:spcBef>
                <a:spcPts val="0"/>
              </a:spcBef>
              <a:spcAft>
                <a:spcPts val="0"/>
              </a:spcAft>
              <a:buClr>
                <a:srgbClr val="000000"/>
              </a:buClr>
              <a:buSzPts val="2800"/>
              <a:buFont typeface="Trebuchet MS"/>
              <a:buChar char="▪"/>
            </a:pPr>
            <a:r>
              <a:rPr b="0" i="0" lang="pt-BR" sz="2200" u="none" cap="none" strike="noStrike">
                <a:solidFill>
                  <a:srgbClr val="252323"/>
                </a:solidFill>
                <a:latin typeface="Comfortaa"/>
                <a:ea typeface="Comfortaa"/>
                <a:cs typeface="Comfortaa"/>
                <a:sym typeface="Comfortaa"/>
              </a:rPr>
              <a:t>"</a:t>
            </a:r>
            <a:r>
              <a:rPr b="1" i="0" lang="pt-BR" sz="2200" u="none" cap="none" strike="noStrike">
                <a:solidFill>
                  <a:srgbClr val="252323"/>
                </a:solidFill>
                <a:latin typeface="Comfortaa"/>
                <a:ea typeface="Comfortaa"/>
                <a:cs typeface="Comfortaa"/>
                <a:sym typeface="Comfortaa"/>
              </a:rPr>
              <a:t>Cell</a:t>
            </a:r>
            <a:r>
              <a:rPr b="0" i="0" lang="pt-BR" sz="2200" u="none" cap="none" strike="noStrike">
                <a:solidFill>
                  <a:srgbClr val="252323"/>
                </a:solidFill>
                <a:latin typeface="Comfortaa"/>
                <a:ea typeface="Comfortaa"/>
                <a:cs typeface="Comfortaa"/>
                <a:sym typeface="Comfortaa"/>
              </a:rPr>
              <a:t> of Saint Teresa de Ávila in the Convent of Saint Joseph" (Wikipedia, 2022)</a:t>
            </a:r>
            <a:endParaRPr b="0" i="0" sz="2200" u="none" cap="none" strike="noStrike">
              <a:solidFill>
                <a:srgbClr val="252323"/>
              </a:solidFill>
              <a:latin typeface="Comfortaa"/>
              <a:ea typeface="Comfortaa"/>
              <a:cs typeface="Comfortaa"/>
              <a:sym typeface="Comfortaa"/>
            </a:endParaRPr>
          </a:p>
          <a:p>
            <a:pPr indent="-114300" lvl="0" marL="393700" marR="0" rtl="0" algn="l">
              <a:lnSpc>
                <a:spcPct val="100000"/>
              </a:lnSpc>
              <a:spcBef>
                <a:spcPts val="1000"/>
              </a:spcBef>
              <a:spcAft>
                <a:spcPts val="0"/>
              </a:spcAft>
              <a:buClr>
                <a:srgbClr val="000000"/>
              </a:buClr>
              <a:buSzPts val="2800"/>
              <a:buFont typeface="Trebuchet MS"/>
              <a:buNone/>
            </a:pPr>
            <a:r>
              <a:t/>
            </a:r>
            <a:endParaRPr b="0" i="0" sz="2200" u="none" cap="none" strike="noStrike">
              <a:solidFill>
                <a:srgbClr val="252323"/>
              </a:solidFill>
              <a:latin typeface="Comfortaa"/>
              <a:ea typeface="Comfortaa"/>
              <a:cs typeface="Comfortaa"/>
              <a:sym typeface="Comfortaa"/>
            </a:endParaRPr>
          </a:p>
          <a:p>
            <a:pPr indent="-292100" lvl="0" marL="393700" marR="0" rtl="0" algn="l">
              <a:lnSpc>
                <a:spcPct val="100000"/>
              </a:lnSpc>
              <a:spcBef>
                <a:spcPts val="1000"/>
              </a:spcBef>
              <a:spcAft>
                <a:spcPts val="0"/>
              </a:spcAft>
              <a:buClr>
                <a:srgbClr val="000000"/>
              </a:buClr>
              <a:buSzPts val="2800"/>
              <a:buFont typeface="Trebuchet MS"/>
              <a:buChar char="▪"/>
            </a:pPr>
            <a:r>
              <a:rPr b="0" i="0" lang="pt-BR" sz="2200" u="none" cap="none" strike="noStrike">
                <a:solidFill>
                  <a:srgbClr val="252323"/>
                </a:solidFill>
                <a:latin typeface="Comfortaa"/>
                <a:ea typeface="Comfortaa"/>
                <a:cs typeface="Comfortaa"/>
                <a:sym typeface="Comfortaa"/>
              </a:rPr>
              <a:t>"... is the process by which a </a:t>
            </a:r>
            <a:r>
              <a:rPr b="1" i="0" lang="pt-BR" sz="2200" u="none" cap="none" strike="noStrike">
                <a:solidFill>
                  <a:srgbClr val="252323"/>
                </a:solidFill>
                <a:latin typeface="Comfortaa"/>
                <a:ea typeface="Comfortaa"/>
                <a:cs typeface="Comfortaa"/>
                <a:sym typeface="Comfortaa"/>
              </a:rPr>
              <a:t>cell</a:t>
            </a:r>
            <a:r>
              <a:rPr b="0" i="0" lang="pt-BR" sz="2200" u="none" cap="none" strike="noStrike">
                <a:solidFill>
                  <a:srgbClr val="252323"/>
                </a:solidFill>
                <a:latin typeface="Comfortaa"/>
                <a:ea typeface="Comfortaa"/>
                <a:cs typeface="Comfortaa"/>
                <a:sym typeface="Comfortaa"/>
              </a:rPr>
              <a:t> uses its plasma membrane to engulf a large particle" (Wikipedia, 2022)</a:t>
            </a:r>
            <a:endParaRPr b="0" i="0" sz="2200" u="none" cap="none" strike="noStrike">
              <a:solidFill>
                <a:srgbClr val="252323"/>
              </a:solidFill>
              <a:latin typeface="Comfortaa"/>
              <a:ea typeface="Comfortaa"/>
              <a:cs typeface="Comfortaa"/>
              <a:sym typeface="Comforta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g3f8b35c8c4a_0_383"/>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Cell and Context</a:t>
            </a:r>
            <a:endParaRPr b="1" i="0" sz="3000" u="none" cap="none" strike="noStrike">
              <a:solidFill>
                <a:srgbClr val="252323"/>
              </a:solidFill>
              <a:latin typeface="Comfortaa"/>
              <a:ea typeface="Comfortaa"/>
              <a:cs typeface="Comfortaa"/>
              <a:sym typeface="Comfortaa"/>
            </a:endParaRPr>
          </a:p>
        </p:txBody>
      </p:sp>
      <p:sp>
        <p:nvSpPr>
          <p:cNvPr id="454" name="Google Shape;454;g3f8b35c8c4a_0_383"/>
          <p:cNvSpPr txBox="1"/>
          <p:nvPr/>
        </p:nvSpPr>
        <p:spPr>
          <a:xfrm>
            <a:off x="457172" y="1203299"/>
            <a:ext cx="8228700" cy="3394200"/>
          </a:xfrm>
          <a:prstGeom prst="rect">
            <a:avLst/>
          </a:prstGeom>
          <a:noFill/>
          <a:ln>
            <a:noFill/>
          </a:ln>
        </p:spPr>
        <p:txBody>
          <a:bodyPr anchorCtr="0" anchor="t" bIns="0" lIns="0" spcFirstLastPara="1" rIns="0" wrap="square" tIns="0">
            <a:noAutofit/>
          </a:bodyPr>
          <a:lstStyle/>
          <a:p>
            <a:pPr indent="-292100" lvl="0" marL="393700" marR="0" rtl="0" algn="l">
              <a:lnSpc>
                <a:spcPct val="100000"/>
              </a:lnSpc>
              <a:spcBef>
                <a:spcPts val="0"/>
              </a:spcBef>
              <a:spcAft>
                <a:spcPts val="0"/>
              </a:spcAft>
              <a:buClr>
                <a:srgbClr val="000000"/>
              </a:buClr>
              <a:buSzPts val="2800"/>
              <a:buFont typeface="Trebuchet MS"/>
              <a:buChar char="▪"/>
            </a:pPr>
            <a:r>
              <a:rPr b="0" i="0" lang="pt-BR" sz="2200" u="none" cap="none" strike="noStrike">
                <a:solidFill>
                  <a:srgbClr val="252323"/>
                </a:solidFill>
                <a:latin typeface="Comfortaa"/>
                <a:ea typeface="Comfortaa"/>
                <a:cs typeface="Comfortaa"/>
                <a:sym typeface="Comfortaa"/>
              </a:rPr>
              <a:t>"</a:t>
            </a:r>
            <a:r>
              <a:rPr b="1" i="0" lang="pt-BR" sz="2200" u="none" cap="none" strike="noStrike">
                <a:solidFill>
                  <a:srgbClr val="252323"/>
                </a:solidFill>
                <a:latin typeface="Comfortaa"/>
                <a:ea typeface="Comfortaa"/>
                <a:cs typeface="Comfortaa"/>
                <a:sym typeface="Comfortaa"/>
              </a:rPr>
              <a:t>Cell</a:t>
            </a:r>
            <a:r>
              <a:rPr b="0" i="0" lang="pt-BR" sz="2200" u="none" cap="none" strike="noStrike">
                <a:solidFill>
                  <a:srgbClr val="252323"/>
                </a:solidFill>
                <a:latin typeface="Comfortaa"/>
                <a:ea typeface="Comfortaa"/>
                <a:cs typeface="Comfortaa"/>
                <a:sym typeface="Comfortaa"/>
              </a:rPr>
              <a:t> of </a:t>
            </a:r>
            <a:r>
              <a:rPr b="1" i="0" lang="pt-BR" sz="2200" u="none" cap="none" strike="noStrike">
                <a:solidFill>
                  <a:srgbClr val="2A6099"/>
                </a:solidFill>
                <a:latin typeface="Comfortaa"/>
                <a:ea typeface="Comfortaa"/>
                <a:cs typeface="Comfortaa"/>
                <a:sym typeface="Comfortaa"/>
              </a:rPr>
              <a:t>Saint Teresa de Ávila</a:t>
            </a:r>
            <a:r>
              <a:rPr b="0" i="0" lang="pt-BR" sz="2200" u="none" cap="none" strike="noStrike">
                <a:solidFill>
                  <a:srgbClr val="252323"/>
                </a:solidFill>
                <a:latin typeface="Comfortaa"/>
                <a:ea typeface="Comfortaa"/>
                <a:cs typeface="Comfortaa"/>
                <a:sym typeface="Comfortaa"/>
              </a:rPr>
              <a:t> in the </a:t>
            </a:r>
            <a:r>
              <a:rPr b="1" i="0" lang="pt-BR" sz="2200" u="none" cap="none" strike="noStrike">
                <a:solidFill>
                  <a:srgbClr val="158466"/>
                </a:solidFill>
                <a:latin typeface="Comfortaa"/>
                <a:ea typeface="Comfortaa"/>
                <a:cs typeface="Comfortaa"/>
                <a:sym typeface="Comfortaa"/>
              </a:rPr>
              <a:t>Convent of Saint Joseph</a:t>
            </a:r>
            <a:r>
              <a:rPr b="0" i="0" lang="pt-BR" sz="2200" u="none" cap="none" strike="noStrike">
                <a:solidFill>
                  <a:srgbClr val="252323"/>
                </a:solidFill>
                <a:latin typeface="Comfortaa"/>
                <a:ea typeface="Comfortaa"/>
                <a:cs typeface="Comfortaa"/>
                <a:sym typeface="Comfortaa"/>
              </a:rPr>
              <a:t>" (Wikipedia, 2022)</a:t>
            </a:r>
            <a:endParaRPr b="0" i="0" sz="2200" u="none" cap="none" strike="noStrike">
              <a:solidFill>
                <a:srgbClr val="252323"/>
              </a:solidFill>
              <a:latin typeface="Comfortaa"/>
              <a:ea typeface="Comfortaa"/>
              <a:cs typeface="Comfortaa"/>
              <a:sym typeface="Comfortaa"/>
            </a:endParaRPr>
          </a:p>
          <a:p>
            <a:pPr indent="-114300" lvl="0" marL="393700" marR="0" rtl="0" algn="l">
              <a:lnSpc>
                <a:spcPct val="100000"/>
              </a:lnSpc>
              <a:spcBef>
                <a:spcPts val="1000"/>
              </a:spcBef>
              <a:spcAft>
                <a:spcPts val="0"/>
              </a:spcAft>
              <a:buClr>
                <a:srgbClr val="000000"/>
              </a:buClr>
              <a:buSzPts val="2800"/>
              <a:buFont typeface="Trebuchet MS"/>
              <a:buNone/>
            </a:pPr>
            <a:r>
              <a:t/>
            </a:r>
            <a:endParaRPr b="0" i="0" sz="2200" u="none" cap="none" strike="noStrike">
              <a:solidFill>
                <a:srgbClr val="252323"/>
              </a:solidFill>
              <a:latin typeface="Comfortaa"/>
              <a:ea typeface="Comfortaa"/>
              <a:cs typeface="Comfortaa"/>
              <a:sym typeface="Comfortaa"/>
            </a:endParaRPr>
          </a:p>
          <a:p>
            <a:pPr indent="-292100" lvl="0" marL="393700" marR="0" rtl="0" algn="l">
              <a:lnSpc>
                <a:spcPct val="100000"/>
              </a:lnSpc>
              <a:spcBef>
                <a:spcPts val="1000"/>
              </a:spcBef>
              <a:spcAft>
                <a:spcPts val="0"/>
              </a:spcAft>
              <a:buClr>
                <a:srgbClr val="000000"/>
              </a:buClr>
              <a:buSzPts val="2800"/>
              <a:buFont typeface="Trebuchet MS"/>
              <a:buChar char="▪"/>
            </a:pPr>
            <a:r>
              <a:rPr b="0" i="0" lang="pt-BR" sz="2200" u="none" cap="none" strike="noStrike">
                <a:solidFill>
                  <a:srgbClr val="252323"/>
                </a:solidFill>
                <a:latin typeface="Comfortaa"/>
                <a:ea typeface="Comfortaa"/>
                <a:cs typeface="Comfortaa"/>
                <a:sym typeface="Comfortaa"/>
              </a:rPr>
              <a:t>"... is the process by which a </a:t>
            </a:r>
            <a:r>
              <a:rPr b="1" i="0" lang="pt-BR" sz="2200" u="none" cap="none" strike="noStrike">
                <a:solidFill>
                  <a:srgbClr val="252323"/>
                </a:solidFill>
                <a:latin typeface="Comfortaa"/>
                <a:ea typeface="Comfortaa"/>
                <a:cs typeface="Comfortaa"/>
                <a:sym typeface="Comfortaa"/>
              </a:rPr>
              <a:t>cell</a:t>
            </a:r>
            <a:r>
              <a:rPr b="0" i="0" lang="pt-BR" sz="2200" u="none" cap="none" strike="noStrike">
                <a:solidFill>
                  <a:srgbClr val="252323"/>
                </a:solidFill>
                <a:latin typeface="Comfortaa"/>
                <a:ea typeface="Comfortaa"/>
                <a:cs typeface="Comfortaa"/>
                <a:sym typeface="Comfortaa"/>
              </a:rPr>
              <a:t> uses its </a:t>
            </a:r>
            <a:r>
              <a:rPr b="1" i="0" lang="pt-BR" sz="2200" u="none" cap="none" strike="noStrike">
                <a:solidFill>
                  <a:srgbClr val="55308D"/>
                </a:solidFill>
                <a:latin typeface="Comfortaa"/>
                <a:ea typeface="Comfortaa"/>
                <a:cs typeface="Comfortaa"/>
                <a:sym typeface="Comfortaa"/>
              </a:rPr>
              <a:t>plasma membrane</a:t>
            </a:r>
            <a:r>
              <a:rPr b="0" i="0" lang="pt-BR" sz="2200" u="none" cap="none" strike="noStrike">
                <a:solidFill>
                  <a:srgbClr val="252323"/>
                </a:solidFill>
                <a:latin typeface="Comfortaa"/>
                <a:ea typeface="Comfortaa"/>
                <a:cs typeface="Comfortaa"/>
                <a:sym typeface="Comfortaa"/>
              </a:rPr>
              <a:t> to </a:t>
            </a:r>
            <a:r>
              <a:rPr b="1" i="0" lang="pt-BR" sz="2200" u="none" cap="none" strike="noStrike">
                <a:solidFill>
                  <a:srgbClr val="FF4000"/>
                </a:solidFill>
                <a:latin typeface="Comfortaa"/>
                <a:ea typeface="Comfortaa"/>
                <a:cs typeface="Comfortaa"/>
                <a:sym typeface="Comfortaa"/>
              </a:rPr>
              <a:t>engulf a large particle</a:t>
            </a:r>
            <a:r>
              <a:rPr b="0" i="0" lang="pt-BR" sz="2200" u="none" cap="none" strike="noStrike">
                <a:solidFill>
                  <a:srgbClr val="252323"/>
                </a:solidFill>
                <a:latin typeface="Comfortaa"/>
                <a:ea typeface="Comfortaa"/>
                <a:cs typeface="Comfortaa"/>
                <a:sym typeface="Comfortaa"/>
              </a:rPr>
              <a:t>" (Wikipedia, 2022)</a:t>
            </a:r>
            <a:endParaRPr b="0" i="0" sz="2200" u="none" cap="none" strike="noStrike">
              <a:solidFill>
                <a:srgbClr val="252323"/>
              </a:solidFill>
              <a:latin typeface="Comfortaa"/>
              <a:ea typeface="Comfortaa"/>
              <a:cs typeface="Comfortaa"/>
              <a:sym typeface="Comforta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g3f8b35c8c4a_0_245"/>
          <p:cNvSpPr txBox="1"/>
          <p:nvPr>
            <p:ph type="title"/>
          </p:nvPr>
        </p:nvSpPr>
        <p:spPr>
          <a:xfrm>
            <a:off x="822960" y="119702"/>
            <a:ext cx="7543800" cy="6804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Desiderata</a:t>
            </a:r>
            <a:endParaRPr/>
          </a:p>
        </p:txBody>
      </p:sp>
      <p:sp>
        <p:nvSpPr>
          <p:cNvPr id="460" name="Google Shape;460;g3f8b35c8c4a_0_245"/>
          <p:cNvSpPr txBox="1"/>
          <p:nvPr>
            <p:ph idx="1" type="body"/>
          </p:nvPr>
        </p:nvSpPr>
        <p:spPr>
          <a:xfrm>
            <a:off x="822961" y="1200150"/>
            <a:ext cx="7543800" cy="3429000"/>
          </a:xfrm>
          <a:prstGeom prst="rect">
            <a:avLst/>
          </a:prstGeom>
          <a:noFill/>
          <a:ln>
            <a:noFill/>
          </a:ln>
        </p:spPr>
        <p:txBody>
          <a:bodyPr anchorCtr="0" anchor="t" bIns="34275" lIns="0" spcFirstLastPara="1" rIns="0" wrap="square" tIns="34275">
            <a:normAutofit/>
          </a:bodyPr>
          <a:lstStyle/>
          <a:p>
            <a:pPr indent="-406400" lvl="0" marL="457200" rtl="0" algn="l">
              <a:lnSpc>
                <a:spcPct val="90000"/>
              </a:lnSpc>
              <a:spcBef>
                <a:spcPts val="0"/>
              </a:spcBef>
              <a:spcAft>
                <a:spcPts val="0"/>
              </a:spcAft>
              <a:buSzPts val="2800"/>
              <a:buChar char="●"/>
            </a:pPr>
            <a:r>
              <a:rPr lang="pt-BR"/>
              <a:t>What should a theory of word meaning do for us?</a:t>
            </a:r>
            <a:endParaRPr/>
          </a:p>
          <a:p>
            <a:pPr indent="-406400" lvl="0" marL="457200" rtl="0" algn="l">
              <a:lnSpc>
                <a:spcPct val="90000"/>
              </a:lnSpc>
              <a:spcBef>
                <a:spcPts val="0"/>
              </a:spcBef>
              <a:spcAft>
                <a:spcPts val="0"/>
              </a:spcAft>
              <a:buSzPts val="2800"/>
              <a:buChar char="●"/>
            </a:pPr>
            <a:r>
              <a:rPr lang="pt-BR"/>
              <a:t>Let's look at some desiderata</a:t>
            </a:r>
            <a:endParaRPr/>
          </a:p>
          <a:p>
            <a:pPr indent="-406400" lvl="0" marL="457200" rtl="0" algn="l">
              <a:lnSpc>
                <a:spcPct val="90000"/>
              </a:lnSpc>
              <a:spcBef>
                <a:spcPts val="0"/>
              </a:spcBef>
              <a:spcAft>
                <a:spcPts val="0"/>
              </a:spcAft>
              <a:buSzPts val="2800"/>
              <a:buChar char="●"/>
            </a:pPr>
            <a:r>
              <a:rPr lang="pt-BR"/>
              <a:t>From </a:t>
            </a:r>
            <a:r>
              <a:rPr lang="pt-BR">
                <a:solidFill>
                  <a:srgbClr val="0000FF"/>
                </a:solidFill>
              </a:rPr>
              <a:t>lexical semantics</a:t>
            </a:r>
            <a:r>
              <a:rPr lang="pt-BR"/>
              <a:t>, the linguistic study of word meaning</a:t>
            </a:r>
            <a:endParaRPr/>
          </a:p>
        </p:txBody>
      </p:sp>
      <p:sp>
        <p:nvSpPr>
          <p:cNvPr id="461" name="Google Shape;461;g3f8b35c8c4a_0_245"/>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f8b35c8c4a_0_311"/>
          <p:cNvSpPr/>
          <p:nvPr/>
        </p:nvSpPr>
        <p:spPr>
          <a:xfrm>
            <a:off x="1666875" y="1400072"/>
            <a:ext cx="7568400" cy="2285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pt-BR" sz="3000">
                <a:solidFill>
                  <a:schemeClr val="dk1"/>
                </a:solidFill>
                <a:latin typeface="Comfortaa"/>
                <a:ea typeface="Comfortaa"/>
                <a:cs typeface="Comfortaa"/>
                <a:sym typeface="Comfortaa"/>
              </a:rPr>
              <a:t>mouse (N)</a:t>
            </a:r>
            <a:br>
              <a:rPr lang="pt-BR" sz="3000">
                <a:solidFill>
                  <a:schemeClr val="dk1"/>
                </a:solidFill>
                <a:latin typeface="Comfortaa"/>
                <a:ea typeface="Comfortaa"/>
                <a:cs typeface="Comfortaa"/>
                <a:sym typeface="Comfortaa"/>
              </a:rPr>
            </a:br>
            <a:r>
              <a:rPr lang="pt-BR" sz="3000">
                <a:solidFill>
                  <a:schemeClr val="dk1"/>
                </a:solidFill>
                <a:latin typeface="Comfortaa"/>
                <a:ea typeface="Comfortaa"/>
                <a:cs typeface="Comfortaa"/>
                <a:sym typeface="Comfortaa"/>
              </a:rPr>
              <a:t>1. any of numerous small rodents...</a:t>
            </a:r>
            <a:br>
              <a:rPr lang="pt-BR" sz="3000">
                <a:solidFill>
                  <a:schemeClr val="dk1"/>
                </a:solidFill>
                <a:latin typeface="Comfortaa"/>
                <a:ea typeface="Comfortaa"/>
                <a:cs typeface="Comfortaa"/>
                <a:sym typeface="Comfortaa"/>
              </a:rPr>
            </a:br>
            <a:r>
              <a:rPr lang="pt-BR" sz="3000">
                <a:solidFill>
                  <a:schemeClr val="dk1"/>
                </a:solidFill>
                <a:latin typeface="Comfortaa"/>
                <a:ea typeface="Comfortaa"/>
                <a:cs typeface="Comfortaa"/>
                <a:sym typeface="Comfortaa"/>
              </a:rPr>
              <a:t>2. a hand-operated device that controls a cursor... </a:t>
            </a:r>
            <a:endParaRPr sz="3500">
              <a:solidFill>
                <a:schemeClr val="dk1"/>
              </a:solidFill>
              <a:latin typeface="Comfortaa"/>
              <a:ea typeface="Comfortaa"/>
              <a:cs typeface="Comfortaa"/>
              <a:sym typeface="Comfortaa"/>
            </a:endParaRPr>
          </a:p>
        </p:txBody>
      </p:sp>
      <p:sp>
        <p:nvSpPr>
          <p:cNvPr id="467" name="Google Shape;467;g3f8b35c8c4a_0_311"/>
          <p:cNvSpPr txBox="1"/>
          <p:nvPr>
            <p:ph type="title"/>
          </p:nvPr>
        </p:nvSpPr>
        <p:spPr>
          <a:xfrm>
            <a:off x="742950" y="138387"/>
            <a:ext cx="6915300" cy="5415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Lemmas and senses</a:t>
            </a:r>
            <a:endParaRPr/>
          </a:p>
        </p:txBody>
      </p:sp>
      <p:sp>
        <p:nvSpPr>
          <p:cNvPr id="468" name="Google Shape;468;g3f8b35c8c4a_0_311"/>
          <p:cNvSpPr txBox="1"/>
          <p:nvPr/>
        </p:nvSpPr>
        <p:spPr>
          <a:xfrm>
            <a:off x="110499" y="2053625"/>
            <a:ext cx="10653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pt-BR" sz="2400">
                <a:solidFill>
                  <a:srgbClr val="0432FF"/>
                </a:solidFill>
                <a:latin typeface="Comfortaa"/>
                <a:ea typeface="Comfortaa"/>
                <a:cs typeface="Comfortaa"/>
                <a:sym typeface="Comfortaa"/>
              </a:rPr>
              <a:t>sense</a:t>
            </a:r>
            <a:endParaRPr b="1" sz="1100">
              <a:solidFill>
                <a:srgbClr val="0432FF"/>
              </a:solidFill>
              <a:latin typeface="Comfortaa"/>
              <a:ea typeface="Comfortaa"/>
              <a:cs typeface="Comfortaa"/>
              <a:sym typeface="Comfortaa"/>
            </a:endParaRPr>
          </a:p>
        </p:txBody>
      </p:sp>
      <p:sp>
        <p:nvSpPr>
          <p:cNvPr id="469" name="Google Shape;469;g3f8b35c8c4a_0_311"/>
          <p:cNvSpPr txBox="1"/>
          <p:nvPr/>
        </p:nvSpPr>
        <p:spPr>
          <a:xfrm>
            <a:off x="2697501" y="800100"/>
            <a:ext cx="11985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pt-BR" sz="2400">
                <a:solidFill>
                  <a:srgbClr val="0432FF"/>
                </a:solidFill>
                <a:latin typeface="Comfortaa"/>
                <a:ea typeface="Comfortaa"/>
                <a:cs typeface="Comfortaa"/>
                <a:sym typeface="Comfortaa"/>
              </a:rPr>
              <a:t>lemma</a:t>
            </a:r>
            <a:endParaRPr b="1" sz="1100">
              <a:solidFill>
                <a:srgbClr val="0432FF"/>
              </a:solidFill>
              <a:latin typeface="Comfortaa"/>
              <a:ea typeface="Comfortaa"/>
              <a:cs typeface="Comfortaa"/>
              <a:sym typeface="Comfortaa"/>
            </a:endParaRPr>
          </a:p>
        </p:txBody>
      </p:sp>
      <p:cxnSp>
        <p:nvCxnSpPr>
          <p:cNvPr id="470" name="Google Shape;470;g3f8b35c8c4a_0_311"/>
          <p:cNvCxnSpPr>
            <a:stCxn id="468" idx="3"/>
          </p:cNvCxnSpPr>
          <p:nvPr/>
        </p:nvCxnSpPr>
        <p:spPr>
          <a:xfrm flipH="1" rot="10800000">
            <a:off x="1175799" y="2030525"/>
            <a:ext cx="545100" cy="242400"/>
          </a:xfrm>
          <a:prstGeom prst="straightConnector1">
            <a:avLst/>
          </a:prstGeom>
          <a:noFill/>
          <a:ln cap="flat" cmpd="sng" w="16675">
            <a:solidFill>
              <a:srgbClr val="0432FF"/>
            </a:solidFill>
            <a:prstDash val="solid"/>
            <a:round/>
            <a:headEnd len="sm" w="sm" type="none"/>
            <a:tailEnd len="med" w="med" type="stealth"/>
          </a:ln>
        </p:spPr>
      </p:cxnSp>
      <p:cxnSp>
        <p:nvCxnSpPr>
          <p:cNvPr id="471" name="Google Shape;471;g3f8b35c8c4a_0_311"/>
          <p:cNvCxnSpPr>
            <a:stCxn id="468" idx="3"/>
          </p:cNvCxnSpPr>
          <p:nvPr/>
        </p:nvCxnSpPr>
        <p:spPr>
          <a:xfrm>
            <a:off x="1175799" y="2272925"/>
            <a:ext cx="429600" cy="359700"/>
          </a:xfrm>
          <a:prstGeom prst="straightConnector1">
            <a:avLst/>
          </a:prstGeom>
          <a:noFill/>
          <a:ln cap="flat" cmpd="sng" w="16675">
            <a:solidFill>
              <a:srgbClr val="0432FF"/>
            </a:solidFill>
            <a:prstDash val="solid"/>
            <a:round/>
            <a:headEnd len="sm" w="sm" type="none"/>
            <a:tailEnd len="med" w="med" type="stealth"/>
          </a:ln>
        </p:spPr>
      </p:cxnSp>
      <p:cxnSp>
        <p:nvCxnSpPr>
          <p:cNvPr id="472" name="Google Shape;472;g3f8b35c8c4a_0_311"/>
          <p:cNvCxnSpPr>
            <a:stCxn id="469" idx="2"/>
          </p:cNvCxnSpPr>
          <p:nvPr/>
        </p:nvCxnSpPr>
        <p:spPr>
          <a:xfrm flipH="1">
            <a:off x="2730951" y="1238700"/>
            <a:ext cx="565800" cy="258300"/>
          </a:xfrm>
          <a:prstGeom prst="straightConnector1">
            <a:avLst/>
          </a:prstGeom>
          <a:noFill/>
          <a:ln cap="flat" cmpd="sng" w="16675">
            <a:solidFill>
              <a:srgbClr val="0432FF"/>
            </a:solidFill>
            <a:prstDash val="solid"/>
            <a:round/>
            <a:headEnd len="sm" w="sm" type="none"/>
            <a:tailEnd len="med" w="med" type="stealth"/>
          </a:ln>
        </p:spPr>
      </p:cxnSp>
      <p:sp>
        <p:nvSpPr>
          <p:cNvPr id="473" name="Google Shape;473;g3f8b35c8c4a_0_311"/>
          <p:cNvSpPr/>
          <p:nvPr/>
        </p:nvSpPr>
        <p:spPr>
          <a:xfrm>
            <a:off x="555936" y="4101026"/>
            <a:ext cx="8327400" cy="900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pt-BR" sz="2100">
                <a:solidFill>
                  <a:schemeClr val="dk1"/>
                </a:solidFill>
                <a:latin typeface="Comfortaa"/>
                <a:ea typeface="Comfortaa"/>
                <a:cs typeface="Comfortaa"/>
                <a:sym typeface="Comfortaa"/>
              </a:rPr>
              <a:t>A </a:t>
            </a:r>
            <a:r>
              <a:rPr lang="pt-BR" sz="2100">
                <a:solidFill>
                  <a:srgbClr val="0000FF"/>
                </a:solidFill>
                <a:latin typeface="Comfortaa"/>
                <a:ea typeface="Comfortaa"/>
                <a:cs typeface="Comfortaa"/>
                <a:sym typeface="Comfortaa"/>
              </a:rPr>
              <a:t>sense</a:t>
            </a:r>
            <a:r>
              <a:rPr lang="pt-BR" sz="2100">
                <a:solidFill>
                  <a:schemeClr val="dk1"/>
                </a:solidFill>
                <a:latin typeface="Comfortaa"/>
                <a:ea typeface="Comfortaa"/>
                <a:cs typeface="Comfortaa"/>
                <a:sym typeface="Comfortaa"/>
              </a:rPr>
              <a:t> or “</a:t>
            </a:r>
            <a:r>
              <a:rPr lang="pt-BR" sz="2100">
                <a:solidFill>
                  <a:srgbClr val="0000FF"/>
                </a:solidFill>
                <a:latin typeface="Comfortaa"/>
                <a:ea typeface="Comfortaa"/>
                <a:cs typeface="Comfortaa"/>
                <a:sym typeface="Comfortaa"/>
              </a:rPr>
              <a:t>concept</a:t>
            </a:r>
            <a:r>
              <a:rPr lang="pt-BR" sz="2100">
                <a:solidFill>
                  <a:schemeClr val="dk1"/>
                </a:solidFill>
                <a:latin typeface="Comfortaa"/>
                <a:ea typeface="Comfortaa"/>
                <a:cs typeface="Comfortaa"/>
                <a:sym typeface="Comfortaa"/>
              </a:rPr>
              <a:t>” is the meaning component of a word</a:t>
            </a:r>
            <a:endParaRPr sz="500">
              <a:latin typeface="Comfortaa"/>
              <a:ea typeface="Comfortaa"/>
              <a:cs typeface="Comfortaa"/>
              <a:sym typeface="Comfortaa"/>
            </a:endParaRPr>
          </a:p>
          <a:p>
            <a:pPr indent="0" lvl="0" marL="0" marR="0" rtl="0" algn="l">
              <a:spcBef>
                <a:spcPts val="0"/>
              </a:spcBef>
              <a:spcAft>
                <a:spcPts val="0"/>
              </a:spcAft>
              <a:buNone/>
            </a:pPr>
            <a:r>
              <a:rPr lang="pt-BR" sz="2100">
                <a:solidFill>
                  <a:schemeClr val="dk1"/>
                </a:solidFill>
                <a:latin typeface="Comfortaa"/>
                <a:ea typeface="Comfortaa"/>
                <a:cs typeface="Comfortaa"/>
                <a:sym typeface="Comfortaa"/>
              </a:rPr>
              <a:t>Lemmas can be </a:t>
            </a:r>
            <a:r>
              <a:rPr lang="pt-BR" sz="2100">
                <a:solidFill>
                  <a:srgbClr val="0000FF"/>
                </a:solidFill>
                <a:latin typeface="Comfortaa"/>
                <a:ea typeface="Comfortaa"/>
                <a:cs typeface="Comfortaa"/>
                <a:sym typeface="Comfortaa"/>
              </a:rPr>
              <a:t>polysemous</a:t>
            </a:r>
            <a:r>
              <a:rPr lang="pt-BR" sz="2100">
                <a:solidFill>
                  <a:schemeClr val="dk1"/>
                </a:solidFill>
                <a:latin typeface="Comfortaa"/>
                <a:ea typeface="Comfortaa"/>
                <a:cs typeface="Comfortaa"/>
                <a:sym typeface="Comfortaa"/>
              </a:rPr>
              <a:t> (have multiple senses)</a:t>
            </a:r>
            <a:endParaRPr sz="500">
              <a:latin typeface="Comfortaa"/>
              <a:ea typeface="Comfortaa"/>
              <a:cs typeface="Comfortaa"/>
              <a:sym typeface="Comfortaa"/>
            </a:endParaRPr>
          </a:p>
        </p:txBody>
      </p:sp>
      <p:sp>
        <p:nvSpPr>
          <p:cNvPr id="474" name="Google Shape;474;g3f8b35c8c4a_0_311"/>
          <p:cNvSpPr txBox="1"/>
          <p:nvPr/>
        </p:nvSpPr>
        <p:spPr>
          <a:xfrm>
            <a:off x="5570777" y="3407174"/>
            <a:ext cx="33315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1400">
                <a:solidFill>
                  <a:schemeClr val="dk1"/>
                </a:solidFill>
                <a:latin typeface="Comfortaa"/>
                <a:ea typeface="Comfortaa"/>
                <a:cs typeface="Comfortaa"/>
                <a:sym typeface="Comfortaa"/>
              </a:rPr>
              <a:t>Modified from the online thesaurus WordNet</a:t>
            </a:r>
            <a:endParaRPr sz="1100">
              <a:latin typeface="Comfortaa"/>
              <a:ea typeface="Comfortaa"/>
              <a:cs typeface="Comfortaa"/>
              <a:sym typeface="Comfortaa"/>
            </a:endParaRPr>
          </a:p>
        </p:txBody>
      </p:sp>
      <p:sp>
        <p:nvSpPr>
          <p:cNvPr id="475" name="Google Shape;475;g3f8b35c8c4a_0_311"/>
          <p:cNvSpPr txBox="1"/>
          <p:nvPr/>
        </p:nvSpPr>
        <p:spPr>
          <a:xfrm>
            <a:off x="6192425" y="19522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pic>
        <p:nvPicPr>
          <p:cNvPr id="480" name="Google Shape;480;g3f8b5dd33d0_0_128"/>
          <p:cNvPicPr preferRelativeResize="0"/>
          <p:nvPr/>
        </p:nvPicPr>
        <p:blipFill>
          <a:blip r:embed="rId3">
            <a:alphaModFix/>
          </a:blip>
          <a:stretch>
            <a:fillRect/>
          </a:stretch>
        </p:blipFill>
        <p:spPr>
          <a:xfrm>
            <a:off x="1466125" y="753150"/>
            <a:ext cx="6211739" cy="4237924"/>
          </a:xfrm>
          <a:prstGeom prst="rect">
            <a:avLst/>
          </a:prstGeom>
          <a:noFill/>
          <a:ln>
            <a:noFill/>
          </a:ln>
        </p:spPr>
      </p:pic>
      <p:sp>
        <p:nvSpPr>
          <p:cNvPr id="481" name="Google Shape;481;g3f8b5dd33d0_0_128"/>
          <p:cNvSpPr txBox="1"/>
          <p:nvPr>
            <p:ph type="title"/>
          </p:nvPr>
        </p:nvSpPr>
        <p:spPr>
          <a:xfrm>
            <a:off x="311700" y="6943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100"/>
              <a:t>Conceptualization</a:t>
            </a:r>
            <a:endParaRPr sz="31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pic>
        <p:nvPicPr>
          <p:cNvPr id="486" name="Google Shape;486;g3f8b5dd33d0_0_135"/>
          <p:cNvPicPr preferRelativeResize="0"/>
          <p:nvPr/>
        </p:nvPicPr>
        <p:blipFill>
          <a:blip r:embed="rId3">
            <a:alphaModFix/>
          </a:blip>
          <a:stretch>
            <a:fillRect/>
          </a:stretch>
        </p:blipFill>
        <p:spPr>
          <a:xfrm>
            <a:off x="1466116" y="753150"/>
            <a:ext cx="6211767" cy="4237935"/>
          </a:xfrm>
          <a:prstGeom prst="rect">
            <a:avLst/>
          </a:prstGeom>
          <a:noFill/>
          <a:ln>
            <a:noFill/>
          </a:ln>
        </p:spPr>
      </p:pic>
      <p:sp>
        <p:nvSpPr>
          <p:cNvPr id="487" name="Google Shape;487;g3f8b5dd33d0_0_135"/>
          <p:cNvSpPr txBox="1"/>
          <p:nvPr>
            <p:ph type="title"/>
          </p:nvPr>
        </p:nvSpPr>
        <p:spPr>
          <a:xfrm>
            <a:off x="311700" y="6943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100"/>
              <a:t>Ontology - Formal, Explicit Specification</a:t>
            </a:r>
            <a:endParaRPr sz="3100"/>
          </a:p>
        </p:txBody>
      </p:sp>
      <p:pic>
        <p:nvPicPr>
          <p:cNvPr id="488" name="Google Shape;488;g3f8b5dd33d0_0_135"/>
          <p:cNvPicPr preferRelativeResize="0"/>
          <p:nvPr/>
        </p:nvPicPr>
        <p:blipFill>
          <a:blip r:embed="rId4">
            <a:alphaModFix/>
          </a:blip>
          <a:stretch>
            <a:fillRect/>
          </a:stretch>
        </p:blipFill>
        <p:spPr>
          <a:xfrm>
            <a:off x="1466125" y="753150"/>
            <a:ext cx="6211739" cy="423792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3f8b35c8c4a_0_390"/>
          <p:cNvSpPr txBox="1"/>
          <p:nvPr>
            <p:ph type="title"/>
          </p:nvPr>
        </p:nvSpPr>
        <p:spPr>
          <a:xfrm>
            <a:off x="301475" y="209825"/>
            <a:ext cx="2193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Wordnet</a:t>
            </a:r>
            <a:endParaRPr/>
          </a:p>
        </p:txBody>
      </p:sp>
      <p:pic>
        <p:nvPicPr>
          <p:cNvPr id="494" name="Google Shape;494;g3f8b35c8c4a_0_390"/>
          <p:cNvPicPr preferRelativeResize="0"/>
          <p:nvPr/>
        </p:nvPicPr>
        <p:blipFill>
          <a:blip r:embed="rId3">
            <a:alphaModFix/>
          </a:blip>
          <a:stretch>
            <a:fillRect/>
          </a:stretch>
        </p:blipFill>
        <p:spPr>
          <a:xfrm>
            <a:off x="920728" y="295088"/>
            <a:ext cx="8069901" cy="475782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3f8b35c8c4a_0_220"/>
          <p:cNvSpPr txBox="1"/>
          <p:nvPr>
            <p:ph type="title"/>
          </p:nvPr>
        </p:nvSpPr>
        <p:spPr>
          <a:xfrm>
            <a:off x="457172" y="35448"/>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What do words mean?</a:t>
            </a:r>
            <a:endParaRPr/>
          </a:p>
        </p:txBody>
      </p:sp>
      <p:sp>
        <p:nvSpPr>
          <p:cNvPr id="500" name="Google Shape;500;g3f8b35c8c4a_0_220"/>
          <p:cNvSpPr txBox="1"/>
          <p:nvPr>
            <p:ph idx="1" type="body"/>
          </p:nvPr>
        </p:nvSpPr>
        <p:spPr>
          <a:xfrm>
            <a:off x="457175" y="954924"/>
            <a:ext cx="8228700" cy="38526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Char char="●"/>
            </a:pPr>
            <a:r>
              <a:rPr lang="pt-BR" sz="2200"/>
              <a:t>N-gram or text classification methods we've seen so far</a:t>
            </a:r>
            <a:endParaRPr sz="2200"/>
          </a:p>
          <a:p>
            <a:pPr indent="-330200" lvl="1" marL="914400" rtl="0" algn="l">
              <a:spcBef>
                <a:spcPts val="0"/>
              </a:spcBef>
              <a:spcAft>
                <a:spcPts val="0"/>
              </a:spcAft>
              <a:buSzPts val="1600"/>
              <a:buChar char="○"/>
            </a:pPr>
            <a:r>
              <a:rPr lang="pt-BR" sz="1600"/>
              <a:t>Words are just strings (or indices wi in a vocabulary list)</a:t>
            </a:r>
            <a:endParaRPr sz="1600"/>
          </a:p>
          <a:p>
            <a:pPr indent="-330200" lvl="1" marL="914400" rtl="0" algn="l">
              <a:spcBef>
                <a:spcPts val="0"/>
              </a:spcBef>
              <a:spcAft>
                <a:spcPts val="0"/>
              </a:spcAft>
              <a:buSzPts val="1600"/>
              <a:buChar char="○"/>
            </a:pPr>
            <a:r>
              <a:rPr lang="pt-BR" sz="1600"/>
              <a:t>That's not very satisfactory!</a:t>
            </a:r>
            <a:endParaRPr sz="1600"/>
          </a:p>
          <a:p>
            <a:pPr indent="-368300" lvl="0" marL="457200" rtl="0" algn="l">
              <a:spcBef>
                <a:spcPts val="0"/>
              </a:spcBef>
              <a:spcAft>
                <a:spcPts val="0"/>
              </a:spcAft>
              <a:buSzPts val="2200"/>
              <a:buChar char="●"/>
            </a:pPr>
            <a:r>
              <a:rPr lang="pt-BR" sz="2200"/>
              <a:t>Introductory logic classes:</a:t>
            </a:r>
            <a:endParaRPr sz="2200"/>
          </a:p>
          <a:p>
            <a:pPr indent="-330200" lvl="1" marL="914400" rtl="0" algn="l">
              <a:spcBef>
                <a:spcPts val="0"/>
              </a:spcBef>
              <a:spcAft>
                <a:spcPts val="0"/>
              </a:spcAft>
              <a:buSzPts val="1600"/>
              <a:buChar char="○"/>
            </a:pPr>
            <a:r>
              <a:rPr lang="pt-BR" sz="1600"/>
              <a:t>The meaning of "dog" is DOG;  cat is CAT</a:t>
            </a:r>
            <a:endParaRPr sz="1600"/>
          </a:p>
          <a:p>
            <a:pPr indent="0" lvl="0" marL="0" rtl="0" algn="ctr">
              <a:spcBef>
                <a:spcPts val="0"/>
              </a:spcBef>
              <a:spcAft>
                <a:spcPts val="0"/>
              </a:spcAft>
              <a:buNone/>
            </a:pPr>
            <a:r>
              <a:rPr lang="pt-BR" sz="2200">
                <a:latin typeface="Courier New"/>
                <a:ea typeface="Courier New"/>
                <a:cs typeface="Courier New"/>
                <a:sym typeface="Courier New"/>
              </a:rPr>
              <a:t>∀x DOG(x) ⟶ MAMMAL(x)</a:t>
            </a:r>
            <a:endParaRPr sz="2200">
              <a:latin typeface="Courier New"/>
              <a:ea typeface="Courier New"/>
              <a:cs typeface="Courier New"/>
              <a:sym typeface="Courier New"/>
            </a:endParaRPr>
          </a:p>
          <a:p>
            <a:pPr indent="-368300" lvl="0" marL="457200" rtl="0" algn="l">
              <a:spcBef>
                <a:spcPts val="0"/>
              </a:spcBef>
              <a:spcAft>
                <a:spcPts val="0"/>
              </a:spcAft>
              <a:buSzPts val="2200"/>
              <a:buChar char="●"/>
            </a:pPr>
            <a:r>
              <a:rPr lang="pt-BR" sz="2200"/>
              <a:t>Old linguistics joke by Barbara Partee in 1967:</a:t>
            </a:r>
            <a:endParaRPr sz="2200"/>
          </a:p>
          <a:p>
            <a:pPr indent="-330200" lvl="1" marL="914400" rtl="0" algn="l">
              <a:spcBef>
                <a:spcPts val="0"/>
              </a:spcBef>
              <a:spcAft>
                <a:spcPts val="0"/>
              </a:spcAft>
              <a:buSzPts val="1600"/>
              <a:buChar char="○"/>
            </a:pPr>
            <a:r>
              <a:rPr lang="pt-BR" sz="1600"/>
              <a:t>Q: What's the meaning of life?</a:t>
            </a:r>
            <a:endParaRPr sz="1600"/>
          </a:p>
          <a:p>
            <a:pPr indent="-330200" lvl="1" marL="914400" rtl="0" algn="l">
              <a:spcBef>
                <a:spcPts val="0"/>
              </a:spcBef>
              <a:spcAft>
                <a:spcPts val="0"/>
              </a:spcAft>
              <a:buSzPts val="1600"/>
              <a:buChar char="○"/>
            </a:pPr>
            <a:r>
              <a:rPr lang="pt-BR" sz="1600"/>
              <a:t>A: LIFE</a:t>
            </a:r>
            <a:endParaRPr sz="1600"/>
          </a:p>
          <a:p>
            <a:pPr indent="-368300" lvl="0" marL="457200" rtl="0" algn="l">
              <a:spcBef>
                <a:spcPts val="0"/>
              </a:spcBef>
              <a:spcAft>
                <a:spcPts val="0"/>
              </a:spcAft>
              <a:buSzPts val="2200"/>
              <a:buChar char="●"/>
            </a:pPr>
            <a:r>
              <a:rPr lang="pt-BR" sz="2200"/>
              <a:t>That seems hardly better!</a:t>
            </a:r>
            <a:endParaRPr sz="2200"/>
          </a:p>
        </p:txBody>
      </p:sp>
      <p:sp>
        <p:nvSpPr>
          <p:cNvPr id="501" name="Google Shape;501;g3f8b35c8c4a_0_220"/>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f9d17cb37f_0_143"/>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Relations between senses: Synonymy</a:t>
            </a:r>
            <a:endParaRPr/>
          </a:p>
        </p:txBody>
      </p:sp>
      <p:sp>
        <p:nvSpPr>
          <p:cNvPr id="507" name="Google Shape;507;g3f9d17cb37f_0_143"/>
          <p:cNvSpPr txBox="1"/>
          <p:nvPr>
            <p:ph idx="1" type="body"/>
          </p:nvPr>
        </p:nvSpPr>
        <p:spPr>
          <a:xfrm>
            <a:off x="457172" y="1203631"/>
            <a:ext cx="8228700" cy="339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sz="2400"/>
              <a:t>Synonyms have the same meaning in some or all contexts.</a:t>
            </a:r>
            <a:endParaRPr sz="2400"/>
          </a:p>
          <a:p>
            <a:pPr indent="-381000" lvl="0" marL="457200" rtl="0" algn="l">
              <a:spcBef>
                <a:spcPts val="0"/>
              </a:spcBef>
              <a:spcAft>
                <a:spcPts val="0"/>
              </a:spcAft>
              <a:buSzPts val="2400"/>
              <a:buChar char="●"/>
            </a:pPr>
            <a:r>
              <a:rPr lang="pt-BR" sz="2400"/>
              <a:t>filbert / hazelnut</a:t>
            </a:r>
            <a:endParaRPr sz="2400"/>
          </a:p>
          <a:p>
            <a:pPr indent="-381000" lvl="0" marL="457200" rtl="0" algn="l">
              <a:spcBef>
                <a:spcPts val="0"/>
              </a:spcBef>
              <a:spcAft>
                <a:spcPts val="0"/>
              </a:spcAft>
              <a:buSzPts val="2400"/>
              <a:buChar char="●"/>
            </a:pPr>
            <a:r>
              <a:rPr lang="pt-BR" sz="2400"/>
              <a:t>couch / sofa</a:t>
            </a:r>
            <a:endParaRPr sz="2400"/>
          </a:p>
          <a:p>
            <a:pPr indent="-381000" lvl="0" marL="457200" rtl="0" algn="l">
              <a:spcBef>
                <a:spcPts val="0"/>
              </a:spcBef>
              <a:spcAft>
                <a:spcPts val="0"/>
              </a:spcAft>
              <a:buSzPts val="2400"/>
              <a:buChar char="●"/>
            </a:pPr>
            <a:r>
              <a:rPr lang="pt-BR" sz="2400"/>
              <a:t>big / large</a:t>
            </a:r>
            <a:endParaRPr sz="2400"/>
          </a:p>
          <a:p>
            <a:pPr indent="-381000" lvl="0" marL="457200" rtl="0" algn="l">
              <a:spcBef>
                <a:spcPts val="0"/>
              </a:spcBef>
              <a:spcAft>
                <a:spcPts val="0"/>
              </a:spcAft>
              <a:buSzPts val="2400"/>
              <a:buChar char="●"/>
            </a:pPr>
            <a:r>
              <a:rPr lang="pt-BR" sz="2400"/>
              <a:t>automobile / car</a:t>
            </a:r>
            <a:endParaRPr sz="2400"/>
          </a:p>
          <a:p>
            <a:pPr indent="-381000" lvl="0" marL="457200" rtl="0" algn="l">
              <a:spcBef>
                <a:spcPts val="0"/>
              </a:spcBef>
              <a:spcAft>
                <a:spcPts val="0"/>
              </a:spcAft>
              <a:buSzPts val="2400"/>
              <a:buChar char="●"/>
            </a:pPr>
            <a:r>
              <a:rPr lang="pt-BR" sz="2400"/>
              <a:t>vomit / throw up</a:t>
            </a:r>
            <a:endParaRPr sz="2400"/>
          </a:p>
          <a:p>
            <a:pPr indent="-381000" lvl="0" marL="457200" rtl="0" algn="l">
              <a:spcBef>
                <a:spcPts val="0"/>
              </a:spcBef>
              <a:spcAft>
                <a:spcPts val="0"/>
              </a:spcAft>
              <a:buSzPts val="2400"/>
              <a:buChar char="●"/>
            </a:pPr>
            <a:r>
              <a:rPr lang="pt-BR" sz="2400"/>
              <a:t>water / H</a:t>
            </a:r>
            <a:r>
              <a:rPr baseline="-25000" lang="pt-BR" sz="2400"/>
              <a:t>2</a:t>
            </a:r>
            <a:r>
              <a:rPr lang="pt-BR" sz="2400"/>
              <a:t>0</a:t>
            </a:r>
            <a:endParaRPr sz="2400"/>
          </a:p>
        </p:txBody>
      </p:sp>
      <p:sp>
        <p:nvSpPr>
          <p:cNvPr id="508" name="Google Shape;508;g3f9d17cb37f_0_143"/>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f8b5dd33d0_0_0"/>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Relations between senses: Synonymy</a:t>
            </a:r>
            <a:endParaRPr/>
          </a:p>
        </p:txBody>
      </p:sp>
      <p:sp>
        <p:nvSpPr>
          <p:cNvPr id="514" name="Google Shape;514;g3f8b5dd33d0_0_0"/>
          <p:cNvSpPr txBox="1"/>
          <p:nvPr>
            <p:ph idx="1" type="body"/>
          </p:nvPr>
        </p:nvSpPr>
        <p:spPr>
          <a:xfrm>
            <a:off x="457172" y="1203631"/>
            <a:ext cx="8228700" cy="3394800"/>
          </a:xfrm>
          <a:prstGeom prst="rect">
            <a:avLst/>
          </a:prstGeom>
        </p:spPr>
        <p:txBody>
          <a:bodyPr anchorCtr="0" anchor="t" bIns="0" lIns="0" spcFirstLastPara="1" rIns="0" wrap="square" tIns="0">
            <a:noAutofit/>
          </a:bodyPr>
          <a:lstStyle/>
          <a:p>
            <a:pPr indent="-419100" lvl="0" marL="457200" rtl="0" algn="l">
              <a:spcBef>
                <a:spcPts val="0"/>
              </a:spcBef>
              <a:spcAft>
                <a:spcPts val="0"/>
              </a:spcAft>
              <a:buSzPts val="3000"/>
              <a:buChar char="●"/>
            </a:pPr>
            <a:r>
              <a:rPr lang="pt-BR"/>
              <a:t>Note that there are probably no examples of perfect synonymy.</a:t>
            </a:r>
            <a:endParaRPr/>
          </a:p>
          <a:p>
            <a:pPr indent="-419100" lvl="0" marL="457200" rtl="0" algn="l">
              <a:spcBef>
                <a:spcPts val="0"/>
              </a:spcBef>
              <a:spcAft>
                <a:spcPts val="0"/>
              </a:spcAft>
              <a:buSzPts val="3000"/>
              <a:buChar char="●"/>
            </a:pPr>
            <a:r>
              <a:rPr lang="pt-BR"/>
              <a:t>Even if many aspects of meaning are identical</a:t>
            </a:r>
            <a:endParaRPr/>
          </a:p>
          <a:p>
            <a:pPr indent="-419100" lvl="0" marL="457200" rtl="0" algn="l">
              <a:spcBef>
                <a:spcPts val="0"/>
              </a:spcBef>
              <a:spcAft>
                <a:spcPts val="0"/>
              </a:spcAft>
              <a:buSzPts val="3000"/>
              <a:buChar char="●"/>
            </a:pPr>
            <a:r>
              <a:rPr lang="pt-BR"/>
              <a:t>Still may differ based on politeness, slang, register, genre, etc.</a:t>
            </a:r>
            <a:endParaRPr/>
          </a:p>
        </p:txBody>
      </p:sp>
      <p:sp>
        <p:nvSpPr>
          <p:cNvPr id="515" name="Google Shape;515;g3f8b5dd33d0_0_0"/>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g3f8b5dd33d0_0_5"/>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Relation: Synonymy?</a:t>
            </a:r>
            <a:endParaRPr/>
          </a:p>
        </p:txBody>
      </p:sp>
      <p:sp>
        <p:nvSpPr>
          <p:cNvPr id="521" name="Google Shape;521;g3f8b5dd33d0_0_5"/>
          <p:cNvSpPr txBox="1"/>
          <p:nvPr>
            <p:ph idx="1" type="body"/>
          </p:nvPr>
        </p:nvSpPr>
        <p:spPr>
          <a:xfrm>
            <a:off x="457172" y="1203631"/>
            <a:ext cx="8228700" cy="3394800"/>
          </a:xfrm>
          <a:prstGeom prst="rect">
            <a:avLst/>
          </a:prstGeom>
        </p:spPr>
        <p:txBody>
          <a:bodyPr anchorCtr="0" anchor="t" bIns="0" lIns="0" spcFirstLastPara="1" rIns="0" wrap="square" tIns="0">
            <a:noAutofit/>
          </a:bodyPr>
          <a:lstStyle/>
          <a:p>
            <a:pPr indent="-419100" lvl="0" marL="457200" rtl="0" algn="l">
              <a:spcBef>
                <a:spcPts val="0"/>
              </a:spcBef>
              <a:spcAft>
                <a:spcPts val="0"/>
              </a:spcAft>
              <a:buSzPts val="3000"/>
              <a:buChar char="●"/>
            </a:pPr>
            <a:r>
              <a:rPr lang="pt-BR"/>
              <a:t>water/H</a:t>
            </a:r>
            <a:r>
              <a:rPr baseline="-25000" lang="pt-BR"/>
              <a:t>2</a:t>
            </a:r>
            <a:r>
              <a:rPr lang="pt-BR"/>
              <a:t>0</a:t>
            </a:r>
            <a:endParaRPr/>
          </a:p>
          <a:p>
            <a:pPr indent="-381000" lvl="1" marL="914400" rtl="0" algn="l">
              <a:spcBef>
                <a:spcPts val="0"/>
              </a:spcBef>
              <a:spcAft>
                <a:spcPts val="0"/>
              </a:spcAft>
              <a:buSzPts val="2400"/>
              <a:buChar char="○"/>
            </a:pPr>
            <a:r>
              <a:rPr lang="pt-BR"/>
              <a:t>"H</a:t>
            </a:r>
            <a:r>
              <a:rPr baseline="-25000" lang="pt-BR"/>
              <a:t>2</a:t>
            </a:r>
            <a:r>
              <a:rPr lang="pt-BR"/>
              <a:t>0" in a surfing guide?</a:t>
            </a:r>
            <a:endParaRPr/>
          </a:p>
          <a:p>
            <a:pPr indent="-419100" lvl="0" marL="457200" rtl="0" algn="l">
              <a:spcBef>
                <a:spcPts val="0"/>
              </a:spcBef>
              <a:spcAft>
                <a:spcPts val="0"/>
              </a:spcAft>
              <a:buSzPts val="3000"/>
              <a:buChar char="●"/>
            </a:pPr>
            <a:r>
              <a:rPr lang="pt-BR"/>
              <a:t>big/large</a:t>
            </a:r>
            <a:endParaRPr/>
          </a:p>
          <a:p>
            <a:pPr indent="-381000" lvl="1" marL="914400" rtl="0" algn="l">
              <a:spcBef>
                <a:spcPts val="0"/>
              </a:spcBef>
              <a:spcAft>
                <a:spcPts val="0"/>
              </a:spcAft>
              <a:buSzPts val="2400"/>
              <a:buChar char="○"/>
            </a:pPr>
            <a:r>
              <a:rPr lang="pt-BR"/>
              <a:t>my big sister != my large sister</a:t>
            </a:r>
            <a:endParaRPr/>
          </a:p>
          <a:p>
            <a:pPr indent="0" lvl="0" marL="0" rtl="0" algn="l">
              <a:spcBef>
                <a:spcPts val="0"/>
              </a:spcBef>
              <a:spcAft>
                <a:spcPts val="0"/>
              </a:spcAft>
              <a:buNone/>
            </a:pPr>
            <a:r>
              <a:t/>
            </a:r>
            <a:endParaRPr/>
          </a:p>
        </p:txBody>
      </p:sp>
      <p:sp>
        <p:nvSpPr>
          <p:cNvPr id="522" name="Google Shape;522;g3f8b5dd33d0_0_5"/>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3f8b5dd33d0_0_10"/>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The Linguistic Principle of Contrast</a:t>
            </a:r>
            <a:endParaRPr/>
          </a:p>
        </p:txBody>
      </p:sp>
      <p:sp>
        <p:nvSpPr>
          <p:cNvPr id="528" name="Google Shape;528;g3f8b5dd33d0_0_10"/>
          <p:cNvSpPr txBox="1"/>
          <p:nvPr>
            <p:ph idx="1" type="body"/>
          </p:nvPr>
        </p:nvSpPr>
        <p:spPr>
          <a:xfrm>
            <a:off x="457175" y="2287650"/>
            <a:ext cx="8228700" cy="568200"/>
          </a:xfrm>
          <a:prstGeom prst="rect">
            <a:avLst/>
          </a:prstGeom>
        </p:spPr>
        <p:txBody>
          <a:bodyPr anchorCtr="0" anchor="t" bIns="0" lIns="0" spcFirstLastPara="1" rIns="0" wrap="square" tIns="0">
            <a:noAutofit/>
          </a:bodyPr>
          <a:lstStyle/>
          <a:p>
            <a:pPr indent="-12700" lvl="0" marL="12700" rtl="0" algn="l">
              <a:lnSpc>
                <a:spcPct val="90000"/>
              </a:lnSpc>
              <a:spcBef>
                <a:spcPts val="0"/>
              </a:spcBef>
              <a:spcAft>
                <a:spcPts val="0"/>
              </a:spcAft>
              <a:buClr>
                <a:schemeClr val="dk1"/>
              </a:buClr>
              <a:buSzPts val="3600"/>
              <a:buFont typeface="Arial"/>
              <a:buNone/>
            </a:pPr>
            <a:r>
              <a:rPr lang="pt-BR" sz="2900"/>
              <a:t>Difference in form → difference in meaning</a:t>
            </a:r>
            <a:endParaRPr sz="2300"/>
          </a:p>
        </p:txBody>
      </p:sp>
      <p:sp>
        <p:nvSpPr>
          <p:cNvPr id="529" name="Google Shape;529;g3f8b5dd33d0_0_10"/>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3f8b5dd33d0_0_19"/>
          <p:cNvSpPr txBox="1"/>
          <p:nvPr>
            <p:ph type="title"/>
          </p:nvPr>
        </p:nvSpPr>
        <p:spPr>
          <a:xfrm>
            <a:off x="457175" y="205025"/>
            <a:ext cx="5287500" cy="461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sz="3200"/>
              <a:t>Abbé Gabriel Girard 1718</a:t>
            </a:r>
            <a:endParaRPr sz="3200"/>
          </a:p>
        </p:txBody>
      </p:sp>
      <p:sp>
        <p:nvSpPr>
          <p:cNvPr id="535" name="Google Shape;535;g3f8b5dd33d0_0_19"/>
          <p:cNvSpPr txBox="1"/>
          <p:nvPr>
            <p:ph idx="1" type="body"/>
          </p:nvPr>
        </p:nvSpPr>
        <p:spPr>
          <a:xfrm>
            <a:off x="457175" y="3332111"/>
            <a:ext cx="5287500" cy="832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sz="2200"/>
              <a:t>[I do not believe that there is a synonymous word in any language]</a:t>
            </a:r>
            <a:endParaRPr sz="2200"/>
          </a:p>
        </p:txBody>
      </p:sp>
      <p:pic>
        <p:nvPicPr>
          <p:cNvPr id="536" name="Google Shape;536;g3f8b5dd33d0_0_19"/>
          <p:cNvPicPr preferRelativeResize="0"/>
          <p:nvPr>
            <p:ph idx="1" type="body"/>
          </p:nvPr>
        </p:nvPicPr>
        <p:blipFill rotWithShape="1">
          <a:blip r:embed="rId3">
            <a:alphaModFix/>
          </a:blip>
          <a:srcRect b="0" l="0" r="0" t="0"/>
          <a:stretch/>
        </p:blipFill>
        <p:spPr>
          <a:xfrm>
            <a:off x="5884364" y="206304"/>
            <a:ext cx="3195300" cy="4616700"/>
          </a:xfrm>
          <a:prstGeom prst="rect">
            <a:avLst/>
          </a:prstGeom>
          <a:noFill/>
          <a:ln>
            <a:noFill/>
          </a:ln>
        </p:spPr>
      </p:pic>
      <p:pic>
        <p:nvPicPr>
          <p:cNvPr id="537" name="Google Shape;537;g3f8b5dd33d0_0_19"/>
          <p:cNvPicPr preferRelativeResize="0"/>
          <p:nvPr/>
        </p:nvPicPr>
        <p:blipFill rotWithShape="1">
          <a:blip r:embed="rId4">
            <a:alphaModFix/>
          </a:blip>
          <a:srcRect b="0" l="0" r="0" t="0"/>
          <a:stretch/>
        </p:blipFill>
        <p:spPr>
          <a:xfrm>
            <a:off x="971550" y="1994771"/>
            <a:ext cx="4209328" cy="1115120"/>
          </a:xfrm>
          <a:prstGeom prst="rect">
            <a:avLst/>
          </a:prstGeom>
          <a:noFill/>
          <a:ln>
            <a:noFill/>
          </a:ln>
        </p:spPr>
      </p:pic>
      <p:sp>
        <p:nvSpPr>
          <p:cNvPr id="538" name="Google Shape;538;g3f8b5dd33d0_0_19"/>
          <p:cNvSpPr txBox="1"/>
          <p:nvPr/>
        </p:nvSpPr>
        <p:spPr>
          <a:xfrm>
            <a:off x="462325" y="1459636"/>
            <a:ext cx="4209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mfortaa"/>
                <a:ea typeface="Comfortaa"/>
                <a:cs typeface="Comfortaa"/>
                <a:sym typeface="Comfortaa"/>
              </a:rPr>
              <a:t>Re: "exact" synonyms</a:t>
            </a:r>
            <a:endParaRPr sz="2200">
              <a:solidFill>
                <a:srgbClr val="434343"/>
              </a:solidFill>
              <a:latin typeface="Comfortaa"/>
              <a:ea typeface="Comfortaa"/>
              <a:cs typeface="Comfortaa"/>
              <a:sym typeface="Comfortaa"/>
            </a:endParaRPr>
          </a:p>
        </p:txBody>
      </p:sp>
      <p:sp>
        <p:nvSpPr>
          <p:cNvPr id="539" name="Google Shape;539;g3f8b5dd33d0_0_19"/>
          <p:cNvSpPr txBox="1"/>
          <p:nvPr/>
        </p:nvSpPr>
        <p:spPr>
          <a:xfrm>
            <a:off x="2635475" y="4598300"/>
            <a:ext cx="3109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Thanks to Mark Aronoff!</a:t>
            </a:r>
            <a:endParaRPr sz="1800">
              <a:solidFill>
                <a:srgbClr val="434343"/>
              </a:solidFill>
              <a:latin typeface="Comfortaa"/>
              <a:ea typeface="Comfortaa"/>
              <a:cs typeface="Comfortaa"/>
              <a:sym typeface="Comfortaa"/>
            </a:endParaRPr>
          </a:p>
        </p:txBody>
      </p:sp>
      <p:sp>
        <p:nvSpPr>
          <p:cNvPr id="540" name="Google Shape;540;g3f8b5dd33d0_0_19"/>
          <p:cNvSpPr txBox="1"/>
          <p:nvPr/>
        </p:nvSpPr>
        <p:spPr>
          <a:xfrm>
            <a:off x="3122975" y="66672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g3f8b5dd33d0_0_30"/>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Relation: Similarity</a:t>
            </a:r>
            <a:endParaRPr/>
          </a:p>
        </p:txBody>
      </p:sp>
      <p:sp>
        <p:nvSpPr>
          <p:cNvPr id="546" name="Google Shape;546;g3f8b5dd33d0_0_30"/>
          <p:cNvSpPr txBox="1"/>
          <p:nvPr>
            <p:ph idx="1" type="body"/>
          </p:nvPr>
        </p:nvSpPr>
        <p:spPr>
          <a:xfrm>
            <a:off x="457172" y="1203631"/>
            <a:ext cx="8228700" cy="339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a:t>Words with similar meanings.  Not synonyms, but sharing some element of meaning</a:t>
            </a:r>
            <a:endParaRPr/>
          </a:p>
          <a:p>
            <a:pPr indent="0" lvl="0" marL="0" rtl="0" algn="l">
              <a:spcBef>
                <a:spcPts val="0"/>
              </a:spcBef>
              <a:spcAft>
                <a:spcPts val="0"/>
              </a:spcAft>
              <a:buNone/>
            </a:pPr>
            <a:r>
              <a:t/>
            </a:r>
            <a:endParaRPr/>
          </a:p>
          <a:p>
            <a:pPr indent="-419100" lvl="0" marL="457200" rtl="0" algn="l">
              <a:spcBef>
                <a:spcPts val="0"/>
              </a:spcBef>
              <a:spcAft>
                <a:spcPts val="0"/>
              </a:spcAft>
              <a:buSzPts val="3000"/>
              <a:buChar char="●"/>
            </a:pPr>
            <a:r>
              <a:rPr lang="pt-BR"/>
              <a:t>car, bicycle</a:t>
            </a:r>
            <a:endParaRPr/>
          </a:p>
          <a:p>
            <a:pPr indent="-419100" lvl="0" marL="457200" rtl="0" algn="l">
              <a:spcBef>
                <a:spcPts val="0"/>
              </a:spcBef>
              <a:spcAft>
                <a:spcPts val="0"/>
              </a:spcAft>
              <a:buSzPts val="3000"/>
              <a:buChar char="●"/>
            </a:pPr>
            <a:r>
              <a:rPr lang="pt-BR"/>
              <a:t>cow, horse</a:t>
            </a:r>
            <a:endParaRPr/>
          </a:p>
        </p:txBody>
      </p:sp>
      <p:sp>
        <p:nvSpPr>
          <p:cNvPr id="547" name="Google Shape;547;g3f8b5dd33d0_0_30"/>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f9d17cb37f_0_43"/>
          <p:cNvSpPr txBox="1"/>
          <p:nvPr>
            <p:ph type="title"/>
          </p:nvPr>
        </p:nvSpPr>
        <p:spPr>
          <a:xfrm>
            <a:off x="311700" y="445025"/>
            <a:ext cx="8520600" cy="5727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Ask humans how similar 2 words are</a:t>
            </a:r>
            <a:endParaRPr/>
          </a:p>
        </p:txBody>
      </p:sp>
      <p:sp>
        <p:nvSpPr>
          <p:cNvPr id="554" name="Google Shape;554;g3f9d17cb37f_0_43"/>
          <p:cNvSpPr txBox="1"/>
          <p:nvPr/>
        </p:nvSpPr>
        <p:spPr>
          <a:xfrm>
            <a:off x="1484950" y="4387750"/>
            <a:ext cx="37107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1400">
                <a:solidFill>
                  <a:schemeClr val="dk1"/>
                </a:solidFill>
                <a:latin typeface="Comfortaa"/>
                <a:ea typeface="Comfortaa"/>
                <a:cs typeface="Comfortaa"/>
                <a:sym typeface="Comfortaa"/>
              </a:rPr>
              <a:t>SimLex-999 dataset (Hill et al., 2015) </a:t>
            </a:r>
            <a:endParaRPr sz="1100">
              <a:latin typeface="Comfortaa"/>
              <a:ea typeface="Comfortaa"/>
              <a:cs typeface="Comfortaa"/>
              <a:sym typeface="Comfortaa"/>
            </a:endParaRPr>
          </a:p>
        </p:txBody>
      </p:sp>
      <p:sp>
        <p:nvSpPr>
          <p:cNvPr id="555" name="Google Shape;555;g3f9d17cb37f_0_43"/>
          <p:cNvSpPr txBox="1"/>
          <p:nvPr/>
        </p:nvSpPr>
        <p:spPr>
          <a:xfrm>
            <a:off x="6339425" y="447157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graphicFrame>
        <p:nvGraphicFramePr>
          <p:cNvPr id="556" name="Google Shape;556;g3f9d17cb37f_0_43"/>
          <p:cNvGraphicFramePr/>
          <p:nvPr/>
        </p:nvGraphicFramePr>
        <p:xfrm>
          <a:off x="1484950" y="1187338"/>
          <a:ext cx="3000000" cy="3000000"/>
        </p:xfrm>
        <a:graphic>
          <a:graphicData uri="http://schemas.openxmlformats.org/drawingml/2006/table">
            <a:tbl>
              <a:tblPr>
                <a:noFill/>
                <a:tableStyleId>{21883011-008D-4DB6-BC79-789B9463DC1F}</a:tableStyleId>
              </a:tblPr>
              <a:tblGrid>
                <a:gridCol w="1687475"/>
                <a:gridCol w="2437500"/>
                <a:gridCol w="2049125"/>
              </a:tblGrid>
              <a:tr h="419100">
                <a:tc>
                  <a:txBody>
                    <a:bodyPr/>
                    <a:lstStyle/>
                    <a:p>
                      <a:pPr indent="0" lvl="0" marL="0" rtl="0" algn="l">
                        <a:lnSpc>
                          <a:spcPct val="115000"/>
                        </a:lnSpc>
                        <a:spcBef>
                          <a:spcPts val="0"/>
                        </a:spcBef>
                        <a:spcAft>
                          <a:spcPts val="0"/>
                        </a:spcAft>
                        <a:buNone/>
                      </a:pPr>
                      <a:r>
                        <a:rPr b="1" lang="pt-BR" sz="2400">
                          <a:latin typeface="Comfortaa"/>
                          <a:ea typeface="Comfortaa"/>
                          <a:cs typeface="Comfortaa"/>
                          <a:sym typeface="Comfortaa"/>
                        </a:rPr>
                        <a:t>word1</a:t>
                      </a:r>
                      <a:endParaRPr b="1"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pt-BR" sz="2400">
                          <a:latin typeface="Comfortaa"/>
                          <a:ea typeface="Comfortaa"/>
                          <a:cs typeface="Comfortaa"/>
                          <a:sym typeface="Comfortaa"/>
                        </a:rPr>
                        <a:t>word2</a:t>
                      </a:r>
                      <a:endParaRPr b="1"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pt-BR" sz="2400">
                          <a:latin typeface="Comfortaa"/>
                          <a:ea typeface="Comfortaa"/>
                          <a:cs typeface="Comfortaa"/>
                          <a:sym typeface="Comfortaa"/>
                        </a:rPr>
                        <a:t>similarity</a:t>
                      </a:r>
                      <a:endParaRPr b="1"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r>
              <a:tr h="409575">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vanish</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disappear</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2400">
                          <a:latin typeface="Comfortaa"/>
                          <a:ea typeface="Comfortaa"/>
                          <a:cs typeface="Comfortaa"/>
                          <a:sym typeface="Comfortaa"/>
                        </a:rPr>
                        <a:t>9.8</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behave</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obey</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2400">
                          <a:latin typeface="Comfortaa"/>
                          <a:ea typeface="Comfortaa"/>
                          <a:cs typeface="Comfortaa"/>
                          <a:sym typeface="Comfortaa"/>
                        </a:rPr>
                        <a:t>7.3</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belief</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impression</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2400">
                          <a:latin typeface="Comfortaa"/>
                          <a:ea typeface="Comfortaa"/>
                          <a:cs typeface="Comfortaa"/>
                          <a:sym typeface="Comfortaa"/>
                        </a:rPr>
                        <a:t>5.95</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muscle</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bone</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2400">
                          <a:latin typeface="Comfortaa"/>
                          <a:ea typeface="Comfortaa"/>
                          <a:cs typeface="Comfortaa"/>
                          <a:sym typeface="Comfortaa"/>
                        </a:rPr>
                        <a:t>3.65</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modest</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flexible</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2400">
                          <a:latin typeface="Comfortaa"/>
                          <a:ea typeface="Comfortaa"/>
                          <a:cs typeface="Comfortaa"/>
                          <a:sym typeface="Comfortaa"/>
                        </a:rPr>
                        <a:t>0.98</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hole</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400">
                          <a:latin typeface="Comfortaa"/>
                          <a:ea typeface="Comfortaa"/>
                          <a:cs typeface="Comfortaa"/>
                          <a:sym typeface="Comfortaa"/>
                        </a:rPr>
                        <a:t>agreement</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2400">
                          <a:latin typeface="Comfortaa"/>
                          <a:ea typeface="Comfortaa"/>
                          <a:cs typeface="Comfortaa"/>
                          <a:sym typeface="Comfortaa"/>
                        </a:rPr>
                        <a:t>0.3</a:t>
                      </a:r>
                      <a:endParaRPr sz="24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3f8b5dd33d0_0_35"/>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Relation: Word relatedness</a:t>
            </a:r>
            <a:endParaRPr/>
          </a:p>
        </p:txBody>
      </p:sp>
      <p:sp>
        <p:nvSpPr>
          <p:cNvPr id="562" name="Google Shape;562;g3f8b5dd33d0_0_35"/>
          <p:cNvSpPr txBox="1"/>
          <p:nvPr>
            <p:ph idx="1" type="body"/>
          </p:nvPr>
        </p:nvSpPr>
        <p:spPr>
          <a:xfrm>
            <a:off x="457172" y="1203631"/>
            <a:ext cx="8228700" cy="339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a:t>Also called "word association"</a:t>
            </a:r>
            <a:endParaRPr/>
          </a:p>
          <a:p>
            <a:pPr indent="0" lvl="0" marL="0" rtl="0" algn="l">
              <a:spcBef>
                <a:spcPts val="0"/>
              </a:spcBef>
              <a:spcAft>
                <a:spcPts val="0"/>
              </a:spcAft>
              <a:buNone/>
            </a:pPr>
            <a:r>
              <a:rPr lang="pt-BR"/>
              <a:t>Words can be related in any way, perhaps via a semantic frame or field</a:t>
            </a:r>
            <a:endParaRPr/>
          </a:p>
          <a:p>
            <a:pPr indent="0" lvl="0" marL="0" rtl="0" algn="l">
              <a:spcBef>
                <a:spcPts val="0"/>
              </a:spcBef>
              <a:spcAft>
                <a:spcPts val="0"/>
              </a:spcAft>
              <a:buNone/>
            </a:pPr>
            <a:r>
              <a:t/>
            </a:r>
            <a:endParaRPr/>
          </a:p>
          <a:p>
            <a:pPr indent="-419100" lvl="0" marL="457200" rtl="0" algn="l">
              <a:spcBef>
                <a:spcPts val="0"/>
              </a:spcBef>
              <a:spcAft>
                <a:spcPts val="0"/>
              </a:spcAft>
              <a:buSzPts val="3000"/>
              <a:buChar char="●"/>
            </a:pPr>
            <a:r>
              <a:rPr lang="pt-BR"/>
              <a:t>coffee, tea:    similar</a:t>
            </a:r>
            <a:endParaRPr/>
          </a:p>
          <a:p>
            <a:pPr indent="-419100" lvl="0" marL="457200" rtl="0" algn="l">
              <a:spcBef>
                <a:spcPts val="0"/>
              </a:spcBef>
              <a:spcAft>
                <a:spcPts val="0"/>
              </a:spcAft>
              <a:buSzPts val="3000"/>
              <a:buChar char="●"/>
            </a:pPr>
            <a:r>
              <a:rPr lang="pt-BR"/>
              <a:t>coffee, cup:   related, not similar</a:t>
            </a:r>
            <a:endParaRPr/>
          </a:p>
        </p:txBody>
      </p:sp>
      <p:sp>
        <p:nvSpPr>
          <p:cNvPr id="563" name="Google Shape;563;g3f8b5dd33d0_0_35"/>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fb4b53f0be_3_29"/>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Semantic field</a:t>
            </a:r>
            <a:endParaRPr/>
          </a:p>
        </p:txBody>
      </p:sp>
      <p:sp>
        <p:nvSpPr>
          <p:cNvPr id="569" name="Google Shape;569;g3fb4b53f0be_3_29"/>
          <p:cNvSpPr txBox="1"/>
          <p:nvPr>
            <p:ph idx="1" type="body"/>
          </p:nvPr>
        </p:nvSpPr>
        <p:spPr>
          <a:xfrm>
            <a:off x="457172" y="1203631"/>
            <a:ext cx="8228700" cy="339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sz="2200"/>
              <a:t>Words that cover a particular semantic domain bear structured relations with each other. </a:t>
            </a:r>
            <a:endParaRPr sz="2200"/>
          </a:p>
          <a:p>
            <a:pPr indent="0" lvl="0" marL="0" rtl="0" algn="l">
              <a:spcBef>
                <a:spcPts val="0"/>
              </a:spcBef>
              <a:spcAft>
                <a:spcPts val="0"/>
              </a:spcAft>
              <a:buNone/>
            </a:pPr>
            <a:r>
              <a:t/>
            </a:r>
            <a:endParaRPr sz="2200"/>
          </a:p>
          <a:p>
            <a:pPr indent="-368300" lvl="0" marL="457200" rtl="0" algn="l">
              <a:spcBef>
                <a:spcPts val="0"/>
              </a:spcBef>
              <a:spcAft>
                <a:spcPts val="0"/>
              </a:spcAft>
              <a:buSzPts val="2200"/>
              <a:buChar char="●"/>
            </a:pPr>
            <a:r>
              <a:rPr b="1" lang="pt-BR" sz="2200"/>
              <a:t>hospitals</a:t>
            </a:r>
            <a:endParaRPr b="1" sz="2200"/>
          </a:p>
          <a:p>
            <a:pPr indent="-368300" lvl="1" marL="914400" rtl="0" algn="l">
              <a:spcBef>
                <a:spcPts val="0"/>
              </a:spcBef>
              <a:spcAft>
                <a:spcPts val="0"/>
              </a:spcAft>
              <a:buSzPts val="2200"/>
              <a:buChar char="○"/>
            </a:pPr>
            <a:r>
              <a:rPr i="1" lang="pt-BR" sz="2200"/>
              <a:t>surgeon, scalpel, nurse, anaesthetic, hospital</a:t>
            </a:r>
            <a:endParaRPr i="1" sz="2200"/>
          </a:p>
          <a:p>
            <a:pPr indent="-368300" lvl="0" marL="457200" rtl="0" algn="l">
              <a:spcBef>
                <a:spcPts val="0"/>
              </a:spcBef>
              <a:spcAft>
                <a:spcPts val="0"/>
              </a:spcAft>
              <a:buSzPts val="2200"/>
              <a:buChar char="●"/>
            </a:pPr>
            <a:r>
              <a:rPr b="1" lang="pt-BR" sz="2200"/>
              <a:t>restaurants </a:t>
            </a:r>
            <a:endParaRPr b="1" sz="2200"/>
          </a:p>
          <a:p>
            <a:pPr indent="-368300" lvl="1" marL="914400" rtl="0" algn="l">
              <a:spcBef>
                <a:spcPts val="0"/>
              </a:spcBef>
              <a:spcAft>
                <a:spcPts val="0"/>
              </a:spcAft>
              <a:buSzPts val="2200"/>
              <a:buChar char="○"/>
            </a:pPr>
            <a:r>
              <a:rPr i="1" lang="pt-BR" sz="2200"/>
              <a:t>waiter, menu, plate, food, menu, chef </a:t>
            </a:r>
            <a:endParaRPr i="1" sz="2200"/>
          </a:p>
          <a:p>
            <a:pPr indent="-368300" lvl="0" marL="457200" rtl="0" algn="l">
              <a:spcBef>
                <a:spcPts val="0"/>
              </a:spcBef>
              <a:spcAft>
                <a:spcPts val="0"/>
              </a:spcAft>
              <a:buSzPts val="2200"/>
              <a:buChar char="●"/>
            </a:pPr>
            <a:r>
              <a:rPr b="1" lang="pt-BR" sz="2200"/>
              <a:t>houses</a:t>
            </a:r>
            <a:endParaRPr b="1" sz="2200"/>
          </a:p>
          <a:p>
            <a:pPr indent="-368300" lvl="1" marL="914400" rtl="0" algn="l">
              <a:spcBef>
                <a:spcPts val="0"/>
              </a:spcBef>
              <a:spcAft>
                <a:spcPts val="0"/>
              </a:spcAft>
              <a:buSzPts val="2200"/>
              <a:buChar char="○"/>
            </a:pPr>
            <a:r>
              <a:rPr i="1" lang="pt-BR" sz="2200"/>
              <a:t>door, roof, kitchen, family, bed</a:t>
            </a:r>
            <a:endParaRPr i="1" sz="2200"/>
          </a:p>
        </p:txBody>
      </p:sp>
      <p:sp>
        <p:nvSpPr>
          <p:cNvPr id="570" name="Google Shape;570;g3fb4b53f0be_3_29"/>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3fb4b53f0be_3_35"/>
          <p:cNvSpPr txBox="1"/>
          <p:nvPr>
            <p:ph type="title"/>
          </p:nvPr>
        </p:nvSpPr>
        <p:spPr>
          <a:xfrm>
            <a:off x="301475" y="209825"/>
            <a:ext cx="2193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Wordnet</a:t>
            </a:r>
            <a:endParaRPr/>
          </a:p>
        </p:txBody>
      </p:sp>
      <p:pic>
        <p:nvPicPr>
          <p:cNvPr id="576" name="Google Shape;576;g3fb4b53f0be_3_35"/>
          <p:cNvPicPr preferRelativeResize="0"/>
          <p:nvPr/>
        </p:nvPicPr>
        <p:blipFill>
          <a:blip r:embed="rId3">
            <a:alphaModFix/>
          </a:blip>
          <a:stretch>
            <a:fillRect/>
          </a:stretch>
        </p:blipFill>
        <p:spPr>
          <a:xfrm>
            <a:off x="920728" y="295088"/>
            <a:ext cx="8069901" cy="475782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g3f8b5dd33d0_0_40"/>
          <p:cNvSpPr txBox="1"/>
          <p:nvPr/>
        </p:nvSpPr>
        <p:spPr>
          <a:xfrm>
            <a:off x="5572975" y="4201100"/>
            <a:ext cx="3285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GeneOntology</a:t>
            </a:r>
            <a:endParaRPr sz="3000">
              <a:solidFill>
                <a:srgbClr val="434343"/>
              </a:solidFill>
              <a:latin typeface="Comfortaa"/>
              <a:ea typeface="Comfortaa"/>
              <a:cs typeface="Comfortaa"/>
              <a:sym typeface="Comfortaa"/>
            </a:endParaRPr>
          </a:p>
        </p:txBody>
      </p:sp>
      <p:pic>
        <p:nvPicPr>
          <p:cNvPr id="582" name="Google Shape;582;g3f8b5dd33d0_0_40"/>
          <p:cNvPicPr preferRelativeResize="0"/>
          <p:nvPr/>
        </p:nvPicPr>
        <p:blipFill>
          <a:blip r:embed="rId3">
            <a:alphaModFix/>
          </a:blip>
          <a:stretch>
            <a:fillRect/>
          </a:stretch>
        </p:blipFill>
        <p:spPr>
          <a:xfrm>
            <a:off x="152400" y="152400"/>
            <a:ext cx="5543275" cy="41180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fb4b53f0be_3_40"/>
          <p:cNvSpPr txBox="1"/>
          <p:nvPr>
            <p:ph type="title"/>
          </p:nvPr>
        </p:nvSpPr>
        <p:spPr>
          <a:xfrm>
            <a:off x="457175" y="205019"/>
            <a:ext cx="8228700" cy="404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Relation: Antonymy</a:t>
            </a:r>
            <a:endParaRPr/>
          </a:p>
        </p:txBody>
      </p:sp>
      <p:sp>
        <p:nvSpPr>
          <p:cNvPr id="588" name="Google Shape;588;g3fb4b53f0be_3_40"/>
          <p:cNvSpPr txBox="1"/>
          <p:nvPr>
            <p:ph idx="1" type="body"/>
          </p:nvPr>
        </p:nvSpPr>
        <p:spPr>
          <a:xfrm>
            <a:off x="457175" y="738797"/>
            <a:ext cx="8228700" cy="419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sz="2800"/>
              <a:t>Senses that are opposites with respect to only one feature of meaning</a:t>
            </a:r>
            <a:endParaRPr sz="2800"/>
          </a:p>
          <a:p>
            <a:pPr indent="0" lvl="0" marL="0" rtl="0" algn="l">
              <a:spcBef>
                <a:spcPts val="0"/>
              </a:spcBef>
              <a:spcAft>
                <a:spcPts val="0"/>
              </a:spcAft>
              <a:buNone/>
            </a:pPr>
            <a:r>
              <a:rPr lang="pt-BR" sz="2800"/>
              <a:t>Otherwise, they are very similar!</a:t>
            </a:r>
            <a:endParaRPr sz="2800"/>
          </a:p>
          <a:p>
            <a:pPr indent="0" lvl="0" marL="457200" rtl="0" algn="l">
              <a:spcBef>
                <a:spcPts val="0"/>
              </a:spcBef>
              <a:spcAft>
                <a:spcPts val="0"/>
              </a:spcAft>
              <a:buNone/>
            </a:pPr>
            <a:r>
              <a:rPr lang="pt-BR" sz="1800">
                <a:latin typeface="Courier New"/>
                <a:ea typeface="Courier New"/>
                <a:cs typeface="Courier New"/>
                <a:sym typeface="Courier New"/>
              </a:rPr>
              <a:t>dark/light   short/long	fast/slow	rise/fall</a:t>
            </a:r>
            <a:endParaRPr sz="1800">
              <a:latin typeface="Courier New"/>
              <a:ea typeface="Courier New"/>
              <a:cs typeface="Courier New"/>
              <a:sym typeface="Courier New"/>
            </a:endParaRPr>
          </a:p>
          <a:p>
            <a:pPr indent="0" lvl="0" marL="457200" rtl="0" algn="l">
              <a:spcBef>
                <a:spcPts val="0"/>
              </a:spcBef>
              <a:spcAft>
                <a:spcPts val="0"/>
              </a:spcAft>
              <a:buNone/>
            </a:pPr>
            <a:r>
              <a:rPr lang="pt-BR" sz="1800">
                <a:latin typeface="Courier New"/>
                <a:ea typeface="Courier New"/>
                <a:cs typeface="Courier New"/>
                <a:sym typeface="Courier New"/>
              </a:rPr>
              <a:t>hot/cold	    up/down	      in/out</a:t>
            </a:r>
            <a:endParaRPr sz="1800">
              <a:latin typeface="Courier New"/>
              <a:ea typeface="Courier New"/>
              <a:cs typeface="Courier New"/>
              <a:sym typeface="Courier New"/>
            </a:endParaRPr>
          </a:p>
          <a:p>
            <a:pPr indent="0" lvl="0" marL="0" rtl="0" algn="l">
              <a:spcBef>
                <a:spcPts val="0"/>
              </a:spcBef>
              <a:spcAft>
                <a:spcPts val="0"/>
              </a:spcAft>
              <a:buNone/>
            </a:pPr>
            <a:r>
              <a:rPr lang="pt-BR" sz="2800"/>
              <a:t>More formally: antonyms can</a:t>
            </a:r>
            <a:endParaRPr sz="2800"/>
          </a:p>
          <a:p>
            <a:pPr indent="0" lvl="0" marL="457200" rtl="0" algn="l">
              <a:spcBef>
                <a:spcPts val="0"/>
              </a:spcBef>
              <a:spcAft>
                <a:spcPts val="0"/>
              </a:spcAft>
              <a:buNone/>
            </a:pPr>
            <a:r>
              <a:rPr lang="pt-BR" sz="2000"/>
              <a:t>define a binary opposition or be at opposite ends of a scale</a:t>
            </a:r>
            <a:endParaRPr sz="2000"/>
          </a:p>
          <a:p>
            <a:pPr indent="457200" lvl="0" marL="457200" rtl="0" algn="l">
              <a:spcBef>
                <a:spcPts val="0"/>
              </a:spcBef>
              <a:spcAft>
                <a:spcPts val="0"/>
              </a:spcAft>
              <a:buNone/>
            </a:pPr>
            <a:r>
              <a:rPr lang="pt-BR" sz="1800">
                <a:latin typeface="Courier New"/>
                <a:ea typeface="Courier New"/>
                <a:cs typeface="Courier New"/>
                <a:sym typeface="Courier New"/>
              </a:rPr>
              <a:t>long/short, fast/slow</a:t>
            </a:r>
            <a:endParaRPr sz="1800">
              <a:latin typeface="Courier New"/>
              <a:ea typeface="Courier New"/>
              <a:cs typeface="Courier New"/>
              <a:sym typeface="Courier New"/>
            </a:endParaRPr>
          </a:p>
          <a:p>
            <a:pPr indent="0" lvl="0" marL="457200" rtl="0" algn="l">
              <a:spcBef>
                <a:spcPts val="0"/>
              </a:spcBef>
              <a:spcAft>
                <a:spcPts val="0"/>
              </a:spcAft>
              <a:buNone/>
            </a:pPr>
            <a:r>
              <a:rPr lang="pt-BR" sz="2000"/>
              <a:t>Be reversives:</a:t>
            </a:r>
            <a:endParaRPr sz="2000"/>
          </a:p>
          <a:p>
            <a:pPr indent="457200" lvl="0" marL="457200" rtl="0" algn="l">
              <a:spcBef>
                <a:spcPts val="0"/>
              </a:spcBef>
              <a:spcAft>
                <a:spcPts val="0"/>
              </a:spcAft>
              <a:buNone/>
            </a:pPr>
            <a:r>
              <a:rPr lang="pt-BR" sz="1800">
                <a:latin typeface="Courier New"/>
                <a:ea typeface="Courier New"/>
                <a:cs typeface="Courier New"/>
                <a:sym typeface="Courier New"/>
              </a:rPr>
              <a:t>rise/fall, up/down</a:t>
            </a:r>
            <a:endParaRPr sz="1800">
              <a:latin typeface="Courier New"/>
              <a:ea typeface="Courier New"/>
              <a:cs typeface="Courier New"/>
              <a:sym typeface="Courier New"/>
            </a:endParaRPr>
          </a:p>
        </p:txBody>
      </p:sp>
      <p:sp>
        <p:nvSpPr>
          <p:cNvPr id="589" name="Google Shape;589;g3fb4b53f0be_3_40"/>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fb4b53f0be_3_23"/>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Connotation (sentiment)</a:t>
            </a:r>
            <a:endParaRPr/>
          </a:p>
        </p:txBody>
      </p:sp>
      <p:sp>
        <p:nvSpPr>
          <p:cNvPr id="595" name="Google Shape;595;g3fb4b53f0be_3_23"/>
          <p:cNvSpPr txBox="1"/>
          <p:nvPr>
            <p:ph idx="1" type="body"/>
          </p:nvPr>
        </p:nvSpPr>
        <p:spPr>
          <a:xfrm>
            <a:off x="457172" y="1203631"/>
            <a:ext cx="8228700" cy="3394800"/>
          </a:xfrm>
          <a:prstGeom prst="rect">
            <a:avLst/>
          </a:prstGeom>
        </p:spPr>
        <p:txBody>
          <a:bodyPr anchorCtr="0" anchor="t" bIns="0" lIns="0" spcFirstLastPara="1" rIns="0" wrap="square" tIns="0">
            <a:noAutofit/>
          </a:bodyPr>
          <a:lstStyle/>
          <a:p>
            <a:pPr indent="-393700" lvl="0" marL="457200" rtl="0" algn="l">
              <a:spcBef>
                <a:spcPts val="0"/>
              </a:spcBef>
              <a:spcAft>
                <a:spcPts val="0"/>
              </a:spcAft>
              <a:buSzPts val="2600"/>
              <a:buChar char="●"/>
            </a:pPr>
            <a:r>
              <a:rPr lang="pt-BR" sz="2600"/>
              <a:t>Words have affective meanings</a:t>
            </a:r>
            <a:endParaRPr sz="2600"/>
          </a:p>
          <a:p>
            <a:pPr indent="-355600" lvl="1" marL="914400" rtl="0" algn="l">
              <a:spcBef>
                <a:spcPts val="0"/>
              </a:spcBef>
              <a:spcAft>
                <a:spcPts val="0"/>
              </a:spcAft>
              <a:buSzPts val="2000"/>
              <a:buChar char="○"/>
            </a:pPr>
            <a:r>
              <a:rPr lang="pt-BR" sz="2000"/>
              <a:t>Positive connotations (</a:t>
            </a:r>
            <a:r>
              <a:rPr i="1" lang="pt-BR" sz="2000"/>
              <a:t>happy</a:t>
            </a:r>
            <a:r>
              <a:rPr lang="pt-BR" sz="2000"/>
              <a:t>) </a:t>
            </a:r>
            <a:endParaRPr sz="2000"/>
          </a:p>
          <a:p>
            <a:pPr indent="-355600" lvl="1" marL="914400" rtl="0" algn="l">
              <a:spcBef>
                <a:spcPts val="0"/>
              </a:spcBef>
              <a:spcAft>
                <a:spcPts val="0"/>
              </a:spcAft>
              <a:buSzPts val="2000"/>
              <a:buChar char="○"/>
            </a:pPr>
            <a:r>
              <a:rPr lang="pt-BR" sz="2000"/>
              <a:t>Negative connotations (</a:t>
            </a:r>
            <a:r>
              <a:rPr i="1" lang="pt-BR" sz="2000"/>
              <a:t>sad</a:t>
            </a:r>
            <a:r>
              <a:rPr lang="pt-BR" sz="2000"/>
              <a:t>)</a:t>
            </a:r>
            <a:endParaRPr sz="2000"/>
          </a:p>
          <a:p>
            <a:pPr indent="-393700" lvl="0" marL="457200" rtl="0" algn="l">
              <a:spcBef>
                <a:spcPts val="0"/>
              </a:spcBef>
              <a:spcAft>
                <a:spcPts val="0"/>
              </a:spcAft>
              <a:buSzPts val="2600"/>
              <a:buChar char="●"/>
            </a:pPr>
            <a:r>
              <a:rPr lang="pt-BR" sz="2600"/>
              <a:t>Connotations can be subtle:</a:t>
            </a:r>
            <a:endParaRPr sz="2600"/>
          </a:p>
          <a:p>
            <a:pPr indent="-355600" lvl="1" marL="914400" rtl="0" algn="l">
              <a:spcBef>
                <a:spcPts val="0"/>
              </a:spcBef>
              <a:spcAft>
                <a:spcPts val="0"/>
              </a:spcAft>
              <a:buSzPts val="2000"/>
              <a:buChar char="○"/>
            </a:pPr>
            <a:r>
              <a:rPr lang="pt-BR" sz="2000"/>
              <a:t>Positive connotation: </a:t>
            </a:r>
            <a:r>
              <a:rPr i="1" lang="pt-BR" sz="2000"/>
              <a:t>copy, replica, reproduction</a:t>
            </a:r>
            <a:r>
              <a:rPr lang="pt-BR" sz="2000"/>
              <a:t> </a:t>
            </a:r>
            <a:endParaRPr sz="2000"/>
          </a:p>
          <a:p>
            <a:pPr indent="-355600" lvl="1" marL="914400" rtl="0" algn="l">
              <a:spcBef>
                <a:spcPts val="0"/>
              </a:spcBef>
              <a:spcAft>
                <a:spcPts val="0"/>
              </a:spcAft>
              <a:buSzPts val="2000"/>
              <a:buChar char="○"/>
            </a:pPr>
            <a:r>
              <a:rPr lang="pt-BR" sz="2000"/>
              <a:t>Negative connotation: </a:t>
            </a:r>
            <a:r>
              <a:rPr i="1" lang="pt-BR" sz="2000"/>
              <a:t>fake, knockoff, forgery</a:t>
            </a:r>
            <a:endParaRPr i="1" sz="2000"/>
          </a:p>
          <a:p>
            <a:pPr indent="-393700" lvl="0" marL="457200" rtl="0" algn="l">
              <a:spcBef>
                <a:spcPts val="0"/>
              </a:spcBef>
              <a:spcAft>
                <a:spcPts val="0"/>
              </a:spcAft>
              <a:buSzPts val="2600"/>
              <a:buChar char="●"/>
            </a:pPr>
            <a:r>
              <a:rPr lang="pt-BR" sz="2600"/>
              <a:t>Evaluation (sentiment!)</a:t>
            </a:r>
            <a:endParaRPr sz="2600"/>
          </a:p>
          <a:p>
            <a:pPr indent="-355600" lvl="1" marL="914400" rtl="0" algn="l">
              <a:spcBef>
                <a:spcPts val="0"/>
              </a:spcBef>
              <a:spcAft>
                <a:spcPts val="0"/>
              </a:spcAft>
              <a:buSzPts val="2000"/>
              <a:buChar char="○"/>
            </a:pPr>
            <a:r>
              <a:rPr lang="pt-BR" sz="2000"/>
              <a:t>Positive evaluation (</a:t>
            </a:r>
            <a:r>
              <a:rPr i="1" lang="pt-BR" sz="2000"/>
              <a:t>great, love</a:t>
            </a:r>
            <a:r>
              <a:rPr lang="pt-BR" sz="2000"/>
              <a:t>) </a:t>
            </a:r>
            <a:endParaRPr sz="2000"/>
          </a:p>
          <a:p>
            <a:pPr indent="-355600" lvl="1" marL="914400" rtl="0" algn="l">
              <a:spcBef>
                <a:spcPts val="0"/>
              </a:spcBef>
              <a:spcAft>
                <a:spcPts val="0"/>
              </a:spcAft>
              <a:buSzPts val="2000"/>
              <a:buChar char="○"/>
            </a:pPr>
            <a:r>
              <a:rPr lang="pt-BR" sz="2000"/>
              <a:t>Negative evaluation (terrible, hate)</a:t>
            </a:r>
            <a:endParaRPr sz="2000"/>
          </a:p>
        </p:txBody>
      </p:sp>
      <p:sp>
        <p:nvSpPr>
          <p:cNvPr id="596" name="Google Shape;596;g3fb4b53f0be_3_23"/>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fb4b53f0be_2_7"/>
          <p:cNvSpPr txBox="1"/>
          <p:nvPr>
            <p:ph idx="2" type="body"/>
          </p:nvPr>
        </p:nvSpPr>
        <p:spPr>
          <a:xfrm>
            <a:off x="4939500" y="233475"/>
            <a:ext cx="3837000" cy="465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800"/>
              <a:t>Apart from the studies to be reported here, there have been few, if any, systematic attempts to subject </a:t>
            </a:r>
            <a:r>
              <a:rPr b="1" lang="pt-BR" sz="1800"/>
              <a:t>meaning</a:t>
            </a:r>
            <a:r>
              <a:rPr lang="pt-BR" sz="1800"/>
              <a:t> to </a:t>
            </a:r>
            <a:r>
              <a:rPr b="1" lang="pt-BR" sz="1800"/>
              <a:t>quantitative measurement</a:t>
            </a:r>
            <a:r>
              <a:rPr lang="pt-BR" sz="1800"/>
              <a:t>. There are probably several reasons for this, even in a period of intense objectivity in psychology: For one thing, the term </a:t>
            </a:r>
            <a:r>
              <a:rPr b="1" lang="pt-BR" sz="1800"/>
              <a:t>“meaning” seems to connote</a:t>
            </a:r>
            <a:r>
              <a:rPr lang="pt-BR" sz="1800"/>
              <a:t>, for most psychologists at least, something inherently </a:t>
            </a:r>
            <a:r>
              <a:rPr b="1" lang="pt-BR" sz="1800"/>
              <a:t>nonmaterial</a:t>
            </a:r>
            <a:r>
              <a:rPr lang="pt-BR" sz="1800"/>
              <a:t> [...]</a:t>
            </a:r>
            <a:endParaRPr sz="1800"/>
          </a:p>
          <a:p>
            <a:pPr indent="0" lvl="0" marL="0" rtl="0" algn="r">
              <a:spcBef>
                <a:spcPts val="0"/>
              </a:spcBef>
              <a:spcAft>
                <a:spcPts val="0"/>
              </a:spcAft>
              <a:buNone/>
            </a:pPr>
            <a:r>
              <a:rPr lang="pt-BR" sz="1800"/>
              <a:t>(Osgood et al., 1957)</a:t>
            </a:r>
            <a:endParaRPr sz="1800"/>
          </a:p>
        </p:txBody>
      </p:sp>
      <p:pic>
        <p:nvPicPr>
          <p:cNvPr id="602" name="Google Shape;602;g3fb4b53f0be_2_7"/>
          <p:cNvPicPr preferRelativeResize="0"/>
          <p:nvPr/>
        </p:nvPicPr>
        <p:blipFill>
          <a:blip r:embed="rId3">
            <a:alphaModFix/>
          </a:blip>
          <a:stretch>
            <a:fillRect/>
          </a:stretch>
        </p:blipFill>
        <p:spPr>
          <a:xfrm>
            <a:off x="743600" y="152400"/>
            <a:ext cx="3219094" cy="483870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fb4b53f0be_3_13"/>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Connotation</a:t>
            </a:r>
            <a:endParaRPr/>
          </a:p>
        </p:txBody>
      </p:sp>
      <p:sp>
        <p:nvSpPr>
          <p:cNvPr id="608" name="Google Shape;608;g3fb4b53f0be_3_13"/>
          <p:cNvSpPr txBox="1"/>
          <p:nvPr>
            <p:ph idx="1" type="body"/>
          </p:nvPr>
        </p:nvSpPr>
        <p:spPr>
          <a:xfrm>
            <a:off x="457175" y="975024"/>
            <a:ext cx="8228700" cy="1791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sz="2000"/>
              <a:t>Words seem to vary along 3 affective dimensions:</a:t>
            </a:r>
            <a:endParaRPr sz="2000"/>
          </a:p>
          <a:p>
            <a:pPr indent="-355600" lvl="0" marL="457200" rtl="0" algn="l">
              <a:spcBef>
                <a:spcPts val="0"/>
              </a:spcBef>
              <a:spcAft>
                <a:spcPts val="0"/>
              </a:spcAft>
              <a:buSzPts val="2000"/>
              <a:buChar char="●"/>
            </a:pPr>
            <a:r>
              <a:rPr lang="pt-BR" sz="2000"/>
              <a:t>valence: the pleasantness of the stimulus</a:t>
            </a:r>
            <a:endParaRPr sz="2000"/>
          </a:p>
          <a:p>
            <a:pPr indent="-355600" lvl="0" marL="457200" rtl="0" algn="l">
              <a:spcBef>
                <a:spcPts val="0"/>
              </a:spcBef>
              <a:spcAft>
                <a:spcPts val="0"/>
              </a:spcAft>
              <a:buSzPts val="2000"/>
              <a:buChar char="●"/>
            </a:pPr>
            <a:r>
              <a:rPr lang="pt-BR" sz="2000"/>
              <a:t>arousal: the intensity of emotion provoked by the stimulus</a:t>
            </a:r>
            <a:endParaRPr sz="2000"/>
          </a:p>
          <a:p>
            <a:pPr indent="-355600" lvl="0" marL="457200" rtl="0" algn="l">
              <a:spcBef>
                <a:spcPts val="0"/>
              </a:spcBef>
              <a:spcAft>
                <a:spcPts val="0"/>
              </a:spcAft>
              <a:buSzPts val="2000"/>
              <a:buChar char="●"/>
            </a:pPr>
            <a:r>
              <a:rPr lang="pt-BR" sz="2000"/>
              <a:t>dominance: the degree of control exerted by the stimulus</a:t>
            </a:r>
            <a:endParaRPr sz="2000"/>
          </a:p>
          <a:p>
            <a:pPr indent="0" lvl="0" marL="457200" rtl="0" algn="r">
              <a:spcBef>
                <a:spcPts val="0"/>
              </a:spcBef>
              <a:spcAft>
                <a:spcPts val="0"/>
              </a:spcAft>
              <a:buNone/>
            </a:pPr>
            <a:r>
              <a:rPr lang="pt-BR" sz="2000"/>
              <a:t>(Osgood et al., 1957)</a:t>
            </a:r>
            <a:endParaRPr sz="2000"/>
          </a:p>
        </p:txBody>
      </p:sp>
      <p:graphicFrame>
        <p:nvGraphicFramePr>
          <p:cNvPr id="609" name="Google Shape;609;g3fb4b53f0be_3_13"/>
          <p:cNvGraphicFramePr/>
          <p:nvPr/>
        </p:nvGraphicFramePr>
        <p:xfrm>
          <a:off x="1904913" y="2933465"/>
          <a:ext cx="3000000" cy="3000000"/>
        </p:xfrm>
        <a:graphic>
          <a:graphicData uri="http://schemas.openxmlformats.org/drawingml/2006/table">
            <a:tbl>
              <a:tblPr>
                <a:noFill/>
                <a:tableStyleId>{21883011-008D-4DB6-BC79-789B9463DC1F}</a:tableStyleId>
              </a:tblPr>
              <a:tblGrid>
                <a:gridCol w="1242125"/>
                <a:gridCol w="1153400"/>
                <a:gridCol w="670350"/>
                <a:gridCol w="463325"/>
                <a:gridCol w="1133675"/>
                <a:gridCol w="670350"/>
              </a:tblGrid>
              <a:tr h="276225">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pt-BR" sz="1500">
                          <a:latin typeface="Comfortaa"/>
                          <a:ea typeface="Comfortaa"/>
                          <a:cs typeface="Comfortaa"/>
                          <a:sym typeface="Comfortaa"/>
                        </a:rPr>
                        <a:t>Word</a:t>
                      </a:r>
                      <a:endParaRPr b="1"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pt-BR" sz="1500">
                          <a:latin typeface="Comfortaa"/>
                          <a:ea typeface="Comfortaa"/>
                          <a:cs typeface="Comfortaa"/>
                          <a:sym typeface="Comfortaa"/>
                        </a:rPr>
                        <a:t>Score</a:t>
                      </a:r>
                      <a:endParaRPr b="1"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pt-BR" sz="1500">
                          <a:latin typeface="Comfortaa"/>
                          <a:ea typeface="Comfortaa"/>
                          <a:cs typeface="Comfortaa"/>
                          <a:sym typeface="Comfortaa"/>
                        </a:rPr>
                        <a:t>Word</a:t>
                      </a:r>
                      <a:endParaRPr b="1"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pt-BR" sz="1500">
                          <a:latin typeface="Comfortaa"/>
                          <a:ea typeface="Comfortaa"/>
                          <a:cs typeface="Comfortaa"/>
                          <a:sym typeface="Comfortaa"/>
                        </a:rPr>
                        <a:t>Score</a:t>
                      </a:r>
                      <a:endParaRPr b="1"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r>
              <a:tr h="276225">
                <a:tc rowSpan="2">
                  <a:txBody>
                    <a:bodyPr/>
                    <a:lstStyle/>
                    <a:p>
                      <a:pPr indent="0" lvl="0" marL="0" rtl="0" algn="l">
                        <a:lnSpc>
                          <a:spcPct val="115000"/>
                        </a:lnSpc>
                        <a:spcBef>
                          <a:spcPts val="0"/>
                        </a:spcBef>
                        <a:spcAft>
                          <a:spcPts val="0"/>
                        </a:spcAft>
                        <a:buNone/>
                      </a:pPr>
                      <a:r>
                        <a:rPr b="1" lang="pt-BR" sz="1500">
                          <a:latin typeface="Comfortaa"/>
                          <a:ea typeface="Comfortaa"/>
                          <a:cs typeface="Comfortaa"/>
                          <a:sym typeface="Comfortaa"/>
                        </a:rPr>
                        <a:t>Valence</a:t>
                      </a:r>
                      <a:endParaRPr b="1" sz="1500">
                        <a:latin typeface="Comfortaa"/>
                        <a:ea typeface="Comfortaa"/>
                        <a:cs typeface="Comfortaa"/>
                        <a:sym typeface="Comforta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love</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1.000</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toxic</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0.008</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6225">
                <a:tc vMerge="1"/>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happy</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1.000</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nightmare</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0.005</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6225">
                <a:tc rowSpan="2">
                  <a:txBody>
                    <a:bodyPr/>
                    <a:lstStyle/>
                    <a:p>
                      <a:pPr indent="0" lvl="0" marL="0" rtl="0" algn="l">
                        <a:lnSpc>
                          <a:spcPct val="115000"/>
                        </a:lnSpc>
                        <a:spcBef>
                          <a:spcPts val="0"/>
                        </a:spcBef>
                        <a:spcAft>
                          <a:spcPts val="0"/>
                        </a:spcAft>
                        <a:buNone/>
                      </a:pPr>
                      <a:r>
                        <a:rPr b="1" lang="pt-BR" sz="1500">
                          <a:latin typeface="Comfortaa"/>
                          <a:ea typeface="Comfortaa"/>
                          <a:cs typeface="Comfortaa"/>
                          <a:sym typeface="Comfortaa"/>
                        </a:rPr>
                        <a:t>Arousal</a:t>
                      </a:r>
                      <a:endParaRPr b="1" sz="1500">
                        <a:latin typeface="Comfortaa"/>
                        <a:ea typeface="Comfortaa"/>
                        <a:cs typeface="Comfortaa"/>
                        <a:sym typeface="Comforta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elated</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0.960</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mellow</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0.069</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6225">
                <a:tc vMerge="1"/>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frenzy</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0.965</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napping</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0.046</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6225">
                <a:tc rowSpan="2">
                  <a:txBody>
                    <a:bodyPr/>
                    <a:lstStyle/>
                    <a:p>
                      <a:pPr indent="0" lvl="0" marL="0" rtl="0" algn="l">
                        <a:lnSpc>
                          <a:spcPct val="115000"/>
                        </a:lnSpc>
                        <a:spcBef>
                          <a:spcPts val="0"/>
                        </a:spcBef>
                        <a:spcAft>
                          <a:spcPts val="0"/>
                        </a:spcAft>
                        <a:buNone/>
                      </a:pPr>
                      <a:r>
                        <a:rPr b="1" lang="pt-BR" sz="1500">
                          <a:latin typeface="Comfortaa"/>
                          <a:ea typeface="Comfortaa"/>
                          <a:cs typeface="Comfortaa"/>
                          <a:sym typeface="Comfortaa"/>
                        </a:rPr>
                        <a:t>Dominance</a:t>
                      </a:r>
                      <a:endParaRPr b="1" sz="1500">
                        <a:latin typeface="Comfortaa"/>
                        <a:ea typeface="Comfortaa"/>
                        <a:cs typeface="Comfortaa"/>
                        <a:sym typeface="Comforta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powerful</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0.991</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weak</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0.045</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6225">
                <a:tc vMerge="1"/>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leadership</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0.983</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empty</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0.081</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610" name="Google Shape;610;g3fb4b53f0be_3_13"/>
          <p:cNvSpPr txBox="1"/>
          <p:nvPr/>
        </p:nvSpPr>
        <p:spPr>
          <a:xfrm>
            <a:off x="7238150" y="3410525"/>
            <a:ext cx="1874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latin typeface="Comfortaa"/>
                <a:ea typeface="Comfortaa"/>
                <a:cs typeface="Comfortaa"/>
                <a:sym typeface="Comfortaa"/>
              </a:rPr>
              <a:t>Values from NRC VAD Lexicon  (Mohammad, 2018)</a:t>
            </a:r>
            <a:endParaRPr>
              <a:latin typeface="Comfortaa"/>
              <a:ea typeface="Comfortaa"/>
              <a:cs typeface="Comfortaa"/>
              <a:sym typeface="Comfortaa"/>
            </a:endParaRPr>
          </a:p>
        </p:txBody>
      </p:sp>
      <p:sp>
        <p:nvSpPr>
          <p:cNvPr id="611" name="Google Shape;611;g3fb4b53f0be_3_13"/>
          <p:cNvSpPr txBox="1"/>
          <p:nvPr/>
        </p:nvSpPr>
        <p:spPr>
          <a:xfrm>
            <a:off x="6324175" y="35727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g3fb4b53f0be_3_46"/>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So far</a:t>
            </a:r>
            <a:endParaRPr/>
          </a:p>
        </p:txBody>
      </p:sp>
      <p:sp>
        <p:nvSpPr>
          <p:cNvPr id="617" name="Google Shape;617;g3fb4b53f0be_3_46"/>
          <p:cNvSpPr txBox="1"/>
          <p:nvPr>
            <p:ph idx="1" type="body"/>
          </p:nvPr>
        </p:nvSpPr>
        <p:spPr>
          <a:xfrm>
            <a:off x="457172" y="1203631"/>
            <a:ext cx="8228700" cy="339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pt-BR" sz="2700"/>
              <a:t>Concepts</a:t>
            </a:r>
            <a:r>
              <a:rPr lang="pt-BR" sz="2700"/>
              <a:t> or word senses</a:t>
            </a:r>
            <a:endParaRPr sz="2700"/>
          </a:p>
          <a:p>
            <a:pPr indent="0" lvl="0" marL="457200" rtl="0" algn="l">
              <a:spcBef>
                <a:spcPts val="0"/>
              </a:spcBef>
              <a:spcAft>
                <a:spcPts val="0"/>
              </a:spcAft>
              <a:buNone/>
            </a:pPr>
            <a:r>
              <a:rPr lang="pt-BR" sz="2200"/>
              <a:t>Have a complex many-to-many association with </a:t>
            </a:r>
            <a:r>
              <a:rPr b="1" lang="pt-BR" sz="2200"/>
              <a:t>words</a:t>
            </a:r>
            <a:r>
              <a:rPr lang="pt-BR" sz="2200"/>
              <a:t> (homonymy, multiple senses)</a:t>
            </a:r>
            <a:endParaRPr sz="2200"/>
          </a:p>
          <a:p>
            <a:pPr indent="0" lvl="0" marL="0" rtl="0" algn="l">
              <a:spcBef>
                <a:spcPts val="0"/>
              </a:spcBef>
              <a:spcAft>
                <a:spcPts val="0"/>
              </a:spcAft>
              <a:buNone/>
            </a:pPr>
            <a:r>
              <a:rPr lang="pt-BR" sz="2700"/>
              <a:t>Have relations with each other</a:t>
            </a:r>
            <a:endParaRPr sz="2700"/>
          </a:p>
          <a:p>
            <a:pPr indent="0" lvl="0" marL="457200" rtl="0" algn="l">
              <a:spcBef>
                <a:spcPts val="0"/>
              </a:spcBef>
              <a:spcAft>
                <a:spcPts val="0"/>
              </a:spcAft>
              <a:buNone/>
            </a:pPr>
            <a:r>
              <a:rPr lang="pt-BR" sz="2200"/>
              <a:t>Synonymy</a:t>
            </a:r>
            <a:endParaRPr sz="2200"/>
          </a:p>
          <a:p>
            <a:pPr indent="0" lvl="0" marL="457200" rtl="0" algn="l">
              <a:spcBef>
                <a:spcPts val="0"/>
              </a:spcBef>
              <a:spcAft>
                <a:spcPts val="0"/>
              </a:spcAft>
              <a:buNone/>
            </a:pPr>
            <a:r>
              <a:rPr lang="pt-BR" sz="2200"/>
              <a:t>Antonymy</a:t>
            </a:r>
            <a:endParaRPr sz="2200"/>
          </a:p>
          <a:p>
            <a:pPr indent="0" lvl="0" marL="457200" rtl="0" algn="l">
              <a:spcBef>
                <a:spcPts val="0"/>
              </a:spcBef>
              <a:spcAft>
                <a:spcPts val="0"/>
              </a:spcAft>
              <a:buNone/>
            </a:pPr>
            <a:r>
              <a:rPr lang="pt-BR" sz="2200"/>
              <a:t>Similarity</a:t>
            </a:r>
            <a:endParaRPr sz="2200"/>
          </a:p>
          <a:p>
            <a:pPr indent="0" lvl="0" marL="457200" rtl="0" algn="l">
              <a:spcBef>
                <a:spcPts val="0"/>
              </a:spcBef>
              <a:spcAft>
                <a:spcPts val="0"/>
              </a:spcAft>
              <a:buNone/>
            </a:pPr>
            <a:r>
              <a:rPr lang="pt-BR" sz="2200"/>
              <a:t>Relatedness</a:t>
            </a:r>
            <a:endParaRPr sz="2200"/>
          </a:p>
          <a:p>
            <a:pPr indent="0" lvl="0" marL="457200" rtl="0" algn="l">
              <a:spcBef>
                <a:spcPts val="0"/>
              </a:spcBef>
              <a:spcAft>
                <a:spcPts val="0"/>
              </a:spcAft>
              <a:buNone/>
            </a:pPr>
            <a:r>
              <a:rPr lang="pt-BR" sz="2200"/>
              <a:t>Connotation</a:t>
            </a:r>
            <a:endParaRPr sz="2200"/>
          </a:p>
        </p:txBody>
      </p:sp>
      <p:sp>
        <p:nvSpPr>
          <p:cNvPr id="618" name="Google Shape;618;g3fb4b53f0be_3_46"/>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g37a047440fb_0_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None/>
            </a:pPr>
            <a:r>
              <a:rPr lang="pt-BR"/>
              <a:t>Vector Semantics</a:t>
            </a:r>
            <a:endParaRPr/>
          </a:p>
        </p:txBody>
      </p:sp>
      <p:sp>
        <p:nvSpPr>
          <p:cNvPr id="624" name="Google Shape;624;g37a047440fb_0_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000"/>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f9ebdf94e2_0_176"/>
          <p:cNvSpPr txBox="1"/>
          <p:nvPr/>
        </p:nvSpPr>
        <p:spPr>
          <a:xfrm>
            <a:off x="457172" y="150535"/>
            <a:ext cx="3788100" cy="85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pt-BR" sz="3000" strike="noStrike">
                <a:solidFill>
                  <a:srgbClr val="FFFFFF"/>
                </a:solidFill>
                <a:latin typeface="Comfortaa"/>
                <a:ea typeface="Comfortaa"/>
                <a:cs typeface="Comfortaa"/>
                <a:sym typeface="Comfortaa"/>
              </a:rPr>
              <a:t>Vector Semantics</a:t>
            </a:r>
            <a:endParaRPr b="1" sz="3000" strike="noStrike">
              <a:solidFill>
                <a:srgbClr val="252323"/>
              </a:solidFill>
              <a:latin typeface="Comfortaa"/>
              <a:ea typeface="Comfortaa"/>
              <a:cs typeface="Comfortaa"/>
              <a:sym typeface="Comfortaa"/>
            </a:endParaRPr>
          </a:p>
        </p:txBody>
      </p:sp>
      <p:sp>
        <p:nvSpPr>
          <p:cNvPr id="630" name="Google Shape;630;g3f9ebdf94e2_0_176"/>
          <p:cNvSpPr txBox="1"/>
          <p:nvPr/>
        </p:nvSpPr>
        <p:spPr>
          <a:xfrm>
            <a:off x="5028888" y="232823"/>
            <a:ext cx="3788100" cy="69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pt-BR" sz="2900" strike="noStrike">
                <a:solidFill>
                  <a:srgbClr val="252323"/>
                </a:solidFill>
                <a:latin typeface="Comfortaa"/>
                <a:ea typeface="Comfortaa"/>
                <a:cs typeface="Comfortaa"/>
                <a:sym typeface="Comfortaa"/>
              </a:rPr>
              <a:t>Formal Semantics</a:t>
            </a:r>
            <a:endParaRPr b="0" sz="2900" strike="noStrike">
              <a:solidFill>
                <a:srgbClr val="252323"/>
              </a:solidFill>
              <a:latin typeface="Comfortaa"/>
              <a:ea typeface="Comfortaa"/>
              <a:cs typeface="Comfortaa"/>
              <a:sym typeface="Comfortaa"/>
            </a:endParaRPr>
          </a:p>
        </p:txBody>
      </p:sp>
      <p:grpSp>
        <p:nvGrpSpPr>
          <p:cNvPr id="631" name="Google Shape;631;g3f9ebdf94e2_0_176"/>
          <p:cNvGrpSpPr/>
          <p:nvPr/>
        </p:nvGrpSpPr>
        <p:grpSpPr>
          <a:xfrm>
            <a:off x="501263" y="1403538"/>
            <a:ext cx="3589176" cy="3203950"/>
            <a:chOff x="552600" y="1547280"/>
            <a:chExt cx="3956759" cy="3532080"/>
          </a:xfrm>
        </p:grpSpPr>
        <p:sp>
          <p:nvSpPr>
            <p:cNvPr id="632" name="Google Shape;632;g3f9ebdf94e2_0_176"/>
            <p:cNvSpPr/>
            <p:nvPr/>
          </p:nvSpPr>
          <p:spPr>
            <a:xfrm>
              <a:off x="552600" y="174132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33" name="Google Shape;633;g3f9ebdf94e2_0_176"/>
            <p:cNvSpPr/>
            <p:nvPr/>
          </p:nvSpPr>
          <p:spPr>
            <a:xfrm>
              <a:off x="552600" y="2708640"/>
              <a:ext cx="828300" cy="4830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34" name="Google Shape;634;g3f9ebdf94e2_0_176"/>
            <p:cNvSpPr/>
            <p:nvPr/>
          </p:nvSpPr>
          <p:spPr>
            <a:xfrm>
              <a:off x="3038400" y="1741320"/>
              <a:ext cx="828300" cy="483600"/>
            </a:xfrm>
            <a:prstGeom prst="rect">
              <a:avLst/>
            </a:prstGeom>
            <a:solidFill>
              <a:srgbClr val="B4C7D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0.7</a:t>
              </a:r>
              <a:endParaRPr b="0" sz="1600" strike="noStrike">
                <a:solidFill>
                  <a:srgbClr val="000000"/>
                </a:solidFill>
                <a:latin typeface="Arial"/>
                <a:ea typeface="Arial"/>
                <a:cs typeface="Arial"/>
                <a:sym typeface="Arial"/>
              </a:endParaRPr>
            </a:p>
          </p:txBody>
        </p:sp>
        <p:sp>
          <p:nvSpPr>
            <p:cNvPr id="635" name="Google Shape;635;g3f9ebdf94e2_0_176"/>
            <p:cNvSpPr/>
            <p:nvPr/>
          </p:nvSpPr>
          <p:spPr>
            <a:xfrm>
              <a:off x="3036960" y="2708640"/>
              <a:ext cx="828000" cy="483000"/>
            </a:xfrm>
            <a:prstGeom prst="rect">
              <a:avLst/>
            </a:prstGeom>
            <a:solidFill>
              <a:srgbClr val="EEEEEE"/>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0.5</a:t>
              </a:r>
              <a:endParaRPr b="0" sz="1600" strike="noStrike">
                <a:latin typeface="Arial"/>
                <a:ea typeface="Arial"/>
                <a:cs typeface="Arial"/>
                <a:sym typeface="Arial"/>
              </a:endParaRPr>
            </a:p>
          </p:txBody>
        </p:sp>
        <p:sp>
          <p:nvSpPr>
            <p:cNvPr id="636" name="Google Shape;636;g3f9ebdf94e2_0_176"/>
            <p:cNvSpPr/>
            <p:nvPr/>
          </p:nvSpPr>
          <p:spPr>
            <a:xfrm>
              <a:off x="552600" y="3655440"/>
              <a:ext cx="828300" cy="4839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37" name="Google Shape;637;g3f9ebdf94e2_0_176"/>
            <p:cNvSpPr/>
            <p:nvPr/>
          </p:nvSpPr>
          <p:spPr>
            <a:xfrm>
              <a:off x="3036960" y="3655440"/>
              <a:ext cx="828000" cy="4839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0.2</a:t>
              </a:r>
              <a:endParaRPr b="0" sz="1600" strike="noStrike">
                <a:latin typeface="Arial"/>
                <a:ea typeface="Arial"/>
                <a:cs typeface="Arial"/>
                <a:sym typeface="Arial"/>
              </a:endParaRPr>
            </a:p>
          </p:txBody>
        </p:sp>
        <p:sp>
          <p:nvSpPr>
            <p:cNvPr id="638" name="Google Shape;638;g3f9ebdf94e2_0_176"/>
            <p:cNvSpPr/>
            <p:nvPr/>
          </p:nvSpPr>
          <p:spPr>
            <a:xfrm>
              <a:off x="552600" y="459576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39" name="Google Shape;639;g3f9ebdf94e2_0_176"/>
            <p:cNvSpPr/>
            <p:nvPr/>
          </p:nvSpPr>
          <p:spPr>
            <a:xfrm>
              <a:off x="3036960" y="4595760"/>
              <a:ext cx="828000" cy="4836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0.1</a:t>
              </a:r>
              <a:endParaRPr b="0" sz="1600" strike="noStrike">
                <a:latin typeface="Arial"/>
                <a:ea typeface="Arial"/>
                <a:cs typeface="Arial"/>
                <a:sym typeface="Arial"/>
              </a:endParaRPr>
            </a:p>
          </p:txBody>
        </p:sp>
        <p:pic>
          <p:nvPicPr>
            <p:cNvPr id="640" name="Google Shape;640;g3f9ebdf94e2_0_176"/>
            <p:cNvPicPr preferRelativeResize="0"/>
            <p:nvPr/>
          </p:nvPicPr>
          <p:blipFill rotWithShape="1">
            <a:blip r:embed="rId3">
              <a:alphaModFix/>
            </a:blip>
            <a:srcRect b="0" l="0" r="0" t="0"/>
            <a:stretch/>
          </p:blipFill>
          <p:spPr>
            <a:xfrm>
              <a:off x="4020120" y="2446560"/>
              <a:ext cx="453240" cy="653760"/>
            </a:xfrm>
            <a:prstGeom prst="rect">
              <a:avLst/>
            </a:prstGeom>
            <a:noFill/>
            <a:ln>
              <a:noFill/>
            </a:ln>
          </p:spPr>
        </p:pic>
        <p:pic>
          <p:nvPicPr>
            <p:cNvPr id="641" name="Google Shape;641;g3f9ebdf94e2_0_176"/>
            <p:cNvPicPr preferRelativeResize="0"/>
            <p:nvPr/>
          </p:nvPicPr>
          <p:blipFill rotWithShape="1">
            <a:blip r:embed="rId4">
              <a:alphaModFix/>
            </a:blip>
            <a:srcRect b="0" l="0" r="0" t="0"/>
            <a:stretch/>
          </p:blipFill>
          <p:spPr>
            <a:xfrm>
              <a:off x="4008960" y="1547280"/>
              <a:ext cx="464400" cy="705240"/>
            </a:xfrm>
            <a:prstGeom prst="rect">
              <a:avLst/>
            </a:prstGeom>
            <a:noFill/>
            <a:ln>
              <a:noFill/>
            </a:ln>
          </p:spPr>
        </p:pic>
        <p:pic>
          <p:nvPicPr>
            <p:cNvPr id="642" name="Google Shape;642;g3f9ebdf94e2_0_176"/>
            <p:cNvPicPr preferRelativeResize="0"/>
            <p:nvPr/>
          </p:nvPicPr>
          <p:blipFill rotWithShape="1">
            <a:blip r:embed="rId5">
              <a:alphaModFix/>
            </a:blip>
            <a:srcRect b="0" l="0" r="0" t="0"/>
            <a:stretch/>
          </p:blipFill>
          <p:spPr>
            <a:xfrm>
              <a:off x="3880800" y="3238200"/>
              <a:ext cx="556561" cy="858241"/>
            </a:xfrm>
            <a:prstGeom prst="rect">
              <a:avLst/>
            </a:prstGeom>
            <a:noFill/>
            <a:ln>
              <a:noFill/>
            </a:ln>
          </p:spPr>
        </p:pic>
        <p:pic>
          <p:nvPicPr>
            <p:cNvPr id="643" name="Google Shape;643;g3f9ebdf94e2_0_176"/>
            <p:cNvPicPr preferRelativeResize="0"/>
            <p:nvPr/>
          </p:nvPicPr>
          <p:blipFill rotWithShape="1">
            <a:blip r:embed="rId6">
              <a:alphaModFix/>
            </a:blip>
            <a:srcRect b="0" l="0" r="0" t="0"/>
            <a:stretch/>
          </p:blipFill>
          <p:spPr>
            <a:xfrm>
              <a:off x="3852720" y="4168800"/>
              <a:ext cx="656639" cy="905760"/>
            </a:xfrm>
            <a:prstGeom prst="rect">
              <a:avLst/>
            </a:prstGeom>
            <a:noFill/>
            <a:ln>
              <a:noFill/>
            </a:ln>
          </p:spPr>
        </p:pic>
        <p:sp>
          <p:nvSpPr>
            <p:cNvPr id="644" name="Google Shape;644;g3f9ebdf94e2_0_176"/>
            <p:cNvSpPr/>
            <p:nvPr/>
          </p:nvSpPr>
          <p:spPr>
            <a:xfrm>
              <a:off x="2210400" y="174132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45" name="Google Shape;645;g3f9ebdf94e2_0_176"/>
            <p:cNvSpPr/>
            <p:nvPr/>
          </p:nvSpPr>
          <p:spPr>
            <a:xfrm>
              <a:off x="1382040" y="1741320"/>
              <a:ext cx="828300" cy="483600"/>
            </a:xfrm>
            <a:prstGeom prst="rect">
              <a:avLst/>
            </a:prstGeom>
            <a:solidFill>
              <a:srgbClr val="678FBA"/>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1.0</a:t>
              </a:r>
              <a:endParaRPr b="0" sz="1600" strike="noStrike">
                <a:latin typeface="Arial"/>
                <a:ea typeface="Arial"/>
                <a:cs typeface="Arial"/>
                <a:sym typeface="Arial"/>
              </a:endParaRPr>
            </a:p>
          </p:txBody>
        </p:sp>
        <p:sp>
          <p:nvSpPr>
            <p:cNvPr id="646" name="Google Shape;646;g3f9ebdf94e2_0_176"/>
            <p:cNvSpPr/>
            <p:nvPr/>
          </p:nvSpPr>
          <p:spPr>
            <a:xfrm>
              <a:off x="2210400" y="270828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47" name="Google Shape;647;g3f9ebdf94e2_0_176"/>
            <p:cNvSpPr/>
            <p:nvPr/>
          </p:nvSpPr>
          <p:spPr>
            <a:xfrm>
              <a:off x="2210400" y="365580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48" name="Google Shape;648;g3f9ebdf94e2_0_176"/>
            <p:cNvSpPr/>
            <p:nvPr/>
          </p:nvSpPr>
          <p:spPr>
            <a:xfrm>
              <a:off x="2210400" y="459576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49" name="Google Shape;649;g3f9ebdf94e2_0_176"/>
            <p:cNvSpPr/>
            <p:nvPr/>
          </p:nvSpPr>
          <p:spPr>
            <a:xfrm>
              <a:off x="1382040" y="2708280"/>
              <a:ext cx="828300" cy="4836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0.1</a:t>
              </a:r>
              <a:endParaRPr b="0" sz="1600" strike="noStrike">
                <a:latin typeface="Arial"/>
                <a:ea typeface="Arial"/>
                <a:cs typeface="Arial"/>
                <a:sym typeface="Arial"/>
              </a:endParaRPr>
            </a:p>
          </p:txBody>
        </p:sp>
        <p:sp>
          <p:nvSpPr>
            <p:cNvPr id="650" name="Google Shape;650;g3f9ebdf94e2_0_176"/>
            <p:cNvSpPr/>
            <p:nvPr/>
          </p:nvSpPr>
          <p:spPr>
            <a:xfrm>
              <a:off x="1382040" y="3655800"/>
              <a:ext cx="828300" cy="483600"/>
            </a:xfrm>
            <a:prstGeom prst="rect">
              <a:avLst/>
            </a:prstGeom>
            <a:solidFill>
              <a:srgbClr val="678FBA"/>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1.0</a:t>
              </a:r>
              <a:endParaRPr b="0" sz="1600" strike="noStrike">
                <a:latin typeface="Arial"/>
                <a:ea typeface="Arial"/>
                <a:cs typeface="Arial"/>
                <a:sym typeface="Arial"/>
              </a:endParaRPr>
            </a:p>
          </p:txBody>
        </p:sp>
        <p:sp>
          <p:nvSpPr>
            <p:cNvPr id="651" name="Google Shape;651;g3f9ebdf94e2_0_176"/>
            <p:cNvSpPr/>
            <p:nvPr/>
          </p:nvSpPr>
          <p:spPr>
            <a:xfrm>
              <a:off x="1382040" y="4595760"/>
              <a:ext cx="828300" cy="4836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0.1</a:t>
              </a:r>
              <a:endParaRPr b="0" sz="1600" strike="noStrike">
                <a:latin typeface="Arial"/>
                <a:ea typeface="Arial"/>
                <a:cs typeface="Arial"/>
                <a:sym typeface="Arial"/>
              </a:endParaRPr>
            </a:p>
          </p:txBody>
        </p:sp>
      </p:grpSp>
      <p:grpSp>
        <p:nvGrpSpPr>
          <p:cNvPr id="652" name="Google Shape;652;g3f9ebdf94e2_0_176"/>
          <p:cNvGrpSpPr/>
          <p:nvPr/>
        </p:nvGrpSpPr>
        <p:grpSpPr>
          <a:xfrm>
            <a:off x="4735062" y="1306224"/>
            <a:ext cx="4329153" cy="3541718"/>
            <a:chOff x="5220000" y="1440000"/>
            <a:chExt cx="4772520" cy="3904440"/>
          </a:xfrm>
        </p:grpSpPr>
        <p:cxnSp>
          <p:nvCxnSpPr>
            <p:cNvPr id="653" name="Google Shape;653;g3f9ebdf94e2_0_176"/>
            <p:cNvCxnSpPr/>
            <p:nvPr/>
          </p:nvCxnSpPr>
          <p:spPr>
            <a:xfrm flipH="1" rot="10800000">
              <a:off x="7512840" y="2103060"/>
              <a:ext cx="381900" cy="636900"/>
            </a:xfrm>
            <a:prstGeom prst="straightConnector1">
              <a:avLst/>
            </a:prstGeom>
            <a:noFill/>
            <a:ln cap="flat" cmpd="sng" w="26450">
              <a:solidFill>
                <a:srgbClr val="000000"/>
              </a:solidFill>
              <a:prstDash val="solid"/>
              <a:round/>
              <a:headEnd len="sm" w="sm" type="none"/>
              <a:tailEnd len="sm" w="sm" type="none"/>
            </a:ln>
          </p:spPr>
        </p:cxnSp>
        <p:cxnSp>
          <p:nvCxnSpPr>
            <p:cNvPr id="654" name="Google Shape;654;g3f9ebdf94e2_0_176"/>
            <p:cNvCxnSpPr/>
            <p:nvPr/>
          </p:nvCxnSpPr>
          <p:spPr>
            <a:xfrm rot="10800000">
              <a:off x="8149680" y="2103060"/>
              <a:ext cx="509400" cy="636900"/>
            </a:xfrm>
            <a:prstGeom prst="straightConnector1">
              <a:avLst/>
            </a:prstGeom>
            <a:noFill/>
            <a:ln cap="flat" cmpd="sng" w="26450">
              <a:solidFill>
                <a:srgbClr val="000000"/>
              </a:solidFill>
              <a:prstDash val="solid"/>
              <a:round/>
              <a:headEnd len="sm" w="sm" type="none"/>
              <a:tailEnd len="sm" w="sm" type="none"/>
            </a:ln>
          </p:spPr>
        </p:cxnSp>
        <p:cxnSp>
          <p:nvCxnSpPr>
            <p:cNvPr id="655" name="Google Shape;655;g3f9ebdf94e2_0_176"/>
            <p:cNvCxnSpPr/>
            <p:nvPr/>
          </p:nvCxnSpPr>
          <p:spPr>
            <a:xfrm rot="10800000">
              <a:off x="7512780" y="2994900"/>
              <a:ext cx="636900" cy="381900"/>
            </a:xfrm>
            <a:prstGeom prst="straightConnector1">
              <a:avLst/>
            </a:prstGeom>
            <a:noFill/>
            <a:ln cap="flat" cmpd="sng" w="26450">
              <a:solidFill>
                <a:srgbClr val="000000"/>
              </a:solidFill>
              <a:prstDash val="solid"/>
              <a:round/>
              <a:headEnd len="sm" w="sm" type="none"/>
              <a:tailEnd len="sm" w="sm" type="none"/>
            </a:ln>
          </p:spPr>
        </p:cxnSp>
        <p:cxnSp>
          <p:nvCxnSpPr>
            <p:cNvPr id="656" name="Google Shape;656;g3f9ebdf94e2_0_176"/>
            <p:cNvCxnSpPr/>
            <p:nvPr/>
          </p:nvCxnSpPr>
          <p:spPr>
            <a:xfrm rot="10800000">
              <a:off x="8913840" y="2994900"/>
              <a:ext cx="255000" cy="381900"/>
            </a:xfrm>
            <a:prstGeom prst="straightConnector1">
              <a:avLst/>
            </a:prstGeom>
            <a:noFill/>
            <a:ln cap="flat" cmpd="sng" w="26450">
              <a:solidFill>
                <a:srgbClr val="000000"/>
              </a:solidFill>
              <a:prstDash val="solid"/>
              <a:round/>
              <a:headEnd len="sm" w="sm" type="none"/>
              <a:tailEnd len="sm" w="sm" type="none"/>
            </a:ln>
          </p:spPr>
        </p:cxnSp>
        <p:cxnSp>
          <p:nvCxnSpPr>
            <p:cNvPr id="657" name="Google Shape;657;g3f9ebdf94e2_0_176"/>
            <p:cNvCxnSpPr/>
            <p:nvPr/>
          </p:nvCxnSpPr>
          <p:spPr>
            <a:xfrm flipH="1" rot="10800000">
              <a:off x="5601960" y="2867340"/>
              <a:ext cx="1656000" cy="636900"/>
            </a:xfrm>
            <a:prstGeom prst="straightConnector1">
              <a:avLst/>
            </a:prstGeom>
            <a:noFill/>
            <a:ln cap="flat" cmpd="sng" w="26450">
              <a:solidFill>
                <a:srgbClr val="000000"/>
              </a:solidFill>
              <a:prstDash val="solid"/>
              <a:round/>
              <a:headEnd len="sm" w="sm" type="none"/>
              <a:tailEnd len="sm" w="sm" type="none"/>
            </a:ln>
          </p:spPr>
        </p:cxnSp>
        <p:cxnSp>
          <p:nvCxnSpPr>
            <p:cNvPr id="658" name="Google Shape;658;g3f9ebdf94e2_0_176"/>
            <p:cNvCxnSpPr/>
            <p:nvPr/>
          </p:nvCxnSpPr>
          <p:spPr>
            <a:xfrm flipH="1" rot="10800000">
              <a:off x="6748560" y="2867340"/>
              <a:ext cx="1910400" cy="636900"/>
            </a:xfrm>
            <a:prstGeom prst="straightConnector1">
              <a:avLst/>
            </a:prstGeom>
            <a:noFill/>
            <a:ln cap="flat" cmpd="sng" w="26450">
              <a:solidFill>
                <a:srgbClr val="000000"/>
              </a:solidFill>
              <a:prstDash val="solid"/>
              <a:round/>
              <a:headEnd len="sm" w="sm" type="none"/>
              <a:tailEnd len="sm" w="sm" type="none"/>
            </a:ln>
          </p:spPr>
        </p:cxnSp>
        <p:cxnSp>
          <p:nvCxnSpPr>
            <p:cNvPr id="659" name="Google Shape;659;g3f9ebdf94e2_0_176"/>
            <p:cNvCxnSpPr/>
            <p:nvPr/>
          </p:nvCxnSpPr>
          <p:spPr>
            <a:xfrm flipH="1" rot="10800000">
              <a:off x="5601960" y="3122340"/>
              <a:ext cx="381900" cy="381900"/>
            </a:xfrm>
            <a:prstGeom prst="straightConnector1">
              <a:avLst/>
            </a:prstGeom>
            <a:noFill/>
            <a:ln cap="flat" cmpd="sng" w="26450">
              <a:solidFill>
                <a:srgbClr val="808080"/>
              </a:solidFill>
              <a:prstDash val="solid"/>
              <a:round/>
              <a:headEnd len="sm" w="sm" type="none"/>
              <a:tailEnd len="sm" w="sm" type="none"/>
            </a:ln>
          </p:spPr>
        </p:cxnSp>
        <p:cxnSp>
          <p:nvCxnSpPr>
            <p:cNvPr id="660" name="Google Shape;660;g3f9ebdf94e2_0_176"/>
            <p:cNvCxnSpPr/>
            <p:nvPr/>
          </p:nvCxnSpPr>
          <p:spPr>
            <a:xfrm rot="10800000">
              <a:off x="6238680" y="3122160"/>
              <a:ext cx="255000" cy="255000"/>
            </a:xfrm>
            <a:prstGeom prst="straightConnector1">
              <a:avLst/>
            </a:prstGeom>
            <a:noFill/>
            <a:ln cap="flat" cmpd="sng" w="26450">
              <a:solidFill>
                <a:srgbClr val="808080"/>
              </a:solidFill>
              <a:prstDash val="solid"/>
              <a:round/>
              <a:headEnd len="sm" w="sm" type="none"/>
              <a:tailEnd len="sm" w="sm" type="none"/>
            </a:ln>
          </p:spPr>
        </p:cxnSp>
        <p:grpSp>
          <p:nvGrpSpPr>
            <p:cNvPr id="661" name="Google Shape;661;g3f9ebdf94e2_0_176"/>
            <p:cNvGrpSpPr/>
            <p:nvPr/>
          </p:nvGrpSpPr>
          <p:grpSpPr>
            <a:xfrm>
              <a:off x="6278400" y="3936600"/>
              <a:ext cx="714000" cy="1239360"/>
              <a:chOff x="6278400" y="3936600"/>
              <a:chExt cx="714000" cy="1239360"/>
            </a:xfrm>
          </p:grpSpPr>
          <p:pic>
            <p:nvPicPr>
              <p:cNvPr id="662" name="Google Shape;662;g3f9ebdf94e2_0_176"/>
              <p:cNvPicPr preferRelativeResize="0"/>
              <p:nvPr/>
            </p:nvPicPr>
            <p:blipFill rotWithShape="1">
              <a:blip r:embed="rId3">
                <a:alphaModFix/>
              </a:blip>
              <a:srcRect b="0" l="0" r="0" t="0"/>
              <a:stretch/>
            </p:blipFill>
            <p:spPr>
              <a:xfrm>
                <a:off x="6278400" y="3936600"/>
                <a:ext cx="605160" cy="873000"/>
              </a:xfrm>
              <a:prstGeom prst="rect">
                <a:avLst/>
              </a:prstGeom>
              <a:noFill/>
              <a:ln>
                <a:noFill/>
              </a:ln>
            </p:spPr>
          </p:pic>
          <p:sp>
            <p:nvSpPr>
              <p:cNvPr id="663" name="Google Shape;663;g3f9ebdf94e2_0_176"/>
              <p:cNvSpPr txBox="1"/>
              <p:nvPr/>
            </p:nvSpPr>
            <p:spPr>
              <a:xfrm>
                <a:off x="6355800" y="4829760"/>
                <a:ext cx="6366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King</a:t>
                </a:r>
                <a:endParaRPr b="0" sz="1600" strike="noStrike">
                  <a:latin typeface="Arial"/>
                  <a:ea typeface="Arial"/>
                  <a:cs typeface="Arial"/>
                  <a:sym typeface="Arial"/>
                </a:endParaRPr>
              </a:p>
            </p:txBody>
          </p:sp>
        </p:grpSp>
        <p:grpSp>
          <p:nvGrpSpPr>
            <p:cNvPr id="664" name="Google Shape;664;g3f9ebdf94e2_0_176"/>
            <p:cNvGrpSpPr/>
            <p:nvPr/>
          </p:nvGrpSpPr>
          <p:grpSpPr>
            <a:xfrm>
              <a:off x="5220000" y="3902040"/>
              <a:ext cx="868800" cy="1308480"/>
              <a:chOff x="5220000" y="3902040"/>
              <a:chExt cx="868800" cy="1308480"/>
            </a:xfrm>
          </p:grpSpPr>
          <p:pic>
            <p:nvPicPr>
              <p:cNvPr id="665" name="Google Shape;665;g3f9ebdf94e2_0_176"/>
              <p:cNvPicPr preferRelativeResize="0"/>
              <p:nvPr/>
            </p:nvPicPr>
            <p:blipFill rotWithShape="1">
              <a:blip r:embed="rId4">
                <a:alphaModFix/>
              </a:blip>
              <a:srcRect b="0" l="0" r="0" t="0"/>
              <a:stretch/>
            </p:blipFill>
            <p:spPr>
              <a:xfrm>
                <a:off x="5220000" y="3902040"/>
                <a:ext cx="619560" cy="941760"/>
              </a:xfrm>
              <a:prstGeom prst="rect">
                <a:avLst/>
              </a:prstGeom>
              <a:noFill/>
              <a:ln>
                <a:noFill/>
              </a:ln>
            </p:spPr>
          </p:pic>
          <p:sp>
            <p:nvSpPr>
              <p:cNvPr id="666" name="Google Shape;666;g3f9ebdf94e2_0_176"/>
              <p:cNvSpPr txBox="1"/>
              <p:nvPr/>
            </p:nvSpPr>
            <p:spPr>
              <a:xfrm>
                <a:off x="5223600" y="4864320"/>
                <a:ext cx="865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Queen</a:t>
                </a:r>
                <a:endParaRPr b="0" sz="1600" strike="noStrike">
                  <a:latin typeface="Arial"/>
                  <a:ea typeface="Arial"/>
                  <a:cs typeface="Arial"/>
                  <a:sym typeface="Arial"/>
                </a:endParaRPr>
              </a:p>
            </p:txBody>
          </p:sp>
        </p:grpSp>
        <p:pic>
          <p:nvPicPr>
            <p:cNvPr id="667" name="Google Shape;667;g3f9ebdf94e2_0_176"/>
            <p:cNvPicPr preferRelativeResize="0"/>
            <p:nvPr/>
          </p:nvPicPr>
          <p:blipFill rotWithShape="1">
            <a:blip r:embed="rId5">
              <a:alphaModFix/>
            </a:blip>
            <a:srcRect b="0" l="0" r="0" t="0"/>
            <a:stretch/>
          </p:blipFill>
          <p:spPr>
            <a:xfrm>
              <a:off x="7897320" y="3816000"/>
              <a:ext cx="743400" cy="1146600"/>
            </a:xfrm>
            <a:prstGeom prst="rect">
              <a:avLst/>
            </a:prstGeom>
            <a:noFill/>
            <a:ln>
              <a:noFill/>
            </a:ln>
          </p:spPr>
        </p:pic>
        <p:sp>
          <p:nvSpPr>
            <p:cNvPr id="668" name="Google Shape;668;g3f9ebdf94e2_0_176"/>
            <p:cNvSpPr txBox="1"/>
            <p:nvPr/>
          </p:nvSpPr>
          <p:spPr>
            <a:xfrm>
              <a:off x="7652520" y="4966560"/>
              <a:ext cx="10800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Peasant</a:t>
              </a:r>
              <a:endParaRPr b="0" sz="1600" strike="noStrike">
                <a:latin typeface="Arial"/>
                <a:ea typeface="Arial"/>
                <a:cs typeface="Arial"/>
                <a:sym typeface="Arial"/>
              </a:endParaRPr>
            </a:p>
          </p:txBody>
        </p:sp>
        <p:pic>
          <p:nvPicPr>
            <p:cNvPr id="669" name="Google Shape;669;g3f9ebdf94e2_0_176"/>
            <p:cNvPicPr preferRelativeResize="0"/>
            <p:nvPr/>
          </p:nvPicPr>
          <p:blipFill rotWithShape="1">
            <a:blip r:embed="rId6">
              <a:alphaModFix/>
            </a:blip>
            <a:srcRect b="0" l="0" r="0" t="0"/>
            <a:stretch/>
          </p:blipFill>
          <p:spPr>
            <a:xfrm>
              <a:off x="8881920" y="3784320"/>
              <a:ext cx="876961" cy="1209961"/>
            </a:xfrm>
            <a:prstGeom prst="rect">
              <a:avLst/>
            </a:prstGeom>
            <a:noFill/>
            <a:ln>
              <a:noFill/>
            </a:ln>
          </p:spPr>
        </p:pic>
        <p:sp>
          <p:nvSpPr>
            <p:cNvPr id="670" name="Google Shape;670;g3f9ebdf94e2_0_176"/>
            <p:cNvSpPr txBox="1"/>
            <p:nvPr/>
          </p:nvSpPr>
          <p:spPr>
            <a:xfrm>
              <a:off x="8959320" y="4998240"/>
              <a:ext cx="1033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Peasant</a:t>
              </a:r>
              <a:endParaRPr b="0" sz="1600" strike="noStrike">
                <a:latin typeface="Arial"/>
                <a:ea typeface="Arial"/>
                <a:cs typeface="Arial"/>
                <a:sym typeface="Arial"/>
              </a:endParaRPr>
            </a:p>
          </p:txBody>
        </p:sp>
        <p:sp>
          <p:nvSpPr>
            <p:cNvPr id="671" name="Google Shape;671;g3f9ebdf94e2_0_176"/>
            <p:cNvSpPr/>
            <p:nvPr/>
          </p:nvSpPr>
          <p:spPr>
            <a:xfrm>
              <a:off x="5275080" y="3338640"/>
              <a:ext cx="509400" cy="5094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672" name="Google Shape;672;g3f9ebdf94e2_0_176"/>
            <p:cNvSpPr/>
            <p:nvPr/>
          </p:nvSpPr>
          <p:spPr>
            <a:xfrm>
              <a:off x="8014320" y="32367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673" name="Google Shape;673;g3f9ebdf94e2_0_176"/>
            <p:cNvSpPr/>
            <p:nvPr/>
          </p:nvSpPr>
          <p:spPr>
            <a:xfrm>
              <a:off x="6326280" y="3338640"/>
              <a:ext cx="509400" cy="5094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674" name="Google Shape;674;g3f9ebdf94e2_0_176"/>
            <p:cNvSpPr/>
            <p:nvPr/>
          </p:nvSpPr>
          <p:spPr>
            <a:xfrm>
              <a:off x="9065520" y="32367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675" name="Google Shape;675;g3f9ebdf94e2_0_176"/>
            <p:cNvSpPr/>
            <p:nvPr/>
          </p:nvSpPr>
          <p:spPr>
            <a:xfrm>
              <a:off x="5856840" y="2714400"/>
              <a:ext cx="509400" cy="5097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676" name="Google Shape;676;g3f9ebdf94e2_0_176"/>
            <p:cNvSpPr/>
            <p:nvPr/>
          </p:nvSpPr>
          <p:spPr>
            <a:xfrm>
              <a:off x="7172280" y="261288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677" name="Google Shape;677;g3f9ebdf94e2_0_176"/>
            <p:cNvSpPr txBox="1"/>
            <p:nvPr/>
          </p:nvSpPr>
          <p:spPr>
            <a:xfrm>
              <a:off x="5683680" y="2397240"/>
              <a:ext cx="9411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Royalty</a:t>
              </a:r>
              <a:endParaRPr b="0" sz="1600" strike="noStrike">
                <a:latin typeface="Arial"/>
                <a:ea typeface="Arial"/>
                <a:cs typeface="Arial"/>
                <a:sym typeface="Arial"/>
              </a:endParaRPr>
            </a:p>
          </p:txBody>
        </p:sp>
        <p:sp>
          <p:nvSpPr>
            <p:cNvPr id="678" name="Google Shape;678;g3f9ebdf94e2_0_176"/>
            <p:cNvSpPr txBox="1"/>
            <p:nvPr/>
          </p:nvSpPr>
          <p:spPr>
            <a:xfrm>
              <a:off x="6932520" y="2312640"/>
              <a:ext cx="9627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Woman</a:t>
              </a:r>
              <a:endParaRPr b="0" sz="1600" strike="noStrike">
                <a:latin typeface="Arial"/>
                <a:ea typeface="Arial"/>
                <a:cs typeface="Arial"/>
                <a:sym typeface="Arial"/>
              </a:endParaRPr>
            </a:p>
          </p:txBody>
        </p:sp>
        <p:sp>
          <p:nvSpPr>
            <p:cNvPr id="679" name="Google Shape;679;g3f9ebdf94e2_0_176"/>
            <p:cNvSpPr/>
            <p:nvPr/>
          </p:nvSpPr>
          <p:spPr>
            <a:xfrm>
              <a:off x="7767360" y="17211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680" name="Google Shape;680;g3f9ebdf94e2_0_176"/>
            <p:cNvSpPr txBox="1"/>
            <p:nvPr/>
          </p:nvSpPr>
          <p:spPr>
            <a:xfrm>
              <a:off x="7587360" y="1440000"/>
              <a:ext cx="9033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Person</a:t>
              </a:r>
              <a:endParaRPr b="0" sz="1600" strike="noStrike">
                <a:latin typeface="Arial"/>
                <a:ea typeface="Arial"/>
                <a:cs typeface="Arial"/>
                <a:sym typeface="Arial"/>
              </a:endParaRPr>
            </a:p>
          </p:txBody>
        </p:sp>
        <p:sp>
          <p:nvSpPr>
            <p:cNvPr id="681" name="Google Shape;681;g3f9ebdf94e2_0_176"/>
            <p:cNvSpPr/>
            <p:nvPr/>
          </p:nvSpPr>
          <p:spPr>
            <a:xfrm>
              <a:off x="8534880" y="261288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682" name="Google Shape;682;g3f9ebdf94e2_0_176"/>
            <p:cNvSpPr txBox="1"/>
            <p:nvPr/>
          </p:nvSpPr>
          <p:spPr>
            <a:xfrm>
              <a:off x="8552520" y="2298960"/>
              <a:ext cx="6243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Man</a:t>
              </a:r>
              <a:endParaRPr b="0" sz="1600" strike="noStrike">
                <a:latin typeface="Arial"/>
                <a:ea typeface="Arial"/>
                <a:cs typeface="Arial"/>
                <a:sym typeface="Arial"/>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g3f9ebdf94e2_0_234"/>
          <p:cNvSpPr txBox="1"/>
          <p:nvPr/>
        </p:nvSpPr>
        <p:spPr>
          <a:xfrm>
            <a:off x="457172" y="150535"/>
            <a:ext cx="3788100" cy="85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pt-BR" sz="3000" strike="noStrike">
                <a:solidFill>
                  <a:srgbClr val="FFFFFF"/>
                </a:solidFill>
                <a:latin typeface="Comfortaa"/>
                <a:ea typeface="Comfortaa"/>
                <a:cs typeface="Comfortaa"/>
                <a:sym typeface="Comfortaa"/>
              </a:rPr>
              <a:t>Embeddings</a:t>
            </a:r>
            <a:endParaRPr b="1" sz="3000" strike="noStrike">
              <a:solidFill>
                <a:srgbClr val="252323"/>
              </a:solidFill>
              <a:latin typeface="Comfortaa"/>
              <a:ea typeface="Comfortaa"/>
              <a:cs typeface="Comfortaa"/>
              <a:sym typeface="Comfortaa"/>
            </a:endParaRPr>
          </a:p>
        </p:txBody>
      </p:sp>
      <p:sp>
        <p:nvSpPr>
          <p:cNvPr id="688" name="Google Shape;688;g3f9ebdf94e2_0_234"/>
          <p:cNvSpPr txBox="1"/>
          <p:nvPr/>
        </p:nvSpPr>
        <p:spPr>
          <a:xfrm>
            <a:off x="5028888" y="232823"/>
            <a:ext cx="3788100" cy="69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pt-BR" sz="2900" strike="noStrike">
                <a:solidFill>
                  <a:srgbClr val="252323"/>
                </a:solidFill>
                <a:latin typeface="Comfortaa"/>
                <a:ea typeface="Comfortaa"/>
                <a:cs typeface="Comfortaa"/>
                <a:sym typeface="Comfortaa"/>
              </a:rPr>
              <a:t>Knowledge Graph</a:t>
            </a:r>
            <a:endParaRPr b="0" sz="2900" strike="noStrike">
              <a:solidFill>
                <a:srgbClr val="252323"/>
              </a:solidFill>
              <a:latin typeface="Comfortaa"/>
              <a:ea typeface="Comfortaa"/>
              <a:cs typeface="Comfortaa"/>
              <a:sym typeface="Comfortaa"/>
            </a:endParaRPr>
          </a:p>
        </p:txBody>
      </p:sp>
      <p:grpSp>
        <p:nvGrpSpPr>
          <p:cNvPr id="689" name="Google Shape;689;g3f9ebdf94e2_0_234"/>
          <p:cNvGrpSpPr/>
          <p:nvPr/>
        </p:nvGrpSpPr>
        <p:grpSpPr>
          <a:xfrm>
            <a:off x="501263" y="1403538"/>
            <a:ext cx="3589176" cy="3203950"/>
            <a:chOff x="552600" y="1547280"/>
            <a:chExt cx="3956759" cy="3532080"/>
          </a:xfrm>
        </p:grpSpPr>
        <p:sp>
          <p:nvSpPr>
            <p:cNvPr id="690" name="Google Shape;690;g3f9ebdf94e2_0_234"/>
            <p:cNvSpPr/>
            <p:nvPr/>
          </p:nvSpPr>
          <p:spPr>
            <a:xfrm>
              <a:off x="552600" y="174132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91" name="Google Shape;691;g3f9ebdf94e2_0_234"/>
            <p:cNvSpPr/>
            <p:nvPr/>
          </p:nvSpPr>
          <p:spPr>
            <a:xfrm>
              <a:off x="552600" y="2708640"/>
              <a:ext cx="828300" cy="4830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92" name="Google Shape;692;g3f9ebdf94e2_0_234"/>
            <p:cNvSpPr/>
            <p:nvPr/>
          </p:nvSpPr>
          <p:spPr>
            <a:xfrm>
              <a:off x="3038400" y="1741320"/>
              <a:ext cx="828300" cy="483600"/>
            </a:xfrm>
            <a:prstGeom prst="rect">
              <a:avLst/>
            </a:prstGeom>
            <a:solidFill>
              <a:srgbClr val="B4C7D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0.7</a:t>
              </a:r>
              <a:endParaRPr b="0" sz="1600" strike="noStrike">
                <a:solidFill>
                  <a:srgbClr val="000000"/>
                </a:solidFill>
                <a:latin typeface="Arial"/>
                <a:ea typeface="Arial"/>
                <a:cs typeface="Arial"/>
                <a:sym typeface="Arial"/>
              </a:endParaRPr>
            </a:p>
          </p:txBody>
        </p:sp>
        <p:sp>
          <p:nvSpPr>
            <p:cNvPr id="693" name="Google Shape;693;g3f9ebdf94e2_0_234"/>
            <p:cNvSpPr/>
            <p:nvPr/>
          </p:nvSpPr>
          <p:spPr>
            <a:xfrm>
              <a:off x="3036960" y="2708640"/>
              <a:ext cx="828000" cy="483000"/>
            </a:xfrm>
            <a:prstGeom prst="rect">
              <a:avLst/>
            </a:prstGeom>
            <a:solidFill>
              <a:srgbClr val="EEEEEE"/>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0.5</a:t>
              </a:r>
              <a:endParaRPr b="0" sz="1600" strike="noStrike">
                <a:latin typeface="Arial"/>
                <a:ea typeface="Arial"/>
                <a:cs typeface="Arial"/>
                <a:sym typeface="Arial"/>
              </a:endParaRPr>
            </a:p>
          </p:txBody>
        </p:sp>
        <p:sp>
          <p:nvSpPr>
            <p:cNvPr id="694" name="Google Shape;694;g3f9ebdf94e2_0_234"/>
            <p:cNvSpPr/>
            <p:nvPr/>
          </p:nvSpPr>
          <p:spPr>
            <a:xfrm>
              <a:off x="552600" y="3655440"/>
              <a:ext cx="828300" cy="4839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95" name="Google Shape;695;g3f9ebdf94e2_0_234"/>
            <p:cNvSpPr/>
            <p:nvPr/>
          </p:nvSpPr>
          <p:spPr>
            <a:xfrm>
              <a:off x="3036960" y="3655440"/>
              <a:ext cx="828000" cy="4839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0.2</a:t>
              </a:r>
              <a:endParaRPr b="0" sz="1600" strike="noStrike">
                <a:latin typeface="Arial"/>
                <a:ea typeface="Arial"/>
                <a:cs typeface="Arial"/>
                <a:sym typeface="Arial"/>
              </a:endParaRPr>
            </a:p>
          </p:txBody>
        </p:sp>
        <p:sp>
          <p:nvSpPr>
            <p:cNvPr id="696" name="Google Shape;696;g3f9ebdf94e2_0_234"/>
            <p:cNvSpPr/>
            <p:nvPr/>
          </p:nvSpPr>
          <p:spPr>
            <a:xfrm>
              <a:off x="552600" y="459576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697" name="Google Shape;697;g3f9ebdf94e2_0_234"/>
            <p:cNvSpPr/>
            <p:nvPr/>
          </p:nvSpPr>
          <p:spPr>
            <a:xfrm>
              <a:off x="3036960" y="4595760"/>
              <a:ext cx="828000" cy="4836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0.1</a:t>
              </a:r>
              <a:endParaRPr b="0" sz="1600" strike="noStrike">
                <a:latin typeface="Arial"/>
                <a:ea typeface="Arial"/>
                <a:cs typeface="Arial"/>
                <a:sym typeface="Arial"/>
              </a:endParaRPr>
            </a:p>
          </p:txBody>
        </p:sp>
        <p:pic>
          <p:nvPicPr>
            <p:cNvPr id="698" name="Google Shape;698;g3f9ebdf94e2_0_234"/>
            <p:cNvPicPr preferRelativeResize="0"/>
            <p:nvPr/>
          </p:nvPicPr>
          <p:blipFill rotWithShape="1">
            <a:blip r:embed="rId3">
              <a:alphaModFix/>
            </a:blip>
            <a:srcRect b="0" l="0" r="0" t="0"/>
            <a:stretch/>
          </p:blipFill>
          <p:spPr>
            <a:xfrm>
              <a:off x="4020120" y="2446560"/>
              <a:ext cx="453240" cy="653760"/>
            </a:xfrm>
            <a:prstGeom prst="rect">
              <a:avLst/>
            </a:prstGeom>
            <a:noFill/>
            <a:ln>
              <a:noFill/>
            </a:ln>
          </p:spPr>
        </p:pic>
        <p:pic>
          <p:nvPicPr>
            <p:cNvPr id="699" name="Google Shape;699;g3f9ebdf94e2_0_234"/>
            <p:cNvPicPr preferRelativeResize="0"/>
            <p:nvPr/>
          </p:nvPicPr>
          <p:blipFill rotWithShape="1">
            <a:blip r:embed="rId4">
              <a:alphaModFix/>
            </a:blip>
            <a:srcRect b="0" l="0" r="0" t="0"/>
            <a:stretch/>
          </p:blipFill>
          <p:spPr>
            <a:xfrm>
              <a:off x="4008960" y="1547280"/>
              <a:ext cx="464400" cy="705240"/>
            </a:xfrm>
            <a:prstGeom prst="rect">
              <a:avLst/>
            </a:prstGeom>
            <a:noFill/>
            <a:ln>
              <a:noFill/>
            </a:ln>
          </p:spPr>
        </p:pic>
        <p:pic>
          <p:nvPicPr>
            <p:cNvPr id="700" name="Google Shape;700;g3f9ebdf94e2_0_234"/>
            <p:cNvPicPr preferRelativeResize="0"/>
            <p:nvPr/>
          </p:nvPicPr>
          <p:blipFill rotWithShape="1">
            <a:blip r:embed="rId5">
              <a:alphaModFix/>
            </a:blip>
            <a:srcRect b="0" l="0" r="0" t="0"/>
            <a:stretch/>
          </p:blipFill>
          <p:spPr>
            <a:xfrm>
              <a:off x="3880800" y="3238200"/>
              <a:ext cx="556561" cy="858241"/>
            </a:xfrm>
            <a:prstGeom prst="rect">
              <a:avLst/>
            </a:prstGeom>
            <a:noFill/>
            <a:ln>
              <a:noFill/>
            </a:ln>
          </p:spPr>
        </p:pic>
        <p:pic>
          <p:nvPicPr>
            <p:cNvPr id="701" name="Google Shape;701;g3f9ebdf94e2_0_234"/>
            <p:cNvPicPr preferRelativeResize="0"/>
            <p:nvPr/>
          </p:nvPicPr>
          <p:blipFill rotWithShape="1">
            <a:blip r:embed="rId6">
              <a:alphaModFix/>
            </a:blip>
            <a:srcRect b="0" l="0" r="0" t="0"/>
            <a:stretch/>
          </p:blipFill>
          <p:spPr>
            <a:xfrm>
              <a:off x="3852720" y="4168800"/>
              <a:ext cx="656639" cy="905760"/>
            </a:xfrm>
            <a:prstGeom prst="rect">
              <a:avLst/>
            </a:prstGeom>
            <a:noFill/>
            <a:ln>
              <a:noFill/>
            </a:ln>
          </p:spPr>
        </p:pic>
        <p:sp>
          <p:nvSpPr>
            <p:cNvPr id="702" name="Google Shape;702;g3f9ebdf94e2_0_234"/>
            <p:cNvSpPr/>
            <p:nvPr/>
          </p:nvSpPr>
          <p:spPr>
            <a:xfrm>
              <a:off x="2210400" y="174132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703" name="Google Shape;703;g3f9ebdf94e2_0_234"/>
            <p:cNvSpPr/>
            <p:nvPr/>
          </p:nvSpPr>
          <p:spPr>
            <a:xfrm>
              <a:off x="1382040" y="1741320"/>
              <a:ext cx="828300" cy="483600"/>
            </a:xfrm>
            <a:prstGeom prst="rect">
              <a:avLst/>
            </a:prstGeom>
            <a:solidFill>
              <a:srgbClr val="678FBA"/>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1.0</a:t>
              </a:r>
              <a:endParaRPr b="0" sz="1600" strike="noStrike">
                <a:latin typeface="Arial"/>
                <a:ea typeface="Arial"/>
                <a:cs typeface="Arial"/>
                <a:sym typeface="Arial"/>
              </a:endParaRPr>
            </a:p>
          </p:txBody>
        </p:sp>
        <p:sp>
          <p:nvSpPr>
            <p:cNvPr id="704" name="Google Shape;704;g3f9ebdf94e2_0_234"/>
            <p:cNvSpPr/>
            <p:nvPr/>
          </p:nvSpPr>
          <p:spPr>
            <a:xfrm>
              <a:off x="2210400" y="270828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705" name="Google Shape;705;g3f9ebdf94e2_0_234"/>
            <p:cNvSpPr/>
            <p:nvPr/>
          </p:nvSpPr>
          <p:spPr>
            <a:xfrm>
              <a:off x="2210400" y="365580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706" name="Google Shape;706;g3f9ebdf94e2_0_234"/>
            <p:cNvSpPr/>
            <p:nvPr/>
          </p:nvSpPr>
          <p:spPr>
            <a:xfrm>
              <a:off x="2210400" y="459576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solidFill>
                    <a:srgbClr val="000000"/>
                  </a:solidFill>
                  <a:latin typeface="Arial"/>
                  <a:ea typeface="Arial"/>
                  <a:cs typeface="Arial"/>
                  <a:sym typeface="Arial"/>
                </a:rPr>
                <a:t>...</a:t>
              </a:r>
              <a:endParaRPr b="0" sz="1600" strike="noStrike">
                <a:solidFill>
                  <a:srgbClr val="000000"/>
                </a:solidFill>
                <a:latin typeface="Arial"/>
                <a:ea typeface="Arial"/>
                <a:cs typeface="Arial"/>
                <a:sym typeface="Arial"/>
              </a:endParaRPr>
            </a:p>
          </p:txBody>
        </p:sp>
        <p:sp>
          <p:nvSpPr>
            <p:cNvPr id="707" name="Google Shape;707;g3f9ebdf94e2_0_234"/>
            <p:cNvSpPr/>
            <p:nvPr/>
          </p:nvSpPr>
          <p:spPr>
            <a:xfrm>
              <a:off x="1382040" y="2708280"/>
              <a:ext cx="828300" cy="4836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0.1</a:t>
              </a:r>
              <a:endParaRPr b="0" sz="1600" strike="noStrike">
                <a:latin typeface="Arial"/>
                <a:ea typeface="Arial"/>
                <a:cs typeface="Arial"/>
                <a:sym typeface="Arial"/>
              </a:endParaRPr>
            </a:p>
          </p:txBody>
        </p:sp>
        <p:sp>
          <p:nvSpPr>
            <p:cNvPr id="708" name="Google Shape;708;g3f9ebdf94e2_0_234"/>
            <p:cNvSpPr/>
            <p:nvPr/>
          </p:nvSpPr>
          <p:spPr>
            <a:xfrm>
              <a:off x="1382040" y="3655800"/>
              <a:ext cx="828300" cy="483600"/>
            </a:xfrm>
            <a:prstGeom prst="rect">
              <a:avLst/>
            </a:prstGeom>
            <a:solidFill>
              <a:srgbClr val="678FBA"/>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1.0</a:t>
              </a:r>
              <a:endParaRPr b="0" sz="1600" strike="noStrike">
                <a:latin typeface="Arial"/>
                <a:ea typeface="Arial"/>
                <a:cs typeface="Arial"/>
                <a:sym typeface="Arial"/>
              </a:endParaRPr>
            </a:p>
          </p:txBody>
        </p:sp>
        <p:sp>
          <p:nvSpPr>
            <p:cNvPr id="709" name="Google Shape;709;g3f9ebdf94e2_0_234"/>
            <p:cNvSpPr/>
            <p:nvPr/>
          </p:nvSpPr>
          <p:spPr>
            <a:xfrm>
              <a:off x="1382040" y="4595760"/>
              <a:ext cx="828300" cy="4836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0.1</a:t>
              </a:r>
              <a:endParaRPr b="0" sz="1600" strike="noStrike">
                <a:latin typeface="Arial"/>
                <a:ea typeface="Arial"/>
                <a:cs typeface="Arial"/>
                <a:sym typeface="Arial"/>
              </a:endParaRPr>
            </a:p>
          </p:txBody>
        </p:sp>
      </p:grpSp>
      <p:grpSp>
        <p:nvGrpSpPr>
          <p:cNvPr id="710" name="Google Shape;710;g3f9ebdf94e2_0_234"/>
          <p:cNvGrpSpPr/>
          <p:nvPr/>
        </p:nvGrpSpPr>
        <p:grpSpPr>
          <a:xfrm>
            <a:off x="4735062" y="1306224"/>
            <a:ext cx="4329153" cy="3541718"/>
            <a:chOff x="5220000" y="1440000"/>
            <a:chExt cx="4772520" cy="3904440"/>
          </a:xfrm>
        </p:grpSpPr>
        <p:cxnSp>
          <p:nvCxnSpPr>
            <p:cNvPr id="711" name="Google Shape;711;g3f9ebdf94e2_0_234"/>
            <p:cNvCxnSpPr/>
            <p:nvPr/>
          </p:nvCxnSpPr>
          <p:spPr>
            <a:xfrm flipH="1" rot="10800000">
              <a:off x="7512840" y="2103060"/>
              <a:ext cx="381900" cy="636900"/>
            </a:xfrm>
            <a:prstGeom prst="straightConnector1">
              <a:avLst/>
            </a:prstGeom>
            <a:noFill/>
            <a:ln cap="flat" cmpd="sng" w="26450">
              <a:solidFill>
                <a:srgbClr val="000000"/>
              </a:solidFill>
              <a:prstDash val="solid"/>
              <a:round/>
              <a:headEnd len="sm" w="sm" type="none"/>
              <a:tailEnd len="sm" w="sm" type="none"/>
            </a:ln>
          </p:spPr>
        </p:cxnSp>
        <p:cxnSp>
          <p:nvCxnSpPr>
            <p:cNvPr id="712" name="Google Shape;712;g3f9ebdf94e2_0_234"/>
            <p:cNvCxnSpPr/>
            <p:nvPr/>
          </p:nvCxnSpPr>
          <p:spPr>
            <a:xfrm rot="10800000">
              <a:off x="8149680" y="2103060"/>
              <a:ext cx="509400" cy="636900"/>
            </a:xfrm>
            <a:prstGeom prst="straightConnector1">
              <a:avLst/>
            </a:prstGeom>
            <a:noFill/>
            <a:ln cap="flat" cmpd="sng" w="26450">
              <a:solidFill>
                <a:srgbClr val="000000"/>
              </a:solidFill>
              <a:prstDash val="solid"/>
              <a:round/>
              <a:headEnd len="sm" w="sm" type="none"/>
              <a:tailEnd len="sm" w="sm" type="none"/>
            </a:ln>
          </p:spPr>
        </p:cxnSp>
        <p:cxnSp>
          <p:nvCxnSpPr>
            <p:cNvPr id="713" name="Google Shape;713;g3f9ebdf94e2_0_234"/>
            <p:cNvCxnSpPr/>
            <p:nvPr/>
          </p:nvCxnSpPr>
          <p:spPr>
            <a:xfrm rot="10800000">
              <a:off x="7512780" y="2994900"/>
              <a:ext cx="636900" cy="381900"/>
            </a:xfrm>
            <a:prstGeom prst="straightConnector1">
              <a:avLst/>
            </a:prstGeom>
            <a:noFill/>
            <a:ln cap="flat" cmpd="sng" w="26450">
              <a:solidFill>
                <a:srgbClr val="000000"/>
              </a:solidFill>
              <a:prstDash val="solid"/>
              <a:round/>
              <a:headEnd len="sm" w="sm" type="none"/>
              <a:tailEnd len="sm" w="sm" type="none"/>
            </a:ln>
          </p:spPr>
        </p:cxnSp>
        <p:cxnSp>
          <p:nvCxnSpPr>
            <p:cNvPr id="714" name="Google Shape;714;g3f9ebdf94e2_0_234"/>
            <p:cNvCxnSpPr/>
            <p:nvPr/>
          </p:nvCxnSpPr>
          <p:spPr>
            <a:xfrm rot="10800000">
              <a:off x="8913840" y="2994900"/>
              <a:ext cx="255000" cy="381900"/>
            </a:xfrm>
            <a:prstGeom prst="straightConnector1">
              <a:avLst/>
            </a:prstGeom>
            <a:noFill/>
            <a:ln cap="flat" cmpd="sng" w="26450">
              <a:solidFill>
                <a:srgbClr val="000000"/>
              </a:solidFill>
              <a:prstDash val="solid"/>
              <a:round/>
              <a:headEnd len="sm" w="sm" type="none"/>
              <a:tailEnd len="sm" w="sm" type="none"/>
            </a:ln>
          </p:spPr>
        </p:cxnSp>
        <p:cxnSp>
          <p:nvCxnSpPr>
            <p:cNvPr id="715" name="Google Shape;715;g3f9ebdf94e2_0_234"/>
            <p:cNvCxnSpPr/>
            <p:nvPr/>
          </p:nvCxnSpPr>
          <p:spPr>
            <a:xfrm flipH="1" rot="10800000">
              <a:off x="5601960" y="2867340"/>
              <a:ext cx="1656000" cy="636900"/>
            </a:xfrm>
            <a:prstGeom prst="straightConnector1">
              <a:avLst/>
            </a:prstGeom>
            <a:noFill/>
            <a:ln cap="flat" cmpd="sng" w="26450">
              <a:solidFill>
                <a:srgbClr val="000000"/>
              </a:solidFill>
              <a:prstDash val="solid"/>
              <a:round/>
              <a:headEnd len="sm" w="sm" type="none"/>
              <a:tailEnd len="sm" w="sm" type="none"/>
            </a:ln>
          </p:spPr>
        </p:cxnSp>
        <p:cxnSp>
          <p:nvCxnSpPr>
            <p:cNvPr id="716" name="Google Shape;716;g3f9ebdf94e2_0_234"/>
            <p:cNvCxnSpPr/>
            <p:nvPr/>
          </p:nvCxnSpPr>
          <p:spPr>
            <a:xfrm flipH="1" rot="10800000">
              <a:off x="6748560" y="2867340"/>
              <a:ext cx="1910400" cy="636900"/>
            </a:xfrm>
            <a:prstGeom prst="straightConnector1">
              <a:avLst/>
            </a:prstGeom>
            <a:noFill/>
            <a:ln cap="flat" cmpd="sng" w="26450">
              <a:solidFill>
                <a:srgbClr val="000000"/>
              </a:solidFill>
              <a:prstDash val="solid"/>
              <a:round/>
              <a:headEnd len="sm" w="sm" type="none"/>
              <a:tailEnd len="sm" w="sm" type="none"/>
            </a:ln>
          </p:spPr>
        </p:cxnSp>
        <p:cxnSp>
          <p:nvCxnSpPr>
            <p:cNvPr id="717" name="Google Shape;717;g3f9ebdf94e2_0_234"/>
            <p:cNvCxnSpPr/>
            <p:nvPr/>
          </p:nvCxnSpPr>
          <p:spPr>
            <a:xfrm flipH="1" rot="10800000">
              <a:off x="5601960" y="3122340"/>
              <a:ext cx="381900" cy="381900"/>
            </a:xfrm>
            <a:prstGeom prst="straightConnector1">
              <a:avLst/>
            </a:prstGeom>
            <a:noFill/>
            <a:ln cap="flat" cmpd="sng" w="26450">
              <a:solidFill>
                <a:srgbClr val="808080"/>
              </a:solidFill>
              <a:prstDash val="solid"/>
              <a:round/>
              <a:headEnd len="sm" w="sm" type="none"/>
              <a:tailEnd len="sm" w="sm" type="none"/>
            </a:ln>
          </p:spPr>
        </p:cxnSp>
        <p:cxnSp>
          <p:nvCxnSpPr>
            <p:cNvPr id="718" name="Google Shape;718;g3f9ebdf94e2_0_234"/>
            <p:cNvCxnSpPr/>
            <p:nvPr/>
          </p:nvCxnSpPr>
          <p:spPr>
            <a:xfrm rot="10800000">
              <a:off x="6238680" y="3122160"/>
              <a:ext cx="255000" cy="255000"/>
            </a:xfrm>
            <a:prstGeom prst="straightConnector1">
              <a:avLst/>
            </a:prstGeom>
            <a:noFill/>
            <a:ln cap="flat" cmpd="sng" w="26450">
              <a:solidFill>
                <a:srgbClr val="808080"/>
              </a:solidFill>
              <a:prstDash val="solid"/>
              <a:round/>
              <a:headEnd len="sm" w="sm" type="none"/>
              <a:tailEnd len="sm" w="sm" type="none"/>
            </a:ln>
          </p:spPr>
        </p:cxnSp>
        <p:grpSp>
          <p:nvGrpSpPr>
            <p:cNvPr id="719" name="Google Shape;719;g3f9ebdf94e2_0_234"/>
            <p:cNvGrpSpPr/>
            <p:nvPr/>
          </p:nvGrpSpPr>
          <p:grpSpPr>
            <a:xfrm>
              <a:off x="6278400" y="3936600"/>
              <a:ext cx="714000" cy="1239360"/>
              <a:chOff x="6278400" y="3936600"/>
              <a:chExt cx="714000" cy="1239360"/>
            </a:xfrm>
          </p:grpSpPr>
          <p:pic>
            <p:nvPicPr>
              <p:cNvPr id="720" name="Google Shape;720;g3f9ebdf94e2_0_234"/>
              <p:cNvPicPr preferRelativeResize="0"/>
              <p:nvPr/>
            </p:nvPicPr>
            <p:blipFill rotWithShape="1">
              <a:blip r:embed="rId3">
                <a:alphaModFix/>
              </a:blip>
              <a:srcRect b="0" l="0" r="0" t="0"/>
              <a:stretch/>
            </p:blipFill>
            <p:spPr>
              <a:xfrm>
                <a:off x="6278400" y="3936600"/>
                <a:ext cx="605160" cy="873000"/>
              </a:xfrm>
              <a:prstGeom prst="rect">
                <a:avLst/>
              </a:prstGeom>
              <a:noFill/>
              <a:ln>
                <a:noFill/>
              </a:ln>
            </p:spPr>
          </p:pic>
          <p:sp>
            <p:nvSpPr>
              <p:cNvPr id="721" name="Google Shape;721;g3f9ebdf94e2_0_234"/>
              <p:cNvSpPr txBox="1"/>
              <p:nvPr/>
            </p:nvSpPr>
            <p:spPr>
              <a:xfrm>
                <a:off x="6355800" y="4829760"/>
                <a:ext cx="6366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King</a:t>
                </a:r>
                <a:endParaRPr b="0" sz="1600" strike="noStrike">
                  <a:latin typeface="Arial"/>
                  <a:ea typeface="Arial"/>
                  <a:cs typeface="Arial"/>
                  <a:sym typeface="Arial"/>
                </a:endParaRPr>
              </a:p>
            </p:txBody>
          </p:sp>
        </p:grpSp>
        <p:grpSp>
          <p:nvGrpSpPr>
            <p:cNvPr id="722" name="Google Shape;722;g3f9ebdf94e2_0_234"/>
            <p:cNvGrpSpPr/>
            <p:nvPr/>
          </p:nvGrpSpPr>
          <p:grpSpPr>
            <a:xfrm>
              <a:off x="5220000" y="3902040"/>
              <a:ext cx="868800" cy="1308480"/>
              <a:chOff x="5220000" y="3902040"/>
              <a:chExt cx="868800" cy="1308480"/>
            </a:xfrm>
          </p:grpSpPr>
          <p:pic>
            <p:nvPicPr>
              <p:cNvPr id="723" name="Google Shape;723;g3f9ebdf94e2_0_234"/>
              <p:cNvPicPr preferRelativeResize="0"/>
              <p:nvPr/>
            </p:nvPicPr>
            <p:blipFill rotWithShape="1">
              <a:blip r:embed="rId4">
                <a:alphaModFix/>
              </a:blip>
              <a:srcRect b="0" l="0" r="0" t="0"/>
              <a:stretch/>
            </p:blipFill>
            <p:spPr>
              <a:xfrm>
                <a:off x="5220000" y="3902040"/>
                <a:ext cx="619560" cy="941760"/>
              </a:xfrm>
              <a:prstGeom prst="rect">
                <a:avLst/>
              </a:prstGeom>
              <a:noFill/>
              <a:ln>
                <a:noFill/>
              </a:ln>
            </p:spPr>
          </p:pic>
          <p:sp>
            <p:nvSpPr>
              <p:cNvPr id="724" name="Google Shape;724;g3f9ebdf94e2_0_234"/>
              <p:cNvSpPr txBox="1"/>
              <p:nvPr/>
            </p:nvSpPr>
            <p:spPr>
              <a:xfrm>
                <a:off x="5223600" y="4864320"/>
                <a:ext cx="865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Queen</a:t>
                </a:r>
                <a:endParaRPr b="0" sz="1600" strike="noStrike">
                  <a:latin typeface="Arial"/>
                  <a:ea typeface="Arial"/>
                  <a:cs typeface="Arial"/>
                  <a:sym typeface="Arial"/>
                </a:endParaRPr>
              </a:p>
            </p:txBody>
          </p:sp>
        </p:grpSp>
        <p:pic>
          <p:nvPicPr>
            <p:cNvPr id="725" name="Google Shape;725;g3f9ebdf94e2_0_234"/>
            <p:cNvPicPr preferRelativeResize="0"/>
            <p:nvPr/>
          </p:nvPicPr>
          <p:blipFill rotWithShape="1">
            <a:blip r:embed="rId5">
              <a:alphaModFix/>
            </a:blip>
            <a:srcRect b="0" l="0" r="0" t="0"/>
            <a:stretch/>
          </p:blipFill>
          <p:spPr>
            <a:xfrm>
              <a:off x="7897320" y="3816000"/>
              <a:ext cx="743400" cy="1146600"/>
            </a:xfrm>
            <a:prstGeom prst="rect">
              <a:avLst/>
            </a:prstGeom>
            <a:noFill/>
            <a:ln>
              <a:noFill/>
            </a:ln>
          </p:spPr>
        </p:pic>
        <p:sp>
          <p:nvSpPr>
            <p:cNvPr id="726" name="Google Shape;726;g3f9ebdf94e2_0_234"/>
            <p:cNvSpPr txBox="1"/>
            <p:nvPr/>
          </p:nvSpPr>
          <p:spPr>
            <a:xfrm>
              <a:off x="7652520" y="4966560"/>
              <a:ext cx="10800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Peasant</a:t>
              </a:r>
              <a:endParaRPr b="0" sz="1600" strike="noStrike">
                <a:latin typeface="Arial"/>
                <a:ea typeface="Arial"/>
                <a:cs typeface="Arial"/>
                <a:sym typeface="Arial"/>
              </a:endParaRPr>
            </a:p>
          </p:txBody>
        </p:sp>
        <p:pic>
          <p:nvPicPr>
            <p:cNvPr id="727" name="Google Shape;727;g3f9ebdf94e2_0_234"/>
            <p:cNvPicPr preferRelativeResize="0"/>
            <p:nvPr/>
          </p:nvPicPr>
          <p:blipFill rotWithShape="1">
            <a:blip r:embed="rId6">
              <a:alphaModFix/>
            </a:blip>
            <a:srcRect b="0" l="0" r="0" t="0"/>
            <a:stretch/>
          </p:blipFill>
          <p:spPr>
            <a:xfrm>
              <a:off x="8881920" y="3784320"/>
              <a:ext cx="876961" cy="1209961"/>
            </a:xfrm>
            <a:prstGeom prst="rect">
              <a:avLst/>
            </a:prstGeom>
            <a:noFill/>
            <a:ln>
              <a:noFill/>
            </a:ln>
          </p:spPr>
        </p:pic>
        <p:sp>
          <p:nvSpPr>
            <p:cNvPr id="728" name="Google Shape;728;g3f9ebdf94e2_0_234"/>
            <p:cNvSpPr txBox="1"/>
            <p:nvPr/>
          </p:nvSpPr>
          <p:spPr>
            <a:xfrm>
              <a:off x="8959320" y="4998240"/>
              <a:ext cx="1033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Peasant</a:t>
              </a:r>
              <a:endParaRPr b="0" sz="1600" strike="noStrike">
                <a:latin typeface="Arial"/>
                <a:ea typeface="Arial"/>
                <a:cs typeface="Arial"/>
                <a:sym typeface="Arial"/>
              </a:endParaRPr>
            </a:p>
          </p:txBody>
        </p:sp>
        <p:sp>
          <p:nvSpPr>
            <p:cNvPr id="729" name="Google Shape;729;g3f9ebdf94e2_0_234"/>
            <p:cNvSpPr/>
            <p:nvPr/>
          </p:nvSpPr>
          <p:spPr>
            <a:xfrm>
              <a:off x="5275080" y="3338640"/>
              <a:ext cx="509400" cy="5094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30" name="Google Shape;730;g3f9ebdf94e2_0_234"/>
            <p:cNvSpPr/>
            <p:nvPr/>
          </p:nvSpPr>
          <p:spPr>
            <a:xfrm>
              <a:off x="8014320" y="32367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31" name="Google Shape;731;g3f9ebdf94e2_0_234"/>
            <p:cNvSpPr/>
            <p:nvPr/>
          </p:nvSpPr>
          <p:spPr>
            <a:xfrm>
              <a:off x="6326280" y="3338640"/>
              <a:ext cx="509400" cy="5094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32" name="Google Shape;732;g3f9ebdf94e2_0_234"/>
            <p:cNvSpPr/>
            <p:nvPr/>
          </p:nvSpPr>
          <p:spPr>
            <a:xfrm>
              <a:off x="9065520" y="32367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33" name="Google Shape;733;g3f9ebdf94e2_0_234"/>
            <p:cNvSpPr/>
            <p:nvPr/>
          </p:nvSpPr>
          <p:spPr>
            <a:xfrm>
              <a:off x="5856840" y="2714400"/>
              <a:ext cx="509400" cy="5097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34" name="Google Shape;734;g3f9ebdf94e2_0_234"/>
            <p:cNvSpPr/>
            <p:nvPr/>
          </p:nvSpPr>
          <p:spPr>
            <a:xfrm>
              <a:off x="7172280" y="261288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35" name="Google Shape;735;g3f9ebdf94e2_0_234"/>
            <p:cNvSpPr txBox="1"/>
            <p:nvPr/>
          </p:nvSpPr>
          <p:spPr>
            <a:xfrm>
              <a:off x="5683680" y="2397240"/>
              <a:ext cx="9411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Royalty</a:t>
              </a:r>
              <a:endParaRPr b="0" sz="1600" strike="noStrike">
                <a:latin typeface="Arial"/>
                <a:ea typeface="Arial"/>
                <a:cs typeface="Arial"/>
                <a:sym typeface="Arial"/>
              </a:endParaRPr>
            </a:p>
          </p:txBody>
        </p:sp>
        <p:sp>
          <p:nvSpPr>
            <p:cNvPr id="736" name="Google Shape;736;g3f9ebdf94e2_0_234"/>
            <p:cNvSpPr txBox="1"/>
            <p:nvPr/>
          </p:nvSpPr>
          <p:spPr>
            <a:xfrm>
              <a:off x="6932520" y="2312640"/>
              <a:ext cx="9627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Woman</a:t>
              </a:r>
              <a:endParaRPr b="0" sz="1600" strike="noStrike">
                <a:latin typeface="Arial"/>
                <a:ea typeface="Arial"/>
                <a:cs typeface="Arial"/>
                <a:sym typeface="Arial"/>
              </a:endParaRPr>
            </a:p>
          </p:txBody>
        </p:sp>
        <p:sp>
          <p:nvSpPr>
            <p:cNvPr id="737" name="Google Shape;737;g3f9ebdf94e2_0_234"/>
            <p:cNvSpPr/>
            <p:nvPr/>
          </p:nvSpPr>
          <p:spPr>
            <a:xfrm>
              <a:off x="7767360" y="17211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38" name="Google Shape;738;g3f9ebdf94e2_0_234"/>
            <p:cNvSpPr txBox="1"/>
            <p:nvPr/>
          </p:nvSpPr>
          <p:spPr>
            <a:xfrm>
              <a:off x="7587360" y="1440000"/>
              <a:ext cx="9033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Person</a:t>
              </a:r>
              <a:endParaRPr b="0" sz="1600" strike="noStrike">
                <a:latin typeface="Arial"/>
                <a:ea typeface="Arial"/>
                <a:cs typeface="Arial"/>
                <a:sym typeface="Arial"/>
              </a:endParaRPr>
            </a:p>
          </p:txBody>
        </p:sp>
        <p:sp>
          <p:nvSpPr>
            <p:cNvPr id="739" name="Google Shape;739;g3f9ebdf94e2_0_234"/>
            <p:cNvSpPr/>
            <p:nvPr/>
          </p:nvSpPr>
          <p:spPr>
            <a:xfrm>
              <a:off x="8534880" y="261288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40" name="Google Shape;740;g3f9ebdf94e2_0_234"/>
            <p:cNvSpPr txBox="1"/>
            <p:nvPr/>
          </p:nvSpPr>
          <p:spPr>
            <a:xfrm>
              <a:off x="8552520" y="2298960"/>
              <a:ext cx="6243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Man</a:t>
              </a:r>
              <a:endParaRPr b="0" sz="1600" strike="noStrike">
                <a:latin typeface="Arial"/>
                <a:ea typeface="Arial"/>
                <a:cs typeface="Arial"/>
                <a:sym typeface="Arial"/>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f9ebdf94e2_0_292"/>
          <p:cNvSpPr txBox="1"/>
          <p:nvPr/>
        </p:nvSpPr>
        <p:spPr>
          <a:xfrm>
            <a:off x="457172" y="150535"/>
            <a:ext cx="3788100" cy="85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pt-BR" sz="3000" strike="noStrike">
                <a:solidFill>
                  <a:srgbClr val="FFFFFF"/>
                </a:solidFill>
                <a:latin typeface="Comfortaa"/>
                <a:ea typeface="Comfortaa"/>
                <a:cs typeface="Comfortaa"/>
                <a:sym typeface="Comfortaa"/>
              </a:rPr>
              <a:t>Human Engineered</a:t>
            </a:r>
            <a:endParaRPr b="1" sz="3000" strike="noStrike">
              <a:solidFill>
                <a:srgbClr val="252323"/>
              </a:solidFill>
              <a:latin typeface="Comfortaa"/>
              <a:ea typeface="Comfortaa"/>
              <a:cs typeface="Comfortaa"/>
              <a:sym typeface="Comfortaa"/>
            </a:endParaRPr>
          </a:p>
        </p:txBody>
      </p:sp>
      <p:sp>
        <p:nvSpPr>
          <p:cNvPr id="746" name="Google Shape;746;g3f9ebdf94e2_0_292"/>
          <p:cNvSpPr txBox="1"/>
          <p:nvPr/>
        </p:nvSpPr>
        <p:spPr>
          <a:xfrm>
            <a:off x="5028888" y="232823"/>
            <a:ext cx="3788100" cy="69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pt-BR" sz="2900" strike="noStrike">
                <a:solidFill>
                  <a:srgbClr val="252323"/>
                </a:solidFill>
                <a:latin typeface="Comfortaa"/>
                <a:ea typeface="Comfortaa"/>
                <a:cs typeface="Comfortaa"/>
                <a:sym typeface="Comfortaa"/>
              </a:rPr>
              <a:t>Knowledge Graph</a:t>
            </a:r>
            <a:endParaRPr b="0" sz="2900" strike="noStrike">
              <a:solidFill>
                <a:srgbClr val="252323"/>
              </a:solidFill>
              <a:latin typeface="Comfortaa"/>
              <a:ea typeface="Comfortaa"/>
              <a:cs typeface="Comfortaa"/>
              <a:sym typeface="Comfortaa"/>
            </a:endParaRPr>
          </a:p>
        </p:txBody>
      </p:sp>
      <p:grpSp>
        <p:nvGrpSpPr>
          <p:cNvPr id="747" name="Google Shape;747;g3f9ebdf94e2_0_292"/>
          <p:cNvGrpSpPr/>
          <p:nvPr/>
        </p:nvGrpSpPr>
        <p:grpSpPr>
          <a:xfrm>
            <a:off x="4735062" y="1306224"/>
            <a:ext cx="4329153" cy="3541718"/>
            <a:chOff x="5220000" y="1440000"/>
            <a:chExt cx="4772520" cy="3904440"/>
          </a:xfrm>
        </p:grpSpPr>
        <p:cxnSp>
          <p:nvCxnSpPr>
            <p:cNvPr id="748" name="Google Shape;748;g3f9ebdf94e2_0_292"/>
            <p:cNvCxnSpPr/>
            <p:nvPr/>
          </p:nvCxnSpPr>
          <p:spPr>
            <a:xfrm flipH="1" rot="10800000">
              <a:off x="7512840" y="2103060"/>
              <a:ext cx="381900" cy="636900"/>
            </a:xfrm>
            <a:prstGeom prst="straightConnector1">
              <a:avLst/>
            </a:prstGeom>
            <a:noFill/>
            <a:ln cap="flat" cmpd="sng" w="26450">
              <a:solidFill>
                <a:srgbClr val="000000"/>
              </a:solidFill>
              <a:prstDash val="solid"/>
              <a:round/>
              <a:headEnd len="sm" w="sm" type="none"/>
              <a:tailEnd len="sm" w="sm" type="none"/>
            </a:ln>
          </p:spPr>
        </p:cxnSp>
        <p:cxnSp>
          <p:nvCxnSpPr>
            <p:cNvPr id="749" name="Google Shape;749;g3f9ebdf94e2_0_292"/>
            <p:cNvCxnSpPr/>
            <p:nvPr/>
          </p:nvCxnSpPr>
          <p:spPr>
            <a:xfrm rot="10800000">
              <a:off x="8149680" y="2103060"/>
              <a:ext cx="509400" cy="636900"/>
            </a:xfrm>
            <a:prstGeom prst="straightConnector1">
              <a:avLst/>
            </a:prstGeom>
            <a:noFill/>
            <a:ln cap="flat" cmpd="sng" w="26450">
              <a:solidFill>
                <a:srgbClr val="000000"/>
              </a:solidFill>
              <a:prstDash val="solid"/>
              <a:round/>
              <a:headEnd len="sm" w="sm" type="none"/>
              <a:tailEnd len="sm" w="sm" type="none"/>
            </a:ln>
          </p:spPr>
        </p:cxnSp>
        <p:cxnSp>
          <p:nvCxnSpPr>
            <p:cNvPr id="750" name="Google Shape;750;g3f9ebdf94e2_0_292"/>
            <p:cNvCxnSpPr/>
            <p:nvPr/>
          </p:nvCxnSpPr>
          <p:spPr>
            <a:xfrm rot="10800000">
              <a:off x="7512780" y="2994900"/>
              <a:ext cx="636900" cy="381900"/>
            </a:xfrm>
            <a:prstGeom prst="straightConnector1">
              <a:avLst/>
            </a:prstGeom>
            <a:noFill/>
            <a:ln cap="flat" cmpd="sng" w="26450">
              <a:solidFill>
                <a:srgbClr val="000000"/>
              </a:solidFill>
              <a:prstDash val="solid"/>
              <a:round/>
              <a:headEnd len="sm" w="sm" type="none"/>
              <a:tailEnd len="sm" w="sm" type="none"/>
            </a:ln>
          </p:spPr>
        </p:cxnSp>
        <p:cxnSp>
          <p:nvCxnSpPr>
            <p:cNvPr id="751" name="Google Shape;751;g3f9ebdf94e2_0_292"/>
            <p:cNvCxnSpPr/>
            <p:nvPr/>
          </p:nvCxnSpPr>
          <p:spPr>
            <a:xfrm rot="10800000">
              <a:off x="8913840" y="2994900"/>
              <a:ext cx="255000" cy="381900"/>
            </a:xfrm>
            <a:prstGeom prst="straightConnector1">
              <a:avLst/>
            </a:prstGeom>
            <a:noFill/>
            <a:ln cap="flat" cmpd="sng" w="26450">
              <a:solidFill>
                <a:srgbClr val="000000"/>
              </a:solidFill>
              <a:prstDash val="solid"/>
              <a:round/>
              <a:headEnd len="sm" w="sm" type="none"/>
              <a:tailEnd len="sm" w="sm" type="none"/>
            </a:ln>
          </p:spPr>
        </p:cxnSp>
        <p:cxnSp>
          <p:nvCxnSpPr>
            <p:cNvPr id="752" name="Google Shape;752;g3f9ebdf94e2_0_292"/>
            <p:cNvCxnSpPr/>
            <p:nvPr/>
          </p:nvCxnSpPr>
          <p:spPr>
            <a:xfrm flipH="1" rot="10800000">
              <a:off x="5601960" y="2867340"/>
              <a:ext cx="1656000" cy="636900"/>
            </a:xfrm>
            <a:prstGeom prst="straightConnector1">
              <a:avLst/>
            </a:prstGeom>
            <a:noFill/>
            <a:ln cap="flat" cmpd="sng" w="26450">
              <a:solidFill>
                <a:srgbClr val="000000"/>
              </a:solidFill>
              <a:prstDash val="solid"/>
              <a:round/>
              <a:headEnd len="sm" w="sm" type="none"/>
              <a:tailEnd len="sm" w="sm" type="none"/>
            </a:ln>
          </p:spPr>
        </p:cxnSp>
        <p:cxnSp>
          <p:nvCxnSpPr>
            <p:cNvPr id="753" name="Google Shape;753;g3f9ebdf94e2_0_292"/>
            <p:cNvCxnSpPr/>
            <p:nvPr/>
          </p:nvCxnSpPr>
          <p:spPr>
            <a:xfrm flipH="1" rot="10800000">
              <a:off x="6748560" y="2867340"/>
              <a:ext cx="1910400" cy="636900"/>
            </a:xfrm>
            <a:prstGeom prst="straightConnector1">
              <a:avLst/>
            </a:prstGeom>
            <a:noFill/>
            <a:ln cap="flat" cmpd="sng" w="26450">
              <a:solidFill>
                <a:srgbClr val="000000"/>
              </a:solidFill>
              <a:prstDash val="solid"/>
              <a:round/>
              <a:headEnd len="sm" w="sm" type="none"/>
              <a:tailEnd len="sm" w="sm" type="none"/>
            </a:ln>
          </p:spPr>
        </p:cxnSp>
        <p:cxnSp>
          <p:nvCxnSpPr>
            <p:cNvPr id="754" name="Google Shape;754;g3f9ebdf94e2_0_292"/>
            <p:cNvCxnSpPr/>
            <p:nvPr/>
          </p:nvCxnSpPr>
          <p:spPr>
            <a:xfrm flipH="1" rot="10800000">
              <a:off x="5601960" y="3122340"/>
              <a:ext cx="381900" cy="381900"/>
            </a:xfrm>
            <a:prstGeom prst="straightConnector1">
              <a:avLst/>
            </a:prstGeom>
            <a:noFill/>
            <a:ln cap="flat" cmpd="sng" w="26450">
              <a:solidFill>
                <a:srgbClr val="808080"/>
              </a:solidFill>
              <a:prstDash val="solid"/>
              <a:round/>
              <a:headEnd len="sm" w="sm" type="none"/>
              <a:tailEnd len="sm" w="sm" type="none"/>
            </a:ln>
          </p:spPr>
        </p:cxnSp>
        <p:cxnSp>
          <p:nvCxnSpPr>
            <p:cNvPr id="755" name="Google Shape;755;g3f9ebdf94e2_0_292"/>
            <p:cNvCxnSpPr/>
            <p:nvPr/>
          </p:nvCxnSpPr>
          <p:spPr>
            <a:xfrm rot="10800000">
              <a:off x="6238680" y="3122160"/>
              <a:ext cx="255000" cy="255000"/>
            </a:xfrm>
            <a:prstGeom prst="straightConnector1">
              <a:avLst/>
            </a:prstGeom>
            <a:noFill/>
            <a:ln cap="flat" cmpd="sng" w="26450">
              <a:solidFill>
                <a:srgbClr val="808080"/>
              </a:solidFill>
              <a:prstDash val="solid"/>
              <a:round/>
              <a:headEnd len="sm" w="sm" type="none"/>
              <a:tailEnd len="sm" w="sm" type="none"/>
            </a:ln>
          </p:spPr>
        </p:cxnSp>
        <p:grpSp>
          <p:nvGrpSpPr>
            <p:cNvPr id="756" name="Google Shape;756;g3f9ebdf94e2_0_292"/>
            <p:cNvGrpSpPr/>
            <p:nvPr/>
          </p:nvGrpSpPr>
          <p:grpSpPr>
            <a:xfrm>
              <a:off x="6278400" y="3936600"/>
              <a:ext cx="714000" cy="1239360"/>
              <a:chOff x="6278400" y="3936600"/>
              <a:chExt cx="714000" cy="1239360"/>
            </a:xfrm>
          </p:grpSpPr>
          <p:pic>
            <p:nvPicPr>
              <p:cNvPr id="757" name="Google Shape;757;g3f9ebdf94e2_0_292"/>
              <p:cNvPicPr preferRelativeResize="0"/>
              <p:nvPr/>
            </p:nvPicPr>
            <p:blipFill rotWithShape="1">
              <a:blip r:embed="rId3">
                <a:alphaModFix/>
              </a:blip>
              <a:srcRect b="0" l="0" r="0" t="0"/>
              <a:stretch/>
            </p:blipFill>
            <p:spPr>
              <a:xfrm>
                <a:off x="6278400" y="3936600"/>
                <a:ext cx="605160" cy="873000"/>
              </a:xfrm>
              <a:prstGeom prst="rect">
                <a:avLst/>
              </a:prstGeom>
              <a:noFill/>
              <a:ln>
                <a:noFill/>
              </a:ln>
            </p:spPr>
          </p:pic>
          <p:sp>
            <p:nvSpPr>
              <p:cNvPr id="758" name="Google Shape;758;g3f9ebdf94e2_0_292"/>
              <p:cNvSpPr txBox="1"/>
              <p:nvPr/>
            </p:nvSpPr>
            <p:spPr>
              <a:xfrm>
                <a:off x="6355800" y="4829760"/>
                <a:ext cx="6366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King</a:t>
                </a:r>
                <a:endParaRPr b="0" sz="1600" strike="noStrike">
                  <a:latin typeface="Arial"/>
                  <a:ea typeface="Arial"/>
                  <a:cs typeface="Arial"/>
                  <a:sym typeface="Arial"/>
                </a:endParaRPr>
              </a:p>
            </p:txBody>
          </p:sp>
        </p:grpSp>
        <p:grpSp>
          <p:nvGrpSpPr>
            <p:cNvPr id="759" name="Google Shape;759;g3f9ebdf94e2_0_292"/>
            <p:cNvGrpSpPr/>
            <p:nvPr/>
          </p:nvGrpSpPr>
          <p:grpSpPr>
            <a:xfrm>
              <a:off x="5220000" y="3902040"/>
              <a:ext cx="868800" cy="1308480"/>
              <a:chOff x="5220000" y="3902040"/>
              <a:chExt cx="868800" cy="1308480"/>
            </a:xfrm>
          </p:grpSpPr>
          <p:pic>
            <p:nvPicPr>
              <p:cNvPr id="760" name="Google Shape;760;g3f9ebdf94e2_0_292"/>
              <p:cNvPicPr preferRelativeResize="0"/>
              <p:nvPr/>
            </p:nvPicPr>
            <p:blipFill rotWithShape="1">
              <a:blip r:embed="rId4">
                <a:alphaModFix/>
              </a:blip>
              <a:srcRect b="0" l="0" r="0" t="0"/>
              <a:stretch/>
            </p:blipFill>
            <p:spPr>
              <a:xfrm>
                <a:off x="5220000" y="3902040"/>
                <a:ext cx="619560" cy="941760"/>
              </a:xfrm>
              <a:prstGeom prst="rect">
                <a:avLst/>
              </a:prstGeom>
              <a:noFill/>
              <a:ln>
                <a:noFill/>
              </a:ln>
            </p:spPr>
          </p:pic>
          <p:sp>
            <p:nvSpPr>
              <p:cNvPr id="761" name="Google Shape;761;g3f9ebdf94e2_0_292"/>
              <p:cNvSpPr txBox="1"/>
              <p:nvPr/>
            </p:nvSpPr>
            <p:spPr>
              <a:xfrm>
                <a:off x="5223600" y="4864320"/>
                <a:ext cx="865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Queen</a:t>
                </a:r>
                <a:endParaRPr b="0" sz="1600" strike="noStrike">
                  <a:latin typeface="Arial"/>
                  <a:ea typeface="Arial"/>
                  <a:cs typeface="Arial"/>
                  <a:sym typeface="Arial"/>
                </a:endParaRPr>
              </a:p>
            </p:txBody>
          </p:sp>
        </p:grpSp>
        <p:pic>
          <p:nvPicPr>
            <p:cNvPr id="762" name="Google Shape;762;g3f9ebdf94e2_0_292"/>
            <p:cNvPicPr preferRelativeResize="0"/>
            <p:nvPr/>
          </p:nvPicPr>
          <p:blipFill rotWithShape="1">
            <a:blip r:embed="rId5">
              <a:alphaModFix/>
            </a:blip>
            <a:srcRect b="0" l="0" r="0" t="0"/>
            <a:stretch/>
          </p:blipFill>
          <p:spPr>
            <a:xfrm>
              <a:off x="7897320" y="3816000"/>
              <a:ext cx="743400" cy="1146600"/>
            </a:xfrm>
            <a:prstGeom prst="rect">
              <a:avLst/>
            </a:prstGeom>
            <a:noFill/>
            <a:ln>
              <a:noFill/>
            </a:ln>
          </p:spPr>
        </p:pic>
        <p:sp>
          <p:nvSpPr>
            <p:cNvPr id="763" name="Google Shape;763;g3f9ebdf94e2_0_292"/>
            <p:cNvSpPr txBox="1"/>
            <p:nvPr/>
          </p:nvSpPr>
          <p:spPr>
            <a:xfrm>
              <a:off x="7652520" y="4966560"/>
              <a:ext cx="10800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Peasant</a:t>
              </a:r>
              <a:endParaRPr b="0" sz="1600" strike="noStrike">
                <a:latin typeface="Arial"/>
                <a:ea typeface="Arial"/>
                <a:cs typeface="Arial"/>
                <a:sym typeface="Arial"/>
              </a:endParaRPr>
            </a:p>
          </p:txBody>
        </p:sp>
        <p:pic>
          <p:nvPicPr>
            <p:cNvPr id="764" name="Google Shape;764;g3f9ebdf94e2_0_292"/>
            <p:cNvPicPr preferRelativeResize="0"/>
            <p:nvPr/>
          </p:nvPicPr>
          <p:blipFill rotWithShape="1">
            <a:blip r:embed="rId6">
              <a:alphaModFix/>
            </a:blip>
            <a:srcRect b="0" l="0" r="0" t="0"/>
            <a:stretch/>
          </p:blipFill>
          <p:spPr>
            <a:xfrm>
              <a:off x="8881920" y="3784320"/>
              <a:ext cx="876961" cy="1209961"/>
            </a:xfrm>
            <a:prstGeom prst="rect">
              <a:avLst/>
            </a:prstGeom>
            <a:noFill/>
            <a:ln>
              <a:noFill/>
            </a:ln>
          </p:spPr>
        </p:pic>
        <p:sp>
          <p:nvSpPr>
            <p:cNvPr id="765" name="Google Shape;765;g3f9ebdf94e2_0_292"/>
            <p:cNvSpPr txBox="1"/>
            <p:nvPr/>
          </p:nvSpPr>
          <p:spPr>
            <a:xfrm>
              <a:off x="8959320" y="4998240"/>
              <a:ext cx="1033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Peasant</a:t>
              </a:r>
              <a:endParaRPr b="0" sz="1600" strike="noStrike">
                <a:latin typeface="Arial"/>
                <a:ea typeface="Arial"/>
                <a:cs typeface="Arial"/>
                <a:sym typeface="Arial"/>
              </a:endParaRPr>
            </a:p>
          </p:txBody>
        </p:sp>
        <p:sp>
          <p:nvSpPr>
            <p:cNvPr id="766" name="Google Shape;766;g3f9ebdf94e2_0_292"/>
            <p:cNvSpPr/>
            <p:nvPr/>
          </p:nvSpPr>
          <p:spPr>
            <a:xfrm>
              <a:off x="5275080" y="3338640"/>
              <a:ext cx="509400" cy="5094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67" name="Google Shape;767;g3f9ebdf94e2_0_292"/>
            <p:cNvSpPr/>
            <p:nvPr/>
          </p:nvSpPr>
          <p:spPr>
            <a:xfrm>
              <a:off x="8014320" y="32367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68" name="Google Shape;768;g3f9ebdf94e2_0_292"/>
            <p:cNvSpPr/>
            <p:nvPr/>
          </p:nvSpPr>
          <p:spPr>
            <a:xfrm>
              <a:off x="6326280" y="3338640"/>
              <a:ext cx="509400" cy="5094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69" name="Google Shape;769;g3f9ebdf94e2_0_292"/>
            <p:cNvSpPr/>
            <p:nvPr/>
          </p:nvSpPr>
          <p:spPr>
            <a:xfrm>
              <a:off x="9065520" y="32367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70" name="Google Shape;770;g3f9ebdf94e2_0_292"/>
            <p:cNvSpPr/>
            <p:nvPr/>
          </p:nvSpPr>
          <p:spPr>
            <a:xfrm>
              <a:off x="5856840" y="2714400"/>
              <a:ext cx="509400" cy="5097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71" name="Google Shape;771;g3f9ebdf94e2_0_292"/>
            <p:cNvSpPr/>
            <p:nvPr/>
          </p:nvSpPr>
          <p:spPr>
            <a:xfrm>
              <a:off x="7172280" y="261288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72" name="Google Shape;772;g3f9ebdf94e2_0_292"/>
            <p:cNvSpPr txBox="1"/>
            <p:nvPr/>
          </p:nvSpPr>
          <p:spPr>
            <a:xfrm>
              <a:off x="5683680" y="2397240"/>
              <a:ext cx="9411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Royalty</a:t>
              </a:r>
              <a:endParaRPr b="0" sz="1600" strike="noStrike">
                <a:latin typeface="Arial"/>
                <a:ea typeface="Arial"/>
                <a:cs typeface="Arial"/>
                <a:sym typeface="Arial"/>
              </a:endParaRPr>
            </a:p>
          </p:txBody>
        </p:sp>
        <p:sp>
          <p:nvSpPr>
            <p:cNvPr id="773" name="Google Shape;773;g3f9ebdf94e2_0_292"/>
            <p:cNvSpPr txBox="1"/>
            <p:nvPr/>
          </p:nvSpPr>
          <p:spPr>
            <a:xfrm>
              <a:off x="6932520" y="2312640"/>
              <a:ext cx="9627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Woman</a:t>
              </a:r>
              <a:endParaRPr b="0" sz="1600" strike="noStrike">
                <a:latin typeface="Arial"/>
                <a:ea typeface="Arial"/>
                <a:cs typeface="Arial"/>
                <a:sym typeface="Arial"/>
              </a:endParaRPr>
            </a:p>
          </p:txBody>
        </p:sp>
        <p:sp>
          <p:nvSpPr>
            <p:cNvPr id="774" name="Google Shape;774;g3f9ebdf94e2_0_292"/>
            <p:cNvSpPr/>
            <p:nvPr/>
          </p:nvSpPr>
          <p:spPr>
            <a:xfrm>
              <a:off x="7767360" y="17211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75" name="Google Shape;775;g3f9ebdf94e2_0_292"/>
            <p:cNvSpPr txBox="1"/>
            <p:nvPr/>
          </p:nvSpPr>
          <p:spPr>
            <a:xfrm>
              <a:off x="7587360" y="1440000"/>
              <a:ext cx="9033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Person</a:t>
              </a:r>
              <a:endParaRPr b="0" sz="1600" strike="noStrike">
                <a:latin typeface="Arial"/>
                <a:ea typeface="Arial"/>
                <a:cs typeface="Arial"/>
                <a:sym typeface="Arial"/>
              </a:endParaRPr>
            </a:p>
          </p:txBody>
        </p:sp>
        <p:sp>
          <p:nvSpPr>
            <p:cNvPr id="776" name="Google Shape;776;g3f9ebdf94e2_0_292"/>
            <p:cNvSpPr/>
            <p:nvPr/>
          </p:nvSpPr>
          <p:spPr>
            <a:xfrm>
              <a:off x="8534880" y="261288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777" name="Google Shape;777;g3f9ebdf94e2_0_292"/>
            <p:cNvSpPr txBox="1"/>
            <p:nvPr/>
          </p:nvSpPr>
          <p:spPr>
            <a:xfrm>
              <a:off x="8552520" y="2298960"/>
              <a:ext cx="6243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Man</a:t>
              </a:r>
              <a:endParaRPr b="0" sz="1600" strike="noStrike">
                <a:latin typeface="Arial"/>
                <a:ea typeface="Arial"/>
                <a:cs typeface="Arial"/>
                <a:sym typeface="Arial"/>
              </a:endParaRPr>
            </a:p>
          </p:txBody>
        </p:sp>
      </p:grpSp>
      <p:pic>
        <p:nvPicPr>
          <p:cNvPr id="778" name="Google Shape;778;g3f9ebdf94e2_0_292"/>
          <p:cNvPicPr preferRelativeResize="0"/>
          <p:nvPr/>
        </p:nvPicPr>
        <p:blipFill rotWithShape="1">
          <a:blip r:embed="rId7">
            <a:alphaModFix/>
          </a:blip>
          <a:srcRect b="0" l="0" r="0" t="0"/>
          <a:stretch/>
        </p:blipFill>
        <p:spPr>
          <a:xfrm>
            <a:off x="327204" y="1143542"/>
            <a:ext cx="3754555" cy="375455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g3f9ebdf94e2_0_626"/>
          <p:cNvSpPr txBox="1"/>
          <p:nvPr/>
        </p:nvSpPr>
        <p:spPr>
          <a:xfrm>
            <a:off x="5028888" y="232823"/>
            <a:ext cx="3788100" cy="69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pt-BR" sz="2900" strike="noStrike">
                <a:solidFill>
                  <a:srgbClr val="252323"/>
                </a:solidFill>
                <a:latin typeface="Comfortaa"/>
                <a:ea typeface="Comfortaa"/>
                <a:cs typeface="Comfortaa"/>
                <a:sym typeface="Comfortaa"/>
              </a:rPr>
              <a:t>Formal Semantics</a:t>
            </a:r>
            <a:endParaRPr b="0" sz="2900" strike="noStrike">
              <a:solidFill>
                <a:srgbClr val="252323"/>
              </a:solidFill>
              <a:latin typeface="Comfortaa"/>
              <a:ea typeface="Comfortaa"/>
              <a:cs typeface="Comfortaa"/>
              <a:sym typeface="Comfortaa"/>
            </a:endParaRPr>
          </a:p>
        </p:txBody>
      </p:sp>
      <p:grpSp>
        <p:nvGrpSpPr>
          <p:cNvPr id="784" name="Google Shape;784;g3f9ebdf94e2_0_626"/>
          <p:cNvGrpSpPr/>
          <p:nvPr/>
        </p:nvGrpSpPr>
        <p:grpSpPr>
          <a:xfrm>
            <a:off x="4735062" y="1306224"/>
            <a:ext cx="4329153" cy="3541718"/>
            <a:chOff x="5220000" y="1440000"/>
            <a:chExt cx="4772520" cy="3904440"/>
          </a:xfrm>
        </p:grpSpPr>
        <p:cxnSp>
          <p:nvCxnSpPr>
            <p:cNvPr id="785" name="Google Shape;785;g3f9ebdf94e2_0_626"/>
            <p:cNvCxnSpPr/>
            <p:nvPr/>
          </p:nvCxnSpPr>
          <p:spPr>
            <a:xfrm flipH="1" rot="10800000">
              <a:off x="7512840" y="2103060"/>
              <a:ext cx="381900" cy="636900"/>
            </a:xfrm>
            <a:prstGeom prst="straightConnector1">
              <a:avLst/>
            </a:prstGeom>
            <a:noFill/>
            <a:ln cap="flat" cmpd="sng" w="26450">
              <a:solidFill>
                <a:srgbClr val="000000"/>
              </a:solidFill>
              <a:prstDash val="solid"/>
              <a:round/>
              <a:headEnd len="sm" w="sm" type="none"/>
              <a:tailEnd len="sm" w="sm" type="none"/>
            </a:ln>
          </p:spPr>
        </p:cxnSp>
        <p:cxnSp>
          <p:nvCxnSpPr>
            <p:cNvPr id="786" name="Google Shape;786;g3f9ebdf94e2_0_626"/>
            <p:cNvCxnSpPr/>
            <p:nvPr/>
          </p:nvCxnSpPr>
          <p:spPr>
            <a:xfrm rot="10800000">
              <a:off x="8149680" y="2103060"/>
              <a:ext cx="509400" cy="636900"/>
            </a:xfrm>
            <a:prstGeom prst="straightConnector1">
              <a:avLst/>
            </a:prstGeom>
            <a:noFill/>
            <a:ln cap="flat" cmpd="sng" w="26450">
              <a:solidFill>
                <a:srgbClr val="000000"/>
              </a:solidFill>
              <a:prstDash val="solid"/>
              <a:round/>
              <a:headEnd len="sm" w="sm" type="none"/>
              <a:tailEnd len="sm" w="sm" type="none"/>
            </a:ln>
          </p:spPr>
        </p:cxnSp>
        <p:cxnSp>
          <p:nvCxnSpPr>
            <p:cNvPr id="787" name="Google Shape;787;g3f9ebdf94e2_0_626"/>
            <p:cNvCxnSpPr/>
            <p:nvPr/>
          </p:nvCxnSpPr>
          <p:spPr>
            <a:xfrm rot="10800000">
              <a:off x="7512780" y="2994900"/>
              <a:ext cx="636900" cy="381900"/>
            </a:xfrm>
            <a:prstGeom prst="straightConnector1">
              <a:avLst/>
            </a:prstGeom>
            <a:noFill/>
            <a:ln cap="flat" cmpd="sng" w="26450">
              <a:solidFill>
                <a:srgbClr val="000000"/>
              </a:solidFill>
              <a:prstDash val="solid"/>
              <a:round/>
              <a:headEnd len="sm" w="sm" type="none"/>
              <a:tailEnd len="sm" w="sm" type="none"/>
            </a:ln>
          </p:spPr>
        </p:cxnSp>
        <p:cxnSp>
          <p:nvCxnSpPr>
            <p:cNvPr id="788" name="Google Shape;788;g3f9ebdf94e2_0_626"/>
            <p:cNvCxnSpPr/>
            <p:nvPr/>
          </p:nvCxnSpPr>
          <p:spPr>
            <a:xfrm rot="10800000">
              <a:off x="8913840" y="2994900"/>
              <a:ext cx="255000" cy="381900"/>
            </a:xfrm>
            <a:prstGeom prst="straightConnector1">
              <a:avLst/>
            </a:prstGeom>
            <a:noFill/>
            <a:ln cap="flat" cmpd="sng" w="26450">
              <a:solidFill>
                <a:srgbClr val="000000"/>
              </a:solidFill>
              <a:prstDash val="solid"/>
              <a:round/>
              <a:headEnd len="sm" w="sm" type="none"/>
              <a:tailEnd len="sm" w="sm" type="none"/>
            </a:ln>
          </p:spPr>
        </p:cxnSp>
        <p:cxnSp>
          <p:nvCxnSpPr>
            <p:cNvPr id="789" name="Google Shape;789;g3f9ebdf94e2_0_626"/>
            <p:cNvCxnSpPr/>
            <p:nvPr/>
          </p:nvCxnSpPr>
          <p:spPr>
            <a:xfrm flipH="1" rot="10800000">
              <a:off x="5601960" y="2867340"/>
              <a:ext cx="1656000" cy="636900"/>
            </a:xfrm>
            <a:prstGeom prst="straightConnector1">
              <a:avLst/>
            </a:prstGeom>
            <a:noFill/>
            <a:ln cap="flat" cmpd="sng" w="26450">
              <a:solidFill>
                <a:srgbClr val="000000"/>
              </a:solidFill>
              <a:prstDash val="solid"/>
              <a:round/>
              <a:headEnd len="sm" w="sm" type="none"/>
              <a:tailEnd len="sm" w="sm" type="none"/>
            </a:ln>
          </p:spPr>
        </p:cxnSp>
        <p:cxnSp>
          <p:nvCxnSpPr>
            <p:cNvPr id="790" name="Google Shape;790;g3f9ebdf94e2_0_626"/>
            <p:cNvCxnSpPr/>
            <p:nvPr/>
          </p:nvCxnSpPr>
          <p:spPr>
            <a:xfrm flipH="1" rot="10800000">
              <a:off x="6748560" y="2867340"/>
              <a:ext cx="1910400" cy="636900"/>
            </a:xfrm>
            <a:prstGeom prst="straightConnector1">
              <a:avLst/>
            </a:prstGeom>
            <a:noFill/>
            <a:ln cap="flat" cmpd="sng" w="26450">
              <a:solidFill>
                <a:srgbClr val="000000"/>
              </a:solidFill>
              <a:prstDash val="solid"/>
              <a:round/>
              <a:headEnd len="sm" w="sm" type="none"/>
              <a:tailEnd len="sm" w="sm" type="none"/>
            </a:ln>
          </p:spPr>
        </p:cxnSp>
        <p:cxnSp>
          <p:nvCxnSpPr>
            <p:cNvPr id="791" name="Google Shape;791;g3f9ebdf94e2_0_626"/>
            <p:cNvCxnSpPr/>
            <p:nvPr/>
          </p:nvCxnSpPr>
          <p:spPr>
            <a:xfrm flipH="1" rot="10800000">
              <a:off x="5601960" y="3122340"/>
              <a:ext cx="381900" cy="381900"/>
            </a:xfrm>
            <a:prstGeom prst="straightConnector1">
              <a:avLst/>
            </a:prstGeom>
            <a:noFill/>
            <a:ln cap="flat" cmpd="sng" w="26450">
              <a:solidFill>
                <a:srgbClr val="808080"/>
              </a:solidFill>
              <a:prstDash val="solid"/>
              <a:round/>
              <a:headEnd len="sm" w="sm" type="none"/>
              <a:tailEnd len="sm" w="sm" type="none"/>
            </a:ln>
          </p:spPr>
        </p:cxnSp>
        <p:cxnSp>
          <p:nvCxnSpPr>
            <p:cNvPr id="792" name="Google Shape;792;g3f9ebdf94e2_0_626"/>
            <p:cNvCxnSpPr/>
            <p:nvPr/>
          </p:nvCxnSpPr>
          <p:spPr>
            <a:xfrm rot="10800000">
              <a:off x="6238680" y="3122160"/>
              <a:ext cx="255000" cy="255000"/>
            </a:xfrm>
            <a:prstGeom prst="straightConnector1">
              <a:avLst/>
            </a:prstGeom>
            <a:noFill/>
            <a:ln cap="flat" cmpd="sng" w="26450">
              <a:solidFill>
                <a:srgbClr val="808080"/>
              </a:solidFill>
              <a:prstDash val="solid"/>
              <a:round/>
              <a:headEnd len="sm" w="sm" type="none"/>
              <a:tailEnd len="sm" w="sm" type="none"/>
            </a:ln>
          </p:spPr>
        </p:cxnSp>
        <p:grpSp>
          <p:nvGrpSpPr>
            <p:cNvPr id="793" name="Google Shape;793;g3f9ebdf94e2_0_626"/>
            <p:cNvGrpSpPr/>
            <p:nvPr/>
          </p:nvGrpSpPr>
          <p:grpSpPr>
            <a:xfrm>
              <a:off x="6278400" y="3936600"/>
              <a:ext cx="714000" cy="1239360"/>
              <a:chOff x="6278400" y="3936600"/>
              <a:chExt cx="714000" cy="1239360"/>
            </a:xfrm>
          </p:grpSpPr>
          <p:pic>
            <p:nvPicPr>
              <p:cNvPr id="794" name="Google Shape;794;g3f9ebdf94e2_0_626"/>
              <p:cNvPicPr preferRelativeResize="0"/>
              <p:nvPr/>
            </p:nvPicPr>
            <p:blipFill rotWithShape="1">
              <a:blip r:embed="rId3">
                <a:alphaModFix/>
              </a:blip>
              <a:srcRect b="0" l="0" r="0" t="0"/>
              <a:stretch/>
            </p:blipFill>
            <p:spPr>
              <a:xfrm>
                <a:off x="6278400" y="3936600"/>
                <a:ext cx="605160" cy="873000"/>
              </a:xfrm>
              <a:prstGeom prst="rect">
                <a:avLst/>
              </a:prstGeom>
              <a:noFill/>
              <a:ln>
                <a:noFill/>
              </a:ln>
            </p:spPr>
          </p:pic>
          <p:sp>
            <p:nvSpPr>
              <p:cNvPr id="795" name="Google Shape;795;g3f9ebdf94e2_0_626"/>
              <p:cNvSpPr txBox="1"/>
              <p:nvPr/>
            </p:nvSpPr>
            <p:spPr>
              <a:xfrm>
                <a:off x="6355800" y="4829760"/>
                <a:ext cx="6366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King</a:t>
                </a:r>
                <a:endParaRPr b="0" sz="1600" strike="noStrike">
                  <a:latin typeface="Arial"/>
                  <a:ea typeface="Arial"/>
                  <a:cs typeface="Arial"/>
                  <a:sym typeface="Arial"/>
                </a:endParaRPr>
              </a:p>
            </p:txBody>
          </p:sp>
        </p:grpSp>
        <p:grpSp>
          <p:nvGrpSpPr>
            <p:cNvPr id="796" name="Google Shape;796;g3f9ebdf94e2_0_626"/>
            <p:cNvGrpSpPr/>
            <p:nvPr/>
          </p:nvGrpSpPr>
          <p:grpSpPr>
            <a:xfrm>
              <a:off x="5220000" y="3902040"/>
              <a:ext cx="868800" cy="1308480"/>
              <a:chOff x="5220000" y="3902040"/>
              <a:chExt cx="868800" cy="1308480"/>
            </a:xfrm>
          </p:grpSpPr>
          <p:pic>
            <p:nvPicPr>
              <p:cNvPr id="797" name="Google Shape;797;g3f9ebdf94e2_0_626"/>
              <p:cNvPicPr preferRelativeResize="0"/>
              <p:nvPr/>
            </p:nvPicPr>
            <p:blipFill rotWithShape="1">
              <a:blip r:embed="rId4">
                <a:alphaModFix/>
              </a:blip>
              <a:srcRect b="0" l="0" r="0" t="0"/>
              <a:stretch/>
            </p:blipFill>
            <p:spPr>
              <a:xfrm>
                <a:off x="5220000" y="3902040"/>
                <a:ext cx="619560" cy="941760"/>
              </a:xfrm>
              <a:prstGeom prst="rect">
                <a:avLst/>
              </a:prstGeom>
              <a:noFill/>
              <a:ln>
                <a:noFill/>
              </a:ln>
            </p:spPr>
          </p:pic>
          <p:sp>
            <p:nvSpPr>
              <p:cNvPr id="798" name="Google Shape;798;g3f9ebdf94e2_0_626"/>
              <p:cNvSpPr txBox="1"/>
              <p:nvPr/>
            </p:nvSpPr>
            <p:spPr>
              <a:xfrm>
                <a:off x="5223600" y="4864320"/>
                <a:ext cx="865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Queen</a:t>
                </a:r>
                <a:endParaRPr b="0" sz="1600" strike="noStrike">
                  <a:latin typeface="Arial"/>
                  <a:ea typeface="Arial"/>
                  <a:cs typeface="Arial"/>
                  <a:sym typeface="Arial"/>
                </a:endParaRPr>
              </a:p>
            </p:txBody>
          </p:sp>
        </p:grpSp>
        <p:pic>
          <p:nvPicPr>
            <p:cNvPr id="799" name="Google Shape;799;g3f9ebdf94e2_0_626"/>
            <p:cNvPicPr preferRelativeResize="0"/>
            <p:nvPr/>
          </p:nvPicPr>
          <p:blipFill rotWithShape="1">
            <a:blip r:embed="rId5">
              <a:alphaModFix/>
            </a:blip>
            <a:srcRect b="0" l="0" r="0" t="0"/>
            <a:stretch/>
          </p:blipFill>
          <p:spPr>
            <a:xfrm>
              <a:off x="7897320" y="3816000"/>
              <a:ext cx="743400" cy="1146600"/>
            </a:xfrm>
            <a:prstGeom prst="rect">
              <a:avLst/>
            </a:prstGeom>
            <a:noFill/>
            <a:ln>
              <a:noFill/>
            </a:ln>
          </p:spPr>
        </p:pic>
        <p:sp>
          <p:nvSpPr>
            <p:cNvPr id="800" name="Google Shape;800;g3f9ebdf94e2_0_626"/>
            <p:cNvSpPr txBox="1"/>
            <p:nvPr/>
          </p:nvSpPr>
          <p:spPr>
            <a:xfrm>
              <a:off x="7652520" y="4966560"/>
              <a:ext cx="10800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Peasant</a:t>
              </a:r>
              <a:endParaRPr b="0" sz="1600" strike="noStrike">
                <a:latin typeface="Arial"/>
                <a:ea typeface="Arial"/>
                <a:cs typeface="Arial"/>
                <a:sym typeface="Arial"/>
              </a:endParaRPr>
            </a:p>
          </p:txBody>
        </p:sp>
        <p:pic>
          <p:nvPicPr>
            <p:cNvPr id="801" name="Google Shape;801;g3f9ebdf94e2_0_626"/>
            <p:cNvPicPr preferRelativeResize="0"/>
            <p:nvPr/>
          </p:nvPicPr>
          <p:blipFill rotWithShape="1">
            <a:blip r:embed="rId6">
              <a:alphaModFix/>
            </a:blip>
            <a:srcRect b="0" l="0" r="0" t="0"/>
            <a:stretch/>
          </p:blipFill>
          <p:spPr>
            <a:xfrm>
              <a:off x="8881920" y="3784320"/>
              <a:ext cx="876961" cy="1209961"/>
            </a:xfrm>
            <a:prstGeom prst="rect">
              <a:avLst/>
            </a:prstGeom>
            <a:noFill/>
            <a:ln>
              <a:noFill/>
            </a:ln>
          </p:spPr>
        </p:pic>
        <p:sp>
          <p:nvSpPr>
            <p:cNvPr id="802" name="Google Shape;802;g3f9ebdf94e2_0_626"/>
            <p:cNvSpPr txBox="1"/>
            <p:nvPr/>
          </p:nvSpPr>
          <p:spPr>
            <a:xfrm>
              <a:off x="8959320" y="4998240"/>
              <a:ext cx="1033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Peasant</a:t>
              </a:r>
              <a:endParaRPr b="0" sz="1600" strike="noStrike">
                <a:latin typeface="Arial"/>
                <a:ea typeface="Arial"/>
                <a:cs typeface="Arial"/>
                <a:sym typeface="Arial"/>
              </a:endParaRPr>
            </a:p>
          </p:txBody>
        </p:sp>
        <p:sp>
          <p:nvSpPr>
            <p:cNvPr id="803" name="Google Shape;803;g3f9ebdf94e2_0_626"/>
            <p:cNvSpPr/>
            <p:nvPr/>
          </p:nvSpPr>
          <p:spPr>
            <a:xfrm>
              <a:off x="5275080" y="3338640"/>
              <a:ext cx="509400" cy="5094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04" name="Google Shape;804;g3f9ebdf94e2_0_626"/>
            <p:cNvSpPr/>
            <p:nvPr/>
          </p:nvSpPr>
          <p:spPr>
            <a:xfrm>
              <a:off x="8014320" y="32367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05" name="Google Shape;805;g3f9ebdf94e2_0_626"/>
            <p:cNvSpPr/>
            <p:nvPr/>
          </p:nvSpPr>
          <p:spPr>
            <a:xfrm>
              <a:off x="6326280" y="3338640"/>
              <a:ext cx="509400" cy="5094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06" name="Google Shape;806;g3f9ebdf94e2_0_626"/>
            <p:cNvSpPr/>
            <p:nvPr/>
          </p:nvSpPr>
          <p:spPr>
            <a:xfrm>
              <a:off x="9065520" y="32367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07" name="Google Shape;807;g3f9ebdf94e2_0_626"/>
            <p:cNvSpPr/>
            <p:nvPr/>
          </p:nvSpPr>
          <p:spPr>
            <a:xfrm>
              <a:off x="5856840" y="2714400"/>
              <a:ext cx="509400" cy="5097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08" name="Google Shape;808;g3f9ebdf94e2_0_626"/>
            <p:cNvSpPr/>
            <p:nvPr/>
          </p:nvSpPr>
          <p:spPr>
            <a:xfrm>
              <a:off x="7172280" y="261288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09" name="Google Shape;809;g3f9ebdf94e2_0_626"/>
            <p:cNvSpPr txBox="1"/>
            <p:nvPr/>
          </p:nvSpPr>
          <p:spPr>
            <a:xfrm>
              <a:off x="5683680" y="2397240"/>
              <a:ext cx="9411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Royalty</a:t>
              </a:r>
              <a:endParaRPr b="0" sz="1600" strike="noStrike">
                <a:latin typeface="Arial"/>
                <a:ea typeface="Arial"/>
                <a:cs typeface="Arial"/>
                <a:sym typeface="Arial"/>
              </a:endParaRPr>
            </a:p>
          </p:txBody>
        </p:sp>
        <p:sp>
          <p:nvSpPr>
            <p:cNvPr id="810" name="Google Shape;810;g3f9ebdf94e2_0_626"/>
            <p:cNvSpPr txBox="1"/>
            <p:nvPr/>
          </p:nvSpPr>
          <p:spPr>
            <a:xfrm>
              <a:off x="6932520" y="2312640"/>
              <a:ext cx="9627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Woman</a:t>
              </a:r>
              <a:endParaRPr b="0" sz="1600" strike="noStrike">
                <a:latin typeface="Arial"/>
                <a:ea typeface="Arial"/>
                <a:cs typeface="Arial"/>
                <a:sym typeface="Arial"/>
              </a:endParaRPr>
            </a:p>
          </p:txBody>
        </p:sp>
        <p:sp>
          <p:nvSpPr>
            <p:cNvPr id="811" name="Google Shape;811;g3f9ebdf94e2_0_626"/>
            <p:cNvSpPr/>
            <p:nvPr/>
          </p:nvSpPr>
          <p:spPr>
            <a:xfrm>
              <a:off x="7767360" y="172116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12" name="Google Shape;812;g3f9ebdf94e2_0_626"/>
            <p:cNvSpPr txBox="1"/>
            <p:nvPr/>
          </p:nvSpPr>
          <p:spPr>
            <a:xfrm>
              <a:off x="7587360" y="1440000"/>
              <a:ext cx="9033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Person</a:t>
              </a:r>
              <a:endParaRPr b="0" sz="1600" strike="noStrike">
                <a:latin typeface="Arial"/>
                <a:ea typeface="Arial"/>
                <a:cs typeface="Arial"/>
                <a:sym typeface="Arial"/>
              </a:endParaRPr>
            </a:p>
          </p:txBody>
        </p:sp>
        <p:sp>
          <p:nvSpPr>
            <p:cNvPr id="813" name="Google Shape;813;g3f9ebdf94e2_0_626"/>
            <p:cNvSpPr/>
            <p:nvPr/>
          </p:nvSpPr>
          <p:spPr>
            <a:xfrm>
              <a:off x="8534880" y="2612880"/>
              <a:ext cx="509400" cy="5094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14" name="Google Shape;814;g3f9ebdf94e2_0_626"/>
            <p:cNvSpPr txBox="1"/>
            <p:nvPr/>
          </p:nvSpPr>
          <p:spPr>
            <a:xfrm>
              <a:off x="8552520" y="2298960"/>
              <a:ext cx="6243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Man</a:t>
              </a:r>
              <a:endParaRPr b="0" sz="1600" strike="noStrike">
                <a:latin typeface="Arial"/>
                <a:ea typeface="Arial"/>
                <a:cs typeface="Arial"/>
                <a:sym typeface="Arial"/>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g3f9ebdf94e2_0_418"/>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pt-BR" sz="3000" strike="noStrike">
                <a:solidFill>
                  <a:srgbClr val="252323"/>
                </a:solidFill>
                <a:latin typeface="Comfortaa"/>
                <a:ea typeface="Comfortaa"/>
                <a:cs typeface="Comfortaa"/>
                <a:sym typeface="Comfortaa"/>
              </a:rPr>
              <a:t>Representing Concepts</a:t>
            </a:r>
            <a:endParaRPr b="1" sz="3000" strike="noStrike">
              <a:solidFill>
                <a:srgbClr val="252323"/>
              </a:solidFill>
              <a:latin typeface="Comfortaa"/>
              <a:ea typeface="Comfortaa"/>
              <a:cs typeface="Comfortaa"/>
              <a:sym typeface="Comfortaa"/>
            </a:endParaRPr>
          </a:p>
        </p:txBody>
      </p:sp>
      <p:grpSp>
        <p:nvGrpSpPr>
          <p:cNvPr id="820" name="Google Shape;820;g3f9ebdf94e2_0_418"/>
          <p:cNvGrpSpPr/>
          <p:nvPr/>
        </p:nvGrpSpPr>
        <p:grpSpPr>
          <a:xfrm>
            <a:off x="3479454" y="2103021"/>
            <a:ext cx="775897" cy="1459270"/>
            <a:chOff x="3835800" y="2318400"/>
            <a:chExt cx="855360" cy="1608720"/>
          </a:xfrm>
        </p:grpSpPr>
        <p:pic>
          <p:nvPicPr>
            <p:cNvPr id="821" name="Google Shape;821;g3f9ebdf94e2_0_418"/>
            <p:cNvPicPr preferRelativeResize="0"/>
            <p:nvPr/>
          </p:nvPicPr>
          <p:blipFill rotWithShape="1">
            <a:blip r:embed="rId3">
              <a:alphaModFix/>
            </a:blip>
            <a:srcRect b="0" l="0" r="0" t="0"/>
            <a:stretch/>
          </p:blipFill>
          <p:spPr>
            <a:xfrm>
              <a:off x="3835800" y="2318400"/>
              <a:ext cx="855360" cy="1233720"/>
            </a:xfrm>
            <a:prstGeom prst="rect">
              <a:avLst/>
            </a:prstGeom>
            <a:noFill/>
            <a:ln>
              <a:noFill/>
            </a:ln>
          </p:spPr>
        </p:pic>
        <p:sp>
          <p:nvSpPr>
            <p:cNvPr id="822" name="Google Shape;822;g3f9ebdf94e2_0_418"/>
            <p:cNvSpPr txBox="1"/>
            <p:nvPr/>
          </p:nvSpPr>
          <p:spPr>
            <a:xfrm>
              <a:off x="3945240" y="3580920"/>
              <a:ext cx="6366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King</a:t>
              </a:r>
              <a:endParaRPr b="0" sz="1600" strike="noStrike">
                <a:latin typeface="Arial"/>
                <a:ea typeface="Arial"/>
                <a:cs typeface="Arial"/>
                <a:sym typeface="Arial"/>
              </a:endParaRPr>
            </a:p>
          </p:txBody>
        </p:sp>
      </p:grpSp>
      <p:grpSp>
        <p:nvGrpSpPr>
          <p:cNvPr id="823" name="Google Shape;823;g3f9ebdf94e2_0_418"/>
          <p:cNvGrpSpPr/>
          <p:nvPr/>
        </p:nvGrpSpPr>
        <p:grpSpPr>
          <a:xfrm>
            <a:off x="2122614" y="2058936"/>
            <a:ext cx="794511" cy="1547113"/>
            <a:chOff x="2340000" y="2269800"/>
            <a:chExt cx="875880" cy="1705560"/>
          </a:xfrm>
        </p:grpSpPr>
        <p:pic>
          <p:nvPicPr>
            <p:cNvPr id="824" name="Google Shape;824;g3f9ebdf94e2_0_418"/>
            <p:cNvPicPr preferRelativeResize="0"/>
            <p:nvPr/>
          </p:nvPicPr>
          <p:blipFill rotWithShape="1">
            <a:blip r:embed="rId4">
              <a:alphaModFix/>
            </a:blip>
            <a:srcRect b="0" l="0" r="0" t="0"/>
            <a:stretch/>
          </p:blipFill>
          <p:spPr>
            <a:xfrm>
              <a:off x="2340000" y="2269800"/>
              <a:ext cx="875880" cy="1330560"/>
            </a:xfrm>
            <a:prstGeom prst="rect">
              <a:avLst/>
            </a:prstGeom>
            <a:noFill/>
            <a:ln>
              <a:noFill/>
            </a:ln>
          </p:spPr>
        </p:pic>
        <p:sp>
          <p:nvSpPr>
            <p:cNvPr id="825" name="Google Shape;825;g3f9ebdf94e2_0_418"/>
            <p:cNvSpPr txBox="1"/>
            <p:nvPr/>
          </p:nvSpPr>
          <p:spPr>
            <a:xfrm>
              <a:off x="2345400" y="3629160"/>
              <a:ext cx="865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Queen</a:t>
              </a:r>
              <a:endParaRPr b="0" sz="1600" strike="noStrike">
                <a:latin typeface="Arial"/>
                <a:ea typeface="Arial"/>
                <a:cs typeface="Arial"/>
                <a:sym typeface="Arial"/>
              </a:endParaRPr>
            </a:p>
          </p:txBody>
        </p:sp>
      </p:grpSp>
      <p:grpSp>
        <p:nvGrpSpPr>
          <p:cNvPr id="826" name="Google Shape;826;g3f9ebdf94e2_0_418"/>
          <p:cNvGrpSpPr/>
          <p:nvPr/>
        </p:nvGrpSpPr>
        <p:grpSpPr>
          <a:xfrm>
            <a:off x="4738328" y="1901862"/>
            <a:ext cx="952890" cy="1861424"/>
            <a:chOff x="5223600" y="2096640"/>
            <a:chExt cx="1050480" cy="2052060"/>
          </a:xfrm>
        </p:grpSpPr>
        <p:pic>
          <p:nvPicPr>
            <p:cNvPr id="827" name="Google Shape;827;g3f9ebdf94e2_0_418"/>
            <p:cNvPicPr preferRelativeResize="0"/>
            <p:nvPr/>
          </p:nvPicPr>
          <p:blipFill rotWithShape="1">
            <a:blip r:embed="rId5">
              <a:alphaModFix/>
            </a:blip>
            <a:srcRect b="0" l="0" r="0" t="0"/>
            <a:stretch/>
          </p:blipFill>
          <p:spPr>
            <a:xfrm>
              <a:off x="5223600" y="2096640"/>
              <a:ext cx="1050480" cy="1620001"/>
            </a:xfrm>
            <a:prstGeom prst="rect">
              <a:avLst/>
            </a:prstGeom>
            <a:noFill/>
            <a:ln>
              <a:noFill/>
            </a:ln>
          </p:spPr>
        </p:pic>
        <p:sp>
          <p:nvSpPr>
            <p:cNvPr id="828" name="Google Shape;828;g3f9ebdf94e2_0_418"/>
            <p:cNvSpPr txBox="1"/>
            <p:nvPr/>
          </p:nvSpPr>
          <p:spPr>
            <a:xfrm>
              <a:off x="5234040" y="3722400"/>
              <a:ext cx="1029900" cy="4263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Woman</a:t>
              </a:r>
              <a:endParaRPr b="0" sz="1600" strike="noStrike">
                <a:latin typeface="Arial"/>
                <a:ea typeface="Arial"/>
                <a:cs typeface="Arial"/>
                <a:sym typeface="Arial"/>
              </a:endParaRPr>
            </a:p>
          </p:txBody>
        </p:sp>
      </p:grpSp>
      <p:grpSp>
        <p:nvGrpSpPr>
          <p:cNvPr id="829" name="Google Shape;829;g3f9ebdf94e2_0_418"/>
          <p:cNvGrpSpPr/>
          <p:nvPr/>
        </p:nvGrpSpPr>
        <p:grpSpPr>
          <a:xfrm>
            <a:off x="6000466" y="1861369"/>
            <a:ext cx="1124006" cy="1942736"/>
            <a:chOff x="6615000" y="2052000"/>
            <a:chExt cx="1239120" cy="2141700"/>
          </a:xfrm>
        </p:grpSpPr>
        <p:pic>
          <p:nvPicPr>
            <p:cNvPr id="830" name="Google Shape;830;g3f9ebdf94e2_0_418"/>
            <p:cNvPicPr preferRelativeResize="0"/>
            <p:nvPr/>
          </p:nvPicPr>
          <p:blipFill rotWithShape="1">
            <a:blip r:embed="rId6">
              <a:alphaModFix/>
            </a:blip>
            <a:srcRect b="0" l="0" r="0" t="0"/>
            <a:stretch/>
          </p:blipFill>
          <p:spPr>
            <a:xfrm>
              <a:off x="6615000" y="2052000"/>
              <a:ext cx="1239120" cy="1709639"/>
            </a:xfrm>
            <a:prstGeom prst="rect">
              <a:avLst/>
            </a:prstGeom>
            <a:noFill/>
            <a:ln>
              <a:noFill/>
            </a:ln>
          </p:spPr>
        </p:pic>
        <p:sp>
          <p:nvSpPr>
            <p:cNvPr id="831" name="Google Shape;831;g3f9ebdf94e2_0_418"/>
            <p:cNvSpPr txBox="1"/>
            <p:nvPr/>
          </p:nvSpPr>
          <p:spPr>
            <a:xfrm>
              <a:off x="6899760" y="3767400"/>
              <a:ext cx="669900" cy="4263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Man</a:t>
              </a:r>
              <a:endParaRPr b="0" sz="1600" strike="noStrike">
                <a:latin typeface="Arial"/>
                <a:ea typeface="Arial"/>
                <a:cs typeface="Arial"/>
                <a:sym typeface="Arial"/>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cxnSp>
        <p:nvCxnSpPr>
          <p:cNvPr id="836" name="Google Shape;836;g3f9ebdf94e2_0_438"/>
          <p:cNvCxnSpPr/>
          <p:nvPr/>
        </p:nvCxnSpPr>
        <p:spPr>
          <a:xfrm flipH="1" rot="10800000">
            <a:off x="1796031" y="2285688"/>
            <a:ext cx="489900" cy="489900"/>
          </a:xfrm>
          <a:prstGeom prst="straightConnector1">
            <a:avLst/>
          </a:prstGeom>
          <a:noFill/>
          <a:ln cap="flat" cmpd="sng" w="26450">
            <a:solidFill>
              <a:srgbClr val="000000"/>
            </a:solidFill>
            <a:prstDash val="solid"/>
            <a:round/>
            <a:headEnd len="sm" w="sm" type="none"/>
            <a:tailEnd len="sm" w="sm" type="none"/>
          </a:ln>
        </p:spPr>
      </p:cxnSp>
      <p:cxnSp>
        <p:nvCxnSpPr>
          <p:cNvPr id="837" name="Google Shape;837;g3f9ebdf94e2_0_438"/>
          <p:cNvCxnSpPr/>
          <p:nvPr/>
        </p:nvCxnSpPr>
        <p:spPr>
          <a:xfrm rot="10800000">
            <a:off x="2612261" y="2285918"/>
            <a:ext cx="326700" cy="326400"/>
          </a:xfrm>
          <a:prstGeom prst="straightConnector1">
            <a:avLst/>
          </a:prstGeom>
          <a:noFill/>
          <a:ln cap="flat" cmpd="sng" w="26450">
            <a:solidFill>
              <a:srgbClr val="000000"/>
            </a:solidFill>
            <a:prstDash val="solid"/>
            <a:round/>
            <a:headEnd len="sm" w="sm" type="none"/>
            <a:tailEnd len="sm" w="sm" type="none"/>
          </a:ln>
        </p:spPr>
      </p:cxnSp>
      <p:cxnSp>
        <p:nvCxnSpPr>
          <p:cNvPr id="838" name="Google Shape;838;g3f9ebdf94e2_0_438"/>
          <p:cNvCxnSpPr/>
          <p:nvPr/>
        </p:nvCxnSpPr>
        <p:spPr>
          <a:xfrm flipH="1" rot="10800000">
            <a:off x="2612409" y="1469339"/>
            <a:ext cx="1469400" cy="489900"/>
          </a:xfrm>
          <a:prstGeom prst="straightConnector1">
            <a:avLst/>
          </a:prstGeom>
          <a:noFill/>
          <a:ln cap="flat" cmpd="sng" w="26450">
            <a:solidFill>
              <a:srgbClr val="000000"/>
            </a:solidFill>
            <a:prstDash val="solid"/>
            <a:round/>
            <a:headEnd len="sm" w="sm" type="none"/>
            <a:tailEnd len="sm" w="sm" type="none"/>
          </a:ln>
        </p:spPr>
      </p:cxnSp>
      <p:cxnSp>
        <p:nvCxnSpPr>
          <p:cNvPr id="839" name="Google Shape;839;g3f9ebdf94e2_0_438"/>
          <p:cNvCxnSpPr/>
          <p:nvPr/>
        </p:nvCxnSpPr>
        <p:spPr>
          <a:xfrm rot="10800000">
            <a:off x="4408519" y="1632748"/>
            <a:ext cx="816300" cy="816300"/>
          </a:xfrm>
          <a:prstGeom prst="straightConnector1">
            <a:avLst/>
          </a:prstGeom>
          <a:noFill/>
          <a:ln cap="flat" cmpd="sng" w="26450">
            <a:solidFill>
              <a:srgbClr val="000000"/>
            </a:solidFill>
            <a:prstDash val="solid"/>
            <a:round/>
            <a:headEnd len="sm" w="sm" type="none"/>
            <a:tailEnd len="sm" w="sm" type="none"/>
          </a:ln>
        </p:spPr>
      </p:cxnSp>
      <p:cxnSp>
        <p:nvCxnSpPr>
          <p:cNvPr id="840" name="Google Shape;840;g3f9ebdf94e2_0_438"/>
          <p:cNvCxnSpPr/>
          <p:nvPr/>
        </p:nvCxnSpPr>
        <p:spPr>
          <a:xfrm rot="10800000">
            <a:off x="4571724" y="1469548"/>
            <a:ext cx="1959300" cy="979500"/>
          </a:xfrm>
          <a:prstGeom prst="straightConnector1">
            <a:avLst/>
          </a:prstGeom>
          <a:noFill/>
          <a:ln cap="flat" cmpd="sng" w="26450">
            <a:solidFill>
              <a:srgbClr val="000000"/>
            </a:solidFill>
            <a:prstDash val="solid"/>
            <a:round/>
            <a:headEnd len="sm" w="sm" type="none"/>
            <a:tailEnd len="sm" w="sm" type="none"/>
          </a:ln>
        </p:spPr>
      </p:cxnSp>
      <p:grpSp>
        <p:nvGrpSpPr>
          <p:cNvPr id="841" name="Google Shape;841;g3f9ebdf94e2_0_438"/>
          <p:cNvGrpSpPr/>
          <p:nvPr/>
        </p:nvGrpSpPr>
        <p:grpSpPr>
          <a:xfrm>
            <a:off x="2663064" y="3329892"/>
            <a:ext cx="775897" cy="1459270"/>
            <a:chOff x="2935800" y="3670920"/>
            <a:chExt cx="855360" cy="1608720"/>
          </a:xfrm>
        </p:grpSpPr>
        <p:pic>
          <p:nvPicPr>
            <p:cNvPr id="842" name="Google Shape;842;g3f9ebdf94e2_0_438"/>
            <p:cNvPicPr preferRelativeResize="0"/>
            <p:nvPr/>
          </p:nvPicPr>
          <p:blipFill rotWithShape="1">
            <a:blip r:embed="rId3">
              <a:alphaModFix/>
            </a:blip>
            <a:srcRect b="0" l="0" r="0" t="0"/>
            <a:stretch/>
          </p:blipFill>
          <p:spPr>
            <a:xfrm>
              <a:off x="2935800" y="3670920"/>
              <a:ext cx="855360" cy="1233720"/>
            </a:xfrm>
            <a:prstGeom prst="rect">
              <a:avLst/>
            </a:prstGeom>
            <a:noFill/>
            <a:ln>
              <a:noFill/>
            </a:ln>
          </p:spPr>
        </p:pic>
        <p:sp>
          <p:nvSpPr>
            <p:cNvPr id="843" name="Google Shape;843;g3f9ebdf94e2_0_438"/>
            <p:cNvSpPr txBox="1"/>
            <p:nvPr/>
          </p:nvSpPr>
          <p:spPr>
            <a:xfrm>
              <a:off x="3045240" y="4933440"/>
              <a:ext cx="6366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King</a:t>
              </a:r>
              <a:endParaRPr b="0" sz="1600" strike="noStrike">
                <a:latin typeface="Arial"/>
                <a:ea typeface="Arial"/>
                <a:cs typeface="Arial"/>
                <a:sym typeface="Arial"/>
              </a:endParaRPr>
            </a:p>
          </p:txBody>
        </p:sp>
      </p:grpSp>
      <p:grpSp>
        <p:nvGrpSpPr>
          <p:cNvPr id="844" name="Google Shape;844;g3f9ebdf94e2_0_438"/>
          <p:cNvGrpSpPr/>
          <p:nvPr/>
        </p:nvGrpSpPr>
        <p:grpSpPr>
          <a:xfrm>
            <a:off x="1306224" y="3285806"/>
            <a:ext cx="794511" cy="1547113"/>
            <a:chOff x="1440000" y="3622320"/>
            <a:chExt cx="875880" cy="1705560"/>
          </a:xfrm>
        </p:grpSpPr>
        <p:pic>
          <p:nvPicPr>
            <p:cNvPr id="845" name="Google Shape;845;g3f9ebdf94e2_0_438"/>
            <p:cNvPicPr preferRelativeResize="0"/>
            <p:nvPr/>
          </p:nvPicPr>
          <p:blipFill rotWithShape="1">
            <a:blip r:embed="rId4">
              <a:alphaModFix/>
            </a:blip>
            <a:srcRect b="0" l="0" r="0" t="0"/>
            <a:stretch/>
          </p:blipFill>
          <p:spPr>
            <a:xfrm>
              <a:off x="1440000" y="3622320"/>
              <a:ext cx="875880" cy="1330560"/>
            </a:xfrm>
            <a:prstGeom prst="rect">
              <a:avLst/>
            </a:prstGeom>
            <a:noFill/>
            <a:ln>
              <a:noFill/>
            </a:ln>
          </p:spPr>
        </p:pic>
        <p:sp>
          <p:nvSpPr>
            <p:cNvPr id="846" name="Google Shape;846;g3f9ebdf94e2_0_438"/>
            <p:cNvSpPr txBox="1"/>
            <p:nvPr/>
          </p:nvSpPr>
          <p:spPr>
            <a:xfrm>
              <a:off x="1445400" y="4981680"/>
              <a:ext cx="865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Queen</a:t>
              </a:r>
              <a:endParaRPr b="0" sz="1600" strike="noStrike">
                <a:latin typeface="Arial"/>
                <a:ea typeface="Arial"/>
                <a:cs typeface="Arial"/>
                <a:sym typeface="Arial"/>
              </a:endParaRPr>
            </a:p>
          </p:txBody>
        </p:sp>
      </p:grpSp>
      <p:grpSp>
        <p:nvGrpSpPr>
          <p:cNvPr id="847" name="Google Shape;847;g3f9ebdf94e2_0_438"/>
          <p:cNvGrpSpPr/>
          <p:nvPr/>
        </p:nvGrpSpPr>
        <p:grpSpPr>
          <a:xfrm>
            <a:off x="4738328" y="3175431"/>
            <a:ext cx="952890" cy="1861424"/>
            <a:chOff x="5223600" y="3500640"/>
            <a:chExt cx="1050480" cy="2052060"/>
          </a:xfrm>
        </p:grpSpPr>
        <p:pic>
          <p:nvPicPr>
            <p:cNvPr id="848" name="Google Shape;848;g3f9ebdf94e2_0_438"/>
            <p:cNvPicPr preferRelativeResize="0"/>
            <p:nvPr/>
          </p:nvPicPr>
          <p:blipFill rotWithShape="1">
            <a:blip r:embed="rId5">
              <a:alphaModFix/>
            </a:blip>
            <a:srcRect b="0" l="0" r="0" t="0"/>
            <a:stretch/>
          </p:blipFill>
          <p:spPr>
            <a:xfrm>
              <a:off x="5223600" y="3500640"/>
              <a:ext cx="1050480" cy="1620001"/>
            </a:xfrm>
            <a:prstGeom prst="rect">
              <a:avLst/>
            </a:prstGeom>
            <a:noFill/>
            <a:ln>
              <a:noFill/>
            </a:ln>
          </p:spPr>
        </p:pic>
        <p:sp>
          <p:nvSpPr>
            <p:cNvPr id="849" name="Google Shape;849;g3f9ebdf94e2_0_438"/>
            <p:cNvSpPr txBox="1"/>
            <p:nvPr/>
          </p:nvSpPr>
          <p:spPr>
            <a:xfrm>
              <a:off x="5234040" y="5126400"/>
              <a:ext cx="1029900" cy="4263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Woman</a:t>
              </a:r>
              <a:endParaRPr b="0" sz="1600" strike="noStrike">
                <a:latin typeface="Arial"/>
                <a:ea typeface="Arial"/>
                <a:cs typeface="Arial"/>
                <a:sym typeface="Arial"/>
              </a:endParaRPr>
            </a:p>
          </p:txBody>
        </p:sp>
      </p:grpSp>
      <p:grpSp>
        <p:nvGrpSpPr>
          <p:cNvPr id="850" name="Google Shape;850;g3f9ebdf94e2_0_438"/>
          <p:cNvGrpSpPr/>
          <p:nvPr/>
        </p:nvGrpSpPr>
        <p:grpSpPr>
          <a:xfrm>
            <a:off x="6000466" y="3134938"/>
            <a:ext cx="1124006" cy="1942736"/>
            <a:chOff x="6615000" y="3456000"/>
            <a:chExt cx="1239120" cy="2141700"/>
          </a:xfrm>
        </p:grpSpPr>
        <p:pic>
          <p:nvPicPr>
            <p:cNvPr id="851" name="Google Shape;851;g3f9ebdf94e2_0_438"/>
            <p:cNvPicPr preferRelativeResize="0"/>
            <p:nvPr/>
          </p:nvPicPr>
          <p:blipFill rotWithShape="1">
            <a:blip r:embed="rId6">
              <a:alphaModFix/>
            </a:blip>
            <a:srcRect b="0" l="0" r="0" t="0"/>
            <a:stretch/>
          </p:blipFill>
          <p:spPr>
            <a:xfrm>
              <a:off x="6615000" y="3456000"/>
              <a:ext cx="1239120" cy="1709639"/>
            </a:xfrm>
            <a:prstGeom prst="rect">
              <a:avLst/>
            </a:prstGeom>
            <a:noFill/>
            <a:ln>
              <a:noFill/>
            </a:ln>
          </p:spPr>
        </p:pic>
        <p:sp>
          <p:nvSpPr>
            <p:cNvPr id="852" name="Google Shape;852;g3f9ebdf94e2_0_438"/>
            <p:cNvSpPr txBox="1"/>
            <p:nvPr/>
          </p:nvSpPr>
          <p:spPr>
            <a:xfrm>
              <a:off x="6899760" y="5171400"/>
              <a:ext cx="669900" cy="4263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Man</a:t>
              </a:r>
              <a:endParaRPr b="0" sz="1600" strike="noStrike">
                <a:latin typeface="Arial"/>
                <a:ea typeface="Arial"/>
                <a:cs typeface="Arial"/>
                <a:sym typeface="Arial"/>
              </a:endParaRPr>
            </a:p>
          </p:txBody>
        </p:sp>
      </p:grpSp>
      <p:sp>
        <p:nvSpPr>
          <p:cNvPr id="853" name="Google Shape;853;g3f9ebdf94e2_0_438"/>
          <p:cNvSpPr/>
          <p:nvPr/>
        </p:nvSpPr>
        <p:spPr>
          <a:xfrm>
            <a:off x="1376740" y="2563337"/>
            <a:ext cx="653100" cy="653100"/>
          </a:xfrm>
          <a:prstGeom prst="ellipse">
            <a:avLst/>
          </a:prstGeom>
          <a:solidFill>
            <a:srgbClr val="FFFFFF"/>
          </a:solidFill>
          <a:ln cap="flat" cmpd="sng" w="34600">
            <a:solidFill>
              <a:srgbClr val="3465A4"/>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54" name="Google Shape;854;g3f9ebdf94e2_0_438"/>
          <p:cNvSpPr/>
          <p:nvPr/>
        </p:nvSpPr>
        <p:spPr>
          <a:xfrm>
            <a:off x="4888145" y="2302105"/>
            <a:ext cx="653100" cy="653100"/>
          </a:xfrm>
          <a:prstGeom prst="ellipse">
            <a:avLst/>
          </a:prstGeom>
          <a:solidFill>
            <a:srgbClr val="FFFFFF"/>
          </a:solidFill>
          <a:ln cap="flat" cmpd="sng" w="34600">
            <a:solidFill>
              <a:srgbClr val="3465A4"/>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55" name="Google Shape;855;g3f9ebdf94e2_0_438"/>
          <p:cNvSpPr/>
          <p:nvPr/>
        </p:nvSpPr>
        <p:spPr>
          <a:xfrm>
            <a:off x="2724417" y="2563337"/>
            <a:ext cx="653100" cy="653100"/>
          </a:xfrm>
          <a:prstGeom prst="ellipse">
            <a:avLst/>
          </a:prstGeom>
          <a:solidFill>
            <a:srgbClr val="FFFFFF"/>
          </a:solidFill>
          <a:ln cap="flat" cmpd="sng" w="34600">
            <a:solidFill>
              <a:srgbClr val="3465A4"/>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56" name="Google Shape;856;g3f9ebdf94e2_0_438"/>
          <p:cNvSpPr/>
          <p:nvPr/>
        </p:nvSpPr>
        <p:spPr>
          <a:xfrm>
            <a:off x="6235821" y="2302105"/>
            <a:ext cx="653100" cy="653100"/>
          </a:xfrm>
          <a:prstGeom prst="ellipse">
            <a:avLst/>
          </a:prstGeom>
          <a:solidFill>
            <a:srgbClr val="FFFFFF"/>
          </a:solidFill>
          <a:ln cap="flat" cmpd="sng" w="34600">
            <a:solidFill>
              <a:srgbClr val="3465A4"/>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57" name="Google Shape;857;g3f9ebdf94e2_0_438"/>
          <p:cNvSpPr/>
          <p:nvPr/>
        </p:nvSpPr>
        <p:spPr>
          <a:xfrm>
            <a:off x="2122583" y="1763315"/>
            <a:ext cx="653100" cy="653100"/>
          </a:xfrm>
          <a:prstGeom prst="ellipse">
            <a:avLst/>
          </a:prstGeom>
          <a:solidFill>
            <a:srgbClr val="FFFFFF"/>
          </a:solidFill>
          <a:ln cap="flat" cmpd="sng" w="34600">
            <a:solidFill>
              <a:srgbClr val="3465A4"/>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58" name="Google Shape;858;g3f9ebdf94e2_0_438"/>
          <p:cNvSpPr/>
          <p:nvPr/>
        </p:nvSpPr>
        <p:spPr>
          <a:xfrm>
            <a:off x="3918614" y="1142889"/>
            <a:ext cx="653100" cy="653100"/>
          </a:xfrm>
          <a:prstGeom prst="ellipse">
            <a:avLst/>
          </a:prstGeom>
          <a:solidFill>
            <a:srgbClr val="FFFFFF"/>
          </a:solidFill>
          <a:ln cap="flat" cmpd="sng" w="34600">
            <a:solidFill>
              <a:srgbClr val="3465A4"/>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59" name="Google Shape;859;g3f9ebdf94e2_0_438"/>
          <p:cNvSpPr txBox="1"/>
          <p:nvPr/>
        </p:nvSpPr>
        <p:spPr>
          <a:xfrm>
            <a:off x="2085356" y="1449183"/>
            <a:ext cx="8538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Royalty</a:t>
            </a:r>
            <a:endParaRPr b="0" sz="1600" strike="noStrike">
              <a:latin typeface="Arial"/>
              <a:ea typeface="Arial"/>
              <a:cs typeface="Arial"/>
              <a:sym typeface="Arial"/>
            </a:endParaRPr>
          </a:p>
        </p:txBody>
      </p:sp>
      <p:sp>
        <p:nvSpPr>
          <p:cNvPr id="860" name="Google Shape;860;g3f9ebdf94e2_0_438"/>
          <p:cNvSpPr txBox="1"/>
          <p:nvPr/>
        </p:nvSpPr>
        <p:spPr>
          <a:xfrm>
            <a:off x="3918614" y="828758"/>
            <a:ext cx="8193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Person</a:t>
            </a:r>
            <a:endParaRPr b="0" sz="1600" strike="noStrike">
              <a:latin typeface="Arial"/>
              <a:ea typeface="Arial"/>
              <a:cs typeface="Arial"/>
              <a:sym typeface="Arial"/>
            </a:endParaRPr>
          </a:p>
        </p:txBody>
      </p:sp>
      <p:sp>
        <p:nvSpPr>
          <p:cNvPr id="861" name="Google Shape;861;g3f9ebdf94e2_0_438"/>
          <p:cNvSpPr txBox="1"/>
          <p:nvPr/>
        </p:nvSpPr>
        <p:spPr>
          <a:xfrm>
            <a:off x="457172" y="101880"/>
            <a:ext cx="2155200" cy="49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pt-BR" sz="3000" strike="noStrike">
                <a:solidFill>
                  <a:srgbClr val="252323"/>
                </a:solidFill>
                <a:latin typeface="Comfortaa"/>
                <a:ea typeface="Comfortaa"/>
                <a:cs typeface="Comfortaa"/>
                <a:sym typeface="Comfortaa"/>
              </a:rPr>
              <a:t>Ontology</a:t>
            </a:r>
            <a:endParaRPr b="1" sz="3000" strike="noStrike">
              <a:solidFill>
                <a:srgbClr val="252323"/>
              </a:solidFill>
              <a:latin typeface="Comfortaa"/>
              <a:ea typeface="Comfortaa"/>
              <a:cs typeface="Comfortaa"/>
              <a:sym typeface="Comfortaa"/>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cxnSp>
        <p:nvCxnSpPr>
          <p:cNvPr id="866" name="Google Shape;866;g3f9ebdf94e2_0_467"/>
          <p:cNvCxnSpPr/>
          <p:nvPr/>
        </p:nvCxnSpPr>
        <p:spPr>
          <a:xfrm flipH="1" rot="10800000">
            <a:off x="4245165" y="979669"/>
            <a:ext cx="489900" cy="816300"/>
          </a:xfrm>
          <a:prstGeom prst="straightConnector1">
            <a:avLst/>
          </a:prstGeom>
          <a:noFill/>
          <a:ln cap="flat" cmpd="sng" w="26450">
            <a:solidFill>
              <a:srgbClr val="000000"/>
            </a:solidFill>
            <a:prstDash val="solid"/>
            <a:round/>
            <a:headEnd len="sm" w="sm" type="none"/>
            <a:tailEnd len="sm" w="sm" type="none"/>
          </a:ln>
        </p:spPr>
      </p:cxnSp>
      <p:cxnSp>
        <p:nvCxnSpPr>
          <p:cNvPr id="867" name="Google Shape;867;g3f9ebdf94e2_0_467"/>
          <p:cNvCxnSpPr/>
          <p:nvPr/>
        </p:nvCxnSpPr>
        <p:spPr>
          <a:xfrm rot="10800000">
            <a:off x="5061546" y="979669"/>
            <a:ext cx="653100" cy="816300"/>
          </a:xfrm>
          <a:prstGeom prst="straightConnector1">
            <a:avLst/>
          </a:prstGeom>
          <a:noFill/>
          <a:ln cap="flat" cmpd="sng" w="26450">
            <a:solidFill>
              <a:srgbClr val="000000"/>
            </a:solidFill>
            <a:prstDash val="solid"/>
            <a:round/>
            <a:headEnd len="sm" w="sm" type="none"/>
            <a:tailEnd len="sm" w="sm" type="none"/>
          </a:ln>
        </p:spPr>
      </p:cxnSp>
      <p:cxnSp>
        <p:nvCxnSpPr>
          <p:cNvPr id="868" name="Google Shape;868;g3f9ebdf94e2_0_467"/>
          <p:cNvCxnSpPr/>
          <p:nvPr/>
        </p:nvCxnSpPr>
        <p:spPr>
          <a:xfrm rot="10800000">
            <a:off x="4245243" y="2122418"/>
            <a:ext cx="816300" cy="489900"/>
          </a:xfrm>
          <a:prstGeom prst="straightConnector1">
            <a:avLst/>
          </a:prstGeom>
          <a:noFill/>
          <a:ln cap="flat" cmpd="sng" w="26450">
            <a:solidFill>
              <a:srgbClr val="000000"/>
            </a:solidFill>
            <a:prstDash val="solid"/>
            <a:round/>
            <a:headEnd len="sm" w="sm" type="none"/>
            <a:tailEnd len="sm" w="sm" type="none"/>
          </a:ln>
        </p:spPr>
      </p:cxnSp>
      <p:cxnSp>
        <p:nvCxnSpPr>
          <p:cNvPr id="869" name="Google Shape;869;g3f9ebdf94e2_0_467"/>
          <p:cNvCxnSpPr/>
          <p:nvPr/>
        </p:nvCxnSpPr>
        <p:spPr>
          <a:xfrm rot="10800000">
            <a:off x="6041048" y="2122418"/>
            <a:ext cx="326700" cy="489900"/>
          </a:xfrm>
          <a:prstGeom prst="straightConnector1">
            <a:avLst/>
          </a:prstGeom>
          <a:noFill/>
          <a:ln cap="flat" cmpd="sng" w="26450">
            <a:solidFill>
              <a:srgbClr val="000000"/>
            </a:solidFill>
            <a:prstDash val="solid"/>
            <a:round/>
            <a:headEnd len="sm" w="sm" type="none"/>
            <a:tailEnd len="sm" w="sm" type="none"/>
          </a:ln>
        </p:spPr>
      </p:cxnSp>
      <p:cxnSp>
        <p:nvCxnSpPr>
          <p:cNvPr id="870" name="Google Shape;870;g3f9ebdf94e2_0_467"/>
          <p:cNvCxnSpPr/>
          <p:nvPr/>
        </p:nvCxnSpPr>
        <p:spPr>
          <a:xfrm flipH="1" rot="10800000">
            <a:off x="1796031" y="1959288"/>
            <a:ext cx="2122500" cy="816300"/>
          </a:xfrm>
          <a:prstGeom prst="straightConnector1">
            <a:avLst/>
          </a:prstGeom>
          <a:noFill/>
          <a:ln cap="flat" cmpd="sng" w="26450">
            <a:solidFill>
              <a:srgbClr val="000000"/>
            </a:solidFill>
            <a:prstDash val="solid"/>
            <a:round/>
            <a:headEnd len="sm" w="sm" type="none"/>
            <a:tailEnd len="sm" w="sm" type="none"/>
          </a:ln>
        </p:spPr>
      </p:cxnSp>
      <p:cxnSp>
        <p:nvCxnSpPr>
          <p:cNvPr id="871" name="Google Shape;871;g3f9ebdf94e2_0_467"/>
          <p:cNvCxnSpPr/>
          <p:nvPr/>
        </p:nvCxnSpPr>
        <p:spPr>
          <a:xfrm flipH="1" rot="10800000">
            <a:off x="3265512" y="1959288"/>
            <a:ext cx="2449200" cy="816300"/>
          </a:xfrm>
          <a:prstGeom prst="straightConnector1">
            <a:avLst/>
          </a:prstGeom>
          <a:noFill/>
          <a:ln cap="flat" cmpd="sng" w="26450">
            <a:solidFill>
              <a:srgbClr val="000000"/>
            </a:solidFill>
            <a:prstDash val="solid"/>
            <a:round/>
            <a:headEnd len="sm" w="sm" type="none"/>
            <a:tailEnd len="sm" w="sm" type="none"/>
          </a:ln>
        </p:spPr>
      </p:cxnSp>
      <p:cxnSp>
        <p:nvCxnSpPr>
          <p:cNvPr id="872" name="Google Shape;872;g3f9ebdf94e2_0_467"/>
          <p:cNvCxnSpPr/>
          <p:nvPr/>
        </p:nvCxnSpPr>
        <p:spPr>
          <a:xfrm flipH="1" rot="10800000">
            <a:off x="1796031" y="2285688"/>
            <a:ext cx="489900" cy="489900"/>
          </a:xfrm>
          <a:prstGeom prst="straightConnector1">
            <a:avLst/>
          </a:prstGeom>
          <a:noFill/>
          <a:ln cap="flat" cmpd="sng" w="26450">
            <a:solidFill>
              <a:srgbClr val="808080"/>
            </a:solidFill>
            <a:prstDash val="solid"/>
            <a:round/>
            <a:headEnd len="sm" w="sm" type="none"/>
            <a:tailEnd len="sm" w="sm" type="none"/>
          </a:ln>
        </p:spPr>
      </p:cxnSp>
      <p:cxnSp>
        <p:nvCxnSpPr>
          <p:cNvPr id="873" name="Google Shape;873;g3f9ebdf94e2_0_467"/>
          <p:cNvCxnSpPr/>
          <p:nvPr/>
        </p:nvCxnSpPr>
        <p:spPr>
          <a:xfrm rot="10800000">
            <a:off x="2612261" y="2285918"/>
            <a:ext cx="326700" cy="326400"/>
          </a:xfrm>
          <a:prstGeom prst="straightConnector1">
            <a:avLst/>
          </a:prstGeom>
          <a:noFill/>
          <a:ln cap="flat" cmpd="sng" w="26450">
            <a:solidFill>
              <a:srgbClr val="808080"/>
            </a:solidFill>
            <a:prstDash val="solid"/>
            <a:round/>
            <a:headEnd len="sm" w="sm" type="none"/>
            <a:tailEnd len="sm" w="sm" type="none"/>
          </a:ln>
        </p:spPr>
      </p:cxnSp>
      <p:sp>
        <p:nvSpPr>
          <p:cNvPr id="874" name="Google Shape;874;g3f9ebdf94e2_0_467"/>
          <p:cNvSpPr txBox="1"/>
          <p:nvPr/>
        </p:nvSpPr>
        <p:spPr>
          <a:xfrm>
            <a:off x="457172" y="101880"/>
            <a:ext cx="2155200" cy="49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pt-BR" sz="3000" strike="noStrike">
                <a:solidFill>
                  <a:srgbClr val="252323"/>
                </a:solidFill>
                <a:latin typeface="Comfortaa"/>
                <a:ea typeface="Comfortaa"/>
                <a:cs typeface="Comfortaa"/>
                <a:sym typeface="Comfortaa"/>
              </a:rPr>
              <a:t>Ontology</a:t>
            </a:r>
            <a:endParaRPr b="1" sz="3000" strike="noStrike">
              <a:solidFill>
                <a:srgbClr val="252323"/>
              </a:solidFill>
              <a:latin typeface="Comfortaa"/>
              <a:ea typeface="Comfortaa"/>
              <a:cs typeface="Comfortaa"/>
              <a:sym typeface="Comfortaa"/>
            </a:endParaRPr>
          </a:p>
        </p:txBody>
      </p:sp>
      <p:grpSp>
        <p:nvGrpSpPr>
          <p:cNvPr id="875" name="Google Shape;875;g3f9ebdf94e2_0_467"/>
          <p:cNvGrpSpPr/>
          <p:nvPr/>
        </p:nvGrpSpPr>
        <p:grpSpPr>
          <a:xfrm>
            <a:off x="2663064" y="3329892"/>
            <a:ext cx="775897" cy="1459270"/>
            <a:chOff x="2935800" y="3670920"/>
            <a:chExt cx="855360" cy="1608720"/>
          </a:xfrm>
        </p:grpSpPr>
        <p:pic>
          <p:nvPicPr>
            <p:cNvPr id="876" name="Google Shape;876;g3f9ebdf94e2_0_467"/>
            <p:cNvPicPr preferRelativeResize="0"/>
            <p:nvPr/>
          </p:nvPicPr>
          <p:blipFill rotWithShape="1">
            <a:blip r:embed="rId3">
              <a:alphaModFix/>
            </a:blip>
            <a:srcRect b="0" l="0" r="0" t="0"/>
            <a:stretch/>
          </p:blipFill>
          <p:spPr>
            <a:xfrm>
              <a:off x="2935800" y="3670920"/>
              <a:ext cx="855360" cy="1233720"/>
            </a:xfrm>
            <a:prstGeom prst="rect">
              <a:avLst/>
            </a:prstGeom>
            <a:noFill/>
            <a:ln>
              <a:noFill/>
            </a:ln>
          </p:spPr>
        </p:pic>
        <p:sp>
          <p:nvSpPr>
            <p:cNvPr id="877" name="Google Shape;877;g3f9ebdf94e2_0_467"/>
            <p:cNvSpPr txBox="1"/>
            <p:nvPr/>
          </p:nvSpPr>
          <p:spPr>
            <a:xfrm>
              <a:off x="3045240" y="4933440"/>
              <a:ext cx="6366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King</a:t>
              </a:r>
              <a:endParaRPr b="0" sz="1600" strike="noStrike">
                <a:latin typeface="Arial"/>
                <a:ea typeface="Arial"/>
                <a:cs typeface="Arial"/>
                <a:sym typeface="Arial"/>
              </a:endParaRPr>
            </a:p>
          </p:txBody>
        </p:sp>
      </p:grpSp>
      <p:grpSp>
        <p:nvGrpSpPr>
          <p:cNvPr id="878" name="Google Shape;878;g3f9ebdf94e2_0_467"/>
          <p:cNvGrpSpPr/>
          <p:nvPr/>
        </p:nvGrpSpPr>
        <p:grpSpPr>
          <a:xfrm>
            <a:off x="1306224" y="3285806"/>
            <a:ext cx="794511" cy="1547113"/>
            <a:chOff x="1440000" y="3622320"/>
            <a:chExt cx="875880" cy="1705560"/>
          </a:xfrm>
        </p:grpSpPr>
        <p:pic>
          <p:nvPicPr>
            <p:cNvPr id="879" name="Google Shape;879;g3f9ebdf94e2_0_467"/>
            <p:cNvPicPr preferRelativeResize="0"/>
            <p:nvPr/>
          </p:nvPicPr>
          <p:blipFill rotWithShape="1">
            <a:blip r:embed="rId4">
              <a:alphaModFix/>
            </a:blip>
            <a:srcRect b="0" l="0" r="0" t="0"/>
            <a:stretch/>
          </p:blipFill>
          <p:spPr>
            <a:xfrm>
              <a:off x="1440000" y="3622320"/>
              <a:ext cx="875880" cy="1330560"/>
            </a:xfrm>
            <a:prstGeom prst="rect">
              <a:avLst/>
            </a:prstGeom>
            <a:noFill/>
            <a:ln>
              <a:noFill/>
            </a:ln>
          </p:spPr>
        </p:pic>
        <p:sp>
          <p:nvSpPr>
            <p:cNvPr id="880" name="Google Shape;880;g3f9ebdf94e2_0_467"/>
            <p:cNvSpPr txBox="1"/>
            <p:nvPr/>
          </p:nvSpPr>
          <p:spPr>
            <a:xfrm>
              <a:off x="1445400" y="4981680"/>
              <a:ext cx="865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Queen</a:t>
              </a:r>
              <a:endParaRPr b="0" sz="1600" strike="noStrike">
                <a:latin typeface="Arial"/>
                <a:ea typeface="Arial"/>
                <a:cs typeface="Arial"/>
                <a:sym typeface="Arial"/>
              </a:endParaRPr>
            </a:p>
          </p:txBody>
        </p:sp>
      </p:grpSp>
      <p:pic>
        <p:nvPicPr>
          <p:cNvPr id="881" name="Google Shape;881;g3f9ebdf94e2_0_467"/>
          <p:cNvPicPr preferRelativeResize="0"/>
          <p:nvPr/>
        </p:nvPicPr>
        <p:blipFill rotWithShape="1">
          <a:blip r:embed="rId5">
            <a:alphaModFix/>
          </a:blip>
          <a:srcRect b="0" l="0" r="0" t="0"/>
          <a:stretch/>
        </p:blipFill>
        <p:spPr>
          <a:xfrm>
            <a:off x="4738258" y="3175273"/>
            <a:ext cx="952842" cy="1469431"/>
          </a:xfrm>
          <a:prstGeom prst="rect">
            <a:avLst/>
          </a:prstGeom>
          <a:noFill/>
          <a:ln>
            <a:noFill/>
          </a:ln>
        </p:spPr>
      </p:pic>
      <p:sp>
        <p:nvSpPr>
          <p:cNvPr id="882" name="Google Shape;882;g3f9ebdf94e2_0_467"/>
          <p:cNvSpPr txBox="1"/>
          <p:nvPr/>
        </p:nvSpPr>
        <p:spPr>
          <a:xfrm>
            <a:off x="4747728" y="4649926"/>
            <a:ext cx="934200" cy="3867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Peasant</a:t>
            </a:r>
            <a:endParaRPr b="0" sz="1600" strike="noStrike">
              <a:latin typeface="Arial"/>
              <a:ea typeface="Arial"/>
              <a:cs typeface="Arial"/>
              <a:sym typeface="Arial"/>
            </a:endParaRPr>
          </a:p>
        </p:txBody>
      </p:sp>
      <p:pic>
        <p:nvPicPr>
          <p:cNvPr id="883" name="Google Shape;883;g3f9ebdf94e2_0_467"/>
          <p:cNvPicPr preferRelativeResize="0"/>
          <p:nvPr/>
        </p:nvPicPr>
        <p:blipFill rotWithShape="1">
          <a:blip r:embed="rId6">
            <a:alphaModFix/>
          </a:blip>
          <a:srcRect b="0" l="0" r="0" t="0"/>
          <a:stretch/>
        </p:blipFill>
        <p:spPr>
          <a:xfrm>
            <a:off x="6000378" y="3134782"/>
            <a:ext cx="1123951" cy="1550738"/>
          </a:xfrm>
          <a:prstGeom prst="rect">
            <a:avLst/>
          </a:prstGeom>
          <a:noFill/>
          <a:ln>
            <a:noFill/>
          </a:ln>
        </p:spPr>
      </p:pic>
      <p:sp>
        <p:nvSpPr>
          <p:cNvPr id="884" name="Google Shape;884;g3f9ebdf94e2_0_467"/>
          <p:cNvSpPr txBox="1"/>
          <p:nvPr/>
        </p:nvSpPr>
        <p:spPr>
          <a:xfrm>
            <a:off x="6099650" y="4690744"/>
            <a:ext cx="9255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Peasant</a:t>
            </a:r>
            <a:endParaRPr b="0" sz="1600" strike="noStrike">
              <a:latin typeface="Arial"/>
              <a:ea typeface="Arial"/>
              <a:cs typeface="Arial"/>
              <a:sym typeface="Arial"/>
            </a:endParaRPr>
          </a:p>
        </p:txBody>
      </p:sp>
      <p:sp>
        <p:nvSpPr>
          <p:cNvPr id="885" name="Google Shape;885;g3f9ebdf94e2_0_467"/>
          <p:cNvSpPr/>
          <p:nvPr/>
        </p:nvSpPr>
        <p:spPr>
          <a:xfrm>
            <a:off x="1376740" y="2563337"/>
            <a:ext cx="653100" cy="6531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86" name="Google Shape;886;g3f9ebdf94e2_0_467"/>
          <p:cNvSpPr/>
          <p:nvPr/>
        </p:nvSpPr>
        <p:spPr>
          <a:xfrm>
            <a:off x="4888145" y="2432721"/>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87" name="Google Shape;887;g3f9ebdf94e2_0_467"/>
          <p:cNvSpPr/>
          <p:nvPr/>
        </p:nvSpPr>
        <p:spPr>
          <a:xfrm>
            <a:off x="2724417" y="2563337"/>
            <a:ext cx="653100" cy="6531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88" name="Google Shape;888;g3f9ebdf94e2_0_467"/>
          <p:cNvSpPr/>
          <p:nvPr/>
        </p:nvSpPr>
        <p:spPr>
          <a:xfrm>
            <a:off x="6235821" y="2432721"/>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89" name="Google Shape;889;g3f9ebdf94e2_0_467"/>
          <p:cNvSpPr/>
          <p:nvPr/>
        </p:nvSpPr>
        <p:spPr>
          <a:xfrm>
            <a:off x="2122583" y="1763315"/>
            <a:ext cx="653100" cy="653100"/>
          </a:xfrm>
          <a:prstGeom prst="ellipse">
            <a:avLst/>
          </a:prstGeom>
          <a:solidFill>
            <a:srgbClr val="FFFFFF"/>
          </a:solidFill>
          <a:ln cap="flat" cmpd="sng" w="34600">
            <a:solidFill>
              <a:srgbClr val="80808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90" name="Google Shape;890;g3f9ebdf94e2_0_467"/>
          <p:cNvSpPr/>
          <p:nvPr/>
        </p:nvSpPr>
        <p:spPr>
          <a:xfrm>
            <a:off x="3808566" y="1632699"/>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91" name="Google Shape;891;g3f9ebdf94e2_0_467"/>
          <p:cNvSpPr txBox="1"/>
          <p:nvPr/>
        </p:nvSpPr>
        <p:spPr>
          <a:xfrm>
            <a:off x="2085356" y="1449183"/>
            <a:ext cx="8538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Royalty</a:t>
            </a:r>
            <a:endParaRPr b="0" sz="1600" strike="noStrike">
              <a:latin typeface="Arial"/>
              <a:ea typeface="Arial"/>
              <a:cs typeface="Arial"/>
              <a:sym typeface="Arial"/>
            </a:endParaRPr>
          </a:p>
        </p:txBody>
      </p:sp>
      <p:sp>
        <p:nvSpPr>
          <p:cNvPr id="892" name="Google Shape;892;g3f9ebdf94e2_0_467"/>
          <p:cNvSpPr txBox="1"/>
          <p:nvPr/>
        </p:nvSpPr>
        <p:spPr>
          <a:xfrm>
            <a:off x="3698519" y="1318568"/>
            <a:ext cx="8733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Woman</a:t>
            </a:r>
            <a:endParaRPr b="0" sz="1600" strike="noStrike">
              <a:latin typeface="Arial"/>
              <a:ea typeface="Arial"/>
              <a:cs typeface="Arial"/>
              <a:sym typeface="Arial"/>
            </a:endParaRPr>
          </a:p>
        </p:txBody>
      </p:sp>
      <p:sp>
        <p:nvSpPr>
          <p:cNvPr id="893" name="Google Shape;893;g3f9ebdf94e2_0_467"/>
          <p:cNvSpPr/>
          <p:nvPr/>
        </p:nvSpPr>
        <p:spPr>
          <a:xfrm>
            <a:off x="4571717" y="489810"/>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94" name="Google Shape;894;g3f9ebdf94e2_0_467"/>
          <p:cNvSpPr txBox="1"/>
          <p:nvPr/>
        </p:nvSpPr>
        <p:spPr>
          <a:xfrm>
            <a:off x="4571717" y="175678"/>
            <a:ext cx="8193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Person</a:t>
            </a:r>
            <a:endParaRPr b="0" sz="1600" strike="noStrike">
              <a:latin typeface="Arial"/>
              <a:ea typeface="Arial"/>
              <a:cs typeface="Arial"/>
              <a:sym typeface="Arial"/>
            </a:endParaRPr>
          </a:p>
        </p:txBody>
      </p:sp>
      <p:sp>
        <p:nvSpPr>
          <p:cNvPr id="895" name="Google Shape;895;g3f9ebdf94e2_0_467"/>
          <p:cNvSpPr/>
          <p:nvPr/>
        </p:nvSpPr>
        <p:spPr>
          <a:xfrm>
            <a:off x="5555615" y="1632699"/>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896" name="Google Shape;896;g3f9ebdf94e2_0_467"/>
          <p:cNvSpPr txBox="1"/>
          <p:nvPr/>
        </p:nvSpPr>
        <p:spPr>
          <a:xfrm>
            <a:off x="5599047" y="1318568"/>
            <a:ext cx="5664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Man</a:t>
            </a:r>
            <a:endParaRPr b="0" sz="1600" strike="noStrike">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cxnSp>
        <p:nvCxnSpPr>
          <p:cNvPr id="901" name="Google Shape;901;g3f9ebdf94e2_0_501"/>
          <p:cNvCxnSpPr/>
          <p:nvPr/>
        </p:nvCxnSpPr>
        <p:spPr>
          <a:xfrm flipH="1" rot="10800000">
            <a:off x="1796031" y="2285688"/>
            <a:ext cx="489900" cy="489900"/>
          </a:xfrm>
          <a:prstGeom prst="straightConnector1">
            <a:avLst/>
          </a:prstGeom>
          <a:noFill/>
          <a:ln cap="flat" cmpd="sng" w="26450">
            <a:solidFill>
              <a:srgbClr val="000000"/>
            </a:solidFill>
            <a:prstDash val="solid"/>
            <a:round/>
            <a:headEnd len="sm" w="sm" type="none"/>
            <a:tailEnd len="sm" w="sm" type="none"/>
          </a:ln>
        </p:spPr>
      </p:cxnSp>
      <p:cxnSp>
        <p:nvCxnSpPr>
          <p:cNvPr id="902" name="Google Shape;902;g3f9ebdf94e2_0_501"/>
          <p:cNvCxnSpPr/>
          <p:nvPr/>
        </p:nvCxnSpPr>
        <p:spPr>
          <a:xfrm rot="10800000">
            <a:off x="2612261" y="2285918"/>
            <a:ext cx="326700" cy="326400"/>
          </a:xfrm>
          <a:prstGeom prst="straightConnector1">
            <a:avLst/>
          </a:prstGeom>
          <a:noFill/>
          <a:ln cap="flat" cmpd="sng" w="26450">
            <a:solidFill>
              <a:srgbClr val="000000"/>
            </a:solidFill>
            <a:prstDash val="solid"/>
            <a:round/>
            <a:headEnd len="sm" w="sm" type="none"/>
            <a:tailEnd len="sm" w="sm" type="none"/>
          </a:ln>
        </p:spPr>
      </p:cxnSp>
      <p:cxnSp>
        <p:nvCxnSpPr>
          <p:cNvPr id="903" name="Google Shape;903;g3f9ebdf94e2_0_501"/>
          <p:cNvCxnSpPr/>
          <p:nvPr/>
        </p:nvCxnSpPr>
        <p:spPr>
          <a:xfrm flipH="1" rot="10800000">
            <a:off x="2612409" y="1469339"/>
            <a:ext cx="1469400" cy="489900"/>
          </a:xfrm>
          <a:prstGeom prst="straightConnector1">
            <a:avLst/>
          </a:prstGeom>
          <a:noFill/>
          <a:ln cap="flat" cmpd="sng" w="26450">
            <a:solidFill>
              <a:srgbClr val="000000"/>
            </a:solidFill>
            <a:prstDash val="solid"/>
            <a:round/>
            <a:headEnd len="sm" w="sm" type="none"/>
            <a:tailEnd len="sm" w="sm" type="none"/>
          </a:ln>
        </p:spPr>
      </p:cxnSp>
      <p:cxnSp>
        <p:nvCxnSpPr>
          <p:cNvPr id="904" name="Google Shape;904;g3f9ebdf94e2_0_501"/>
          <p:cNvCxnSpPr/>
          <p:nvPr/>
        </p:nvCxnSpPr>
        <p:spPr>
          <a:xfrm rot="10800000">
            <a:off x="4408519" y="1632748"/>
            <a:ext cx="816300" cy="816300"/>
          </a:xfrm>
          <a:prstGeom prst="straightConnector1">
            <a:avLst/>
          </a:prstGeom>
          <a:noFill/>
          <a:ln cap="flat" cmpd="sng" w="26450">
            <a:solidFill>
              <a:srgbClr val="000000"/>
            </a:solidFill>
            <a:prstDash val="solid"/>
            <a:round/>
            <a:headEnd len="sm" w="sm" type="none"/>
            <a:tailEnd len="sm" w="sm" type="none"/>
          </a:ln>
        </p:spPr>
      </p:cxnSp>
      <p:cxnSp>
        <p:nvCxnSpPr>
          <p:cNvPr id="905" name="Google Shape;905;g3f9ebdf94e2_0_501"/>
          <p:cNvCxnSpPr/>
          <p:nvPr/>
        </p:nvCxnSpPr>
        <p:spPr>
          <a:xfrm rot="10800000">
            <a:off x="4571724" y="1469548"/>
            <a:ext cx="1959300" cy="979500"/>
          </a:xfrm>
          <a:prstGeom prst="straightConnector1">
            <a:avLst/>
          </a:prstGeom>
          <a:noFill/>
          <a:ln cap="flat" cmpd="sng" w="26450">
            <a:solidFill>
              <a:srgbClr val="000000"/>
            </a:solidFill>
            <a:prstDash val="solid"/>
            <a:round/>
            <a:headEnd len="sm" w="sm" type="none"/>
            <a:tailEnd len="sm" w="sm" type="none"/>
          </a:ln>
        </p:spPr>
      </p:cxnSp>
      <p:grpSp>
        <p:nvGrpSpPr>
          <p:cNvPr id="906" name="Google Shape;906;g3f9ebdf94e2_0_501"/>
          <p:cNvGrpSpPr/>
          <p:nvPr/>
        </p:nvGrpSpPr>
        <p:grpSpPr>
          <a:xfrm>
            <a:off x="2663064" y="3329892"/>
            <a:ext cx="775897" cy="1459270"/>
            <a:chOff x="2935800" y="3670920"/>
            <a:chExt cx="855360" cy="1608720"/>
          </a:xfrm>
        </p:grpSpPr>
        <p:pic>
          <p:nvPicPr>
            <p:cNvPr id="907" name="Google Shape;907;g3f9ebdf94e2_0_501"/>
            <p:cNvPicPr preferRelativeResize="0"/>
            <p:nvPr/>
          </p:nvPicPr>
          <p:blipFill rotWithShape="1">
            <a:blip r:embed="rId3">
              <a:alphaModFix/>
            </a:blip>
            <a:srcRect b="0" l="0" r="0" t="0"/>
            <a:stretch/>
          </p:blipFill>
          <p:spPr>
            <a:xfrm>
              <a:off x="2935800" y="3670920"/>
              <a:ext cx="855360" cy="1233720"/>
            </a:xfrm>
            <a:prstGeom prst="rect">
              <a:avLst/>
            </a:prstGeom>
            <a:noFill/>
            <a:ln>
              <a:noFill/>
            </a:ln>
          </p:spPr>
        </p:pic>
        <p:sp>
          <p:nvSpPr>
            <p:cNvPr id="908" name="Google Shape;908;g3f9ebdf94e2_0_501"/>
            <p:cNvSpPr txBox="1"/>
            <p:nvPr/>
          </p:nvSpPr>
          <p:spPr>
            <a:xfrm>
              <a:off x="3045240" y="4933440"/>
              <a:ext cx="6366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King</a:t>
              </a:r>
              <a:endParaRPr b="0" sz="1600" strike="noStrike">
                <a:latin typeface="Arial"/>
                <a:ea typeface="Arial"/>
                <a:cs typeface="Arial"/>
                <a:sym typeface="Arial"/>
              </a:endParaRPr>
            </a:p>
          </p:txBody>
        </p:sp>
      </p:grpSp>
      <p:grpSp>
        <p:nvGrpSpPr>
          <p:cNvPr id="909" name="Google Shape;909;g3f9ebdf94e2_0_501"/>
          <p:cNvGrpSpPr/>
          <p:nvPr/>
        </p:nvGrpSpPr>
        <p:grpSpPr>
          <a:xfrm>
            <a:off x="1306224" y="3285806"/>
            <a:ext cx="794511" cy="1547113"/>
            <a:chOff x="1440000" y="3622320"/>
            <a:chExt cx="875880" cy="1705560"/>
          </a:xfrm>
        </p:grpSpPr>
        <p:pic>
          <p:nvPicPr>
            <p:cNvPr id="910" name="Google Shape;910;g3f9ebdf94e2_0_501"/>
            <p:cNvPicPr preferRelativeResize="0"/>
            <p:nvPr/>
          </p:nvPicPr>
          <p:blipFill rotWithShape="1">
            <a:blip r:embed="rId4">
              <a:alphaModFix/>
            </a:blip>
            <a:srcRect b="0" l="0" r="0" t="0"/>
            <a:stretch/>
          </p:blipFill>
          <p:spPr>
            <a:xfrm>
              <a:off x="1440000" y="3622320"/>
              <a:ext cx="875880" cy="1330560"/>
            </a:xfrm>
            <a:prstGeom prst="rect">
              <a:avLst/>
            </a:prstGeom>
            <a:noFill/>
            <a:ln>
              <a:noFill/>
            </a:ln>
          </p:spPr>
        </p:pic>
        <p:sp>
          <p:nvSpPr>
            <p:cNvPr id="911" name="Google Shape;911;g3f9ebdf94e2_0_501"/>
            <p:cNvSpPr txBox="1"/>
            <p:nvPr/>
          </p:nvSpPr>
          <p:spPr>
            <a:xfrm>
              <a:off x="1445400" y="4981680"/>
              <a:ext cx="865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Queen</a:t>
              </a:r>
              <a:endParaRPr b="0" sz="1600" strike="noStrike">
                <a:latin typeface="Arial"/>
                <a:ea typeface="Arial"/>
                <a:cs typeface="Arial"/>
                <a:sym typeface="Arial"/>
              </a:endParaRPr>
            </a:p>
          </p:txBody>
        </p:sp>
      </p:grpSp>
      <p:grpSp>
        <p:nvGrpSpPr>
          <p:cNvPr id="912" name="Google Shape;912;g3f9ebdf94e2_0_501"/>
          <p:cNvGrpSpPr/>
          <p:nvPr/>
        </p:nvGrpSpPr>
        <p:grpSpPr>
          <a:xfrm>
            <a:off x="4738328" y="3175431"/>
            <a:ext cx="952890" cy="1861424"/>
            <a:chOff x="5223600" y="3500640"/>
            <a:chExt cx="1050480" cy="2052060"/>
          </a:xfrm>
        </p:grpSpPr>
        <p:pic>
          <p:nvPicPr>
            <p:cNvPr id="913" name="Google Shape;913;g3f9ebdf94e2_0_501"/>
            <p:cNvPicPr preferRelativeResize="0"/>
            <p:nvPr/>
          </p:nvPicPr>
          <p:blipFill rotWithShape="1">
            <a:blip r:embed="rId5">
              <a:alphaModFix/>
            </a:blip>
            <a:srcRect b="0" l="0" r="0" t="0"/>
            <a:stretch/>
          </p:blipFill>
          <p:spPr>
            <a:xfrm>
              <a:off x="5223600" y="3500640"/>
              <a:ext cx="1050480" cy="1620001"/>
            </a:xfrm>
            <a:prstGeom prst="rect">
              <a:avLst/>
            </a:prstGeom>
            <a:noFill/>
            <a:ln>
              <a:noFill/>
            </a:ln>
          </p:spPr>
        </p:pic>
        <p:sp>
          <p:nvSpPr>
            <p:cNvPr id="914" name="Google Shape;914;g3f9ebdf94e2_0_501"/>
            <p:cNvSpPr txBox="1"/>
            <p:nvPr/>
          </p:nvSpPr>
          <p:spPr>
            <a:xfrm>
              <a:off x="5234040" y="5126400"/>
              <a:ext cx="1029900" cy="4263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Woman</a:t>
              </a:r>
              <a:endParaRPr b="0" sz="1600" strike="noStrike">
                <a:latin typeface="Arial"/>
                <a:ea typeface="Arial"/>
                <a:cs typeface="Arial"/>
                <a:sym typeface="Arial"/>
              </a:endParaRPr>
            </a:p>
          </p:txBody>
        </p:sp>
      </p:grpSp>
      <p:grpSp>
        <p:nvGrpSpPr>
          <p:cNvPr id="915" name="Google Shape;915;g3f9ebdf94e2_0_501"/>
          <p:cNvGrpSpPr/>
          <p:nvPr/>
        </p:nvGrpSpPr>
        <p:grpSpPr>
          <a:xfrm>
            <a:off x="6000466" y="3134938"/>
            <a:ext cx="1124006" cy="1942736"/>
            <a:chOff x="6615000" y="3456000"/>
            <a:chExt cx="1239120" cy="2141700"/>
          </a:xfrm>
        </p:grpSpPr>
        <p:pic>
          <p:nvPicPr>
            <p:cNvPr id="916" name="Google Shape;916;g3f9ebdf94e2_0_501"/>
            <p:cNvPicPr preferRelativeResize="0"/>
            <p:nvPr/>
          </p:nvPicPr>
          <p:blipFill rotWithShape="1">
            <a:blip r:embed="rId6">
              <a:alphaModFix/>
            </a:blip>
            <a:srcRect b="0" l="0" r="0" t="0"/>
            <a:stretch/>
          </p:blipFill>
          <p:spPr>
            <a:xfrm>
              <a:off x="6615000" y="3456000"/>
              <a:ext cx="1239120" cy="1709639"/>
            </a:xfrm>
            <a:prstGeom prst="rect">
              <a:avLst/>
            </a:prstGeom>
            <a:noFill/>
            <a:ln>
              <a:noFill/>
            </a:ln>
          </p:spPr>
        </p:pic>
        <p:sp>
          <p:nvSpPr>
            <p:cNvPr id="917" name="Google Shape;917;g3f9ebdf94e2_0_501"/>
            <p:cNvSpPr txBox="1"/>
            <p:nvPr/>
          </p:nvSpPr>
          <p:spPr>
            <a:xfrm>
              <a:off x="6899760" y="5171400"/>
              <a:ext cx="669900" cy="4263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Man</a:t>
              </a:r>
              <a:endParaRPr b="0" sz="1600" strike="noStrike">
                <a:latin typeface="Arial"/>
                <a:ea typeface="Arial"/>
                <a:cs typeface="Arial"/>
                <a:sym typeface="Arial"/>
              </a:endParaRPr>
            </a:p>
          </p:txBody>
        </p:sp>
      </p:grpSp>
      <p:sp>
        <p:nvSpPr>
          <p:cNvPr id="918" name="Google Shape;918;g3f9ebdf94e2_0_501"/>
          <p:cNvSpPr/>
          <p:nvPr/>
        </p:nvSpPr>
        <p:spPr>
          <a:xfrm>
            <a:off x="1376740" y="2563337"/>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19" name="Google Shape;919;g3f9ebdf94e2_0_501"/>
          <p:cNvSpPr/>
          <p:nvPr/>
        </p:nvSpPr>
        <p:spPr>
          <a:xfrm>
            <a:off x="4888145" y="2302105"/>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20" name="Google Shape;920;g3f9ebdf94e2_0_501"/>
          <p:cNvSpPr/>
          <p:nvPr/>
        </p:nvSpPr>
        <p:spPr>
          <a:xfrm>
            <a:off x="2724417" y="2563337"/>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21" name="Google Shape;921;g3f9ebdf94e2_0_501"/>
          <p:cNvSpPr/>
          <p:nvPr/>
        </p:nvSpPr>
        <p:spPr>
          <a:xfrm>
            <a:off x="6235821" y="2302105"/>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22" name="Google Shape;922;g3f9ebdf94e2_0_501"/>
          <p:cNvSpPr/>
          <p:nvPr/>
        </p:nvSpPr>
        <p:spPr>
          <a:xfrm>
            <a:off x="2122583" y="1763315"/>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23" name="Google Shape;923;g3f9ebdf94e2_0_501"/>
          <p:cNvSpPr/>
          <p:nvPr/>
        </p:nvSpPr>
        <p:spPr>
          <a:xfrm>
            <a:off x="3918614" y="1142889"/>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24" name="Google Shape;924;g3f9ebdf94e2_0_501"/>
          <p:cNvSpPr txBox="1"/>
          <p:nvPr/>
        </p:nvSpPr>
        <p:spPr>
          <a:xfrm>
            <a:off x="2085356" y="1449183"/>
            <a:ext cx="8538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Royalty</a:t>
            </a:r>
            <a:endParaRPr b="0" sz="1600" strike="noStrike">
              <a:latin typeface="Arial"/>
              <a:ea typeface="Arial"/>
              <a:cs typeface="Arial"/>
              <a:sym typeface="Arial"/>
            </a:endParaRPr>
          </a:p>
        </p:txBody>
      </p:sp>
      <p:sp>
        <p:nvSpPr>
          <p:cNvPr id="925" name="Google Shape;925;g3f9ebdf94e2_0_501"/>
          <p:cNvSpPr txBox="1"/>
          <p:nvPr/>
        </p:nvSpPr>
        <p:spPr>
          <a:xfrm>
            <a:off x="3918614" y="828758"/>
            <a:ext cx="8193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Person</a:t>
            </a:r>
            <a:endParaRPr b="0" sz="1600" strike="noStrike">
              <a:latin typeface="Arial"/>
              <a:ea typeface="Arial"/>
              <a:cs typeface="Arial"/>
              <a:sym typeface="Arial"/>
            </a:endParaRPr>
          </a:p>
        </p:txBody>
      </p:sp>
      <p:sp>
        <p:nvSpPr>
          <p:cNvPr id="926" name="Google Shape;926;g3f9ebdf94e2_0_501"/>
          <p:cNvSpPr txBox="1"/>
          <p:nvPr/>
        </p:nvSpPr>
        <p:spPr>
          <a:xfrm>
            <a:off x="457172" y="101880"/>
            <a:ext cx="2155200" cy="49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pt-BR" sz="3000" strike="noStrike">
                <a:solidFill>
                  <a:srgbClr val="252323"/>
                </a:solidFill>
                <a:latin typeface="Comfortaa"/>
                <a:ea typeface="Comfortaa"/>
                <a:cs typeface="Comfortaa"/>
                <a:sym typeface="Comfortaa"/>
              </a:rPr>
              <a:t>Ontology</a:t>
            </a:r>
            <a:endParaRPr b="1" sz="3000" strike="noStrike">
              <a:solidFill>
                <a:srgbClr val="252323"/>
              </a:solidFill>
              <a:latin typeface="Comfortaa"/>
              <a:ea typeface="Comfortaa"/>
              <a:cs typeface="Comfortaa"/>
              <a:sym typeface="Comfortaa"/>
            </a:endParaRPr>
          </a:p>
        </p:txBody>
      </p:sp>
      <p:sp>
        <p:nvSpPr>
          <p:cNvPr id="927" name="Google Shape;927;g3f9ebdf94e2_0_501"/>
          <p:cNvSpPr/>
          <p:nvPr/>
        </p:nvSpPr>
        <p:spPr>
          <a:xfrm>
            <a:off x="816378" y="2449048"/>
            <a:ext cx="816378" cy="326542"/>
          </a:xfrm>
          <a:custGeom>
            <a:rect b="b" l="l" r="r" t="t"/>
            <a:pathLst>
              <a:path extrusionOk="0" h="1002" w="2502">
                <a:moveTo>
                  <a:pt x="166" y="0"/>
                </a:moveTo>
                <a:cubicBezTo>
                  <a:pt x="83" y="0"/>
                  <a:pt x="0" y="83"/>
                  <a:pt x="0" y="166"/>
                </a:cubicBezTo>
                <a:lnTo>
                  <a:pt x="0" y="834"/>
                </a:lnTo>
                <a:cubicBezTo>
                  <a:pt x="0" y="917"/>
                  <a:pt x="83" y="1001"/>
                  <a:pt x="166" y="1001"/>
                </a:cubicBezTo>
                <a:lnTo>
                  <a:pt x="2334" y="1001"/>
                </a:lnTo>
                <a:cubicBezTo>
                  <a:pt x="2417" y="1001"/>
                  <a:pt x="2501" y="917"/>
                  <a:pt x="2501" y="834"/>
                </a:cubicBezTo>
                <a:lnTo>
                  <a:pt x="2501" y="166"/>
                </a:lnTo>
                <a:cubicBezTo>
                  <a:pt x="2501" y="83"/>
                  <a:pt x="2417" y="0"/>
                  <a:pt x="2334" y="0"/>
                </a:cubicBezTo>
                <a:lnTo>
                  <a:pt x="166" y="0"/>
                </a:lnTo>
              </a:path>
            </a:pathLst>
          </a:custGeom>
          <a:solidFill>
            <a:srgbClr val="CCCCC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female</a:t>
            </a:r>
            <a:endParaRPr b="0" sz="1600" strike="noStrike">
              <a:latin typeface="Arial"/>
              <a:ea typeface="Arial"/>
              <a:cs typeface="Arial"/>
              <a:sym typeface="Arial"/>
            </a:endParaRPr>
          </a:p>
        </p:txBody>
      </p:sp>
      <p:sp>
        <p:nvSpPr>
          <p:cNvPr id="928" name="Google Shape;928;g3f9ebdf94e2_0_501"/>
          <p:cNvSpPr/>
          <p:nvPr/>
        </p:nvSpPr>
        <p:spPr>
          <a:xfrm>
            <a:off x="3102236" y="2449048"/>
            <a:ext cx="653102" cy="326542"/>
          </a:xfrm>
          <a:custGeom>
            <a:rect b="b" l="l" r="r" t="t"/>
            <a:pathLst>
              <a:path extrusionOk="0" h="1002" w="2002">
                <a:moveTo>
                  <a:pt x="166" y="0"/>
                </a:moveTo>
                <a:cubicBezTo>
                  <a:pt x="83" y="0"/>
                  <a:pt x="0" y="83"/>
                  <a:pt x="0" y="166"/>
                </a:cubicBezTo>
                <a:lnTo>
                  <a:pt x="0" y="834"/>
                </a:lnTo>
                <a:cubicBezTo>
                  <a:pt x="0" y="917"/>
                  <a:pt x="83" y="1001"/>
                  <a:pt x="166" y="1001"/>
                </a:cubicBezTo>
                <a:lnTo>
                  <a:pt x="1834" y="1001"/>
                </a:lnTo>
                <a:cubicBezTo>
                  <a:pt x="1917" y="1001"/>
                  <a:pt x="2001" y="917"/>
                  <a:pt x="2001" y="834"/>
                </a:cubicBezTo>
                <a:lnTo>
                  <a:pt x="2001" y="166"/>
                </a:lnTo>
                <a:cubicBezTo>
                  <a:pt x="2001" y="83"/>
                  <a:pt x="1917" y="0"/>
                  <a:pt x="1834" y="0"/>
                </a:cubicBezTo>
                <a:lnTo>
                  <a:pt x="166" y="0"/>
                </a:lnTo>
              </a:path>
            </a:pathLst>
          </a:custGeom>
          <a:solidFill>
            <a:srgbClr val="CCCCC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male</a:t>
            </a:r>
            <a:endParaRPr b="0" sz="1600" strike="noStrike">
              <a:latin typeface="Arial"/>
              <a:ea typeface="Arial"/>
              <a:cs typeface="Arial"/>
              <a:sym typeface="Arial"/>
            </a:endParaRPr>
          </a:p>
        </p:txBody>
      </p:sp>
      <p:sp>
        <p:nvSpPr>
          <p:cNvPr id="929" name="Google Shape;929;g3f9ebdf94e2_0_501"/>
          <p:cNvSpPr/>
          <p:nvPr/>
        </p:nvSpPr>
        <p:spPr>
          <a:xfrm>
            <a:off x="6694299" y="2285778"/>
            <a:ext cx="653102" cy="326542"/>
          </a:xfrm>
          <a:custGeom>
            <a:rect b="b" l="l" r="r" t="t"/>
            <a:pathLst>
              <a:path extrusionOk="0" h="1002" w="2002">
                <a:moveTo>
                  <a:pt x="166" y="0"/>
                </a:moveTo>
                <a:cubicBezTo>
                  <a:pt x="83" y="0"/>
                  <a:pt x="0" y="83"/>
                  <a:pt x="0" y="166"/>
                </a:cubicBezTo>
                <a:lnTo>
                  <a:pt x="0" y="834"/>
                </a:lnTo>
                <a:cubicBezTo>
                  <a:pt x="0" y="917"/>
                  <a:pt x="83" y="1001"/>
                  <a:pt x="166" y="1001"/>
                </a:cubicBezTo>
                <a:lnTo>
                  <a:pt x="1834" y="1001"/>
                </a:lnTo>
                <a:cubicBezTo>
                  <a:pt x="1917" y="1001"/>
                  <a:pt x="2001" y="917"/>
                  <a:pt x="2001" y="834"/>
                </a:cubicBezTo>
                <a:lnTo>
                  <a:pt x="2001" y="166"/>
                </a:lnTo>
                <a:cubicBezTo>
                  <a:pt x="2001" y="83"/>
                  <a:pt x="1917" y="0"/>
                  <a:pt x="1834" y="0"/>
                </a:cubicBezTo>
                <a:lnTo>
                  <a:pt x="166" y="0"/>
                </a:lnTo>
              </a:path>
            </a:pathLst>
          </a:custGeom>
          <a:solidFill>
            <a:srgbClr val="CCCCC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male</a:t>
            </a:r>
            <a:endParaRPr b="0" sz="1600" strike="noStrike">
              <a:latin typeface="Arial"/>
              <a:ea typeface="Arial"/>
              <a:cs typeface="Arial"/>
              <a:sym typeface="Arial"/>
            </a:endParaRPr>
          </a:p>
        </p:txBody>
      </p:sp>
      <p:sp>
        <p:nvSpPr>
          <p:cNvPr id="930" name="Google Shape;930;g3f9ebdf94e2_0_501"/>
          <p:cNvSpPr/>
          <p:nvPr/>
        </p:nvSpPr>
        <p:spPr>
          <a:xfrm>
            <a:off x="4245165" y="2285778"/>
            <a:ext cx="816378" cy="326542"/>
          </a:xfrm>
          <a:custGeom>
            <a:rect b="b" l="l" r="r" t="t"/>
            <a:pathLst>
              <a:path extrusionOk="0" h="1002" w="2502">
                <a:moveTo>
                  <a:pt x="166" y="0"/>
                </a:moveTo>
                <a:cubicBezTo>
                  <a:pt x="83" y="0"/>
                  <a:pt x="0" y="83"/>
                  <a:pt x="0" y="166"/>
                </a:cubicBezTo>
                <a:lnTo>
                  <a:pt x="0" y="834"/>
                </a:lnTo>
                <a:cubicBezTo>
                  <a:pt x="0" y="917"/>
                  <a:pt x="83" y="1001"/>
                  <a:pt x="166" y="1001"/>
                </a:cubicBezTo>
                <a:lnTo>
                  <a:pt x="2334" y="1001"/>
                </a:lnTo>
                <a:cubicBezTo>
                  <a:pt x="2417" y="1001"/>
                  <a:pt x="2501" y="917"/>
                  <a:pt x="2501" y="834"/>
                </a:cubicBezTo>
                <a:lnTo>
                  <a:pt x="2501" y="166"/>
                </a:lnTo>
                <a:cubicBezTo>
                  <a:pt x="2501" y="83"/>
                  <a:pt x="2417" y="0"/>
                  <a:pt x="2334" y="0"/>
                </a:cubicBezTo>
                <a:lnTo>
                  <a:pt x="166" y="0"/>
                </a:lnTo>
              </a:path>
            </a:pathLst>
          </a:custGeom>
          <a:solidFill>
            <a:srgbClr val="CCCCC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female</a:t>
            </a:r>
            <a:endParaRPr b="0" sz="1600" strike="noStrike">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cxnSp>
        <p:nvCxnSpPr>
          <p:cNvPr id="935" name="Google Shape;935;g3f9ebdf94e2_0_534"/>
          <p:cNvCxnSpPr/>
          <p:nvPr/>
        </p:nvCxnSpPr>
        <p:spPr>
          <a:xfrm flipH="1" rot="10800000">
            <a:off x="6694299" y="652989"/>
            <a:ext cx="326700" cy="489900"/>
          </a:xfrm>
          <a:prstGeom prst="straightConnector1">
            <a:avLst/>
          </a:prstGeom>
          <a:noFill/>
          <a:ln cap="flat" cmpd="sng" w="26450">
            <a:solidFill>
              <a:srgbClr val="000000"/>
            </a:solidFill>
            <a:prstDash val="solid"/>
            <a:round/>
            <a:headEnd len="sm" w="sm" type="none"/>
            <a:tailEnd len="sm" w="sm" type="none"/>
          </a:ln>
        </p:spPr>
      </p:cxnSp>
      <p:cxnSp>
        <p:nvCxnSpPr>
          <p:cNvPr id="936" name="Google Shape;936;g3f9ebdf94e2_0_534"/>
          <p:cNvCxnSpPr/>
          <p:nvPr/>
        </p:nvCxnSpPr>
        <p:spPr>
          <a:xfrm rot="10800000">
            <a:off x="7347253" y="652989"/>
            <a:ext cx="326700" cy="489900"/>
          </a:xfrm>
          <a:prstGeom prst="straightConnector1">
            <a:avLst/>
          </a:prstGeom>
          <a:noFill/>
          <a:ln cap="flat" cmpd="sng" w="26450">
            <a:solidFill>
              <a:srgbClr val="000000"/>
            </a:solidFill>
            <a:prstDash val="solid"/>
            <a:round/>
            <a:headEnd len="sm" w="sm" type="none"/>
            <a:tailEnd len="sm" w="sm" type="none"/>
          </a:ln>
        </p:spPr>
      </p:cxnSp>
      <p:cxnSp>
        <p:nvCxnSpPr>
          <p:cNvPr id="937" name="Google Shape;937;g3f9ebdf94e2_0_534"/>
          <p:cNvCxnSpPr/>
          <p:nvPr/>
        </p:nvCxnSpPr>
        <p:spPr>
          <a:xfrm flipH="1" rot="10800000">
            <a:off x="1796031" y="2285688"/>
            <a:ext cx="489900" cy="489900"/>
          </a:xfrm>
          <a:prstGeom prst="straightConnector1">
            <a:avLst/>
          </a:prstGeom>
          <a:noFill/>
          <a:ln cap="flat" cmpd="sng" w="26450">
            <a:solidFill>
              <a:srgbClr val="000000"/>
            </a:solidFill>
            <a:prstDash val="solid"/>
            <a:round/>
            <a:headEnd len="sm" w="sm" type="none"/>
            <a:tailEnd len="sm" w="sm" type="none"/>
          </a:ln>
        </p:spPr>
      </p:cxnSp>
      <p:cxnSp>
        <p:nvCxnSpPr>
          <p:cNvPr id="938" name="Google Shape;938;g3f9ebdf94e2_0_534"/>
          <p:cNvCxnSpPr/>
          <p:nvPr/>
        </p:nvCxnSpPr>
        <p:spPr>
          <a:xfrm rot="10800000">
            <a:off x="2612261" y="2285918"/>
            <a:ext cx="326700" cy="326400"/>
          </a:xfrm>
          <a:prstGeom prst="straightConnector1">
            <a:avLst/>
          </a:prstGeom>
          <a:noFill/>
          <a:ln cap="flat" cmpd="sng" w="26450">
            <a:solidFill>
              <a:srgbClr val="000000"/>
            </a:solidFill>
            <a:prstDash val="solid"/>
            <a:round/>
            <a:headEnd len="sm" w="sm" type="none"/>
            <a:tailEnd len="sm" w="sm" type="none"/>
          </a:ln>
        </p:spPr>
      </p:cxnSp>
      <p:cxnSp>
        <p:nvCxnSpPr>
          <p:cNvPr id="939" name="Google Shape;939;g3f9ebdf94e2_0_534"/>
          <p:cNvCxnSpPr/>
          <p:nvPr/>
        </p:nvCxnSpPr>
        <p:spPr>
          <a:xfrm flipH="1" rot="10800000">
            <a:off x="2612409" y="1469339"/>
            <a:ext cx="1469400" cy="489900"/>
          </a:xfrm>
          <a:prstGeom prst="straightConnector1">
            <a:avLst/>
          </a:prstGeom>
          <a:noFill/>
          <a:ln cap="flat" cmpd="sng" w="26450">
            <a:solidFill>
              <a:srgbClr val="000000"/>
            </a:solidFill>
            <a:prstDash val="solid"/>
            <a:round/>
            <a:headEnd len="sm" w="sm" type="none"/>
            <a:tailEnd len="sm" w="sm" type="none"/>
          </a:ln>
        </p:spPr>
      </p:cxnSp>
      <p:cxnSp>
        <p:nvCxnSpPr>
          <p:cNvPr id="940" name="Google Shape;940;g3f9ebdf94e2_0_534"/>
          <p:cNvCxnSpPr/>
          <p:nvPr/>
        </p:nvCxnSpPr>
        <p:spPr>
          <a:xfrm rot="10800000">
            <a:off x="4408519" y="1632748"/>
            <a:ext cx="816300" cy="816300"/>
          </a:xfrm>
          <a:prstGeom prst="straightConnector1">
            <a:avLst/>
          </a:prstGeom>
          <a:noFill/>
          <a:ln cap="flat" cmpd="sng" w="26450">
            <a:solidFill>
              <a:srgbClr val="000000"/>
            </a:solidFill>
            <a:prstDash val="solid"/>
            <a:round/>
            <a:headEnd len="sm" w="sm" type="none"/>
            <a:tailEnd len="sm" w="sm" type="none"/>
          </a:ln>
        </p:spPr>
      </p:cxnSp>
      <p:cxnSp>
        <p:nvCxnSpPr>
          <p:cNvPr id="941" name="Google Shape;941;g3f9ebdf94e2_0_534"/>
          <p:cNvCxnSpPr/>
          <p:nvPr/>
        </p:nvCxnSpPr>
        <p:spPr>
          <a:xfrm rot="10800000">
            <a:off x="4571724" y="1469548"/>
            <a:ext cx="1959300" cy="979500"/>
          </a:xfrm>
          <a:prstGeom prst="straightConnector1">
            <a:avLst/>
          </a:prstGeom>
          <a:noFill/>
          <a:ln cap="flat" cmpd="sng" w="26450">
            <a:solidFill>
              <a:srgbClr val="000000"/>
            </a:solidFill>
            <a:prstDash val="solid"/>
            <a:round/>
            <a:headEnd len="sm" w="sm" type="none"/>
            <a:tailEnd len="sm" w="sm" type="none"/>
          </a:ln>
        </p:spPr>
      </p:cxnSp>
      <p:grpSp>
        <p:nvGrpSpPr>
          <p:cNvPr id="942" name="Google Shape;942;g3f9ebdf94e2_0_534"/>
          <p:cNvGrpSpPr/>
          <p:nvPr/>
        </p:nvGrpSpPr>
        <p:grpSpPr>
          <a:xfrm>
            <a:off x="2663064" y="3329892"/>
            <a:ext cx="775897" cy="1459270"/>
            <a:chOff x="2935800" y="3670920"/>
            <a:chExt cx="855360" cy="1608720"/>
          </a:xfrm>
        </p:grpSpPr>
        <p:pic>
          <p:nvPicPr>
            <p:cNvPr id="943" name="Google Shape;943;g3f9ebdf94e2_0_534"/>
            <p:cNvPicPr preferRelativeResize="0"/>
            <p:nvPr/>
          </p:nvPicPr>
          <p:blipFill rotWithShape="1">
            <a:blip r:embed="rId3">
              <a:alphaModFix/>
            </a:blip>
            <a:srcRect b="0" l="0" r="0" t="0"/>
            <a:stretch/>
          </p:blipFill>
          <p:spPr>
            <a:xfrm>
              <a:off x="2935800" y="3670920"/>
              <a:ext cx="855360" cy="1233720"/>
            </a:xfrm>
            <a:prstGeom prst="rect">
              <a:avLst/>
            </a:prstGeom>
            <a:noFill/>
            <a:ln>
              <a:noFill/>
            </a:ln>
          </p:spPr>
        </p:pic>
        <p:sp>
          <p:nvSpPr>
            <p:cNvPr id="944" name="Google Shape;944;g3f9ebdf94e2_0_534"/>
            <p:cNvSpPr txBox="1"/>
            <p:nvPr/>
          </p:nvSpPr>
          <p:spPr>
            <a:xfrm>
              <a:off x="3045240" y="4933440"/>
              <a:ext cx="6366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King</a:t>
              </a:r>
              <a:endParaRPr b="0" sz="1600" strike="noStrike">
                <a:latin typeface="Arial"/>
                <a:ea typeface="Arial"/>
                <a:cs typeface="Arial"/>
                <a:sym typeface="Arial"/>
              </a:endParaRPr>
            </a:p>
          </p:txBody>
        </p:sp>
      </p:grpSp>
      <p:grpSp>
        <p:nvGrpSpPr>
          <p:cNvPr id="945" name="Google Shape;945;g3f9ebdf94e2_0_534"/>
          <p:cNvGrpSpPr/>
          <p:nvPr/>
        </p:nvGrpSpPr>
        <p:grpSpPr>
          <a:xfrm>
            <a:off x="1306224" y="3285806"/>
            <a:ext cx="794511" cy="1547113"/>
            <a:chOff x="1440000" y="3622320"/>
            <a:chExt cx="875880" cy="1705560"/>
          </a:xfrm>
        </p:grpSpPr>
        <p:pic>
          <p:nvPicPr>
            <p:cNvPr id="946" name="Google Shape;946;g3f9ebdf94e2_0_534"/>
            <p:cNvPicPr preferRelativeResize="0"/>
            <p:nvPr/>
          </p:nvPicPr>
          <p:blipFill rotWithShape="1">
            <a:blip r:embed="rId4">
              <a:alphaModFix/>
            </a:blip>
            <a:srcRect b="0" l="0" r="0" t="0"/>
            <a:stretch/>
          </p:blipFill>
          <p:spPr>
            <a:xfrm>
              <a:off x="1440000" y="3622320"/>
              <a:ext cx="875880" cy="1330560"/>
            </a:xfrm>
            <a:prstGeom prst="rect">
              <a:avLst/>
            </a:prstGeom>
            <a:noFill/>
            <a:ln>
              <a:noFill/>
            </a:ln>
          </p:spPr>
        </p:pic>
        <p:sp>
          <p:nvSpPr>
            <p:cNvPr id="947" name="Google Shape;947;g3f9ebdf94e2_0_534"/>
            <p:cNvSpPr txBox="1"/>
            <p:nvPr/>
          </p:nvSpPr>
          <p:spPr>
            <a:xfrm>
              <a:off x="1445400" y="4981680"/>
              <a:ext cx="865200" cy="346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Queen</a:t>
              </a:r>
              <a:endParaRPr b="0" sz="1600" strike="noStrike">
                <a:latin typeface="Arial"/>
                <a:ea typeface="Arial"/>
                <a:cs typeface="Arial"/>
                <a:sym typeface="Arial"/>
              </a:endParaRPr>
            </a:p>
          </p:txBody>
        </p:sp>
      </p:grpSp>
      <p:grpSp>
        <p:nvGrpSpPr>
          <p:cNvPr id="948" name="Google Shape;948;g3f9ebdf94e2_0_534"/>
          <p:cNvGrpSpPr/>
          <p:nvPr/>
        </p:nvGrpSpPr>
        <p:grpSpPr>
          <a:xfrm>
            <a:off x="4738328" y="3175431"/>
            <a:ext cx="952890" cy="1861424"/>
            <a:chOff x="5223600" y="3500640"/>
            <a:chExt cx="1050480" cy="2052060"/>
          </a:xfrm>
        </p:grpSpPr>
        <p:pic>
          <p:nvPicPr>
            <p:cNvPr id="949" name="Google Shape;949;g3f9ebdf94e2_0_534"/>
            <p:cNvPicPr preferRelativeResize="0"/>
            <p:nvPr/>
          </p:nvPicPr>
          <p:blipFill rotWithShape="1">
            <a:blip r:embed="rId5">
              <a:alphaModFix/>
            </a:blip>
            <a:srcRect b="0" l="0" r="0" t="0"/>
            <a:stretch/>
          </p:blipFill>
          <p:spPr>
            <a:xfrm>
              <a:off x="5223600" y="3500640"/>
              <a:ext cx="1050480" cy="1620001"/>
            </a:xfrm>
            <a:prstGeom prst="rect">
              <a:avLst/>
            </a:prstGeom>
            <a:noFill/>
            <a:ln>
              <a:noFill/>
            </a:ln>
          </p:spPr>
        </p:pic>
        <p:sp>
          <p:nvSpPr>
            <p:cNvPr id="950" name="Google Shape;950;g3f9ebdf94e2_0_534"/>
            <p:cNvSpPr txBox="1"/>
            <p:nvPr/>
          </p:nvSpPr>
          <p:spPr>
            <a:xfrm>
              <a:off x="5234040" y="5126400"/>
              <a:ext cx="1029900" cy="4263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Woman</a:t>
              </a:r>
              <a:endParaRPr b="0" sz="1600" strike="noStrike">
                <a:latin typeface="Arial"/>
                <a:ea typeface="Arial"/>
                <a:cs typeface="Arial"/>
                <a:sym typeface="Arial"/>
              </a:endParaRPr>
            </a:p>
          </p:txBody>
        </p:sp>
      </p:grpSp>
      <p:grpSp>
        <p:nvGrpSpPr>
          <p:cNvPr id="951" name="Google Shape;951;g3f9ebdf94e2_0_534"/>
          <p:cNvGrpSpPr/>
          <p:nvPr/>
        </p:nvGrpSpPr>
        <p:grpSpPr>
          <a:xfrm>
            <a:off x="6000466" y="3134938"/>
            <a:ext cx="1124006" cy="1942736"/>
            <a:chOff x="6615000" y="3456000"/>
            <a:chExt cx="1239120" cy="2141700"/>
          </a:xfrm>
        </p:grpSpPr>
        <p:pic>
          <p:nvPicPr>
            <p:cNvPr id="952" name="Google Shape;952;g3f9ebdf94e2_0_534"/>
            <p:cNvPicPr preferRelativeResize="0"/>
            <p:nvPr/>
          </p:nvPicPr>
          <p:blipFill rotWithShape="1">
            <a:blip r:embed="rId6">
              <a:alphaModFix/>
            </a:blip>
            <a:srcRect b="0" l="0" r="0" t="0"/>
            <a:stretch/>
          </p:blipFill>
          <p:spPr>
            <a:xfrm>
              <a:off x="6615000" y="3456000"/>
              <a:ext cx="1239120" cy="1709639"/>
            </a:xfrm>
            <a:prstGeom prst="rect">
              <a:avLst/>
            </a:prstGeom>
            <a:noFill/>
            <a:ln>
              <a:noFill/>
            </a:ln>
          </p:spPr>
        </p:pic>
        <p:sp>
          <p:nvSpPr>
            <p:cNvPr id="953" name="Google Shape;953;g3f9ebdf94e2_0_534"/>
            <p:cNvSpPr txBox="1"/>
            <p:nvPr/>
          </p:nvSpPr>
          <p:spPr>
            <a:xfrm>
              <a:off x="6899760" y="5171400"/>
              <a:ext cx="669900" cy="4263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Man</a:t>
              </a:r>
              <a:endParaRPr b="0" sz="1600" strike="noStrike">
                <a:latin typeface="Arial"/>
                <a:ea typeface="Arial"/>
                <a:cs typeface="Arial"/>
                <a:sym typeface="Arial"/>
              </a:endParaRPr>
            </a:p>
          </p:txBody>
        </p:sp>
      </p:grpSp>
      <p:sp>
        <p:nvSpPr>
          <p:cNvPr id="954" name="Google Shape;954;g3f9ebdf94e2_0_534"/>
          <p:cNvSpPr/>
          <p:nvPr/>
        </p:nvSpPr>
        <p:spPr>
          <a:xfrm>
            <a:off x="1376740" y="2563337"/>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55" name="Google Shape;955;g3f9ebdf94e2_0_534"/>
          <p:cNvSpPr/>
          <p:nvPr/>
        </p:nvSpPr>
        <p:spPr>
          <a:xfrm>
            <a:off x="4888145" y="2302105"/>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56" name="Google Shape;956;g3f9ebdf94e2_0_534"/>
          <p:cNvSpPr/>
          <p:nvPr/>
        </p:nvSpPr>
        <p:spPr>
          <a:xfrm>
            <a:off x="2724417" y="2563337"/>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57" name="Google Shape;957;g3f9ebdf94e2_0_534"/>
          <p:cNvSpPr/>
          <p:nvPr/>
        </p:nvSpPr>
        <p:spPr>
          <a:xfrm>
            <a:off x="6235821" y="2302105"/>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58" name="Google Shape;958;g3f9ebdf94e2_0_534"/>
          <p:cNvSpPr/>
          <p:nvPr/>
        </p:nvSpPr>
        <p:spPr>
          <a:xfrm>
            <a:off x="2122583" y="1763315"/>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59" name="Google Shape;959;g3f9ebdf94e2_0_534"/>
          <p:cNvSpPr/>
          <p:nvPr/>
        </p:nvSpPr>
        <p:spPr>
          <a:xfrm>
            <a:off x="3918614" y="1142889"/>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960" name="Google Shape;960;g3f9ebdf94e2_0_534"/>
          <p:cNvSpPr txBox="1"/>
          <p:nvPr/>
        </p:nvSpPr>
        <p:spPr>
          <a:xfrm>
            <a:off x="2085356" y="1449183"/>
            <a:ext cx="8538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Royalty</a:t>
            </a:r>
            <a:endParaRPr b="0" sz="1600" strike="noStrike">
              <a:latin typeface="Arial"/>
              <a:ea typeface="Arial"/>
              <a:cs typeface="Arial"/>
              <a:sym typeface="Arial"/>
            </a:endParaRPr>
          </a:p>
        </p:txBody>
      </p:sp>
      <p:sp>
        <p:nvSpPr>
          <p:cNvPr id="961" name="Google Shape;961;g3f9ebdf94e2_0_534"/>
          <p:cNvSpPr txBox="1"/>
          <p:nvPr/>
        </p:nvSpPr>
        <p:spPr>
          <a:xfrm>
            <a:off x="3918614" y="828758"/>
            <a:ext cx="8193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b="0" lang="pt-BR" sz="1600" strike="noStrike">
                <a:latin typeface="Arial"/>
                <a:ea typeface="Arial"/>
                <a:cs typeface="Arial"/>
                <a:sym typeface="Arial"/>
              </a:rPr>
              <a:t>Person</a:t>
            </a:r>
            <a:endParaRPr b="0" sz="1600" strike="noStrike">
              <a:latin typeface="Arial"/>
              <a:ea typeface="Arial"/>
              <a:cs typeface="Arial"/>
              <a:sym typeface="Arial"/>
            </a:endParaRPr>
          </a:p>
        </p:txBody>
      </p:sp>
      <p:sp>
        <p:nvSpPr>
          <p:cNvPr id="962" name="Google Shape;962;g3f9ebdf94e2_0_534"/>
          <p:cNvSpPr txBox="1"/>
          <p:nvPr/>
        </p:nvSpPr>
        <p:spPr>
          <a:xfrm>
            <a:off x="457172" y="101880"/>
            <a:ext cx="2155200" cy="49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pt-BR" sz="3000" strike="noStrike">
                <a:solidFill>
                  <a:srgbClr val="252323"/>
                </a:solidFill>
                <a:latin typeface="Comfortaa"/>
                <a:ea typeface="Comfortaa"/>
                <a:cs typeface="Comfortaa"/>
                <a:sym typeface="Comfortaa"/>
              </a:rPr>
              <a:t>Ontology</a:t>
            </a:r>
            <a:endParaRPr b="1" sz="3000" strike="noStrike">
              <a:solidFill>
                <a:srgbClr val="252323"/>
              </a:solidFill>
              <a:latin typeface="Comfortaa"/>
              <a:ea typeface="Comfortaa"/>
              <a:cs typeface="Comfortaa"/>
              <a:sym typeface="Comfortaa"/>
            </a:endParaRPr>
          </a:p>
        </p:txBody>
      </p:sp>
      <p:sp>
        <p:nvSpPr>
          <p:cNvPr id="963" name="Google Shape;963;g3f9ebdf94e2_0_534"/>
          <p:cNvSpPr/>
          <p:nvPr/>
        </p:nvSpPr>
        <p:spPr>
          <a:xfrm>
            <a:off x="816378" y="2449048"/>
            <a:ext cx="816378" cy="326542"/>
          </a:xfrm>
          <a:custGeom>
            <a:rect b="b" l="l" r="r" t="t"/>
            <a:pathLst>
              <a:path extrusionOk="0" h="1002" w="2502">
                <a:moveTo>
                  <a:pt x="166" y="0"/>
                </a:moveTo>
                <a:cubicBezTo>
                  <a:pt x="83" y="0"/>
                  <a:pt x="0" y="83"/>
                  <a:pt x="0" y="166"/>
                </a:cubicBezTo>
                <a:lnTo>
                  <a:pt x="0" y="834"/>
                </a:lnTo>
                <a:cubicBezTo>
                  <a:pt x="0" y="917"/>
                  <a:pt x="83" y="1001"/>
                  <a:pt x="166" y="1001"/>
                </a:cubicBezTo>
                <a:lnTo>
                  <a:pt x="2334" y="1001"/>
                </a:lnTo>
                <a:cubicBezTo>
                  <a:pt x="2417" y="1001"/>
                  <a:pt x="2501" y="917"/>
                  <a:pt x="2501" y="834"/>
                </a:cubicBezTo>
                <a:lnTo>
                  <a:pt x="2501" y="166"/>
                </a:lnTo>
                <a:cubicBezTo>
                  <a:pt x="2501" y="83"/>
                  <a:pt x="2417" y="0"/>
                  <a:pt x="2334" y="0"/>
                </a:cubicBezTo>
                <a:lnTo>
                  <a:pt x="166" y="0"/>
                </a:lnTo>
              </a:path>
            </a:pathLst>
          </a:custGeom>
          <a:solidFill>
            <a:srgbClr val="CCCCC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female</a:t>
            </a:r>
            <a:endParaRPr b="0" sz="1600" strike="noStrike">
              <a:latin typeface="Arial"/>
              <a:ea typeface="Arial"/>
              <a:cs typeface="Arial"/>
              <a:sym typeface="Arial"/>
            </a:endParaRPr>
          </a:p>
        </p:txBody>
      </p:sp>
      <p:sp>
        <p:nvSpPr>
          <p:cNvPr id="964" name="Google Shape;964;g3f9ebdf94e2_0_534"/>
          <p:cNvSpPr/>
          <p:nvPr/>
        </p:nvSpPr>
        <p:spPr>
          <a:xfrm>
            <a:off x="3102236" y="2449048"/>
            <a:ext cx="653102" cy="326542"/>
          </a:xfrm>
          <a:custGeom>
            <a:rect b="b" l="l" r="r" t="t"/>
            <a:pathLst>
              <a:path extrusionOk="0" h="1002" w="2002">
                <a:moveTo>
                  <a:pt x="166" y="0"/>
                </a:moveTo>
                <a:cubicBezTo>
                  <a:pt x="83" y="0"/>
                  <a:pt x="0" y="83"/>
                  <a:pt x="0" y="166"/>
                </a:cubicBezTo>
                <a:lnTo>
                  <a:pt x="0" y="834"/>
                </a:lnTo>
                <a:cubicBezTo>
                  <a:pt x="0" y="917"/>
                  <a:pt x="83" y="1001"/>
                  <a:pt x="166" y="1001"/>
                </a:cubicBezTo>
                <a:lnTo>
                  <a:pt x="1834" y="1001"/>
                </a:lnTo>
                <a:cubicBezTo>
                  <a:pt x="1917" y="1001"/>
                  <a:pt x="2001" y="917"/>
                  <a:pt x="2001" y="834"/>
                </a:cubicBezTo>
                <a:lnTo>
                  <a:pt x="2001" y="166"/>
                </a:lnTo>
                <a:cubicBezTo>
                  <a:pt x="2001" y="83"/>
                  <a:pt x="1917" y="0"/>
                  <a:pt x="1834" y="0"/>
                </a:cubicBezTo>
                <a:lnTo>
                  <a:pt x="166" y="0"/>
                </a:lnTo>
              </a:path>
            </a:pathLst>
          </a:custGeom>
          <a:solidFill>
            <a:srgbClr val="CCCCC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male</a:t>
            </a:r>
            <a:endParaRPr b="0" sz="1600" strike="noStrike">
              <a:latin typeface="Arial"/>
              <a:ea typeface="Arial"/>
              <a:cs typeface="Arial"/>
              <a:sym typeface="Arial"/>
            </a:endParaRPr>
          </a:p>
        </p:txBody>
      </p:sp>
      <p:sp>
        <p:nvSpPr>
          <p:cNvPr id="965" name="Google Shape;965;g3f9ebdf94e2_0_534"/>
          <p:cNvSpPr/>
          <p:nvPr/>
        </p:nvSpPr>
        <p:spPr>
          <a:xfrm>
            <a:off x="6694299" y="2285778"/>
            <a:ext cx="653102" cy="326542"/>
          </a:xfrm>
          <a:custGeom>
            <a:rect b="b" l="l" r="r" t="t"/>
            <a:pathLst>
              <a:path extrusionOk="0" h="1002" w="2002">
                <a:moveTo>
                  <a:pt x="166" y="0"/>
                </a:moveTo>
                <a:cubicBezTo>
                  <a:pt x="83" y="0"/>
                  <a:pt x="0" y="83"/>
                  <a:pt x="0" y="166"/>
                </a:cubicBezTo>
                <a:lnTo>
                  <a:pt x="0" y="834"/>
                </a:lnTo>
                <a:cubicBezTo>
                  <a:pt x="0" y="917"/>
                  <a:pt x="83" y="1001"/>
                  <a:pt x="166" y="1001"/>
                </a:cubicBezTo>
                <a:lnTo>
                  <a:pt x="1834" y="1001"/>
                </a:lnTo>
                <a:cubicBezTo>
                  <a:pt x="1917" y="1001"/>
                  <a:pt x="2001" y="917"/>
                  <a:pt x="2001" y="834"/>
                </a:cubicBezTo>
                <a:lnTo>
                  <a:pt x="2001" y="166"/>
                </a:lnTo>
                <a:cubicBezTo>
                  <a:pt x="2001" y="83"/>
                  <a:pt x="1917" y="0"/>
                  <a:pt x="1834" y="0"/>
                </a:cubicBezTo>
                <a:lnTo>
                  <a:pt x="166" y="0"/>
                </a:lnTo>
              </a:path>
            </a:pathLst>
          </a:custGeom>
          <a:solidFill>
            <a:srgbClr val="CCCCC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male</a:t>
            </a:r>
            <a:endParaRPr b="0" sz="1600" strike="noStrike">
              <a:latin typeface="Arial"/>
              <a:ea typeface="Arial"/>
              <a:cs typeface="Arial"/>
              <a:sym typeface="Arial"/>
            </a:endParaRPr>
          </a:p>
        </p:txBody>
      </p:sp>
      <p:sp>
        <p:nvSpPr>
          <p:cNvPr id="966" name="Google Shape;966;g3f9ebdf94e2_0_534"/>
          <p:cNvSpPr/>
          <p:nvPr/>
        </p:nvSpPr>
        <p:spPr>
          <a:xfrm>
            <a:off x="4245165" y="2285778"/>
            <a:ext cx="816378" cy="326542"/>
          </a:xfrm>
          <a:custGeom>
            <a:rect b="b" l="l" r="r" t="t"/>
            <a:pathLst>
              <a:path extrusionOk="0" h="1002" w="2502">
                <a:moveTo>
                  <a:pt x="166" y="0"/>
                </a:moveTo>
                <a:cubicBezTo>
                  <a:pt x="83" y="0"/>
                  <a:pt x="0" y="83"/>
                  <a:pt x="0" y="166"/>
                </a:cubicBezTo>
                <a:lnTo>
                  <a:pt x="0" y="834"/>
                </a:lnTo>
                <a:cubicBezTo>
                  <a:pt x="0" y="917"/>
                  <a:pt x="83" y="1001"/>
                  <a:pt x="166" y="1001"/>
                </a:cubicBezTo>
                <a:lnTo>
                  <a:pt x="2334" y="1001"/>
                </a:lnTo>
                <a:cubicBezTo>
                  <a:pt x="2417" y="1001"/>
                  <a:pt x="2501" y="917"/>
                  <a:pt x="2501" y="834"/>
                </a:cubicBezTo>
                <a:lnTo>
                  <a:pt x="2501" y="166"/>
                </a:lnTo>
                <a:cubicBezTo>
                  <a:pt x="2501" y="83"/>
                  <a:pt x="2417" y="0"/>
                  <a:pt x="2334" y="0"/>
                </a:cubicBezTo>
                <a:lnTo>
                  <a:pt x="166" y="0"/>
                </a:lnTo>
              </a:path>
            </a:pathLst>
          </a:custGeom>
          <a:solidFill>
            <a:srgbClr val="CCCCC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female</a:t>
            </a:r>
            <a:endParaRPr b="0" sz="1600" strike="noStrike">
              <a:latin typeface="Arial"/>
              <a:ea typeface="Arial"/>
              <a:cs typeface="Arial"/>
              <a:sym typeface="Arial"/>
            </a:endParaRPr>
          </a:p>
        </p:txBody>
      </p:sp>
      <p:sp>
        <p:nvSpPr>
          <p:cNvPr id="967" name="Google Shape;967;g3f9ebdf94e2_0_534"/>
          <p:cNvSpPr/>
          <p:nvPr/>
        </p:nvSpPr>
        <p:spPr>
          <a:xfrm>
            <a:off x="6367748" y="1142889"/>
            <a:ext cx="653102" cy="326542"/>
          </a:xfrm>
          <a:custGeom>
            <a:rect b="b" l="l" r="r" t="t"/>
            <a:pathLst>
              <a:path extrusionOk="0" h="1002" w="2002">
                <a:moveTo>
                  <a:pt x="166" y="0"/>
                </a:moveTo>
                <a:cubicBezTo>
                  <a:pt x="83" y="0"/>
                  <a:pt x="0" y="83"/>
                  <a:pt x="0" y="166"/>
                </a:cubicBezTo>
                <a:lnTo>
                  <a:pt x="0" y="834"/>
                </a:lnTo>
                <a:cubicBezTo>
                  <a:pt x="0" y="917"/>
                  <a:pt x="83" y="1001"/>
                  <a:pt x="166" y="1001"/>
                </a:cubicBezTo>
                <a:lnTo>
                  <a:pt x="1834" y="1001"/>
                </a:lnTo>
                <a:cubicBezTo>
                  <a:pt x="1917" y="1001"/>
                  <a:pt x="2001" y="917"/>
                  <a:pt x="2001" y="834"/>
                </a:cubicBezTo>
                <a:lnTo>
                  <a:pt x="2001" y="166"/>
                </a:lnTo>
                <a:cubicBezTo>
                  <a:pt x="2001" y="83"/>
                  <a:pt x="1917" y="0"/>
                  <a:pt x="1834" y="0"/>
                </a:cubicBezTo>
                <a:lnTo>
                  <a:pt x="166" y="0"/>
                </a:lnTo>
              </a:path>
            </a:pathLst>
          </a:custGeom>
          <a:solidFill>
            <a:srgbClr val="CCCCC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male</a:t>
            </a:r>
            <a:endParaRPr b="0" sz="1600" strike="noStrike">
              <a:latin typeface="Arial"/>
              <a:ea typeface="Arial"/>
              <a:cs typeface="Arial"/>
              <a:sym typeface="Arial"/>
            </a:endParaRPr>
          </a:p>
        </p:txBody>
      </p:sp>
      <p:sp>
        <p:nvSpPr>
          <p:cNvPr id="968" name="Google Shape;968;g3f9ebdf94e2_0_534"/>
          <p:cNvSpPr/>
          <p:nvPr/>
        </p:nvSpPr>
        <p:spPr>
          <a:xfrm>
            <a:off x="7347402" y="1142889"/>
            <a:ext cx="816378" cy="326542"/>
          </a:xfrm>
          <a:custGeom>
            <a:rect b="b" l="l" r="r" t="t"/>
            <a:pathLst>
              <a:path extrusionOk="0" h="1002" w="2502">
                <a:moveTo>
                  <a:pt x="166" y="0"/>
                </a:moveTo>
                <a:cubicBezTo>
                  <a:pt x="83" y="0"/>
                  <a:pt x="0" y="83"/>
                  <a:pt x="0" y="166"/>
                </a:cubicBezTo>
                <a:lnTo>
                  <a:pt x="0" y="834"/>
                </a:lnTo>
                <a:cubicBezTo>
                  <a:pt x="0" y="917"/>
                  <a:pt x="83" y="1001"/>
                  <a:pt x="166" y="1001"/>
                </a:cubicBezTo>
                <a:lnTo>
                  <a:pt x="2334" y="1001"/>
                </a:lnTo>
                <a:cubicBezTo>
                  <a:pt x="2417" y="1001"/>
                  <a:pt x="2501" y="917"/>
                  <a:pt x="2501" y="834"/>
                </a:cubicBezTo>
                <a:lnTo>
                  <a:pt x="2501" y="166"/>
                </a:lnTo>
                <a:cubicBezTo>
                  <a:pt x="2501" y="83"/>
                  <a:pt x="2417" y="0"/>
                  <a:pt x="2334" y="0"/>
                </a:cubicBezTo>
                <a:lnTo>
                  <a:pt x="166" y="0"/>
                </a:lnTo>
              </a:path>
            </a:pathLst>
          </a:custGeom>
          <a:solidFill>
            <a:srgbClr val="CCCCC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female</a:t>
            </a:r>
            <a:endParaRPr b="0" sz="1600" strike="noStrike">
              <a:latin typeface="Arial"/>
              <a:ea typeface="Arial"/>
              <a:cs typeface="Arial"/>
              <a:sym typeface="Arial"/>
            </a:endParaRPr>
          </a:p>
        </p:txBody>
      </p:sp>
      <p:sp>
        <p:nvSpPr>
          <p:cNvPr id="969" name="Google Shape;969;g3f9ebdf94e2_0_534"/>
          <p:cNvSpPr/>
          <p:nvPr/>
        </p:nvSpPr>
        <p:spPr>
          <a:xfrm>
            <a:off x="6857575" y="489810"/>
            <a:ext cx="653102" cy="326542"/>
          </a:xfrm>
          <a:custGeom>
            <a:rect b="b" l="l" r="r" t="t"/>
            <a:pathLst>
              <a:path extrusionOk="0" h="1002" w="2002">
                <a:moveTo>
                  <a:pt x="166" y="0"/>
                </a:moveTo>
                <a:cubicBezTo>
                  <a:pt x="83" y="0"/>
                  <a:pt x="0" y="83"/>
                  <a:pt x="0" y="166"/>
                </a:cubicBezTo>
                <a:lnTo>
                  <a:pt x="0" y="834"/>
                </a:lnTo>
                <a:cubicBezTo>
                  <a:pt x="0" y="917"/>
                  <a:pt x="83" y="1001"/>
                  <a:pt x="166" y="1001"/>
                </a:cubicBezTo>
                <a:lnTo>
                  <a:pt x="1834" y="1001"/>
                </a:lnTo>
                <a:cubicBezTo>
                  <a:pt x="1917" y="1001"/>
                  <a:pt x="2001" y="917"/>
                  <a:pt x="2001" y="834"/>
                </a:cubicBezTo>
                <a:lnTo>
                  <a:pt x="2001" y="166"/>
                </a:lnTo>
                <a:cubicBezTo>
                  <a:pt x="2001" y="83"/>
                  <a:pt x="1917" y="0"/>
                  <a:pt x="1834" y="0"/>
                </a:cubicBezTo>
                <a:lnTo>
                  <a:pt x="166" y="0"/>
                </a:lnTo>
              </a:path>
            </a:pathLst>
          </a:custGeom>
          <a:solidFill>
            <a:srgbClr val="CCCCC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spcBef>
                <a:spcPts val="0"/>
              </a:spcBef>
              <a:spcAft>
                <a:spcPts val="0"/>
              </a:spcAft>
              <a:buNone/>
            </a:pPr>
            <a:r>
              <a:rPr b="0" lang="pt-BR" sz="1600" strike="noStrike">
                <a:latin typeface="Arial"/>
                <a:ea typeface="Arial"/>
                <a:cs typeface="Arial"/>
                <a:sym typeface="Arial"/>
              </a:rPr>
              <a:t>sex</a:t>
            </a:r>
            <a:endParaRPr b="0" sz="1600" strike="noStrike">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g3f9ebdf94e2_0_684"/>
          <p:cNvSpPr txBox="1"/>
          <p:nvPr/>
        </p:nvSpPr>
        <p:spPr>
          <a:xfrm>
            <a:off x="457172" y="2142427"/>
            <a:ext cx="37881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FFFFFF"/>
                </a:solidFill>
                <a:latin typeface="Comfortaa"/>
                <a:ea typeface="Comfortaa"/>
                <a:cs typeface="Comfortaa"/>
                <a:sym typeface="Comfortaa"/>
              </a:rPr>
              <a:t>Vector Semantics</a:t>
            </a:r>
            <a:endParaRPr b="1" i="0" sz="3000" u="none" cap="none" strike="noStrike">
              <a:solidFill>
                <a:srgbClr val="252323"/>
              </a:solidFill>
              <a:latin typeface="Comfortaa"/>
              <a:ea typeface="Comfortaa"/>
              <a:cs typeface="Comfortaa"/>
              <a:sym typeface="Comfortaa"/>
            </a:endParaRPr>
          </a:p>
        </p:txBody>
      </p:sp>
      <p:sp>
        <p:nvSpPr>
          <p:cNvPr id="975" name="Google Shape;975;g3f9ebdf94e2_0_684"/>
          <p:cNvSpPr/>
          <p:nvPr/>
        </p:nvSpPr>
        <p:spPr>
          <a:xfrm>
            <a:off x="5659132" y="1853113"/>
            <a:ext cx="215400" cy="1796400"/>
          </a:xfrm>
          <a:prstGeom prst="rect">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graphicFrame>
        <p:nvGraphicFramePr>
          <p:cNvPr id="976" name="Google Shape;976;g3f9ebdf94e2_0_684"/>
          <p:cNvGraphicFramePr/>
          <p:nvPr/>
        </p:nvGraphicFramePr>
        <p:xfrm>
          <a:off x="5920373" y="1493593"/>
          <a:ext cx="3000000" cy="3000000"/>
        </p:xfrm>
        <a:graphic>
          <a:graphicData uri="http://schemas.openxmlformats.org/drawingml/2006/table">
            <a:tbl>
              <a:tblPr>
                <a:noFill/>
                <a:tableStyleId>{967FECD5-6A5C-4673-8E3D-DED955AC76FF}</a:tableStyleId>
              </a:tblPr>
              <a:tblGrid>
                <a:gridCol w="989775"/>
                <a:gridCol w="694575"/>
                <a:gridCol w="688050"/>
              </a:tblGrid>
              <a:tr h="359200">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name</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height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weight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Doriana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1.87</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Quincas</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1.81</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110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Asdrúbal</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Lucinda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1.49</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46</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85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Dulcinéia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1.65</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bl>
          </a:graphicData>
        </a:graphic>
      </p:graphicFrame>
      <p:pic>
        <p:nvPicPr>
          <p:cNvPr id="977" name="Google Shape;977;g3f9ebdf94e2_0_684"/>
          <p:cNvPicPr preferRelativeResize="0"/>
          <p:nvPr/>
        </p:nvPicPr>
        <p:blipFill rotWithShape="1">
          <a:blip r:embed="rId3">
            <a:alphaModFix/>
          </a:blip>
          <a:srcRect b="0" l="0" r="0" t="0"/>
          <a:stretch/>
        </p:blipFill>
        <p:spPr>
          <a:xfrm>
            <a:off x="5596108" y="2263900"/>
            <a:ext cx="311530" cy="286375"/>
          </a:xfrm>
          <a:prstGeom prst="rect">
            <a:avLst/>
          </a:prstGeom>
          <a:noFill/>
          <a:ln>
            <a:noFill/>
          </a:ln>
        </p:spPr>
      </p:pic>
      <p:pic>
        <p:nvPicPr>
          <p:cNvPr id="978" name="Google Shape;978;g3f9ebdf94e2_0_684"/>
          <p:cNvPicPr preferRelativeResize="0"/>
          <p:nvPr/>
        </p:nvPicPr>
        <p:blipFill rotWithShape="1">
          <a:blip r:embed="rId4">
            <a:alphaModFix/>
          </a:blip>
          <a:srcRect b="0" l="0" r="0" t="0"/>
          <a:stretch/>
        </p:blipFill>
        <p:spPr>
          <a:xfrm>
            <a:off x="5607537" y="3329726"/>
            <a:ext cx="288997" cy="265478"/>
          </a:xfrm>
          <a:prstGeom prst="rect">
            <a:avLst/>
          </a:prstGeom>
          <a:noFill/>
          <a:ln>
            <a:noFill/>
          </a:ln>
        </p:spPr>
      </p:pic>
      <p:pic>
        <p:nvPicPr>
          <p:cNvPr id="979" name="Google Shape;979;g3f9ebdf94e2_0_684"/>
          <p:cNvPicPr preferRelativeResize="0"/>
          <p:nvPr/>
        </p:nvPicPr>
        <p:blipFill rotWithShape="1">
          <a:blip r:embed="rId5">
            <a:alphaModFix/>
          </a:blip>
          <a:srcRect b="0" l="0" r="0" t="0"/>
          <a:stretch/>
        </p:blipFill>
        <p:spPr>
          <a:xfrm>
            <a:off x="5584025" y="2968573"/>
            <a:ext cx="336020" cy="308907"/>
          </a:xfrm>
          <a:prstGeom prst="rect">
            <a:avLst/>
          </a:prstGeom>
          <a:noFill/>
          <a:ln>
            <a:noFill/>
          </a:ln>
        </p:spPr>
      </p:pic>
      <p:pic>
        <p:nvPicPr>
          <p:cNvPr id="980" name="Google Shape;980;g3f9ebdf94e2_0_684"/>
          <p:cNvPicPr preferRelativeResize="0"/>
          <p:nvPr/>
        </p:nvPicPr>
        <p:blipFill rotWithShape="1">
          <a:blip r:embed="rId6">
            <a:alphaModFix/>
          </a:blip>
          <a:srcRect b="0" l="0" r="0" t="0"/>
          <a:stretch/>
        </p:blipFill>
        <p:spPr>
          <a:xfrm>
            <a:off x="5591209" y="2602522"/>
            <a:ext cx="321328" cy="295517"/>
          </a:xfrm>
          <a:prstGeom prst="rect">
            <a:avLst/>
          </a:prstGeom>
          <a:noFill/>
          <a:ln>
            <a:noFill/>
          </a:ln>
        </p:spPr>
      </p:pic>
      <p:pic>
        <p:nvPicPr>
          <p:cNvPr id="981" name="Google Shape;981;g3f9ebdf94e2_0_684"/>
          <p:cNvPicPr preferRelativeResize="0"/>
          <p:nvPr/>
        </p:nvPicPr>
        <p:blipFill rotWithShape="1">
          <a:blip r:embed="rId7">
            <a:alphaModFix/>
          </a:blip>
          <a:srcRect b="0" l="0" r="0" t="0"/>
          <a:stretch/>
        </p:blipFill>
        <p:spPr>
          <a:xfrm>
            <a:off x="5607537" y="1892298"/>
            <a:ext cx="288988" cy="288988"/>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g3f9ebdf94e2_0_696"/>
          <p:cNvSpPr txBox="1"/>
          <p:nvPr/>
        </p:nvSpPr>
        <p:spPr>
          <a:xfrm>
            <a:off x="457172" y="1835480"/>
            <a:ext cx="8228700" cy="1472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Vector Representation</a:t>
            </a:r>
            <a:br>
              <a:rPr b="0" i="0" lang="pt-BR" sz="1600" u="none" cap="none" strike="noStrike">
                <a:solidFill>
                  <a:srgbClr val="000000"/>
                </a:solidFill>
                <a:latin typeface="Arial"/>
                <a:ea typeface="Arial"/>
                <a:cs typeface="Arial"/>
                <a:sym typeface="Arial"/>
              </a:rPr>
            </a:br>
            <a:br>
              <a:rPr b="0" i="0" lang="pt-BR" sz="1600" u="none" cap="none" strike="noStrike">
                <a:solidFill>
                  <a:srgbClr val="000000"/>
                </a:solidFill>
                <a:latin typeface="Arial"/>
                <a:ea typeface="Arial"/>
                <a:cs typeface="Arial"/>
                <a:sym typeface="Arial"/>
              </a:rPr>
            </a:br>
            <a:r>
              <a:rPr b="1" i="0" lang="pt-BR" sz="3000" u="none" cap="none" strike="noStrike">
                <a:solidFill>
                  <a:srgbClr val="252323"/>
                </a:solidFill>
                <a:latin typeface="Comfortaa"/>
                <a:ea typeface="Comfortaa"/>
                <a:cs typeface="Comfortaa"/>
                <a:sym typeface="Comfortaa"/>
              </a:rPr>
              <a:t>a kind of machine “semantics “</a:t>
            </a:r>
            <a:endParaRPr b="1" i="0" sz="3000" u="none" cap="none" strike="noStrike">
              <a:solidFill>
                <a:srgbClr val="252323"/>
              </a:solidFill>
              <a:latin typeface="Comfortaa"/>
              <a:ea typeface="Comfortaa"/>
              <a:cs typeface="Comfortaa"/>
              <a:sym typeface="Comfortaa"/>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f9ebdf94e2_0_700"/>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Vectors</a:t>
            </a:r>
            <a:endParaRPr b="1" i="0" sz="3000" u="none" cap="none" strike="noStrike">
              <a:solidFill>
                <a:srgbClr val="252323"/>
              </a:solidFill>
              <a:latin typeface="Comfortaa"/>
              <a:ea typeface="Comfortaa"/>
              <a:cs typeface="Comfortaa"/>
              <a:sym typeface="Comfortaa"/>
            </a:endParaRPr>
          </a:p>
        </p:txBody>
      </p:sp>
      <p:pic>
        <p:nvPicPr>
          <p:cNvPr id="992" name="Google Shape;992;g3f9ebdf94e2_0_700"/>
          <p:cNvPicPr preferRelativeResize="0"/>
          <p:nvPr/>
        </p:nvPicPr>
        <p:blipFill rotWithShape="1">
          <a:blip r:embed="rId3">
            <a:alphaModFix/>
          </a:blip>
          <a:srcRect b="0" l="0" r="0" t="0"/>
          <a:stretch/>
        </p:blipFill>
        <p:spPr>
          <a:xfrm>
            <a:off x="2932103" y="2392883"/>
            <a:ext cx="411113" cy="592996"/>
          </a:xfrm>
          <a:prstGeom prst="rect">
            <a:avLst/>
          </a:prstGeom>
          <a:noFill/>
          <a:ln>
            <a:noFill/>
          </a:ln>
        </p:spPr>
      </p:pic>
      <p:sp>
        <p:nvSpPr>
          <p:cNvPr id="993" name="Google Shape;993;g3f9ebdf94e2_0_700"/>
          <p:cNvSpPr txBox="1"/>
          <p:nvPr/>
        </p:nvSpPr>
        <p:spPr>
          <a:xfrm>
            <a:off x="3315474" y="2532316"/>
            <a:ext cx="5775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King</a:t>
            </a:r>
            <a:endParaRPr b="0" i="0" sz="1600" u="none" cap="none" strike="noStrike">
              <a:solidFill>
                <a:srgbClr val="000000"/>
              </a:solidFill>
              <a:latin typeface="Arial"/>
              <a:ea typeface="Arial"/>
              <a:cs typeface="Arial"/>
              <a:sym typeface="Arial"/>
            </a:endParaRPr>
          </a:p>
        </p:txBody>
      </p:sp>
      <p:pic>
        <p:nvPicPr>
          <p:cNvPr id="994" name="Google Shape;994;g3f9ebdf94e2_0_700"/>
          <p:cNvPicPr preferRelativeResize="0"/>
          <p:nvPr/>
        </p:nvPicPr>
        <p:blipFill rotWithShape="1">
          <a:blip r:embed="rId4">
            <a:alphaModFix/>
          </a:blip>
          <a:srcRect b="0" l="0" r="0" t="0"/>
          <a:stretch/>
        </p:blipFill>
        <p:spPr>
          <a:xfrm>
            <a:off x="2921980" y="1577187"/>
            <a:ext cx="421236" cy="639691"/>
          </a:xfrm>
          <a:prstGeom prst="rect">
            <a:avLst/>
          </a:prstGeom>
          <a:noFill/>
          <a:ln>
            <a:noFill/>
          </a:ln>
        </p:spPr>
      </p:pic>
      <p:sp>
        <p:nvSpPr>
          <p:cNvPr id="995" name="Google Shape;995;g3f9ebdf94e2_0_700"/>
          <p:cNvSpPr txBox="1"/>
          <p:nvPr/>
        </p:nvSpPr>
        <p:spPr>
          <a:xfrm>
            <a:off x="3315474" y="1739804"/>
            <a:ext cx="7848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Queen</a:t>
            </a:r>
            <a:endParaRPr b="0" i="0" sz="1600" u="none" cap="none" strike="noStrike">
              <a:solidFill>
                <a:srgbClr val="000000"/>
              </a:solidFill>
              <a:latin typeface="Arial"/>
              <a:ea typeface="Arial"/>
              <a:cs typeface="Arial"/>
              <a:sym typeface="Arial"/>
            </a:endParaRPr>
          </a:p>
        </p:txBody>
      </p:sp>
      <p:pic>
        <p:nvPicPr>
          <p:cNvPr id="996" name="Google Shape;996;g3f9ebdf94e2_0_700"/>
          <p:cNvPicPr preferRelativeResize="0"/>
          <p:nvPr/>
        </p:nvPicPr>
        <p:blipFill rotWithShape="1">
          <a:blip r:embed="rId5">
            <a:alphaModFix/>
          </a:blip>
          <a:srcRect b="0" l="0" r="0" t="0"/>
          <a:stretch/>
        </p:blipFill>
        <p:spPr>
          <a:xfrm>
            <a:off x="2838383" y="3110944"/>
            <a:ext cx="504831" cy="778471"/>
          </a:xfrm>
          <a:prstGeom prst="rect">
            <a:avLst/>
          </a:prstGeom>
          <a:noFill/>
          <a:ln>
            <a:noFill/>
          </a:ln>
        </p:spPr>
      </p:pic>
      <p:sp>
        <p:nvSpPr>
          <p:cNvPr id="997" name="Google Shape;997;g3f9ebdf94e2_0_700"/>
          <p:cNvSpPr txBox="1"/>
          <p:nvPr/>
        </p:nvSpPr>
        <p:spPr>
          <a:xfrm>
            <a:off x="3315474" y="3343114"/>
            <a:ext cx="9279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Maid</a:t>
            </a:r>
            <a:endParaRPr b="0" i="0" sz="1600" u="none" cap="none" strike="noStrike">
              <a:solidFill>
                <a:srgbClr val="000000"/>
              </a:solidFill>
              <a:latin typeface="Arial"/>
              <a:ea typeface="Arial"/>
              <a:cs typeface="Arial"/>
              <a:sym typeface="Arial"/>
            </a:endParaRPr>
          </a:p>
        </p:txBody>
      </p:sp>
      <p:pic>
        <p:nvPicPr>
          <p:cNvPr id="998" name="Google Shape;998;g3f9ebdf94e2_0_700"/>
          <p:cNvPicPr preferRelativeResize="0"/>
          <p:nvPr/>
        </p:nvPicPr>
        <p:blipFill rotWithShape="1">
          <a:blip r:embed="rId6">
            <a:alphaModFix/>
          </a:blip>
          <a:srcRect b="0" l="0" r="0" t="0"/>
          <a:stretch/>
        </p:blipFill>
        <p:spPr>
          <a:xfrm>
            <a:off x="2747602" y="3955049"/>
            <a:ext cx="595607" cy="821574"/>
          </a:xfrm>
          <a:prstGeom prst="rect">
            <a:avLst/>
          </a:prstGeom>
          <a:noFill/>
          <a:ln>
            <a:noFill/>
          </a:ln>
        </p:spPr>
      </p:pic>
      <p:sp>
        <p:nvSpPr>
          <p:cNvPr id="999" name="Google Shape;999;g3f9ebdf94e2_0_700"/>
          <p:cNvSpPr txBox="1"/>
          <p:nvPr/>
        </p:nvSpPr>
        <p:spPr>
          <a:xfrm>
            <a:off x="3315474" y="4208771"/>
            <a:ext cx="929700" cy="362700"/>
          </a:xfrm>
          <a:prstGeom prst="rect">
            <a:avLst/>
          </a:prstGeom>
          <a:noFill/>
          <a:ln>
            <a:noFill/>
          </a:ln>
        </p:spPr>
        <p:txBody>
          <a:bodyPr anchorCtr="0" anchor="t" bIns="40825" lIns="81625" spcFirstLastPara="1" rIns="81625" wrap="square" tIns="408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Servant</a:t>
            </a:r>
            <a:endParaRPr b="0" i="0" sz="1600" u="none" cap="none" strike="noStrike">
              <a:solidFill>
                <a:srgbClr val="000000"/>
              </a:solidFill>
              <a:latin typeface="Arial"/>
              <a:ea typeface="Arial"/>
              <a:cs typeface="Arial"/>
              <a:sym typeface="Arial"/>
            </a:endParaRPr>
          </a:p>
        </p:txBody>
      </p:sp>
      <p:sp>
        <p:nvSpPr>
          <p:cNvPr id="1000" name="Google Shape;1000;g3f9ebdf94e2_0_700"/>
          <p:cNvSpPr/>
          <p:nvPr/>
        </p:nvSpPr>
        <p:spPr>
          <a:xfrm>
            <a:off x="4426728" y="1502083"/>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01" name="Google Shape;1001;g3f9ebdf94e2_0_700"/>
          <p:cNvSpPr/>
          <p:nvPr/>
        </p:nvSpPr>
        <p:spPr>
          <a:xfrm>
            <a:off x="4426728" y="2318432"/>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02" name="Google Shape;1002;g3f9ebdf94e2_0_700"/>
          <p:cNvSpPr/>
          <p:nvPr/>
        </p:nvSpPr>
        <p:spPr>
          <a:xfrm>
            <a:off x="4426728" y="3134782"/>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03" name="Google Shape;1003;g3f9ebdf94e2_0_700"/>
          <p:cNvSpPr/>
          <p:nvPr/>
        </p:nvSpPr>
        <p:spPr>
          <a:xfrm>
            <a:off x="4426728" y="3951131"/>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04" name="Google Shape;1004;g3f9ebdf94e2_0_700"/>
          <p:cNvSpPr txBox="1"/>
          <p:nvPr/>
        </p:nvSpPr>
        <p:spPr>
          <a:xfrm>
            <a:off x="4471792" y="1110235"/>
            <a:ext cx="889800" cy="3516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900"/>
              <a:buFont typeface="Arial"/>
              <a:buNone/>
            </a:pPr>
            <a:r>
              <a:rPr b="0" i="0" lang="pt-BR" sz="1900" u="none" cap="none" strike="noStrike">
                <a:solidFill>
                  <a:srgbClr val="000000"/>
                </a:solidFill>
                <a:latin typeface="Arial"/>
                <a:ea typeface="Arial"/>
                <a:cs typeface="Arial"/>
                <a:sym typeface="Arial"/>
              </a:rPr>
              <a:t>female</a:t>
            </a:r>
            <a:endParaRPr b="0" i="0" sz="1900" u="none" cap="none" strike="noStrike">
              <a:solidFill>
                <a:srgbClr val="000000"/>
              </a:solidFill>
              <a:latin typeface="Arial"/>
              <a:ea typeface="Arial"/>
              <a:cs typeface="Arial"/>
              <a:sym typeface="Arial"/>
            </a:endParaRPr>
          </a:p>
        </p:txBody>
      </p:sp>
      <p:sp>
        <p:nvSpPr>
          <p:cNvPr id="1005" name="Google Shape;1005;g3f9ebdf94e2_0_700"/>
          <p:cNvSpPr/>
          <p:nvPr/>
        </p:nvSpPr>
        <p:spPr>
          <a:xfrm>
            <a:off x="5408014" y="1502083"/>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06" name="Google Shape;1006;g3f9ebdf94e2_0_700"/>
          <p:cNvSpPr/>
          <p:nvPr/>
        </p:nvSpPr>
        <p:spPr>
          <a:xfrm>
            <a:off x="5406381" y="2318432"/>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07" name="Google Shape;1007;g3f9ebdf94e2_0_700"/>
          <p:cNvSpPr/>
          <p:nvPr/>
        </p:nvSpPr>
        <p:spPr>
          <a:xfrm>
            <a:off x="5406381" y="3134782"/>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08" name="Google Shape;1008;g3f9ebdf94e2_0_700"/>
          <p:cNvSpPr/>
          <p:nvPr/>
        </p:nvSpPr>
        <p:spPr>
          <a:xfrm>
            <a:off x="5406381" y="3951131"/>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09" name="Google Shape;1009;g3f9ebdf94e2_0_700"/>
          <p:cNvSpPr txBox="1"/>
          <p:nvPr/>
        </p:nvSpPr>
        <p:spPr>
          <a:xfrm>
            <a:off x="5459283" y="1122644"/>
            <a:ext cx="877200" cy="3516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900"/>
              <a:buFont typeface="Arial"/>
              <a:buNone/>
            </a:pPr>
            <a:r>
              <a:rPr b="0" i="0" lang="pt-BR" sz="1900" u="none" cap="none" strike="noStrike">
                <a:solidFill>
                  <a:srgbClr val="000000"/>
                </a:solidFill>
                <a:latin typeface="Arial"/>
                <a:ea typeface="Arial"/>
                <a:cs typeface="Arial"/>
                <a:sym typeface="Arial"/>
              </a:rPr>
              <a:t>royalty</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g3f9ebdf94e2_0_722"/>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Vectors</a:t>
            </a:r>
            <a:endParaRPr b="1" i="0" sz="3000" u="none" cap="none" strike="noStrike">
              <a:solidFill>
                <a:srgbClr val="252323"/>
              </a:solidFill>
              <a:latin typeface="Comfortaa"/>
              <a:ea typeface="Comfortaa"/>
              <a:cs typeface="Comfortaa"/>
              <a:sym typeface="Comfortaa"/>
            </a:endParaRPr>
          </a:p>
        </p:txBody>
      </p:sp>
      <p:pic>
        <p:nvPicPr>
          <p:cNvPr id="1015" name="Google Shape;1015;g3f9ebdf94e2_0_722"/>
          <p:cNvPicPr preferRelativeResize="0"/>
          <p:nvPr/>
        </p:nvPicPr>
        <p:blipFill rotWithShape="1">
          <a:blip r:embed="rId3">
            <a:alphaModFix/>
          </a:blip>
          <a:srcRect b="0" l="0" r="0" t="0"/>
          <a:stretch/>
        </p:blipFill>
        <p:spPr>
          <a:xfrm>
            <a:off x="972796" y="2392883"/>
            <a:ext cx="411113" cy="592996"/>
          </a:xfrm>
          <a:prstGeom prst="rect">
            <a:avLst/>
          </a:prstGeom>
          <a:noFill/>
          <a:ln>
            <a:noFill/>
          </a:ln>
        </p:spPr>
      </p:pic>
      <p:sp>
        <p:nvSpPr>
          <p:cNvPr id="1016" name="Google Shape;1016;g3f9ebdf94e2_0_722"/>
          <p:cNvSpPr txBox="1"/>
          <p:nvPr/>
        </p:nvSpPr>
        <p:spPr>
          <a:xfrm>
            <a:off x="1356167" y="2532316"/>
            <a:ext cx="5775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King</a:t>
            </a:r>
            <a:endParaRPr b="0" i="0" sz="1600" u="none" cap="none" strike="noStrike">
              <a:solidFill>
                <a:srgbClr val="000000"/>
              </a:solidFill>
              <a:latin typeface="Arial"/>
              <a:ea typeface="Arial"/>
              <a:cs typeface="Arial"/>
              <a:sym typeface="Arial"/>
            </a:endParaRPr>
          </a:p>
        </p:txBody>
      </p:sp>
      <p:pic>
        <p:nvPicPr>
          <p:cNvPr id="1017" name="Google Shape;1017;g3f9ebdf94e2_0_722"/>
          <p:cNvPicPr preferRelativeResize="0"/>
          <p:nvPr/>
        </p:nvPicPr>
        <p:blipFill rotWithShape="1">
          <a:blip r:embed="rId4">
            <a:alphaModFix/>
          </a:blip>
          <a:srcRect b="0" l="0" r="0" t="0"/>
          <a:stretch/>
        </p:blipFill>
        <p:spPr>
          <a:xfrm>
            <a:off x="962673" y="1577187"/>
            <a:ext cx="421236" cy="639691"/>
          </a:xfrm>
          <a:prstGeom prst="rect">
            <a:avLst/>
          </a:prstGeom>
          <a:noFill/>
          <a:ln>
            <a:noFill/>
          </a:ln>
        </p:spPr>
      </p:pic>
      <p:sp>
        <p:nvSpPr>
          <p:cNvPr id="1018" name="Google Shape;1018;g3f9ebdf94e2_0_722"/>
          <p:cNvSpPr txBox="1"/>
          <p:nvPr/>
        </p:nvSpPr>
        <p:spPr>
          <a:xfrm>
            <a:off x="1356167" y="1739804"/>
            <a:ext cx="7848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Queen</a:t>
            </a:r>
            <a:endParaRPr b="0" i="0" sz="1600" u="none" cap="none" strike="noStrike">
              <a:solidFill>
                <a:srgbClr val="000000"/>
              </a:solidFill>
              <a:latin typeface="Arial"/>
              <a:ea typeface="Arial"/>
              <a:cs typeface="Arial"/>
              <a:sym typeface="Arial"/>
            </a:endParaRPr>
          </a:p>
        </p:txBody>
      </p:sp>
      <p:pic>
        <p:nvPicPr>
          <p:cNvPr id="1019" name="Google Shape;1019;g3f9ebdf94e2_0_722"/>
          <p:cNvPicPr preferRelativeResize="0"/>
          <p:nvPr/>
        </p:nvPicPr>
        <p:blipFill rotWithShape="1">
          <a:blip r:embed="rId5">
            <a:alphaModFix/>
          </a:blip>
          <a:srcRect b="0" l="0" r="0" t="0"/>
          <a:stretch/>
        </p:blipFill>
        <p:spPr>
          <a:xfrm>
            <a:off x="879076" y="3110944"/>
            <a:ext cx="504831" cy="778471"/>
          </a:xfrm>
          <a:prstGeom prst="rect">
            <a:avLst/>
          </a:prstGeom>
          <a:noFill/>
          <a:ln>
            <a:noFill/>
          </a:ln>
        </p:spPr>
      </p:pic>
      <p:sp>
        <p:nvSpPr>
          <p:cNvPr id="1020" name="Google Shape;1020;g3f9ebdf94e2_0_722"/>
          <p:cNvSpPr txBox="1"/>
          <p:nvPr/>
        </p:nvSpPr>
        <p:spPr>
          <a:xfrm>
            <a:off x="1356167" y="3343114"/>
            <a:ext cx="9279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Woman</a:t>
            </a:r>
            <a:endParaRPr b="0" i="0" sz="1600" u="none" cap="none" strike="noStrike">
              <a:solidFill>
                <a:srgbClr val="000000"/>
              </a:solidFill>
              <a:latin typeface="Arial"/>
              <a:ea typeface="Arial"/>
              <a:cs typeface="Arial"/>
              <a:sym typeface="Arial"/>
            </a:endParaRPr>
          </a:p>
        </p:txBody>
      </p:sp>
      <p:pic>
        <p:nvPicPr>
          <p:cNvPr id="1021" name="Google Shape;1021;g3f9ebdf94e2_0_722"/>
          <p:cNvPicPr preferRelativeResize="0"/>
          <p:nvPr/>
        </p:nvPicPr>
        <p:blipFill rotWithShape="1">
          <a:blip r:embed="rId6">
            <a:alphaModFix/>
          </a:blip>
          <a:srcRect b="0" l="0" r="0" t="0"/>
          <a:stretch/>
        </p:blipFill>
        <p:spPr>
          <a:xfrm>
            <a:off x="788295" y="3955049"/>
            <a:ext cx="595607" cy="821574"/>
          </a:xfrm>
          <a:prstGeom prst="rect">
            <a:avLst/>
          </a:prstGeom>
          <a:noFill/>
          <a:ln>
            <a:noFill/>
          </a:ln>
        </p:spPr>
      </p:pic>
      <p:sp>
        <p:nvSpPr>
          <p:cNvPr id="1022" name="Google Shape;1022;g3f9ebdf94e2_0_722"/>
          <p:cNvSpPr txBox="1"/>
          <p:nvPr/>
        </p:nvSpPr>
        <p:spPr>
          <a:xfrm>
            <a:off x="1356167" y="4208771"/>
            <a:ext cx="651600" cy="314100"/>
          </a:xfrm>
          <a:prstGeom prst="rect">
            <a:avLst/>
          </a:prstGeom>
          <a:noFill/>
          <a:ln>
            <a:noFill/>
          </a:ln>
        </p:spPr>
        <p:txBody>
          <a:bodyPr anchorCtr="0" anchor="t" bIns="40825" lIns="81625" spcFirstLastPara="1" rIns="81625" wrap="square" tIns="408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Man</a:t>
            </a:r>
            <a:endParaRPr b="0" i="0" sz="1600" u="none" cap="none" strike="noStrike">
              <a:solidFill>
                <a:srgbClr val="000000"/>
              </a:solidFill>
              <a:latin typeface="Arial"/>
              <a:ea typeface="Arial"/>
              <a:cs typeface="Arial"/>
              <a:sym typeface="Arial"/>
            </a:endParaRPr>
          </a:p>
        </p:txBody>
      </p:sp>
      <p:sp>
        <p:nvSpPr>
          <p:cNvPr id="1023" name="Google Shape;1023;g3f9ebdf94e2_0_722"/>
          <p:cNvSpPr/>
          <p:nvPr/>
        </p:nvSpPr>
        <p:spPr>
          <a:xfrm>
            <a:off x="2467421" y="1502083"/>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24" name="Google Shape;1024;g3f9ebdf94e2_0_722"/>
          <p:cNvSpPr/>
          <p:nvPr/>
        </p:nvSpPr>
        <p:spPr>
          <a:xfrm>
            <a:off x="2467421" y="2318432"/>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25" name="Google Shape;1025;g3f9ebdf94e2_0_722"/>
          <p:cNvSpPr/>
          <p:nvPr/>
        </p:nvSpPr>
        <p:spPr>
          <a:xfrm>
            <a:off x="2467421" y="3134782"/>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26" name="Google Shape;1026;g3f9ebdf94e2_0_722"/>
          <p:cNvSpPr/>
          <p:nvPr/>
        </p:nvSpPr>
        <p:spPr>
          <a:xfrm>
            <a:off x="2467421" y="3951131"/>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27" name="Google Shape;1027;g3f9ebdf94e2_0_722"/>
          <p:cNvSpPr txBox="1"/>
          <p:nvPr/>
        </p:nvSpPr>
        <p:spPr>
          <a:xfrm>
            <a:off x="2512485" y="1110235"/>
            <a:ext cx="889800" cy="3516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900"/>
              <a:buFont typeface="Arial"/>
              <a:buNone/>
            </a:pPr>
            <a:r>
              <a:rPr b="0" i="0" lang="pt-BR" sz="1900" u="none" cap="none" strike="noStrike">
                <a:solidFill>
                  <a:srgbClr val="000000"/>
                </a:solidFill>
                <a:latin typeface="Arial"/>
                <a:ea typeface="Arial"/>
                <a:cs typeface="Arial"/>
                <a:sym typeface="Arial"/>
              </a:rPr>
              <a:t>female</a:t>
            </a:r>
            <a:endParaRPr b="0" i="0" sz="1900" u="none" cap="none" strike="noStrike">
              <a:solidFill>
                <a:srgbClr val="000000"/>
              </a:solidFill>
              <a:latin typeface="Arial"/>
              <a:ea typeface="Arial"/>
              <a:cs typeface="Arial"/>
              <a:sym typeface="Arial"/>
            </a:endParaRPr>
          </a:p>
        </p:txBody>
      </p:sp>
      <p:sp>
        <p:nvSpPr>
          <p:cNvPr id="1028" name="Google Shape;1028;g3f9ebdf94e2_0_722"/>
          <p:cNvSpPr/>
          <p:nvPr/>
        </p:nvSpPr>
        <p:spPr>
          <a:xfrm>
            <a:off x="3448707" y="1502083"/>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29" name="Google Shape;1029;g3f9ebdf94e2_0_722"/>
          <p:cNvSpPr/>
          <p:nvPr/>
        </p:nvSpPr>
        <p:spPr>
          <a:xfrm>
            <a:off x="3447074" y="2318432"/>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30" name="Google Shape;1030;g3f9ebdf94e2_0_722"/>
          <p:cNvSpPr/>
          <p:nvPr/>
        </p:nvSpPr>
        <p:spPr>
          <a:xfrm>
            <a:off x="3447074" y="3134782"/>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31" name="Google Shape;1031;g3f9ebdf94e2_0_722"/>
          <p:cNvSpPr/>
          <p:nvPr/>
        </p:nvSpPr>
        <p:spPr>
          <a:xfrm>
            <a:off x="3447074" y="3951131"/>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32" name="Google Shape;1032;g3f9ebdf94e2_0_722"/>
          <p:cNvSpPr txBox="1"/>
          <p:nvPr/>
        </p:nvSpPr>
        <p:spPr>
          <a:xfrm>
            <a:off x="3499976" y="1122644"/>
            <a:ext cx="877200" cy="3516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900"/>
              <a:buFont typeface="Arial"/>
              <a:buNone/>
            </a:pPr>
            <a:r>
              <a:rPr b="0" i="0" lang="pt-BR" sz="1900" u="none" cap="none" strike="noStrike">
                <a:solidFill>
                  <a:srgbClr val="000000"/>
                </a:solidFill>
                <a:latin typeface="Arial"/>
                <a:ea typeface="Arial"/>
                <a:cs typeface="Arial"/>
                <a:sym typeface="Arial"/>
              </a:rPr>
              <a:t>royalty</a:t>
            </a:r>
            <a:endParaRPr b="0" i="0" sz="1900" u="none" cap="none" strike="noStrike">
              <a:solidFill>
                <a:srgbClr val="000000"/>
              </a:solidFill>
              <a:latin typeface="Arial"/>
              <a:ea typeface="Arial"/>
              <a:cs typeface="Arial"/>
              <a:sym typeface="Arial"/>
            </a:endParaRPr>
          </a:p>
        </p:txBody>
      </p:sp>
      <p:sp>
        <p:nvSpPr>
          <p:cNvPr id="1033" name="Google Shape;1033;g3f9ebdf94e2_0_722"/>
          <p:cNvSpPr txBox="1"/>
          <p:nvPr/>
        </p:nvSpPr>
        <p:spPr>
          <a:xfrm>
            <a:off x="5487693" y="2471253"/>
            <a:ext cx="6120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Male</a:t>
            </a:r>
            <a:endParaRPr b="0" i="0" sz="1600" u="none" cap="none" strike="noStrike">
              <a:solidFill>
                <a:srgbClr val="000000"/>
              </a:solidFill>
              <a:latin typeface="Arial"/>
              <a:ea typeface="Arial"/>
              <a:cs typeface="Arial"/>
              <a:sym typeface="Arial"/>
            </a:endParaRPr>
          </a:p>
        </p:txBody>
      </p:sp>
      <p:sp>
        <p:nvSpPr>
          <p:cNvPr id="1034" name="Google Shape;1034;g3f9ebdf94e2_0_722"/>
          <p:cNvSpPr txBox="1"/>
          <p:nvPr/>
        </p:nvSpPr>
        <p:spPr>
          <a:xfrm>
            <a:off x="5487693" y="1678741"/>
            <a:ext cx="8538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Female</a:t>
            </a:r>
            <a:endParaRPr b="0" i="0" sz="1600" u="none" cap="none" strike="noStrike">
              <a:solidFill>
                <a:srgbClr val="000000"/>
              </a:solidFill>
              <a:latin typeface="Arial"/>
              <a:ea typeface="Arial"/>
              <a:cs typeface="Arial"/>
              <a:sym typeface="Arial"/>
            </a:endParaRPr>
          </a:p>
        </p:txBody>
      </p:sp>
      <p:sp>
        <p:nvSpPr>
          <p:cNvPr id="1035" name="Google Shape;1035;g3f9ebdf94e2_0_722"/>
          <p:cNvSpPr txBox="1"/>
          <p:nvPr/>
        </p:nvSpPr>
        <p:spPr>
          <a:xfrm>
            <a:off x="5487693" y="3282051"/>
            <a:ext cx="9279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Royalty</a:t>
            </a:r>
            <a:endParaRPr b="0" i="0" sz="1600" u="none" cap="none" strike="noStrike">
              <a:solidFill>
                <a:srgbClr val="000000"/>
              </a:solidFill>
              <a:latin typeface="Arial"/>
              <a:ea typeface="Arial"/>
              <a:cs typeface="Arial"/>
              <a:sym typeface="Arial"/>
            </a:endParaRPr>
          </a:p>
        </p:txBody>
      </p:sp>
      <p:sp>
        <p:nvSpPr>
          <p:cNvPr id="1036" name="Google Shape;1036;g3f9ebdf94e2_0_722"/>
          <p:cNvSpPr txBox="1"/>
          <p:nvPr/>
        </p:nvSpPr>
        <p:spPr>
          <a:xfrm>
            <a:off x="5487693" y="4147708"/>
            <a:ext cx="1043400" cy="358500"/>
          </a:xfrm>
          <a:prstGeom prst="rect">
            <a:avLst/>
          </a:prstGeom>
          <a:noFill/>
          <a:ln>
            <a:noFill/>
          </a:ln>
        </p:spPr>
        <p:txBody>
          <a:bodyPr anchorCtr="0" anchor="t" bIns="40825" lIns="81625" spcFirstLastPara="1" rIns="81625" wrap="square" tIns="408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Peasant</a:t>
            </a:r>
            <a:endParaRPr b="0" i="0" sz="1600" u="none" cap="none" strike="noStrike">
              <a:solidFill>
                <a:srgbClr val="000000"/>
              </a:solidFill>
              <a:latin typeface="Arial"/>
              <a:ea typeface="Arial"/>
              <a:cs typeface="Arial"/>
              <a:sym typeface="Arial"/>
            </a:endParaRPr>
          </a:p>
        </p:txBody>
      </p:sp>
      <p:sp>
        <p:nvSpPr>
          <p:cNvPr id="1037" name="Google Shape;1037;g3f9ebdf94e2_0_722"/>
          <p:cNvSpPr/>
          <p:nvPr/>
        </p:nvSpPr>
        <p:spPr>
          <a:xfrm>
            <a:off x="6598946" y="1441020"/>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38" name="Google Shape;1038;g3f9ebdf94e2_0_722"/>
          <p:cNvSpPr/>
          <p:nvPr/>
        </p:nvSpPr>
        <p:spPr>
          <a:xfrm>
            <a:off x="6598946" y="2257369"/>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39" name="Google Shape;1039;g3f9ebdf94e2_0_722"/>
          <p:cNvSpPr/>
          <p:nvPr/>
        </p:nvSpPr>
        <p:spPr>
          <a:xfrm>
            <a:off x="6598946" y="3073719"/>
            <a:ext cx="979800" cy="816300"/>
          </a:xfrm>
          <a:prstGeom prst="rect">
            <a:avLst/>
          </a:prstGeom>
          <a:solidFill>
            <a:srgbClr val="CCCCCC"/>
          </a:solidFill>
          <a:ln cap="flat" cmpd="sng" w="26450">
            <a:solidFill>
              <a:srgbClr val="3465A4"/>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40" name="Google Shape;1040;g3f9ebdf94e2_0_722"/>
          <p:cNvSpPr/>
          <p:nvPr/>
        </p:nvSpPr>
        <p:spPr>
          <a:xfrm>
            <a:off x="6598946" y="3890068"/>
            <a:ext cx="979800" cy="816300"/>
          </a:xfrm>
          <a:prstGeom prst="rect">
            <a:avLst/>
          </a:prstGeom>
          <a:solidFill>
            <a:srgbClr val="CCCCCC"/>
          </a:solidFill>
          <a:ln cap="flat" cmpd="sng" w="26450">
            <a:solidFill>
              <a:srgbClr val="3465A4"/>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41" name="Google Shape;1041;g3f9ebdf94e2_0_722"/>
          <p:cNvSpPr/>
          <p:nvPr/>
        </p:nvSpPr>
        <p:spPr>
          <a:xfrm>
            <a:off x="7580233" y="1441020"/>
            <a:ext cx="979800" cy="816300"/>
          </a:xfrm>
          <a:prstGeom prst="rect">
            <a:avLst/>
          </a:prstGeom>
          <a:solidFill>
            <a:srgbClr val="CCCCCC"/>
          </a:solidFill>
          <a:ln cap="flat" cmpd="sng" w="26450">
            <a:solidFill>
              <a:srgbClr val="3465A4"/>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42" name="Google Shape;1042;g3f9ebdf94e2_0_722"/>
          <p:cNvSpPr/>
          <p:nvPr/>
        </p:nvSpPr>
        <p:spPr>
          <a:xfrm>
            <a:off x="7578600" y="2257369"/>
            <a:ext cx="979800" cy="816300"/>
          </a:xfrm>
          <a:prstGeom prst="rect">
            <a:avLst/>
          </a:prstGeom>
          <a:solidFill>
            <a:srgbClr val="CCCCCC"/>
          </a:solidFill>
          <a:ln cap="flat" cmpd="sng" w="26450">
            <a:solidFill>
              <a:srgbClr val="3465A4"/>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43" name="Google Shape;1043;g3f9ebdf94e2_0_722"/>
          <p:cNvSpPr/>
          <p:nvPr/>
        </p:nvSpPr>
        <p:spPr>
          <a:xfrm>
            <a:off x="7578600" y="3073719"/>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44" name="Google Shape;1044;g3f9ebdf94e2_0_722"/>
          <p:cNvSpPr/>
          <p:nvPr/>
        </p:nvSpPr>
        <p:spPr>
          <a:xfrm>
            <a:off x="7578600" y="3890068"/>
            <a:ext cx="979800" cy="816300"/>
          </a:xfrm>
          <a:prstGeom prst="rect">
            <a:avLst/>
          </a:prstGeom>
          <a:solidFill>
            <a:srgbClr val="FFFFFF"/>
          </a:solidFill>
          <a:ln cap="flat" cmpd="sng" w="26450">
            <a:solidFill>
              <a:srgbClr val="3465A4"/>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45" name="Google Shape;1045;g3f9ebdf94e2_0_722"/>
          <p:cNvSpPr txBox="1"/>
          <p:nvPr/>
        </p:nvSpPr>
        <p:spPr>
          <a:xfrm>
            <a:off x="6531024" y="1077581"/>
            <a:ext cx="889800" cy="3516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900"/>
              <a:buFont typeface="Arial"/>
              <a:buNone/>
            </a:pPr>
            <a:r>
              <a:rPr b="0" i="0" lang="pt-BR" sz="1900" u="none" cap="none" strike="noStrike">
                <a:solidFill>
                  <a:srgbClr val="000000"/>
                </a:solidFill>
                <a:latin typeface="Arial"/>
                <a:ea typeface="Arial"/>
                <a:cs typeface="Arial"/>
                <a:sym typeface="Arial"/>
              </a:rPr>
              <a:t>female</a:t>
            </a:r>
            <a:endParaRPr b="0" i="0" sz="1900" u="none" cap="none" strike="noStrike">
              <a:solidFill>
                <a:srgbClr val="000000"/>
              </a:solidFill>
              <a:latin typeface="Arial"/>
              <a:ea typeface="Arial"/>
              <a:cs typeface="Arial"/>
              <a:sym typeface="Arial"/>
            </a:endParaRPr>
          </a:p>
        </p:txBody>
      </p:sp>
      <p:sp>
        <p:nvSpPr>
          <p:cNvPr id="1046" name="Google Shape;1046;g3f9ebdf94e2_0_722"/>
          <p:cNvSpPr txBox="1"/>
          <p:nvPr/>
        </p:nvSpPr>
        <p:spPr>
          <a:xfrm>
            <a:off x="7519821" y="1089990"/>
            <a:ext cx="877200" cy="3516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900"/>
              <a:buFont typeface="Arial"/>
              <a:buNone/>
            </a:pPr>
            <a:r>
              <a:rPr b="0" i="0" lang="pt-BR" sz="1900" u="none" cap="none" strike="noStrike">
                <a:solidFill>
                  <a:srgbClr val="000000"/>
                </a:solidFill>
                <a:latin typeface="Arial"/>
                <a:ea typeface="Arial"/>
                <a:cs typeface="Arial"/>
                <a:sym typeface="Arial"/>
              </a:rPr>
              <a:t>royalty</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g3f9ebdf94e2_0_758"/>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King – Man + Woman = Queen</a:t>
            </a:r>
            <a:endParaRPr b="1" i="0" sz="3000" u="none" cap="none" strike="noStrike">
              <a:solidFill>
                <a:srgbClr val="252323"/>
              </a:solidFill>
              <a:latin typeface="Comfortaa"/>
              <a:ea typeface="Comfortaa"/>
              <a:cs typeface="Comfortaa"/>
              <a:sym typeface="Comfortaa"/>
            </a:endParaRPr>
          </a:p>
        </p:txBody>
      </p:sp>
      <p:sp>
        <p:nvSpPr>
          <p:cNvPr id="1052" name="Google Shape;1052;g3f9ebdf94e2_0_758"/>
          <p:cNvSpPr txBox="1"/>
          <p:nvPr/>
        </p:nvSpPr>
        <p:spPr>
          <a:xfrm>
            <a:off x="457175" y="983100"/>
            <a:ext cx="8228700" cy="4006500"/>
          </a:xfrm>
          <a:prstGeom prst="rect">
            <a:avLst/>
          </a:prstGeom>
          <a:noFill/>
          <a:ln>
            <a:noFill/>
          </a:ln>
        </p:spPr>
        <p:txBody>
          <a:bodyPr anchorCtr="0" anchor="t" bIns="0" lIns="0" spcFirstLastPara="1" rIns="0" wrap="square" tIns="0">
            <a:noAutofit/>
          </a:bodyPr>
          <a:lstStyle/>
          <a:p>
            <a:pPr indent="-285750" lvl="0" marL="393700" marR="0" rtl="0" algn="l">
              <a:lnSpc>
                <a:spcPct val="100000"/>
              </a:lnSpc>
              <a:spcBef>
                <a:spcPts val="0"/>
              </a:spcBef>
              <a:spcAft>
                <a:spcPts val="0"/>
              </a:spcAft>
              <a:buClr>
                <a:srgbClr val="000000"/>
              </a:buClr>
              <a:buSzPts val="2700"/>
              <a:buFont typeface="Trebuchet MS"/>
              <a:buChar char="▪"/>
            </a:pPr>
            <a:r>
              <a:rPr b="0" i="0" lang="pt-BR" sz="2100" u="none" cap="none" strike="noStrike">
                <a:solidFill>
                  <a:srgbClr val="252323"/>
                </a:solidFill>
                <a:latin typeface="Comfortaa"/>
                <a:ea typeface="Comfortaa"/>
                <a:cs typeface="Comfortaa"/>
                <a:sym typeface="Comfortaa"/>
              </a:rPr>
              <a:t>“[…] the male/female relationship is automatically learned, and with the induced vector representations, “King - Man + Woman” results in a vector very close to “Queen.”</a:t>
            </a:r>
            <a:endParaRPr b="0" i="0" sz="2100" u="none" cap="none" strike="noStrike">
              <a:solidFill>
                <a:srgbClr val="252323"/>
              </a:solidFill>
              <a:latin typeface="Comfortaa"/>
              <a:ea typeface="Comfortaa"/>
              <a:cs typeface="Comfortaa"/>
              <a:sym typeface="Comfortaa"/>
            </a:endParaRPr>
          </a:p>
          <a:p>
            <a:pPr indent="-285750" lvl="0" marL="393700" marR="0" rtl="0" algn="l">
              <a:lnSpc>
                <a:spcPct val="100000"/>
              </a:lnSpc>
              <a:spcBef>
                <a:spcPts val="1000"/>
              </a:spcBef>
              <a:spcAft>
                <a:spcPts val="0"/>
              </a:spcAft>
              <a:buClr>
                <a:srgbClr val="000000"/>
              </a:buClr>
              <a:buSzPts val="2700"/>
              <a:buFont typeface="Trebuchet MS"/>
              <a:buChar char="▪"/>
            </a:pPr>
            <a:r>
              <a:rPr b="0" i="0" lang="pt-BR" sz="2100" u="none" cap="none" strike="noStrike">
                <a:solidFill>
                  <a:srgbClr val="252323"/>
                </a:solidFill>
                <a:latin typeface="Comfortaa"/>
                <a:ea typeface="Comfortaa"/>
                <a:cs typeface="Comfortaa"/>
                <a:sym typeface="Comfortaa"/>
              </a:rPr>
              <a:t>“We find that these representations are surprisingly good at capturing syntactic and semantic regularities in language, and that each relationship is characterized by a relation-specific vector offset. This allows </a:t>
            </a:r>
            <a:r>
              <a:rPr b="1" i="0" lang="pt-BR" sz="2100" u="none" cap="none" strike="noStrike">
                <a:solidFill>
                  <a:srgbClr val="252323"/>
                </a:solidFill>
                <a:latin typeface="Comfortaa"/>
                <a:ea typeface="Comfortaa"/>
                <a:cs typeface="Comfortaa"/>
                <a:sym typeface="Comfortaa"/>
              </a:rPr>
              <a:t>vector-oriented reasoning</a:t>
            </a:r>
            <a:r>
              <a:rPr b="0" i="0" lang="pt-BR" sz="2100" u="none" cap="none" strike="noStrike">
                <a:solidFill>
                  <a:srgbClr val="252323"/>
                </a:solidFill>
                <a:latin typeface="Comfortaa"/>
                <a:ea typeface="Comfortaa"/>
                <a:cs typeface="Comfortaa"/>
                <a:sym typeface="Comfortaa"/>
              </a:rPr>
              <a:t> based on the offsets between words.”</a:t>
            </a:r>
            <a:endParaRPr b="0" i="0" sz="2100" u="none" cap="none" strike="noStrike">
              <a:solidFill>
                <a:srgbClr val="252323"/>
              </a:solidFill>
              <a:latin typeface="Comfortaa"/>
              <a:ea typeface="Comfortaa"/>
              <a:cs typeface="Comfortaa"/>
              <a:sym typeface="Comfortaa"/>
            </a:endParaRPr>
          </a:p>
          <a:p>
            <a:pPr indent="0" lvl="0" marL="0" marR="0" rtl="0" algn="r">
              <a:lnSpc>
                <a:spcPct val="100000"/>
              </a:lnSpc>
              <a:spcBef>
                <a:spcPts val="1000"/>
              </a:spcBef>
              <a:spcAft>
                <a:spcPts val="0"/>
              </a:spcAft>
              <a:buClr>
                <a:srgbClr val="000000"/>
              </a:buClr>
              <a:buSzPts val="2200"/>
              <a:buFont typeface="Arial"/>
              <a:buNone/>
            </a:pPr>
            <a:r>
              <a:rPr b="0" i="0" lang="pt-BR" sz="2100" u="none" cap="none" strike="noStrike">
                <a:solidFill>
                  <a:srgbClr val="252323"/>
                </a:solidFill>
                <a:latin typeface="Comfortaa"/>
                <a:ea typeface="Comfortaa"/>
                <a:cs typeface="Comfortaa"/>
                <a:sym typeface="Comfortaa"/>
              </a:rPr>
              <a:t>(Mikolov et al., 2013)</a:t>
            </a:r>
            <a:endParaRPr b="0" i="0" sz="2100" u="none" cap="none" strike="noStrike">
              <a:solidFill>
                <a:srgbClr val="252323"/>
              </a:solidFill>
              <a:latin typeface="Comfortaa"/>
              <a:ea typeface="Comfortaa"/>
              <a:cs typeface="Comfortaa"/>
              <a:sym typeface="Comfortaa"/>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f9ebdf94e2_0_763"/>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Operations with Vectors</a:t>
            </a:r>
            <a:endParaRPr b="1" i="0" sz="3000" u="none" cap="none" strike="noStrike">
              <a:solidFill>
                <a:srgbClr val="252323"/>
              </a:solidFill>
              <a:latin typeface="Comfortaa"/>
              <a:ea typeface="Comfortaa"/>
              <a:cs typeface="Comfortaa"/>
              <a:sym typeface="Comfortaa"/>
            </a:endParaRPr>
          </a:p>
        </p:txBody>
      </p:sp>
      <p:sp>
        <p:nvSpPr>
          <p:cNvPr id="1058" name="Google Shape;1058;g3f9ebdf94e2_0_763"/>
          <p:cNvSpPr txBox="1"/>
          <p:nvPr/>
        </p:nvSpPr>
        <p:spPr>
          <a:xfrm>
            <a:off x="457172" y="1203299"/>
            <a:ext cx="8228700" cy="339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pt-BR" sz="2200" u="none" cap="none" strike="noStrike">
                <a:solidFill>
                  <a:srgbClr val="252323"/>
                </a:solidFill>
                <a:latin typeface="Comfortaa"/>
                <a:ea typeface="Comfortaa"/>
                <a:cs typeface="Comfortaa"/>
                <a:sym typeface="Comfortaa"/>
              </a:rPr>
              <a:t>Male + Royalty = ?</a:t>
            </a:r>
            <a:endParaRPr b="0" i="0" sz="2200" u="none" cap="none" strike="noStrike">
              <a:solidFill>
                <a:srgbClr val="252323"/>
              </a:solidFill>
              <a:latin typeface="Comfortaa"/>
              <a:ea typeface="Comfortaa"/>
              <a:cs typeface="Comfortaa"/>
              <a:sym typeface="Comfortaa"/>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9ebdf94e2_0_768"/>
          <p:cNvSpPr txBox="1"/>
          <p:nvPr/>
        </p:nvSpPr>
        <p:spPr>
          <a:xfrm>
            <a:off x="457172" y="183515"/>
            <a:ext cx="8228700" cy="49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Operations with Vectors</a:t>
            </a:r>
            <a:endParaRPr b="1" i="0" sz="3000" u="none" cap="none" strike="noStrike">
              <a:solidFill>
                <a:srgbClr val="252323"/>
              </a:solidFill>
              <a:latin typeface="Comfortaa"/>
              <a:ea typeface="Comfortaa"/>
              <a:cs typeface="Comfortaa"/>
              <a:sym typeface="Comfortaa"/>
            </a:endParaRPr>
          </a:p>
        </p:txBody>
      </p:sp>
      <p:sp>
        <p:nvSpPr>
          <p:cNvPr id="1064" name="Google Shape;1064;g3f9ebdf94e2_0_768"/>
          <p:cNvSpPr txBox="1"/>
          <p:nvPr/>
        </p:nvSpPr>
        <p:spPr>
          <a:xfrm>
            <a:off x="457172" y="746143"/>
            <a:ext cx="8228700" cy="4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pt-BR" sz="2200" u="none" cap="none" strike="noStrike">
                <a:solidFill>
                  <a:srgbClr val="252323"/>
                </a:solidFill>
                <a:latin typeface="Comfortaa"/>
                <a:ea typeface="Comfortaa"/>
                <a:cs typeface="Comfortaa"/>
                <a:sym typeface="Comfortaa"/>
              </a:rPr>
              <a:t>Male + Royalty = King</a:t>
            </a:r>
            <a:endParaRPr b="0" i="0" sz="2200" u="none" cap="none" strike="noStrike">
              <a:solidFill>
                <a:srgbClr val="252323"/>
              </a:solidFill>
              <a:latin typeface="Comfortaa"/>
              <a:ea typeface="Comfortaa"/>
              <a:cs typeface="Comfortaa"/>
              <a:sym typeface="Comfortaa"/>
            </a:endParaRPr>
          </a:p>
        </p:txBody>
      </p:sp>
      <p:sp>
        <p:nvSpPr>
          <p:cNvPr id="1065" name="Google Shape;1065;g3f9ebdf94e2_0_768"/>
          <p:cNvSpPr txBox="1"/>
          <p:nvPr/>
        </p:nvSpPr>
        <p:spPr>
          <a:xfrm>
            <a:off x="2970636" y="1585351"/>
            <a:ext cx="6120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Male</a:t>
            </a:r>
            <a:endParaRPr b="0" i="0" sz="1600" u="none" cap="none" strike="noStrike">
              <a:solidFill>
                <a:srgbClr val="000000"/>
              </a:solidFill>
              <a:latin typeface="Arial"/>
              <a:ea typeface="Arial"/>
              <a:cs typeface="Arial"/>
              <a:sym typeface="Arial"/>
            </a:endParaRPr>
          </a:p>
        </p:txBody>
      </p:sp>
      <p:sp>
        <p:nvSpPr>
          <p:cNvPr id="1066" name="Google Shape;1066;g3f9ebdf94e2_0_768"/>
          <p:cNvSpPr txBox="1"/>
          <p:nvPr/>
        </p:nvSpPr>
        <p:spPr>
          <a:xfrm>
            <a:off x="2970636" y="2853304"/>
            <a:ext cx="9279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Royalty</a:t>
            </a:r>
            <a:endParaRPr b="0" i="0" sz="1600" u="none" cap="none" strike="noStrike">
              <a:solidFill>
                <a:srgbClr val="000000"/>
              </a:solidFill>
              <a:latin typeface="Arial"/>
              <a:ea typeface="Arial"/>
              <a:cs typeface="Arial"/>
              <a:sym typeface="Arial"/>
            </a:endParaRPr>
          </a:p>
        </p:txBody>
      </p:sp>
      <p:sp>
        <p:nvSpPr>
          <p:cNvPr id="1067" name="Google Shape;1067;g3f9ebdf94e2_0_768"/>
          <p:cNvSpPr/>
          <p:nvPr/>
        </p:nvSpPr>
        <p:spPr>
          <a:xfrm>
            <a:off x="4081890" y="1371467"/>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68" name="Google Shape;1068;g3f9ebdf94e2_0_768"/>
          <p:cNvSpPr/>
          <p:nvPr/>
        </p:nvSpPr>
        <p:spPr>
          <a:xfrm>
            <a:off x="4081890" y="2644972"/>
            <a:ext cx="979800" cy="816300"/>
          </a:xfrm>
          <a:prstGeom prst="rect">
            <a:avLst/>
          </a:prstGeom>
          <a:solidFill>
            <a:srgbClr val="CCCCCC"/>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69" name="Google Shape;1069;g3f9ebdf94e2_0_768"/>
          <p:cNvSpPr/>
          <p:nvPr/>
        </p:nvSpPr>
        <p:spPr>
          <a:xfrm>
            <a:off x="5061543" y="1371467"/>
            <a:ext cx="979800" cy="816300"/>
          </a:xfrm>
          <a:prstGeom prst="rect">
            <a:avLst/>
          </a:prstGeom>
          <a:solidFill>
            <a:srgbClr val="CCCCCC"/>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70" name="Google Shape;1070;g3f9ebdf94e2_0_768"/>
          <p:cNvSpPr/>
          <p:nvPr/>
        </p:nvSpPr>
        <p:spPr>
          <a:xfrm>
            <a:off x="5061543" y="2644972"/>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71" name="Google Shape;1071;g3f9ebdf94e2_0_768"/>
          <p:cNvSpPr/>
          <p:nvPr/>
        </p:nvSpPr>
        <p:spPr>
          <a:xfrm>
            <a:off x="4898268" y="2253124"/>
            <a:ext cx="326552" cy="326542"/>
          </a:xfrm>
          <a:custGeom>
            <a:rect b="b" l="l" r="r" t="t"/>
            <a:pathLst>
              <a:path extrusionOk="0" h="1002" w="1002">
                <a:moveTo>
                  <a:pt x="250" y="0"/>
                </a:moveTo>
                <a:lnTo>
                  <a:pt x="750" y="0"/>
                </a:lnTo>
                <a:lnTo>
                  <a:pt x="750" y="250"/>
                </a:lnTo>
                <a:lnTo>
                  <a:pt x="1001" y="250"/>
                </a:lnTo>
                <a:lnTo>
                  <a:pt x="1001" y="750"/>
                </a:lnTo>
                <a:lnTo>
                  <a:pt x="750" y="750"/>
                </a:lnTo>
                <a:lnTo>
                  <a:pt x="750" y="1001"/>
                </a:lnTo>
                <a:lnTo>
                  <a:pt x="250" y="1001"/>
                </a:lnTo>
                <a:lnTo>
                  <a:pt x="250" y="750"/>
                </a:lnTo>
                <a:lnTo>
                  <a:pt x="0" y="750"/>
                </a:lnTo>
                <a:lnTo>
                  <a:pt x="0" y="250"/>
                </a:lnTo>
                <a:lnTo>
                  <a:pt x="250" y="250"/>
                </a:lnTo>
                <a:lnTo>
                  <a:pt x="250" y="0"/>
                </a:lnTo>
              </a:path>
            </a:pathLst>
          </a:custGeom>
          <a:solidFill>
            <a:srgbClr val="FFFFFF"/>
          </a:solidFill>
          <a:ln cap="flat" cmpd="sng" w="26450">
            <a:solidFill>
              <a:srgbClr val="000000"/>
            </a:solidFill>
            <a:prstDash val="solid"/>
            <a:round/>
            <a:headEnd len="sm" w="sm" type="none"/>
            <a:tailEnd len="sm" w="sm" type="none"/>
          </a:ln>
        </p:spPr>
      </p:sp>
      <p:sp>
        <p:nvSpPr>
          <p:cNvPr id="1072" name="Google Shape;1072;g3f9ebdf94e2_0_768"/>
          <p:cNvSpPr/>
          <p:nvPr/>
        </p:nvSpPr>
        <p:spPr>
          <a:xfrm>
            <a:off x="4898594" y="2253451"/>
            <a:ext cx="326552" cy="326542"/>
          </a:xfrm>
          <a:custGeom>
            <a:rect b="b" l="l" r="r" t="t"/>
            <a:pathLst>
              <a:path extrusionOk="0" h="1002" w="1002">
                <a:moveTo>
                  <a:pt x="250" y="0"/>
                </a:moveTo>
                <a:lnTo>
                  <a:pt x="750" y="0"/>
                </a:lnTo>
                <a:lnTo>
                  <a:pt x="750" y="250"/>
                </a:lnTo>
                <a:lnTo>
                  <a:pt x="1001" y="250"/>
                </a:lnTo>
                <a:lnTo>
                  <a:pt x="1001" y="750"/>
                </a:lnTo>
                <a:lnTo>
                  <a:pt x="750" y="750"/>
                </a:lnTo>
                <a:lnTo>
                  <a:pt x="750" y="1001"/>
                </a:lnTo>
                <a:lnTo>
                  <a:pt x="250" y="1001"/>
                </a:lnTo>
                <a:lnTo>
                  <a:pt x="250" y="750"/>
                </a:lnTo>
                <a:lnTo>
                  <a:pt x="0" y="750"/>
                </a:lnTo>
                <a:lnTo>
                  <a:pt x="0" y="250"/>
                </a:lnTo>
                <a:lnTo>
                  <a:pt x="250" y="250"/>
                </a:lnTo>
                <a:lnTo>
                  <a:pt x="250" y="0"/>
                </a:lnTo>
              </a:path>
            </a:pathLst>
          </a:custGeom>
          <a:solidFill>
            <a:srgbClr val="FFFFFF"/>
          </a:solidFill>
          <a:ln cap="flat" cmpd="sng" w="26450">
            <a:solidFill>
              <a:srgbClr val="000000"/>
            </a:solidFill>
            <a:prstDash val="solid"/>
            <a:round/>
            <a:headEnd len="sm" w="sm" type="none"/>
            <a:tailEnd len="sm" w="sm" type="none"/>
          </a:ln>
        </p:spPr>
      </p:sp>
      <p:sp>
        <p:nvSpPr>
          <p:cNvPr id="1073" name="Google Shape;1073;g3f9ebdf94e2_0_768"/>
          <p:cNvSpPr/>
          <p:nvPr/>
        </p:nvSpPr>
        <p:spPr>
          <a:xfrm>
            <a:off x="4898268" y="3559283"/>
            <a:ext cx="326700" cy="12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74" name="Google Shape;1074;g3f9ebdf94e2_0_768"/>
          <p:cNvSpPr/>
          <p:nvPr/>
        </p:nvSpPr>
        <p:spPr>
          <a:xfrm>
            <a:off x="4898268" y="3728757"/>
            <a:ext cx="326700" cy="12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pic>
        <p:nvPicPr>
          <p:cNvPr id="1075" name="Google Shape;1075;g3f9ebdf94e2_0_768"/>
          <p:cNvPicPr preferRelativeResize="0"/>
          <p:nvPr/>
        </p:nvPicPr>
        <p:blipFill rotWithShape="1">
          <a:blip r:embed="rId3">
            <a:alphaModFix/>
          </a:blip>
          <a:srcRect b="0" l="0" r="0" t="0"/>
          <a:stretch/>
        </p:blipFill>
        <p:spPr>
          <a:xfrm>
            <a:off x="2612409" y="3992928"/>
            <a:ext cx="411113" cy="592996"/>
          </a:xfrm>
          <a:prstGeom prst="rect">
            <a:avLst/>
          </a:prstGeom>
          <a:noFill/>
          <a:ln>
            <a:noFill/>
          </a:ln>
        </p:spPr>
      </p:pic>
      <p:sp>
        <p:nvSpPr>
          <p:cNvPr id="1076" name="Google Shape;1076;g3f9ebdf94e2_0_768"/>
          <p:cNvSpPr txBox="1"/>
          <p:nvPr/>
        </p:nvSpPr>
        <p:spPr>
          <a:xfrm>
            <a:off x="2995781" y="4132361"/>
            <a:ext cx="5775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King</a:t>
            </a:r>
            <a:endParaRPr b="0" i="0" sz="1600" u="none" cap="none" strike="noStrike">
              <a:solidFill>
                <a:srgbClr val="000000"/>
              </a:solidFill>
              <a:latin typeface="Arial"/>
              <a:ea typeface="Arial"/>
              <a:cs typeface="Arial"/>
              <a:sym typeface="Arial"/>
            </a:endParaRPr>
          </a:p>
        </p:txBody>
      </p:sp>
      <p:sp>
        <p:nvSpPr>
          <p:cNvPr id="1077" name="Google Shape;1077;g3f9ebdf94e2_0_768"/>
          <p:cNvSpPr/>
          <p:nvPr/>
        </p:nvSpPr>
        <p:spPr>
          <a:xfrm>
            <a:off x="4107034" y="3918477"/>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78" name="Google Shape;1078;g3f9ebdf94e2_0_768"/>
          <p:cNvSpPr/>
          <p:nvPr/>
        </p:nvSpPr>
        <p:spPr>
          <a:xfrm>
            <a:off x="5086688" y="3918477"/>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f9ebdf94e2_0_787"/>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Operations with Vectors</a:t>
            </a:r>
            <a:endParaRPr b="1" i="0" sz="3000" u="none" cap="none" strike="noStrike">
              <a:solidFill>
                <a:srgbClr val="252323"/>
              </a:solidFill>
              <a:latin typeface="Comfortaa"/>
              <a:ea typeface="Comfortaa"/>
              <a:cs typeface="Comfortaa"/>
              <a:sym typeface="Comfortaa"/>
            </a:endParaRPr>
          </a:p>
        </p:txBody>
      </p:sp>
      <p:sp>
        <p:nvSpPr>
          <p:cNvPr id="1084" name="Google Shape;1084;g3f9ebdf94e2_0_787"/>
          <p:cNvSpPr txBox="1"/>
          <p:nvPr/>
        </p:nvSpPr>
        <p:spPr>
          <a:xfrm>
            <a:off x="457172" y="1203299"/>
            <a:ext cx="8228700" cy="339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pt-BR" sz="2200" u="none" cap="none" strike="noStrike">
                <a:solidFill>
                  <a:srgbClr val="252323"/>
                </a:solidFill>
                <a:latin typeface="Comfortaa"/>
                <a:ea typeface="Comfortaa"/>
                <a:cs typeface="Comfortaa"/>
                <a:sym typeface="Comfortaa"/>
              </a:rPr>
              <a:t>Male + Royalty = ?</a:t>
            </a:r>
            <a:endParaRPr b="0" i="0" sz="2200" u="none" cap="none" strike="noStrike">
              <a:solidFill>
                <a:srgbClr val="252323"/>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200"/>
              <a:buFont typeface="Arial"/>
              <a:buNone/>
            </a:pPr>
            <a:r>
              <a:rPr b="0" i="0" lang="pt-BR" sz="2200" u="none" cap="none" strike="noStrike">
                <a:solidFill>
                  <a:srgbClr val="252323"/>
                </a:solidFill>
                <a:latin typeface="Comfortaa"/>
                <a:ea typeface="Comfortaa"/>
                <a:cs typeface="Comfortaa"/>
                <a:sym typeface="Comfortaa"/>
              </a:rPr>
              <a:t>King – Male + Female = ?</a:t>
            </a:r>
            <a:endParaRPr b="0" i="0" sz="2200" u="none" cap="none" strike="noStrike">
              <a:solidFill>
                <a:srgbClr val="252323"/>
              </a:solidFill>
              <a:latin typeface="Comfortaa"/>
              <a:ea typeface="Comfortaa"/>
              <a:cs typeface="Comfortaa"/>
              <a:sym typeface="Comfortaa"/>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g3f9ebdf94e2_0_792"/>
          <p:cNvSpPr txBox="1"/>
          <p:nvPr/>
        </p:nvSpPr>
        <p:spPr>
          <a:xfrm>
            <a:off x="457172" y="101880"/>
            <a:ext cx="8228700" cy="49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Operations with Vectors</a:t>
            </a:r>
            <a:endParaRPr b="1" i="0" sz="3000" u="none" cap="none" strike="noStrike">
              <a:solidFill>
                <a:srgbClr val="252323"/>
              </a:solidFill>
              <a:latin typeface="Comfortaa"/>
              <a:ea typeface="Comfortaa"/>
              <a:cs typeface="Comfortaa"/>
              <a:sym typeface="Comfortaa"/>
            </a:endParaRPr>
          </a:p>
        </p:txBody>
      </p:sp>
      <p:sp>
        <p:nvSpPr>
          <p:cNvPr id="1090" name="Google Shape;1090;g3f9ebdf94e2_0_792"/>
          <p:cNvSpPr txBox="1"/>
          <p:nvPr/>
        </p:nvSpPr>
        <p:spPr>
          <a:xfrm>
            <a:off x="424843" y="718387"/>
            <a:ext cx="8228700" cy="4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pt-BR" sz="2200" u="none" cap="none" strike="noStrike">
                <a:solidFill>
                  <a:srgbClr val="252323"/>
                </a:solidFill>
                <a:latin typeface="Comfortaa"/>
                <a:ea typeface="Comfortaa"/>
                <a:cs typeface="Comfortaa"/>
                <a:sym typeface="Comfortaa"/>
              </a:rPr>
              <a:t>King – Male + Female = Queen</a:t>
            </a:r>
            <a:endParaRPr b="0" i="0" sz="2200" u="none" cap="none" strike="noStrike">
              <a:solidFill>
                <a:srgbClr val="252323"/>
              </a:solidFill>
              <a:latin typeface="Comfortaa"/>
              <a:ea typeface="Comfortaa"/>
              <a:cs typeface="Comfortaa"/>
              <a:sym typeface="Comfortaa"/>
            </a:endParaRPr>
          </a:p>
        </p:txBody>
      </p:sp>
      <p:pic>
        <p:nvPicPr>
          <p:cNvPr id="1091" name="Google Shape;1091;g3f9ebdf94e2_0_792"/>
          <p:cNvPicPr preferRelativeResize="0"/>
          <p:nvPr/>
        </p:nvPicPr>
        <p:blipFill rotWithShape="1">
          <a:blip r:embed="rId3">
            <a:alphaModFix/>
          </a:blip>
          <a:srcRect b="0" l="0" r="0" t="0"/>
          <a:stretch/>
        </p:blipFill>
        <p:spPr>
          <a:xfrm>
            <a:off x="5187919" y="4039623"/>
            <a:ext cx="421236" cy="639691"/>
          </a:xfrm>
          <a:prstGeom prst="rect">
            <a:avLst/>
          </a:prstGeom>
          <a:noFill/>
          <a:ln>
            <a:noFill/>
          </a:ln>
        </p:spPr>
      </p:pic>
      <p:sp>
        <p:nvSpPr>
          <p:cNvPr id="1092" name="Google Shape;1092;g3f9ebdf94e2_0_792"/>
          <p:cNvSpPr txBox="1"/>
          <p:nvPr/>
        </p:nvSpPr>
        <p:spPr>
          <a:xfrm>
            <a:off x="5581413" y="4202240"/>
            <a:ext cx="7848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Queen</a:t>
            </a:r>
            <a:endParaRPr b="0" i="0" sz="1600" u="none" cap="none" strike="noStrike">
              <a:solidFill>
                <a:srgbClr val="000000"/>
              </a:solidFill>
              <a:latin typeface="Arial"/>
              <a:ea typeface="Arial"/>
              <a:cs typeface="Arial"/>
              <a:sym typeface="Arial"/>
            </a:endParaRPr>
          </a:p>
        </p:txBody>
      </p:sp>
      <p:sp>
        <p:nvSpPr>
          <p:cNvPr id="1093" name="Google Shape;1093;g3f9ebdf94e2_0_792"/>
          <p:cNvSpPr/>
          <p:nvPr/>
        </p:nvSpPr>
        <p:spPr>
          <a:xfrm>
            <a:off x="6366115" y="3951131"/>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94" name="Google Shape;1094;g3f9ebdf94e2_0_792"/>
          <p:cNvSpPr/>
          <p:nvPr/>
        </p:nvSpPr>
        <p:spPr>
          <a:xfrm>
            <a:off x="7347402" y="3951131"/>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pic>
        <p:nvPicPr>
          <p:cNvPr id="1095" name="Google Shape;1095;g3f9ebdf94e2_0_792"/>
          <p:cNvPicPr preferRelativeResize="0"/>
          <p:nvPr/>
        </p:nvPicPr>
        <p:blipFill rotWithShape="1">
          <a:blip r:embed="rId4">
            <a:alphaModFix/>
          </a:blip>
          <a:srcRect b="0" l="0" r="0" t="0"/>
          <a:stretch/>
        </p:blipFill>
        <p:spPr>
          <a:xfrm>
            <a:off x="731801" y="1361344"/>
            <a:ext cx="411113" cy="592996"/>
          </a:xfrm>
          <a:prstGeom prst="rect">
            <a:avLst/>
          </a:prstGeom>
          <a:noFill/>
          <a:ln>
            <a:noFill/>
          </a:ln>
        </p:spPr>
      </p:pic>
      <p:sp>
        <p:nvSpPr>
          <p:cNvPr id="1096" name="Google Shape;1096;g3f9ebdf94e2_0_792"/>
          <p:cNvSpPr txBox="1"/>
          <p:nvPr/>
        </p:nvSpPr>
        <p:spPr>
          <a:xfrm>
            <a:off x="1115172" y="1500777"/>
            <a:ext cx="5775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King</a:t>
            </a:r>
            <a:endParaRPr b="0" i="0" sz="1600" u="none" cap="none" strike="noStrike">
              <a:solidFill>
                <a:srgbClr val="000000"/>
              </a:solidFill>
              <a:latin typeface="Arial"/>
              <a:ea typeface="Arial"/>
              <a:cs typeface="Arial"/>
              <a:sym typeface="Arial"/>
            </a:endParaRPr>
          </a:p>
        </p:txBody>
      </p:sp>
      <p:sp>
        <p:nvSpPr>
          <p:cNvPr id="1097" name="Google Shape;1097;g3f9ebdf94e2_0_792"/>
          <p:cNvSpPr/>
          <p:nvPr/>
        </p:nvSpPr>
        <p:spPr>
          <a:xfrm>
            <a:off x="2226426" y="1249668"/>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098" name="Google Shape;1098;g3f9ebdf94e2_0_792"/>
          <p:cNvSpPr/>
          <p:nvPr/>
        </p:nvSpPr>
        <p:spPr>
          <a:xfrm>
            <a:off x="3206079" y="1249668"/>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099" name="Google Shape;1099;g3f9ebdf94e2_0_792"/>
          <p:cNvSpPr txBox="1"/>
          <p:nvPr/>
        </p:nvSpPr>
        <p:spPr>
          <a:xfrm>
            <a:off x="1174605" y="2814446"/>
            <a:ext cx="6120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Male</a:t>
            </a:r>
            <a:endParaRPr b="0" i="0" sz="1600" u="none" cap="none" strike="noStrike">
              <a:solidFill>
                <a:srgbClr val="000000"/>
              </a:solidFill>
              <a:latin typeface="Arial"/>
              <a:ea typeface="Arial"/>
              <a:cs typeface="Arial"/>
              <a:sym typeface="Arial"/>
            </a:endParaRPr>
          </a:p>
        </p:txBody>
      </p:sp>
      <p:sp>
        <p:nvSpPr>
          <p:cNvPr id="1100" name="Google Shape;1100;g3f9ebdf94e2_0_792"/>
          <p:cNvSpPr/>
          <p:nvPr/>
        </p:nvSpPr>
        <p:spPr>
          <a:xfrm>
            <a:off x="2285858" y="2563337"/>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101" name="Google Shape;1101;g3f9ebdf94e2_0_792"/>
          <p:cNvSpPr/>
          <p:nvPr/>
        </p:nvSpPr>
        <p:spPr>
          <a:xfrm>
            <a:off x="3265512" y="2563337"/>
            <a:ext cx="979800" cy="816300"/>
          </a:xfrm>
          <a:prstGeom prst="rect">
            <a:avLst/>
          </a:prstGeom>
          <a:solidFill>
            <a:srgbClr val="CCCCCC"/>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102" name="Google Shape;1102;g3f9ebdf94e2_0_792"/>
          <p:cNvSpPr txBox="1"/>
          <p:nvPr/>
        </p:nvSpPr>
        <p:spPr>
          <a:xfrm>
            <a:off x="1142929" y="4202240"/>
            <a:ext cx="9279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Royalty</a:t>
            </a:r>
            <a:endParaRPr b="0" i="0" sz="1600" u="none" cap="none" strike="noStrike">
              <a:solidFill>
                <a:srgbClr val="000000"/>
              </a:solidFill>
              <a:latin typeface="Arial"/>
              <a:ea typeface="Arial"/>
              <a:cs typeface="Arial"/>
              <a:sym typeface="Arial"/>
            </a:endParaRPr>
          </a:p>
        </p:txBody>
      </p:sp>
      <p:sp>
        <p:nvSpPr>
          <p:cNvPr id="1103" name="Google Shape;1103;g3f9ebdf94e2_0_792"/>
          <p:cNvSpPr/>
          <p:nvPr/>
        </p:nvSpPr>
        <p:spPr>
          <a:xfrm>
            <a:off x="2254183" y="3951131"/>
            <a:ext cx="979800" cy="816300"/>
          </a:xfrm>
          <a:prstGeom prst="rect">
            <a:avLst/>
          </a:prstGeom>
          <a:solidFill>
            <a:srgbClr val="CCCCCC"/>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104" name="Google Shape;1104;g3f9ebdf94e2_0_792"/>
          <p:cNvSpPr/>
          <p:nvPr/>
        </p:nvSpPr>
        <p:spPr>
          <a:xfrm>
            <a:off x="3233836" y="3951131"/>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105" name="Google Shape;1105;g3f9ebdf94e2_0_792"/>
          <p:cNvSpPr/>
          <p:nvPr/>
        </p:nvSpPr>
        <p:spPr>
          <a:xfrm>
            <a:off x="7184126" y="2155162"/>
            <a:ext cx="326552" cy="326542"/>
          </a:xfrm>
          <a:custGeom>
            <a:rect b="b" l="l" r="r" t="t"/>
            <a:pathLst>
              <a:path extrusionOk="0" h="1002" w="1002">
                <a:moveTo>
                  <a:pt x="250" y="0"/>
                </a:moveTo>
                <a:lnTo>
                  <a:pt x="750" y="0"/>
                </a:lnTo>
                <a:lnTo>
                  <a:pt x="750" y="250"/>
                </a:lnTo>
                <a:lnTo>
                  <a:pt x="1001" y="250"/>
                </a:lnTo>
                <a:lnTo>
                  <a:pt x="1001" y="750"/>
                </a:lnTo>
                <a:lnTo>
                  <a:pt x="750" y="750"/>
                </a:lnTo>
                <a:lnTo>
                  <a:pt x="750" y="1001"/>
                </a:lnTo>
                <a:lnTo>
                  <a:pt x="250" y="1001"/>
                </a:lnTo>
                <a:lnTo>
                  <a:pt x="250" y="750"/>
                </a:lnTo>
                <a:lnTo>
                  <a:pt x="0" y="750"/>
                </a:lnTo>
                <a:lnTo>
                  <a:pt x="0" y="250"/>
                </a:lnTo>
                <a:lnTo>
                  <a:pt x="250" y="250"/>
                </a:lnTo>
                <a:lnTo>
                  <a:pt x="250" y="0"/>
                </a:lnTo>
              </a:path>
            </a:pathLst>
          </a:custGeom>
          <a:solidFill>
            <a:srgbClr val="FFFFFF"/>
          </a:solidFill>
          <a:ln cap="flat" cmpd="sng" w="26450">
            <a:solidFill>
              <a:srgbClr val="000000"/>
            </a:solidFill>
            <a:prstDash val="solid"/>
            <a:round/>
            <a:headEnd len="sm" w="sm" type="none"/>
            <a:tailEnd len="sm" w="sm" type="none"/>
          </a:ln>
        </p:spPr>
      </p:sp>
      <p:sp>
        <p:nvSpPr>
          <p:cNvPr id="1106" name="Google Shape;1106;g3f9ebdf94e2_0_792"/>
          <p:cNvSpPr/>
          <p:nvPr/>
        </p:nvSpPr>
        <p:spPr>
          <a:xfrm>
            <a:off x="7184453" y="2155162"/>
            <a:ext cx="326552" cy="326542"/>
          </a:xfrm>
          <a:custGeom>
            <a:rect b="b" l="l" r="r" t="t"/>
            <a:pathLst>
              <a:path extrusionOk="0" h="1002" w="1002">
                <a:moveTo>
                  <a:pt x="250" y="0"/>
                </a:moveTo>
                <a:lnTo>
                  <a:pt x="750" y="0"/>
                </a:lnTo>
                <a:lnTo>
                  <a:pt x="750" y="250"/>
                </a:lnTo>
                <a:lnTo>
                  <a:pt x="1001" y="250"/>
                </a:lnTo>
                <a:lnTo>
                  <a:pt x="1001" y="750"/>
                </a:lnTo>
                <a:lnTo>
                  <a:pt x="750" y="750"/>
                </a:lnTo>
                <a:lnTo>
                  <a:pt x="750" y="1001"/>
                </a:lnTo>
                <a:lnTo>
                  <a:pt x="250" y="1001"/>
                </a:lnTo>
                <a:lnTo>
                  <a:pt x="250" y="750"/>
                </a:lnTo>
                <a:lnTo>
                  <a:pt x="0" y="750"/>
                </a:lnTo>
                <a:lnTo>
                  <a:pt x="0" y="250"/>
                </a:lnTo>
                <a:lnTo>
                  <a:pt x="250" y="250"/>
                </a:lnTo>
                <a:lnTo>
                  <a:pt x="250" y="0"/>
                </a:lnTo>
              </a:path>
            </a:pathLst>
          </a:custGeom>
          <a:solidFill>
            <a:srgbClr val="FFFFFF"/>
          </a:solidFill>
          <a:ln cap="flat" cmpd="sng" w="26450">
            <a:solidFill>
              <a:srgbClr val="000000"/>
            </a:solidFill>
            <a:prstDash val="solid"/>
            <a:round/>
            <a:headEnd len="sm" w="sm" type="none"/>
            <a:tailEnd len="sm" w="sm" type="none"/>
          </a:ln>
        </p:spPr>
      </p:sp>
      <p:grpSp>
        <p:nvGrpSpPr>
          <p:cNvPr id="1107" name="Google Shape;1107;g3f9ebdf94e2_0_792"/>
          <p:cNvGrpSpPr/>
          <p:nvPr/>
        </p:nvGrpSpPr>
        <p:grpSpPr>
          <a:xfrm>
            <a:off x="7184232" y="3476842"/>
            <a:ext cx="326556" cy="295751"/>
            <a:chOff x="7920000" y="3832920"/>
            <a:chExt cx="360000" cy="326040"/>
          </a:xfrm>
        </p:grpSpPr>
        <p:sp>
          <p:nvSpPr>
            <p:cNvPr id="1108" name="Google Shape;1108;g3f9ebdf94e2_0_792"/>
            <p:cNvSpPr/>
            <p:nvPr/>
          </p:nvSpPr>
          <p:spPr>
            <a:xfrm>
              <a:off x="7920000" y="3832920"/>
              <a:ext cx="360000" cy="1392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109" name="Google Shape;1109;g3f9ebdf94e2_0_792"/>
            <p:cNvSpPr/>
            <p:nvPr/>
          </p:nvSpPr>
          <p:spPr>
            <a:xfrm>
              <a:off x="7920000" y="4019760"/>
              <a:ext cx="360000" cy="1392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grpSp>
      <p:sp>
        <p:nvSpPr>
          <p:cNvPr id="1110" name="Google Shape;1110;g3f9ebdf94e2_0_792"/>
          <p:cNvSpPr/>
          <p:nvPr/>
        </p:nvSpPr>
        <p:spPr>
          <a:xfrm>
            <a:off x="3102236" y="2255410"/>
            <a:ext cx="326700" cy="12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grpSp>
        <p:nvGrpSpPr>
          <p:cNvPr id="1111" name="Google Shape;1111;g3f9ebdf94e2_0_792"/>
          <p:cNvGrpSpPr/>
          <p:nvPr/>
        </p:nvGrpSpPr>
        <p:grpSpPr>
          <a:xfrm>
            <a:off x="3102282" y="3476842"/>
            <a:ext cx="326556" cy="295751"/>
            <a:chOff x="3420000" y="3832920"/>
            <a:chExt cx="360000" cy="326040"/>
          </a:xfrm>
        </p:grpSpPr>
        <p:sp>
          <p:nvSpPr>
            <p:cNvPr id="1112" name="Google Shape;1112;g3f9ebdf94e2_0_792"/>
            <p:cNvSpPr/>
            <p:nvPr/>
          </p:nvSpPr>
          <p:spPr>
            <a:xfrm>
              <a:off x="3420000" y="3832920"/>
              <a:ext cx="360000" cy="1392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113" name="Google Shape;1113;g3f9ebdf94e2_0_792"/>
            <p:cNvSpPr/>
            <p:nvPr/>
          </p:nvSpPr>
          <p:spPr>
            <a:xfrm>
              <a:off x="3420000" y="4019760"/>
              <a:ext cx="360000" cy="1392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grpSp>
      <p:sp>
        <p:nvSpPr>
          <p:cNvPr id="1114" name="Google Shape;1114;g3f9ebdf94e2_0_792"/>
          <p:cNvSpPr txBox="1"/>
          <p:nvPr/>
        </p:nvSpPr>
        <p:spPr>
          <a:xfrm>
            <a:off x="5224819" y="1500777"/>
            <a:ext cx="9279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Royalty</a:t>
            </a:r>
            <a:endParaRPr b="0" i="0" sz="1600" u="none" cap="none" strike="noStrike">
              <a:solidFill>
                <a:srgbClr val="000000"/>
              </a:solidFill>
              <a:latin typeface="Arial"/>
              <a:ea typeface="Arial"/>
              <a:cs typeface="Arial"/>
              <a:sym typeface="Arial"/>
            </a:endParaRPr>
          </a:p>
        </p:txBody>
      </p:sp>
      <p:sp>
        <p:nvSpPr>
          <p:cNvPr id="1115" name="Google Shape;1115;g3f9ebdf94e2_0_792"/>
          <p:cNvSpPr/>
          <p:nvPr/>
        </p:nvSpPr>
        <p:spPr>
          <a:xfrm>
            <a:off x="6336073" y="1249668"/>
            <a:ext cx="979800" cy="816300"/>
          </a:xfrm>
          <a:prstGeom prst="rect">
            <a:avLst/>
          </a:prstGeom>
          <a:solidFill>
            <a:srgbClr val="CCCCCC"/>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116" name="Google Shape;1116;g3f9ebdf94e2_0_792"/>
          <p:cNvSpPr/>
          <p:nvPr/>
        </p:nvSpPr>
        <p:spPr>
          <a:xfrm>
            <a:off x="7315726" y="1249668"/>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117" name="Google Shape;1117;g3f9ebdf94e2_0_792"/>
          <p:cNvSpPr txBox="1"/>
          <p:nvPr/>
        </p:nvSpPr>
        <p:spPr>
          <a:xfrm>
            <a:off x="5224819" y="2814446"/>
            <a:ext cx="8538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Female</a:t>
            </a:r>
            <a:endParaRPr b="0" i="0" sz="1600" u="none" cap="none" strike="noStrike">
              <a:solidFill>
                <a:srgbClr val="000000"/>
              </a:solidFill>
              <a:latin typeface="Arial"/>
              <a:ea typeface="Arial"/>
              <a:cs typeface="Arial"/>
              <a:sym typeface="Arial"/>
            </a:endParaRPr>
          </a:p>
        </p:txBody>
      </p:sp>
      <p:sp>
        <p:nvSpPr>
          <p:cNvPr id="1118" name="Google Shape;1118;g3f9ebdf94e2_0_792"/>
          <p:cNvSpPr/>
          <p:nvPr/>
        </p:nvSpPr>
        <p:spPr>
          <a:xfrm>
            <a:off x="6336073" y="2563337"/>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119" name="Google Shape;1119;g3f9ebdf94e2_0_792"/>
          <p:cNvSpPr/>
          <p:nvPr/>
        </p:nvSpPr>
        <p:spPr>
          <a:xfrm>
            <a:off x="7317359" y="2563337"/>
            <a:ext cx="979800" cy="816300"/>
          </a:xfrm>
          <a:prstGeom prst="rect">
            <a:avLst/>
          </a:prstGeom>
          <a:solidFill>
            <a:srgbClr val="CCCCCC"/>
          </a:solidFill>
          <a:ln cap="flat" cmpd="sng" w="2645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g3f9ebdf94e2_0_826"/>
          <p:cNvSpPr txBox="1"/>
          <p:nvPr/>
        </p:nvSpPr>
        <p:spPr>
          <a:xfrm>
            <a:off x="457172" y="2142427"/>
            <a:ext cx="8228700" cy="85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Vector in the Space</a:t>
            </a:r>
            <a:endParaRPr b="1" i="0" sz="3000" u="none" cap="none" strike="noStrike">
              <a:solidFill>
                <a:srgbClr val="252323"/>
              </a:solidFill>
              <a:latin typeface="Comfortaa"/>
              <a:ea typeface="Comfortaa"/>
              <a:cs typeface="Comfortaa"/>
              <a:sym typeface="Comfortaa"/>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g3f9ebdf94e2_0_830"/>
          <p:cNvSpPr txBox="1"/>
          <p:nvPr/>
        </p:nvSpPr>
        <p:spPr>
          <a:xfrm>
            <a:off x="282793" y="403603"/>
            <a:ext cx="7728300" cy="5193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3100"/>
              <a:buFont typeface="Arial"/>
              <a:buNone/>
            </a:pPr>
            <a:r>
              <a:rPr b="1" i="0" lang="pt-BR" sz="3100" u="none" cap="none" strike="noStrike">
                <a:solidFill>
                  <a:srgbClr val="000000"/>
                </a:solidFill>
                <a:latin typeface="Comfortaa"/>
                <a:ea typeface="Comfortaa"/>
                <a:cs typeface="Comfortaa"/>
                <a:sym typeface="Comfortaa"/>
              </a:rPr>
              <a:t>Height and Weight Chart</a:t>
            </a:r>
            <a:endParaRPr b="1" i="0" sz="3100" u="none" cap="none" strike="noStrike">
              <a:solidFill>
                <a:srgbClr val="252323"/>
              </a:solidFill>
              <a:latin typeface="Comfortaa"/>
              <a:ea typeface="Comfortaa"/>
              <a:cs typeface="Comfortaa"/>
              <a:sym typeface="Comfortaa"/>
            </a:endParaRPr>
          </a:p>
        </p:txBody>
      </p:sp>
      <p:graphicFrame>
        <p:nvGraphicFramePr>
          <p:cNvPr id="1130" name="Google Shape;1130;g3f9ebdf94e2_0_830"/>
          <p:cNvGraphicFramePr/>
          <p:nvPr/>
        </p:nvGraphicFramePr>
        <p:xfrm>
          <a:off x="864054" y="1296036"/>
          <a:ext cx="3000000" cy="3000000"/>
        </p:xfrm>
        <a:graphic>
          <a:graphicData uri="http://schemas.openxmlformats.org/drawingml/2006/table">
            <a:tbl>
              <a:tblPr>
                <a:noFill/>
                <a:tableStyleId>{967FECD5-6A5C-4673-8E3D-DED955AC76FF}</a:tableStyleId>
              </a:tblPr>
              <a:tblGrid>
                <a:gridCol w="1746400"/>
                <a:gridCol w="1746400"/>
                <a:gridCol w="1746725"/>
              </a:tblGrid>
              <a:tr h="541400">
                <a:tc>
                  <a:txBody>
                    <a:bodyPr/>
                    <a:lstStyle/>
                    <a:p>
                      <a:pPr indent="0" lvl="0" marL="0" marR="0" rtl="0" algn="ctr">
                        <a:lnSpc>
                          <a:spcPct val="100000"/>
                        </a:lnSpc>
                        <a:spcBef>
                          <a:spcPts val="0"/>
                        </a:spcBef>
                        <a:spcAft>
                          <a:spcPts val="0"/>
                        </a:spcAft>
                        <a:buClr>
                          <a:srgbClr val="000000"/>
                        </a:buClr>
                        <a:buSzPts val="2200"/>
                        <a:buFont typeface="Arial"/>
                        <a:buNone/>
                      </a:pPr>
                      <a:r>
                        <a:rPr b="1" lang="pt-BR" sz="2200" u="none" cap="none" strike="noStrike">
                          <a:solidFill>
                            <a:srgbClr val="000000"/>
                          </a:solidFill>
                          <a:latin typeface="Arial"/>
                          <a:ea typeface="Arial"/>
                          <a:cs typeface="Arial"/>
                          <a:sym typeface="Arial"/>
                        </a:rPr>
                        <a:t>name</a:t>
                      </a:r>
                      <a:endParaRPr b="1" sz="2200" u="none" cap="none" strike="noStrike">
                        <a:solidFill>
                          <a:srgbClr val="000000"/>
                        </a:solidFill>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200"/>
                        <a:buFont typeface="Arial"/>
                        <a:buNone/>
                      </a:pPr>
                      <a:r>
                        <a:rPr b="1" lang="pt-BR" sz="2200" u="none" cap="none" strike="noStrike">
                          <a:solidFill>
                            <a:srgbClr val="000000"/>
                          </a:solidFill>
                          <a:latin typeface="Arial"/>
                          <a:ea typeface="Arial"/>
                          <a:cs typeface="Arial"/>
                          <a:sym typeface="Arial"/>
                        </a:rPr>
                        <a:t>height</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200"/>
                        <a:buFont typeface="Arial"/>
                        <a:buNone/>
                      </a:pPr>
                      <a:r>
                        <a:rPr b="1" lang="pt-BR" sz="2200" u="none" cap="none" strike="noStrike">
                          <a:solidFill>
                            <a:srgbClr val="000000"/>
                          </a:solidFill>
                          <a:latin typeface="Arial"/>
                          <a:ea typeface="Arial"/>
                          <a:cs typeface="Arial"/>
                          <a:sym typeface="Arial"/>
                        </a:rPr>
                        <a:t>weight</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541400">
                <a:tc>
                  <a:txBody>
                    <a:bodyPr/>
                    <a:lstStyle/>
                    <a:p>
                      <a:pPr indent="0" lvl="0" marL="0" marR="0" rtl="0" algn="l">
                        <a:lnSpc>
                          <a:spcPct val="100000"/>
                        </a:lnSpc>
                        <a:spcBef>
                          <a:spcPts val="0"/>
                        </a:spcBef>
                        <a:spcAft>
                          <a:spcPts val="0"/>
                        </a:spcAft>
                        <a:buClr>
                          <a:srgbClr val="000000"/>
                        </a:buClr>
                        <a:buSzPts val="1600"/>
                        <a:buFont typeface="Arial"/>
                        <a:buNone/>
                      </a:pPr>
                      <a:r>
                        <a:rPr b="0" lang="pt-BR" sz="1600" u="none" cap="none" strike="noStrike">
                          <a:solidFill>
                            <a:srgbClr val="000000"/>
                          </a:solidFill>
                          <a:latin typeface="Arial"/>
                          <a:ea typeface="Arial"/>
                          <a:cs typeface="Arial"/>
                          <a:sym typeface="Arial"/>
                        </a:rPr>
                        <a:t>Doriana</a:t>
                      </a:r>
                      <a:endParaRPr b="0" sz="16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200"/>
                        <a:buFont typeface="Arial"/>
                        <a:buNone/>
                      </a:pPr>
                      <a:r>
                        <a:rPr b="0" lang="pt-BR" sz="2200" u="none" cap="none" strike="noStrike">
                          <a:solidFill>
                            <a:srgbClr val="000000"/>
                          </a:solidFill>
                          <a:latin typeface="Arial"/>
                          <a:ea typeface="Arial"/>
                          <a:cs typeface="Arial"/>
                          <a:sym typeface="Arial"/>
                        </a:rPr>
                        <a:t>1.87</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200"/>
                        <a:buFont typeface="Arial"/>
                        <a:buNone/>
                      </a:pPr>
                      <a:r>
                        <a:rPr b="0" lang="pt-BR" sz="2200" u="none" cap="none" strike="noStrike">
                          <a:solidFill>
                            <a:srgbClr val="000000"/>
                          </a:solidFill>
                          <a:latin typeface="Arial"/>
                          <a:ea typeface="Arial"/>
                          <a:cs typeface="Arial"/>
                          <a:sym typeface="Arial"/>
                        </a:rPr>
                        <a:t>60</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541400">
                <a:tc>
                  <a:txBody>
                    <a:bodyPr/>
                    <a:lstStyle/>
                    <a:p>
                      <a:pPr indent="0" lvl="0" marL="0" marR="0" rtl="0" algn="l">
                        <a:lnSpc>
                          <a:spcPct val="100000"/>
                        </a:lnSpc>
                        <a:spcBef>
                          <a:spcPts val="0"/>
                        </a:spcBef>
                        <a:spcAft>
                          <a:spcPts val="0"/>
                        </a:spcAft>
                        <a:buClr>
                          <a:srgbClr val="000000"/>
                        </a:buClr>
                        <a:buSzPts val="1600"/>
                        <a:buFont typeface="Arial"/>
                        <a:buNone/>
                      </a:pPr>
                      <a:r>
                        <a:rPr b="0" lang="pt-BR" sz="1600" u="none" cap="none" strike="noStrike">
                          <a:solidFill>
                            <a:srgbClr val="000000"/>
                          </a:solidFill>
                          <a:latin typeface="Arial"/>
                          <a:ea typeface="Arial"/>
                          <a:cs typeface="Arial"/>
                          <a:sym typeface="Arial"/>
                        </a:rPr>
                        <a:t>Quincas</a:t>
                      </a:r>
                      <a:endParaRPr b="0" sz="16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200"/>
                        <a:buFont typeface="Arial"/>
                        <a:buNone/>
                      </a:pPr>
                      <a:r>
                        <a:rPr b="0" lang="pt-BR" sz="2200" u="none" cap="none" strike="noStrike">
                          <a:solidFill>
                            <a:srgbClr val="000000"/>
                          </a:solidFill>
                          <a:latin typeface="Arial"/>
                          <a:ea typeface="Arial"/>
                          <a:cs typeface="Arial"/>
                          <a:sym typeface="Arial"/>
                        </a:rPr>
                        <a:t>1.81</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200"/>
                        <a:buFont typeface="Arial"/>
                        <a:buNone/>
                      </a:pPr>
                      <a:r>
                        <a:rPr b="0" lang="pt-BR" sz="2200" u="none" cap="none" strike="noStrike">
                          <a:solidFill>
                            <a:srgbClr val="000000"/>
                          </a:solidFill>
                          <a:latin typeface="Arial"/>
                          <a:ea typeface="Arial"/>
                          <a:cs typeface="Arial"/>
                          <a:sym typeface="Arial"/>
                        </a:rPr>
                        <a:t>110</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541400">
                <a:tc>
                  <a:txBody>
                    <a:bodyPr/>
                    <a:lstStyle/>
                    <a:p>
                      <a:pPr indent="0" lvl="0" marL="0" marR="0" rtl="0" algn="l">
                        <a:lnSpc>
                          <a:spcPct val="100000"/>
                        </a:lnSpc>
                        <a:spcBef>
                          <a:spcPts val="0"/>
                        </a:spcBef>
                        <a:spcAft>
                          <a:spcPts val="0"/>
                        </a:spcAft>
                        <a:buClr>
                          <a:srgbClr val="000000"/>
                        </a:buClr>
                        <a:buSzPts val="1600"/>
                        <a:buFont typeface="Arial"/>
                        <a:buNone/>
                      </a:pPr>
                      <a:r>
                        <a:rPr b="0" lang="pt-BR" sz="1600" u="none" cap="none" strike="noStrike">
                          <a:solidFill>
                            <a:srgbClr val="000000"/>
                          </a:solidFill>
                          <a:latin typeface="Arial"/>
                          <a:ea typeface="Arial"/>
                          <a:cs typeface="Arial"/>
                          <a:sym typeface="Arial"/>
                        </a:rPr>
                        <a:t>Asdrúbal</a:t>
                      </a:r>
                      <a:endParaRPr b="0" sz="16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200"/>
                        <a:buFont typeface="Arial"/>
                        <a:buNone/>
                      </a:pPr>
                      <a:r>
                        <a:rPr b="0" lang="pt-BR" sz="2200" u="none" cap="none" strike="noStrike">
                          <a:solidFill>
                            <a:srgbClr val="000000"/>
                          </a:solidFill>
                          <a:latin typeface="Arial"/>
                          <a:ea typeface="Arial"/>
                          <a:cs typeface="Arial"/>
                          <a:sym typeface="Arial"/>
                        </a:rPr>
                        <a:t>1.74</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200"/>
                        <a:buFont typeface="Arial"/>
                        <a:buNone/>
                      </a:pPr>
                      <a:r>
                        <a:rPr b="0" lang="pt-BR" sz="2200" u="none" cap="none" strike="noStrike">
                          <a:solidFill>
                            <a:srgbClr val="000000"/>
                          </a:solidFill>
                          <a:latin typeface="Arial"/>
                          <a:ea typeface="Arial"/>
                          <a:cs typeface="Arial"/>
                          <a:sym typeface="Arial"/>
                        </a:rPr>
                        <a:t>74</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541400">
                <a:tc>
                  <a:txBody>
                    <a:bodyPr/>
                    <a:lstStyle/>
                    <a:p>
                      <a:pPr indent="0" lvl="0" marL="0" marR="0" rtl="0" algn="l">
                        <a:lnSpc>
                          <a:spcPct val="100000"/>
                        </a:lnSpc>
                        <a:spcBef>
                          <a:spcPts val="0"/>
                        </a:spcBef>
                        <a:spcAft>
                          <a:spcPts val="0"/>
                        </a:spcAft>
                        <a:buClr>
                          <a:srgbClr val="000000"/>
                        </a:buClr>
                        <a:buSzPts val="1600"/>
                        <a:buFont typeface="Arial"/>
                        <a:buNone/>
                      </a:pPr>
                      <a:r>
                        <a:rPr b="0" lang="pt-BR" sz="1600" u="none" cap="none" strike="noStrike">
                          <a:solidFill>
                            <a:srgbClr val="000000"/>
                          </a:solidFill>
                          <a:latin typeface="Arial"/>
                          <a:ea typeface="Arial"/>
                          <a:cs typeface="Arial"/>
                          <a:sym typeface="Arial"/>
                        </a:rPr>
                        <a:t>Lucinda</a:t>
                      </a:r>
                      <a:endParaRPr b="0" sz="16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200"/>
                        <a:buFont typeface="Arial"/>
                        <a:buNone/>
                      </a:pPr>
                      <a:r>
                        <a:rPr b="0" lang="pt-BR" sz="2200" u="none" cap="none" strike="noStrike">
                          <a:solidFill>
                            <a:srgbClr val="000000"/>
                          </a:solidFill>
                          <a:latin typeface="Arial"/>
                          <a:ea typeface="Arial"/>
                          <a:cs typeface="Arial"/>
                          <a:sym typeface="Arial"/>
                        </a:rPr>
                        <a:t>1.49</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200"/>
                        <a:buFont typeface="Arial"/>
                        <a:buNone/>
                      </a:pPr>
                      <a:r>
                        <a:rPr b="0" lang="pt-BR" sz="2200" u="none" cap="none" strike="noStrike">
                          <a:solidFill>
                            <a:srgbClr val="000000"/>
                          </a:solidFill>
                          <a:latin typeface="Arial"/>
                          <a:ea typeface="Arial"/>
                          <a:cs typeface="Arial"/>
                          <a:sym typeface="Arial"/>
                        </a:rPr>
                        <a:t>46</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541400">
                <a:tc>
                  <a:txBody>
                    <a:bodyPr/>
                    <a:lstStyle/>
                    <a:p>
                      <a:pPr indent="0" lvl="0" marL="0" marR="0" rtl="0" algn="l">
                        <a:lnSpc>
                          <a:spcPct val="100000"/>
                        </a:lnSpc>
                        <a:spcBef>
                          <a:spcPts val="0"/>
                        </a:spcBef>
                        <a:spcAft>
                          <a:spcPts val="0"/>
                        </a:spcAft>
                        <a:buClr>
                          <a:srgbClr val="000000"/>
                        </a:buClr>
                        <a:buSzPts val="1600"/>
                        <a:buFont typeface="Arial"/>
                        <a:buNone/>
                      </a:pPr>
                      <a:r>
                        <a:rPr b="0" lang="pt-BR" sz="1600" u="none" cap="none" strike="noStrike">
                          <a:solidFill>
                            <a:srgbClr val="000000"/>
                          </a:solidFill>
                          <a:latin typeface="Arial"/>
                          <a:ea typeface="Arial"/>
                          <a:cs typeface="Arial"/>
                          <a:sym typeface="Arial"/>
                        </a:rPr>
                        <a:t>Dulcinéia</a:t>
                      </a:r>
                      <a:endParaRPr b="0" sz="16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200"/>
                        <a:buFont typeface="Arial"/>
                        <a:buNone/>
                      </a:pPr>
                      <a:r>
                        <a:rPr b="0" lang="pt-BR" sz="2200" u="none" cap="none" strike="noStrike">
                          <a:solidFill>
                            <a:srgbClr val="000000"/>
                          </a:solidFill>
                          <a:latin typeface="Arial"/>
                          <a:ea typeface="Arial"/>
                          <a:cs typeface="Arial"/>
                          <a:sym typeface="Arial"/>
                        </a:rPr>
                        <a:t>1.65</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200"/>
                        <a:buFont typeface="Arial"/>
                        <a:buNone/>
                      </a:pPr>
                      <a:r>
                        <a:rPr b="0" lang="pt-BR" sz="2200" u="none" cap="none" strike="noStrike">
                          <a:solidFill>
                            <a:srgbClr val="000000"/>
                          </a:solidFill>
                          <a:latin typeface="Arial"/>
                          <a:ea typeface="Arial"/>
                          <a:cs typeface="Arial"/>
                          <a:sym typeface="Arial"/>
                        </a:rPr>
                        <a:t>64</a:t>
                      </a:r>
                      <a:endParaRPr b="0" sz="22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bl>
          </a:graphicData>
        </a:graphic>
      </p:graphicFrame>
      <p:pic>
        <p:nvPicPr>
          <p:cNvPr id="1131" name="Google Shape;1131;g3f9ebdf94e2_0_830"/>
          <p:cNvPicPr preferRelativeResize="0"/>
          <p:nvPr/>
        </p:nvPicPr>
        <p:blipFill rotWithShape="1">
          <a:blip r:embed="rId3">
            <a:alphaModFix/>
          </a:blip>
          <a:srcRect b="0" l="0" r="0" t="0"/>
          <a:stretch/>
        </p:blipFill>
        <p:spPr>
          <a:xfrm>
            <a:off x="270711" y="2413782"/>
            <a:ext cx="487868" cy="448340"/>
          </a:xfrm>
          <a:prstGeom prst="rect">
            <a:avLst/>
          </a:prstGeom>
          <a:noFill/>
          <a:ln>
            <a:noFill/>
          </a:ln>
        </p:spPr>
      </p:pic>
      <p:pic>
        <p:nvPicPr>
          <p:cNvPr id="1132" name="Google Shape;1132;g3f9ebdf94e2_0_830"/>
          <p:cNvPicPr preferRelativeResize="0"/>
          <p:nvPr/>
        </p:nvPicPr>
        <p:blipFill rotWithShape="1">
          <a:blip r:embed="rId4">
            <a:alphaModFix/>
          </a:blip>
          <a:srcRect b="0" l="0" r="0" t="0"/>
          <a:stretch/>
        </p:blipFill>
        <p:spPr>
          <a:xfrm>
            <a:off x="288345" y="4052358"/>
            <a:ext cx="452273" cy="415685"/>
          </a:xfrm>
          <a:prstGeom prst="rect">
            <a:avLst/>
          </a:prstGeom>
          <a:noFill/>
          <a:ln>
            <a:noFill/>
          </a:ln>
        </p:spPr>
      </p:pic>
      <p:pic>
        <p:nvPicPr>
          <p:cNvPr id="1133" name="Google Shape;1133;g3f9ebdf94e2_0_830"/>
          <p:cNvPicPr preferRelativeResize="0"/>
          <p:nvPr/>
        </p:nvPicPr>
        <p:blipFill rotWithShape="1">
          <a:blip r:embed="rId5">
            <a:alphaModFix/>
          </a:blip>
          <a:srcRect b="0" l="0" r="0" t="0"/>
          <a:stretch/>
        </p:blipFill>
        <p:spPr>
          <a:xfrm>
            <a:off x="251444" y="3487445"/>
            <a:ext cx="525748" cy="483280"/>
          </a:xfrm>
          <a:prstGeom prst="rect">
            <a:avLst/>
          </a:prstGeom>
          <a:noFill/>
          <a:ln>
            <a:noFill/>
          </a:ln>
        </p:spPr>
      </p:pic>
      <p:pic>
        <p:nvPicPr>
          <p:cNvPr id="1134" name="Google Shape;1134;g3f9ebdf94e2_0_830"/>
          <p:cNvPicPr preferRelativeResize="0"/>
          <p:nvPr/>
        </p:nvPicPr>
        <p:blipFill rotWithShape="1">
          <a:blip r:embed="rId6">
            <a:alphaModFix/>
          </a:blip>
          <a:srcRect b="0" l="0" r="0" t="0"/>
          <a:stretch/>
        </p:blipFill>
        <p:spPr>
          <a:xfrm>
            <a:off x="262874" y="2943756"/>
            <a:ext cx="502890" cy="462380"/>
          </a:xfrm>
          <a:prstGeom prst="rect">
            <a:avLst/>
          </a:prstGeom>
          <a:noFill/>
          <a:ln>
            <a:noFill/>
          </a:ln>
        </p:spPr>
      </p:pic>
      <p:pic>
        <p:nvPicPr>
          <p:cNvPr id="1135" name="Google Shape;1135;g3f9ebdf94e2_0_830"/>
          <p:cNvPicPr preferRelativeResize="0"/>
          <p:nvPr/>
        </p:nvPicPr>
        <p:blipFill rotWithShape="1">
          <a:blip r:embed="rId7">
            <a:alphaModFix/>
          </a:blip>
          <a:srcRect b="0" l="0" r="0" t="0"/>
          <a:stretch/>
        </p:blipFill>
        <p:spPr>
          <a:xfrm>
            <a:off x="288345" y="1880216"/>
            <a:ext cx="452258" cy="452258"/>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g3f9ebdf94e2_0_840"/>
          <p:cNvSpPr/>
          <p:nvPr/>
        </p:nvSpPr>
        <p:spPr>
          <a:xfrm>
            <a:off x="6281212" y="552505"/>
            <a:ext cx="215400" cy="1796400"/>
          </a:xfrm>
          <a:prstGeom prst="rect">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141" name="Google Shape;1141;g3f9ebdf94e2_0_840"/>
          <p:cNvSpPr txBox="1"/>
          <p:nvPr/>
        </p:nvSpPr>
        <p:spPr>
          <a:xfrm>
            <a:off x="282793" y="77390"/>
            <a:ext cx="5275200" cy="5193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3100"/>
              <a:buFont typeface="Arial"/>
              <a:buNone/>
            </a:pPr>
            <a:r>
              <a:rPr b="1" i="0" lang="pt-BR" sz="3100" u="none" cap="none" strike="noStrike">
                <a:solidFill>
                  <a:srgbClr val="000000"/>
                </a:solidFill>
                <a:latin typeface="Comfortaa"/>
                <a:ea typeface="Comfortaa"/>
                <a:cs typeface="Comfortaa"/>
                <a:sym typeface="Comfortaa"/>
              </a:rPr>
              <a:t>Comparing Zombies</a:t>
            </a:r>
            <a:endParaRPr b="1" i="0" sz="3100" u="none" cap="none" strike="noStrike">
              <a:solidFill>
                <a:srgbClr val="252323"/>
              </a:solidFill>
              <a:latin typeface="Comfortaa"/>
              <a:ea typeface="Comfortaa"/>
              <a:cs typeface="Comfortaa"/>
              <a:sym typeface="Comfortaa"/>
            </a:endParaRPr>
          </a:p>
        </p:txBody>
      </p:sp>
      <p:sp>
        <p:nvSpPr>
          <p:cNvPr id="1142" name="Google Shape;1142;g3f9ebdf94e2_0_840"/>
          <p:cNvSpPr/>
          <p:nvPr/>
        </p:nvSpPr>
        <p:spPr>
          <a:xfrm rot="10800000">
            <a:off x="782093" y="1278440"/>
            <a:ext cx="324" cy="301784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143" name="Google Shape;1143;g3f9ebdf94e2_0_840"/>
          <p:cNvSpPr/>
          <p:nvPr/>
        </p:nvSpPr>
        <p:spPr>
          <a:xfrm>
            <a:off x="581914" y="4114727"/>
            <a:ext cx="6343920" cy="32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144" name="Google Shape;1144;g3f9ebdf94e2_0_840"/>
          <p:cNvSpPr/>
          <p:nvPr/>
        </p:nvSpPr>
        <p:spPr>
          <a:xfrm>
            <a:off x="338960" y="898637"/>
            <a:ext cx="888300" cy="4428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height</a:t>
            </a:r>
            <a:endParaRPr b="0" i="0" sz="1800" u="none" cap="none" strike="noStrike">
              <a:solidFill>
                <a:srgbClr val="000000"/>
              </a:solidFill>
              <a:latin typeface="Arial"/>
              <a:ea typeface="Arial"/>
              <a:cs typeface="Arial"/>
              <a:sym typeface="Arial"/>
            </a:endParaRPr>
          </a:p>
        </p:txBody>
      </p:sp>
      <p:sp>
        <p:nvSpPr>
          <p:cNvPr id="1145" name="Google Shape;1145;g3f9ebdf94e2_0_840"/>
          <p:cNvSpPr/>
          <p:nvPr/>
        </p:nvSpPr>
        <p:spPr>
          <a:xfrm>
            <a:off x="6725648" y="4114727"/>
            <a:ext cx="948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weight</a:t>
            </a:r>
            <a:endParaRPr b="0" i="0" sz="1800" u="none" cap="none" strike="noStrike">
              <a:solidFill>
                <a:srgbClr val="000000"/>
              </a:solidFill>
              <a:latin typeface="Arial"/>
              <a:ea typeface="Arial"/>
              <a:cs typeface="Arial"/>
              <a:sym typeface="Arial"/>
            </a:endParaRPr>
          </a:p>
        </p:txBody>
      </p:sp>
      <p:cxnSp>
        <p:nvCxnSpPr>
          <p:cNvPr id="1146" name="Google Shape;1146;g3f9ebdf94e2_0_840"/>
          <p:cNvCxnSpPr/>
          <p:nvPr/>
        </p:nvCxnSpPr>
        <p:spPr>
          <a:xfrm flipH="1" rot="-5400000">
            <a:off x="714692" y="2249336"/>
            <a:ext cx="1910400" cy="1806300"/>
          </a:xfrm>
          <a:prstGeom prst="bentConnector3">
            <a:avLst>
              <a:gd fmla="val -185" name="adj1"/>
            </a:avLst>
          </a:prstGeom>
          <a:noFill/>
          <a:ln cap="flat" cmpd="sng" w="17300">
            <a:solidFill>
              <a:srgbClr val="595959"/>
            </a:solidFill>
            <a:prstDash val="dashDot"/>
            <a:round/>
            <a:headEnd len="sm" w="sm" type="none"/>
            <a:tailEnd len="sm" w="sm" type="none"/>
          </a:ln>
        </p:spPr>
      </p:cxnSp>
      <p:pic>
        <p:nvPicPr>
          <p:cNvPr id="1147" name="Google Shape;1147;g3f9ebdf94e2_0_840"/>
          <p:cNvPicPr preferRelativeResize="0"/>
          <p:nvPr/>
        </p:nvPicPr>
        <p:blipFill rotWithShape="1">
          <a:blip r:embed="rId3">
            <a:alphaModFix/>
          </a:blip>
          <a:srcRect b="0" l="0" r="0" t="0"/>
          <a:stretch/>
        </p:blipFill>
        <p:spPr>
          <a:xfrm>
            <a:off x="2092213" y="1838419"/>
            <a:ext cx="888515" cy="888515"/>
          </a:xfrm>
          <a:prstGeom prst="rect">
            <a:avLst/>
          </a:prstGeom>
          <a:noFill/>
          <a:ln>
            <a:noFill/>
          </a:ln>
        </p:spPr>
      </p:pic>
      <p:sp>
        <p:nvSpPr>
          <p:cNvPr id="1148" name="Google Shape;1148;g3f9ebdf94e2_0_840"/>
          <p:cNvSpPr/>
          <p:nvPr/>
        </p:nvSpPr>
        <p:spPr>
          <a:xfrm>
            <a:off x="2394273" y="4114727"/>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60</a:t>
            </a:r>
            <a:endParaRPr b="0" i="0" sz="1800" u="none" cap="none" strike="noStrike">
              <a:solidFill>
                <a:srgbClr val="000000"/>
              </a:solidFill>
              <a:latin typeface="Arial"/>
              <a:ea typeface="Arial"/>
              <a:cs typeface="Arial"/>
              <a:sym typeface="Arial"/>
            </a:endParaRPr>
          </a:p>
        </p:txBody>
      </p:sp>
      <p:sp>
        <p:nvSpPr>
          <p:cNvPr id="1149" name="Google Shape;1149;g3f9ebdf94e2_0_840"/>
          <p:cNvSpPr/>
          <p:nvPr/>
        </p:nvSpPr>
        <p:spPr>
          <a:xfrm>
            <a:off x="100578" y="1967402"/>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1,81</a:t>
            </a:r>
            <a:endParaRPr b="0" i="0" sz="1800" u="none" cap="none" strike="noStrike">
              <a:solidFill>
                <a:srgbClr val="000000"/>
              </a:solidFill>
              <a:latin typeface="Arial"/>
              <a:ea typeface="Arial"/>
              <a:cs typeface="Arial"/>
              <a:sym typeface="Arial"/>
            </a:endParaRPr>
          </a:p>
        </p:txBody>
      </p:sp>
      <p:graphicFrame>
        <p:nvGraphicFramePr>
          <p:cNvPr id="1150" name="Google Shape;1150;g3f9ebdf94e2_0_840"/>
          <p:cNvGraphicFramePr/>
          <p:nvPr/>
        </p:nvGraphicFramePr>
        <p:xfrm>
          <a:off x="6542453" y="192985"/>
          <a:ext cx="3000000" cy="3000000"/>
        </p:xfrm>
        <a:graphic>
          <a:graphicData uri="http://schemas.openxmlformats.org/drawingml/2006/table">
            <a:tbl>
              <a:tblPr>
                <a:noFill/>
                <a:tableStyleId>{967FECD5-6A5C-4673-8E3D-DED955AC76FF}</a:tableStyleId>
              </a:tblPr>
              <a:tblGrid>
                <a:gridCol w="989775"/>
                <a:gridCol w="694575"/>
                <a:gridCol w="688050"/>
              </a:tblGrid>
              <a:tr h="359200">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name</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height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weight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Doriana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1.87</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Quincas</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1.81</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110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Asdrúbal</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Lucinda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1.49</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46</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85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Dulcinéia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1.65</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bl>
          </a:graphicData>
        </a:graphic>
      </p:graphicFrame>
      <p:pic>
        <p:nvPicPr>
          <p:cNvPr id="1151" name="Google Shape;1151;g3f9ebdf94e2_0_840"/>
          <p:cNvPicPr preferRelativeResize="0"/>
          <p:nvPr/>
        </p:nvPicPr>
        <p:blipFill rotWithShape="1">
          <a:blip r:embed="rId4">
            <a:alphaModFix/>
          </a:blip>
          <a:srcRect b="0" l="0" r="0" t="0"/>
          <a:stretch/>
        </p:blipFill>
        <p:spPr>
          <a:xfrm>
            <a:off x="6218188" y="963292"/>
            <a:ext cx="311530" cy="286375"/>
          </a:xfrm>
          <a:prstGeom prst="rect">
            <a:avLst/>
          </a:prstGeom>
          <a:noFill/>
          <a:ln>
            <a:noFill/>
          </a:ln>
        </p:spPr>
      </p:pic>
      <p:pic>
        <p:nvPicPr>
          <p:cNvPr id="1152" name="Google Shape;1152;g3f9ebdf94e2_0_840"/>
          <p:cNvPicPr preferRelativeResize="0"/>
          <p:nvPr/>
        </p:nvPicPr>
        <p:blipFill rotWithShape="1">
          <a:blip r:embed="rId5">
            <a:alphaModFix/>
          </a:blip>
          <a:srcRect b="0" l="0" r="0" t="0"/>
          <a:stretch/>
        </p:blipFill>
        <p:spPr>
          <a:xfrm>
            <a:off x="6229617" y="2029118"/>
            <a:ext cx="288997" cy="265478"/>
          </a:xfrm>
          <a:prstGeom prst="rect">
            <a:avLst/>
          </a:prstGeom>
          <a:noFill/>
          <a:ln>
            <a:noFill/>
          </a:ln>
        </p:spPr>
      </p:pic>
      <p:pic>
        <p:nvPicPr>
          <p:cNvPr id="1153" name="Google Shape;1153;g3f9ebdf94e2_0_840"/>
          <p:cNvPicPr preferRelativeResize="0"/>
          <p:nvPr/>
        </p:nvPicPr>
        <p:blipFill rotWithShape="1">
          <a:blip r:embed="rId6">
            <a:alphaModFix/>
          </a:blip>
          <a:srcRect b="0" l="0" r="0" t="0"/>
          <a:stretch/>
        </p:blipFill>
        <p:spPr>
          <a:xfrm>
            <a:off x="6206105" y="1667965"/>
            <a:ext cx="336020" cy="308908"/>
          </a:xfrm>
          <a:prstGeom prst="rect">
            <a:avLst/>
          </a:prstGeom>
          <a:noFill/>
          <a:ln>
            <a:noFill/>
          </a:ln>
        </p:spPr>
      </p:pic>
      <p:pic>
        <p:nvPicPr>
          <p:cNvPr id="1154" name="Google Shape;1154;g3f9ebdf94e2_0_840"/>
          <p:cNvPicPr preferRelativeResize="0"/>
          <p:nvPr/>
        </p:nvPicPr>
        <p:blipFill rotWithShape="1">
          <a:blip r:embed="rId7">
            <a:alphaModFix/>
          </a:blip>
          <a:srcRect b="0" l="0" r="0" t="0"/>
          <a:stretch/>
        </p:blipFill>
        <p:spPr>
          <a:xfrm>
            <a:off x="6213289" y="1301914"/>
            <a:ext cx="321328" cy="295518"/>
          </a:xfrm>
          <a:prstGeom prst="rect">
            <a:avLst/>
          </a:prstGeom>
          <a:noFill/>
          <a:ln>
            <a:noFill/>
          </a:ln>
        </p:spPr>
      </p:pic>
      <p:pic>
        <p:nvPicPr>
          <p:cNvPr id="1155" name="Google Shape;1155;g3f9ebdf94e2_0_840"/>
          <p:cNvPicPr preferRelativeResize="0"/>
          <p:nvPr/>
        </p:nvPicPr>
        <p:blipFill rotWithShape="1">
          <a:blip r:embed="rId3">
            <a:alphaModFix/>
          </a:blip>
          <a:srcRect b="0" l="0" r="0" t="0"/>
          <a:stretch/>
        </p:blipFill>
        <p:spPr>
          <a:xfrm>
            <a:off x="6229617" y="591690"/>
            <a:ext cx="288988" cy="288987"/>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g3f9ebdf94e2_0_859"/>
          <p:cNvSpPr/>
          <p:nvPr/>
        </p:nvSpPr>
        <p:spPr>
          <a:xfrm rot="10800000">
            <a:off x="782093" y="1278440"/>
            <a:ext cx="324" cy="301784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161" name="Google Shape;1161;g3f9ebdf94e2_0_859"/>
          <p:cNvSpPr/>
          <p:nvPr/>
        </p:nvSpPr>
        <p:spPr>
          <a:xfrm>
            <a:off x="581914" y="4114727"/>
            <a:ext cx="6343920" cy="32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162" name="Google Shape;1162;g3f9ebdf94e2_0_859"/>
          <p:cNvSpPr/>
          <p:nvPr/>
        </p:nvSpPr>
        <p:spPr>
          <a:xfrm>
            <a:off x="4997866" y="4165015"/>
            <a:ext cx="6372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110</a:t>
            </a:r>
            <a:endParaRPr b="0" i="0" sz="1800" u="none" cap="none" strike="noStrike">
              <a:solidFill>
                <a:srgbClr val="000000"/>
              </a:solidFill>
              <a:latin typeface="Arial"/>
              <a:ea typeface="Arial"/>
              <a:cs typeface="Arial"/>
              <a:sym typeface="Arial"/>
            </a:endParaRPr>
          </a:p>
        </p:txBody>
      </p:sp>
      <p:sp>
        <p:nvSpPr>
          <p:cNvPr id="1163" name="Google Shape;1163;g3f9ebdf94e2_0_859"/>
          <p:cNvSpPr/>
          <p:nvPr/>
        </p:nvSpPr>
        <p:spPr>
          <a:xfrm>
            <a:off x="113313" y="1681353"/>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1,87</a:t>
            </a:r>
            <a:endParaRPr b="0" i="0" sz="1800" u="none" cap="none" strike="noStrike">
              <a:solidFill>
                <a:srgbClr val="000000"/>
              </a:solidFill>
              <a:latin typeface="Arial"/>
              <a:ea typeface="Arial"/>
              <a:cs typeface="Arial"/>
              <a:sym typeface="Arial"/>
            </a:endParaRPr>
          </a:p>
        </p:txBody>
      </p:sp>
      <p:cxnSp>
        <p:nvCxnSpPr>
          <p:cNvPr id="1164" name="Google Shape;1164;g3f9ebdf94e2_0_859"/>
          <p:cNvCxnSpPr/>
          <p:nvPr/>
        </p:nvCxnSpPr>
        <p:spPr>
          <a:xfrm>
            <a:off x="794826" y="1904706"/>
            <a:ext cx="4521600" cy="2259900"/>
          </a:xfrm>
          <a:prstGeom prst="bentConnector2">
            <a:avLst/>
          </a:prstGeom>
          <a:noFill/>
          <a:ln cap="flat" cmpd="sng" w="17300">
            <a:solidFill>
              <a:srgbClr val="595959"/>
            </a:solidFill>
            <a:prstDash val="dashDot"/>
            <a:round/>
            <a:headEnd len="sm" w="sm" type="none"/>
            <a:tailEnd len="sm" w="sm" type="none"/>
          </a:ln>
        </p:spPr>
      </p:cxnSp>
      <p:pic>
        <p:nvPicPr>
          <p:cNvPr id="1165" name="Google Shape;1165;g3f9ebdf94e2_0_859"/>
          <p:cNvPicPr preferRelativeResize="0"/>
          <p:nvPr/>
        </p:nvPicPr>
        <p:blipFill rotWithShape="1">
          <a:blip r:embed="rId3">
            <a:alphaModFix/>
          </a:blip>
          <a:srcRect b="0" l="0" r="0" t="0"/>
          <a:stretch/>
        </p:blipFill>
        <p:spPr>
          <a:xfrm>
            <a:off x="4794098" y="1405101"/>
            <a:ext cx="958100" cy="881005"/>
          </a:xfrm>
          <a:prstGeom prst="rect">
            <a:avLst/>
          </a:prstGeom>
          <a:noFill/>
          <a:ln>
            <a:noFill/>
          </a:ln>
        </p:spPr>
      </p:pic>
      <p:cxnSp>
        <p:nvCxnSpPr>
          <p:cNvPr id="1166" name="Google Shape;1166;g3f9ebdf94e2_0_859"/>
          <p:cNvCxnSpPr/>
          <p:nvPr/>
        </p:nvCxnSpPr>
        <p:spPr>
          <a:xfrm flipH="1" rot="-5400000">
            <a:off x="714692" y="2249336"/>
            <a:ext cx="1910400" cy="1806300"/>
          </a:xfrm>
          <a:prstGeom prst="bentConnector3">
            <a:avLst>
              <a:gd fmla="val -185" name="adj1"/>
            </a:avLst>
          </a:prstGeom>
          <a:noFill/>
          <a:ln cap="flat" cmpd="sng" w="17300">
            <a:solidFill>
              <a:srgbClr val="595959"/>
            </a:solidFill>
            <a:prstDash val="dashDot"/>
            <a:round/>
            <a:headEnd len="sm" w="sm" type="none"/>
            <a:tailEnd len="sm" w="sm" type="none"/>
          </a:ln>
        </p:spPr>
      </p:cxnSp>
      <p:pic>
        <p:nvPicPr>
          <p:cNvPr id="1167" name="Google Shape;1167;g3f9ebdf94e2_0_859"/>
          <p:cNvPicPr preferRelativeResize="0"/>
          <p:nvPr/>
        </p:nvPicPr>
        <p:blipFill rotWithShape="1">
          <a:blip r:embed="rId4">
            <a:alphaModFix/>
          </a:blip>
          <a:srcRect b="0" l="0" r="0" t="0"/>
          <a:stretch/>
        </p:blipFill>
        <p:spPr>
          <a:xfrm>
            <a:off x="2092213" y="1838419"/>
            <a:ext cx="888515" cy="888515"/>
          </a:xfrm>
          <a:prstGeom prst="rect">
            <a:avLst/>
          </a:prstGeom>
          <a:noFill/>
          <a:ln>
            <a:noFill/>
          </a:ln>
        </p:spPr>
      </p:pic>
      <p:sp>
        <p:nvSpPr>
          <p:cNvPr id="1168" name="Google Shape;1168;g3f9ebdf94e2_0_859"/>
          <p:cNvSpPr/>
          <p:nvPr/>
        </p:nvSpPr>
        <p:spPr>
          <a:xfrm>
            <a:off x="2394273" y="4114727"/>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60</a:t>
            </a:r>
            <a:endParaRPr b="0" i="0" sz="1800" u="none" cap="none" strike="noStrike">
              <a:solidFill>
                <a:srgbClr val="000000"/>
              </a:solidFill>
              <a:latin typeface="Arial"/>
              <a:ea typeface="Arial"/>
              <a:cs typeface="Arial"/>
              <a:sym typeface="Arial"/>
            </a:endParaRPr>
          </a:p>
        </p:txBody>
      </p:sp>
      <p:sp>
        <p:nvSpPr>
          <p:cNvPr id="1169" name="Google Shape;1169;g3f9ebdf94e2_0_859"/>
          <p:cNvSpPr/>
          <p:nvPr/>
        </p:nvSpPr>
        <p:spPr>
          <a:xfrm>
            <a:off x="100578" y="1967402"/>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1,81</a:t>
            </a:r>
            <a:endParaRPr b="0" i="0" sz="1800" u="none" cap="none" strike="noStrike">
              <a:solidFill>
                <a:srgbClr val="000000"/>
              </a:solidFill>
              <a:latin typeface="Arial"/>
              <a:ea typeface="Arial"/>
              <a:cs typeface="Arial"/>
              <a:sym typeface="Arial"/>
            </a:endParaRPr>
          </a:p>
        </p:txBody>
      </p:sp>
      <p:sp>
        <p:nvSpPr>
          <p:cNvPr id="1170" name="Google Shape;1170;g3f9ebdf94e2_0_859"/>
          <p:cNvSpPr txBox="1"/>
          <p:nvPr/>
        </p:nvSpPr>
        <p:spPr>
          <a:xfrm>
            <a:off x="282793" y="77390"/>
            <a:ext cx="5275200" cy="5193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3100"/>
              <a:buFont typeface="Arial"/>
              <a:buNone/>
            </a:pPr>
            <a:r>
              <a:rPr b="1" i="0" lang="pt-BR" sz="3100" u="none" cap="none" strike="noStrike">
                <a:solidFill>
                  <a:srgbClr val="000000"/>
                </a:solidFill>
                <a:latin typeface="Comfortaa"/>
                <a:ea typeface="Comfortaa"/>
                <a:cs typeface="Comfortaa"/>
                <a:sym typeface="Comfortaa"/>
              </a:rPr>
              <a:t>Comparing Zombies</a:t>
            </a:r>
            <a:endParaRPr b="1" i="0" sz="3100" u="none" cap="none" strike="noStrike">
              <a:solidFill>
                <a:srgbClr val="252323"/>
              </a:solidFill>
              <a:latin typeface="Comfortaa"/>
              <a:ea typeface="Comfortaa"/>
              <a:cs typeface="Comfortaa"/>
              <a:sym typeface="Comfortaa"/>
            </a:endParaRPr>
          </a:p>
        </p:txBody>
      </p:sp>
      <p:sp>
        <p:nvSpPr>
          <p:cNvPr id="1171" name="Google Shape;1171;g3f9ebdf94e2_0_859"/>
          <p:cNvSpPr/>
          <p:nvPr/>
        </p:nvSpPr>
        <p:spPr>
          <a:xfrm>
            <a:off x="354635" y="883290"/>
            <a:ext cx="888300" cy="4428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height</a:t>
            </a:r>
            <a:endParaRPr b="0" i="0" sz="1800" u="none" cap="none" strike="noStrike">
              <a:solidFill>
                <a:srgbClr val="000000"/>
              </a:solidFill>
              <a:latin typeface="Arial"/>
              <a:ea typeface="Arial"/>
              <a:cs typeface="Arial"/>
              <a:sym typeface="Arial"/>
            </a:endParaRPr>
          </a:p>
        </p:txBody>
      </p:sp>
      <p:sp>
        <p:nvSpPr>
          <p:cNvPr id="1172" name="Google Shape;1172;g3f9ebdf94e2_0_859"/>
          <p:cNvSpPr/>
          <p:nvPr/>
        </p:nvSpPr>
        <p:spPr>
          <a:xfrm>
            <a:off x="6741323" y="4099380"/>
            <a:ext cx="948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weight</a:t>
            </a:r>
            <a:endParaRPr b="0" i="0" sz="1800" u="none" cap="none" strike="noStrike">
              <a:solidFill>
                <a:srgbClr val="000000"/>
              </a:solidFill>
              <a:latin typeface="Arial"/>
              <a:ea typeface="Arial"/>
              <a:cs typeface="Arial"/>
              <a:sym typeface="Arial"/>
            </a:endParaRPr>
          </a:p>
        </p:txBody>
      </p:sp>
      <p:sp>
        <p:nvSpPr>
          <p:cNvPr id="1173" name="Google Shape;1173;g3f9ebdf94e2_0_859"/>
          <p:cNvSpPr/>
          <p:nvPr/>
        </p:nvSpPr>
        <p:spPr>
          <a:xfrm>
            <a:off x="6296886" y="552505"/>
            <a:ext cx="215400" cy="1796400"/>
          </a:xfrm>
          <a:prstGeom prst="rect">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graphicFrame>
        <p:nvGraphicFramePr>
          <p:cNvPr id="1174" name="Google Shape;1174;g3f9ebdf94e2_0_859"/>
          <p:cNvGraphicFramePr/>
          <p:nvPr/>
        </p:nvGraphicFramePr>
        <p:xfrm>
          <a:off x="6558127" y="192985"/>
          <a:ext cx="3000000" cy="3000000"/>
        </p:xfrm>
        <a:graphic>
          <a:graphicData uri="http://schemas.openxmlformats.org/drawingml/2006/table">
            <a:tbl>
              <a:tblPr>
                <a:noFill/>
                <a:tableStyleId>{967FECD5-6A5C-4673-8E3D-DED955AC76FF}</a:tableStyleId>
              </a:tblPr>
              <a:tblGrid>
                <a:gridCol w="989775"/>
                <a:gridCol w="694575"/>
                <a:gridCol w="688050"/>
              </a:tblGrid>
              <a:tr h="359200">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name</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height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weight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Doriana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1.87</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Quincas</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1.81</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110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Asdrúbal</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Lucinda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1.49</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46</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85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Dulcinéia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1.65</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bl>
          </a:graphicData>
        </a:graphic>
      </p:graphicFrame>
      <p:pic>
        <p:nvPicPr>
          <p:cNvPr id="1175" name="Google Shape;1175;g3f9ebdf94e2_0_859"/>
          <p:cNvPicPr preferRelativeResize="0"/>
          <p:nvPr/>
        </p:nvPicPr>
        <p:blipFill rotWithShape="1">
          <a:blip r:embed="rId3">
            <a:alphaModFix/>
          </a:blip>
          <a:srcRect b="0" l="0" r="0" t="0"/>
          <a:stretch/>
        </p:blipFill>
        <p:spPr>
          <a:xfrm>
            <a:off x="6233862" y="963292"/>
            <a:ext cx="311530" cy="286375"/>
          </a:xfrm>
          <a:prstGeom prst="rect">
            <a:avLst/>
          </a:prstGeom>
          <a:noFill/>
          <a:ln>
            <a:noFill/>
          </a:ln>
        </p:spPr>
      </p:pic>
      <p:pic>
        <p:nvPicPr>
          <p:cNvPr id="1176" name="Google Shape;1176;g3f9ebdf94e2_0_859"/>
          <p:cNvPicPr preferRelativeResize="0"/>
          <p:nvPr/>
        </p:nvPicPr>
        <p:blipFill rotWithShape="1">
          <a:blip r:embed="rId5">
            <a:alphaModFix/>
          </a:blip>
          <a:srcRect b="0" l="0" r="0" t="0"/>
          <a:stretch/>
        </p:blipFill>
        <p:spPr>
          <a:xfrm>
            <a:off x="6245291" y="2029118"/>
            <a:ext cx="288997" cy="265478"/>
          </a:xfrm>
          <a:prstGeom prst="rect">
            <a:avLst/>
          </a:prstGeom>
          <a:noFill/>
          <a:ln>
            <a:noFill/>
          </a:ln>
        </p:spPr>
      </p:pic>
      <p:pic>
        <p:nvPicPr>
          <p:cNvPr id="1177" name="Google Shape;1177;g3f9ebdf94e2_0_859"/>
          <p:cNvPicPr preferRelativeResize="0"/>
          <p:nvPr/>
        </p:nvPicPr>
        <p:blipFill rotWithShape="1">
          <a:blip r:embed="rId6">
            <a:alphaModFix/>
          </a:blip>
          <a:srcRect b="0" l="0" r="0" t="0"/>
          <a:stretch/>
        </p:blipFill>
        <p:spPr>
          <a:xfrm>
            <a:off x="6221780" y="1667965"/>
            <a:ext cx="336020" cy="308908"/>
          </a:xfrm>
          <a:prstGeom prst="rect">
            <a:avLst/>
          </a:prstGeom>
          <a:noFill/>
          <a:ln>
            <a:noFill/>
          </a:ln>
        </p:spPr>
      </p:pic>
      <p:pic>
        <p:nvPicPr>
          <p:cNvPr id="1178" name="Google Shape;1178;g3f9ebdf94e2_0_859"/>
          <p:cNvPicPr preferRelativeResize="0"/>
          <p:nvPr/>
        </p:nvPicPr>
        <p:blipFill rotWithShape="1">
          <a:blip r:embed="rId7">
            <a:alphaModFix/>
          </a:blip>
          <a:srcRect b="0" l="0" r="0" t="0"/>
          <a:stretch/>
        </p:blipFill>
        <p:spPr>
          <a:xfrm>
            <a:off x="6228964" y="1301914"/>
            <a:ext cx="321328" cy="295518"/>
          </a:xfrm>
          <a:prstGeom prst="rect">
            <a:avLst/>
          </a:prstGeom>
          <a:noFill/>
          <a:ln>
            <a:noFill/>
          </a:ln>
        </p:spPr>
      </p:pic>
      <p:pic>
        <p:nvPicPr>
          <p:cNvPr id="1179" name="Google Shape;1179;g3f9ebdf94e2_0_859"/>
          <p:cNvPicPr preferRelativeResize="0"/>
          <p:nvPr/>
        </p:nvPicPr>
        <p:blipFill rotWithShape="1">
          <a:blip r:embed="rId4">
            <a:alphaModFix/>
          </a:blip>
          <a:srcRect b="0" l="0" r="0" t="0"/>
          <a:stretch/>
        </p:blipFill>
        <p:spPr>
          <a:xfrm>
            <a:off x="6245291" y="591690"/>
            <a:ext cx="288988" cy="288987"/>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g3f9ebdf94e2_0_882"/>
          <p:cNvSpPr/>
          <p:nvPr/>
        </p:nvSpPr>
        <p:spPr>
          <a:xfrm rot="10800000">
            <a:off x="782093" y="1278440"/>
            <a:ext cx="324" cy="301784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185" name="Google Shape;1185;g3f9ebdf94e2_0_882"/>
          <p:cNvSpPr/>
          <p:nvPr/>
        </p:nvSpPr>
        <p:spPr>
          <a:xfrm>
            <a:off x="581914" y="4114727"/>
            <a:ext cx="6343920" cy="32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186" name="Google Shape;1186;g3f9ebdf94e2_0_882"/>
          <p:cNvSpPr/>
          <p:nvPr/>
        </p:nvSpPr>
        <p:spPr>
          <a:xfrm>
            <a:off x="3707336" y="4165015"/>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74</a:t>
            </a:r>
            <a:endParaRPr b="0" i="0" sz="1800" u="none" cap="none" strike="noStrike">
              <a:solidFill>
                <a:srgbClr val="000000"/>
              </a:solidFill>
              <a:latin typeface="Arial"/>
              <a:ea typeface="Arial"/>
              <a:cs typeface="Arial"/>
              <a:sym typeface="Arial"/>
            </a:endParaRPr>
          </a:p>
        </p:txBody>
      </p:sp>
      <p:sp>
        <p:nvSpPr>
          <p:cNvPr id="1187" name="Google Shape;1187;g3f9ebdf94e2_0_882"/>
          <p:cNvSpPr/>
          <p:nvPr/>
        </p:nvSpPr>
        <p:spPr>
          <a:xfrm>
            <a:off x="122457" y="2166265"/>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1,74</a:t>
            </a:r>
            <a:endParaRPr b="0" i="0" sz="1800" u="none" cap="none" strike="noStrike">
              <a:solidFill>
                <a:srgbClr val="000000"/>
              </a:solidFill>
              <a:latin typeface="Arial"/>
              <a:ea typeface="Arial"/>
              <a:cs typeface="Arial"/>
              <a:sym typeface="Arial"/>
            </a:endParaRPr>
          </a:p>
        </p:txBody>
      </p:sp>
      <p:sp>
        <p:nvSpPr>
          <p:cNvPr id="1188" name="Google Shape;1188;g3f9ebdf94e2_0_882"/>
          <p:cNvSpPr/>
          <p:nvPr/>
        </p:nvSpPr>
        <p:spPr>
          <a:xfrm>
            <a:off x="4997866" y="4165015"/>
            <a:ext cx="6372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110</a:t>
            </a:r>
            <a:endParaRPr b="0" i="0" sz="1800" u="none" cap="none" strike="noStrike">
              <a:solidFill>
                <a:srgbClr val="000000"/>
              </a:solidFill>
              <a:latin typeface="Arial"/>
              <a:ea typeface="Arial"/>
              <a:cs typeface="Arial"/>
              <a:sym typeface="Arial"/>
            </a:endParaRPr>
          </a:p>
        </p:txBody>
      </p:sp>
      <p:sp>
        <p:nvSpPr>
          <p:cNvPr id="1189" name="Google Shape;1189;g3f9ebdf94e2_0_882"/>
          <p:cNvSpPr/>
          <p:nvPr/>
        </p:nvSpPr>
        <p:spPr>
          <a:xfrm>
            <a:off x="113313" y="1681353"/>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1,87</a:t>
            </a:r>
            <a:endParaRPr b="0" i="0" sz="1800" u="none" cap="none" strike="noStrike">
              <a:solidFill>
                <a:srgbClr val="000000"/>
              </a:solidFill>
              <a:latin typeface="Arial"/>
              <a:ea typeface="Arial"/>
              <a:cs typeface="Arial"/>
              <a:sym typeface="Arial"/>
            </a:endParaRPr>
          </a:p>
        </p:txBody>
      </p:sp>
      <p:cxnSp>
        <p:nvCxnSpPr>
          <p:cNvPr id="1190" name="Google Shape;1190;g3f9ebdf94e2_0_882"/>
          <p:cNvCxnSpPr/>
          <p:nvPr/>
        </p:nvCxnSpPr>
        <p:spPr>
          <a:xfrm>
            <a:off x="794826" y="1904706"/>
            <a:ext cx="4521600" cy="2259900"/>
          </a:xfrm>
          <a:prstGeom prst="bentConnector2">
            <a:avLst/>
          </a:prstGeom>
          <a:noFill/>
          <a:ln cap="flat" cmpd="sng" w="17300">
            <a:solidFill>
              <a:srgbClr val="595959"/>
            </a:solidFill>
            <a:prstDash val="dashDot"/>
            <a:round/>
            <a:headEnd len="sm" w="sm" type="none"/>
            <a:tailEnd len="sm" w="sm" type="none"/>
          </a:ln>
        </p:spPr>
      </p:cxnSp>
      <p:cxnSp>
        <p:nvCxnSpPr>
          <p:cNvPr id="1191" name="Google Shape;1191;g3f9ebdf94e2_0_882"/>
          <p:cNvCxnSpPr/>
          <p:nvPr/>
        </p:nvCxnSpPr>
        <p:spPr>
          <a:xfrm>
            <a:off x="804296" y="2389618"/>
            <a:ext cx="3153300" cy="1775100"/>
          </a:xfrm>
          <a:prstGeom prst="bentConnector2">
            <a:avLst/>
          </a:prstGeom>
          <a:noFill/>
          <a:ln cap="flat" cmpd="sng" w="17300">
            <a:solidFill>
              <a:srgbClr val="595959"/>
            </a:solidFill>
            <a:prstDash val="dashDot"/>
            <a:round/>
            <a:headEnd len="sm" w="sm" type="none"/>
            <a:tailEnd len="sm" w="sm" type="none"/>
          </a:ln>
        </p:spPr>
      </p:cxnSp>
      <p:pic>
        <p:nvPicPr>
          <p:cNvPr id="1192" name="Google Shape;1192;g3f9ebdf94e2_0_882"/>
          <p:cNvPicPr preferRelativeResize="0"/>
          <p:nvPr/>
        </p:nvPicPr>
        <p:blipFill rotWithShape="1">
          <a:blip r:embed="rId3">
            <a:alphaModFix/>
          </a:blip>
          <a:srcRect b="0" l="0" r="0" t="0"/>
          <a:stretch/>
        </p:blipFill>
        <p:spPr>
          <a:xfrm>
            <a:off x="3514670" y="1935075"/>
            <a:ext cx="988145" cy="908433"/>
          </a:xfrm>
          <a:prstGeom prst="rect">
            <a:avLst/>
          </a:prstGeom>
          <a:noFill/>
          <a:ln>
            <a:noFill/>
          </a:ln>
        </p:spPr>
      </p:pic>
      <p:pic>
        <p:nvPicPr>
          <p:cNvPr id="1193" name="Google Shape;1193;g3f9ebdf94e2_0_882"/>
          <p:cNvPicPr preferRelativeResize="0"/>
          <p:nvPr/>
        </p:nvPicPr>
        <p:blipFill rotWithShape="1">
          <a:blip r:embed="rId4">
            <a:alphaModFix/>
          </a:blip>
          <a:srcRect b="0" l="0" r="0" t="0"/>
          <a:stretch/>
        </p:blipFill>
        <p:spPr>
          <a:xfrm>
            <a:off x="4794098" y="1405101"/>
            <a:ext cx="958100" cy="881005"/>
          </a:xfrm>
          <a:prstGeom prst="rect">
            <a:avLst/>
          </a:prstGeom>
          <a:noFill/>
          <a:ln>
            <a:noFill/>
          </a:ln>
        </p:spPr>
      </p:pic>
      <p:cxnSp>
        <p:nvCxnSpPr>
          <p:cNvPr id="1194" name="Google Shape;1194;g3f9ebdf94e2_0_882"/>
          <p:cNvCxnSpPr/>
          <p:nvPr/>
        </p:nvCxnSpPr>
        <p:spPr>
          <a:xfrm flipH="1" rot="-5400000">
            <a:off x="714692" y="2249336"/>
            <a:ext cx="1910400" cy="1806300"/>
          </a:xfrm>
          <a:prstGeom prst="bentConnector3">
            <a:avLst>
              <a:gd fmla="val -185" name="adj1"/>
            </a:avLst>
          </a:prstGeom>
          <a:noFill/>
          <a:ln cap="flat" cmpd="sng" w="17300">
            <a:solidFill>
              <a:srgbClr val="595959"/>
            </a:solidFill>
            <a:prstDash val="dashDot"/>
            <a:round/>
            <a:headEnd len="sm" w="sm" type="none"/>
            <a:tailEnd len="sm" w="sm" type="none"/>
          </a:ln>
        </p:spPr>
      </p:cxnSp>
      <p:pic>
        <p:nvPicPr>
          <p:cNvPr id="1195" name="Google Shape;1195;g3f9ebdf94e2_0_882"/>
          <p:cNvPicPr preferRelativeResize="0"/>
          <p:nvPr/>
        </p:nvPicPr>
        <p:blipFill rotWithShape="1">
          <a:blip r:embed="rId5">
            <a:alphaModFix/>
          </a:blip>
          <a:srcRect b="0" l="0" r="0" t="0"/>
          <a:stretch/>
        </p:blipFill>
        <p:spPr>
          <a:xfrm>
            <a:off x="2092213" y="1838419"/>
            <a:ext cx="888515" cy="888515"/>
          </a:xfrm>
          <a:prstGeom prst="rect">
            <a:avLst/>
          </a:prstGeom>
          <a:noFill/>
          <a:ln>
            <a:noFill/>
          </a:ln>
        </p:spPr>
      </p:pic>
      <p:sp>
        <p:nvSpPr>
          <p:cNvPr id="1196" name="Google Shape;1196;g3f9ebdf94e2_0_882"/>
          <p:cNvSpPr/>
          <p:nvPr/>
        </p:nvSpPr>
        <p:spPr>
          <a:xfrm>
            <a:off x="2394273" y="4114727"/>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60</a:t>
            </a:r>
            <a:endParaRPr b="0" i="0" sz="1800" u="none" cap="none" strike="noStrike">
              <a:solidFill>
                <a:srgbClr val="000000"/>
              </a:solidFill>
              <a:latin typeface="Arial"/>
              <a:ea typeface="Arial"/>
              <a:cs typeface="Arial"/>
              <a:sym typeface="Arial"/>
            </a:endParaRPr>
          </a:p>
        </p:txBody>
      </p:sp>
      <p:sp>
        <p:nvSpPr>
          <p:cNvPr id="1197" name="Google Shape;1197;g3f9ebdf94e2_0_882"/>
          <p:cNvSpPr/>
          <p:nvPr/>
        </p:nvSpPr>
        <p:spPr>
          <a:xfrm>
            <a:off x="100578" y="1967402"/>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1,81</a:t>
            </a:r>
            <a:endParaRPr b="0" i="0" sz="1800" u="none" cap="none" strike="noStrike">
              <a:solidFill>
                <a:srgbClr val="000000"/>
              </a:solidFill>
              <a:latin typeface="Arial"/>
              <a:ea typeface="Arial"/>
              <a:cs typeface="Arial"/>
              <a:sym typeface="Arial"/>
            </a:endParaRPr>
          </a:p>
        </p:txBody>
      </p:sp>
      <p:sp>
        <p:nvSpPr>
          <p:cNvPr id="1198" name="Google Shape;1198;g3f9ebdf94e2_0_882"/>
          <p:cNvSpPr txBox="1"/>
          <p:nvPr/>
        </p:nvSpPr>
        <p:spPr>
          <a:xfrm>
            <a:off x="282793" y="77390"/>
            <a:ext cx="5275200" cy="5193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3100"/>
              <a:buFont typeface="Arial"/>
              <a:buNone/>
            </a:pPr>
            <a:r>
              <a:rPr b="1" i="0" lang="pt-BR" sz="3100" u="none" cap="none" strike="noStrike">
                <a:solidFill>
                  <a:srgbClr val="000000"/>
                </a:solidFill>
                <a:latin typeface="Comfortaa"/>
                <a:ea typeface="Comfortaa"/>
                <a:cs typeface="Comfortaa"/>
                <a:sym typeface="Comfortaa"/>
              </a:rPr>
              <a:t>Comparing Zombies</a:t>
            </a:r>
            <a:endParaRPr b="1" i="0" sz="3100" u="none" cap="none" strike="noStrike">
              <a:solidFill>
                <a:srgbClr val="252323"/>
              </a:solidFill>
              <a:latin typeface="Comfortaa"/>
              <a:ea typeface="Comfortaa"/>
              <a:cs typeface="Comfortaa"/>
              <a:sym typeface="Comfortaa"/>
            </a:endParaRPr>
          </a:p>
        </p:txBody>
      </p:sp>
      <p:sp>
        <p:nvSpPr>
          <p:cNvPr id="1199" name="Google Shape;1199;g3f9ebdf94e2_0_882"/>
          <p:cNvSpPr/>
          <p:nvPr/>
        </p:nvSpPr>
        <p:spPr>
          <a:xfrm>
            <a:off x="370309" y="868269"/>
            <a:ext cx="888300" cy="4428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height</a:t>
            </a:r>
            <a:endParaRPr b="0" i="0" sz="1800" u="none" cap="none" strike="noStrike">
              <a:solidFill>
                <a:srgbClr val="000000"/>
              </a:solidFill>
              <a:latin typeface="Arial"/>
              <a:ea typeface="Arial"/>
              <a:cs typeface="Arial"/>
              <a:sym typeface="Arial"/>
            </a:endParaRPr>
          </a:p>
        </p:txBody>
      </p:sp>
      <p:sp>
        <p:nvSpPr>
          <p:cNvPr id="1200" name="Google Shape;1200;g3f9ebdf94e2_0_882"/>
          <p:cNvSpPr/>
          <p:nvPr/>
        </p:nvSpPr>
        <p:spPr>
          <a:xfrm>
            <a:off x="6756997" y="4084359"/>
            <a:ext cx="948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weight</a:t>
            </a:r>
            <a:endParaRPr b="0" i="0" sz="1800" u="none" cap="none" strike="noStrike">
              <a:solidFill>
                <a:srgbClr val="000000"/>
              </a:solidFill>
              <a:latin typeface="Arial"/>
              <a:ea typeface="Arial"/>
              <a:cs typeface="Arial"/>
              <a:sym typeface="Arial"/>
            </a:endParaRPr>
          </a:p>
        </p:txBody>
      </p:sp>
      <p:sp>
        <p:nvSpPr>
          <p:cNvPr id="1201" name="Google Shape;1201;g3f9ebdf94e2_0_882"/>
          <p:cNvSpPr/>
          <p:nvPr/>
        </p:nvSpPr>
        <p:spPr>
          <a:xfrm>
            <a:off x="6312561" y="537484"/>
            <a:ext cx="215400" cy="1796400"/>
          </a:xfrm>
          <a:prstGeom prst="rect">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graphicFrame>
        <p:nvGraphicFramePr>
          <p:cNvPr id="1202" name="Google Shape;1202;g3f9ebdf94e2_0_882"/>
          <p:cNvGraphicFramePr/>
          <p:nvPr/>
        </p:nvGraphicFramePr>
        <p:xfrm>
          <a:off x="6573802" y="177964"/>
          <a:ext cx="3000000" cy="3000000"/>
        </p:xfrm>
        <a:graphic>
          <a:graphicData uri="http://schemas.openxmlformats.org/drawingml/2006/table">
            <a:tbl>
              <a:tblPr>
                <a:noFill/>
                <a:tableStyleId>{967FECD5-6A5C-4673-8E3D-DED955AC76FF}</a:tableStyleId>
              </a:tblPr>
              <a:tblGrid>
                <a:gridCol w="989775"/>
                <a:gridCol w="694575"/>
                <a:gridCol w="688050"/>
              </a:tblGrid>
              <a:tr h="359200">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name</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height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weight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Doriana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1.87</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Quincas</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1.81</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110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Asdrúbal</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Lucinda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1.49</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46</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85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Dulcinéia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1.65</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bl>
          </a:graphicData>
        </a:graphic>
      </p:graphicFrame>
      <p:pic>
        <p:nvPicPr>
          <p:cNvPr id="1203" name="Google Shape;1203;g3f9ebdf94e2_0_882"/>
          <p:cNvPicPr preferRelativeResize="0"/>
          <p:nvPr/>
        </p:nvPicPr>
        <p:blipFill rotWithShape="1">
          <a:blip r:embed="rId4">
            <a:alphaModFix/>
          </a:blip>
          <a:srcRect b="0" l="0" r="0" t="0"/>
          <a:stretch/>
        </p:blipFill>
        <p:spPr>
          <a:xfrm>
            <a:off x="6249537" y="948271"/>
            <a:ext cx="311530" cy="286375"/>
          </a:xfrm>
          <a:prstGeom prst="rect">
            <a:avLst/>
          </a:prstGeom>
          <a:noFill/>
          <a:ln>
            <a:noFill/>
          </a:ln>
        </p:spPr>
      </p:pic>
      <p:pic>
        <p:nvPicPr>
          <p:cNvPr id="1204" name="Google Shape;1204;g3f9ebdf94e2_0_882"/>
          <p:cNvPicPr preferRelativeResize="0"/>
          <p:nvPr/>
        </p:nvPicPr>
        <p:blipFill rotWithShape="1">
          <a:blip r:embed="rId6">
            <a:alphaModFix/>
          </a:blip>
          <a:srcRect b="0" l="0" r="0" t="0"/>
          <a:stretch/>
        </p:blipFill>
        <p:spPr>
          <a:xfrm>
            <a:off x="6260966" y="2014097"/>
            <a:ext cx="288997" cy="265478"/>
          </a:xfrm>
          <a:prstGeom prst="rect">
            <a:avLst/>
          </a:prstGeom>
          <a:noFill/>
          <a:ln>
            <a:noFill/>
          </a:ln>
        </p:spPr>
      </p:pic>
      <p:pic>
        <p:nvPicPr>
          <p:cNvPr id="1205" name="Google Shape;1205;g3f9ebdf94e2_0_882"/>
          <p:cNvPicPr preferRelativeResize="0"/>
          <p:nvPr/>
        </p:nvPicPr>
        <p:blipFill rotWithShape="1">
          <a:blip r:embed="rId7">
            <a:alphaModFix/>
          </a:blip>
          <a:srcRect b="0" l="0" r="0" t="0"/>
          <a:stretch/>
        </p:blipFill>
        <p:spPr>
          <a:xfrm>
            <a:off x="6237454" y="1652944"/>
            <a:ext cx="336020" cy="308908"/>
          </a:xfrm>
          <a:prstGeom prst="rect">
            <a:avLst/>
          </a:prstGeom>
          <a:noFill/>
          <a:ln>
            <a:noFill/>
          </a:ln>
        </p:spPr>
      </p:pic>
      <p:pic>
        <p:nvPicPr>
          <p:cNvPr id="1206" name="Google Shape;1206;g3f9ebdf94e2_0_882"/>
          <p:cNvPicPr preferRelativeResize="0"/>
          <p:nvPr/>
        </p:nvPicPr>
        <p:blipFill rotWithShape="1">
          <a:blip r:embed="rId3">
            <a:alphaModFix/>
          </a:blip>
          <a:srcRect b="0" l="0" r="0" t="0"/>
          <a:stretch/>
        </p:blipFill>
        <p:spPr>
          <a:xfrm>
            <a:off x="6244638" y="1286893"/>
            <a:ext cx="321327" cy="295518"/>
          </a:xfrm>
          <a:prstGeom prst="rect">
            <a:avLst/>
          </a:prstGeom>
          <a:noFill/>
          <a:ln>
            <a:noFill/>
          </a:ln>
        </p:spPr>
      </p:pic>
      <p:pic>
        <p:nvPicPr>
          <p:cNvPr id="1207" name="Google Shape;1207;g3f9ebdf94e2_0_882"/>
          <p:cNvPicPr preferRelativeResize="0"/>
          <p:nvPr/>
        </p:nvPicPr>
        <p:blipFill rotWithShape="1">
          <a:blip r:embed="rId5">
            <a:alphaModFix/>
          </a:blip>
          <a:srcRect b="0" l="0" r="0" t="0"/>
          <a:stretch/>
        </p:blipFill>
        <p:spPr>
          <a:xfrm>
            <a:off x="6260966" y="576669"/>
            <a:ext cx="288988" cy="288988"/>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g3f9ebdf94e2_0_909"/>
          <p:cNvSpPr/>
          <p:nvPr/>
        </p:nvSpPr>
        <p:spPr>
          <a:xfrm rot="10800000">
            <a:off x="782093" y="1278440"/>
            <a:ext cx="324" cy="301784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213" name="Google Shape;1213;g3f9ebdf94e2_0_909"/>
          <p:cNvSpPr/>
          <p:nvPr/>
        </p:nvSpPr>
        <p:spPr>
          <a:xfrm>
            <a:off x="581914" y="4114727"/>
            <a:ext cx="6343920" cy="32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214" name="Google Shape;1214;g3f9ebdf94e2_0_909"/>
          <p:cNvSpPr/>
          <p:nvPr/>
        </p:nvSpPr>
        <p:spPr>
          <a:xfrm>
            <a:off x="3707336" y="4165015"/>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74</a:t>
            </a:r>
            <a:endParaRPr b="0" i="0" sz="1800" u="none" cap="none" strike="noStrike">
              <a:solidFill>
                <a:srgbClr val="000000"/>
              </a:solidFill>
              <a:latin typeface="Arial"/>
              <a:ea typeface="Arial"/>
              <a:cs typeface="Arial"/>
              <a:sym typeface="Arial"/>
            </a:endParaRPr>
          </a:p>
        </p:txBody>
      </p:sp>
      <p:sp>
        <p:nvSpPr>
          <p:cNvPr id="1215" name="Google Shape;1215;g3f9ebdf94e2_0_909"/>
          <p:cNvSpPr/>
          <p:nvPr/>
        </p:nvSpPr>
        <p:spPr>
          <a:xfrm>
            <a:off x="122457" y="2166265"/>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1,74</a:t>
            </a:r>
            <a:endParaRPr b="0" i="0" sz="1800" u="none" cap="none" strike="noStrike">
              <a:solidFill>
                <a:srgbClr val="000000"/>
              </a:solidFill>
              <a:latin typeface="Arial"/>
              <a:ea typeface="Arial"/>
              <a:cs typeface="Arial"/>
              <a:sym typeface="Arial"/>
            </a:endParaRPr>
          </a:p>
        </p:txBody>
      </p:sp>
      <p:sp>
        <p:nvSpPr>
          <p:cNvPr id="1216" name="Google Shape;1216;g3f9ebdf94e2_0_909"/>
          <p:cNvSpPr/>
          <p:nvPr/>
        </p:nvSpPr>
        <p:spPr>
          <a:xfrm>
            <a:off x="1765989" y="4114727"/>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46</a:t>
            </a:r>
            <a:endParaRPr b="0" i="0" sz="1800" u="none" cap="none" strike="noStrike">
              <a:solidFill>
                <a:srgbClr val="000000"/>
              </a:solidFill>
              <a:latin typeface="Arial"/>
              <a:ea typeface="Arial"/>
              <a:cs typeface="Arial"/>
              <a:sym typeface="Arial"/>
            </a:endParaRPr>
          </a:p>
        </p:txBody>
      </p:sp>
      <p:sp>
        <p:nvSpPr>
          <p:cNvPr id="1217" name="Google Shape;1217;g3f9ebdf94e2_0_909"/>
          <p:cNvSpPr/>
          <p:nvPr/>
        </p:nvSpPr>
        <p:spPr>
          <a:xfrm>
            <a:off x="147601" y="3258867"/>
            <a:ext cx="6372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1,49</a:t>
            </a:r>
            <a:endParaRPr b="0" i="0" sz="1800" u="none" cap="none" strike="noStrike">
              <a:solidFill>
                <a:srgbClr val="000000"/>
              </a:solidFill>
              <a:latin typeface="Arial"/>
              <a:ea typeface="Arial"/>
              <a:cs typeface="Arial"/>
              <a:sym typeface="Arial"/>
            </a:endParaRPr>
          </a:p>
        </p:txBody>
      </p:sp>
      <p:sp>
        <p:nvSpPr>
          <p:cNvPr id="1218" name="Google Shape;1218;g3f9ebdf94e2_0_909"/>
          <p:cNvSpPr/>
          <p:nvPr/>
        </p:nvSpPr>
        <p:spPr>
          <a:xfrm>
            <a:off x="4997866" y="4165015"/>
            <a:ext cx="6372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110</a:t>
            </a:r>
            <a:endParaRPr b="0" i="0" sz="1800" u="none" cap="none" strike="noStrike">
              <a:solidFill>
                <a:srgbClr val="000000"/>
              </a:solidFill>
              <a:latin typeface="Arial"/>
              <a:ea typeface="Arial"/>
              <a:cs typeface="Arial"/>
              <a:sym typeface="Arial"/>
            </a:endParaRPr>
          </a:p>
        </p:txBody>
      </p:sp>
      <p:sp>
        <p:nvSpPr>
          <p:cNvPr id="1219" name="Google Shape;1219;g3f9ebdf94e2_0_909"/>
          <p:cNvSpPr/>
          <p:nvPr/>
        </p:nvSpPr>
        <p:spPr>
          <a:xfrm>
            <a:off x="113313" y="1681353"/>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1,87</a:t>
            </a:r>
            <a:endParaRPr b="0" i="0" sz="1800" u="none" cap="none" strike="noStrike">
              <a:solidFill>
                <a:srgbClr val="000000"/>
              </a:solidFill>
              <a:latin typeface="Arial"/>
              <a:ea typeface="Arial"/>
              <a:cs typeface="Arial"/>
              <a:sym typeface="Arial"/>
            </a:endParaRPr>
          </a:p>
        </p:txBody>
      </p:sp>
      <p:cxnSp>
        <p:nvCxnSpPr>
          <p:cNvPr id="1220" name="Google Shape;1220;g3f9ebdf94e2_0_909"/>
          <p:cNvCxnSpPr/>
          <p:nvPr/>
        </p:nvCxnSpPr>
        <p:spPr>
          <a:xfrm>
            <a:off x="794826" y="1904706"/>
            <a:ext cx="4521600" cy="2259900"/>
          </a:xfrm>
          <a:prstGeom prst="bentConnector2">
            <a:avLst/>
          </a:prstGeom>
          <a:noFill/>
          <a:ln cap="flat" cmpd="sng" w="17300">
            <a:solidFill>
              <a:srgbClr val="595959"/>
            </a:solidFill>
            <a:prstDash val="dashDot"/>
            <a:round/>
            <a:headEnd len="sm" w="sm" type="none"/>
            <a:tailEnd len="sm" w="sm" type="none"/>
          </a:ln>
        </p:spPr>
      </p:cxnSp>
      <p:cxnSp>
        <p:nvCxnSpPr>
          <p:cNvPr id="1221" name="Google Shape;1221;g3f9ebdf94e2_0_909"/>
          <p:cNvCxnSpPr/>
          <p:nvPr/>
        </p:nvCxnSpPr>
        <p:spPr>
          <a:xfrm>
            <a:off x="804296" y="2389618"/>
            <a:ext cx="3153300" cy="1775100"/>
          </a:xfrm>
          <a:prstGeom prst="bentConnector2">
            <a:avLst/>
          </a:prstGeom>
          <a:noFill/>
          <a:ln cap="flat" cmpd="sng" w="17300">
            <a:solidFill>
              <a:srgbClr val="595959"/>
            </a:solidFill>
            <a:prstDash val="dashDot"/>
            <a:round/>
            <a:headEnd len="sm" w="sm" type="none"/>
            <a:tailEnd len="sm" w="sm" type="none"/>
          </a:ln>
        </p:spPr>
      </p:cxnSp>
      <p:cxnSp>
        <p:nvCxnSpPr>
          <p:cNvPr id="1222" name="Google Shape;1222;g3f9ebdf94e2_0_909"/>
          <p:cNvCxnSpPr/>
          <p:nvPr/>
        </p:nvCxnSpPr>
        <p:spPr>
          <a:xfrm>
            <a:off x="785356" y="3482220"/>
            <a:ext cx="1230900" cy="632400"/>
          </a:xfrm>
          <a:prstGeom prst="bentConnector2">
            <a:avLst/>
          </a:prstGeom>
          <a:noFill/>
          <a:ln cap="flat" cmpd="sng" w="17300">
            <a:solidFill>
              <a:srgbClr val="595959"/>
            </a:solidFill>
            <a:prstDash val="dashDot"/>
            <a:round/>
            <a:headEnd len="sm" w="sm" type="none"/>
            <a:tailEnd len="sm" w="sm" type="none"/>
          </a:ln>
        </p:spPr>
      </p:cxnSp>
      <p:pic>
        <p:nvPicPr>
          <p:cNvPr id="1223" name="Google Shape;1223;g3f9ebdf94e2_0_909"/>
          <p:cNvPicPr preferRelativeResize="0"/>
          <p:nvPr/>
        </p:nvPicPr>
        <p:blipFill rotWithShape="1">
          <a:blip r:embed="rId3">
            <a:alphaModFix/>
          </a:blip>
          <a:srcRect b="0" l="0" r="0" t="0"/>
          <a:stretch/>
        </p:blipFill>
        <p:spPr>
          <a:xfrm>
            <a:off x="1499850" y="3000574"/>
            <a:ext cx="1032882" cy="949577"/>
          </a:xfrm>
          <a:prstGeom prst="rect">
            <a:avLst/>
          </a:prstGeom>
          <a:noFill/>
          <a:ln>
            <a:noFill/>
          </a:ln>
        </p:spPr>
      </p:pic>
      <p:pic>
        <p:nvPicPr>
          <p:cNvPr id="1224" name="Google Shape;1224;g3f9ebdf94e2_0_909"/>
          <p:cNvPicPr preferRelativeResize="0"/>
          <p:nvPr/>
        </p:nvPicPr>
        <p:blipFill rotWithShape="1">
          <a:blip r:embed="rId4">
            <a:alphaModFix/>
          </a:blip>
          <a:srcRect b="0" l="0" r="0" t="0"/>
          <a:stretch/>
        </p:blipFill>
        <p:spPr>
          <a:xfrm>
            <a:off x="3514670" y="1935075"/>
            <a:ext cx="988145" cy="908433"/>
          </a:xfrm>
          <a:prstGeom prst="rect">
            <a:avLst/>
          </a:prstGeom>
          <a:noFill/>
          <a:ln>
            <a:noFill/>
          </a:ln>
        </p:spPr>
      </p:pic>
      <p:pic>
        <p:nvPicPr>
          <p:cNvPr id="1225" name="Google Shape;1225;g3f9ebdf94e2_0_909"/>
          <p:cNvPicPr preferRelativeResize="0"/>
          <p:nvPr/>
        </p:nvPicPr>
        <p:blipFill rotWithShape="1">
          <a:blip r:embed="rId5">
            <a:alphaModFix/>
          </a:blip>
          <a:srcRect b="0" l="0" r="0" t="0"/>
          <a:stretch/>
        </p:blipFill>
        <p:spPr>
          <a:xfrm>
            <a:off x="4794098" y="1405101"/>
            <a:ext cx="958100" cy="881005"/>
          </a:xfrm>
          <a:prstGeom prst="rect">
            <a:avLst/>
          </a:prstGeom>
          <a:noFill/>
          <a:ln>
            <a:noFill/>
          </a:ln>
        </p:spPr>
      </p:pic>
      <p:cxnSp>
        <p:nvCxnSpPr>
          <p:cNvPr id="1226" name="Google Shape;1226;g3f9ebdf94e2_0_909"/>
          <p:cNvCxnSpPr/>
          <p:nvPr/>
        </p:nvCxnSpPr>
        <p:spPr>
          <a:xfrm flipH="1" rot="-5400000">
            <a:off x="714692" y="2249336"/>
            <a:ext cx="1910400" cy="1806300"/>
          </a:xfrm>
          <a:prstGeom prst="bentConnector3">
            <a:avLst>
              <a:gd fmla="val -185" name="adj1"/>
            </a:avLst>
          </a:prstGeom>
          <a:noFill/>
          <a:ln cap="flat" cmpd="sng" w="17300">
            <a:solidFill>
              <a:srgbClr val="595959"/>
            </a:solidFill>
            <a:prstDash val="dashDot"/>
            <a:round/>
            <a:headEnd len="sm" w="sm" type="none"/>
            <a:tailEnd len="sm" w="sm" type="none"/>
          </a:ln>
        </p:spPr>
      </p:cxnSp>
      <p:pic>
        <p:nvPicPr>
          <p:cNvPr id="1227" name="Google Shape;1227;g3f9ebdf94e2_0_909"/>
          <p:cNvPicPr preferRelativeResize="0"/>
          <p:nvPr/>
        </p:nvPicPr>
        <p:blipFill rotWithShape="1">
          <a:blip r:embed="rId6">
            <a:alphaModFix/>
          </a:blip>
          <a:srcRect b="0" l="0" r="0" t="0"/>
          <a:stretch/>
        </p:blipFill>
        <p:spPr>
          <a:xfrm>
            <a:off x="2092213" y="1838419"/>
            <a:ext cx="888515" cy="888515"/>
          </a:xfrm>
          <a:prstGeom prst="rect">
            <a:avLst/>
          </a:prstGeom>
          <a:noFill/>
          <a:ln>
            <a:noFill/>
          </a:ln>
        </p:spPr>
      </p:pic>
      <p:sp>
        <p:nvSpPr>
          <p:cNvPr id="1228" name="Google Shape;1228;g3f9ebdf94e2_0_909"/>
          <p:cNvSpPr/>
          <p:nvPr/>
        </p:nvSpPr>
        <p:spPr>
          <a:xfrm>
            <a:off x="2394273" y="4114727"/>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60</a:t>
            </a:r>
            <a:endParaRPr b="0" i="0" sz="1800" u="none" cap="none" strike="noStrike">
              <a:solidFill>
                <a:srgbClr val="000000"/>
              </a:solidFill>
              <a:latin typeface="Arial"/>
              <a:ea typeface="Arial"/>
              <a:cs typeface="Arial"/>
              <a:sym typeface="Arial"/>
            </a:endParaRPr>
          </a:p>
        </p:txBody>
      </p:sp>
      <p:sp>
        <p:nvSpPr>
          <p:cNvPr id="1229" name="Google Shape;1229;g3f9ebdf94e2_0_909"/>
          <p:cNvSpPr/>
          <p:nvPr/>
        </p:nvSpPr>
        <p:spPr>
          <a:xfrm>
            <a:off x="100578" y="1967402"/>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1,81</a:t>
            </a:r>
            <a:endParaRPr b="0" i="0" sz="1800" u="none" cap="none" strike="noStrike">
              <a:solidFill>
                <a:srgbClr val="000000"/>
              </a:solidFill>
              <a:latin typeface="Arial"/>
              <a:ea typeface="Arial"/>
              <a:cs typeface="Arial"/>
              <a:sym typeface="Arial"/>
            </a:endParaRPr>
          </a:p>
        </p:txBody>
      </p:sp>
      <p:sp>
        <p:nvSpPr>
          <p:cNvPr id="1230" name="Google Shape;1230;g3f9ebdf94e2_0_909"/>
          <p:cNvSpPr txBox="1"/>
          <p:nvPr/>
        </p:nvSpPr>
        <p:spPr>
          <a:xfrm>
            <a:off x="282793" y="77390"/>
            <a:ext cx="5275200" cy="5193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3100"/>
              <a:buFont typeface="Arial"/>
              <a:buNone/>
            </a:pPr>
            <a:r>
              <a:rPr b="1" i="0" lang="pt-BR" sz="3100" u="none" cap="none" strike="noStrike">
                <a:solidFill>
                  <a:srgbClr val="000000"/>
                </a:solidFill>
                <a:latin typeface="Comfortaa"/>
                <a:ea typeface="Comfortaa"/>
                <a:cs typeface="Comfortaa"/>
                <a:sym typeface="Comfortaa"/>
              </a:rPr>
              <a:t>Comparing Zombies</a:t>
            </a:r>
            <a:endParaRPr b="1" i="0" sz="3100" u="none" cap="none" strike="noStrike">
              <a:solidFill>
                <a:srgbClr val="252323"/>
              </a:solidFill>
              <a:latin typeface="Comfortaa"/>
              <a:ea typeface="Comfortaa"/>
              <a:cs typeface="Comfortaa"/>
              <a:sym typeface="Comfortaa"/>
            </a:endParaRPr>
          </a:p>
        </p:txBody>
      </p:sp>
      <p:sp>
        <p:nvSpPr>
          <p:cNvPr id="1231" name="Google Shape;1231;g3f9ebdf94e2_0_909"/>
          <p:cNvSpPr/>
          <p:nvPr/>
        </p:nvSpPr>
        <p:spPr>
          <a:xfrm>
            <a:off x="370309" y="868269"/>
            <a:ext cx="888300" cy="4428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height</a:t>
            </a:r>
            <a:endParaRPr b="0" i="0" sz="1800" u="none" cap="none" strike="noStrike">
              <a:solidFill>
                <a:srgbClr val="000000"/>
              </a:solidFill>
              <a:latin typeface="Arial"/>
              <a:ea typeface="Arial"/>
              <a:cs typeface="Arial"/>
              <a:sym typeface="Arial"/>
            </a:endParaRPr>
          </a:p>
        </p:txBody>
      </p:sp>
      <p:sp>
        <p:nvSpPr>
          <p:cNvPr id="1232" name="Google Shape;1232;g3f9ebdf94e2_0_909"/>
          <p:cNvSpPr/>
          <p:nvPr/>
        </p:nvSpPr>
        <p:spPr>
          <a:xfrm>
            <a:off x="6756997" y="4084359"/>
            <a:ext cx="948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weight</a:t>
            </a:r>
            <a:endParaRPr b="0" i="0" sz="1800" u="none" cap="none" strike="noStrike">
              <a:solidFill>
                <a:srgbClr val="000000"/>
              </a:solidFill>
              <a:latin typeface="Arial"/>
              <a:ea typeface="Arial"/>
              <a:cs typeface="Arial"/>
              <a:sym typeface="Arial"/>
            </a:endParaRPr>
          </a:p>
        </p:txBody>
      </p:sp>
      <p:sp>
        <p:nvSpPr>
          <p:cNvPr id="1233" name="Google Shape;1233;g3f9ebdf94e2_0_909"/>
          <p:cNvSpPr/>
          <p:nvPr/>
        </p:nvSpPr>
        <p:spPr>
          <a:xfrm>
            <a:off x="6312561" y="537484"/>
            <a:ext cx="215400" cy="1796400"/>
          </a:xfrm>
          <a:prstGeom prst="rect">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graphicFrame>
        <p:nvGraphicFramePr>
          <p:cNvPr id="1234" name="Google Shape;1234;g3f9ebdf94e2_0_909"/>
          <p:cNvGraphicFramePr/>
          <p:nvPr/>
        </p:nvGraphicFramePr>
        <p:xfrm>
          <a:off x="6573802" y="177964"/>
          <a:ext cx="3000000" cy="3000000"/>
        </p:xfrm>
        <a:graphic>
          <a:graphicData uri="http://schemas.openxmlformats.org/drawingml/2006/table">
            <a:tbl>
              <a:tblPr>
                <a:noFill/>
                <a:tableStyleId>{967FECD5-6A5C-4673-8E3D-DED955AC76FF}</a:tableStyleId>
              </a:tblPr>
              <a:tblGrid>
                <a:gridCol w="989775"/>
                <a:gridCol w="694575"/>
                <a:gridCol w="688050"/>
              </a:tblGrid>
              <a:tr h="359200">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name</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height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weight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Doriana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1.87</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Quincas</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1.81</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110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Asdrúbal</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Lucinda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1.49</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46</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85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Dulcinéia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1.65</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bl>
          </a:graphicData>
        </a:graphic>
      </p:graphicFrame>
      <p:pic>
        <p:nvPicPr>
          <p:cNvPr id="1235" name="Google Shape;1235;g3f9ebdf94e2_0_909"/>
          <p:cNvPicPr preferRelativeResize="0"/>
          <p:nvPr/>
        </p:nvPicPr>
        <p:blipFill rotWithShape="1">
          <a:blip r:embed="rId5">
            <a:alphaModFix/>
          </a:blip>
          <a:srcRect b="0" l="0" r="0" t="0"/>
          <a:stretch/>
        </p:blipFill>
        <p:spPr>
          <a:xfrm>
            <a:off x="6249537" y="948271"/>
            <a:ext cx="311530" cy="286375"/>
          </a:xfrm>
          <a:prstGeom prst="rect">
            <a:avLst/>
          </a:prstGeom>
          <a:noFill/>
          <a:ln>
            <a:noFill/>
          </a:ln>
        </p:spPr>
      </p:pic>
      <p:pic>
        <p:nvPicPr>
          <p:cNvPr id="1236" name="Google Shape;1236;g3f9ebdf94e2_0_909"/>
          <p:cNvPicPr preferRelativeResize="0"/>
          <p:nvPr/>
        </p:nvPicPr>
        <p:blipFill rotWithShape="1">
          <a:blip r:embed="rId7">
            <a:alphaModFix/>
          </a:blip>
          <a:srcRect b="0" l="0" r="0" t="0"/>
          <a:stretch/>
        </p:blipFill>
        <p:spPr>
          <a:xfrm>
            <a:off x="6260966" y="2014097"/>
            <a:ext cx="288997" cy="265478"/>
          </a:xfrm>
          <a:prstGeom prst="rect">
            <a:avLst/>
          </a:prstGeom>
          <a:noFill/>
          <a:ln>
            <a:noFill/>
          </a:ln>
        </p:spPr>
      </p:pic>
      <p:pic>
        <p:nvPicPr>
          <p:cNvPr id="1237" name="Google Shape;1237;g3f9ebdf94e2_0_909"/>
          <p:cNvPicPr preferRelativeResize="0"/>
          <p:nvPr/>
        </p:nvPicPr>
        <p:blipFill rotWithShape="1">
          <a:blip r:embed="rId3">
            <a:alphaModFix/>
          </a:blip>
          <a:srcRect b="0" l="0" r="0" t="0"/>
          <a:stretch/>
        </p:blipFill>
        <p:spPr>
          <a:xfrm>
            <a:off x="6237454" y="1652944"/>
            <a:ext cx="336020" cy="308908"/>
          </a:xfrm>
          <a:prstGeom prst="rect">
            <a:avLst/>
          </a:prstGeom>
          <a:noFill/>
          <a:ln>
            <a:noFill/>
          </a:ln>
        </p:spPr>
      </p:pic>
      <p:pic>
        <p:nvPicPr>
          <p:cNvPr id="1238" name="Google Shape;1238;g3f9ebdf94e2_0_909"/>
          <p:cNvPicPr preferRelativeResize="0"/>
          <p:nvPr/>
        </p:nvPicPr>
        <p:blipFill rotWithShape="1">
          <a:blip r:embed="rId4">
            <a:alphaModFix/>
          </a:blip>
          <a:srcRect b="0" l="0" r="0" t="0"/>
          <a:stretch/>
        </p:blipFill>
        <p:spPr>
          <a:xfrm>
            <a:off x="6244638" y="1286893"/>
            <a:ext cx="321327" cy="295518"/>
          </a:xfrm>
          <a:prstGeom prst="rect">
            <a:avLst/>
          </a:prstGeom>
          <a:noFill/>
          <a:ln>
            <a:noFill/>
          </a:ln>
        </p:spPr>
      </p:pic>
      <p:pic>
        <p:nvPicPr>
          <p:cNvPr id="1239" name="Google Shape;1239;g3f9ebdf94e2_0_909"/>
          <p:cNvPicPr preferRelativeResize="0"/>
          <p:nvPr/>
        </p:nvPicPr>
        <p:blipFill rotWithShape="1">
          <a:blip r:embed="rId6">
            <a:alphaModFix/>
          </a:blip>
          <a:srcRect b="0" l="0" r="0" t="0"/>
          <a:stretch/>
        </p:blipFill>
        <p:spPr>
          <a:xfrm>
            <a:off x="6260966" y="576669"/>
            <a:ext cx="288988" cy="288988"/>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g3f9ebdf94e2_0_940"/>
          <p:cNvSpPr/>
          <p:nvPr/>
        </p:nvSpPr>
        <p:spPr>
          <a:xfrm rot="10800000">
            <a:off x="782093" y="1278440"/>
            <a:ext cx="324" cy="301784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245" name="Google Shape;1245;g3f9ebdf94e2_0_940"/>
          <p:cNvSpPr/>
          <p:nvPr/>
        </p:nvSpPr>
        <p:spPr>
          <a:xfrm>
            <a:off x="581914" y="4114727"/>
            <a:ext cx="6343920" cy="32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246" name="Google Shape;1246;g3f9ebdf94e2_0_940"/>
          <p:cNvSpPr/>
          <p:nvPr/>
        </p:nvSpPr>
        <p:spPr>
          <a:xfrm>
            <a:off x="3707336" y="4165015"/>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74</a:t>
            </a:r>
            <a:endParaRPr b="0" i="0" sz="1800" u="none" cap="none" strike="noStrike">
              <a:solidFill>
                <a:srgbClr val="000000"/>
              </a:solidFill>
              <a:latin typeface="Arial"/>
              <a:ea typeface="Arial"/>
              <a:cs typeface="Arial"/>
              <a:sym typeface="Arial"/>
            </a:endParaRPr>
          </a:p>
        </p:txBody>
      </p:sp>
      <p:sp>
        <p:nvSpPr>
          <p:cNvPr id="1247" name="Google Shape;1247;g3f9ebdf94e2_0_940"/>
          <p:cNvSpPr/>
          <p:nvPr/>
        </p:nvSpPr>
        <p:spPr>
          <a:xfrm>
            <a:off x="122457" y="2166265"/>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1,74</a:t>
            </a:r>
            <a:endParaRPr b="0" i="0" sz="1800" u="none" cap="none" strike="noStrike">
              <a:solidFill>
                <a:srgbClr val="000000"/>
              </a:solidFill>
              <a:latin typeface="Arial"/>
              <a:ea typeface="Arial"/>
              <a:cs typeface="Arial"/>
              <a:sym typeface="Arial"/>
            </a:endParaRPr>
          </a:p>
        </p:txBody>
      </p:sp>
      <p:sp>
        <p:nvSpPr>
          <p:cNvPr id="1248" name="Google Shape;1248;g3f9ebdf94e2_0_940"/>
          <p:cNvSpPr/>
          <p:nvPr/>
        </p:nvSpPr>
        <p:spPr>
          <a:xfrm>
            <a:off x="1765989" y="4114727"/>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46</a:t>
            </a:r>
            <a:endParaRPr b="0" i="0" sz="1800" u="none" cap="none" strike="noStrike">
              <a:solidFill>
                <a:srgbClr val="000000"/>
              </a:solidFill>
              <a:latin typeface="Arial"/>
              <a:ea typeface="Arial"/>
              <a:cs typeface="Arial"/>
              <a:sym typeface="Arial"/>
            </a:endParaRPr>
          </a:p>
        </p:txBody>
      </p:sp>
      <p:sp>
        <p:nvSpPr>
          <p:cNvPr id="1249" name="Google Shape;1249;g3f9ebdf94e2_0_940"/>
          <p:cNvSpPr/>
          <p:nvPr/>
        </p:nvSpPr>
        <p:spPr>
          <a:xfrm>
            <a:off x="147601" y="3258867"/>
            <a:ext cx="6372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1,49</a:t>
            </a:r>
            <a:endParaRPr b="0" i="0" sz="1800" u="none" cap="none" strike="noStrike">
              <a:solidFill>
                <a:srgbClr val="000000"/>
              </a:solidFill>
              <a:latin typeface="Arial"/>
              <a:ea typeface="Arial"/>
              <a:cs typeface="Arial"/>
              <a:sym typeface="Arial"/>
            </a:endParaRPr>
          </a:p>
        </p:txBody>
      </p:sp>
      <p:sp>
        <p:nvSpPr>
          <p:cNvPr id="1250" name="Google Shape;1250;g3f9ebdf94e2_0_940"/>
          <p:cNvSpPr/>
          <p:nvPr/>
        </p:nvSpPr>
        <p:spPr>
          <a:xfrm>
            <a:off x="4997866" y="4165015"/>
            <a:ext cx="6372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110</a:t>
            </a:r>
            <a:endParaRPr b="0" i="0" sz="1800" u="none" cap="none" strike="noStrike">
              <a:solidFill>
                <a:srgbClr val="000000"/>
              </a:solidFill>
              <a:latin typeface="Arial"/>
              <a:ea typeface="Arial"/>
              <a:cs typeface="Arial"/>
              <a:sym typeface="Arial"/>
            </a:endParaRPr>
          </a:p>
        </p:txBody>
      </p:sp>
      <p:sp>
        <p:nvSpPr>
          <p:cNvPr id="1251" name="Google Shape;1251;g3f9ebdf94e2_0_940"/>
          <p:cNvSpPr/>
          <p:nvPr/>
        </p:nvSpPr>
        <p:spPr>
          <a:xfrm>
            <a:off x="113313" y="1681353"/>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1,87</a:t>
            </a:r>
            <a:endParaRPr b="0" i="0" sz="1800" u="none" cap="none" strike="noStrike">
              <a:solidFill>
                <a:srgbClr val="000000"/>
              </a:solidFill>
              <a:latin typeface="Arial"/>
              <a:ea typeface="Arial"/>
              <a:cs typeface="Arial"/>
              <a:sym typeface="Arial"/>
            </a:endParaRPr>
          </a:p>
        </p:txBody>
      </p:sp>
      <p:sp>
        <p:nvSpPr>
          <p:cNvPr id="1252" name="Google Shape;1252;g3f9ebdf94e2_0_940"/>
          <p:cNvSpPr/>
          <p:nvPr/>
        </p:nvSpPr>
        <p:spPr>
          <a:xfrm>
            <a:off x="2843281" y="4114727"/>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64</a:t>
            </a:r>
            <a:endParaRPr b="0" i="0" sz="1800" u="none" cap="none" strike="noStrike">
              <a:solidFill>
                <a:srgbClr val="000000"/>
              </a:solidFill>
              <a:latin typeface="Arial"/>
              <a:ea typeface="Arial"/>
              <a:cs typeface="Arial"/>
              <a:sym typeface="Arial"/>
            </a:endParaRPr>
          </a:p>
        </p:txBody>
      </p:sp>
      <p:sp>
        <p:nvSpPr>
          <p:cNvPr id="1253" name="Google Shape;1253;g3f9ebdf94e2_0_940"/>
          <p:cNvSpPr/>
          <p:nvPr/>
        </p:nvSpPr>
        <p:spPr>
          <a:xfrm>
            <a:off x="128988" y="2612971"/>
            <a:ext cx="6372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1,65</a:t>
            </a:r>
            <a:endParaRPr b="0" i="0" sz="1800" u="none" cap="none" strike="noStrike">
              <a:solidFill>
                <a:srgbClr val="000000"/>
              </a:solidFill>
              <a:latin typeface="Arial"/>
              <a:ea typeface="Arial"/>
              <a:cs typeface="Arial"/>
              <a:sym typeface="Arial"/>
            </a:endParaRPr>
          </a:p>
        </p:txBody>
      </p:sp>
      <p:cxnSp>
        <p:nvCxnSpPr>
          <p:cNvPr id="1254" name="Google Shape;1254;g3f9ebdf94e2_0_940"/>
          <p:cNvCxnSpPr/>
          <p:nvPr/>
        </p:nvCxnSpPr>
        <p:spPr>
          <a:xfrm>
            <a:off x="794826" y="1904706"/>
            <a:ext cx="4521600" cy="2259900"/>
          </a:xfrm>
          <a:prstGeom prst="bentConnector2">
            <a:avLst/>
          </a:prstGeom>
          <a:noFill/>
          <a:ln cap="flat" cmpd="sng" w="17300">
            <a:solidFill>
              <a:srgbClr val="595959"/>
            </a:solidFill>
            <a:prstDash val="dashDot"/>
            <a:round/>
            <a:headEnd len="sm" w="sm" type="none"/>
            <a:tailEnd len="sm" w="sm" type="none"/>
          </a:ln>
        </p:spPr>
      </p:cxnSp>
      <p:cxnSp>
        <p:nvCxnSpPr>
          <p:cNvPr id="1255" name="Google Shape;1255;g3f9ebdf94e2_0_940"/>
          <p:cNvCxnSpPr/>
          <p:nvPr/>
        </p:nvCxnSpPr>
        <p:spPr>
          <a:xfrm>
            <a:off x="804296" y="2389618"/>
            <a:ext cx="3153300" cy="1775100"/>
          </a:xfrm>
          <a:prstGeom prst="bentConnector2">
            <a:avLst/>
          </a:prstGeom>
          <a:noFill/>
          <a:ln cap="flat" cmpd="sng" w="17300">
            <a:solidFill>
              <a:srgbClr val="595959"/>
            </a:solidFill>
            <a:prstDash val="dashDot"/>
            <a:round/>
            <a:headEnd len="sm" w="sm" type="none"/>
            <a:tailEnd len="sm" w="sm" type="none"/>
          </a:ln>
        </p:spPr>
      </p:cxnSp>
      <p:cxnSp>
        <p:nvCxnSpPr>
          <p:cNvPr id="1256" name="Google Shape;1256;g3f9ebdf94e2_0_940"/>
          <p:cNvCxnSpPr/>
          <p:nvPr/>
        </p:nvCxnSpPr>
        <p:spPr>
          <a:xfrm>
            <a:off x="804296" y="2836324"/>
            <a:ext cx="2289000" cy="1278000"/>
          </a:xfrm>
          <a:prstGeom prst="bentConnector2">
            <a:avLst/>
          </a:prstGeom>
          <a:noFill/>
          <a:ln cap="flat" cmpd="sng" w="17300">
            <a:solidFill>
              <a:srgbClr val="595959"/>
            </a:solidFill>
            <a:prstDash val="dashDot"/>
            <a:round/>
            <a:headEnd len="sm" w="sm" type="none"/>
            <a:tailEnd len="sm" w="sm" type="none"/>
          </a:ln>
        </p:spPr>
      </p:cxnSp>
      <p:cxnSp>
        <p:nvCxnSpPr>
          <p:cNvPr id="1257" name="Google Shape;1257;g3f9ebdf94e2_0_940"/>
          <p:cNvCxnSpPr/>
          <p:nvPr/>
        </p:nvCxnSpPr>
        <p:spPr>
          <a:xfrm>
            <a:off x="785356" y="3482220"/>
            <a:ext cx="1230900" cy="632400"/>
          </a:xfrm>
          <a:prstGeom prst="bentConnector2">
            <a:avLst/>
          </a:prstGeom>
          <a:noFill/>
          <a:ln cap="flat" cmpd="sng" w="17300">
            <a:solidFill>
              <a:srgbClr val="595959"/>
            </a:solidFill>
            <a:prstDash val="dashDot"/>
            <a:round/>
            <a:headEnd len="sm" w="sm" type="none"/>
            <a:tailEnd len="sm" w="sm" type="none"/>
          </a:ln>
        </p:spPr>
      </p:cxnSp>
      <p:pic>
        <p:nvPicPr>
          <p:cNvPr id="1258" name="Google Shape;1258;g3f9ebdf94e2_0_940"/>
          <p:cNvPicPr preferRelativeResize="0"/>
          <p:nvPr/>
        </p:nvPicPr>
        <p:blipFill rotWithShape="1">
          <a:blip r:embed="rId3">
            <a:alphaModFix/>
          </a:blip>
          <a:srcRect b="0" l="0" r="0" t="0"/>
          <a:stretch/>
        </p:blipFill>
        <p:spPr>
          <a:xfrm>
            <a:off x="2649310" y="2427823"/>
            <a:ext cx="888545" cy="816675"/>
          </a:xfrm>
          <a:prstGeom prst="rect">
            <a:avLst/>
          </a:prstGeom>
          <a:noFill/>
          <a:ln>
            <a:noFill/>
          </a:ln>
        </p:spPr>
      </p:pic>
      <p:pic>
        <p:nvPicPr>
          <p:cNvPr id="1259" name="Google Shape;1259;g3f9ebdf94e2_0_940"/>
          <p:cNvPicPr preferRelativeResize="0"/>
          <p:nvPr/>
        </p:nvPicPr>
        <p:blipFill rotWithShape="1">
          <a:blip r:embed="rId4">
            <a:alphaModFix/>
          </a:blip>
          <a:srcRect b="0" l="0" r="0" t="0"/>
          <a:stretch/>
        </p:blipFill>
        <p:spPr>
          <a:xfrm>
            <a:off x="1499850" y="3000574"/>
            <a:ext cx="1032882" cy="949577"/>
          </a:xfrm>
          <a:prstGeom prst="rect">
            <a:avLst/>
          </a:prstGeom>
          <a:noFill/>
          <a:ln>
            <a:noFill/>
          </a:ln>
        </p:spPr>
      </p:pic>
      <p:pic>
        <p:nvPicPr>
          <p:cNvPr id="1260" name="Google Shape;1260;g3f9ebdf94e2_0_940"/>
          <p:cNvPicPr preferRelativeResize="0"/>
          <p:nvPr/>
        </p:nvPicPr>
        <p:blipFill rotWithShape="1">
          <a:blip r:embed="rId5">
            <a:alphaModFix/>
          </a:blip>
          <a:srcRect b="0" l="0" r="0" t="0"/>
          <a:stretch/>
        </p:blipFill>
        <p:spPr>
          <a:xfrm>
            <a:off x="3514670" y="1935075"/>
            <a:ext cx="988145" cy="908433"/>
          </a:xfrm>
          <a:prstGeom prst="rect">
            <a:avLst/>
          </a:prstGeom>
          <a:noFill/>
          <a:ln>
            <a:noFill/>
          </a:ln>
        </p:spPr>
      </p:pic>
      <p:pic>
        <p:nvPicPr>
          <p:cNvPr id="1261" name="Google Shape;1261;g3f9ebdf94e2_0_940"/>
          <p:cNvPicPr preferRelativeResize="0"/>
          <p:nvPr/>
        </p:nvPicPr>
        <p:blipFill rotWithShape="1">
          <a:blip r:embed="rId6">
            <a:alphaModFix/>
          </a:blip>
          <a:srcRect b="0" l="0" r="0" t="0"/>
          <a:stretch/>
        </p:blipFill>
        <p:spPr>
          <a:xfrm>
            <a:off x="4794098" y="1405101"/>
            <a:ext cx="958100" cy="881005"/>
          </a:xfrm>
          <a:prstGeom prst="rect">
            <a:avLst/>
          </a:prstGeom>
          <a:noFill/>
          <a:ln>
            <a:noFill/>
          </a:ln>
        </p:spPr>
      </p:pic>
      <p:cxnSp>
        <p:nvCxnSpPr>
          <p:cNvPr id="1262" name="Google Shape;1262;g3f9ebdf94e2_0_940"/>
          <p:cNvCxnSpPr/>
          <p:nvPr/>
        </p:nvCxnSpPr>
        <p:spPr>
          <a:xfrm flipH="1" rot="-5400000">
            <a:off x="714692" y="2249336"/>
            <a:ext cx="1910400" cy="1806300"/>
          </a:xfrm>
          <a:prstGeom prst="bentConnector3">
            <a:avLst>
              <a:gd fmla="val -185" name="adj1"/>
            </a:avLst>
          </a:prstGeom>
          <a:noFill/>
          <a:ln cap="flat" cmpd="sng" w="17300">
            <a:solidFill>
              <a:srgbClr val="595959"/>
            </a:solidFill>
            <a:prstDash val="dashDot"/>
            <a:round/>
            <a:headEnd len="sm" w="sm" type="none"/>
            <a:tailEnd len="sm" w="sm" type="none"/>
          </a:ln>
        </p:spPr>
      </p:cxnSp>
      <p:pic>
        <p:nvPicPr>
          <p:cNvPr id="1263" name="Google Shape;1263;g3f9ebdf94e2_0_940"/>
          <p:cNvPicPr preferRelativeResize="0"/>
          <p:nvPr/>
        </p:nvPicPr>
        <p:blipFill rotWithShape="1">
          <a:blip r:embed="rId7">
            <a:alphaModFix/>
          </a:blip>
          <a:srcRect b="0" l="0" r="0" t="0"/>
          <a:stretch/>
        </p:blipFill>
        <p:spPr>
          <a:xfrm>
            <a:off x="2092213" y="1838419"/>
            <a:ext cx="888515" cy="888515"/>
          </a:xfrm>
          <a:prstGeom prst="rect">
            <a:avLst/>
          </a:prstGeom>
          <a:noFill/>
          <a:ln>
            <a:noFill/>
          </a:ln>
        </p:spPr>
      </p:pic>
      <p:sp>
        <p:nvSpPr>
          <p:cNvPr id="1264" name="Google Shape;1264;g3f9ebdf94e2_0_940"/>
          <p:cNvSpPr/>
          <p:nvPr/>
        </p:nvSpPr>
        <p:spPr>
          <a:xfrm>
            <a:off x="2394273" y="4114727"/>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60</a:t>
            </a:r>
            <a:endParaRPr b="0" i="0" sz="1800" u="none" cap="none" strike="noStrike">
              <a:solidFill>
                <a:srgbClr val="000000"/>
              </a:solidFill>
              <a:latin typeface="Arial"/>
              <a:ea typeface="Arial"/>
              <a:cs typeface="Arial"/>
              <a:sym typeface="Arial"/>
            </a:endParaRPr>
          </a:p>
        </p:txBody>
      </p:sp>
      <p:sp>
        <p:nvSpPr>
          <p:cNvPr id="1265" name="Google Shape;1265;g3f9ebdf94e2_0_940"/>
          <p:cNvSpPr/>
          <p:nvPr/>
        </p:nvSpPr>
        <p:spPr>
          <a:xfrm>
            <a:off x="100578" y="1967402"/>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1,81</a:t>
            </a:r>
            <a:endParaRPr b="0" i="0" sz="1800" u="none" cap="none" strike="noStrike">
              <a:solidFill>
                <a:srgbClr val="000000"/>
              </a:solidFill>
              <a:latin typeface="Arial"/>
              <a:ea typeface="Arial"/>
              <a:cs typeface="Arial"/>
              <a:sym typeface="Arial"/>
            </a:endParaRPr>
          </a:p>
        </p:txBody>
      </p:sp>
      <p:sp>
        <p:nvSpPr>
          <p:cNvPr id="1266" name="Google Shape;1266;g3f9ebdf94e2_0_940"/>
          <p:cNvSpPr txBox="1"/>
          <p:nvPr/>
        </p:nvSpPr>
        <p:spPr>
          <a:xfrm>
            <a:off x="282793" y="77390"/>
            <a:ext cx="5275200" cy="5193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3100"/>
              <a:buFont typeface="Arial"/>
              <a:buNone/>
            </a:pPr>
            <a:r>
              <a:rPr b="1" i="0" lang="pt-BR" sz="3100" u="none" cap="none" strike="noStrike">
                <a:solidFill>
                  <a:srgbClr val="000000"/>
                </a:solidFill>
                <a:latin typeface="Comfortaa"/>
                <a:ea typeface="Comfortaa"/>
                <a:cs typeface="Comfortaa"/>
                <a:sym typeface="Comfortaa"/>
              </a:rPr>
              <a:t>Comparing Zombies</a:t>
            </a:r>
            <a:endParaRPr b="1" i="0" sz="3100" u="none" cap="none" strike="noStrike">
              <a:solidFill>
                <a:srgbClr val="252323"/>
              </a:solidFill>
              <a:latin typeface="Comfortaa"/>
              <a:ea typeface="Comfortaa"/>
              <a:cs typeface="Comfortaa"/>
              <a:sym typeface="Comfortaa"/>
            </a:endParaRPr>
          </a:p>
        </p:txBody>
      </p:sp>
      <p:sp>
        <p:nvSpPr>
          <p:cNvPr id="1267" name="Google Shape;1267;g3f9ebdf94e2_0_940"/>
          <p:cNvSpPr/>
          <p:nvPr/>
        </p:nvSpPr>
        <p:spPr>
          <a:xfrm>
            <a:off x="370309" y="868269"/>
            <a:ext cx="888300" cy="4428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height</a:t>
            </a:r>
            <a:endParaRPr b="0" i="0" sz="1800" u="none" cap="none" strike="noStrike">
              <a:solidFill>
                <a:srgbClr val="000000"/>
              </a:solidFill>
              <a:latin typeface="Arial"/>
              <a:ea typeface="Arial"/>
              <a:cs typeface="Arial"/>
              <a:sym typeface="Arial"/>
            </a:endParaRPr>
          </a:p>
        </p:txBody>
      </p:sp>
      <p:sp>
        <p:nvSpPr>
          <p:cNvPr id="1268" name="Google Shape;1268;g3f9ebdf94e2_0_940"/>
          <p:cNvSpPr/>
          <p:nvPr/>
        </p:nvSpPr>
        <p:spPr>
          <a:xfrm>
            <a:off x="6756997" y="4084359"/>
            <a:ext cx="948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weight</a:t>
            </a:r>
            <a:endParaRPr b="0" i="0" sz="1800" u="none" cap="none" strike="noStrike">
              <a:solidFill>
                <a:srgbClr val="000000"/>
              </a:solidFill>
              <a:latin typeface="Arial"/>
              <a:ea typeface="Arial"/>
              <a:cs typeface="Arial"/>
              <a:sym typeface="Arial"/>
            </a:endParaRPr>
          </a:p>
        </p:txBody>
      </p:sp>
      <p:sp>
        <p:nvSpPr>
          <p:cNvPr id="1269" name="Google Shape;1269;g3f9ebdf94e2_0_940"/>
          <p:cNvSpPr/>
          <p:nvPr/>
        </p:nvSpPr>
        <p:spPr>
          <a:xfrm>
            <a:off x="6312561" y="537484"/>
            <a:ext cx="215400" cy="1796400"/>
          </a:xfrm>
          <a:prstGeom prst="rect">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graphicFrame>
        <p:nvGraphicFramePr>
          <p:cNvPr id="1270" name="Google Shape;1270;g3f9ebdf94e2_0_940"/>
          <p:cNvGraphicFramePr/>
          <p:nvPr/>
        </p:nvGraphicFramePr>
        <p:xfrm>
          <a:off x="6573802" y="177964"/>
          <a:ext cx="3000000" cy="3000000"/>
        </p:xfrm>
        <a:graphic>
          <a:graphicData uri="http://schemas.openxmlformats.org/drawingml/2006/table">
            <a:tbl>
              <a:tblPr>
                <a:noFill/>
                <a:tableStyleId>{967FECD5-6A5C-4673-8E3D-DED955AC76FF}</a:tableStyleId>
              </a:tblPr>
              <a:tblGrid>
                <a:gridCol w="989775"/>
                <a:gridCol w="694575"/>
                <a:gridCol w="688050"/>
              </a:tblGrid>
              <a:tr h="359200">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name</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height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pt-BR" sz="1300" u="none" cap="none" strike="noStrike">
                          <a:solidFill>
                            <a:srgbClr val="000000"/>
                          </a:solidFill>
                          <a:latin typeface="Arial"/>
                          <a:ea typeface="Arial"/>
                          <a:cs typeface="Arial"/>
                          <a:sym typeface="Arial"/>
                        </a:rPr>
                        <a:t>weight</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Doriana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1.87</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Quincas</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1.81</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110</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Asdrúbal</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74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20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Lucinda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1.49</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46</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r h="359850">
                <a:tc>
                  <a:txBody>
                    <a:bodyPr/>
                    <a:lstStyle/>
                    <a:p>
                      <a:pPr indent="0" lvl="0" marL="0" marR="0" rtl="0" algn="l">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Dulcinéia</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1.65</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300"/>
                        <a:buFont typeface="Arial"/>
                        <a:buNone/>
                      </a:pPr>
                      <a:r>
                        <a:rPr b="0" lang="pt-BR" sz="1300" u="none" cap="none" strike="noStrike">
                          <a:solidFill>
                            <a:srgbClr val="000000"/>
                          </a:solidFill>
                          <a:latin typeface="Arial"/>
                          <a:ea typeface="Arial"/>
                          <a:cs typeface="Arial"/>
                          <a:sym typeface="Arial"/>
                        </a:rPr>
                        <a:t>64</a:t>
                      </a:r>
                      <a:endParaRPr b="0" sz="1300" u="none" cap="none" strike="noStrike">
                        <a:latin typeface="Arial"/>
                        <a:ea typeface="Arial"/>
                        <a:cs typeface="Arial"/>
                        <a:sym typeface="Arial"/>
                      </a:endParaRPr>
                    </a:p>
                  </a:txBody>
                  <a:tcPr marT="41475" marB="41475" marR="82625" marL="82625">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FFFFFF"/>
                    </a:solidFill>
                  </a:tcPr>
                </a:tc>
              </a:tr>
            </a:tbl>
          </a:graphicData>
        </a:graphic>
      </p:graphicFrame>
      <p:pic>
        <p:nvPicPr>
          <p:cNvPr id="1271" name="Google Shape;1271;g3f9ebdf94e2_0_940"/>
          <p:cNvPicPr preferRelativeResize="0"/>
          <p:nvPr/>
        </p:nvPicPr>
        <p:blipFill rotWithShape="1">
          <a:blip r:embed="rId6">
            <a:alphaModFix/>
          </a:blip>
          <a:srcRect b="0" l="0" r="0" t="0"/>
          <a:stretch/>
        </p:blipFill>
        <p:spPr>
          <a:xfrm>
            <a:off x="6249537" y="948271"/>
            <a:ext cx="311530" cy="286375"/>
          </a:xfrm>
          <a:prstGeom prst="rect">
            <a:avLst/>
          </a:prstGeom>
          <a:noFill/>
          <a:ln>
            <a:noFill/>
          </a:ln>
        </p:spPr>
      </p:pic>
      <p:pic>
        <p:nvPicPr>
          <p:cNvPr id="1272" name="Google Shape;1272;g3f9ebdf94e2_0_940"/>
          <p:cNvPicPr preferRelativeResize="0"/>
          <p:nvPr/>
        </p:nvPicPr>
        <p:blipFill rotWithShape="1">
          <a:blip r:embed="rId3">
            <a:alphaModFix/>
          </a:blip>
          <a:srcRect b="0" l="0" r="0" t="0"/>
          <a:stretch/>
        </p:blipFill>
        <p:spPr>
          <a:xfrm>
            <a:off x="6260966" y="2014097"/>
            <a:ext cx="288997" cy="265478"/>
          </a:xfrm>
          <a:prstGeom prst="rect">
            <a:avLst/>
          </a:prstGeom>
          <a:noFill/>
          <a:ln>
            <a:noFill/>
          </a:ln>
        </p:spPr>
      </p:pic>
      <p:pic>
        <p:nvPicPr>
          <p:cNvPr id="1273" name="Google Shape;1273;g3f9ebdf94e2_0_940"/>
          <p:cNvPicPr preferRelativeResize="0"/>
          <p:nvPr/>
        </p:nvPicPr>
        <p:blipFill rotWithShape="1">
          <a:blip r:embed="rId4">
            <a:alphaModFix/>
          </a:blip>
          <a:srcRect b="0" l="0" r="0" t="0"/>
          <a:stretch/>
        </p:blipFill>
        <p:spPr>
          <a:xfrm>
            <a:off x="6237454" y="1652944"/>
            <a:ext cx="336020" cy="308908"/>
          </a:xfrm>
          <a:prstGeom prst="rect">
            <a:avLst/>
          </a:prstGeom>
          <a:noFill/>
          <a:ln>
            <a:noFill/>
          </a:ln>
        </p:spPr>
      </p:pic>
      <p:pic>
        <p:nvPicPr>
          <p:cNvPr id="1274" name="Google Shape;1274;g3f9ebdf94e2_0_940"/>
          <p:cNvPicPr preferRelativeResize="0"/>
          <p:nvPr/>
        </p:nvPicPr>
        <p:blipFill rotWithShape="1">
          <a:blip r:embed="rId5">
            <a:alphaModFix/>
          </a:blip>
          <a:srcRect b="0" l="0" r="0" t="0"/>
          <a:stretch/>
        </p:blipFill>
        <p:spPr>
          <a:xfrm>
            <a:off x="6244638" y="1286893"/>
            <a:ext cx="321327" cy="295518"/>
          </a:xfrm>
          <a:prstGeom prst="rect">
            <a:avLst/>
          </a:prstGeom>
          <a:noFill/>
          <a:ln>
            <a:noFill/>
          </a:ln>
        </p:spPr>
      </p:pic>
      <p:pic>
        <p:nvPicPr>
          <p:cNvPr id="1275" name="Google Shape;1275;g3f9ebdf94e2_0_940"/>
          <p:cNvPicPr preferRelativeResize="0"/>
          <p:nvPr/>
        </p:nvPicPr>
        <p:blipFill rotWithShape="1">
          <a:blip r:embed="rId7">
            <a:alphaModFix/>
          </a:blip>
          <a:srcRect b="0" l="0" r="0" t="0"/>
          <a:stretch/>
        </p:blipFill>
        <p:spPr>
          <a:xfrm>
            <a:off x="6260966" y="576669"/>
            <a:ext cx="288988" cy="288988"/>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g3f9ebdf94e2_0_975"/>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Comparing Zombies</a:t>
            </a:r>
            <a:endParaRPr b="1" i="0" sz="3000" u="none" cap="none" strike="noStrike">
              <a:solidFill>
                <a:srgbClr val="252323"/>
              </a:solidFill>
              <a:latin typeface="Comfortaa"/>
              <a:ea typeface="Comfortaa"/>
              <a:cs typeface="Comfortaa"/>
              <a:sym typeface="Comfortaa"/>
            </a:endParaRPr>
          </a:p>
        </p:txBody>
      </p:sp>
      <p:sp>
        <p:nvSpPr>
          <p:cNvPr id="1281" name="Google Shape;1281;g3f9ebdf94e2_0_975"/>
          <p:cNvSpPr/>
          <p:nvPr/>
        </p:nvSpPr>
        <p:spPr>
          <a:xfrm rot="10800000">
            <a:off x="1497566" y="1523018"/>
            <a:ext cx="324" cy="301784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282" name="Google Shape;1282;g3f9ebdf94e2_0_975"/>
          <p:cNvSpPr/>
          <p:nvPr/>
        </p:nvSpPr>
        <p:spPr>
          <a:xfrm>
            <a:off x="1297388" y="4359306"/>
            <a:ext cx="6343920" cy="32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283" name="Google Shape;1283;g3f9ebdf94e2_0_975"/>
          <p:cNvSpPr/>
          <p:nvPr/>
        </p:nvSpPr>
        <p:spPr>
          <a:xfrm>
            <a:off x="2481789" y="4359306"/>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46</a:t>
            </a:r>
            <a:endParaRPr b="0" i="0" sz="1800" u="none" cap="none" strike="noStrike">
              <a:solidFill>
                <a:srgbClr val="000000"/>
              </a:solidFill>
              <a:latin typeface="Arial"/>
              <a:ea typeface="Arial"/>
              <a:cs typeface="Arial"/>
              <a:sym typeface="Arial"/>
            </a:endParaRPr>
          </a:p>
        </p:txBody>
      </p:sp>
      <p:sp>
        <p:nvSpPr>
          <p:cNvPr id="1284" name="Google Shape;1284;g3f9ebdf94e2_0_975"/>
          <p:cNvSpPr/>
          <p:nvPr/>
        </p:nvSpPr>
        <p:spPr>
          <a:xfrm>
            <a:off x="863075" y="3503118"/>
            <a:ext cx="6372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1,49</a:t>
            </a:r>
            <a:endParaRPr b="0" i="0" sz="1800" u="none" cap="none" strike="noStrike">
              <a:solidFill>
                <a:srgbClr val="000000"/>
              </a:solidFill>
              <a:latin typeface="Arial"/>
              <a:ea typeface="Arial"/>
              <a:cs typeface="Arial"/>
              <a:sym typeface="Arial"/>
            </a:endParaRPr>
          </a:p>
        </p:txBody>
      </p:sp>
      <p:sp>
        <p:nvSpPr>
          <p:cNvPr id="1285" name="Google Shape;1285;g3f9ebdf94e2_0_975"/>
          <p:cNvSpPr/>
          <p:nvPr/>
        </p:nvSpPr>
        <p:spPr>
          <a:xfrm>
            <a:off x="916303" y="1142889"/>
            <a:ext cx="888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height</a:t>
            </a:r>
            <a:endParaRPr b="0" i="0" sz="1800" u="none" cap="none" strike="noStrike">
              <a:solidFill>
                <a:srgbClr val="000000"/>
              </a:solidFill>
              <a:latin typeface="Arial"/>
              <a:ea typeface="Arial"/>
              <a:cs typeface="Arial"/>
              <a:sym typeface="Arial"/>
            </a:endParaRPr>
          </a:p>
        </p:txBody>
      </p:sp>
      <p:sp>
        <p:nvSpPr>
          <p:cNvPr id="1286" name="Google Shape;1286;g3f9ebdf94e2_0_975"/>
          <p:cNvSpPr/>
          <p:nvPr/>
        </p:nvSpPr>
        <p:spPr>
          <a:xfrm>
            <a:off x="7441122" y="4359306"/>
            <a:ext cx="1058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weight</a:t>
            </a:r>
            <a:endParaRPr b="0" i="0" sz="1800" u="none" cap="none" strike="noStrike">
              <a:solidFill>
                <a:srgbClr val="000000"/>
              </a:solidFill>
              <a:latin typeface="Arial"/>
              <a:ea typeface="Arial"/>
              <a:cs typeface="Arial"/>
              <a:sym typeface="Arial"/>
            </a:endParaRPr>
          </a:p>
        </p:txBody>
      </p:sp>
      <p:sp>
        <p:nvSpPr>
          <p:cNvPr id="1287" name="Google Shape;1287;g3f9ebdf94e2_0_975"/>
          <p:cNvSpPr/>
          <p:nvPr/>
        </p:nvSpPr>
        <p:spPr>
          <a:xfrm>
            <a:off x="816378" y="2211654"/>
            <a:ext cx="681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1,81</a:t>
            </a:r>
            <a:endParaRPr b="0" i="0" sz="1800" u="none" cap="none" strike="noStrike">
              <a:solidFill>
                <a:srgbClr val="000000"/>
              </a:solidFill>
              <a:latin typeface="Arial"/>
              <a:ea typeface="Arial"/>
              <a:cs typeface="Arial"/>
              <a:sym typeface="Arial"/>
            </a:endParaRPr>
          </a:p>
        </p:txBody>
      </p:sp>
      <p:sp>
        <p:nvSpPr>
          <p:cNvPr id="1288" name="Google Shape;1288;g3f9ebdf94e2_0_975"/>
          <p:cNvSpPr/>
          <p:nvPr/>
        </p:nvSpPr>
        <p:spPr>
          <a:xfrm>
            <a:off x="3558755" y="4359306"/>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64</a:t>
            </a:r>
            <a:endParaRPr b="0" i="0" sz="1800" u="none" cap="none" strike="noStrike">
              <a:solidFill>
                <a:srgbClr val="000000"/>
              </a:solidFill>
              <a:latin typeface="Arial"/>
              <a:ea typeface="Arial"/>
              <a:cs typeface="Arial"/>
              <a:sym typeface="Arial"/>
            </a:endParaRPr>
          </a:p>
        </p:txBody>
      </p:sp>
      <p:sp>
        <p:nvSpPr>
          <p:cNvPr id="1289" name="Google Shape;1289;g3f9ebdf94e2_0_975"/>
          <p:cNvSpPr/>
          <p:nvPr/>
        </p:nvSpPr>
        <p:spPr>
          <a:xfrm>
            <a:off x="844461" y="2857549"/>
            <a:ext cx="6372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1,65</a:t>
            </a:r>
            <a:endParaRPr b="0" i="0" sz="1800" u="none" cap="none" strike="noStrike">
              <a:solidFill>
                <a:srgbClr val="000000"/>
              </a:solidFill>
              <a:latin typeface="Arial"/>
              <a:ea typeface="Arial"/>
              <a:cs typeface="Arial"/>
              <a:sym typeface="Arial"/>
            </a:endParaRPr>
          </a:p>
        </p:txBody>
      </p:sp>
      <p:cxnSp>
        <p:nvCxnSpPr>
          <p:cNvPr id="1290" name="Google Shape;1290;g3f9ebdf94e2_0_975"/>
          <p:cNvCxnSpPr/>
          <p:nvPr/>
        </p:nvCxnSpPr>
        <p:spPr>
          <a:xfrm>
            <a:off x="1519769" y="3080903"/>
            <a:ext cx="2289000" cy="1278000"/>
          </a:xfrm>
          <a:prstGeom prst="bentConnector2">
            <a:avLst/>
          </a:prstGeom>
          <a:noFill/>
          <a:ln cap="flat" cmpd="sng" w="17300">
            <a:solidFill>
              <a:srgbClr val="595959"/>
            </a:solidFill>
            <a:prstDash val="dashDot"/>
            <a:round/>
            <a:headEnd len="sm" w="sm" type="none"/>
            <a:tailEnd len="sm" w="sm" type="none"/>
          </a:ln>
        </p:spPr>
      </p:cxnSp>
      <p:cxnSp>
        <p:nvCxnSpPr>
          <p:cNvPr id="1291" name="Google Shape;1291;g3f9ebdf94e2_0_975"/>
          <p:cNvCxnSpPr/>
          <p:nvPr/>
        </p:nvCxnSpPr>
        <p:spPr>
          <a:xfrm>
            <a:off x="1501156" y="3726472"/>
            <a:ext cx="1230900" cy="632400"/>
          </a:xfrm>
          <a:prstGeom prst="bentConnector2">
            <a:avLst/>
          </a:prstGeom>
          <a:noFill/>
          <a:ln cap="flat" cmpd="sng" w="17300">
            <a:solidFill>
              <a:srgbClr val="595959"/>
            </a:solidFill>
            <a:prstDash val="dashDot"/>
            <a:round/>
            <a:headEnd len="sm" w="sm" type="none"/>
            <a:tailEnd len="sm" w="sm" type="none"/>
          </a:ln>
        </p:spPr>
      </p:cxnSp>
      <p:cxnSp>
        <p:nvCxnSpPr>
          <p:cNvPr id="1292" name="Google Shape;1292;g3f9ebdf94e2_0_975"/>
          <p:cNvCxnSpPr/>
          <p:nvPr/>
        </p:nvCxnSpPr>
        <p:spPr>
          <a:xfrm flipH="1" rot="-5400000">
            <a:off x="1430492" y="2493588"/>
            <a:ext cx="1910400" cy="1806300"/>
          </a:xfrm>
          <a:prstGeom prst="bentConnector3">
            <a:avLst>
              <a:gd fmla="val -185" name="adj1"/>
            </a:avLst>
          </a:prstGeom>
          <a:noFill/>
          <a:ln cap="flat" cmpd="sng" w="17300">
            <a:solidFill>
              <a:srgbClr val="595959"/>
            </a:solidFill>
            <a:prstDash val="dashDot"/>
            <a:round/>
            <a:headEnd len="sm" w="sm" type="none"/>
            <a:tailEnd len="sm" w="sm" type="none"/>
          </a:ln>
        </p:spPr>
      </p:cxnSp>
      <p:sp>
        <p:nvSpPr>
          <p:cNvPr id="1293" name="Google Shape;1293;g3f9ebdf94e2_0_975"/>
          <p:cNvSpPr/>
          <p:nvPr/>
        </p:nvSpPr>
        <p:spPr>
          <a:xfrm>
            <a:off x="3109747" y="4359306"/>
            <a:ext cx="5007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60</a:t>
            </a:r>
            <a:endParaRPr b="0" i="0" sz="1800" u="none" cap="none" strike="noStrike">
              <a:solidFill>
                <a:srgbClr val="000000"/>
              </a:solidFill>
              <a:latin typeface="Arial"/>
              <a:ea typeface="Arial"/>
              <a:cs typeface="Arial"/>
              <a:sym typeface="Arial"/>
            </a:endParaRPr>
          </a:p>
        </p:txBody>
      </p:sp>
      <p:sp>
        <p:nvSpPr>
          <p:cNvPr id="1294" name="Google Shape;1294;g3f9ebdf94e2_0_975"/>
          <p:cNvSpPr/>
          <p:nvPr/>
        </p:nvSpPr>
        <p:spPr>
          <a:xfrm flipH="1" rot="10800000">
            <a:off x="2732062" y="2508137"/>
            <a:ext cx="554148" cy="1141614"/>
          </a:xfrm>
          <a:custGeom>
            <a:rect b="b" l="l" r="r" t="t"/>
            <a:pathLst>
              <a:path extrusionOk="0" h="21600" w="21600">
                <a:moveTo>
                  <a:pt x="0" y="0"/>
                </a:moveTo>
                <a:lnTo>
                  <a:pt x="21600" y="21600"/>
                </a:lnTo>
              </a:path>
            </a:pathLst>
          </a:custGeom>
          <a:noFill/>
          <a:ln cap="flat" cmpd="sng" w="25775">
            <a:solidFill>
              <a:srgbClr val="FF0000"/>
            </a:solidFill>
            <a:prstDash val="solid"/>
            <a:round/>
            <a:headEnd len="sm" w="sm" type="none"/>
            <a:tailEnd len="sm" w="sm" type="none"/>
          </a:ln>
        </p:spPr>
      </p:sp>
      <p:sp>
        <p:nvSpPr>
          <p:cNvPr id="1295" name="Google Shape;1295;g3f9ebdf94e2_0_975"/>
          <p:cNvSpPr/>
          <p:nvPr/>
        </p:nvSpPr>
        <p:spPr>
          <a:xfrm flipH="1" rot="10800000">
            <a:off x="2767390" y="3036259"/>
            <a:ext cx="1076652" cy="717444"/>
          </a:xfrm>
          <a:custGeom>
            <a:rect b="b" l="l" r="r" t="t"/>
            <a:pathLst>
              <a:path extrusionOk="0" h="21600" w="21600">
                <a:moveTo>
                  <a:pt x="0" y="0"/>
                </a:moveTo>
                <a:lnTo>
                  <a:pt x="21600" y="21600"/>
                </a:lnTo>
              </a:path>
            </a:pathLst>
          </a:custGeom>
          <a:noFill/>
          <a:ln cap="flat" cmpd="sng" w="25775">
            <a:solidFill>
              <a:srgbClr val="FF0000"/>
            </a:solidFill>
            <a:prstDash val="solid"/>
            <a:round/>
            <a:headEnd len="sm" w="sm" type="none"/>
            <a:tailEnd len="sm" w="sm" type="none"/>
          </a:ln>
        </p:spPr>
      </p:sp>
      <p:pic>
        <p:nvPicPr>
          <p:cNvPr id="1296" name="Google Shape;1296;g3f9ebdf94e2_0_975"/>
          <p:cNvPicPr preferRelativeResize="0"/>
          <p:nvPr/>
        </p:nvPicPr>
        <p:blipFill rotWithShape="1">
          <a:blip r:embed="rId3">
            <a:alphaModFix/>
          </a:blip>
          <a:srcRect b="0" l="0" r="0" t="0"/>
          <a:stretch/>
        </p:blipFill>
        <p:spPr>
          <a:xfrm>
            <a:off x="2215323" y="3245152"/>
            <a:ext cx="1032883" cy="949577"/>
          </a:xfrm>
          <a:prstGeom prst="rect">
            <a:avLst/>
          </a:prstGeom>
          <a:noFill/>
          <a:ln>
            <a:noFill/>
          </a:ln>
        </p:spPr>
      </p:pic>
      <p:pic>
        <p:nvPicPr>
          <p:cNvPr id="1297" name="Google Shape;1297;g3f9ebdf94e2_0_975"/>
          <p:cNvPicPr preferRelativeResize="0"/>
          <p:nvPr/>
        </p:nvPicPr>
        <p:blipFill rotWithShape="1">
          <a:blip r:embed="rId4">
            <a:alphaModFix/>
          </a:blip>
          <a:srcRect b="0" l="0" r="0" t="0"/>
          <a:stretch/>
        </p:blipFill>
        <p:spPr>
          <a:xfrm>
            <a:off x="2807687" y="2082997"/>
            <a:ext cx="888515" cy="888515"/>
          </a:xfrm>
          <a:prstGeom prst="rect">
            <a:avLst/>
          </a:prstGeom>
          <a:noFill/>
          <a:ln>
            <a:noFill/>
          </a:ln>
        </p:spPr>
      </p:pic>
      <p:pic>
        <p:nvPicPr>
          <p:cNvPr id="1298" name="Google Shape;1298;g3f9ebdf94e2_0_975"/>
          <p:cNvPicPr preferRelativeResize="0"/>
          <p:nvPr/>
        </p:nvPicPr>
        <p:blipFill rotWithShape="1">
          <a:blip r:embed="rId5">
            <a:alphaModFix/>
          </a:blip>
          <a:srcRect b="0" l="0" r="0" t="0"/>
          <a:stretch/>
        </p:blipFill>
        <p:spPr>
          <a:xfrm>
            <a:off x="3364783" y="2672401"/>
            <a:ext cx="888545" cy="81667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g3f9ebdf94e2_0_997"/>
          <p:cNvSpPr/>
          <p:nvPr/>
        </p:nvSpPr>
        <p:spPr>
          <a:xfrm>
            <a:off x="491133" y="898311"/>
            <a:ext cx="888300" cy="442500"/>
          </a:xfrm>
          <a:prstGeom prst="rect">
            <a:avLst/>
          </a:prstGeom>
          <a:noFill/>
          <a:ln>
            <a:noFill/>
          </a:ln>
        </p:spPr>
        <p:txBody>
          <a:bodyPr anchorCtr="0" anchor="t" bIns="75100" lIns="75100" spcFirstLastPara="1" rIns="75100" wrap="square" tIns="75100">
            <a:noAutofit/>
          </a:bodyPr>
          <a:lstStyle/>
          <a:p>
            <a:pPr indent="0" lvl="0" marL="0" marR="0" rtl="0" algn="ctr">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height</a:t>
            </a:r>
            <a:endParaRPr b="0" i="0" sz="1600" u="none" cap="none" strike="noStrike">
              <a:solidFill>
                <a:srgbClr val="000000"/>
              </a:solidFill>
              <a:latin typeface="Arial"/>
              <a:ea typeface="Arial"/>
              <a:cs typeface="Arial"/>
              <a:sym typeface="Arial"/>
            </a:endParaRPr>
          </a:p>
        </p:txBody>
      </p:sp>
      <p:sp>
        <p:nvSpPr>
          <p:cNvPr id="1304" name="Google Shape;1304;g3f9ebdf94e2_0_997"/>
          <p:cNvSpPr/>
          <p:nvPr/>
        </p:nvSpPr>
        <p:spPr>
          <a:xfrm>
            <a:off x="6877494" y="4114074"/>
            <a:ext cx="10482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weight</a:t>
            </a:r>
            <a:endParaRPr b="0" i="0" sz="1600" u="none" cap="none" strike="noStrike">
              <a:solidFill>
                <a:srgbClr val="000000"/>
              </a:solidFill>
              <a:latin typeface="Arial"/>
              <a:ea typeface="Arial"/>
              <a:cs typeface="Arial"/>
              <a:sym typeface="Arial"/>
            </a:endParaRPr>
          </a:p>
        </p:txBody>
      </p:sp>
      <p:sp>
        <p:nvSpPr>
          <p:cNvPr id="1305" name="Google Shape;1305;g3f9ebdf94e2_0_997"/>
          <p:cNvSpPr/>
          <p:nvPr/>
        </p:nvSpPr>
        <p:spPr>
          <a:xfrm rot="10800000">
            <a:off x="934265" y="1278380"/>
            <a:ext cx="324" cy="3017250"/>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306" name="Google Shape;1306;g3f9ebdf94e2_0_997"/>
          <p:cNvSpPr/>
          <p:nvPr/>
        </p:nvSpPr>
        <p:spPr>
          <a:xfrm>
            <a:off x="734414" y="4114074"/>
            <a:ext cx="6342894" cy="32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307" name="Google Shape;1307;g3f9ebdf94e2_0_997"/>
          <p:cNvSpPr/>
          <p:nvPr/>
        </p:nvSpPr>
        <p:spPr>
          <a:xfrm>
            <a:off x="3859182" y="4164035"/>
            <a:ext cx="5001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74</a:t>
            </a:r>
            <a:endParaRPr b="0" i="0" sz="1600" u="none" cap="none" strike="noStrike">
              <a:solidFill>
                <a:srgbClr val="000000"/>
              </a:solidFill>
              <a:latin typeface="Arial"/>
              <a:ea typeface="Arial"/>
              <a:cs typeface="Arial"/>
              <a:sym typeface="Arial"/>
            </a:endParaRPr>
          </a:p>
        </p:txBody>
      </p:sp>
      <p:sp>
        <p:nvSpPr>
          <p:cNvPr id="1308" name="Google Shape;1308;g3f9ebdf94e2_0_997"/>
          <p:cNvSpPr/>
          <p:nvPr/>
        </p:nvSpPr>
        <p:spPr>
          <a:xfrm>
            <a:off x="274630" y="2165612"/>
            <a:ext cx="681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1.74</a:t>
            </a:r>
            <a:endParaRPr b="0" i="0" sz="1600" u="none" cap="none" strike="noStrike">
              <a:solidFill>
                <a:srgbClr val="000000"/>
              </a:solidFill>
              <a:latin typeface="Arial"/>
              <a:ea typeface="Arial"/>
              <a:cs typeface="Arial"/>
              <a:sym typeface="Arial"/>
            </a:endParaRPr>
          </a:p>
        </p:txBody>
      </p:sp>
      <p:sp>
        <p:nvSpPr>
          <p:cNvPr id="1309" name="Google Shape;1309;g3f9ebdf94e2_0_997"/>
          <p:cNvSpPr/>
          <p:nvPr/>
        </p:nvSpPr>
        <p:spPr>
          <a:xfrm>
            <a:off x="1918162" y="4114074"/>
            <a:ext cx="5001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46</a:t>
            </a:r>
            <a:endParaRPr b="0" i="0" sz="1600" u="none" cap="none" strike="noStrike">
              <a:solidFill>
                <a:srgbClr val="000000"/>
              </a:solidFill>
              <a:latin typeface="Arial"/>
              <a:ea typeface="Arial"/>
              <a:cs typeface="Arial"/>
              <a:sym typeface="Arial"/>
            </a:endParaRPr>
          </a:p>
        </p:txBody>
      </p:sp>
      <p:sp>
        <p:nvSpPr>
          <p:cNvPr id="1310" name="Google Shape;1310;g3f9ebdf94e2_0_997"/>
          <p:cNvSpPr/>
          <p:nvPr/>
        </p:nvSpPr>
        <p:spPr>
          <a:xfrm>
            <a:off x="299774" y="3258214"/>
            <a:ext cx="6369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1.49</a:t>
            </a:r>
            <a:endParaRPr b="0" i="0" sz="1600" u="none" cap="none" strike="noStrike">
              <a:solidFill>
                <a:srgbClr val="000000"/>
              </a:solidFill>
              <a:latin typeface="Arial"/>
              <a:ea typeface="Arial"/>
              <a:cs typeface="Arial"/>
              <a:sym typeface="Arial"/>
            </a:endParaRPr>
          </a:p>
        </p:txBody>
      </p:sp>
      <p:sp>
        <p:nvSpPr>
          <p:cNvPr id="1311" name="Google Shape;1311;g3f9ebdf94e2_0_997"/>
          <p:cNvSpPr/>
          <p:nvPr/>
        </p:nvSpPr>
        <p:spPr>
          <a:xfrm>
            <a:off x="5149712" y="4164035"/>
            <a:ext cx="6369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110</a:t>
            </a:r>
            <a:endParaRPr b="0" i="0" sz="1600" u="none" cap="none" strike="noStrike">
              <a:solidFill>
                <a:srgbClr val="000000"/>
              </a:solidFill>
              <a:latin typeface="Arial"/>
              <a:ea typeface="Arial"/>
              <a:cs typeface="Arial"/>
              <a:sym typeface="Arial"/>
            </a:endParaRPr>
          </a:p>
        </p:txBody>
      </p:sp>
      <p:sp>
        <p:nvSpPr>
          <p:cNvPr id="1312" name="Google Shape;1312;g3f9ebdf94e2_0_997"/>
          <p:cNvSpPr/>
          <p:nvPr/>
        </p:nvSpPr>
        <p:spPr>
          <a:xfrm>
            <a:off x="265486" y="1680700"/>
            <a:ext cx="681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1.87</a:t>
            </a:r>
            <a:endParaRPr b="0" i="0" sz="1600" u="none" cap="none" strike="noStrike">
              <a:solidFill>
                <a:srgbClr val="000000"/>
              </a:solidFill>
              <a:latin typeface="Arial"/>
              <a:ea typeface="Arial"/>
              <a:cs typeface="Arial"/>
              <a:sym typeface="Arial"/>
            </a:endParaRPr>
          </a:p>
        </p:txBody>
      </p:sp>
      <p:sp>
        <p:nvSpPr>
          <p:cNvPr id="1313" name="Google Shape;1313;g3f9ebdf94e2_0_997"/>
          <p:cNvSpPr/>
          <p:nvPr/>
        </p:nvSpPr>
        <p:spPr>
          <a:xfrm>
            <a:off x="2995127" y="4114074"/>
            <a:ext cx="5001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64</a:t>
            </a:r>
            <a:endParaRPr b="0" i="0" sz="1600" u="none" cap="none" strike="noStrike">
              <a:solidFill>
                <a:srgbClr val="000000"/>
              </a:solidFill>
              <a:latin typeface="Arial"/>
              <a:ea typeface="Arial"/>
              <a:cs typeface="Arial"/>
              <a:sym typeface="Arial"/>
            </a:endParaRPr>
          </a:p>
        </p:txBody>
      </p:sp>
      <p:sp>
        <p:nvSpPr>
          <p:cNvPr id="1314" name="Google Shape;1314;g3f9ebdf94e2_0_997"/>
          <p:cNvSpPr/>
          <p:nvPr/>
        </p:nvSpPr>
        <p:spPr>
          <a:xfrm>
            <a:off x="281161" y="2612318"/>
            <a:ext cx="6369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1.65</a:t>
            </a:r>
            <a:endParaRPr b="0" i="0" sz="1600" u="none" cap="none" strike="noStrike">
              <a:solidFill>
                <a:srgbClr val="000000"/>
              </a:solidFill>
              <a:latin typeface="Arial"/>
              <a:ea typeface="Arial"/>
              <a:cs typeface="Arial"/>
              <a:sym typeface="Arial"/>
            </a:endParaRPr>
          </a:p>
        </p:txBody>
      </p:sp>
      <p:cxnSp>
        <p:nvCxnSpPr>
          <p:cNvPr id="1315" name="Google Shape;1315;g3f9ebdf94e2_0_997"/>
          <p:cNvCxnSpPr/>
          <p:nvPr/>
        </p:nvCxnSpPr>
        <p:spPr>
          <a:xfrm>
            <a:off x="946998" y="1904380"/>
            <a:ext cx="4520700" cy="2259300"/>
          </a:xfrm>
          <a:prstGeom prst="bentConnector2">
            <a:avLst/>
          </a:prstGeom>
          <a:noFill/>
          <a:ln cap="flat" cmpd="sng" w="17300">
            <a:solidFill>
              <a:srgbClr val="595959"/>
            </a:solidFill>
            <a:prstDash val="dashDot"/>
            <a:round/>
            <a:headEnd len="sm" w="sm" type="none"/>
            <a:tailEnd len="sm" w="sm" type="none"/>
          </a:ln>
        </p:spPr>
      </p:cxnSp>
      <p:cxnSp>
        <p:nvCxnSpPr>
          <p:cNvPr id="1316" name="Google Shape;1316;g3f9ebdf94e2_0_997"/>
          <p:cNvCxnSpPr/>
          <p:nvPr/>
        </p:nvCxnSpPr>
        <p:spPr>
          <a:xfrm>
            <a:off x="956468" y="2389291"/>
            <a:ext cx="3152700" cy="1774500"/>
          </a:xfrm>
          <a:prstGeom prst="bentConnector2">
            <a:avLst/>
          </a:prstGeom>
          <a:noFill/>
          <a:ln cap="flat" cmpd="sng" w="17300">
            <a:solidFill>
              <a:srgbClr val="595959"/>
            </a:solidFill>
            <a:prstDash val="dashDot"/>
            <a:round/>
            <a:headEnd len="sm" w="sm" type="none"/>
            <a:tailEnd len="sm" w="sm" type="none"/>
          </a:ln>
        </p:spPr>
      </p:cxnSp>
      <p:cxnSp>
        <p:nvCxnSpPr>
          <p:cNvPr id="1317" name="Google Shape;1317;g3f9ebdf94e2_0_997"/>
          <p:cNvCxnSpPr/>
          <p:nvPr/>
        </p:nvCxnSpPr>
        <p:spPr>
          <a:xfrm>
            <a:off x="956468" y="2835998"/>
            <a:ext cx="2288700" cy="1277400"/>
          </a:xfrm>
          <a:prstGeom prst="bentConnector2">
            <a:avLst/>
          </a:prstGeom>
          <a:noFill/>
          <a:ln cap="flat" cmpd="sng" w="17300">
            <a:solidFill>
              <a:srgbClr val="595959"/>
            </a:solidFill>
            <a:prstDash val="dashDot"/>
            <a:round/>
            <a:headEnd len="sm" w="sm" type="none"/>
            <a:tailEnd len="sm" w="sm" type="none"/>
          </a:ln>
        </p:spPr>
      </p:cxnSp>
      <p:cxnSp>
        <p:nvCxnSpPr>
          <p:cNvPr id="1318" name="Google Shape;1318;g3f9ebdf94e2_0_997"/>
          <p:cNvCxnSpPr/>
          <p:nvPr/>
        </p:nvCxnSpPr>
        <p:spPr>
          <a:xfrm>
            <a:off x="937528" y="3481893"/>
            <a:ext cx="1230600" cy="631800"/>
          </a:xfrm>
          <a:prstGeom prst="bentConnector2">
            <a:avLst/>
          </a:prstGeom>
          <a:noFill/>
          <a:ln cap="flat" cmpd="sng" w="17300">
            <a:solidFill>
              <a:srgbClr val="595959"/>
            </a:solidFill>
            <a:prstDash val="dashDot"/>
            <a:round/>
            <a:headEnd len="sm" w="sm" type="none"/>
            <a:tailEnd len="sm" w="sm" type="none"/>
          </a:ln>
        </p:spPr>
      </p:cxnSp>
      <p:pic>
        <p:nvPicPr>
          <p:cNvPr id="1319" name="Google Shape;1319;g3f9ebdf94e2_0_997"/>
          <p:cNvPicPr preferRelativeResize="0"/>
          <p:nvPr/>
        </p:nvPicPr>
        <p:blipFill rotWithShape="1">
          <a:blip r:embed="rId3">
            <a:alphaModFix/>
          </a:blip>
          <a:srcRect b="0" l="0" r="0" t="0"/>
          <a:stretch/>
        </p:blipFill>
        <p:spPr>
          <a:xfrm>
            <a:off x="2801483" y="2427497"/>
            <a:ext cx="888220" cy="816350"/>
          </a:xfrm>
          <a:prstGeom prst="rect">
            <a:avLst/>
          </a:prstGeom>
          <a:noFill/>
          <a:ln>
            <a:noFill/>
          </a:ln>
        </p:spPr>
      </p:pic>
      <p:pic>
        <p:nvPicPr>
          <p:cNvPr id="1320" name="Google Shape;1320;g3f9ebdf94e2_0_997"/>
          <p:cNvPicPr preferRelativeResize="0"/>
          <p:nvPr/>
        </p:nvPicPr>
        <p:blipFill rotWithShape="1">
          <a:blip r:embed="rId4">
            <a:alphaModFix/>
          </a:blip>
          <a:srcRect b="0" l="0" r="0" t="0"/>
          <a:stretch/>
        </p:blipFill>
        <p:spPr>
          <a:xfrm>
            <a:off x="1652022" y="2999921"/>
            <a:ext cx="1032555" cy="949250"/>
          </a:xfrm>
          <a:prstGeom prst="rect">
            <a:avLst/>
          </a:prstGeom>
          <a:noFill/>
          <a:ln>
            <a:noFill/>
          </a:ln>
        </p:spPr>
      </p:pic>
      <p:pic>
        <p:nvPicPr>
          <p:cNvPr id="1321" name="Google Shape;1321;g3f9ebdf94e2_0_997"/>
          <p:cNvPicPr preferRelativeResize="0"/>
          <p:nvPr/>
        </p:nvPicPr>
        <p:blipFill rotWithShape="1">
          <a:blip r:embed="rId5">
            <a:alphaModFix/>
          </a:blip>
          <a:srcRect b="0" l="0" r="0" t="0"/>
          <a:stretch/>
        </p:blipFill>
        <p:spPr>
          <a:xfrm>
            <a:off x="3666517" y="1934421"/>
            <a:ext cx="987818" cy="907780"/>
          </a:xfrm>
          <a:prstGeom prst="rect">
            <a:avLst/>
          </a:prstGeom>
          <a:noFill/>
          <a:ln>
            <a:noFill/>
          </a:ln>
        </p:spPr>
      </p:pic>
      <p:pic>
        <p:nvPicPr>
          <p:cNvPr id="1322" name="Google Shape;1322;g3f9ebdf94e2_0_997"/>
          <p:cNvPicPr preferRelativeResize="0"/>
          <p:nvPr/>
        </p:nvPicPr>
        <p:blipFill rotWithShape="1">
          <a:blip r:embed="rId6">
            <a:alphaModFix/>
          </a:blip>
          <a:srcRect b="0" l="0" r="0" t="0"/>
          <a:stretch/>
        </p:blipFill>
        <p:spPr>
          <a:xfrm>
            <a:off x="4945944" y="1404774"/>
            <a:ext cx="957447" cy="880350"/>
          </a:xfrm>
          <a:prstGeom prst="rect">
            <a:avLst/>
          </a:prstGeom>
          <a:noFill/>
          <a:ln>
            <a:noFill/>
          </a:ln>
        </p:spPr>
      </p:pic>
      <p:cxnSp>
        <p:nvCxnSpPr>
          <p:cNvPr id="1323" name="Google Shape;1323;g3f9ebdf94e2_0_997"/>
          <p:cNvCxnSpPr/>
          <p:nvPr/>
        </p:nvCxnSpPr>
        <p:spPr>
          <a:xfrm flipH="1" rot="-5400000">
            <a:off x="865899" y="2248996"/>
            <a:ext cx="1910100" cy="1805700"/>
          </a:xfrm>
          <a:prstGeom prst="bentConnector3">
            <a:avLst>
              <a:gd fmla="val -185" name="adj1"/>
            </a:avLst>
          </a:prstGeom>
          <a:noFill/>
          <a:ln cap="flat" cmpd="sng" w="17300">
            <a:solidFill>
              <a:srgbClr val="595959"/>
            </a:solidFill>
            <a:prstDash val="dashDot"/>
            <a:round/>
            <a:headEnd len="sm" w="sm" type="none"/>
            <a:tailEnd len="sm" w="sm" type="none"/>
          </a:ln>
        </p:spPr>
      </p:cxnSp>
      <p:pic>
        <p:nvPicPr>
          <p:cNvPr id="1324" name="Google Shape;1324;g3f9ebdf94e2_0_997"/>
          <p:cNvPicPr preferRelativeResize="0"/>
          <p:nvPr/>
        </p:nvPicPr>
        <p:blipFill rotWithShape="1">
          <a:blip r:embed="rId7">
            <a:alphaModFix/>
          </a:blip>
          <a:srcRect b="0" l="0" r="0" t="0"/>
          <a:stretch/>
        </p:blipFill>
        <p:spPr>
          <a:xfrm>
            <a:off x="2244386" y="1838092"/>
            <a:ext cx="888188" cy="887863"/>
          </a:xfrm>
          <a:prstGeom prst="rect">
            <a:avLst/>
          </a:prstGeom>
          <a:noFill/>
          <a:ln>
            <a:noFill/>
          </a:ln>
        </p:spPr>
      </p:pic>
      <p:sp>
        <p:nvSpPr>
          <p:cNvPr id="1325" name="Google Shape;1325;g3f9ebdf94e2_0_997"/>
          <p:cNvSpPr/>
          <p:nvPr/>
        </p:nvSpPr>
        <p:spPr>
          <a:xfrm>
            <a:off x="2546446" y="4114074"/>
            <a:ext cx="5001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60</a:t>
            </a:r>
            <a:endParaRPr b="0" i="0" sz="1600" u="none" cap="none" strike="noStrike">
              <a:solidFill>
                <a:srgbClr val="000000"/>
              </a:solidFill>
              <a:latin typeface="Arial"/>
              <a:ea typeface="Arial"/>
              <a:cs typeface="Arial"/>
              <a:sym typeface="Arial"/>
            </a:endParaRPr>
          </a:p>
        </p:txBody>
      </p:sp>
      <p:sp>
        <p:nvSpPr>
          <p:cNvPr id="1326" name="Google Shape;1326;g3f9ebdf94e2_0_997"/>
          <p:cNvSpPr/>
          <p:nvPr/>
        </p:nvSpPr>
        <p:spPr>
          <a:xfrm>
            <a:off x="252751" y="1967075"/>
            <a:ext cx="681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1.81</a:t>
            </a:r>
            <a:endParaRPr b="0" i="0" sz="1600" u="none" cap="none" strike="noStrike">
              <a:solidFill>
                <a:srgbClr val="000000"/>
              </a:solidFill>
              <a:latin typeface="Arial"/>
              <a:ea typeface="Arial"/>
              <a:cs typeface="Arial"/>
              <a:sym typeface="Arial"/>
            </a:endParaRPr>
          </a:p>
        </p:txBody>
      </p:sp>
      <p:sp>
        <p:nvSpPr>
          <p:cNvPr id="1327" name="Google Shape;1327;g3f9ebdf94e2_0_997"/>
          <p:cNvSpPr txBox="1"/>
          <p:nvPr/>
        </p:nvSpPr>
        <p:spPr>
          <a:xfrm>
            <a:off x="311530" y="216169"/>
            <a:ext cx="8402700" cy="5724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000000"/>
                </a:solidFill>
                <a:latin typeface="Arial"/>
                <a:ea typeface="Arial"/>
                <a:cs typeface="Arial"/>
                <a:sym typeface="Arial"/>
              </a:rPr>
              <a:t>Classification based on Height and Weight</a:t>
            </a:r>
            <a:endParaRPr b="0" i="0" sz="2500" u="none" cap="none" strike="noStrike">
              <a:solidFill>
                <a:srgbClr val="000000"/>
              </a:solidFill>
              <a:latin typeface="Arial"/>
              <a:ea typeface="Arial"/>
              <a:cs typeface="Arial"/>
              <a:sym typeface="Arial"/>
            </a:endParaRPr>
          </a:p>
        </p:txBody>
      </p:sp>
      <p:sp>
        <p:nvSpPr>
          <p:cNvPr id="1328" name="Google Shape;1328;g3f9ebdf94e2_0_997"/>
          <p:cNvSpPr/>
          <p:nvPr/>
        </p:nvSpPr>
        <p:spPr>
          <a:xfrm>
            <a:off x="1259834" y="1585351"/>
            <a:ext cx="2567700" cy="2578500"/>
          </a:xfrm>
          <a:prstGeom prst="ellipse">
            <a:avLst/>
          </a:prstGeom>
          <a:noFill/>
          <a:ln cap="flat" cmpd="sng" w="34600">
            <a:solidFill>
              <a:srgbClr val="0000FF"/>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329" name="Google Shape;1329;g3f9ebdf94e2_0_997"/>
          <p:cNvSpPr/>
          <p:nvPr/>
        </p:nvSpPr>
        <p:spPr>
          <a:xfrm>
            <a:off x="3627331" y="788920"/>
            <a:ext cx="2567700" cy="2578500"/>
          </a:xfrm>
          <a:prstGeom prst="ellipse">
            <a:avLst/>
          </a:prstGeom>
          <a:noFill/>
          <a:ln cap="flat" cmpd="sng" w="34600">
            <a:solidFill>
              <a:srgbClr val="FF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330" name="Google Shape;1330;g3f9ebdf94e2_0_997"/>
          <p:cNvSpPr/>
          <p:nvPr/>
        </p:nvSpPr>
        <p:spPr>
          <a:xfrm>
            <a:off x="6271415" y="1614086"/>
            <a:ext cx="888300" cy="4980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2200"/>
              <a:buFont typeface="Arial"/>
              <a:buNone/>
            </a:pPr>
            <a:r>
              <a:rPr b="0" i="0" lang="pt-BR" sz="2200" u="none" cap="none" strike="noStrike">
                <a:solidFill>
                  <a:srgbClr val="FF0000"/>
                </a:solidFill>
                <a:latin typeface="Arial"/>
                <a:ea typeface="Arial"/>
                <a:cs typeface="Arial"/>
                <a:sym typeface="Arial"/>
              </a:rPr>
              <a:t>male</a:t>
            </a:r>
            <a:endParaRPr b="0" i="0" sz="2200" u="none" cap="none" strike="noStrike">
              <a:solidFill>
                <a:srgbClr val="000000"/>
              </a:solidFill>
              <a:latin typeface="Arial"/>
              <a:ea typeface="Arial"/>
              <a:cs typeface="Arial"/>
              <a:sym typeface="Arial"/>
            </a:endParaRPr>
          </a:p>
        </p:txBody>
      </p:sp>
      <p:sp>
        <p:nvSpPr>
          <p:cNvPr id="1331" name="Google Shape;1331;g3f9ebdf94e2_0_997"/>
          <p:cNvSpPr/>
          <p:nvPr/>
        </p:nvSpPr>
        <p:spPr>
          <a:xfrm>
            <a:off x="2099724" y="1036437"/>
            <a:ext cx="1174200" cy="4980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2200"/>
              <a:buFont typeface="Arial"/>
              <a:buNone/>
            </a:pPr>
            <a:r>
              <a:rPr b="0" i="0" lang="pt-BR" sz="2200" u="none" cap="none" strike="noStrike">
                <a:solidFill>
                  <a:srgbClr val="0000FF"/>
                </a:solidFill>
                <a:latin typeface="Arial"/>
                <a:ea typeface="Arial"/>
                <a:cs typeface="Arial"/>
                <a:sym typeface="Arial"/>
              </a:rPr>
              <a:t>female</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g3f9ebdf94e2_0_1029"/>
          <p:cNvSpPr txBox="1"/>
          <p:nvPr/>
        </p:nvSpPr>
        <p:spPr>
          <a:xfrm>
            <a:off x="311530" y="2150591"/>
            <a:ext cx="8519700" cy="841200"/>
          </a:xfrm>
          <a:prstGeom prst="rect">
            <a:avLst/>
          </a:prstGeom>
          <a:noFill/>
          <a:ln>
            <a:noFill/>
          </a:ln>
        </p:spPr>
        <p:txBody>
          <a:bodyPr anchorCtr="0" anchor="ctr"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3300"/>
              <a:buFont typeface="Arial"/>
              <a:buNone/>
            </a:pPr>
            <a:r>
              <a:rPr b="0" i="0" lang="pt-BR" sz="3300" u="none" cap="none" strike="noStrike">
                <a:solidFill>
                  <a:srgbClr val="000000"/>
                </a:solidFill>
                <a:latin typeface="Arial"/>
                <a:ea typeface="Arial"/>
                <a:cs typeface="Arial"/>
                <a:sym typeface="Arial"/>
              </a:rPr>
              <a:t>Cancer Cells in the Space</a:t>
            </a:r>
            <a:endParaRPr b="1" i="0" sz="3300" u="none" cap="none" strike="noStrike">
              <a:solidFill>
                <a:srgbClr val="252323"/>
              </a:solidFill>
              <a:latin typeface="Comfortaa"/>
              <a:ea typeface="Comfortaa"/>
              <a:cs typeface="Comfortaa"/>
              <a:sym typeface="Comfortaa"/>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g3f9ebdf94e2_0_1033"/>
          <p:cNvSpPr txBox="1"/>
          <p:nvPr/>
        </p:nvSpPr>
        <p:spPr>
          <a:xfrm>
            <a:off x="311530" y="444747"/>
            <a:ext cx="8519700" cy="5724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000000"/>
                </a:solidFill>
                <a:latin typeface="Arial"/>
                <a:ea typeface="Arial"/>
                <a:cs typeface="Arial"/>
                <a:sym typeface="Arial"/>
              </a:rPr>
              <a:t>Analyzing Cancer Cells</a:t>
            </a:r>
            <a:endParaRPr b="0" i="0" sz="2500" u="none" cap="none" strike="noStrike">
              <a:solidFill>
                <a:srgbClr val="000000"/>
              </a:solidFill>
              <a:latin typeface="Arial"/>
              <a:ea typeface="Arial"/>
              <a:cs typeface="Arial"/>
              <a:sym typeface="Arial"/>
            </a:endParaRPr>
          </a:p>
        </p:txBody>
      </p:sp>
      <p:pic>
        <p:nvPicPr>
          <p:cNvPr id="1342" name="Google Shape;1342;g3f9ebdf94e2_0_1033"/>
          <p:cNvPicPr preferRelativeResize="0"/>
          <p:nvPr/>
        </p:nvPicPr>
        <p:blipFill rotWithShape="1">
          <a:blip r:embed="rId3">
            <a:alphaModFix/>
          </a:blip>
          <a:srcRect b="0" l="0" r="0" t="0"/>
          <a:stretch/>
        </p:blipFill>
        <p:spPr>
          <a:xfrm>
            <a:off x="529666" y="1183380"/>
            <a:ext cx="8082513" cy="3573651"/>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g3f9ebdf94e2_0_1038"/>
          <p:cNvSpPr txBox="1"/>
          <p:nvPr/>
        </p:nvSpPr>
        <p:spPr>
          <a:xfrm>
            <a:off x="311530" y="140086"/>
            <a:ext cx="8519700" cy="5724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000000"/>
                </a:solidFill>
                <a:latin typeface="Arial"/>
                <a:ea typeface="Arial"/>
                <a:cs typeface="Arial"/>
                <a:sym typeface="Arial"/>
              </a:rPr>
              <a:t>Breast Cancer Wisconsin</a:t>
            </a:r>
            <a:endParaRPr b="0" i="0" sz="2500" u="none" cap="none" strike="noStrike">
              <a:solidFill>
                <a:srgbClr val="000000"/>
              </a:solidFill>
              <a:latin typeface="Arial"/>
              <a:ea typeface="Arial"/>
              <a:cs typeface="Arial"/>
              <a:sym typeface="Arial"/>
            </a:endParaRPr>
          </a:p>
        </p:txBody>
      </p:sp>
      <p:pic>
        <p:nvPicPr>
          <p:cNvPr id="1348" name="Google Shape;1348;g3f9ebdf94e2_0_1038"/>
          <p:cNvPicPr preferRelativeResize="0"/>
          <p:nvPr/>
        </p:nvPicPr>
        <p:blipFill rotWithShape="1">
          <a:blip r:embed="rId3">
            <a:alphaModFix/>
          </a:blip>
          <a:srcRect b="0" l="0" r="0" t="0"/>
          <a:stretch/>
        </p:blipFill>
        <p:spPr>
          <a:xfrm>
            <a:off x="407209" y="1169665"/>
            <a:ext cx="4260690" cy="2837303"/>
          </a:xfrm>
          <a:prstGeom prst="rect">
            <a:avLst/>
          </a:prstGeom>
          <a:noFill/>
          <a:ln>
            <a:noFill/>
          </a:ln>
        </p:spPr>
      </p:pic>
      <p:pic>
        <p:nvPicPr>
          <p:cNvPr id="1349" name="Google Shape;1349;g3f9ebdf94e2_0_1038"/>
          <p:cNvPicPr preferRelativeResize="0"/>
          <p:nvPr/>
        </p:nvPicPr>
        <p:blipFill rotWithShape="1">
          <a:blip r:embed="rId4">
            <a:alphaModFix/>
          </a:blip>
          <a:srcRect b="0" l="0" r="0" t="0"/>
          <a:stretch/>
        </p:blipFill>
        <p:spPr>
          <a:xfrm>
            <a:off x="4744789" y="1169665"/>
            <a:ext cx="4017091" cy="2870611"/>
          </a:xfrm>
          <a:prstGeom prst="rect">
            <a:avLst/>
          </a:prstGeom>
          <a:noFill/>
          <a:ln>
            <a:noFill/>
          </a:ln>
        </p:spPr>
      </p:pic>
      <p:sp>
        <p:nvSpPr>
          <p:cNvPr id="1350" name="Google Shape;1350;g3f9ebdf94e2_0_1038"/>
          <p:cNvSpPr/>
          <p:nvPr/>
        </p:nvSpPr>
        <p:spPr>
          <a:xfrm>
            <a:off x="375207" y="4181015"/>
            <a:ext cx="4368000" cy="3594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rPr b="0" i="0" lang="pt-BR" sz="1300" u="sng" cap="none" strike="noStrike">
                <a:solidFill>
                  <a:schemeClr val="hlink"/>
                </a:solidFill>
                <a:latin typeface="Arial"/>
                <a:ea typeface="Arial"/>
                <a:cs typeface="Arial"/>
                <a:sym typeface="Arial"/>
                <a:hlinkClick r:id="rId5"/>
              </a:rPr>
              <a:t>http://www.cs.wisc.edu/~olvi/uwmp/mpml.html</a:t>
            </a:r>
            <a:endParaRPr b="0" i="0" sz="1300" u="none" cap="none" strike="noStrike">
              <a:solidFill>
                <a:srgbClr val="000000"/>
              </a:solidFill>
              <a:latin typeface="Arial"/>
              <a:ea typeface="Arial"/>
              <a:cs typeface="Arial"/>
              <a:sym typeface="Arial"/>
            </a:endParaRPr>
          </a:p>
        </p:txBody>
      </p:sp>
      <p:sp>
        <p:nvSpPr>
          <p:cNvPr id="1351" name="Google Shape;1351;g3f9ebdf94e2_0_1038"/>
          <p:cNvSpPr/>
          <p:nvPr/>
        </p:nvSpPr>
        <p:spPr>
          <a:xfrm>
            <a:off x="4820549" y="4014153"/>
            <a:ext cx="3858000" cy="3594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rPr b="0" i="0" lang="pt-BR" sz="1300" u="sng" cap="none" strike="noStrike">
                <a:solidFill>
                  <a:schemeClr val="hlink"/>
                </a:solidFill>
                <a:latin typeface="Arial"/>
                <a:ea typeface="Arial"/>
                <a:cs typeface="Arial"/>
                <a:sym typeface="Arial"/>
                <a:hlinkClick r:id="rId6"/>
              </a:rPr>
              <a:t>https://archive.ics.uci.edu/dataset/17/breast+cancer+wisconsin+diagnostic</a:t>
            </a:r>
            <a:endParaRPr b="0" i="0" sz="1300" u="none" cap="none" strike="noStrike">
              <a:solidFill>
                <a:srgbClr val="000000"/>
              </a:solidFill>
              <a:latin typeface="Arial"/>
              <a:ea typeface="Arial"/>
              <a:cs typeface="Arial"/>
              <a:sym typeface="Arial"/>
            </a:endParaRPr>
          </a:p>
        </p:txBody>
      </p:sp>
      <p:sp>
        <p:nvSpPr>
          <p:cNvPr id="1352" name="Google Shape;1352;g3f9ebdf94e2_0_1038"/>
          <p:cNvSpPr/>
          <p:nvPr/>
        </p:nvSpPr>
        <p:spPr>
          <a:xfrm>
            <a:off x="1657574" y="787940"/>
            <a:ext cx="1602900" cy="4149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Original Data</a:t>
            </a:r>
            <a:endParaRPr b="0" i="0" sz="1600" u="none" cap="none" strike="noStrike">
              <a:solidFill>
                <a:srgbClr val="000000"/>
              </a:solidFill>
              <a:latin typeface="Arial"/>
              <a:ea typeface="Arial"/>
              <a:cs typeface="Arial"/>
              <a:sym typeface="Arial"/>
            </a:endParaRPr>
          </a:p>
        </p:txBody>
      </p:sp>
      <p:sp>
        <p:nvSpPr>
          <p:cNvPr id="1353" name="Google Shape;1353;g3f9ebdf94e2_0_1038"/>
          <p:cNvSpPr/>
          <p:nvPr/>
        </p:nvSpPr>
        <p:spPr>
          <a:xfrm>
            <a:off x="5969029" y="748103"/>
            <a:ext cx="1720800" cy="4149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Prepared Data</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g3f9ebdf94e2_0_1048"/>
          <p:cNvSpPr txBox="1"/>
          <p:nvPr/>
        </p:nvSpPr>
        <p:spPr>
          <a:xfrm>
            <a:off x="311530" y="444747"/>
            <a:ext cx="8519700" cy="5724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DataSci4Health</a:t>
            </a:r>
            <a:br>
              <a:rPr b="0" i="0" lang="pt-BR" sz="1600" u="none" cap="none" strike="noStrike">
                <a:solidFill>
                  <a:srgbClr val="000000"/>
                </a:solidFill>
                <a:latin typeface="Arial"/>
                <a:ea typeface="Arial"/>
                <a:cs typeface="Arial"/>
                <a:sym typeface="Arial"/>
              </a:rPr>
            </a:br>
            <a:r>
              <a:rPr b="0" i="0" lang="pt-BR" sz="2500" u="none" cap="none" strike="noStrike">
                <a:solidFill>
                  <a:srgbClr val="000000"/>
                </a:solidFill>
                <a:latin typeface="Arial"/>
                <a:ea typeface="Arial"/>
                <a:cs typeface="Arial"/>
                <a:sym typeface="Arial"/>
              </a:rPr>
              <a:t>Dataset and Workflows</a:t>
            </a:r>
            <a:endParaRPr b="1" i="0" sz="2500" u="none" cap="none" strike="noStrike">
              <a:solidFill>
                <a:srgbClr val="252323"/>
              </a:solidFill>
              <a:latin typeface="Comfortaa"/>
              <a:ea typeface="Comfortaa"/>
              <a:cs typeface="Comfortaa"/>
              <a:sym typeface="Comfortaa"/>
            </a:endParaRPr>
          </a:p>
        </p:txBody>
      </p:sp>
      <p:sp>
        <p:nvSpPr>
          <p:cNvPr id="1359" name="Google Shape;1359;g3f9ebdf94e2_0_1048"/>
          <p:cNvSpPr txBox="1"/>
          <p:nvPr/>
        </p:nvSpPr>
        <p:spPr>
          <a:xfrm>
            <a:off x="311530" y="1446571"/>
            <a:ext cx="8519700" cy="3121500"/>
          </a:xfrm>
          <a:prstGeom prst="rect">
            <a:avLst/>
          </a:prstGeom>
          <a:noFill/>
          <a:ln>
            <a:noFill/>
          </a:ln>
        </p:spPr>
        <p:txBody>
          <a:bodyPr anchorCtr="0" anchor="t" bIns="82925" lIns="82925" spcFirstLastPara="1" rIns="82925" wrap="square" tIns="82925">
            <a:noAutofit/>
          </a:bodyPr>
          <a:lstStyle/>
          <a:p>
            <a:pPr indent="-317500" lvl="0" marL="419100" marR="0" rtl="0" algn="l">
              <a:lnSpc>
                <a:spcPct val="115000"/>
              </a:lnSpc>
              <a:spcBef>
                <a:spcPts val="0"/>
              </a:spcBef>
              <a:spcAft>
                <a:spcPts val="0"/>
              </a:spcAft>
              <a:buClr>
                <a:srgbClr val="595959"/>
              </a:buClr>
              <a:buSzPts val="1600"/>
              <a:buFont typeface="Arial"/>
              <a:buChar char="●"/>
            </a:pPr>
            <a:r>
              <a:rPr b="0" i="0" lang="pt-BR" sz="1600" u="none" cap="none" strike="noStrike">
                <a:solidFill>
                  <a:srgbClr val="595959"/>
                </a:solidFill>
                <a:latin typeface="Arial"/>
                <a:ea typeface="Arial"/>
                <a:cs typeface="Arial"/>
                <a:sym typeface="Arial"/>
              </a:rPr>
              <a:t>DataSci4Health</a:t>
            </a:r>
            <a:endParaRPr b="0" i="0" sz="1600" u="none" cap="none" strike="noStrike">
              <a:solidFill>
                <a:srgbClr val="252323"/>
              </a:solidFill>
              <a:latin typeface="Comfortaa"/>
              <a:ea typeface="Comfortaa"/>
              <a:cs typeface="Comfortaa"/>
              <a:sym typeface="Comfortaa"/>
            </a:endParaRPr>
          </a:p>
          <a:p>
            <a:pPr indent="-285750" lvl="1" marL="825500" marR="0" rtl="0" algn="l">
              <a:lnSpc>
                <a:spcPct val="115000"/>
              </a:lnSpc>
              <a:spcBef>
                <a:spcPts val="0"/>
              </a:spcBef>
              <a:spcAft>
                <a:spcPts val="0"/>
              </a:spcAft>
              <a:buClr>
                <a:srgbClr val="595959"/>
              </a:buClr>
              <a:buSzPts val="1300"/>
              <a:buFont typeface="Arial"/>
              <a:buChar char="○"/>
            </a:pPr>
            <a:r>
              <a:rPr b="0" i="0" lang="pt-BR" sz="1300" u="sng" cap="none" strike="noStrike">
                <a:solidFill>
                  <a:schemeClr val="hlink"/>
                </a:solidFill>
                <a:latin typeface="Arial"/>
                <a:ea typeface="Arial"/>
                <a:cs typeface="Arial"/>
                <a:sym typeface="Arial"/>
                <a:hlinkClick r:id="rId3"/>
              </a:rPr>
              <a:t>https://github.com/datasci4health/datasci4health.github.io</a:t>
            </a:r>
            <a:endParaRPr b="0" i="0" sz="1300" u="none" cap="none" strike="noStrike">
              <a:solidFill>
                <a:srgbClr val="252323"/>
              </a:solidFill>
              <a:latin typeface="Comfortaa"/>
              <a:ea typeface="Comfortaa"/>
              <a:cs typeface="Comfortaa"/>
              <a:sym typeface="Comfortaa"/>
            </a:endParaRPr>
          </a:p>
          <a:p>
            <a:pPr indent="-317500" lvl="0" marL="419100" marR="0" rtl="0" algn="l">
              <a:lnSpc>
                <a:spcPct val="115000"/>
              </a:lnSpc>
              <a:spcBef>
                <a:spcPts val="0"/>
              </a:spcBef>
              <a:spcAft>
                <a:spcPts val="0"/>
              </a:spcAft>
              <a:buClr>
                <a:srgbClr val="595959"/>
              </a:buClr>
              <a:buSzPts val="1600"/>
              <a:buFont typeface="Arial"/>
              <a:buChar char="●"/>
            </a:pPr>
            <a:r>
              <a:rPr b="0" i="0" lang="pt-BR" sz="1600" u="none" cap="none" strike="noStrike">
                <a:solidFill>
                  <a:srgbClr val="595959"/>
                </a:solidFill>
                <a:latin typeface="Arial"/>
                <a:ea typeface="Arial"/>
                <a:cs typeface="Arial"/>
                <a:sym typeface="Arial"/>
              </a:rPr>
              <a:t>Dados</a:t>
            </a:r>
            <a:endParaRPr b="0" i="0" sz="1600" u="none" cap="none" strike="noStrike">
              <a:solidFill>
                <a:srgbClr val="252323"/>
              </a:solidFill>
              <a:latin typeface="Comfortaa"/>
              <a:ea typeface="Comfortaa"/>
              <a:cs typeface="Comfortaa"/>
              <a:sym typeface="Comfortaa"/>
            </a:endParaRPr>
          </a:p>
          <a:p>
            <a:pPr indent="-279400" lvl="1" marL="825500" marR="0" rtl="0" algn="l">
              <a:lnSpc>
                <a:spcPct val="115000"/>
              </a:lnSpc>
              <a:spcBef>
                <a:spcPts val="0"/>
              </a:spcBef>
              <a:spcAft>
                <a:spcPts val="0"/>
              </a:spcAft>
              <a:buClr>
                <a:srgbClr val="595959"/>
              </a:buClr>
              <a:buSzPts val="1200"/>
              <a:buFont typeface="Arial"/>
              <a:buChar char="○"/>
            </a:pPr>
            <a:r>
              <a:rPr b="0" i="0" lang="pt-BR" sz="1200" u="sng" cap="none" strike="noStrike">
                <a:solidFill>
                  <a:schemeClr val="hlink"/>
                </a:solidFill>
                <a:latin typeface="Arial"/>
                <a:ea typeface="Arial"/>
                <a:cs typeface="Arial"/>
                <a:sym typeface="Arial"/>
                <a:hlinkClick r:id="rId4"/>
              </a:rPr>
              <a:t>https://github.com/datasci4health/datasci4health.github.io/tree/master/data/breast-cancer/wisconsin</a:t>
            </a:r>
            <a:endParaRPr b="0" i="0" sz="1200" u="none" cap="none" strike="noStrike">
              <a:solidFill>
                <a:srgbClr val="252323"/>
              </a:solidFill>
              <a:latin typeface="Comfortaa"/>
              <a:ea typeface="Comfortaa"/>
              <a:cs typeface="Comfortaa"/>
              <a:sym typeface="Comfortaa"/>
            </a:endParaRPr>
          </a:p>
          <a:p>
            <a:pPr indent="-317500" lvl="0" marL="419100" marR="0" rtl="0" algn="l">
              <a:lnSpc>
                <a:spcPct val="115000"/>
              </a:lnSpc>
              <a:spcBef>
                <a:spcPts val="0"/>
              </a:spcBef>
              <a:spcAft>
                <a:spcPts val="0"/>
              </a:spcAft>
              <a:buClr>
                <a:srgbClr val="595959"/>
              </a:buClr>
              <a:buSzPts val="1600"/>
              <a:buFont typeface="Arial"/>
              <a:buChar char="●"/>
            </a:pPr>
            <a:r>
              <a:rPr b="0" i="0" lang="pt-BR" sz="1600" u="none" cap="none" strike="noStrike">
                <a:solidFill>
                  <a:srgbClr val="595959"/>
                </a:solidFill>
                <a:latin typeface="Arial"/>
                <a:ea typeface="Arial"/>
                <a:cs typeface="Arial"/>
                <a:sym typeface="Arial"/>
              </a:rPr>
              <a:t>Workflows</a:t>
            </a:r>
            <a:endParaRPr b="0" i="0" sz="1600" u="none" cap="none" strike="noStrike">
              <a:solidFill>
                <a:srgbClr val="252323"/>
              </a:solidFill>
              <a:latin typeface="Comfortaa"/>
              <a:ea typeface="Comfortaa"/>
              <a:cs typeface="Comfortaa"/>
              <a:sym typeface="Comfortaa"/>
            </a:endParaRPr>
          </a:p>
          <a:p>
            <a:pPr indent="-279400" lvl="1" marL="825500" marR="0" rtl="0" algn="l">
              <a:lnSpc>
                <a:spcPct val="115000"/>
              </a:lnSpc>
              <a:spcBef>
                <a:spcPts val="0"/>
              </a:spcBef>
              <a:spcAft>
                <a:spcPts val="0"/>
              </a:spcAft>
              <a:buClr>
                <a:srgbClr val="595959"/>
              </a:buClr>
              <a:buSzPts val="1200"/>
              <a:buFont typeface="Arial"/>
              <a:buChar char="○"/>
            </a:pPr>
            <a:r>
              <a:rPr b="0" i="0" lang="pt-BR" sz="1200" u="sng" cap="none" strike="noStrike">
                <a:solidFill>
                  <a:schemeClr val="hlink"/>
                </a:solidFill>
                <a:latin typeface="Arial"/>
                <a:ea typeface="Arial"/>
                <a:cs typeface="Arial"/>
                <a:sym typeface="Arial"/>
                <a:hlinkClick r:id="rId5"/>
              </a:rPr>
              <a:t>https://github.com/datasci4health/datasci4health.github.io/tree/master/workflows/breast-cancer</a:t>
            </a:r>
            <a:endParaRPr b="0" i="0" sz="1200" u="none" cap="none" strike="noStrike">
              <a:solidFill>
                <a:srgbClr val="252323"/>
              </a:solidFill>
              <a:latin typeface="Comfortaa"/>
              <a:ea typeface="Comfortaa"/>
              <a:cs typeface="Comfortaa"/>
              <a:sym typeface="Comfortaa"/>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g3f9ebdf94e2_0_1053"/>
          <p:cNvSpPr txBox="1"/>
          <p:nvPr/>
        </p:nvSpPr>
        <p:spPr>
          <a:xfrm>
            <a:off x="311530" y="444747"/>
            <a:ext cx="8519700" cy="5724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000000"/>
                </a:solidFill>
                <a:latin typeface="Arial"/>
                <a:ea typeface="Arial"/>
                <a:cs typeface="Arial"/>
                <a:sym typeface="Arial"/>
              </a:rPr>
              <a:t>Cancer Cell Metrics</a:t>
            </a:r>
            <a:endParaRPr b="0" i="0" sz="2500" u="none" cap="none" strike="noStrike">
              <a:solidFill>
                <a:srgbClr val="000000"/>
              </a:solidFill>
              <a:latin typeface="Arial"/>
              <a:ea typeface="Arial"/>
              <a:cs typeface="Arial"/>
              <a:sym typeface="Arial"/>
            </a:endParaRPr>
          </a:p>
        </p:txBody>
      </p:sp>
      <p:pic>
        <p:nvPicPr>
          <p:cNvPr id="1365" name="Google Shape;1365;g3f9ebdf94e2_0_1053"/>
          <p:cNvPicPr preferRelativeResize="0"/>
          <p:nvPr/>
        </p:nvPicPr>
        <p:blipFill rotWithShape="1">
          <a:blip r:embed="rId3">
            <a:alphaModFix/>
          </a:blip>
          <a:srcRect b="0" l="0" r="0" t="0"/>
          <a:stretch/>
        </p:blipFill>
        <p:spPr>
          <a:xfrm>
            <a:off x="405903" y="1169665"/>
            <a:ext cx="3400914" cy="1949769"/>
          </a:xfrm>
          <a:prstGeom prst="rect">
            <a:avLst/>
          </a:prstGeom>
          <a:noFill/>
          <a:ln>
            <a:noFill/>
          </a:ln>
        </p:spPr>
      </p:pic>
      <p:pic>
        <p:nvPicPr>
          <p:cNvPr id="1366" name="Google Shape;1366;g3f9ebdf94e2_0_1053"/>
          <p:cNvPicPr preferRelativeResize="0"/>
          <p:nvPr/>
        </p:nvPicPr>
        <p:blipFill rotWithShape="1">
          <a:blip r:embed="rId4">
            <a:alphaModFix/>
          </a:blip>
          <a:srcRect b="0" l="0" r="0" t="0"/>
          <a:stretch/>
        </p:blipFill>
        <p:spPr>
          <a:xfrm>
            <a:off x="4116178" y="1088684"/>
            <a:ext cx="819941" cy="806227"/>
          </a:xfrm>
          <a:prstGeom prst="rect">
            <a:avLst/>
          </a:prstGeom>
          <a:noFill/>
          <a:ln>
            <a:noFill/>
          </a:ln>
        </p:spPr>
      </p:pic>
      <p:pic>
        <p:nvPicPr>
          <p:cNvPr id="1367" name="Google Shape;1367;g3f9ebdf94e2_0_1053"/>
          <p:cNvPicPr preferRelativeResize="0"/>
          <p:nvPr/>
        </p:nvPicPr>
        <p:blipFill rotWithShape="1">
          <a:blip r:embed="rId5">
            <a:alphaModFix/>
          </a:blip>
          <a:srcRect b="0" l="0" r="0" t="0"/>
          <a:stretch/>
        </p:blipFill>
        <p:spPr>
          <a:xfrm>
            <a:off x="4116178" y="2000056"/>
            <a:ext cx="910392" cy="866963"/>
          </a:xfrm>
          <a:prstGeom prst="rect">
            <a:avLst/>
          </a:prstGeom>
          <a:noFill/>
          <a:ln>
            <a:noFill/>
          </a:ln>
        </p:spPr>
      </p:pic>
      <p:pic>
        <p:nvPicPr>
          <p:cNvPr id="1368" name="Google Shape;1368;g3f9ebdf94e2_0_1053"/>
          <p:cNvPicPr preferRelativeResize="0"/>
          <p:nvPr/>
        </p:nvPicPr>
        <p:blipFill rotWithShape="1">
          <a:blip r:embed="rId6">
            <a:alphaModFix/>
          </a:blip>
          <a:srcRect b="0" l="0" r="0" t="0"/>
          <a:stretch/>
        </p:blipFill>
        <p:spPr>
          <a:xfrm>
            <a:off x="4116178" y="2971838"/>
            <a:ext cx="863044" cy="866963"/>
          </a:xfrm>
          <a:prstGeom prst="rect">
            <a:avLst/>
          </a:prstGeom>
          <a:noFill/>
          <a:ln>
            <a:noFill/>
          </a:ln>
        </p:spPr>
      </p:pic>
      <p:pic>
        <p:nvPicPr>
          <p:cNvPr id="1369" name="Google Shape;1369;g3f9ebdf94e2_0_1053"/>
          <p:cNvPicPr preferRelativeResize="0"/>
          <p:nvPr/>
        </p:nvPicPr>
        <p:blipFill rotWithShape="1">
          <a:blip r:embed="rId7">
            <a:alphaModFix/>
          </a:blip>
          <a:srcRect b="0" l="0" r="0" t="0"/>
          <a:stretch/>
        </p:blipFill>
        <p:spPr>
          <a:xfrm>
            <a:off x="4116178" y="3943947"/>
            <a:ext cx="2973798" cy="931618"/>
          </a:xfrm>
          <a:prstGeom prst="rect">
            <a:avLst/>
          </a:prstGeom>
          <a:noFill/>
          <a:ln>
            <a:noFill/>
          </a:ln>
        </p:spPr>
      </p:pic>
      <p:sp>
        <p:nvSpPr>
          <p:cNvPr id="1370" name="Google Shape;1370;g3f9ebdf94e2_0_1053"/>
          <p:cNvSpPr/>
          <p:nvPr/>
        </p:nvSpPr>
        <p:spPr>
          <a:xfrm>
            <a:off x="5111832" y="1261423"/>
            <a:ext cx="1490700" cy="4149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Smoothness</a:t>
            </a:r>
            <a:endParaRPr b="0" i="0" sz="1600" u="none" cap="none" strike="noStrike">
              <a:solidFill>
                <a:srgbClr val="000000"/>
              </a:solidFill>
              <a:latin typeface="Arial"/>
              <a:ea typeface="Arial"/>
              <a:cs typeface="Arial"/>
              <a:sym typeface="Arial"/>
            </a:endParaRPr>
          </a:p>
        </p:txBody>
      </p:sp>
      <p:sp>
        <p:nvSpPr>
          <p:cNvPr id="1371" name="Google Shape;1371;g3f9ebdf94e2_0_1053"/>
          <p:cNvSpPr/>
          <p:nvPr/>
        </p:nvSpPr>
        <p:spPr>
          <a:xfrm>
            <a:off x="5111832" y="2203164"/>
            <a:ext cx="1490700" cy="4149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Concavity</a:t>
            </a:r>
            <a:endParaRPr b="0" i="0" sz="1600" u="none" cap="none" strike="noStrike">
              <a:solidFill>
                <a:srgbClr val="000000"/>
              </a:solidFill>
              <a:latin typeface="Arial"/>
              <a:ea typeface="Arial"/>
              <a:cs typeface="Arial"/>
              <a:sym typeface="Arial"/>
            </a:endParaRPr>
          </a:p>
        </p:txBody>
      </p:sp>
      <p:sp>
        <p:nvSpPr>
          <p:cNvPr id="1372" name="Google Shape;1372;g3f9ebdf94e2_0_1053"/>
          <p:cNvSpPr/>
          <p:nvPr/>
        </p:nvSpPr>
        <p:spPr>
          <a:xfrm>
            <a:off x="5111832" y="3174946"/>
            <a:ext cx="1490700" cy="4149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Symmetry</a:t>
            </a:r>
            <a:endParaRPr b="0" i="0" sz="1600" u="none" cap="none" strike="noStrike">
              <a:solidFill>
                <a:srgbClr val="000000"/>
              </a:solidFill>
              <a:latin typeface="Arial"/>
              <a:ea typeface="Arial"/>
              <a:cs typeface="Arial"/>
              <a:sym typeface="Arial"/>
            </a:endParaRPr>
          </a:p>
        </p:txBody>
      </p:sp>
      <p:sp>
        <p:nvSpPr>
          <p:cNvPr id="1373" name="Google Shape;1373;g3f9ebdf94e2_0_1053"/>
          <p:cNvSpPr/>
          <p:nvPr/>
        </p:nvSpPr>
        <p:spPr>
          <a:xfrm>
            <a:off x="7261519" y="4040276"/>
            <a:ext cx="1490700" cy="6639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Fractal Dimension</a:t>
            </a:r>
            <a:endParaRPr b="0" i="0" sz="1600" u="none" cap="none" strike="noStrike">
              <a:solidFill>
                <a:srgbClr val="000000"/>
              </a:solidFill>
              <a:latin typeface="Arial"/>
              <a:ea typeface="Arial"/>
              <a:cs typeface="Arial"/>
              <a:sym typeface="Arial"/>
            </a:endParaRPr>
          </a:p>
        </p:txBody>
      </p:sp>
      <p:sp>
        <p:nvSpPr>
          <p:cNvPr id="1374" name="Google Shape;1374;g3f9ebdf94e2_0_1053"/>
          <p:cNvSpPr/>
          <p:nvPr/>
        </p:nvSpPr>
        <p:spPr>
          <a:xfrm>
            <a:off x="405903" y="3022452"/>
            <a:ext cx="3577500" cy="4149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Cancer Cell Nucleus Boundaries</a:t>
            </a:r>
            <a:endParaRPr b="0" i="0" sz="1600" u="none" cap="none" strike="noStrike">
              <a:solidFill>
                <a:srgbClr val="000000"/>
              </a:solidFill>
              <a:latin typeface="Arial"/>
              <a:ea typeface="Arial"/>
              <a:cs typeface="Arial"/>
              <a:sym typeface="Arial"/>
            </a:endParaRPr>
          </a:p>
        </p:txBody>
      </p:sp>
      <p:sp>
        <p:nvSpPr>
          <p:cNvPr id="1375" name="Google Shape;1375;g3f9ebdf94e2_0_1053"/>
          <p:cNvSpPr/>
          <p:nvPr/>
        </p:nvSpPr>
        <p:spPr>
          <a:xfrm>
            <a:off x="419618" y="4381184"/>
            <a:ext cx="2478000" cy="4149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(Street et al., 1993)</a:t>
            </a:r>
            <a:endParaRPr b="0" i="0" sz="1600" u="none" cap="none" strike="noStrike">
              <a:solidFill>
                <a:srgbClr val="000000"/>
              </a:solidFill>
              <a:latin typeface="Arial"/>
              <a:ea typeface="Arial"/>
              <a:cs typeface="Arial"/>
              <a:sym typeface="Arial"/>
            </a:endParaRPr>
          </a:p>
        </p:txBody>
      </p:sp>
      <p:sp>
        <p:nvSpPr>
          <p:cNvPr id="1376" name="Google Shape;1376;g3f9ebdf94e2_0_1053"/>
          <p:cNvSpPr/>
          <p:nvPr/>
        </p:nvSpPr>
        <p:spPr>
          <a:xfrm>
            <a:off x="6826226" y="1261423"/>
            <a:ext cx="2004900" cy="16590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Radius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Perimeter</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Area</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Compactness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Concave Points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Texture</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graphicFrame>
        <p:nvGraphicFramePr>
          <p:cNvPr id="1381" name="Google Shape;1381;g3f9ebdf94e2_0_1069"/>
          <p:cNvGraphicFramePr/>
          <p:nvPr/>
        </p:nvGraphicFramePr>
        <p:xfrm>
          <a:off x="639061" y="1282975"/>
          <a:ext cx="3000000" cy="3000000"/>
        </p:xfrm>
        <a:graphic>
          <a:graphicData uri="http://schemas.openxmlformats.org/drawingml/2006/table">
            <a:tbl>
              <a:tblPr>
                <a:noFill/>
                <a:tableStyleId>{967FECD5-6A5C-4673-8E3D-DED955AC76FF}</a:tableStyleId>
              </a:tblPr>
              <a:tblGrid>
                <a:gridCol w="1750625"/>
                <a:gridCol w="1266350"/>
                <a:gridCol w="2879525"/>
                <a:gridCol w="1919800"/>
              </a:tblGrid>
              <a:tr h="540750">
                <a:tc>
                  <a:txBody>
                    <a:bodyPr/>
                    <a:lstStyle/>
                    <a:p>
                      <a:pPr indent="0" lvl="0" marL="0" marR="0" rtl="0" algn="ctr">
                        <a:lnSpc>
                          <a:spcPct val="100000"/>
                        </a:lnSpc>
                        <a:spcBef>
                          <a:spcPts val="0"/>
                        </a:spcBef>
                        <a:spcAft>
                          <a:spcPts val="0"/>
                        </a:spcAft>
                        <a:buClr>
                          <a:srgbClr val="000000"/>
                        </a:buClr>
                        <a:buSzPts val="2000"/>
                        <a:buFont typeface="Arial"/>
                        <a:buNone/>
                      </a:pPr>
                      <a:r>
                        <a:rPr b="1" lang="pt-BR" sz="2000" u="none" cap="none" strike="noStrike">
                          <a:solidFill>
                            <a:srgbClr val="000000"/>
                          </a:solidFill>
                          <a:latin typeface="Arial"/>
                          <a:ea typeface="Arial"/>
                          <a:cs typeface="Arial"/>
                          <a:sym typeface="Arial"/>
                        </a:rPr>
                        <a:t>name</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EAEAEA"/>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pt-BR" sz="2000" u="none" cap="none" strike="noStrike">
                          <a:solidFill>
                            <a:srgbClr val="000000"/>
                          </a:solidFill>
                          <a:latin typeface="Arial"/>
                          <a:ea typeface="Arial"/>
                          <a:cs typeface="Arial"/>
                          <a:sym typeface="Arial"/>
                        </a:rPr>
                        <a:t>radius</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EAEAEA"/>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pt-BR" sz="2000" u="none" cap="none" strike="noStrike">
                          <a:solidFill>
                            <a:srgbClr val="000000"/>
                          </a:solidFill>
                          <a:latin typeface="Arial"/>
                          <a:ea typeface="Arial"/>
                          <a:cs typeface="Arial"/>
                          <a:sym typeface="Arial"/>
                        </a:rPr>
                        <a:t>fractal dimension</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EAEAEA"/>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lang="pt-BR" sz="2000" u="none" cap="none" strike="noStrike">
                          <a:solidFill>
                            <a:srgbClr val="000000"/>
                          </a:solidFill>
                          <a:latin typeface="Arial"/>
                          <a:ea typeface="Arial"/>
                          <a:cs typeface="Arial"/>
                          <a:sym typeface="Arial"/>
                        </a:rPr>
                        <a:t>diagnosis</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EAEAEA"/>
                    </a:solidFill>
                  </a:tcPr>
                </a:tc>
              </a:tr>
              <a:tr h="540750">
                <a:tc>
                  <a:txBody>
                    <a:bodyPr/>
                    <a:lstStyle/>
                    <a:p>
                      <a:pPr indent="0" lvl="0" marL="0" marR="0" rtl="0" algn="l">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862722</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6.981</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0.07818</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B</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540750">
                <a:tc>
                  <a:txBody>
                    <a:bodyPr/>
                    <a:lstStyle/>
                    <a:p>
                      <a:pPr indent="0" lvl="0" marL="0" marR="0" rtl="0" algn="l">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9111157302</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21.100</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0.05661</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M</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540750">
                <a:tc>
                  <a:txBody>
                    <a:bodyPr/>
                    <a:lstStyle/>
                    <a:p>
                      <a:pPr indent="0" lvl="0" marL="0" marR="0" rtl="0" algn="l">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889719</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17.190</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0.05580</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M</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540750">
                <a:tc>
                  <a:txBody>
                    <a:bodyPr/>
                    <a:lstStyle/>
                    <a:p>
                      <a:pPr indent="0" lvl="0" marL="0" marR="0" rtl="0" algn="l">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8910251</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10.600</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0.06491</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B</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543375">
                <a:tc>
                  <a:txBody>
                    <a:bodyPr/>
                    <a:lstStyle/>
                    <a:p>
                      <a:pPr indent="0" lvl="0" marL="0" marR="0" rtl="0" algn="l">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8510653</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13.080</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0.06811</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0" lang="pt-BR" sz="2000" u="none" cap="none" strike="noStrike">
                          <a:solidFill>
                            <a:srgbClr val="000000"/>
                          </a:solidFill>
                          <a:latin typeface="Arial"/>
                          <a:ea typeface="Arial"/>
                          <a:cs typeface="Arial"/>
                          <a:sym typeface="Arial"/>
                        </a:rPr>
                        <a:t>B</a:t>
                      </a:r>
                      <a:endParaRPr b="0" sz="20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bl>
          </a:graphicData>
        </a:graphic>
      </p:graphicFrame>
      <p:sp>
        <p:nvSpPr>
          <p:cNvPr id="1382" name="Google Shape;1382;g3f9ebdf94e2_0_1069"/>
          <p:cNvSpPr txBox="1"/>
          <p:nvPr/>
        </p:nvSpPr>
        <p:spPr>
          <a:xfrm>
            <a:off x="311530" y="444747"/>
            <a:ext cx="8519700" cy="5724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000000"/>
                </a:solidFill>
                <a:latin typeface="Arial"/>
                <a:ea typeface="Arial"/>
                <a:cs typeface="Arial"/>
                <a:sym typeface="Arial"/>
              </a:rPr>
              <a:t>Cancer Cells</a:t>
            </a:r>
            <a:endParaRPr b="0" i="0" sz="2500" u="none" cap="none" strike="noStrike">
              <a:solidFill>
                <a:srgbClr val="000000"/>
              </a:solidFill>
              <a:latin typeface="Arial"/>
              <a:ea typeface="Arial"/>
              <a:cs typeface="Arial"/>
              <a:sym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g3f9ebdf94e2_0_1074"/>
          <p:cNvSpPr/>
          <p:nvPr/>
        </p:nvSpPr>
        <p:spPr>
          <a:xfrm>
            <a:off x="7201760" y="4055624"/>
            <a:ext cx="1061100" cy="442500"/>
          </a:xfrm>
          <a:prstGeom prst="rect">
            <a:avLst/>
          </a:prstGeom>
          <a:noFill/>
          <a:ln>
            <a:noFill/>
          </a:ln>
        </p:spPr>
        <p:txBody>
          <a:bodyPr anchorCtr="0" anchor="t" bIns="75100" lIns="75100" spcFirstLastPara="1" rIns="75100" wrap="square" tIns="75100">
            <a:noAutofit/>
          </a:bodyPr>
          <a:lstStyle/>
          <a:p>
            <a:pPr indent="0" lvl="0" marL="0" marR="0" rtl="0" algn="ctr">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radius</a:t>
            </a:r>
            <a:endParaRPr b="0" i="0" sz="1600" u="none" cap="none" strike="noStrike">
              <a:solidFill>
                <a:srgbClr val="000000"/>
              </a:solidFill>
              <a:latin typeface="Arial"/>
              <a:ea typeface="Arial"/>
              <a:cs typeface="Arial"/>
              <a:sym typeface="Arial"/>
            </a:endParaRPr>
          </a:p>
        </p:txBody>
      </p:sp>
      <p:sp>
        <p:nvSpPr>
          <p:cNvPr id="1388" name="Google Shape;1388;g3f9ebdf94e2_0_1074"/>
          <p:cNvSpPr/>
          <p:nvPr/>
        </p:nvSpPr>
        <p:spPr>
          <a:xfrm>
            <a:off x="848707" y="683121"/>
            <a:ext cx="22743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fractal dimension</a:t>
            </a:r>
            <a:endParaRPr b="0" i="0" sz="1600" u="none" cap="none" strike="noStrike">
              <a:solidFill>
                <a:srgbClr val="000000"/>
              </a:solidFill>
              <a:latin typeface="Arial"/>
              <a:ea typeface="Arial"/>
              <a:cs typeface="Arial"/>
              <a:sym typeface="Arial"/>
            </a:endParaRPr>
          </a:p>
        </p:txBody>
      </p:sp>
      <p:sp>
        <p:nvSpPr>
          <p:cNvPr id="1389" name="Google Shape;1389;g3f9ebdf94e2_0_1074"/>
          <p:cNvSpPr/>
          <p:nvPr/>
        </p:nvSpPr>
        <p:spPr>
          <a:xfrm rot="10800000">
            <a:off x="1695783" y="1126213"/>
            <a:ext cx="324" cy="3017250"/>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390" name="Google Shape;1390;g3f9ebdf94e2_0_1074"/>
          <p:cNvSpPr/>
          <p:nvPr/>
        </p:nvSpPr>
        <p:spPr>
          <a:xfrm>
            <a:off x="1115172" y="3961254"/>
            <a:ext cx="6342894" cy="32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cxnSp>
        <p:nvCxnSpPr>
          <p:cNvPr id="1391" name="Google Shape;1391;g3f9ebdf94e2_0_1074"/>
          <p:cNvCxnSpPr/>
          <p:nvPr/>
        </p:nvCxnSpPr>
        <p:spPr>
          <a:xfrm flipH="1" rot="-5400000">
            <a:off x="877583" y="2280115"/>
            <a:ext cx="2500200" cy="862500"/>
          </a:xfrm>
          <a:prstGeom prst="bentConnector2">
            <a:avLst/>
          </a:prstGeom>
          <a:noFill/>
          <a:ln cap="flat" cmpd="sng" w="17300">
            <a:solidFill>
              <a:srgbClr val="595959"/>
            </a:solidFill>
            <a:prstDash val="dashDot"/>
            <a:round/>
            <a:headEnd len="sm" w="sm" type="none"/>
            <a:tailEnd len="sm" w="sm" type="none"/>
          </a:ln>
        </p:spPr>
      </p:cxnSp>
      <p:sp>
        <p:nvSpPr>
          <p:cNvPr id="1392" name="Google Shape;1392;g3f9ebdf94e2_0_1074"/>
          <p:cNvSpPr/>
          <p:nvPr/>
        </p:nvSpPr>
        <p:spPr>
          <a:xfrm>
            <a:off x="2170259" y="3961580"/>
            <a:ext cx="7782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6.981</a:t>
            </a:r>
            <a:endParaRPr b="0" i="0" sz="1600" u="none" cap="none" strike="noStrike">
              <a:solidFill>
                <a:srgbClr val="000000"/>
              </a:solidFill>
              <a:latin typeface="Arial"/>
              <a:ea typeface="Arial"/>
              <a:cs typeface="Arial"/>
              <a:sym typeface="Arial"/>
            </a:endParaRPr>
          </a:p>
        </p:txBody>
      </p:sp>
      <p:sp>
        <p:nvSpPr>
          <p:cNvPr id="1393" name="Google Shape;1393;g3f9ebdf94e2_0_1074"/>
          <p:cNvSpPr txBox="1"/>
          <p:nvPr/>
        </p:nvSpPr>
        <p:spPr>
          <a:xfrm>
            <a:off x="311530" y="216169"/>
            <a:ext cx="4573500" cy="5724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000000"/>
                </a:solidFill>
                <a:latin typeface="Arial"/>
                <a:ea typeface="Arial"/>
                <a:cs typeface="Arial"/>
                <a:sym typeface="Arial"/>
              </a:rPr>
              <a:t>Cancer Cells in Space</a:t>
            </a:r>
            <a:endParaRPr b="0" i="0" sz="2500" u="none" cap="none" strike="noStrike">
              <a:solidFill>
                <a:srgbClr val="000000"/>
              </a:solidFill>
              <a:latin typeface="Arial"/>
              <a:ea typeface="Arial"/>
              <a:cs typeface="Arial"/>
              <a:sym typeface="Arial"/>
            </a:endParaRPr>
          </a:p>
        </p:txBody>
      </p:sp>
      <p:sp>
        <p:nvSpPr>
          <p:cNvPr id="1394" name="Google Shape;1394;g3f9ebdf94e2_0_1074"/>
          <p:cNvSpPr/>
          <p:nvPr/>
        </p:nvSpPr>
        <p:spPr>
          <a:xfrm>
            <a:off x="1753253" y="4605190"/>
            <a:ext cx="4821228" cy="324"/>
          </a:xfrm>
          <a:custGeom>
            <a:rect b="b" l="l" r="r" t="t"/>
            <a:pathLst>
              <a:path extrusionOk="0" h="21600" w="21600">
                <a:moveTo>
                  <a:pt x="0" y="0"/>
                </a:moveTo>
                <a:lnTo>
                  <a:pt x="21600" y="21600"/>
                </a:lnTo>
              </a:path>
            </a:pathLst>
          </a:custGeom>
          <a:noFill/>
          <a:ln cap="flat" cmpd="sng" w="17300">
            <a:solidFill>
              <a:srgbClr val="999999"/>
            </a:solidFill>
            <a:prstDash val="dashDot"/>
            <a:round/>
            <a:headEnd len="sm" w="sm" type="none"/>
            <a:tailEnd len="sm" w="sm" type="none"/>
          </a:ln>
        </p:spPr>
      </p:sp>
      <p:sp>
        <p:nvSpPr>
          <p:cNvPr id="1395" name="Google Shape;1395;g3f9ebdf94e2_0_1074"/>
          <p:cNvSpPr/>
          <p:nvPr/>
        </p:nvSpPr>
        <p:spPr>
          <a:xfrm rot="10800000">
            <a:off x="556772" y="1540977"/>
            <a:ext cx="324" cy="2073492"/>
          </a:xfrm>
          <a:custGeom>
            <a:rect b="b" l="l" r="r" t="t"/>
            <a:pathLst>
              <a:path extrusionOk="0" h="21600" w="21600">
                <a:moveTo>
                  <a:pt x="0" y="0"/>
                </a:moveTo>
                <a:lnTo>
                  <a:pt x="21600" y="21600"/>
                </a:lnTo>
              </a:path>
            </a:pathLst>
          </a:custGeom>
          <a:noFill/>
          <a:ln cap="flat" cmpd="sng" w="17300">
            <a:solidFill>
              <a:srgbClr val="999999"/>
            </a:solidFill>
            <a:prstDash val="dashDot"/>
            <a:round/>
            <a:headEnd len="sm" w="sm" type="none"/>
            <a:tailEnd len="sm" w="sm" type="none"/>
          </a:ln>
        </p:spPr>
      </p:sp>
      <p:pic>
        <p:nvPicPr>
          <p:cNvPr id="1396" name="Google Shape;1396;g3f9ebdf94e2_0_1074"/>
          <p:cNvPicPr preferRelativeResize="0"/>
          <p:nvPr/>
        </p:nvPicPr>
        <p:blipFill rotWithShape="1">
          <a:blip r:embed="rId3">
            <a:alphaModFix/>
          </a:blip>
          <a:srcRect b="0" l="0" r="0" t="0"/>
          <a:stretch/>
        </p:blipFill>
        <p:spPr>
          <a:xfrm>
            <a:off x="6574781" y="4357020"/>
            <a:ext cx="500259" cy="495687"/>
          </a:xfrm>
          <a:prstGeom prst="rect">
            <a:avLst/>
          </a:prstGeom>
          <a:noFill/>
          <a:ln>
            <a:noFill/>
          </a:ln>
        </p:spPr>
      </p:pic>
      <p:pic>
        <p:nvPicPr>
          <p:cNvPr id="1397" name="Google Shape;1397;g3f9ebdf94e2_0_1074"/>
          <p:cNvPicPr preferRelativeResize="0"/>
          <p:nvPr/>
        </p:nvPicPr>
        <p:blipFill rotWithShape="1">
          <a:blip r:embed="rId4">
            <a:alphaModFix/>
          </a:blip>
          <a:srcRect b="0" l="0" r="0" t="0"/>
          <a:stretch/>
        </p:blipFill>
        <p:spPr>
          <a:xfrm>
            <a:off x="306632" y="997905"/>
            <a:ext cx="500259" cy="542056"/>
          </a:xfrm>
          <a:prstGeom prst="rect">
            <a:avLst/>
          </a:prstGeom>
          <a:noFill/>
          <a:ln>
            <a:noFill/>
          </a:ln>
        </p:spPr>
      </p:pic>
      <p:pic>
        <p:nvPicPr>
          <p:cNvPr id="1398" name="Google Shape;1398;g3f9ebdf94e2_0_1074"/>
          <p:cNvPicPr preferRelativeResize="0"/>
          <p:nvPr/>
        </p:nvPicPr>
        <p:blipFill rotWithShape="1">
          <a:blip r:embed="rId3">
            <a:alphaModFix/>
          </a:blip>
          <a:srcRect b="0" l="0" r="0" t="0"/>
          <a:stretch/>
        </p:blipFill>
        <p:spPr>
          <a:xfrm>
            <a:off x="1538056" y="4498412"/>
            <a:ext cx="214863" cy="213230"/>
          </a:xfrm>
          <a:prstGeom prst="rect">
            <a:avLst/>
          </a:prstGeom>
          <a:noFill/>
          <a:ln>
            <a:noFill/>
          </a:ln>
        </p:spPr>
      </p:pic>
      <p:pic>
        <p:nvPicPr>
          <p:cNvPr id="1399" name="Google Shape;1399;g3f9ebdf94e2_0_1074"/>
          <p:cNvPicPr preferRelativeResize="0"/>
          <p:nvPr/>
        </p:nvPicPr>
        <p:blipFill rotWithShape="1">
          <a:blip r:embed="rId3">
            <a:alphaModFix/>
          </a:blip>
          <a:srcRect b="0" l="0" r="0" t="0"/>
          <a:stretch/>
        </p:blipFill>
        <p:spPr>
          <a:xfrm>
            <a:off x="306632" y="3614469"/>
            <a:ext cx="500259" cy="495687"/>
          </a:xfrm>
          <a:prstGeom prst="rect">
            <a:avLst/>
          </a:prstGeom>
          <a:noFill/>
          <a:ln>
            <a:noFill/>
          </a:ln>
        </p:spPr>
      </p:pic>
      <p:sp>
        <p:nvSpPr>
          <p:cNvPr id="1400" name="Google Shape;1400;g3f9ebdf94e2_0_1074"/>
          <p:cNvSpPr/>
          <p:nvPr/>
        </p:nvSpPr>
        <p:spPr>
          <a:xfrm>
            <a:off x="3122809" y="3961580"/>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10.600</a:t>
            </a:r>
            <a:endParaRPr b="0" i="0" sz="1600" u="none" cap="none" strike="noStrike">
              <a:solidFill>
                <a:srgbClr val="000000"/>
              </a:solidFill>
              <a:latin typeface="Arial"/>
              <a:ea typeface="Arial"/>
              <a:cs typeface="Arial"/>
              <a:sym typeface="Arial"/>
            </a:endParaRPr>
          </a:p>
        </p:txBody>
      </p:sp>
      <p:sp>
        <p:nvSpPr>
          <p:cNvPr id="1401" name="Google Shape;1401;g3f9ebdf94e2_0_1074"/>
          <p:cNvSpPr/>
          <p:nvPr/>
        </p:nvSpPr>
        <p:spPr>
          <a:xfrm>
            <a:off x="4251370" y="3961580"/>
            <a:ext cx="8946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13.080</a:t>
            </a:r>
            <a:endParaRPr b="0" i="0" sz="1600" u="none" cap="none" strike="noStrike">
              <a:solidFill>
                <a:srgbClr val="000000"/>
              </a:solidFill>
              <a:latin typeface="Arial"/>
              <a:ea typeface="Arial"/>
              <a:cs typeface="Arial"/>
              <a:sym typeface="Arial"/>
            </a:endParaRPr>
          </a:p>
        </p:txBody>
      </p:sp>
      <p:sp>
        <p:nvSpPr>
          <p:cNvPr id="1402" name="Google Shape;1402;g3f9ebdf94e2_0_1074"/>
          <p:cNvSpPr/>
          <p:nvPr/>
        </p:nvSpPr>
        <p:spPr>
          <a:xfrm>
            <a:off x="5146447" y="3961580"/>
            <a:ext cx="8946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17.190</a:t>
            </a:r>
            <a:endParaRPr b="0" i="0" sz="1600" u="none" cap="none" strike="noStrike">
              <a:solidFill>
                <a:srgbClr val="000000"/>
              </a:solidFill>
              <a:latin typeface="Arial"/>
              <a:ea typeface="Arial"/>
              <a:cs typeface="Arial"/>
              <a:sym typeface="Arial"/>
            </a:endParaRPr>
          </a:p>
        </p:txBody>
      </p:sp>
      <p:sp>
        <p:nvSpPr>
          <p:cNvPr id="1403" name="Google Shape;1403;g3f9ebdf94e2_0_1074"/>
          <p:cNvSpPr/>
          <p:nvPr/>
        </p:nvSpPr>
        <p:spPr>
          <a:xfrm>
            <a:off x="6174103" y="3961580"/>
            <a:ext cx="8946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21.100</a:t>
            </a:r>
            <a:endParaRPr b="0" i="0" sz="1600" u="none" cap="none" strike="noStrike">
              <a:solidFill>
                <a:srgbClr val="000000"/>
              </a:solidFill>
              <a:latin typeface="Arial"/>
              <a:ea typeface="Arial"/>
              <a:cs typeface="Arial"/>
              <a:sym typeface="Arial"/>
            </a:endParaRPr>
          </a:p>
        </p:txBody>
      </p:sp>
      <p:sp>
        <p:nvSpPr>
          <p:cNvPr id="1404" name="Google Shape;1404;g3f9ebdf94e2_0_1074"/>
          <p:cNvSpPr/>
          <p:nvPr/>
        </p:nvSpPr>
        <p:spPr>
          <a:xfrm>
            <a:off x="682165" y="3447933"/>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0.05580</a:t>
            </a:r>
            <a:endParaRPr b="0" i="0" sz="1600" u="none" cap="none" strike="noStrike">
              <a:solidFill>
                <a:srgbClr val="000000"/>
              </a:solidFill>
              <a:latin typeface="Arial"/>
              <a:ea typeface="Arial"/>
              <a:cs typeface="Arial"/>
              <a:sym typeface="Arial"/>
            </a:endParaRPr>
          </a:p>
        </p:txBody>
      </p:sp>
      <p:sp>
        <p:nvSpPr>
          <p:cNvPr id="1405" name="Google Shape;1405;g3f9ebdf94e2_0_1074"/>
          <p:cNvSpPr/>
          <p:nvPr/>
        </p:nvSpPr>
        <p:spPr>
          <a:xfrm>
            <a:off x="682165" y="3177558"/>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0.05661</a:t>
            </a:r>
            <a:endParaRPr b="0" i="0" sz="1600" u="none" cap="none" strike="noStrike">
              <a:solidFill>
                <a:srgbClr val="000000"/>
              </a:solidFill>
              <a:latin typeface="Arial"/>
              <a:ea typeface="Arial"/>
              <a:cs typeface="Arial"/>
              <a:sym typeface="Arial"/>
            </a:endParaRPr>
          </a:p>
        </p:txBody>
      </p:sp>
      <p:sp>
        <p:nvSpPr>
          <p:cNvPr id="1406" name="Google Shape;1406;g3f9ebdf94e2_0_1074"/>
          <p:cNvSpPr/>
          <p:nvPr/>
        </p:nvSpPr>
        <p:spPr>
          <a:xfrm>
            <a:off x="682165" y="2506193"/>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0.06491</a:t>
            </a:r>
            <a:endParaRPr b="0" i="0" sz="1600" u="none" cap="none" strike="noStrike">
              <a:solidFill>
                <a:srgbClr val="000000"/>
              </a:solidFill>
              <a:latin typeface="Arial"/>
              <a:ea typeface="Arial"/>
              <a:cs typeface="Arial"/>
              <a:sym typeface="Arial"/>
            </a:endParaRPr>
          </a:p>
        </p:txBody>
      </p:sp>
      <p:sp>
        <p:nvSpPr>
          <p:cNvPr id="1407" name="Google Shape;1407;g3f9ebdf94e2_0_1074"/>
          <p:cNvSpPr/>
          <p:nvPr/>
        </p:nvSpPr>
        <p:spPr>
          <a:xfrm>
            <a:off x="682165" y="1986994"/>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0.06811</a:t>
            </a:r>
            <a:endParaRPr b="0" i="0" sz="1600" u="none" cap="none" strike="noStrike">
              <a:solidFill>
                <a:srgbClr val="000000"/>
              </a:solidFill>
              <a:latin typeface="Arial"/>
              <a:ea typeface="Arial"/>
              <a:cs typeface="Arial"/>
              <a:sym typeface="Arial"/>
            </a:endParaRPr>
          </a:p>
        </p:txBody>
      </p:sp>
      <p:sp>
        <p:nvSpPr>
          <p:cNvPr id="1408" name="Google Shape;1408;g3f9ebdf94e2_0_1074"/>
          <p:cNvSpPr/>
          <p:nvPr/>
        </p:nvSpPr>
        <p:spPr>
          <a:xfrm>
            <a:off x="682165" y="1239871"/>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0.07818</a:t>
            </a:r>
            <a:endParaRPr b="0" i="0" sz="1600" u="none" cap="none" strike="noStrike">
              <a:solidFill>
                <a:srgbClr val="000000"/>
              </a:solidFill>
              <a:latin typeface="Arial"/>
              <a:ea typeface="Arial"/>
              <a:cs typeface="Arial"/>
              <a:sym typeface="Arial"/>
            </a:endParaRPr>
          </a:p>
        </p:txBody>
      </p:sp>
      <p:sp>
        <p:nvSpPr>
          <p:cNvPr id="1409" name="Google Shape;1409;g3f9ebdf94e2_0_1074"/>
          <p:cNvSpPr/>
          <p:nvPr/>
        </p:nvSpPr>
        <p:spPr>
          <a:xfrm>
            <a:off x="2430847" y="1332609"/>
            <a:ext cx="257400" cy="257400"/>
          </a:xfrm>
          <a:prstGeom prst="ellipse">
            <a:avLst/>
          </a:prstGeom>
          <a:solidFill>
            <a:srgbClr val="6D9EEB"/>
          </a:solidFill>
          <a:ln cap="flat" cmpd="sng" w="34600">
            <a:solidFill>
              <a:srgbClr val="0000FF"/>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cxnSp>
        <p:nvCxnSpPr>
          <p:cNvPr id="1410" name="Google Shape;1410;g3f9ebdf94e2_0_1074"/>
          <p:cNvCxnSpPr/>
          <p:nvPr/>
        </p:nvCxnSpPr>
        <p:spPr>
          <a:xfrm>
            <a:off x="1696433" y="3398952"/>
            <a:ext cx="4924800" cy="562800"/>
          </a:xfrm>
          <a:prstGeom prst="bentConnector2">
            <a:avLst/>
          </a:prstGeom>
          <a:noFill/>
          <a:ln cap="flat" cmpd="sng" w="17300">
            <a:solidFill>
              <a:srgbClr val="595959"/>
            </a:solidFill>
            <a:prstDash val="dashDot"/>
            <a:round/>
            <a:headEnd len="sm" w="sm" type="none"/>
            <a:tailEnd len="sm" w="sm" type="none"/>
          </a:ln>
        </p:spPr>
      </p:cxnSp>
      <p:sp>
        <p:nvSpPr>
          <p:cNvPr id="1411" name="Google Shape;1411;g3f9ebdf94e2_0_1074"/>
          <p:cNvSpPr/>
          <p:nvPr/>
        </p:nvSpPr>
        <p:spPr>
          <a:xfrm>
            <a:off x="6492817" y="3251030"/>
            <a:ext cx="257400" cy="257400"/>
          </a:xfrm>
          <a:prstGeom prst="ellipse">
            <a:avLst/>
          </a:prstGeom>
          <a:solidFill>
            <a:srgbClr val="EA9999"/>
          </a:solidFill>
          <a:ln cap="flat" cmpd="sng" w="34600">
            <a:solidFill>
              <a:srgbClr val="FF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cxnSp>
        <p:nvCxnSpPr>
          <p:cNvPr id="1412" name="Google Shape;1412;g3f9ebdf94e2_0_1074"/>
          <p:cNvCxnSpPr/>
          <p:nvPr/>
        </p:nvCxnSpPr>
        <p:spPr>
          <a:xfrm>
            <a:off x="1696433" y="3669327"/>
            <a:ext cx="3897000" cy="292200"/>
          </a:xfrm>
          <a:prstGeom prst="bentConnector2">
            <a:avLst/>
          </a:prstGeom>
          <a:noFill/>
          <a:ln cap="flat" cmpd="sng" w="17300">
            <a:solidFill>
              <a:srgbClr val="595959"/>
            </a:solidFill>
            <a:prstDash val="dashDot"/>
            <a:round/>
            <a:headEnd len="sm" w="sm" type="none"/>
            <a:tailEnd len="sm" w="sm" type="none"/>
          </a:ln>
        </p:spPr>
      </p:cxnSp>
      <p:sp>
        <p:nvSpPr>
          <p:cNvPr id="1413" name="Google Shape;1413;g3f9ebdf94e2_0_1074"/>
          <p:cNvSpPr/>
          <p:nvPr/>
        </p:nvSpPr>
        <p:spPr>
          <a:xfrm>
            <a:off x="5465161" y="3540344"/>
            <a:ext cx="257400" cy="257400"/>
          </a:xfrm>
          <a:prstGeom prst="ellipse">
            <a:avLst/>
          </a:prstGeom>
          <a:solidFill>
            <a:srgbClr val="EA9999"/>
          </a:solidFill>
          <a:ln cap="flat" cmpd="sng" w="34600">
            <a:solidFill>
              <a:srgbClr val="FF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cxnSp>
        <p:nvCxnSpPr>
          <p:cNvPr id="1414" name="Google Shape;1414;g3f9ebdf94e2_0_1074"/>
          <p:cNvCxnSpPr/>
          <p:nvPr/>
        </p:nvCxnSpPr>
        <p:spPr>
          <a:xfrm>
            <a:off x="1696433" y="2727587"/>
            <a:ext cx="1932900" cy="1233900"/>
          </a:xfrm>
          <a:prstGeom prst="bentConnector2">
            <a:avLst/>
          </a:prstGeom>
          <a:noFill/>
          <a:ln cap="flat" cmpd="sng" w="17300">
            <a:solidFill>
              <a:srgbClr val="595959"/>
            </a:solidFill>
            <a:prstDash val="dashDot"/>
            <a:round/>
            <a:headEnd len="sm" w="sm" type="none"/>
            <a:tailEnd len="sm" w="sm" type="none"/>
          </a:ln>
        </p:spPr>
      </p:cxnSp>
      <p:sp>
        <p:nvSpPr>
          <p:cNvPr id="1415" name="Google Shape;1415;g3f9ebdf94e2_0_1074"/>
          <p:cNvSpPr/>
          <p:nvPr/>
        </p:nvSpPr>
        <p:spPr>
          <a:xfrm>
            <a:off x="3516630" y="2598930"/>
            <a:ext cx="257400" cy="257400"/>
          </a:xfrm>
          <a:prstGeom prst="ellipse">
            <a:avLst/>
          </a:prstGeom>
          <a:solidFill>
            <a:srgbClr val="6D9EEB"/>
          </a:solidFill>
          <a:ln cap="flat" cmpd="sng" w="34600">
            <a:solidFill>
              <a:srgbClr val="0000FF"/>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cxnSp>
        <p:nvCxnSpPr>
          <p:cNvPr id="1416" name="Google Shape;1416;g3f9ebdf94e2_0_1074"/>
          <p:cNvCxnSpPr/>
          <p:nvPr/>
        </p:nvCxnSpPr>
        <p:spPr>
          <a:xfrm>
            <a:off x="1696433" y="2208388"/>
            <a:ext cx="3002100" cy="1752300"/>
          </a:xfrm>
          <a:prstGeom prst="bentConnector2">
            <a:avLst/>
          </a:prstGeom>
          <a:noFill/>
          <a:ln cap="flat" cmpd="sng" w="17300">
            <a:solidFill>
              <a:srgbClr val="595959"/>
            </a:solidFill>
            <a:prstDash val="dashDot"/>
            <a:round/>
            <a:headEnd len="sm" w="sm" type="none"/>
            <a:tailEnd len="sm" w="sm" type="none"/>
          </a:ln>
        </p:spPr>
      </p:cxnSp>
      <p:sp>
        <p:nvSpPr>
          <p:cNvPr id="1417" name="Google Shape;1417;g3f9ebdf94e2_0_1074"/>
          <p:cNvSpPr/>
          <p:nvPr/>
        </p:nvSpPr>
        <p:spPr>
          <a:xfrm>
            <a:off x="4570410" y="2079732"/>
            <a:ext cx="257400" cy="257400"/>
          </a:xfrm>
          <a:prstGeom prst="ellipse">
            <a:avLst/>
          </a:prstGeom>
          <a:solidFill>
            <a:srgbClr val="6D9EEB"/>
          </a:solidFill>
          <a:ln cap="flat" cmpd="sng" w="34600">
            <a:solidFill>
              <a:srgbClr val="0000FF"/>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graphicFrame>
        <p:nvGraphicFramePr>
          <p:cNvPr id="1418" name="Google Shape;1418;g3f9ebdf94e2_0_1074"/>
          <p:cNvGraphicFramePr/>
          <p:nvPr/>
        </p:nvGraphicFramePr>
        <p:xfrm>
          <a:off x="4885532" y="277885"/>
          <a:ext cx="3000000" cy="3000000"/>
        </p:xfrm>
        <a:graphic>
          <a:graphicData uri="http://schemas.openxmlformats.org/drawingml/2006/table">
            <a:tbl>
              <a:tblPr>
                <a:noFill/>
                <a:tableStyleId>{967FECD5-6A5C-4673-8E3D-DED955AC76FF}</a:tableStyleId>
              </a:tblPr>
              <a:tblGrid>
                <a:gridCol w="1089050"/>
                <a:gridCol w="715475"/>
                <a:gridCol w="1096550"/>
                <a:gridCol w="995675"/>
              </a:tblGrid>
              <a:tr h="451275">
                <a:tc>
                  <a:txBody>
                    <a:bodyPr/>
                    <a:lstStyle/>
                    <a:p>
                      <a:pPr indent="0" lvl="0" marL="0" marR="0" rtl="0" algn="ctr">
                        <a:lnSpc>
                          <a:spcPct val="100000"/>
                        </a:lnSpc>
                        <a:spcBef>
                          <a:spcPts val="0"/>
                        </a:spcBef>
                        <a:spcAft>
                          <a:spcPts val="0"/>
                        </a:spcAft>
                        <a:buClr>
                          <a:srgbClr val="000000"/>
                        </a:buClr>
                        <a:buSzPts val="1200"/>
                        <a:buFont typeface="Arial"/>
                        <a:buNone/>
                      </a:pPr>
                      <a:r>
                        <a:rPr b="1" lang="pt-BR" sz="1200" u="none" cap="none" strike="noStrike">
                          <a:solidFill>
                            <a:srgbClr val="000000"/>
                          </a:solidFill>
                          <a:latin typeface="Arial"/>
                          <a:ea typeface="Arial"/>
                          <a:cs typeface="Arial"/>
                          <a:sym typeface="Arial"/>
                        </a:rPr>
                        <a:t>name</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pt-BR" sz="1200" u="none" cap="none" strike="noStrike">
                          <a:solidFill>
                            <a:srgbClr val="000000"/>
                          </a:solidFill>
                          <a:latin typeface="Arial"/>
                          <a:ea typeface="Arial"/>
                          <a:cs typeface="Arial"/>
                          <a:sym typeface="Arial"/>
                        </a:rPr>
                        <a:t>radius</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pt-BR" sz="1200" u="none" cap="none" strike="noStrike">
                          <a:solidFill>
                            <a:srgbClr val="000000"/>
                          </a:solidFill>
                          <a:latin typeface="Arial"/>
                          <a:ea typeface="Arial"/>
                          <a:cs typeface="Arial"/>
                          <a:sym typeface="Arial"/>
                        </a:rPr>
                        <a:t>fractal dimension</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pt-BR" sz="1200" u="none" cap="none" strike="noStrike">
                          <a:solidFill>
                            <a:srgbClr val="000000"/>
                          </a:solidFill>
                          <a:latin typeface="Arial"/>
                          <a:ea typeface="Arial"/>
                          <a:cs typeface="Arial"/>
                          <a:sym typeface="Arial"/>
                        </a:rPr>
                        <a:t>diagnosis</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solidFill>
                      <a:srgbClr val="EFEFEF"/>
                    </a:solidFill>
                  </a:tcPr>
                </a:tc>
              </a:tr>
              <a:tr h="270375">
                <a:tc>
                  <a:txBody>
                    <a:bodyPr/>
                    <a:lstStyle/>
                    <a:p>
                      <a:pPr indent="0" lvl="0" marL="0" marR="0" rtl="0" algn="l">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862722</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6.981</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0.07818</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pt-BR" sz="1200" u="none" cap="none" strike="noStrike">
                          <a:solidFill>
                            <a:srgbClr val="0000FF"/>
                          </a:solidFill>
                          <a:latin typeface="Arial"/>
                          <a:ea typeface="Arial"/>
                          <a:cs typeface="Arial"/>
                          <a:sym typeface="Arial"/>
                        </a:rPr>
                        <a:t>B</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270375">
                <a:tc>
                  <a:txBody>
                    <a:bodyPr/>
                    <a:lstStyle/>
                    <a:p>
                      <a:pPr indent="0" lvl="0" marL="0" marR="0" rtl="0" algn="l">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9111157302</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21.100</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0.05661</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pt-BR" sz="1200" u="none" cap="none" strike="noStrike">
                          <a:solidFill>
                            <a:srgbClr val="FF0000"/>
                          </a:solidFill>
                          <a:latin typeface="Arial"/>
                          <a:ea typeface="Arial"/>
                          <a:cs typeface="Arial"/>
                          <a:sym typeface="Arial"/>
                        </a:rPr>
                        <a:t>M</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270375">
                <a:tc>
                  <a:txBody>
                    <a:bodyPr/>
                    <a:lstStyle/>
                    <a:p>
                      <a:pPr indent="0" lvl="0" marL="0" marR="0" rtl="0" algn="l">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889719</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17.190</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0.05580</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pt-BR" sz="1200" u="none" cap="none" strike="noStrike">
                          <a:solidFill>
                            <a:srgbClr val="FF0000"/>
                          </a:solidFill>
                          <a:latin typeface="Arial"/>
                          <a:ea typeface="Arial"/>
                          <a:cs typeface="Arial"/>
                          <a:sym typeface="Arial"/>
                        </a:rPr>
                        <a:t>M</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270375">
                <a:tc>
                  <a:txBody>
                    <a:bodyPr/>
                    <a:lstStyle/>
                    <a:p>
                      <a:pPr indent="0" lvl="0" marL="0" marR="0" rtl="0" algn="l">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8910251</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10.600</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0.06491</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pt-BR" sz="1200" u="none" cap="none" strike="noStrike">
                          <a:solidFill>
                            <a:srgbClr val="0000FF"/>
                          </a:solidFill>
                          <a:latin typeface="Arial"/>
                          <a:ea typeface="Arial"/>
                          <a:cs typeface="Arial"/>
                          <a:sym typeface="Arial"/>
                        </a:rPr>
                        <a:t>B</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r h="270700">
                <a:tc>
                  <a:txBody>
                    <a:bodyPr/>
                    <a:lstStyle/>
                    <a:p>
                      <a:pPr indent="0" lvl="0" marL="0" marR="0" rtl="0" algn="l">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8510653</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13.080</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200"/>
                        <a:buFont typeface="Arial"/>
                        <a:buNone/>
                      </a:pPr>
                      <a:r>
                        <a:rPr b="0" lang="pt-BR" sz="1200" u="none" cap="none" strike="noStrike">
                          <a:solidFill>
                            <a:srgbClr val="000000"/>
                          </a:solidFill>
                          <a:latin typeface="Arial"/>
                          <a:ea typeface="Arial"/>
                          <a:cs typeface="Arial"/>
                          <a:sym typeface="Arial"/>
                        </a:rPr>
                        <a:t>0.06811</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pt-BR" sz="1200" u="none" cap="none" strike="noStrike">
                          <a:solidFill>
                            <a:srgbClr val="0000FF"/>
                          </a:solidFill>
                          <a:latin typeface="Arial"/>
                          <a:ea typeface="Arial"/>
                          <a:cs typeface="Arial"/>
                          <a:sym typeface="Arial"/>
                        </a:rPr>
                        <a:t>B</a:t>
                      </a:r>
                      <a:endParaRPr b="0" sz="1200" u="none" cap="none" strike="noStrike">
                        <a:latin typeface="Arial"/>
                        <a:ea typeface="Arial"/>
                        <a:cs typeface="Arial"/>
                        <a:sym typeface="Arial"/>
                      </a:endParaRPr>
                    </a:p>
                  </a:txBody>
                  <a:tcPr marT="41475" marB="41475" marR="74800" marL="74800">
                    <a:lnL cap="flat" cmpd="sng" w="34600">
                      <a:solidFill>
                        <a:srgbClr val="000000"/>
                      </a:solidFill>
                      <a:prstDash val="solid"/>
                      <a:round/>
                      <a:headEnd len="sm" w="sm" type="none"/>
                      <a:tailEnd len="sm" w="sm" type="none"/>
                    </a:lnL>
                    <a:lnR cap="flat" cmpd="sng" w="34600">
                      <a:solidFill>
                        <a:srgbClr val="000000"/>
                      </a:solidFill>
                      <a:prstDash val="solid"/>
                      <a:round/>
                      <a:headEnd len="sm" w="sm" type="none"/>
                      <a:tailEnd len="sm" w="sm" type="none"/>
                    </a:lnR>
                    <a:lnT cap="flat" cmpd="sng" w="34600">
                      <a:solidFill>
                        <a:srgbClr val="000000"/>
                      </a:solidFill>
                      <a:prstDash val="solid"/>
                      <a:round/>
                      <a:headEnd len="sm" w="sm" type="none"/>
                      <a:tailEnd len="sm" w="sm" type="none"/>
                    </a:lnT>
                    <a:lnB cap="flat" cmpd="sng" w="34600">
                      <a:solidFill>
                        <a:srgbClr val="000000"/>
                      </a:solidFill>
                      <a:prstDash val="solid"/>
                      <a:round/>
                      <a:headEnd len="sm" w="sm" type="none"/>
                      <a:tailEnd len="sm" w="sm" type="none"/>
                    </a:lnB>
                  </a:tcPr>
                </a:tc>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g3f9ebdf94e2_0_1109"/>
          <p:cNvSpPr txBox="1"/>
          <p:nvPr/>
        </p:nvSpPr>
        <p:spPr>
          <a:xfrm>
            <a:off x="311530" y="444747"/>
            <a:ext cx="8519700" cy="5724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000000"/>
                </a:solidFill>
                <a:latin typeface="Arial"/>
                <a:ea typeface="Arial"/>
                <a:cs typeface="Arial"/>
                <a:sym typeface="Arial"/>
              </a:rPr>
              <a:t>Cancer Cells in Space (Orange)</a:t>
            </a:r>
            <a:endParaRPr b="0" i="0" sz="2500" u="none" cap="none" strike="noStrike">
              <a:solidFill>
                <a:srgbClr val="000000"/>
              </a:solidFill>
              <a:latin typeface="Arial"/>
              <a:ea typeface="Arial"/>
              <a:cs typeface="Arial"/>
              <a:sym typeface="Arial"/>
            </a:endParaRPr>
          </a:p>
        </p:txBody>
      </p:sp>
      <p:pic>
        <p:nvPicPr>
          <p:cNvPr id="1424" name="Google Shape;1424;g3f9ebdf94e2_0_1109"/>
          <p:cNvPicPr preferRelativeResize="0"/>
          <p:nvPr/>
        </p:nvPicPr>
        <p:blipFill rotWithShape="1">
          <a:blip r:embed="rId3">
            <a:alphaModFix/>
          </a:blip>
          <a:srcRect b="0" l="0" r="0" t="0"/>
          <a:stretch/>
        </p:blipFill>
        <p:spPr>
          <a:xfrm>
            <a:off x="1508993" y="1073663"/>
            <a:ext cx="6125233" cy="382019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
        <p:nvSpPr>
          <p:cNvPr id="1429" name="Google Shape;1429;g3f9ebdf94e2_0_1114"/>
          <p:cNvSpPr txBox="1"/>
          <p:nvPr/>
        </p:nvSpPr>
        <p:spPr>
          <a:xfrm>
            <a:off x="311530" y="292580"/>
            <a:ext cx="8519700" cy="5724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000000"/>
                </a:solidFill>
                <a:latin typeface="Arial"/>
                <a:ea typeface="Arial"/>
                <a:cs typeface="Arial"/>
                <a:sym typeface="Arial"/>
              </a:rPr>
              <a:t>Cancer Cells in Three Dimensional Space</a:t>
            </a:r>
            <a:endParaRPr b="0" i="0" sz="2500" u="none" cap="none" strike="noStrike">
              <a:solidFill>
                <a:srgbClr val="000000"/>
              </a:solidFill>
              <a:latin typeface="Arial"/>
              <a:ea typeface="Arial"/>
              <a:cs typeface="Arial"/>
              <a:sym typeface="Arial"/>
            </a:endParaRPr>
          </a:p>
        </p:txBody>
      </p:sp>
      <p:pic>
        <p:nvPicPr>
          <p:cNvPr id="1430" name="Google Shape;1430;g3f9ebdf94e2_0_1114"/>
          <p:cNvPicPr preferRelativeResize="0"/>
          <p:nvPr/>
        </p:nvPicPr>
        <p:blipFill rotWithShape="1">
          <a:blip r:embed="rId3">
            <a:alphaModFix/>
          </a:blip>
          <a:srcRect b="0" l="0" r="0" t="0"/>
          <a:stretch/>
        </p:blipFill>
        <p:spPr>
          <a:xfrm>
            <a:off x="2937001" y="909413"/>
            <a:ext cx="4686171" cy="3820189"/>
          </a:xfrm>
          <a:prstGeom prst="rect">
            <a:avLst/>
          </a:prstGeom>
          <a:noFill/>
          <a:ln>
            <a:noFill/>
          </a:ln>
        </p:spPr>
      </p:pic>
      <p:sp>
        <p:nvSpPr>
          <p:cNvPr id="1431" name="Google Shape;1431;g3f9ebdf94e2_0_1114"/>
          <p:cNvSpPr/>
          <p:nvPr/>
        </p:nvSpPr>
        <p:spPr>
          <a:xfrm>
            <a:off x="567546" y="4194403"/>
            <a:ext cx="2478000" cy="4149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(Wolberg et al., 1995)</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g3f9ebdf94e2_0_1120"/>
          <p:cNvSpPr txBox="1"/>
          <p:nvPr/>
        </p:nvSpPr>
        <p:spPr>
          <a:xfrm>
            <a:off x="311530" y="444747"/>
            <a:ext cx="8519700" cy="5724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000000"/>
                </a:solidFill>
                <a:latin typeface="Arial"/>
                <a:ea typeface="Arial"/>
                <a:cs typeface="Arial"/>
                <a:sym typeface="Arial"/>
              </a:rPr>
              <a:t>Dinosaurs in Space</a:t>
            </a:r>
            <a:endParaRPr b="0" i="0" sz="2500" u="none" cap="none" strike="noStrike">
              <a:solidFill>
                <a:srgbClr val="000000"/>
              </a:solidFill>
              <a:latin typeface="Arial"/>
              <a:ea typeface="Arial"/>
              <a:cs typeface="Arial"/>
              <a:sym typeface="Arial"/>
            </a:endParaRPr>
          </a:p>
        </p:txBody>
      </p:sp>
      <p:pic>
        <p:nvPicPr>
          <p:cNvPr id="1437" name="Google Shape;1437;g3f9ebdf94e2_0_1120"/>
          <p:cNvPicPr preferRelativeResize="0"/>
          <p:nvPr/>
        </p:nvPicPr>
        <p:blipFill rotWithShape="1">
          <a:blip r:embed="rId3">
            <a:alphaModFix/>
          </a:blip>
          <a:srcRect b="0" l="0" r="0" t="0"/>
          <a:stretch/>
        </p:blipFill>
        <p:spPr>
          <a:xfrm>
            <a:off x="463703" y="1082479"/>
            <a:ext cx="5931919" cy="3820187"/>
          </a:xfrm>
          <a:prstGeom prst="rect">
            <a:avLst/>
          </a:prstGeom>
          <a:noFill/>
          <a:ln>
            <a:noFill/>
          </a:ln>
        </p:spPr>
      </p:pic>
      <p:sp>
        <p:nvSpPr>
          <p:cNvPr id="1438" name="Google Shape;1438;g3f9ebdf94e2_0_1120"/>
          <p:cNvSpPr/>
          <p:nvPr/>
        </p:nvSpPr>
        <p:spPr>
          <a:xfrm>
            <a:off x="6527105" y="4394572"/>
            <a:ext cx="2262600" cy="4149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595959"/>
                </a:solidFill>
                <a:latin typeface="Arial"/>
                <a:ea typeface="Arial"/>
                <a:cs typeface="Arial"/>
                <a:sym typeface="Arial"/>
              </a:rPr>
              <a:t>(Benton et al., 2014)</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g3f9ebdf94e2_0_1126"/>
          <p:cNvSpPr/>
          <p:nvPr/>
        </p:nvSpPr>
        <p:spPr>
          <a:xfrm>
            <a:off x="1176890" y="746143"/>
            <a:ext cx="1061100" cy="442500"/>
          </a:xfrm>
          <a:prstGeom prst="rect">
            <a:avLst/>
          </a:prstGeom>
          <a:noFill/>
          <a:ln>
            <a:noFill/>
          </a:ln>
        </p:spPr>
        <p:txBody>
          <a:bodyPr anchorCtr="0" anchor="t" bIns="75100" lIns="75100" spcFirstLastPara="1" rIns="75100" wrap="square" tIns="75100">
            <a:noAutofit/>
          </a:bodyPr>
          <a:lstStyle/>
          <a:p>
            <a:pPr indent="0" lvl="0" marL="0" marR="0" rtl="0" algn="ctr">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radius</a:t>
            </a:r>
            <a:endParaRPr b="0" i="0" sz="1600" u="none" cap="none" strike="noStrike">
              <a:solidFill>
                <a:srgbClr val="000000"/>
              </a:solidFill>
              <a:latin typeface="Arial"/>
              <a:ea typeface="Arial"/>
              <a:cs typeface="Arial"/>
              <a:sym typeface="Arial"/>
            </a:endParaRPr>
          </a:p>
        </p:txBody>
      </p:sp>
      <p:sp>
        <p:nvSpPr>
          <p:cNvPr id="1444" name="Google Shape;1444;g3f9ebdf94e2_0_1126"/>
          <p:cNvSpPr/>
          <p:nvPr/>
        </p:nvSpPr>
        <p:spPr>
          <a:xfrm>
            <a:off x="7414345" y="3961580"/>
            <a:ext cx="1382400" cy="6858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fractal dimension</a:t>
            </a:r>
            <a:endParaRPr b="0" i="0" sz="1600" u="none" cap="none" strike="noStrike">
              <a:solidFill>
                <a:srgbClr val="000000"/>
              </a:solidFill>
              <a:latin typeface="Arial"/>
              <a:ea typeface="Arial"/>
              <a:cs typeface="Arial"/>
              <a:sym typeface="Arial"/>
            </a:endParaRPr>
          </a:p>
        </p:txBody>
      </p:sp>
      <p:sp>
        <p:nvSpPr>
          <p:cNvPr id="1445" name="Google Shape;1445;g3f9ebdf94e2_0_1126"/>
          <p:cNvSpPr/>
          <p:nvPr/>
        </p:nvSpPr>
        <p:spPr>
          <a:xfrm rot="10800000">
            <a:off x="1695783" y="1126213"/>
            <a:ext cx="324" cy="3017250"/>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446" name="Google Shape;1446;g3f9ebdf94e2_0_1126"/>
          <p:cNvSpPr/>
          <p:nvPr/>
        </p:nvSpPr>
        <p:spPr>
          <a:xfrm>
            <a:off x="1115172" y="3961254"/>
            <a:ext cx="6342894" cy="32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447" name="Google Shape;1447;g3f9ebdf94e2_0_1126"/>
          <p:cNvSpPr/>
          <p:nvPr/>
        </p:nvSpPr>
        <p:spPr>
          <a:xfrm>
            <a:off x="2170259" y="3961580"/>
            <a:ext cx="7782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6.981</a:t>
            </a:r>
            <a:endParaRPr b="0" i="0" sz="1600" u="none" cap="none" strike="noStrike">
              <a:solidFill>
                <a:srgbClr val="000000"/>
              </a:solidFill>
              <a:latin typeface="Arial"/>
              <a:ea typeface="Arial"/>
              <a:cs typeface="Arial"/>
              <a:sym typeface="Arial"/>
            </a:endParaRPr>
          </a:p>
        </p:txBody>
      </p:sp>
      <p:sp>
        <p:nvSpPr>
          <p:cNvPr id="1448" name="Google Shape;1448;g3f9ebdf94e2_0_1126"/>
          <p:cNvSpPr txBox="1"/>
          <p:nvPr/>
        </p:nvSpPr>
        <p:spPr>
          <a:xfrm>
            <a:off x="311530" y="216169"/>
            <a:ext cx="8222700" cy="5724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2500"/>
              <a:buFont typeface="Arial"/>
              <a:buNone/>
            </a:pPr>
            <a:r>
              <a:rPr b="0" i="0" lang="pt-BR" sz="2500" u="none" cap="none" strike="noStrike">
                <a:solidFill>
                  <a:srgbClr val="000000"/>
                </a:solidFill>
                <a:latin typeface="Arial"/>
                <a:ea typeface="Arial"/>
                <a:cs typeface="Arial"/>
                <a:sym typeface="Arial"/>
              </a:rPr>
              <a:t>Distance Between Cancer Cells </a:t>
            </a:r>
            <a:endParaRPr b="0" i="0" sz="2500" u="none" cap="none" strike="noStrike">
              <a:solidFill>
                <a:srgbClr val="000000"/>
              </a:solidFill>
              <a:latin typeface="Arial"/>
              <a:ea typeface="Arial"/>
              <a:cs typeface="Arial"/>
              <a:sym typeface="Arial"/>
            </a:endParaRPr>
          </a:p>
        </p:txBody>
      </p:sp>
      <p:sp>
        <p:nvSpPr>
          <p:cNvPr id="1449" name="Google Shape;1449;g3f9ebdf94e2_0_1126"/>
          <p:cNvSpPr/>
          <p:nvPr/>
        </p:nvSpPr>
        <p:spPr>
          <a:xfrm>
            <a:off x="1753253" y="4605190"/>
            <a:ext cx="4821228" cy="324"/>
          </a:xfrm>
          <a:custGeom>
            <a:rect b="b" l="l" r="r" t="t"/>
            <a:pathLst>
              <a:path extrusionOk="0" h="21600" w="21600">
                <a:moveTo>
                  <a:pt x="0" y="0"/>
                </a:moveTo>
                <a:lnTo>
                  <a:pt x="21600" y="21600"/>
                </a:lnTo>
              </a:path>
            </a:pathLst>
          </a:custGeom>
          <a:noFill/>
          <a:ln cap="flat" cmpd="sng" w="17300">
            <a:solidFill>
              <a:srgbClr val="999999"/>
            </a:solidFill>
            <a:prstDash val="dashDot"/>
            <a:round/>
            <a:headEnd len="sm" w="sm" type="none"/>
            <a:tailEnd len="sm" w="sm" type="none"/>
          </a:ln>
        </p:spPr>
      </p:sp>
      <p:sp>
        <p:nvSpPr>
          <p:cNvPr id="1450" name="Google Shape;1450;g3f9ebdf94e2_0_1126"/>
          <p:cNvSpPr/>
          <p:nvPr/>
        </p:nvSpPr>
        <p:spPr>
          <a:xfrm rot="10800000">
            <a:off x="556772" y="1540977"/>
            <a:ext cx="324" cy="2073492"/>
          </a:xfrm>
          <a:custGeom>
            <a:rect b="b" l="l" r="r" t="t"/>
            <a:pathLst>
              <a:path extrusionOk="0" h="21600" w="21600">
                <a:moveTo>
                  <a:pt x="0" y="0"/>
                </a:moveTo>
                <a:lnTo>
                  <a:pt x="21600" y="21600"/>
                </a:lnTo>
              </a:path>
            </a:pathLst>
          </a:custGeom>
          <a:noFill/>
          <a:ln cap="flat" cmpd="sng" w="17300">
            <a:solidFill>
              <a:srgbClr val="999999"/>
            </a:solidFill>
            <a:prstDash val="dashDot"/>
            <a:round/>
            <a:headEnd len="sm" w="sm" type="none"/>
            <a:tailEnd len="sm" w="sm" type="none"/>
          </a:ln>
        </p:spPr>
      </p:sp>
      <p:pic>
        <p:nvPicPr>
          <p:cNvPr id="1451" name="Google Shape;1451;g3f9ebdf94e2_0_1126"/>
          <p:cNvPicPr preferRelativeResize="0"/>
          <p:nvPr/>
        </p:nvPicPr>
        <p:blipFill rotWithShape="1">
          <a:blip r:embed="rId3">
            <a:alphaModFix/>
          </a:blip>
          <a:srcRect b="0" l="0" r="0" t="0"/>
          <a:stretch/>
        </p:blipFill>
        <p:spPr>
          <a:xfrm>
            <a:off x="6574781" y="4357020"/>
            <a:ext cx="500259" cy="495687"/>
          </a:xfrm>
          <a:prstGeom prst="rect">
            <a:avLst/>
          </a:prstGeom>
          <a:noFill/>
          <a:ln>
            <a:noFill/>
          </a:ln>
        </p:spPr>
      </p:pic>
      <p:pic>
        <p:nvPicPr>
          <p:cNvPr id="1452" name="Google Shape;1452;g3f9ebdf94e2_0_1126"/>
          <p:cNvPicPr preferRelativeResize="0"/>
          <p:nvPr/>
        </p:nvPicPr>
        <p:blipFill rotWithShape="1">
          <a:blip r:embed="rId4">
            <a:alphaModFix/>
          </a:blip>
          <a:srcRect b="0" l="0" r="0" t="0"/>
          <a:stretch/>
        </p:blipFill>
        <p:spPr>
          <a:xfrm>
            <a:off x="306632" y="997905"/>
            <a:ext cx="500259" cy="542056"/>
          </a:xfrm>
          <a:prstGeom prst="rect">
            <a:avLst/>
          </a:prstGeom>
          <a:noFill/>
          <a:ln>
            <a:noFill/>
          </a:ln>
        </p:spPr>
      </p:pic>
      <p:pic>
        <p:nvPicPr>
          <p:cNvPr id="1453" name="Google Shape;1453;g3f9ebdf94e2_0_1126"/>
          <p:cNvPicPr preferRelativeResize="0"/>
          <p:nvPr/>
        </p:nvPicPr>
        <p:blipFill rotWithShape="1">
          <a:blip r:embed="rId3">
            <a:alphaModFix/>
          </a:blip>
          <a:srcRect b="0" l="0" r="0" t="0"/>
          <a:stretch/>
        </p:blipFill>
        <p:spPr>
          <a:xfrm>
            <a:off x="1538056" y="4498412"/>
            <a:ext cx="214863" cy="213230"/>
          </a:xfrm>
          <a:prstGeom prst="rect">
            <a:avLst/>
          </a:prstGeom>
          <a:noFill/>
          <a:ln>
            <a:noFill/>
          </a:ln>
        </p:spPr>
      </p:pic>
      <p:pic>
        <p:nvPicPr>
          <p:cNvPr id="1454" name="Google Shape;1454;g3f9ebdf94e2_0_1126"/>
          <p:cNvPicPr preferRelativeResize="0"/>
          <p:nvPr/>
        </p:nvPicPr>
        <p:blipFill rotWithShape="1">
          <a:blip r:embed="rId3">
            <a:alphaModFix/>
          </a:blip>
          <a:srcRect b="0" l="0" r="0" t="0"/>
          <a:stretch/>
        </p:blipFill>
        <p:spPr>
          <a:xfrm>
            <a:off x="306632" y="3614469"/>
            <a:ext cx="500259" cy="495687"/>
          </a:xfrm>
          <a:prstGeom prst="rect">
            <a:avLst/>
          </a:prstGeom>
          <a:noFill/>
          <a:ln>
            <a:noFill/>
          </a:ln>
        </p:spPr>
      </p:pic>
      <p:sp>
        <p:nvSpPr>
          <p:cNvPr id="1455" name="Google Shape;1455;g3f9ebdf94e2_0_1126"/>
          <p:cNvSpPr/>
          <p:nvPr/>
        </p:nvSpPr>
        <p:spPr>
          <a:xfrm>
            <a:off x="3122809" y="3961580"/>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10.600</a:t>
            </a:r>
            <a:endParaRPr b="0" i="0" sz="1600" u="none" cap="none" strike="noStrike">
              <a:solidFill>
                <a:srgbClr val="000000"/>
              </a:solidFill>
              <a:latin typeface="Arial"/>
              <a:ea typeface="Arial"/>
              <a:cs typeface="Arial"/>
              <a:sym typeface="Arial"/>
            </a:endParaRPr>
          </a:p>
        </p:txBody>
      </p:sp>
      <p:sp>
        <p:nvSpPr>
          <p:cNvPr id="1456" name="Google Shape;1456;g3f9ebdf94e2_0_1126"/>
          <p:cNvSpPr/>
          <p:nvPr/>
        </p:nvSpPr>
        <p:spPr>
          <a:xfrm>
            <a:off x="4251370" y="3961580"/>
            <a:ext cx="8946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13.080</a:t>
            </a:r>
            <a:endParaRPr b="0" i="0" sz="1600" u="none" cap="none" strike="noStrike">
              <a:solidFill>
                <a:srgbClr val="000000"/>
              </a:solidFill>
              <a:latin typeface="Arial"/>
              <a:ea typeface="Arial"/>
              <a:cs typeface="Arial"/>
              <a:sym typeface="Arial"/>
            </a:endParaRPr>
          </a:p>
        </p:txBody>
      </p:sp>
      <p:sp>
        <p:nvSpPr>
          <p:cNvPr id="1457" name="Google Shape;1457;g3f9ebdf94e2_0_1126"/>
          <p:cNvSpPr/>
          <p:nvPr/>
        </p:nvSpPr>
        <p:spPr>
          <a:xfrm>
            <a:off x="5146447" y="3961580"/>
            <a:ext cx="8946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17.190</a:t>
            </a:r>
            <a:endParaRPr b="0" i="0" sz="1600" u="none" cap="none" strike="noStrike">
              <a:solidFill>
                <a:srgbClr val="000000"/>
              </a:solidFill>
              <a:latin typeface="Arial"/>
              <a:ea typeface="Arial"/>
              <a:cs typeface="Arial"/>
              <a:sym typeface="Arial"/>
            </a:endParaRPr>
          </a:p>
        </p:txBody>
      </p:sp>
      <p:sp>
        <p:nvSpPr>
          <p:cNvPr id="1458" name="Google Shape;1458;g3f9ebdf94e2_0_1126"/>
          <p:cNvSpPr/>
          <p:nvPr/>
        </p:nvSpPr>
        <p:spPr>
          <a:xfrm>
            <a:off x="6174103" y="3961580"/>
            <a:ext cx="8946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21.100</a:t>
            </a:r>
            <a:endParaRPr b="0" i="0" sz="1600" u="none" cap="none" strike="noStrike">
              <a:solidFill>
                <a:srgbClr val="000000"/>
              </a:solidFill>
              <a:latin typeface="Arial"/>
              <a:ea typeface="Arial"/>
              <a:cs typeface="Arial"/>
              <a:sym typeface="Arial"/>
            </a:endParaRPr>
          </a:p>
        </p:txBody>
      </p:sp>
      <p:sp>
        <p:nvSpPr>
          <p:cNvPr id="1459" name="Google Shape;1459;g3f9ebdf94e2_0_1126"/>
          <p:cNvSpPr/>
          <p:nvPr/>
        </p:nvSpPr>
        <p:spPr>
          <a:xfrm>
            <a:off x="682165" y="3447933"/>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0.05580</a:t>
            </a:r>
            <a:endParaRPr b="0" i="0" sz="1600" u="none" cap="none" strike="noStrike">
              <a:solidFill>
                <a:srgbClr val="000000"/>
              </a:solidFill>
              <a:latin typeface="Arial"/>
              <a:ea typeface="Arial"/>
              <a:cs typeface="Arial"/>
              <a:sym typeface="Arial"/>
            </a:endParaRPr>
          </a:p>
        </p:txBody>
      </p:sp>
      <p:sp>
        <p:nvSpPr>
          <p:cNvPr id="1460" name="Google Shape;1460;g3f9ebdf94e2_0_1126"/>
          <p:cNvSpPr/>
          <p:nvPr/>
        </p:nvSpPr>
        <p:spPr>
          <a:xfrm>
            <a:off x="682165" y="3177558"/>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0.05661</a:t>
            </a:r>
            <a:endParaRPr b="0" i="0" sz="1600" u="none" cap="none" strike="noStrike">
              <a:solidFill>
                <a:srgbClr val="000000"/>
              </a:solidFill>
              <a:latin typeface="Arial"/>
              <a:ea typeface="Arial"/>
              <a:cs typeface="Arial"/>
              <a:sym typeface="Arial"/>
            </a:endParaRPr>
          </a:p>
        </p:txBody>
      </p:sp>
      <p:sp>
        <p:nvSpPr>
          <p:cNvPr id="1461" name="Google Shape;1461;g3f9ebdf94e2_0_1126"/>
          <p:cNvSpPr/>
          <p:nvPr/>
        </p:nvSpPr>
        <p:spPr>
          <a:xfrm>
            <a:off x="682165" y="2506193"/>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0.06491</a:t>
            </a:r>
            <a:endParaRPr b="0" i="0" sz="1600" u="none" cap="none" strike="noStrike">
              <a:solidFill>
                <a:srgbClr val="000000"/>
              </a:solidFill>
              <a:latin typeface="Arial"/>
              <a:ea typeface="Arial"/>
              <a:cs typeface="Arial"/>
              <a:sym typeface="Arial"/>
            </a:endParaRPr>
          </a:p>
        </p:txBody>
      </p:sp>
      <p:sp>
        <p:nvSpPr>
          <p:cNvPr id="1462" name="Google Shape;1462;g3f9ebdf94e2_0_1126"/>
          <p:cNvSpPr/>
          <p:nvPr/>
        </p:nvSpPr>
        <p:spPr>
          <a:xfrm>
            <a:off x="682165" y="1986994"/>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0.06811</a:t>
            </a:r>
            <a:endParaRPr b="0" i="0" sz="1600" u="none" cap="none" strike="noStrike">
              <a:solidFill>
                <a:srgbClr val="000000"/>
              </a:solidFill>
              <a:latin typeface="Arial"/>
              <a:ea typeface="Arial"/>
              <a:cs typeface="Arial"/>
              <a:sym typeface="Arial"/>
            </a:endParaRPr>
          </a:p>
        </p:txBody>
      </p:sp>
      <p:sp>
        <p:nvSpPr>
          <p:cNvPr id="1463" name="Google Shape;1463;g3f9ebdf94e2_0_1126"/>
          <p:cNvSpPr/>
          <p:nvPr/>
        </p:nvSpPr>
        <p:spPr>
          <a:xfrm>
            <a:off x="682165" y="1239871"/>
            <a:ext cx="1014000" cy="442500"/>
          </a:xfrm>
          <a:prstGeom prst="rect">
            <a:avLst/>
          </a:prstGeom>
          <a:noFill/>
          <a:ln>
            <a:noFill/>
          </a:ln>
        </p:spPr>
        <p:txBody>
          <a:bodyPr anchorCtr="0" anchor="t" bIns="75100" lIns="75100" spcFirstLastPara="1" rIns="75100" wrap="square" tIns="75100">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Arial"/>
                <a:ea typeface="Arial"/>
                <a:cs typeface="Arial"/>
                <a:sym typeface="Arial"/>
              </a:rPr>
              <a:t>0.07818</a:t>
            </a:r>
            <a:endParaRPr b="0" i="0" sz="1600" u="none" cap="none" strike="noStrike">
              <a:solidFill>
                <a:srgbClr val="000000"/>
              </a:solidFill>
              <a:latin typeface="Arial"/>
              <a:ea typeface="Arial"/>
              <a:cs typeface="Arial"/>
              <a:sym typeface="Arial"/>
            </a:endParaRPr>
          </a:p>
        </p:txBody>
      </p:sp>
      <p:sp>
        <p:nvSpPr>
          <p:cNvPr id="1464" name="Google Shape;1464;g3f9ebdf94e2_0_1126"/>
          <p:cNvSpPr/>
          <p:nvPr/>
        </p:nvSpPr>
        <p:spPr>
          <a:xfrm>
            <a:off x="2430847" y="1332609"/>
            <a:ext cx="257400" cy="257400"/>
          </a:xfrm>
          <a:prstGeom prst="ellipse">
            <a:avLst/>
          </a:prstGeom>
          <a:solidFill>
            <a:srgbClr val="6D9EEB"/>
          </a:solidFill>
          <a:ln cap="flat" cmpd="sng" w="34600">
            <a:solidFill>
              <a:srgbClr val="0000FF"/>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465" name="Google Shape;1465;g3f9ebdf94e2_0_1126"/>
          <p:cNvSpPr/>
          <p:nvPr/>
        </p:nvSpPr>
        <p:spPr>
          <a:xfrm>
            <a:off x="6492817" y="3251030"/>
            <a:ext cx="257400" cy="257400"/>
          </a:xfrm>
          <a:prstGeom prst="ellipse">
            <a:avLst/>
          </a:prstGeom>
          <a:solidFill>
            <a:srgbClr val="EA9999"/>
          </a:solidFill>
          <a:ln cap="flat" cmpd="sng" w="34600">
            <a:solidFill>
              <a:srgbClr val="FF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466" name="Google Shape;1466;g3f9ebdf94e2_0_1126"/>
          <p:cNvSpPr/>
          <p:nvPr/>
        </p:nvSpPr>
        <p:spPr>
          <a:xfrm>
            <a:off x="5465161" y="3540344"/>
            <a:ext cx="257400" cy="257400"/>
          </a:xfrm>
          <a:prstGeom prst="ellipse">
            <a:avLst/>
          </a:prstGeom>
          <a:solidFill>
            <a:srgbClr val="EA9999"/>
          </a:solidFill>
          <a:ln cap="flat" cmpd="sng" w="34600">
            <a:solidFill>
              <a:srgbClr val="FF0000"/>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467" name="Google Shape;1467;g3f9ebdf94e2_0_1126"/>
          <p:cNvSpPr/>
          <p:nvPr/>
        </p:nvSpPr>
        <p:spPr>
          <a:xfrm>
            <a:off x="3516630" y="2598930"/>
            <a:ext cx="257400" cy="257400"/>
          </a:xfrm>
          <a:prstGeom prst="ellipse">
            <a:avLst/>
          </a:prstGeom>
          <a:solidFill>
            <a:srgbClr val="6D9EEB"/>
          </a:solidFill>
          <a:ln cap="flat" cmpd="sng" w="34600">
            <a:solidFill>
              <a:srgbClr val="0000FF"/>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468" name="Google Shape;1468;g3f9ebdf94e2_0_1126"/>
          <p:cNvSpPr/>
          <p:nvPr/>
        </p:nvSpPr>
        <p:spPr>
          <a:xfrm>
            <a:off x="4570410" y="2079732"/>
            <a:ext cx="257400" cy="257400"/>
          </a:xfrm>
          <a:prstGeom prst="ellipse">
            <a:avLst/>
          </a:prstGeom>
          <a:solidFill>
            <a:srgbClr val="6D9EEB"/>
          </a:solidFill>
          <a:ln cap="flat" cmpd="sng" w="34600">
            <a:solidFill>
              <a:srgbClr val="0000FF"/>
            </a:solidFill>
            <a:prstDash val="solid"/>
            <a:round/>
            <a:headEnd len="sm" w="sm" type="none"/>
            <a:tailEnd len="sm" w="sm" type="none"/>
          </a:ln>
        </p:spPr>
        <p:txBody>
          <a:bodyPr anchorCtr="0" anchor="ctr" bIns="82925" lIns="82925" spcFirstLastPara="1" rIns="82925" wrap="square" tIns="829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469" name="Google Shape;1469;g3f9ebdf94e2_0_1126"/>
          <p:cNvSpPr/>
          <p:nvPr/>
        </p:nvSpPr>
        <p:spPr>
          <a:xfrm flipH="1" rot="10800000">
            <a:off x="3774280" y="2247488"/>
            <a:ext cx="833706" cy="427464"/>
          </a:xfrm>
          <a:custGeom>
            <a:rect b="b" l="l" r="r" t="t"/>
            <a:pathLst>
              <a:path extrusionOk="0" h="21600" w="21600">
                <a:moveTo>
                  <a:pt x="0" y="0"/>
                </a:moveTo>
                <a:lnTo>
                  <a:pt x="21600" y="21600"/>
                </a:lnTo>
              </a:path>
            </a:pathLst>
          </a:custGeom>
          <a:noFill/>
          <a:ln cap="flat" cmpd="sng" w="25775">
            <a:solidFill>
              <a:srgbClr val="6AA84F"/>
            </a:solidFill>
            <a:prstDash val="solid"/>
            <a:round/>
            <a:headEnd len="sm" w="sm" type="none"/>
            <a:tailEnd len="sm" w="sm" type="none"/>
          </a:ln>
        </p:spPr>
      </p:sp>
      <p:sp>
        <p:nvSpPr>
          <p:cNvPr id="1470" name="Google Shape;1470;g3f9ebdf94e2_0_1126"/>
          <p:cNvSpPr/>
          <p:nvPr/>
        </p:nvSpPr>
        <p:spPr>
          <a:xfrm>
            <a:off x="3774279" y="2727587"/>
            <a:ext cx="1690902" cy="941760"/>
          </a:xfrm>
          <a:custGeom>
            <a:rect b="b" l="l" r="r" t="t"/>
            <a:pathLst>
              <a:path extrusionOk="0" h="21600" w="21600">
                <a:moveTo>
                  <a:pt x="0" y="0"/>
                </a:moveTo>
                <a:lnTo>
                  <a:pt x="21600" y="21600"/>
                </a:lnTo>
              </a:path>
            </a:pathLst>
          </a:custGeom>
          <a:noFill/>
          <a:ln cap="flat" cmpd="sng" w="25775">
            <a:solidFill>
              <a:srgbClr val="6AA84F"/>
            </a:solidFill>
            <a:prstDash val="solid"/>
            <a:round/>
            <a:headEnd len="sm" w="sm" type="none"/>
            <a:tailEnd len="sm" w="sm" type="none"/>
          </a:ln>
        </p:spPr>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g3f9ebdf94e2_0_1157"/>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Comparison with Descriptors</a:t>
            </a:r>
            <a:endParaRPr b="1" i="0" sz="3000" u="none" cap="none" strike="noStrike">
              <a:solidFill>
                <a:srgbClr val="252323"/>
              </a:solidFill>
              <a:latin typeface="Comfortaa"/>
              <a:ea typeface="Comfortaa"/>
              <a:cs typeface="Comfortaa"/>
              <a:sym typeface="Comfortaa"/>
            </a:endParaRPr>
          </a:p>
        </p:txBody>
      </p:sp>
      <p:sp>
        <p:nvSpPr>
          <p:cNvPr id="1476" name="Google Shape;1476;g3f9ebdf94e2_0_1157"/>
          <p:cNvSpPr txBox="1"/>
          <p:nvPr/>
        </p:nvSpPr>
        <p:spPr>
          <a:xfrm>
            <a:off x="457172" y="1203299"/>
            <a:ext cx="8228700" cy="59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pt-BR" sz="2200" u="none" cap="none" strike="noStrike">
                <a:solidFill>
                  <a:srgbClr val="252323"/>
                </a:solidFill>
                <a:latin typeface="Comfortaa"/>
                <a:ea typeface="Comfortaa"/>
                <a:cs typeface="Comfortaa"/>
                <a:sym typeface="Comfortaa"/>
              </a:rPr>
              <a:t>Is a queen more similar to a woman or a man?</a:t>
            </a:r>
            <a:endParaRPr b="0" i="0" sz="2200" u="none" cap="none" strike="noStrike">
              <a:solidFill>
                <a:srgbClr val="252323"/>
              </a:solidFill>
              <a:latin typeface="Comfortaa"/>
              <a:ea typeface="Comfortaa"/>
              <a:cs typeface="Comfortaa"/>
              <a:sym typeface="Comfortaa"/>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sp>
        <p:nvSpPr>
          <p:cNvPr id="1481" name="Google Shape;1481;g3f9ebdf94e2_0_1162"/>
          <p:cNvSpPr/>
          <p:nvPr/>
        </p:nvSpPr>
        <p:spPr>
          <a:xfrm rot="10800000">
            <a:off x="782093" y="1278440"/>
            <a:ext cx="324" cy="301784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482" name="Google Shape;1482;g3f9ebdf94e2_0_1162"/>
          <p:cNvSpPr/>
          <p:nvPr/>
        </p:nvSpPr>
        <p:spPr>
          <a:xfrm>
            <a:off x="581914" y="4114727"/>
            <a:ext cx="6343920" cy="32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cxnSp>
        <p:nvCxnSpPr>
          <p:cNvPr id="1483" name="Google Shape;1483;g3f9ebdf94e2_0_1162"/>
          <p:cNvCxnSpPr/>
          <p:nvPr/>
        </p:nvCxnSpPr>
        <p:spPr>
          <a:xfrm>
            <a:off x="785356" y="3102128"/>
            <a:ext cx="1173900" cy="1012500"/>
          </a:xfrm>
          <a:prstGeom prst="bentConnector2">
            <a:avLst/>
          </a:prstGeom>
          <a:noFill/>
          <a:ln cap="flat" cmpd="sng" w="17300">
            <a:solidFill>
              <a:srgbClr val="595959"/>
            </a:solidFill>
            <a:prstDash val="dashDot"/>
            <a:round/>
            <a:headEnd len="sm" w="sm" type="none"/>
            <a:tailEnd len="sm" w="sm" type="none"/>
          </a:ln>
        </p:spPr>
      </p:cxnSp>
      <p:sp>
        <p:nvSpPr>
          <p:cNvPr id="1484" name="Google Shape;1484;g3f9ebdf94e2_0_1162"/>
          <p:cNvSpPr txBox="1"/>
          <p:nvPr/>
        </p:nvSpPr>
        <p:spPr>
          <a:xfrm>
            <a:off x="282793" y="77390"/>
            <a:ext cx="5275200" cy="5193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3100"/>
              <a:buFont typeface="Arial"/>
              <a:buNone/>
            </a:pPr>
            <a:r>
              <a:rPr b="1" i="0" lang="pt-BR" sz="3100" u="none" cap="none" strike="noStrike">
                <a:solidFill>
                  <a:srgbClr val="000000"/>
                </a:solidFill>
                <a:latin typeface="Comfortaa"/>
                <a:ea typeface="Comfortaa"/>
                <a:cs typeface="Comfortaa"/>
                <a:sym typeface="Comfortaa"/>
              </a:rPr>
              <a:t>Profiles in the Space</a:t>
            </a:r>
            <a:endParaRPr b="1" i="0" sz="3100" u="none" cap="none" strike="noStrike">
              <a:solidFill>
                <a:srgbClr val="252323"/>
              </a:solidFill>
              <a:latin typeface="Comfortaa"/>
              <a:ea typeface="Comfortaa"/>
              <a:cs typeface="Comfortaa"/>
              <a:sym typeface="Comfortaa"/>
            </a:endParaRPr>
          </a:p>
        </p:txBody>
      </p:sp>
      <p:sp>
        <p:nvSpPr>
          <p:cNvPr id="1485" name="Google Shape;1485;g3f9ebdf94e2_0_1162"/>
          <p:cNvSpPr/>
          <p:nvPr/>
        </p:nvSpPr>
        <p:spPr>
          <a:xfrm>
            <a:off x="338960" y="898637"/>
            <a:ext cx="967200" cy="4428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female</a:t>
            </a:r>
            <a:endParaRPr b="0" i="0" sz="1800" u="none" cap="none" strike="noStrike">
              <a:solidFill>
                <a:srgbClr val="000000"/>
              </a:solidFill>
              <a:latin typeface="Arial"/>
              <a:ea typeface="Arial"/>
              <a:cs typeface="Arial"/>
              <a:sym typeface="Arial"/>
            </a:endParaRPr>
          </a:p>
        </p:txBody>
      </p:sp>
      <p:sp>
        <p:nvSpPr>
          <p:cNvPr id="1486" name="Google Shape;1486;g3f9ebdf94e2_0_1162"/>
          <p:cNvSpPr/>
          <p:nvPr/>
        </p:nvSpPr>
        <p:spPr>
          <a:xfrm>
            <a:off x="6725648" y="4114727"/>
            <a:ext cx="948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royalty</a:t>
            </a:r>
            <a:endParaRPr b="0" i="0" sz="1800" u="none" cap="none" strike="noStrike">
              <a:solidFill>
                <a:srgbClr val="000000"/>
              </a:solidFill>
              <a:latin typeface="Arial"/>
              <a:ea typeface="Arial"/>
              <a:cs typeface="Arial"/>
              <a:sym typeface="Arial"/>
            </a:endParaRPr>
          </a:p>
        </p:txBody>
      </p:sp>
      <p:pic>
        <p:nvPicPr>
          <p:cNvPr id="1487" name="Google Shape;1487;g3f9ebdf94e2_0_1162"/>
          <p:cNvPicPr preferRelativeResize="0"/>
          <p:nvPr/>
        </p:nvPicPr>
        <p:blipFill rotWithShape="1">
          <a:blip r:embed="rId3">
            <a:alphaModFix/>
          </a:blip>
          <a:srcRect b="0" l="0" r="0" t="0"/>
          <a:stretch/>
        </p:blipFill>
        <p:spPr>
          <a:xfrm>
            <a:off x="5618640" y="1534737"/>
            <a:ext cx="411113" cy="592996"/>
          </a:xfrm>
          <a:prstGeom prst="rect">
            <a:avLst/>
          </a:prstGeom>
          <a:noFill/>
          <a:ln>
            <a:noFill/>
          </a:ln>
        </p:spPr>
      </p:pic>
      <p:sp>
        <p:nvSpPr>
          <p:cNvPr id="1488" name="Google Shape;1488;g3f9ebdf94e2_0_1162"/>
          <p:cNvSpPr txBox="1"/>
          <p:nvPr/>
        </p:nvSpPr>
        <p:spPr>
          <a:xfrm>
            <a:off x="6002011" y="1674169"/>
            <a:ext cx="5775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King</a:t>
            </a:r>
            <a:endParaRPr b="0" i="0" sz="1600" u="none" cap="none" strike="noStrike">
              <a:solidFill>
                <a:srgbClr val="000000"/>
              </a:solidFill>
              <a:latin typeface="Arial"/>
              <a:ea typeface="Arial"/>
              <a:cs typeface="Arial"/>
              <a:sym typeface="Arial"/>
            </a:endParaRPr>
          </a:p>
        </p:txBody>
      </p:sp>
      <p:pic>
        <p:nvPicPr>
          <p:cNvPr id="1489" name="Google Shape;1489;g3f9ebdf94e2_0_1162"/>
          <p:cNvPicPr preferRelativeResize="0"/>
          <p:nvPr/>
        </p:nvPicPr>
        <p:blipFill rotWithShape="1">
          <a:blip r:embed="rId4">
            <a:alphaModFix/>
          </a:blip>
          <a:srcRect b="0" l="0" r="0" t="0"/>
          <a:stretch/>
        </p:blipFill>
        <p:spPr>
          <a:xfrm>
            <a:off x="5608517" y="719041"/>
            <a:ext cx="421236" cy="639691"/>
          </a:xfrm>
          <a:prstGeom prst="rect">
            <a:avLst/>
          </a:prstGeom>
          <a:noFill/>
          <a:ln>
            <a:noFill/>
          </a:ln>
        </p:spPr>
      </p:pic>
      <p:sp>
        <p:nvSpPr>
          <p:cNvPr id="1490" name="Google Shape;1490;g3f9ebdf94e2_0_1162"/>
          <p:cNvSpPr txBox="1"/>
          <p:nvPr/>
        </p:nvSpPr>
        <p:spPr>
          <a:xfrm>
            <a:off x="6002011" y="881657"/>
            <a:ext cx="7848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Queen</a:t>
            </a:r>
            <a:endParaRPr b="0" i="0" sz="1600" u="none" cap="none" strike="noStrike">
              <a:solidFill>
                <a:srgbClr val="000000"/>
              </a:solidFill>
              <a:latin typeface="Arial"/>
              <a:ea typeface="Arial"/>
              <a:cs typeface="Arial"/>
              <a:sym typeface="Arial"/>
            </a:endParaRPr>
          </a:p>
        </p:txBody>
      </p:sp>
      <p:pic>
        <p:nvPicPr>
          <p:cNvPr id="1491" name="Google Shape;1491;g3f9ebdf94e2_0_1162"/>
          <p:cNvPicPr preferRelativeResize="0"/>
          <p:nvPr/>
        </p:nvPicPr>
        <p:blipFill rotWithShape="1">
          <a:blip r:embed="rId5">
            <a:alphaModFix/>
          </a:blip>
          <a:srcRect b="0" l="0" r="0" t="0"/>
          <a:stretch/>
        </p:blipFill>
        <p:spPr>
          <a:xfrm>
            <a:off x="5524919" y="2252798"/>
            <a:ext cx="504831" cy="778471"/>
          </a:xfrm>
          <a:prstGeom prst="rect">
            <a:avLst/>
          </a:prstGeom>
          <a:noFill/>
          <a:ln>
            <a:noFill/>
          </a:ln>
        </p:spPr>
      </p:pic>
      <p:sp>
        <p:nvSpPr>
          <p:cNvPr id="1492" name="Google Shape;1492;g3f9ebdf94e2_0_1162"/>
          <p:cNvSpPr txBox="1"/>
          <p:nvPr/>
        </p:nvSpPr>
        <p:spPr>
          <a:xfrm>
            <a:off x="6002011" y="2484968"/>
            <a:ext cx="9279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Maid</a:t>
            </a:r>
            <a:endParaRPr b="0" i="0" sz="1600" u="none" cap="none" strike="noStrike">
              <a:solidFill>
                <a:srgbClr val="000000"/>
              </a:solidFill>
              <a:latin typeface="Arial"/>
              <a:ea typeface="Arial"/>
              <a:cs typeface="Arial"/>
              <a:sym typeface="Arial"/>
            </a:endParaRPr>
          </a:p>
        </p:txBody>
      </p:sp>
      <p:pic>
        <p:nvPicPr>
          <p:cNvPr id="1493" name="Google Shape;1493;g3f9ebdf94e2_0_1162"/>
          <p:cNvPicPr preferRelativeResize="0"/>
          <p:nvPr/>
        </p:nvPicPr>
        <p:blipFill rotWithShape="1">
          <a:blip r:embed="rId6">
            <a:alphaModFix/>
          </a:blip>
          <a:srcRect b="0" l="0" r="0" t="0"/>
          <a:stretch/>
        </p:blipFill>
        <p:spPr>
          <a:xfrm>
            <a:off x="5499448" y="3096903"/>
            <a:ext cx="595607" cy="821574"/>
          </a:xfrm>
          <a:prstGeom prst="rect">
            <a:avLst/>
          </a:prstGeom>
          <a:noFill/>
          <a:ln>
            <a:noFill/>
          </a:ln>
        </p:spPr>
      </p:pic>
      <p:sp>
        <p:nvSpPr>
          <p:cNvPr id="1494" name="Google Shape;1494;g3f9ebdf94e2_0_1162"/>
          <p:cNvSpPr txBox="1"/>
          <p:nvPr/>
        </p:nvSpPr>
        <p:spPr>
          <a:xfrm>
            <a:off x="6002011" y="3350624"/>
            <a:ext cx="1018800" cy="314100"/>
          </a:xfrm>
          <a:prstGeom prst="rect">
            <a:avLst/>
          </a:prstGeom>
          <a:noFill/>
          <a:ln>
            <a:noFill/>
          </a:ln>
        </p:spPr>
        <p:txBody>
          <a:bodyPr anchorCtr="0" anchor="t" bIns="40825" lIns="81625" spcFirstLastPara="1" rIns="81625" wrap="square" tIns="4082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Servant</a:t>
            </a:r>
            <a:endParaRPr b="0" i="0" sz="1600" u="none" cap="none" strike="noStrike">
              <a:solidFill>
                <a:srgbClr val="000000"/>
              </a:solidFill>
              <a:latin typeface="Arial"/>
              <a:ea typeface="Arial"/>
              <a:cs typeface="Arial"/>
              <a:sym typeface="Arial"/>
            </a:endParaRPr>
          </a:p>
        </p:txBody>
      </p:sp>
      <p:sp>
        <p:nvSpPr>
          <p:cNvPr id="1495" name="Google Shape;1495;g3f9ebdf94e2_0_1162"/>
          <p:cNvSpPr/>
          <p:nvPr/>
        </p:nvSpPr>
        <p:spPr>
          <a:xfrm>
            <a:off x="6852023" y="643936"/>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496" name="Google Shape;1496;g3f9ebdf94e2_0_1162"/>
          <p:cNvSpPr/>
          <p:nvPr/>
        </p:nvSpPr>
        <p:spPr>
          <a:xfrm>
            <a:off x="6852023" y="1460286"/>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497" name="Google Shape;1497;g3f9ebdf94e2_0_1162"/>
          <p:cNvSpPr/>
          <p:nvPr/>
        </p:nvSpPr>
        <p:spPr>
          <a:xfrm>
            <a:off x="6852023" y="2276635"/>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498" name="Google Shape;1498;g3f9ebdf94e2_0_1162"/>
          <p:cNvSpPr/>
          <p:nvPr/>
        </p:nvSpPr>
        <p:spPr>
          <a:xfrm>
            <a:off x="6852023" y="3092985"/>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499" name="Google Shape;1499;g3f9ebdf94e2_0_1162"/>
          <p:cNvSpPr txBox="1"/>
          <p:nvPr/>
        </p:nvSpPr>
        <p:spPr>
          <a:xfrm>
            <a:off x="6897087" y="252089"/>
            <a:ext cx="889800" cy="3516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900"/>
              <a:buFont typeface="Arial"/>
              <a:buNone/>
            </a:pPr>
            <a:r>
              <a:rPr b="0" i="0" lang="pt-BR" sz="1900" u="none" cap="none" strike="noStrike">
                <a:solidFill>
                  <a:srgbClr val="000000"/>
                </a:solidFill>
                <a:latin typeface="Arial"/>
                <a:ea typeface="Arial"/>
                <a:cs typeface="Arial"/>
                <a:sym typeface="Arial"/>
              </a:rPr>
              <a:t>female</a:t>
            </a:r>
            <a:endParaRPr b="0" i="0" sz="1900" u="none" cap="none" strike="noStrike">
              <a:solidFill>
                <a:srgbClr val="000000"/>
              </a:solidFill>
              <a:latin typeface="Arial"/>
              <a:ea typeface="Arial"/>
              <a:cs typeface="Arial"/>
              <a:sym typeface="Arial"/>
            </a:endParaRPr>
          </a:p>
        </p:txBody>
      </p:sp>
      <p:sp>
        <p:nvSpPr>
          <p:cNvPr id="1500" name="Google Shape;1500;g3f9ebdf94e2_0_1162"/>
          <p:cNvSpPr/>
          <p:nvPr/>
        </p:nvSpPr>
        <p:spPr>
          <a:xfrm>
            <a:off x="7833310" y="643936"/>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501" name="Google Shape;1501;g3f9ebdf94e2_0_1162"/>
          <p:cNvSpPr/>
          <p:nvPr/>
        </p:nvSpPr>
        <p:spPr>
          <a:xfrm>
            <a:off x="7831677" y="1460286"/>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502" name="Google Shape;1502;g3f9ebdf94e2_0_1162"/>
          <p:cNvSpPr/>
          <p:nvPr/>
        </p:nvSpPr>
        <p:spPr>
          <a:xfrm>
            <a:off x="7831677" y="2276635"/>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503" name="Google Shape;1503;g3f9ebdf94e2_0_1162"/>
          <p:cNvSpPr/>
          <p:nvPr/>
        </p:nvSpPr>
        <p:spPr>
          <a:xfrm>
            <a:off x="7831677" y="3092985"/>
            <a:ext cx="979800" cy="8163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504" name="Google Shape;1504;g3f9ebdf94e2_0_1162"/>
          <p:cNvSpPr txBox="1"/>
          <p:nvPr/>
        </p:nvSpPr>
        <p:spPr>
          <a:xfrm>
            <a:off x="7884578" y="264497"/>
            <a:ext cx="877200" cy="3516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900"/>
              <a:buFont typeface="Arial"/>
              <a:buNone/>
            </a:pPr>
            <a:r>
              <a:rPr b="0" i="0" lang="pt-BR" sz="1900" u="none" cap="none" strike="noStrike">
                <a:solidFill>
                  <a:srgbClr val="000000"/>
                </a:solidFill>
                <a:latin typeface="Arial"/>
                <a:ea typeface="Arial"/>
                <a:cs typeface="Arial"/>
                <a:sym typeface="Arial"/>
              </a:rPr>
              <a:t>royalty</a:t>
            </a:r>
            <a:endParaRPr b="0" i="0" sz="1900" u="none" cap="none" strike="noStrike">
              <a:solidFill>
                <a:srgbClr val="000000"/>
              </a:solidFill>
              <a:latin typeface="Arial"/>
              <a:ea typeface="Arial"/>
              <a:cs typeface="Arial"/>
              <a:sym typeface="Arial"/>
            </a:endParaRPr>
          </a:p>
        </p:txBody>
      </p:sp>
      <p:sp>
        <p:nvSpPr>
          <p:cNvPr id="1505" name="Google Shape;1505;g3f9ebdf94e2_0_1162"/>
          <p:cNvSpPr txBox="1"/>
          <p:nvPr/>
        </p:nvSpPr>
        <p:spPr>
          <a:xfrm>
            <a:off x="1844035" y="4245017"/>
            <a:ext cx="2787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506" name="Google Shape;1506;g3f9ebdf94e2_0_1162"/>
          <p:cNvSpPr txBox="1"/>
          <p:nvPr/>
        </p:nvSpPr>
        <p:spPr>
          <a:xfrm>
            <a:off x="3102236" y="4245017"/>
            <a:ext cx="2787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507" name="Google Shape;1507;g3f9ebdf94e2_0_1162"/>
          <p:cNvSpPr txBox="1"/>
          <p:nvPr/>
        </p:nvSpPr>
        <p:spPr>
          <a:xfrm>
            <a:off x="489827" y="2951266"/>
            <a:ext cx="2787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508" name="Google Shape;1508;g3f9ebdf94e2_0_1162"/>
          <p:cNvSpPr txBox="1"/>
          <p:nvPr/>
        </p:nvSpPr>
        <p:spPr>
          <a:xfrm>
            <a:off x="489827" y="1645107"/>
            <a:ext cx="2787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cxnSp>
        <p:nvCxnSpPr>
          <p:cNvPr id="1509" name="Google Shape;1509;g3f9ebdf94e2_0_1162"/>
          <p:cNvCxnSpPr/>
          <p:nvPr/>
        </p:nvCxnSpPr>
        <p:spPr>
          <a:xfrm>
            <a:off x="785356" y="3102128"/>
            <a:ext cx="2480100" cy="1012500"/>
          </a:xfrm>
          <a:prstGeom prst="bentConnector2">
            <a:avLst/>
          </a:prstGeom>
          <a:noFill/>
          <a:ln cap="flat" cmpd="sng" w="17300">
            <a:solidFill>
              <a:srgbClr val="595959"/>
            </a:solidFill>
            <a:prstDash val="dashDot"/>
            <a:round/>
            <a:headEnd len="sm" w="sm" type="none"/>
            <a:tailEnd len="sm" w="sm" type="none"/>
          </a:ln>
        </p:spPr>
      </p:cxnSp>
      <p:cxnSp>
        <p:nvCxnSpPr>
          <p:cNvPr id="1510" name="Google Shape;1510;g3f9ebdf94e2_0_1162"/>
          <p:cNvCxnSpPr/>
          <p:nvPr/>
        </p:nvCxnSpPr>
        <p:spPr>
          <a:xfrm flipH="1" rot="-5400000">
            <a:off x="212956" y="2368369"/>
            <a:ext cx="2318700" cy="1173900"/>
          </a:xfrm>
          <a:prstGeom prst="bentConnector2">
            <a:avLst/>
          </a:prstGeom>
          <a:noFill/>
          <a:ln cap="flat" cmpd="sng" w="17300">
            <a:solidFill>
              <a:srgbClr val="595959"/>
            </a:solidFill>
            <a:prstDash val="dashDot"/>
            <a:round/>
            <a:headEnd len="sm" w="sm" type="none"/>
            <a:tailEnd len="sm" w="sm" type="none"/>
          </a:ln>
        </p:spPr>
      </p:cxnSp>
      <p:cxnSp>
        <p:nvCxnSpPr>
          <p:cNvPr id="1511" name="Google Shape;1511;g3f9ebdf94e2_0_1162"/>
          <p:cNvCxnSpPr/>
          <p:nvPr/>
        </p:nvCxnSpPr>
        <p:spPr>
          <a:xfrm>
            <a:off x="785356" y="1795969"/>
            <a:ext cx="2480100" cy="2318700"/>
          </a:xfrm>
          <a:prstGeom prst="bentConnector2">
            <a:avLst/>
          </a:prstGeom>
          <a:noFill/>
          <a:ln cap="flat" cmpd="sng" w="17300">
            <a:solidFill>
              <a:srgbClr val="595959"/>
            </a:solidFill>
            <a:prstDash val="dashDot"/>
            <a:round/>
            <a:headEnd len="sm" w="sm" type="none"/>
            <a:tailEnd len="sm" w="sm" type="none"/>
          </a:ln>
        </p:spPr>
      </p:cxnSp>
      <p:pic>
        <p:nvPicPr>
          <p:cNvPr id="1512" name="Google Shape;1512;g3f9ebdf94e2_0_1162"/>
          <p:cNvPicPr preferRelativeResize="0"/>
          <p:nvPr/>
        </p:nvPicPr>
        <p:blipFill rotWithShape="1">
          <a:blip r:embed="rId4">
            <a:alphaModFix/>
          </a:blip>
          <a:srcRect b="0" l="0" r="0" t="0"/>
          <a:stretch/>
        </p:blipFill>
        <p:spPr>
          <a:xfrm>
            <a:off x="3007536" y="1319547"/>
            <a:ext cx="421236" cy="639691"/>
          </a:xfrm>
          <a:prstGeom prst="rect">
            <a:avLst/>
          </a:prstGeom>
          <a:noFill/>
          <a:ln>
            <a:noFill/>
          </a:ln>
        </p:spPr>
      </p:pic>
      <p:pic>
        <p:nvPicPr>
          <p:cNvPr id="1513" name="Google Shape;1513;g3f9ebdf94e2_0_1162"/>
          <p:cNvPicPr preferRelativeResize="0"/>
          <p:nvPr/>
        </p:nvPicPr>
        <p:blipFill rotWithShape="1">
          <a:blip r:embed="rId3">
            <a:alphaModFix/>
          </a:blip>
          <a:srcRect b="0" l="0" r="0" t="0"/>
          <a:stretch/>
        </p:blipFill>
        <p:spPr>
          <a:xfrm>
            <a:off x="3102236" y="2775588"/>
            <a:ext cx="411113" cy="592996"/>
          </a:xfrm>
          <a:prstGeom prst="rect">
            <a:avLst/>
          </a:prstGeom>
          <a:noFill/>
          <a:ln>
            <a:noFill/>
          </a:ln>
        </p:spPr>
      </p:pic>
      <p:pic>
        <p:nvPicPr>
          <p:cNvPr id="1514" name="Google Shape;1514;g3f9ebdf94e2_0_1162"/>
          <p:cNvPicPr preferRelativeResize="0"/>
          <p:nvPr/>
        </p:nvPicPr>
        <p:blipFill rotWithShape="1">
          <a:blip r:embed="rId5">
            <a:alphaModFix/>
          </a:blip>
          <a:srcRect b="0" l="0" r="0" t="0"/>
          <a:stretch/>
        </p:blipFill>
        <p:spPr>
          <a:xfrm>
            <a:off x="1748355" y="1469429"/>
            <a:ext cx="504831" cy="778471"/>
          </a:xfrm>
          <a:prstGeom prst="rect">
            <a:avLst/>
          </a:prstGeom>
          <a:noFill/>
          <a:ln>
            <a:noFill/>
          </a:ln>
        </p:spPr>
      </p:pic>
      <p:pic>
        <p:nvPicPr>
          <p:cNvPr id="1515" name="Google Shape;1515;g3f9ebdf94e2_0_1162"/>
          <p:cNvPicPr preferRelativeResize="0"/>
          <p:nvPr/>
        </p:nvPicPr>
        <p:blipFill rotWithShape="1">
          <a:blip r:embed="rId6">
            <a:alphaModFix/>
          </a:blip>
          <a:srcRect b="0" l="0" r="0" t="0"/>
          <a:stretch/>
        </p:blipFill>
        <p:spPr>
          <a:xfrm>
            <a:off x="1632756" y="2770363"/>
            <a:ext cx="595607" cy="821574"/>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g3f9ebdf94e2_0_1200"/>
          <p:cNvSpPr/>
          <p:nvPr/>
        </p:nvSpPr>
        <p:spPr>
          <a:xfrm rot="10800000">
            <a:off x="782093" y="1278440"/>
            <a:ext cx="324" cy="301784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521" name="Google Shape;1521;g3f9ebdf94e2_0_1200"/>
          <p:cNvSpPr/>
          <p:nvPr/>
        </p:nvSpPr>
        <p:spPr>
          <a:xfrm>
            <a:off x="581914" y="4114727"/>
            <a:ext cx="6343920" cy="324"/>
          </a:xfrm>
          <a:custGeom>
            <a:rect b="b" l="l" r="r" t="t"/>
            <a:pathLst>
              <a:path extrusionOk="0" h="21600" w="21600">
                <a:moveTo>
                  <a:pt x="0" y="0"/>
                </a:moveTo>
                <a:lnTo>
                  <a:pt x="21600" y="21600"/>
                </a:lnTo>
              </a:path>
            </a:pathLst>
          </a:custGeom>
          <a:noFill/>
          <a:ln cap="flat" cmpd="sng" w="34600">
            <a:solidFill>
              <a:srgbClr val="595959"/>
            </a:solidFill>
            <a:prstDash val="solid"/>
            <a:round/>
            <a:headEnd len="sm" w="sm" type="none"/>
            <a:tailEnd len="med" w="med" type="triangle"/>
          </a:ln>
        </p:spPr>
      </p:sp>
      <p:sp>
        <p:nvSpPr>
          <p:cNvPr id="1522" name="Google Shape;1522;g3f9ebdf94e2_0_1200"/>
          <p:cNvSpPr/>
          <p:nvPr/>
        </p:nvSpPr>
        <p:spPr>
          <a:xfrm>
            <a:off x="338960" y="898637"/>
            <a:ext cx="967200" cy="442800"/>
          </a:xfrm>
          <a:prstGeom prst="rect">
            <a:avLst/>
          </a:prstGeom>
          <a:noFill/>
          <a:ln>
            <a:noFill/>
          </a:ln>
        </p:spPr>
        <p:txBody>
          <a:bodyPr anchorCtr="0" anchor="t" bIns="82925" lIns="82925" spcFirstLastPara="1" rIns="82925" wrap="square" tIns="82925">
            <a:noAutofit/>
          </a:bodyPr>
          <a:lstStyle/>
          <a:p>
            <a:pPr indent="0" lvl="0" marL="0" marR="0" rtl="0" algn="ctr">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female</a:t>
            </a:r>
            <a:endParaRPr b="0" i="0" sz="1800" u="none" cap="none" strike="noStrike">
              <a:solidFill>
                <a:srgbClr val="000000"/>
              </a:solidFill>
              <a:latin typeface="Arial"/>
              <a:ea typeface="Arial"/>
              <a:cs typeface="Arial"/>
              <a:sym typeface="Arial"/>
            </a:endParaRPr>
          </a:p>
        </p:txBody>
      </p:sp>
      <p:sp>
        <p:nvSpPr>
          <p:cNvPr id="1523" name="Google Shape;1523;g3f9ebdf94e2_0_1200"/>
          <p:cNvSpPr/>
          <p:nvPr/>
        </p:nvSpPr>
        <p:spPr>
          <a:xfrm>
            <a:off x="6725648" y="4114727"/>
            <a:ext cx="948300" cy="442800"/>
          </a:xfrm>
          <a:prstGeom prst="rect">
            <a:avLst/>
          </a:prstGeom>
          <a:noFill/>
          <a:ln>
            <a:noFill/>
          </a:ln>
        </p:spPr>
        <p:txBody>
          <a:bodyPr anchorCtr="0" anchor="t" bIns="82925" lIns="82925" spcFirstLastPara="1" rIns="82925" wrap="square" tIns="82925">
            <a:noAutofit/>
          </a:bodyPr>
          <a:lstStyle/>
          <a:p>
            <a:pPr indent="0" lvl="0" marL="0" marR="0" rtl="0" algn="l">
              <a:lnSpc>
                <a:spcPct val="100000"/>
              </a:lnSpc>
              <a:spcBef>
                <a:spcPts val="0"/>
              </a:spcBef>
              <a:spcAft>
                <a:spcPts val="0"/>
              </a:spcAft>
              <a:buClr>
                <a:srgbClr val="000000"/>
              </a:buClr>
              <a:buSzPts val="1800"/>
              <a:buFont typeface="Arial"/>
              <a:buNone/>
            </a:pPr>
            <a:r>
              <a:rPr b="1" i="0" lang="pt-BR" sz="1800" u="none" cap="none" strike="noStrike">
                <a:solidFill>
                  <a:srgbClr val="000000"/>
                </a:solidFill>
                <a:latin typeface="Arial"/>
                <a:ea typeface="Arial"/>
                <a:cs typeface="Arial"/>
                <a:sym typeface="Arial"/>
              </a:rPr>
              <a:t>royalty</a:t>
            </a:r>
            <a:endParaRPr b="0" i="0" sz="1800" u="none" cap="none" strike="noStrike">
              <a:solidFill>
                <a:srgbClr val="000000"/>
              </a:solidFill>
              <a:latin typeface="Arial"/>
              <a:ea typeface="Arial"/>
              <a:cs typeface="Arial"/>
              <a:sym typeface="Arial"/>
            </a:endParaRPr>
          </a:p>
        </p:txBody>
      </p:sp>
      <p:sp>
        <p:nvSpPr>
          <p:cNvPr id="1524" name="Google Shape;1524;g3f9ebdf94e2_0_1200"/>
          <p:cNvSpPr txBox="1"/>
          <p:nvPr/>
        </p:nvSpPr>
        <p:spPr>
          <a:xfrm>
            <a:off x="1844035" y="4245017"/>
            <a:ext cx="2787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525" name="Google Shape;1525;g3f9ebdf94e2_0_1200"/>
          <p:cNvSpPr txBox="1"/>
          <p:nvPr/>
        </p:nvSpPr>
        <p:spPr>
          <a:xfrm>
            <a:off x="3102236" y="4245017"/>
            <a:ext cx="2787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526" name="Google Shape;1526;g3f9ebdf94e2_0_1200"/>
          <p:cNvSpPr txBox="1"/>
          <p:nvPr/>
        </p:nvSpPr>
        <p:spPr>
          <a:xfrm>
            <a:off x="489827" y="2951266"/>
            <a:ext cx="2787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1527" name="Google Shape;1527;g3f9ebdf94e2_0_1200"/>
          <p:cNvSpPr txBox="1"/>
          <p:nvPr/>
        </p:nvSpPr>
        <p:spPr>
          <a:xfrm>
            <a:off x="489827" y="1645107"/>
            <a:ext cx="278700" cy="3141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pic>
        <p:nvPicPr>
          <p:cNvPr id="1528" name="Google Shape;1528;g3f9ebdf94e2_0_1200"/>
          <p:cNvPicPr preferRelativeResize="0"/>
          <p:nvPr/>
        </p:nvPicPr>
        <p:blipFill rotWithShape="1">
          <a:blip r:embed="rId3">
            <a:alphaModFix/>
          </a:blip>
          <a:srcRect b="0" l="0" r="0" t="0"/>
          <a:stretch/>
        </p:blipFill>
        <p:spPr>
          <a:xfrm>
            <a:off x="3007536" y="1319547"/>
            <a:ext cx="421236" cy="639691"/>
          </a:xfrm>
          <a:prstGeom prst="rect">
            <a:avLst/>
          </a:prstGeom>
          <a:noFill/>
          <a:ln>
            <a:noFill/>
          </a:ln>
        </p:spPr>
      </p:pic>
      <p:pic>
        <p:nvPicPr>
          <p:cNvPr id="1529" name="Google Shape;1529;g3f9ebdf94e2_0_1200"/>
          <p:cNvPicPr preferRelativeResize="0"/>
          <p:nvPr/>
        </p:nvPicPr>
        <p:blipFill rotWithShape="1">
          <a:blip r:embed="rId4">
            <a:alphaModFix/>
          </a:blip>
          <a:srcRect b="0" l="0" r="0" t="0"/>
          <a:stretch/>
        </p:blipFill>
        <p:spPr>
          <a:xfrm>
            <a:off x="3102236" y="2775588"/>
            <a:ext cx="411113" cy="592996"/>
          </a:xfrm>
          <a:prstGeom prst="rect">
            <a:avLst/>
          </a:prstGeom>
          <a:noFill/>
          <a:ln>
            <a:noFill/>
          </a:ln>
        </p:spPr>
      </p:pic>
      <p:pic>
        <p:nvPicPr>
          <p:cNvPr id="1530" name="Google Shape;1530;g3f9ebdf94e2_0_1200"/>
          <p:cNvPicPr preferRelativeResize="0"/>
          <p:nvPr/>
        </p:nvPicPr>
        <p:blipFill rotWithShape="1">
          <a:blip r:embed="rId5">
            <a:alphaModFix/>
          </a:blip>
          <a:srcRect b="0" l="0" r="0" t="0"/>
          <a:stretch/>
        </p:blipFill>
        <p:spPr>
          <a:xfrm>
            <a:off x="1748355" y="1469429"/>
            <a:ext cx="504831" cy="778471"/>
          </a:xfrm>
          <a:prstGeom prst="rect">
            <a:avLst/>
          </a:prstGeom>
          <a:noFill/>
          <a:ln>
            <a:noFill/>
          </a:ln>
        </p:spPr>
      </p:pic>
      <p:pic>
        <p:nvPicPr>
          <p:cNvPr id="1531" name="Google Shape;1531;g3f9ebdf94e2_0_1200"/>
          <p:cNvPicPr preferRelativeResize="0"/>
          <p:nvPr/>
        </p:nvPicPr>
        <p:blipFill rotWithShape="1">
          <a:blip r:embed="rId6">
            <a:alphaModFix/>
          </a:blip>
          <a:srcRect b="0" l="0" r="0" t="0"/>
          <a:stretch/>
        </p:blipFill>
        <p:spPr>
          <a:xfrm>
            <a:off x="1632756" y="2770363"/>
            <a:ext cx="595607" cy="821574"/>
          </a:xfrm>
          <a:prstGeom prst="rect">
            <a:avLst/>
          </a:prstGeom>
          <a:noFill/>
          <a:ln>
            <a:noFill/>
          </a:ln>
        </p:spPr>
      </p:pic>
      <p:cxnSp>
        <p:nvCxnSpPr>
          <p:cNvPr id="1532" name="Google Shape;1532;g3f9ebdf94e2_0_1200"/>
          <p:cNvCxnSpPr/>
          <p:nvPr/>
        </p:nvCxnSpPr>
        <p:spPr>
          <a:xfrm>
            <a:off x="2122583" y="1763315"/>
            <a:ext cx="816300" cy="0"/>
          </a:xfrm>
          <a:prstGeom prst="straightConnector1">
            <a:avLst/>
          </a:prstGeom>
          <a:noFill/>
          <a:ln cap="flat" cmpd="sng" w="26450">
            <a:solidFill>
              <a:srgbClr val="0000FF"/>
            </a:solidFill>
            <a:prstDash val="solid"/>
            <a:round/>
            <a:headEnd len="sm" w="sm" type="none"/>
            <a:tailEnd len="sm" w="sm" type="none"/>
          </a:ln>
        </p:spPr>
      </p:cxnSp>
      <p:cxnSp>
        <p:nvCxnSpPr>
          <p:cNvPr id="1533" name="Google Shape;1533;g3f9ebdf94e2_0_1200"/>
          <p:cNvCxnSpPr/>
          <p:nvPr/>
        </p:nvCxnSpPr>
        <p:spPr>
          <a:xfrm flipH="1">
            <a:off x="2122436" y="1959239"/>
            <a:ext cx="979800" cy="1143000"/>
          </a:xfrm>
          <a:prstGeom prst="straightConnector1">
            <a:avLst/>
          </a:prstGeom>
          <a:noFill/>
          <a:ln cap="flat" cmpd="sng" w="26450">
            <a:solidFill>
              <a:srgbClr val="FF0000"/>
            </a:solidFill>
            <a:prstDash val="solid"/>
            <a:round/>
            <a:headEnd len="sm" w="sm" type="none"/>
            <a:tailEnd len="sm" w="sm" type="none"/>
          </a:ln>
        </p:spPr>
      </p:cxnSp>
      <p:sp>
        <p:nvSpPr>
          <p:cNvPr id="1534" name="Google Shape;1534;g3f9ebdf94e2_0_1200"/>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Distance</a:t>
            </a:r>
            <a:endParaRPr b="1" i="0" sz="3000" u="none" cap="none" strike="noStrike">
              <a:solidFill>
                <a:srgbClr val="252323"/>
              </a:solidFill>
              <a:latin typeface="Comfortaa"/>
              <a:ea typeface="Comfortaa"/>
              <a:cs typeface="Comfortaa"/>
              <a:sym typeface="Comfortaa"/>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g3f9ebdf94e2_0_1330"/>
          <p:cNvSpPr txBox="1"/>
          <p:nvPr/>
        </p:nvSpPr>
        <p:spPr>
          <a:xfrm>
            <a:off x="457172" y="2142427"/>
            <a:ext cx="3788100" cy="85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00"/>
              <a:buFont typeface="Arial"/>
              <a:buNone/>
            </a:pPr>
            <a:r>
              <a:rPr b="1" lang="pt-BR" sz="3000">
                <a:solidFill>
                  <a:srgbClr val="FFFFFF"/>
                </a:solidFill>
                <a:latin typeface="Comfortaa"/>
                <a:ea typeface="Comfortaa"/>
                <a:cs typeface="Comfortaa"/>
                <a:sym typeface="Comfortaa"/>
              </a:rPr>
              <a:t>Words in Space</a:t>
            </a:r>
            <a:endParaRPr b="1" i="0" sz="3000" u="none" cap="none" strike="noStrike">
              <a:solidFill>
                <a:srgbClr val="252323"/>
              </a:solidFill>
              <a:latin typeface="Comfortaa"/>
              <a:ea typeface="Comfortaa"/>
              <a:cs typeface="Comfortaa"/>
              <a:sym typeface="Comfortaa"/>
            </a:endParaRPr>
          </a:p>
        </p:txBody>
      </p:sp>
      <p:grpSp>
        <p:nvGrpSpPr>
          <p:cNvPr id="1540" name="Google Shape;1540;g3f9ebdf94e2_0_1330"/>
          <p:cNvGrpSpPr/>
          <p:nvPr/>
        </p:nvGrpSpPr>
        <p:grpSpPr>
          <a:xfrm>
            <a:off x="5138359" y="969871"/>
            <a:ext cx="3589176" cy="3203950"/>
            <a:chOff x="5664600" y="1069200"/>
            <a:chExt cx="3956759" cy="3532080"/>
          </a:xfrm>
        </p:grpSpPr>
        <p:sp>
          <p:nvSpPr>
            <p:cNvPr id="1541" name="Google Shape;1541;g3f9ebdf94e2_0_1330"/>
            <p:cNvSpPr/>
            <p:nvPr/>
          </p:nvSpPr>
          <p:spPr>
            <a:xfrm>
              <a:off x="5664600" y="126324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
          <p:nvSpPr>
            <p:cNvPr id="1542" name="Google Shape;1542;g3f9ebdf94e2_0_1330"/>
            <p:cNvSpPr/>
            <p:nvPr/>
          </p:nvSpPr>
          <p:spPr>
            <a:xfrm>
              <a:off x="5664600" y="2230560"/>
              <a:ext cx="828300" cy="4830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
          <p:nvSpPr>
            <p:cNvPr id="1543" name="Google Shape;1543;g3f9ebdf94e2_0_1330"/>
            <p:cNvSpPr/>
            <p:nvPr/>
          </p:nvSpPr>
          <p:spPr>
            <a:xfrm>
              <a:off x="8150400" y="1263240"/>
              <a:ext cx="828300" cy="483600"/>
            </a:xfrm>
            <a:prstGeom prst="rect">
              <a:avLst/>
            </a:prstGeom>
            <a:solidFill>
              <a:srgbClr val="B4C7DC"/>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0.7</a:t>
              </a:r>
              <a:endParaRPr b="0" i="0" sz="1600" u="none" cap="none" strike="noStrike">
                <a:solidFill>
                  <a:srgbClr val="000000"/>
                </a:solidFill>
                <a:latin typeface="Arial"/>
                <a:ea typeface="Arial"/>
                <a:cs typeface="Arial"/>
                <a:sym typeface="Arial"/>
              </a:endParaRPr>
            </a:p>
          </p:txBody>
        </p:sp>
        <p:sp>
          <p:nvSpPr>
            <p:cNvPr id="1544" name="Google Shape;1544;g3f9ebdf94e2_0_1330"/>
            <p:cNvSpPr/>
            <p:nvPr/>
          </p:nvSpPr>
          <p:spPr>
            <a:xfrm>
              <a:off x="8148960" y="2230560"/>
              <a:ext cx="828000" cy="483000"/>
            </a:xfrm>
            <a:prstGeom prst="rect">
              <a:avLst/>
            </a:prstGeom>
            <a:solidFill>
              <a:srgbClr val="EEEEEE"/>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0.5</a:t>
              </a:r>
              <a:endParaRPr b="0" i="0" sz="1600" u="none" cap="none" strike="noStrike">
                <a:solidFill>
                  <a:srgbClr val="000000"/>
                </a:solidFill>
                <a:latin typeface="Arial"/>
                <a:ea typeface="Arial"/>
                <a:cs typeface="Arial"/>
                <a:sym typeface="Arial"/>
              </a:endParaRPr>
            </a:p>
          </p:txBody>
        </p:sp>
        <p:sp>
          <p:nvSpPr>
            <p:cNvPr id="1545" name="Google Shape;1545;g3f9ebdf94e2_0_1330"/>
            <p:cNvSpPr/>
            <p:nvPr/>
          </p:nvSpPr>
          <p:spPr>
            <a:xfrm>
              <a:off x="5664600" y="3177360"/>
              <a:ext cx="828300" cy="4839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
          <p:nvSpPr>
            <p:cNvPr id="1546" name="Google Shape;1546;g3f9ebdf94e2_0_1330"/>
            <p:cNvSpPr/>
            <p:nvPr/>
          </p:nvSpPr>
          <p:spPr>
            <a:xfrm>
              <a:off x="8148960" y="3177360"/>
              <a:ext cx="828000" cy="4839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0.2</a:t>
              </a:r>
              <a:endParaRPr b="0" i="0" sz="1600" u="none" cap="none" strike="noStrike">
                <a:solidFill>
                  <a:srgbClr val="000000"/>
                </a:solidFill>
                <a:latin typeface="Arial"/>
                <a:ea typeface="Arial"/>
                <a:cs typeface="Arial"/>
                <a:sym typeface="Arial"/>
              </a:endParaRPr>
            </a:p>
          </p:txBody>
        </p:sp>
        <p:sp>
          <p:nvSpPr>
            <p:cNvPr id="1547" name="Google Shape;1547;g3f9ebdf94e2_0_1330"/>
            <p:cNvSpPr/>
            <p:nvPr/>
          </p:nvSpPr>
          <p:spPr>
            <a:xfrm>
              <a:off x="5664600" y="411768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
          <p:nvSpPr>
            <p:cNvPr id="1548" name="Google Shape;1548;g3f9ebdf94e2_0_1330"/>
            <p:cNvSpPr/>
            <p:nvPr/>
          </p:nvSpPr>
          <p:spPr>
            <a:xfrm>
              <a:off x="8148960" y="4117680"/>
              <a:ext cx="828000" cy="4836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0.1</a:t>
              </a:r>
              <a:endParaRPr b="0" i="0" sz="1600" u="none" cap="none" strike="noStrike">
                <a:solidFill>
                  <a:srgbClr val="000000"/>
                </a:solidFill>
                <a:latin typeface="Arial"/>
                <a:ea typeface="Arial"/>
                <a:cs typeface="Arial"/>
                <a:sym typeface="Arial"/>
              </a:endParaRPr>
            </a:p>
          </p:txBody>
        </p:sp>
        <p:pic>
          <p:nvPicPr>
            <p:cNvPr id="1549" name="Google Shape;1549;g3f9ebdf94e2_0_1330"/>
            <p:cNvPicPr preferRelativeResize="0"/>
            <p:nvPr/>
          </p:nvPicPr>
          <p:blipFill rotWithShape="1">
            <a:blip r:embed="rId3">
              <a:alphaModFix/>
            </a:blip>
            <a:srcRect b="0" l="0" r="0" t="0"/>
            <a:stretch/>
          </p:blipFill>
          <p:spPr>
            <a:xfrm>
              <a:off x="9132120" y="1968480"/>
              <a:ext cx="453240" cy="653760"/>
            </a:xfrm>
            <a:prstGeom prst="rect">
              <a:avLst/>
            </a:prstGeom>
            <a:noFill/>
            <a:ln>
              <a:noFill/>
            </a:ln>
          </p:spPr>
        </p:pic>
        <p:pic>
          <p:nvPicPr>
            <p:cNvPr id="1550" name="Google Shape;1550;g3f9ebdf94e2_0_1330"/>
            <p:cNvPicPr preferRelativeResize="0"/>
            <p:nvPr/>
          </p:nvPicPr>
          <p:blipFill rotWithShape="1">
            <a:blip r:embed="rId4">
              <a:alphaModFix/>
            </a:blip>
            <a:srcRect b="0" l="0" r="0" t="0"/>
            <a:stretch/>
          </p:blipFill>
          <p:spPr>
            <a:xfrm>
              <a:off x="9120960" y="1069200"/>
              <a:ext cx="464400" cy="705240"/>
            </a:xfrm>
            <a:prstGeom prst="rect">
              <a:avLst/>
            </a:prstGeom>
            <a:noFill/>
            <a:ln>
              <a:noFill/>
            </a:ln>
          </p:spPr>
        </p:pic>
        <p:pic>
          <p:nvPicPr>
            <p:cNvPr id="1551" name="Google Shape;1551;g3f9ebdf94e2_0_1330"/>
            <p:cNvPicPr preferRelativeResize="0"/>
            <p:nvPr/>
          </p:nvPicPr>
          <p:blipFill rotWithShape="1">
            <a:blip r:embed="rId5">
              <a:alphaModFix/>
            </a:blip>
            <a:srcRect b="0" l="0" r="0" t="0"/>
            <a:stretch/>
          </p:blipFill>
          <p:spPr>
            <a:xfrm>
              <a:off x="8992800" y="2760120"/>
              <a:ext cx="556561" cy="858241"/>
            </a:xfrm>
            <a:prstGeom prst="rect">
              <a:avLst/>
            </a:prstGeom>
            <a:noFill/>
            <a:ln>
              <a:noFill/>
            </a:ln>
          </p:spPr>
        </p:pic>
        <p:pic>
          <p:nvPicPr>
            <p:cNvPr id="1552" name="Google Shape;1552;g3f9ebdf94e2_0_1330"/>
            <p:cNvPicPr preferRelativeResize="0"/>
            <p:nvPr/>
          </p:nvPicPr>
          <p:blipFill rotWithShape="1">
            <a:blip r:embed="rId6">
              <a:alphaModFix/>
            </a:blip>
            <a:srcRect b="0" l="0" r="0" t="0"/>
            <a:stretch/>
          </p:blipFill>
          <p:spPr>
            <a:xfrm>
              <a:off x="8964720" y="3690720"/>
              <a:ext cx="656639" cy="905760"/>
            </a:xfrm>
            <a:prstGeom prst="rect">
              <a:avLst/>
            </a:prstGeom>
            <a:noFill/>
            <a:ln>
              <a:noFill/>
            </a:ln>
          </p:spPr>
        </p:pic>
        <p:sp>
          <p:nvSpPr>
            <p:cNvPr id="1553" name="Google Shape;1553;g3f9ebdf94e2_0_1330"/>
            <p:cNvSpPr/>
            <p:nvPr/>
          </p:nvSpPr>
          <p:spPr>
            <a:xfrm>
              <a:off x="7322400" y="126324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
          <p:nvSpPr>
            <p:cNvPr id="1554" name="Google Shape;1554;g3f9ebdf94e2_0_1330"/>
            <p:cNvSpPr/>
            <p:nvPr/>
          </p:nvSpPr>
          <p:spPr>
            <a:xfrm>
              <a:off x="6494040" y="1263240"/>
              <a:ext cx="828300" cy="483600"/>
            </a:xfrm>
            <a:prstGeom prst="rect">
              <a:avLst/>
            </a:prstGeom>
            <a:solidFill>
              <a:srgbClr val="678FBA"/>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1.0</a:t>
              </a:r>
              <a:endParaRPr b="0" i="0" sz="1600" u="none" cap="none" strike="noStrike">
                <a:solidFill>
                  <a:srgbClr val="000000"/>
                </a:solidFill>
                <a:latin typeface="Arial"/>
                <a:ea typeface="Arial"/>
                <a:cs typeface="Arial"/>
                <a:sym typeface="Arial"/>
              </a:endParaRPr>
            </a:p>
          </p:txBody>
        </p:sp>
        <p:sp>
          <p:nvSpPr>
            <p:cNvPr id="1555" name="Google Shape;1555;g3f9ebdf94e2_0_1330"/>
            <p:cNvSpPr/>
            <p:nvPr/>
          </p:nvSpPr>
          <p:spPr>
            <a:xfrm>
              <a:off x="7322400" y="223020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
          <p:nvSpPr>
            <p:cNvPr id="1556" name="Google Shape;1556;g3f9ebdf94e2_0_1330"/>
            <p:cNvSpPr/>
            <p:nvPr/>
          </p:nvSpPr>
          <p:spPr>
            <a:xfrm>
              <a:off x="7322400" y="317772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
          <p:nvSpPr>
            <p:cNvPr id="1557" name="Google Shape;1557;g3f9ebdf94e2_0_1330"/>
            <p:cNvSpPr/>
            <p:nvPr/>
          </p:nvSpPr>
          <p:spPr>
            <a:xfrm>
              <a:off x="7322400" y="4117680"/>
              <a:ext cx="828300" cy="483600"/>
            </a:xfrm>
            <a:prstGeom prst="rect">
              <a:avLst/>
            </a:prstGeom>
            <a:solidFill>
              <a:srgbClr val="FFFFFF"/>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
          <p:nvSpPr>
            <p:cNvPr id="1558" name="Google Shape;1558;g3f9ebdf94e2_0_1330"/>
            <p:cNvSpPr/>
            <p:nvPr/>
          </p:nvSpPr>
          <p:spPr>
            <a:xfrm>
              <a:off x="6494040" y="2230200"/>
              <a:ext cx="828300" cy="4836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0.1</a:t>
              </a:r>
              <a:endParaRPr b="0" i="0" sz="1600" u="none" cap="none" strike="noStrike">
                <a:solidFill>
                  <a:srgbClr val="000000"/>
                </a:solidFill>
                <a:latin typeface="Arial"/>
                <a:ea typeface="Arial"/>
                <a:cs typeface="Arial"/>
                <a:sym typeface="Arial"/>
              </a:endParaRPr>
            </a:p>
          </p:txBody>
        </p:sp>
        <p:sp>
          <p:nvSpPr>
            <p:cNvPr id="1559" name="Google Shape;1559;g3f9ebdf94e2_0_1330"/>
            <p:cNvSpPr/>
            <p:nvPr/>
          </p:nvSpPr>
          <p:spPr>
            <a:xfrm>
              <a:off x="6494040" y="3177720"/>
              <a:ext cx="828300" cy="483600"/>
            </a:xfrm>
            <a:prstGeom prst="rect">
              <a:avLst/>
            </a:prstGeom>
            <a:solidFill>
              <a:srgbClr val="678FBA"/>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1.0</a:t>
              </a:r>
              <a:endParaRPr b="0" i="0" sz="1600" u="none" cap="none" strike="noStrike">
                <a:solidFill>
                  <a:srgbClr val="000000"/>
                </a:solidFill>
                <a:latin typeface="Arial"/>
                <a:ea typeface="Arial"/>
                <a:cs typeface="Arial"/>
                <a:sym typeface="Arial"/>
              </a:endParaRPr>
            </a:p>
          </p:txBody>
        </p:sp>
        <p:sp>
          <p:nvSpPr>
            <p:cNvPr id="1560" name="Google Shape;1560;g3f9ebdf94e2_0_1330"/>
            <p:cNvSpPr/>
            <p:nvPr/>
          </p:nvSpPr>
          <p:spPr>
            <a:xfrm>
              <a:off x="6494040" y="4117680"/>
              <a:ext cx="828300" cy="483600"/>
            </a:xfrm>
            <a:prstGeom prst="rect">
              <a:avLst/>
            </a:prstGeom>
            <a:solidFill>
              <a:srgbClr val="FFDBB6"/>
            </a:solidFill>
            <a:ln cap="flat" cmpd="sng" w="26450">
              <a:solidFill>
                <a:srgbClr val="000000"/>
              </a:solidFill>
              <a:prstDash val="solid"/>
              <a:round/>
              <a:headEnd len="sm" w="sm" type="none"/>
              <a:tailEnd len="sm" w="sm" type="none"/>
            </a:ln>
          </p:spPr>
          <p:txBody>
            <a:bodyPr anchorCtr="0" anchor="ctr" bIns="53875" lIns="94700" spcFirstLastPara="1" rIns="94700" wrap="square" tIns="53875">
              <a:noAutofit/>
            </a:bodyPr>
            <a:lstStyle/>
            <a:p>
              <a:pPr indent="0" lvl="0" marL="0" marR="0" rtl="0" algn="ctr">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0.1</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4" name="Shape 1564"/>
        <p:cNvGrpSpPr/>
        <p:nvPr/>
      </p:nvGrpSpPr>
      <p:grpSpPr>
        <a:xfrm>
          <a:off x="0" y="0"/>
          <a:ext cx="0" cy="0"/>
          <a:chOff x="0" y="0"/>
          <a:chExt cx="0" cy="0"/>
        </a:xfrm>
      </p:grpSpPr>
      <p:sp>
        <p:nvSpPr>
          <p:cNvPr id="1565" name="Google Shape;1565;g3f9ebdf94e2_0_147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Similar Contexts</a:t>
            </a:r>
            <a:endParaRPr/>
          </a:p>
        </p:txBody>
      </p:sp>
      <p:pic>
        <p:nvPicPr>
          <p:cNvPr id="1566" name="Google Shape;1566;g3f9ebdf94e2_0_1478"/>
          <p:cNvPicPr preferRelativeResize="0"/>
          <p:nvPr/>
        </p:nvPicPr>
        <p:blipFill>
          <a:blip r:embed="rId3">
            <a:alphaModFix/>
          </a:blip>
          <a:stretch>
            <a:fillRect/>
          </a:stretch>
        </p:blipFill>
        <p:spPr>
          <a:xfrm>
            <a:off x="428475" y="3419775"/>
            <a:ext cx="3037385" cy="1401625"/>
          </a:xfrm>
          <a:prstGeom prst="rect">
            <a:avLst/>
          </a:prstGeom>
          <a:noFill/>
          <a:ln>
            <a:noFill/>
          </a:ln>
        </p:spPr>
      </p:pic>
      <p:pic>
        <p:nvPicPr>
          <p:cNvPr id="1567" name="Google Shape;1567;g3f9ebdf94e2_0_1478"/>
          <p:cNvPicPr preferRelativeResize="0"/>
          <p:nvPr/>
        </p:nvPicPr>
        <p:blipFill>
          <a:blip r:embed="rId4">
            <a:alphaModFix/>
          </a:blip>
          <a:stretch>
            <a:fillRect/>
          </a:stretch>
        </p:blipFill>
        <p:spPr>
          <a:xfrm>
            <a:off x="1941254" y="1258288"/>
            <a:ext cx="3293026" cy="1920925"/>
          </a:xfrm>
          <a:prstGeom prst="rect">
            <a:avLst/>
          </a:prstGeom>
          <a:noFill/>
          <a:ln>
            <a:noFill/>
          </a:ln>
        </p:spPr>
      </p:pic>
      <p:pic>
        <p:nvPicPr>
          <p:cNvPr id="1568" name="Google Shape;1568;g3f9ebdf94e2_0_1478"/>
          <p:cNvPicPr preferRelativeResize="0"/>
          <p:nvPr/>
        </p:nvPicPr>
        <p:blipFill>
          <a:blip r:embed="rId5">
            <a:alphaModFix/>
          </a:blip>
          <a:stretch>
            <a:fillRect/>
          </a:stretch>
        </p:blipFill>
        <p:spPr>
          <a:xfrm>
            <a:off x="5335554" y="1405300"/>
            <a:ext cx="3604921" cy="3064513"/>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g3f9ebdf94e2_0_1618"/>
          <p:cNvSpPr txBox="1"/>
          <p:nvPr/>
        </p:nvSpPr>
        <p:spPr>
          <a:xfrm>
            <a:off x="163276" y="2142427"/>
            <a:ext cx="42453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pt-BR" sz="2400" u="none" cap="none" strike="noStrike">
                <a:solidFill>
                  <a:srgbClr val="FFFFFF"/>
                </a:solidFill>
                <a:latin typeface="Comfortaa"/>
                <a:ea typeface="Comfortaa"/>
                <a:cs typeface="Comfortaa"/>
                <a:sym typeface="Comfortaa"/>
              </a:rPr>
              <a:t>Distributional Hypothesis</a:t>
            </a:r>
            <a:endParaRPr b="1" i="0" sz="2400" u="none" cap="none" strike="noStrike">
              <a:solidFill>
                <a:srgbClr val="252323"/>
              </a:solidFill>
              <a:latin typeface="Comfortaa"/>
              <a:ea typeface="Comfortaa"/>
              <a:cs typeface="Comfortaa"/>
              <a:sym typeface="Comfortaa"/>
            </a:endParaRPr>
          </a:p>
        </p:txBody>
      </p:sp>
      <p:sp>
        <p:nvSpPr>
          <p:cNvPr id="1574" name="Google Shape;1574;g3f9ebdf94e2_0_1618"/>
          <p:cNvSpPr txBox="1"/>
          <p:nvPr/>
        </p:nvSpPr>
        <p:spPr>
          <a:xfrm>
            <a:off x="4734992" y="3461321"/>
            <a:ext cx="4245300" cy="7344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2000"/>
              <a:buFont typeface="Arial"/>
              <a:buNone/>
            </a:pPr>
            <a:r>
              <a:rPr b="0" i="0" lang="pt-BR" sz="2000" u="none" cap="none" strike="noStrike">
                <a:solidFill>
                  <a:srgbClr val="000000"/>
                </a:solidFill>
                <a:latin typeface="Comfortaa"/>
                <a:ea typeface="Comfortaa"/>
                <a:cs typeface="Comfortaa"/>
                <a:sym typeface="Comfortaa"/>
              </a:rPr>
              <a:t>The </a:t>
            </a:r>
            <a:r>
              <a:rPr b="1" i="0" lang="pt-BR" sz="2000" u="none" cap="none" strike="noStrike">
                <a:solidFill>
                  <a:srgbClr val="000000"/>
                </a:solidFill>
                <a:latin typeface="Comfortaa"/>
                <a:ea typeface="Comfortaa"/>
                <a:cs typeface="Comfortaa"/>
                <a:sym typeface="Comfortaa"/>
              </a:rPr>
              <a:t>queen</a:t>
            </a:r>
            <a:r>
              <a:rPr b="0" i="0" lang="pt-BR" sz="2000" u="none" cap="none" strike="noStrike">
                <a:solidFill>
                  <a:srgbClr val="000000"/>
                </a:solidFill>
                <a:latin typeface="Comfortaa"/>
                <a:ea typeface="Comfortaa"/>
                <a:cs typeface="Comfortaa"/>
                <a:sym typeface="Comfortaa"/>
              </a:rPr>
              <a:t> breastfed her son.</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pt-BR" sz="2000" u="none" cap="none" strike="noStrike">
                <a:solidFill>
                  <a:srgbClr val="000000"/>
                </a:solidFill>
                <a:latin typeface="Comfortaa"/>
                <a:ea typeface="Comfortaa"/>
                <a:cs typeface="Comfortaa"/>
                <a:sym typeface="Comfortaa"/>
              </a:rPr>
              <a:t>The </a:t>
            </a:r>
            <a:r>
              <a:rPr b="1" i="0" lang="pt-BR" sz="2000" u="none" cap="none" strike="noStrike">
                <a:solidFill>
                  <a:srgbClr val="000000"/>
                </a:solidFill>
                <a:latin typeface="Comfortaa"/>
                <a:ea typeface="Comfortaa"/>
                <a:cs typeface="Comfortaa"/>
                <a:sym typeface="Comfortaa"/>
              </a:rPr>
              <a:t>maid</a:t>
            </a:r>
            <a:r>
              <a:rPr b="0" i="0" lang="pt-BR" sz="2000" u="none" cap="none" strike="noStrike">
                <a:solidFill>
                  <a:srgbClr val="000000"/>
                </a:solidFill>
                <a:latin typeface="Comfortaa"/>
                <a:ea typeface="Comfortaa"/>
                <a:cs typeface="Comfortaa"/>
                <a:sym typeface="Comfortaa"/>
              </a:rPr>
              <a:t> breastfed her son.</a:t>
            </a:r>
            <a:endParaRPr b="0" i="0" sz="2000" u="none" cap="none" strike="noStrike">
              <a:solidFill>
                <a:srgbClr val="000000"/>
              </a:solidFill>
              <a:latin typeface="Arial"/>
              <a:ea typeface="Arial"/>
              <a:cs typeface="Arial"/>
              <a:sym typeface="Arial"/>
            </a:endParaRPr>
          </a:p>
        </p:txBody>
      </p:sp>
      <p:sp>
        <p:nvSpPr>
          <p:cNvPr id="1575" name="Google Shape;1575;g3f9ebdf94e2_0_1618"/>
          <p:cNvSpPr txBox="1"/>
          <p:nvPr/>
        </p:nvSpPr>
        <p:spPr>
          <a:xfrm>
            <a:off x="4734992" y="1142889"/>
            <a:ext cx="4245300" cy="17553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2400"/>
              <a:buFont typeface="Arial"/>
              <a:buNone/>
            </a:pPr>
            <a:r>
              <a:rPr b="0" i="0" lang="pt-BR" sz="2400" u="none" cap="none" strike="noStrike">
                <a:solidFill>
                  <a:srgbClr val="000000"/>
                </a:solidFill>
                <a:latin typeface="Comfortaa"/>
                <a:ea typeface="Comfortaa"/>
                <a:cs typeface="Comfortaa"/>
                <a:sym typeface="Comfortaa"/>
              </a:rPr>
              <a:t>“Words that occur in similar contexts tend to have similar</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pt-BR" sz="2400" u="none" cap="none" strike="noStrike">
                <a:solidFill>
                  <a:srgbClr val="000000"/>
                </a:solidFill>
                <a:latin typeface="Comfortaa"/>
                <a:ea typeface="Comfortaa"/>
                <a:cs typeface="Comfortaa"/>
                <a:sym typeface="Comfortaa"/>
              </a:rPr>
              <a:t>meanings.”</a:t>
            </a:r>
            <a:br>
              <a:rPr lang="pt-BR" sz="2400">
                <a:latin typeface="Comfortaa"/>
                <a:ea typeface="Comfortaa"/>
                <a:cs typeface="Comfortaa"/>
                <a:sym typeface="Comfortaa"/>
              </a:rPr>
            </a:br>
            <a:r>
              <a:rPr b="0" i="0" lang="pt-BR" sz="2400" u="none" cap="none" strike="noStrike">
                <a:solidFill>
                  <a:srgbClr val="000000"/>
                </a:solidFill>
                <a:latin typeface="Comfortaa"/>
                <a:ea typeface="Comfortaa"/>
                <a:cs typeface="Comfortaa"/>
                <a:sym typeface="Comfortaa"/>
              </a:rPr>
              <a:t>(Jurafsky &amp; Martin, 2025).</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0" name="Shape 1580"/>
        <p:cNvGrpSpPr/>
        <p:nvPr/>
      </p:nvGrpSpPr>
      <p:grpSpPr>
        <a:xfrm>
          <a:off x="0" y="0"/>
          <a:ext cx="0" cy="0"/>
          <a:chOff x="0" y="0"/>
          <a:chExt cx="0" cy="0"/>
        </a:xfrm>
      </p:grpSpPr>
      <p:sp>
        <p:nvSpPr>
          <p:cNvPr id="1581" name="Google Shape;1581;g3f9ebdf94e2_0_1485"/>
          <p:cNvSpPr txBox="1"/>
          <p:nvPr>
            <p:ph type="title"/>
          </p:nvPr>
        </p:nvSpPr>
        <p:spPr>
          <a:xfrm>
            <a:off x="311700" y="445025"/>
            <a:ext cx="8520600" cy="572700"/>
          </a:xfrm>
          <a:prstGeom prst="rect">
            <a:avLst/>
          </a:prstGeom>
          <a:noFill/>
          <a:ln>
            <a:noFill/>
          </a:ln>
        </p:spPr>
        <p:txBody>
          <a:bodyPr anchorCtr="0" anchor="b" bIns="34275" lIns="68575" spcFirstLastPara="1" rIns="68575" wrap="square" tIns="34275">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Computational models of word meaning</a:t>
            </a:r>
            <a:endParaRPr/>
          </a:p>
        </p:txBody>
      </p:sp>
      <p:sp>
        <p:nvSpPr>
          <p:cNvPr id="1582" name="Google Shape;1582;g3f9ebdf94e2_0_1485"/>
          <p:cNvSpPr txBox="1"/>
          <p:nvPr>
            <p:ph idx="1" type="body"/>
          </p:nvPr>
        </p:nvSpPr>
        <p:spPr>
          <a:xfrm>
            <a:off x="311700" y="1152475"/>
            <a:ext cx="8520600" cy="3416400"/>
          </a:xfrm>
          <a:prstGeom prst="rect">
            <a:avLst/>
          </a:prstGeom>
          <a:noFill/>
          <a:ln>
            <a:noFill/>
          </a:ln>
        </p:spPr>
        <p:txBody>
          <a:bodyPr anchorCtr="0" anchor="t" bIns="34275" lIns="0" spcFirstLastPara="1" rIns="0" wrap="square" tIns="34275">
            <a:normAutofit/>
          </a:bodyPr>
          <a:lstStyle/>
          <a:p>
            <a:pPr indent="0" lvl="0" marL="0" rtl="0" algn="l">
              <a:lnSpc>
                <a:spcPct val="90000"/>
              </a:lnSpc>
              <a:spcBef>
                <a:spcPts val="0"/>
              </a:spcBef>
              <a:spcAft>
                <a:spcPts val="0"/>
              </a:spcAft>
              <a:buSzPts val="2700"/>
              <a:buNone/>
            </a:pPr>
            <a:r>
              <a:rPr lang="pt-BR" sz="2700"/>
              <a:t>Can we build a theory of how to represent word meaning, that accounts for at least some of the desiderata?</a:t>
            </a:r>
            <a:endParaRPr/>
          </a:p>
          <a:p>
            <a:pPr indent="0" lvl="0" marL="0" rtl="0" algn="l">
              <a:lnSpc>
                <a:spcPct val="90000"/>
              </a:lnSpc>
              <a:spcBef>
                <a:spcPts val="1100"/>
              </a:spcBef>
              <a:spcAft>
                <a:spcPts val="0"/>
              </a:spcAft>
              <a:buSzPts val="2700"/>
              <a:buNone/>
            </a:pPr>
            <a:r>
              <a:rPr lang="pt-BR" sz="2700"/>
              <a:t>We'll introduce </a:t>
            </a:r>
            <a:r>
              <a:rPr b="1" lang="pt-BR" sz="2700"/>
              <a:t>vector semantics</a:t>
            </a:r>
            <a:endParaRPr/>
          </a:p>
          <a:p>
            <a:pPr indent="0" lvl="0" marL="0" rtl="0" algn="l">
              <a:lnSpc>
                <a:spcPct val="90000"/>
              </a:lnSpc>
              <a:spcBef>
                <a:spcPts val="1100"/>
              </a:spcBef>
              <a:spcAft>
                <a:spcPts val="0"/>
              </a:spcAft>
              <a:buSzPts val="2700"/>
              <a:buNone/>
            </a:pPr>
            <a:r>
              <a:rPr b="1" lang="pt-BR" sz="2700"/>
              <a:t>	</a:t>
            </a:r>
            <a:r>
              <a:rPr lang="pt-BR" sz="2700"/>
              <a:t>The standard model in language processing!</a:t>
            </a:r>
            <a:endParaRPr/>
          </a:p>
          <a:p>
            <a:pPr indent="0" lvl="0" marL="0" rtl="0" algn="l">
              <a:lnSpc>
                <a:spcPct val="90000"/>
              </a:lnSpc>
              <a:spcBef>
                <a:spcPts val="1100"/>
              </a:spcBef>
              <a:spcAft>
                <a:spcPts val="0"/>
              </a:spcAft>
              <a:buSzPts val="2700"/>
              <a:buNone/>
            </a:pPr>
            <a:r>
              <a:rPr lang="pt-BR" sz="2700"/>
              <a:t>	Handles many of our goals!</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g3f9ebdf94e2_0_1491"/>
          <p:cNvSpPr txBox="1"/>
          <p:nvPr>
            <p:ph type="title"/>
          </p:nvPr>
        </p:nvSpPr>
        <p:spPr>
          <a:xfrm>
            <a:off x="311700" y="445025"/>
            <a:ext cx="8520600" cy="5727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Ludwig Wittgenstein</a:t>
            </a:r>
            <a:endParaRPr/>
          </a:p>
        </p:txBody>
      </p:sp>
      <p:sp>
        <p:nvSpPr>
          <p:cNvPr id="1589" name="Google Shape;1589;g3f9ebdf94e2_0_1491"/>
          <p:cNvSpPr txBox="1"/>
          <p:nvPr>
            <p:ph idx="1" type="body"/>
          </p:nvPr>
        </p:nvSpPr>
        <p:spPr>
          <a:xfrm>
            <a:off x="311700" y="1918950"/>
            <a:ext cx="8520600" cy="1305600"/>
          </a:xfrm>
          <a:prstGeom prst="rect">
            <a:avLst/>
          </a:prstGeom>
          <a:noFill/>
          <a:ln>
            <a:noFill/>
          </a:ln>
        </p:spPr>
        <p:txBody>
          <a:bodyPr anchorCtr="0" anchor="t" bIns="34275" lIns="0" spcFirstLastPara="1" rIns="0" wrap="square" tIns="34275">
            <a:normAutofit/>
          </a:bodyPr>
          <a:lstStyle/>
          <a:p>
            <a:pPr indent="0" lvl="0" marL="0" rtl="0" algn="l">
              <a:lnSpc>
                <a:spcPct val="90000"/>
              </a:lnSpc>
              <a:spcBef>
                <a:spcPts val="0"/>
              </a:spcBef>
              <a:spcAft>
                <a:spcPts val="0"/>
              </a:spcAft>
              <a:buSzPts val="2700"/>
              <a:buNone/>
            </a:pPr>
            <a:r>
              <a:rPr lang="pt-BR" sz="2700"/>
              <a:t>PI #43: </a:t>
            </a:r>
            <a:endParaRPr/>
          </a:p>
          <a:p>
            <a:pPr indent="0" lvl="1" marL="241300" rtl="0" algn="l">
              <a:lnSpc>
                <a:spcPct val="90000"/>
              </a:lnSpc>
              <a:spcBef>
                <a:spcPts val="300"/>
              </a:spcBef>
              <a:spcAft>
                <a:spcPts val="0"/>
              </a:spcAft>
              <a:buSzPts val="2700"/>
              <a:buNone/>
            </a:pPr>
            <a:r>
              <a:rPr lang="pt-BR" sz="2700"/>
              <a:t>"The meaning of a word is its use in the language"</a:t>
            </a:r>
            <a:endParaRPr/>
          </a:p>
        </p:txBody>
      </p:sp>
      <p:sp>
        <p:nvSpPr>
          <p:cNvPr id="1590" name="Google Shape;1590;g3f9ebdf94e2_0_1491"/>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4" name="Shape 1594"/>
        <p:cNvGrpSpPr/>
        <p:nvPr/>
      </p:nvGrpSpPr>
      <p:grpSpPr>
        <a:xfrm>
          <a:off x="0" y="0"/>
          <a:ext cx="0" cy="0"/>
          <a:chOff x="0" y="0"/>
          <a:chExt cx="0" cy="0"/>
        </a:xfrm>
      </p:grpSpPr>
      <p:sp>
        <p:nvSpPr>
          <p:cNvPr id="1595" name="Google Shape;1595;g3f8d41e330d_0_17"/>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Let's define words by their usages</a:t>
            </a:r>
            <a:endParaRPr/>
          </a:p>
        </p:txBody>
      </p:sp>
      <p:sp>
        <p:nvSpPr>
          <p:cNvPr id="1596" name="Google Shape;1596;g3f8d41e330d_0_17"/>
          <p:cNvSpPr txBox="1"/>
          <p:nvPr>
            <p:ph idx="1" type="body"/>
          </p:nvPr>
        </p:nvSpPr>
        <p:spPr>
          <a:xfrm>
            <a:off x="457175" y="1203626"/>
            <a:ext cx="8228700" cy="296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sz="2400"/>
              <a:t>One way to define "usage": </a:t>
            </a:r>
            <a:endParaRPr sz="2400"/>
          </a:p>
          <a:p>
            <a:pPr indent="0" lvl="0" marL="0" rtl="0" algn="l">
              <a:spcBef>
                <a:spcPts val="0"/>
              </a:spcBef>
              <a:spcAft>
                <a:spcPts val="0"/>
              </a:spcAft>
              <a:buNone/>
            </a:pPr>
            <a:r>
              <a:rPr lang="pt-BR" sz="2400"/>
              <a:t>words are defined by their environments (the words around them)</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pt-BR" sz="2400"/>
              <a:t>Zellig Harris (1954): </a:t>
            </a:r>
            <a:endParaRPr sz="2400"/>
          </a:p>
          <a:p>
            <a:pPr indent="0" lvl="0" marL="0" rtl="0" algn="l">
              <a:spcBef>
                <a:spcPts val="0"/>
              </a:spcBef>
              <a:spcAft>
                <a:spcPts val="0"/>
              </a:spcAft>
              <a:buNone/>
            </a:pPr>
            <a:r>
              <a:rPr b="1" lang="pt-BR" sz="2400"/>
              <a:t>If A and B have almost identical environments we say that they are synonyms.</a:t>
            </a:r>
            <a:endParaRPr b="1" sz="2400"/>
          </a:p>
        </p:txBody>
      </p:sp>
      <p:sp>
        <p:nvSpPr>
          <p:cNvPr id="1597" name="Google Shape;1597;g3f8d41e330d_0_17"/>
          <p:cNvSpPr txBox="1"/>
          <p:nvPr/>
        </p:nvSpPr>
        <p:spPr>
          <a:xfrm>
            <a:off x="6141300" y="43877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1" name="Shape 1601"/>
        <p:cNvGrpSpPr/>
        <p:nvPr/>
      </p:nvGrpSpPr>
      <p:grpSpPr>
        <a:xfrm>
          <a:off x="0" y="0"/>
          <a:ext cx="0" cy="0"/>
          <a:chOff x="0" y="0"/>
          <a:chExt cx="0" cy="0"/>
        </a:xfrm>
      </p:grpSpPr>
      <p:sp>
        <p:nvSpPr>
          <p:cNvPr id="1602" name="Google Shape;1602;g3f8d41e330d_0_2"/>
          <p:cNvSpPr txBox="1"/>
          <p:nvPr>
            <p:ph type="title"/>
          </p:nvPr>
        </p:nvSpPr>
        <p:spPr>
          <a:xfrm>
            <a:off x="311700" y="123341"/>
            <a:ext cx="8520600" cy="87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800"/>
              <a:t>What does recent English borrowing ongchoi mean?</a:t>
            </a:r>
            <a:endParaRPr sz="2800"/>
          </a:p>
        </p:txBody>
      </p:sp>
      <p:sp>
        <p:nvSpPr>
          <p:cNvPr id="1603" name="Google Shape;1603;g3f8d41e330d_0_2"/>
          <p:cNvSpPr txBox="1"/>
          <p:nvPr>
            <p:ph idx="1" type="body"/>
          </p:nvPr>
        </p:nvSpPr>
        <p:spPr>
          <a:xfrm>
            <a:off x="311700" y="1130241"/>
            <a:ext cx="8520600" cy="37167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pt-BR" sz="2400"/>
              <a:t>Suppose you see these sentences:</a:t>
            </a:r>
            <a:endParaRPr sz="2400"/>
          </a:p>
          <a:p>
            <a:pPr indent="-342900" lvl="1" marL="914400" rtl="0" algn="l">
              <a:spcBef>
                <a:spcPts val="0"/>
              </a:spcBef>
              <a:spcAft>
                <a:spcPts val="0"/>
              </a:spcAft>
              <a:buSzPts val="1800"/>
              <a:buChar char="○"/>
            </a:pPr>
            <a:r>
              <a:rPr lang="pt-BR" sz="1800"/>
              <a:t>Ong choi is delicious </a:t>
            </a:r>
            <a:r>
              <a:rPr b="1" lang="pt-BR" sz="1800"/>
              <a:t>s</a:t>
            </a:r>
            <a:r>
              <a:rPr b="1" lang="pt-BR" sz="1800"/>
              <a:t>a</a:t>
            </a:r>
            <a:r>
              <a:rPr b="1" lang="pt-BR" sz="1800"/>
              <a:t>utéed with garlic</a:t>
            </a:r>
            <a:r>
              <a:rPr lang="pt-BR" sz="1800"/>
              <a:t>. </a:t>
            </a:r>
            <a:endParaRPr sz="1800"/>
          </a:p>
          <a:p>
            <a:pPr indent="-342900" lvl="1" marL="914400" rtl="0" algn="l">
              <a:spcBef>
                <a:spcPts val="0"/>
              </a:spcBef>
              <a:spcAft>
                <a:spcPts val="0"/>
              </a:spcAft>
              <a:buSzPts val="1800"/>
              <a:buChar char="○"/>
            </a:pPr>
            <a:r>
              <a:rPr lang="pt-BR" sz="1800"/>
              <a:t>Ong choi is superb </a:t>
            </a:r>
            <a:r>
              <a:rPr b="1" lang="pt-BR" sz="1800"/>
              <a:t>over rice</a:t>
            </a:r>
            <a:endParaRPr b="1" sz="1800"/>
          </a:p>
          <a:p>
            <a:pPr indent="-342900" lvl="1" marL="914400" rtl="0" algn="l">
              <a:spcBef>
                <a:spcPts val="0"/>
              </a:spcBef>
              <a:spcAft>
                <a:spcPts val="0"/>
              </a:spcAft>
              <a:buSzPts val="1800"/>
              <a:buChar char="○"/>
            </a:pPr>
            <a:r>
              <a:rPr lang="pt-BR" sz="1800"/>
              <a:t>Ong choi </a:t>
            </a:r>
            <a:r>
              <a:rPr b="1" lang="pt-BR" sz="1800"/>
              <a:t>leaves</a:t>
            </a:r>
            <a:r>
              <a:rPr lang="pt-BR" sz="1800"/>
              <a:t> with salty sauces</a:t>
            </a:r>
            <a:endParaRPr sz="1800"/>
          </a:p>
          <a:p>
            <a:pPr indent="-381000" lvl="0" marL="457200" rtl="0" algn="l">
              <a:spcBef>
                <a:spcPts val="0"/>
              </a:spcBef>
              <a:spcAft>
                <a:spcPts val="0"/>
              </a:spcAft>
              <a:buSzPts val="2400"/>
              <a:buChar char="●"/>
            </a:pPr>
            <a:r>
              <a:rPr lang="pt-BR" sz="2400"/>
              <a:t>And you've also seen these:</a:t>
            </a:r>
            <a:endParaRPr sz="2400"/>
          </a:p>
          <a:p>
            <a:pPr indent="-342900" lvl="1" marL="914400" rtl="0" algn="l">
              <a:spcBef>
                <a:spcPts val="0"/>
              </a:spcBef>
              <a:spcAft>
                <a:spcPts val="0"/>
              </a:spcAft>
              <a:buSzPts val="1800"/>
              <a:buChar char="○"/>
            </a:pPr>
            <a:r>
              <a:rPr lang="pt-BR" sz="1800"/>
              <a:t>…spinach </a:t>
            </a:r>
            <a:r>
              <a:rPr b="1" lang="pt-BR" sz="1800"/>
              <a:t>sautéed with garlic over rice</a:t>
            </a:r>
            <a:endParaRPr b="1" sz="1800"/>
          </a:p>
          <a:p>
            <a:pPr indent="-342900" lvl="1" marL="914400" rtl="0" algn="l">
              <a:spcBef>
                <a:spcPts val="0"/>
              </a:spcBef>
              <a:spcAft>
                <a:spcPts val="0"/>
              </a:spcAft>
              <a:buSzPts val="1800"/>
              <a:buChar char="○"/>
            </a:pPr>
            <a:r>
              <a:rPr lang="pt-BR" sz="1800"/>
              <a:t>Chard stems and </a:t>
            </a:r>
            <a:r>
              <a:rPr b="1" lang="pt-BR" sz="1800"/>
              <a:t>leaves</a:t>
            </a:r>
            <a:r>
              <a:rPr lang="pt-BR" sz="1800"/>
              <a:t> are </a:t>
            </a:r>
            <a:r>
              <a:rPr b="1" lang="pt-BR" sz="1800"/>
              <a:t>delicious</a:t>
            </a:r>
            <a:endParaRPr b="1" sz="1800"/>
          </a:p>
          <a:p>
            <a:pPr indent="-342900" lvl="1" marL="914400" rtl="0" algn="l">
              <a:spcBef>
                <a:spcPts val="0"/>
              </a:spcBef>
              <a:spcAft>
                <a:spcPts val="0"/>
              </a:spcAft>
              <a:buSzPts val="1800"/>
              <a:buChar char="○"/>
            </a:pPr>
            <a:r>
              <a:rPr lang="pt-BR" sz="1800"/>
              <a:t>Collard greens and other </a:t>
            </a:r>
            <a:r>
              <a:rPr b="1" lang="pt-BR" sz="1800"/>
              <a:t>salty</a:t>
            </a:r>
            <a:r>
              <a:rPr lang="pt-BR" sz="1800"/>
              <a:t> leafy greens</a:t>
            </a:r>
            <a:endParaRPr sz="1800"/>
          </a:p>
          <a:p>
            <a:pPr indent="-381000" lvl="0" marL="457200" rtl="0" algn="l">
              <a:spcBef>
                <a:spcPts val="0"/>
              </a:spcBef>
              <a:spcAft>
                <a:spcPts val="0"/>
              </a:spcAft>
              <a:buSzPts val="2400"/>
              <a:buChar char="●"/>
            </a:pPr>
            <a:r>
              <a:rPr lang="pt-BR" sz="2400"/>
              <a:t>Conclusion:</a:t>
            </a:r>
            <a:endParaRPr sz="2400"/>
          </a:p>
          <a:p>
            <a:pPr indent="-342900" lvl="1" marL="914400" rtl="0" algn="l">
              <a:spcBef>
                <a:spcPts val="0"/>
              </a:spcBef>
              <a:spcAft>
                <a:spcPts val="0"/>
              </a:spcAft>
              <a:buSzPts val="1800"/>
              <a:buChar char="○"/>
            </a:pPr>
            <a:r>
              <a:rPr lang="pt-BR" sz="1800"/>
              <a:t>Ongchoi is a leafy green like spinach, chard, or collard greens</a:t>
            </a:r>
            <a:endParaRPr sz="1800"/>
          </a:p>
          <a:p>
            <a:pPr indent="-304800" lvl="2" marL="1371600" rtl="0" algn="l">
              <a:spcBef>
                <a:spcPts val="0"/>
              </a:spcBef>
              <a:spcAft>
                <a:spcPts val="0"/>
              </a:spcAft>
              <a:buSzPts val="1200"/>
              <a:buChar char="■"/>
            </a:pPr>
            <a:r>
              <a:rPr lang="pt-BR" sz="1200"/>
              <a:t>We could conclude this based on words like "leaves" and "delicious" and "sauteed" </a:t>
            </a:r>
            <a:endParaRPr sz="1200"/>
          </a:p>
        </p:txBody>
      </p:sp>
      <p:sp>
        <p:nvSpPr>
          <p:cNvPr id="1604" name="Google Shape;1604;g3f8d41e330d_0_2"/>
          <p:cNvSpPr txBox="1"/>
          <p:nvPr/>
        </p:nvSpPr>
        <p:spPr>
          <a:xfrm>
            <a:off x="6320650" y="7148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g3f8d41e330d_0_7"/>
          <p:cNvSpPr txBox="1"/>
          <p:nvPr>
            <p:ph type="title"/>
          </p:nvPr>
        </p:nvSpPr>
        <p:spPr>
          <a:xfrm>
            <a:off x="311700" y="107600"/>
            <a:ext cx="8520600" cy="116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Ongchoi: </a:t>
            </a:r>
            <a:r>
              <a:rPr i="1" lang="pt-BR"/>
              <a:t>Ipomoea aquatica "Water Spinach"</a:t>
            </a:r>
            <a:endParaRPr i="1"/>
          </a:p>
        </p:txBody>
      </p:sp>
      <p:pic>
        <p:nvPicPr>
          <p:cNvPr id="1610" name="Google Shape;1610;g3f8d41e330d_0_7"/>
          <p:cNvPicPr preferRelativeResize="0"/>
          <p:nvPr>
            <p:ph idx="4294967295" type="body"/>
          </p:nvPr>
        </p:nvPicPr>
        <p:blipFill rotWithShape="1">
          <a:blip r:embed="rId3">
            <a:alphaModFix/>
          </a:blip>
          <a:srcRect b="0" l="0" r="0" t="0"/>
          <a:stretch/>
        </p:blipFill>
        <p:spPr>
          <a:xfrm>
            <a:off x="3165250" y="1063862"/>
            <a:ext cx="4512300" cy="3750600"/>
          </a:xfrm>
          <a:prstGeom prst="rect">
            <a:avLst/>
          </a:prstGeom>
          <a:noFill/>
          <a:ln>
            <a:noFill/>
          </a:ln>
        </p:spPr>
      </p:pic>
      <p:sp>
        <p:nvSpPr>
          <p:cNvPr id="1611" name="Google Shape;1611;g3f8d41e330d_0_7"/>
          <p:cNvSpPr txBox="1"/>
          <p:nvPr/>
        </p:nvSpPr>
        <p:spPr>
          <a:xfrm>
            <a:off x="3888125" y="4846975"/>
            <a:ext cx="33426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900">
                <a:solidFill>
                  <a:schemeClr val="dk1"/>
                </a:solidFill>
                <a:latin typeface="Calibri"/>
                <a:ea typeface="Calibri"/>
                <a:cs typeface="Calibri"/>
                <a:sym typeface="Calibri"/>
              </a:rPr>
              <a:t>Yamaguchi, Wikimedia Commons, public domain</a:t>
            </a:r>
            <a:endParaRPr sz="1100"/>
          </a:p>
        </p:txBody>
      </p:sp>
      <p:sp>
        <p:nvSpPr>
          <p:cNvPr id="1612" name="Google Shape;1612;g3f8d41e330d_0_7"/>
          <p:cNvSpPr txBox="1"/>
          <p:nvPr/>
        </p:nvSpPr>
        <p:spPr>
          <a:xfrm>
            <a:off x="1485900" y="1880532"/>
            <a:ext cx="1498200" cy="191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pt-BR" sz="2400">
                <a:solidFill>
                  <a:schemeClr val="dk1"/>
                </a:solidFill>
                <a:latin typeface="Arial"/>
                <a:ea typeface="Arial"/>
                <a:cs typeface="Arial"/>
                <a:sym typeface="Arial"/>
              </a:rPr>
              <a:t>空心菜</a:t>
            </a:r>
            <a:endParaRPr i="1" sz="2400">
              <a:solidFill>
                <a:schemeClr val="dk1"/>
              </a:solidFill>
              <a:latin typeface="Arial"/>
              <a:ea typeface="Arial"/>
              <a:cs typeface="Arial"/>
              <a:sym typeface="Arial"/>
            </a:endParaRPr>
          </a:p>
          <a:p>
            <a:pPr indent="0" lvl="0" marL="0" marR="0" rtl="0" algn="l">
              <a:spcBef>
                <a:spcPts val="0"/>
              </a:spcBef>
              <a:spcAft>
                <a:spcPts val="0"/>
              </a:spcAft>
              <a:buNone/>
            </a:pPr>
            <a:r>
              <a:rPr i="1" lang="pt-BR" sz="2400">
                <a:solidFill>
                  <a:schemeClr val="dk1"/>
                </a:solidFill>
                <a:latin typeface="Arial"/>
                <a:ea typeface="Arial"/>
                <a:cs typeface="Arial"/>
                <a:sym typeface="Arial"/>
              </a:rPr>
              <a:t>kangkong</a:t>
            </a:r>
            <a:endParaRPr sz="1100"/>
          </a:p>
          <a:p>
            <a:pPr indent="0" lvl="0" marL="0" marR="0" rtl="0" algn="l">
              <a:spcBef>
                <a:spcPts val="0"/>
              </a:spcBef>
              <a:spcAft>
                <a:spcPts val="0"/>
              </a:spcAft>
              <a:buNone/>
            </a:pPr>
            <a:r>
              <a:rPr lang="pt-BR" sz="2400">
                <a:solidFill>
                  <a:schemeClr val="dk1"/>
                </a:solidFill>
                <a:latin typeface="Calibri"/>
                <a:ea typeface="Calibri"/>
                <a:cs typeface="Calibri"/>
                <a:sym typeface="Calibri"/>
              </a:rPr>
              <a:t>rau muống</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pt-BR" sz="2400">
                <a:solidFill>
                  <a:schemeClr val="dk1"/>
                </a:solidFill>
                <a:latin typeface="Calibri"/>
                <a:ea typeface="Calibri"/>
                <a:cs typeface="Calibri"/>
                <a:sym typeface="Calibri"/>
              </a:rPr>
              <a:t>…</a:t>
            </a:r>
            <a:endParaRPr sz="1100"/>
          </a:p>
        </p:txBody>
      </p:sp>
      <p:sp>
        <p:nvSpPr>
          <p:cNvPr id="1613" name="Google Shape;1613;g3f8d41e330d_0_7"/>
          <p:cNvSpPr txBox="1"/>
          <p:nvPr/>
        </p:nvSpPr>
        <p:spPr>
          <a:xfrm>
            <a:off x="311700" y="429287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7" name="Shape 1617"/>
        <p:cNvGrpSpPr/>
        <p:nvPr/>
      </p:nvGrpSpPr>
      <p:grpSpPr>
        <a:xfrm>
          <a:off x="0" y="0"/>
          <a:ext cx="0" cy="0"/>
          <a:chOff x="0" y="0"/>
          <a:chExt cx="0" cy="0"/>
        </a:xfrm>
      </p:grpSpPr>
      <p:sp>
        <p:nvSpPr>
          <p:cNvPr id="1618" name="Google Shape;1618;g3fb4b53f0be_3_52"/>
          <p:cNvSpPr txBox="1"/>
          <p:nvPr>
            <p:ph type="title"/>
          </p:nvPr>
        </p:nvSpPr>
        <p:spPr>
          <a:xfrm>
            <a:off x="265500" y="2050350"/>
            <a:ext cx="4045200" cy="104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linguistic distribution</a:t>
            </a:r>
            <a:endParaRPr/>
          </a:p>
        </p:txBody>
      </p:sp>
      <p:sp>
        <p:nvSpPr>
          <p:cNvPr id="1619" name="Google Shape;1619;g3fb4b53f0be_3_52"/>
          <p:cNvSpPr txBox="1"/>
          <p:nvPr>
            <p:ph idx="2" type="body"/>
          </p:nvPr>
        </p:nvSpPr>
        <p:spPr>
          <a:xfrm>
            <a:off x="4939500" y="1672650"/>
            <a:ext cx="3837000" cy="179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point in multidimensional space</a:t>
            </a:r>
            <a:endParaRPr/>
          </a:p>
        </p:txBody>
      </p:sp>
      <p:sp>
        <p:nvSpPr>
          <p:cNvPr id="1620" name="Google Shape;1620;g3fb4b53f0be_3_52"/>
          <p:cNvSpPr txBox="1"/>
          <p:nvPr/>
        </p:nvSpPr>
        <p:spPr>
          <a:xfrm>
            <a:off x="458700" y="346075"/>
            <a:ext cx="7919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chemeClr val="lt2"/>
                </a:solidFill>
                <a:latin typeface="Comfortaa"/>
                <a:ea typeface="Comfortaa"/>
                <a:cs typeface="Comfortaa"/>
                <a:sym typeface="Comfortaa"/>
              </a:rPr>
              <a:t>Word Vector</a:t>
            </a:r>
            <a:r>
              <a:rPr b="1" lang="pt-BR" sz="3000">
                <a:solidFill>
                  <a:srgbClr val="434343"/>
                </a:solidFill>
                <a:latin typeface="Comfortaa"/>
                <a:ea typeface="Comfortaa"/>
                <a:cs typeface="Comfortaa"/>
                <a:sym typeface="Comfortaa"/>
              </a:rPr>
              <a:t> Semantics</a:t>
            </a:r>
            <a:endParaRPr b="1" sz="3000">
              <a:solidFill>
                <a:srgbClr val="434343"/>
              </a:solidFill>
              <a:latin typeface="Comfortaa"/>
              <a:ea typeface="Comfortaa"/>
              <a:cs typeface="Comfortaa"/>
              <a:sym typeface="Comfortaa"/>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g3fb4b53f0be_3_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1 - Fruits in the Space</a:t>
            </a:r>
            <a:endParaRPr/>
          </a:p>
        </p:txBody>
      </p:sp>
      <p:sp>
        <p:nvSpPr>
          <p:cNvPr id="1626" name="Google Shape;1626;g3fb4b53f0be_3_65"/>
          <p:cNvSpPr txBox="1"/>
          <p:nvPr>
            <p:ph idx="1" type="body"/>
          </p:nvPr>
        </p:nvSpPr>
        <p:spPr>
          <a:xfrm>
            <a:off x="311700" y="1152475"/>
            <a:ext cx="4595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600"/>
              <a:t>Given the following fruits, choose three flavor components to be used to differentiate them.</a:t>
            </a:r>
            <a:endParaRPr sz="26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pt-BR" sz="1600"/>
              <a:t>Dadas as seguintes frutas, escolha três componentes de sabor para ser usados para diferenciá-las.</a:t>
            </a:r>
            <a:endParaRPr sz="1600"/>
          </a:p>
        </p:txBody>
      </p:sp>
      <p:pic>
        <p:nvPicPr>
          <p:cNvPr id="1627" name="Google Shape;1627;g3fb4b53f0be_3_65"/>
          <p:cNvPicPr preferRelativeResize="0"/>
          <p:nvPr/>
        </p:nvPicPr>
        <p:blipFill>
          <a:blip r:embed="rId3">
            <a:alphaModFix/>
          </a:blip>
          <a:stretch>
            <a:fillRect/>
          </a:stretch>
        </p:blipFill>
        <p:spPr>
          <a:xfrm>
            <a:off x="4851300" y="1674700"/>
            <a:ext cx="4194375" cy="2097201"/>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sp>
        <p:nvSpPr>
          <p:cNvPr id="1632" name="Google Shape;1632;g3fb4b53f0be_3_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2 - Flavor Factor Space</a:t>
            </a:r>
            <a:endParaRPr/>
          </a:p>
        </p:txBody>
      </p:sp>
      <p:sp>
        <p:nvSpPr>
          <p:cNvPr id="1633" name="Google Shape;1633;g3fb4b53f0be_3_71"/>
          <p:cNvSpPr txBox="1"/>
          <p:nvPr>
            <p:ph idx="1" type="body"/>
          </p:nvPr>
        </p:nvSpPr>
        <p:spPr>
          <a:xfrm>
            <a:off x="311700" y="1152475"/>
            <a:ext cx="4862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Answer the form:</a:t>
            </a:r>
            <a:endParaRPr/>
          </a:p>
          <a:p>
            <a:pPr indent="0" lvl="0" marL="0" rtl="0" algn="l">
              <a:spcBef>
                <a:spcPts val="0"/>
              </a:spcBef>
              <a:spcAft>
                <a:spcPts val="0"/>
              </a:spcAft>
              <a:buNone/>
            </a:pPr>
            <a:r>
              <a:rPr lang="pt-BR" sz="1800" u="sng">
                <a:solidFill>
                  <a:schemeClr val="hlink"/>
                </a:solidFill>
                <a:hlinkClick r:id="rId3"/>
              </a:rPr>
              <a:t>https://forms.gle/wzicEu8648eSvXMH9</a:t>
            </a:r>
            <a:endParaRPr sz="1800"/>
          </a:p>
        </p:txBody>
      </p:sp>
      <p:pic>
        <p:nvPicPr>
          <p:cNvPr id="1634" name="Google Shape;1634;g3fb4b53f0be_3_71"/>
          <p:cNvPicPr preferRelativeResize="0"/>
          <p:nvPr/>
        </p:nvPicPr>
        <p:blipFill>
          <a:blip r:embed="rId4">
            <a:alphaModFix/>
          </a:blip>
          <a:stretch>
            <a:fillRect/>
          </a:stretch>
        </p:blipFill>
        <p:spPr>
          <a:xfrm>
            <a:off x="5463650" y="1071075"/>
            <a:ext cx="3547071" cy="3820976"/>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g3fb4b53f0be_3_7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Flavor Factor Space</a:t>
            </a:r>
            <a:endParaRPr/>
          </a:p>
        </p:txBody>
      </p:sp>
      <p:pic>
        <p:nvPicPr>
          <p:cNvPr id="1640" name="Google Shape;1640;g3fb4b53f0be_3_78"/>
          <p:cNvPicPr preferRelativeResize="0"/>
          <p:nvPr/>
        </p:nvPicPr>
        <p:blipFill>
          <a:blip r:embed="rId3">
            <a:alphaModFix/>
          </a:blip>
          <a:stretch>
            <a:fillRect/>
          </a:stretch>
        </p:blipFill>
        <p:spPr>
          <a:xfrm>
            <a:off x="2110538" y="1147250"/>
            <a:ext cx="4922937" cy="3820976"/>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4" name="Shape 1644"/>
        <p:cNvGrpSpPr/>
        <p:nvPr/>
      </p:nvGrpSpPr>
      <p:grpSpPr>
        <a:xfrm>
          <a:off x="0" y="0"/>
          <a:ext cx="0" cy="0"/>
          <a:chOff x="0" y="0"/>
          <a:chExt cx="0" cy="0"/>
        </a:xfrm>
      </p:grpSpPr>
      <p:sp>
        <p:nvSpPr>
          <p:cNvPr id="1645" name="Google Shape;1645;g3f8d41e330d_0_23"/>
          <p:cNvSpPr txBox="1"/>
          <p:nvPr>
            <p:ph type="title"/>
          </p:nvPr>
        </p:nvSpPr>
        <p:spPr>
          <a:xfrm>
            <a:off x="311700" y="184525"/>
            <a:ext cx="8520600" cy="122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Idea 1: Defining meaning by linguistic distribution</a:t>
            </a:r>
            <a:endParaRPr/>
          </a:p>
        </p:txBody>
      </p:sp>
      <p:sp>
        <p:nvSpPr>
          <p:cNvPr id="1646" name="Google Shape;1646;g3f8d41e330d_0_23"/>
          <p:cNvSpPr txBox="1"/>
          <p:nvPr>
            <p:ph idx="1" type="body"/>
          </p:nvPr>
        </p:nvSpPr>
        <p:spPr>
          <a:xfrm>
            <a:off x="311700" y="1406975"/>
            <a:ext cx="8520600" cy="316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Let's define the meaning of a word by its distribution in language use, meaning its neighboring words or grammatical environments.</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g3fb4b53f0be_3_1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3 - Words in the Space</a:t>
            </a:r>
            <a:endParaRPr/>
          </a:p>
        </p:txBody>
      </p:sp>
      <p:sp>
        <p:nvSpPr>
          <p:cNvPr id="1652" name="Google Shape;1652;g3fb4b53f0be_3_145"/>
          <p:cNvSpPr txBox="1"/>
          <p:nvPr>
            <p:ph idx="1" type="body"/>
          </p:nvPr>
        </p:nvSpPr>
        <p:spPr>
          <a:xfrm>
            <a:off x="311700" y="1152475"/>
            <a:ext cx="4595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600"/>
              <a:t>Given the following words, choose three components to be used to differentiate them.</a:t>
            </a:r>
            <a:endParaRPr sz="26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pt-BR" sz="1600"/>
              <a:t>Com base nas palavras a seguir, escolha três componentes para diferenciá-las.</a:t>
            </a:r>
            <a:endParaRPr sz="1600"/>
          </a:p>
        </p:txBody>
      </p:sp>
      <p:sp>
        <p:nvSpPr>
          <p:cNvPr id="1653" name="Google Shape;1653;g3fb4b53f0be_3_145"/>
          <p:cNvSpPr txBox="1"/>
          <p:nvPr/>
        </p:nvSpPr>
        <p:spPr>
          <a:xfrm>
            <a:off x="5603600" y="1503925"/>
            <a:ext cx="2946000" cy="29553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Clr>
                <a:srgbClr val="434343"/>
              </a:buClr>
              <a:buSzPts val="3000"/>
              <a:buFont typeface="Comfortaa"/>
              <a:buChar char="●"/>
            </a:pPr>
            <a:r>
              <a:rPr lang="pt-BR" sz="3000">
                <a:solidFill>
                  <a:srgbClr val="434343"/>
                </a:solidFill>
                <a:latin typeface="Comfortaa"/>
                <a:ea typeface="Comfortaa"/>
                <a:cs typeface="Comfortaa"/>
                <a:sym typeface="Comfortaa"/>
              </a:rPr>
              <a:t>love</a:t>
            </a:r>
            <a:endParaRPr sz="3000">
              <a:solidFill>
                <a:srgbClr val="434343"/>
              </a:solidFill>
              <a:latin typeface="Comfortaa"/>
              <a:ea typeface="Comfortaa"/>
              <a:cs typeface="Comfortaa"/>
              <a:sym typeface="Comfortaa"/>
            </a:endParaRPr>
          </a:p>
          <a:p>
            <a:pPr indent="-419100" lvl="0" marL="457200" rtl="0" algn="l">
              <a:spcBef>
                <a:spcPts val="0"/>
              </a:spcBef>
              <a:spcAft>
                <a:spcPts val="0"/>
              </a:spcAft>
              <a:buClr>
                <a:srgbClr val="434343"/>
              </a:buClr>
              <a:buSzPts val="3000"/>
              <a:buFont typeface="Comfortaa"/>
              <a:buChar char="●"/>
            </a:pPr>
            <a:r>
              <a:rPr lang="pt-BR" sz="3000">
                <a:solidFill>
                  <a:srgbClr val="434343"/>
                </a:solidFill>
                <a:latin typeface="Comfortaa"/>
                <a:ea typeface="Comfortaa"/>
                <a:cs typeface="Comfortaa"/>
                <a:sym typeface="Comfortaa"/>
              </a:rPr>
              <a:t>happy</a:t>
            </a:r>
            <a:endParaRPr sz="3000">
              <a:solidFill>
                <a:srgbClr val="434343"/>
              </a:solidFill>
              <a:latin typeface="Comfortaa"/>
              <a:ea typeface="Comfortaa"/>
              <a:cs typeface="Comfortaa"/>
              <a:sym typeface="Comfortaa"/>
            </a:endParaRPr>
          </a:p>
          <a:p>
            <a:pPr indent="-419100" lvl="0" marL="457200" rtl="0" algn="l">
              <a:spcBef>
                <a:spcPts val="0"/>
              </a:spcBef>
              <a:spcAft>
                <a:spcPts val="0"/>
              </a:spcAft>
              <a:buClr>
                <a:srgbClr val="434343"/>
              </a:buClr>
              <a:buSzPts val="3000"/>
              <a:buFont typeface="Comfortaa"/>
              <a:buChar char="●"/>
            </a:pPr>
            <a:r>
              <a:rPr lang="pt-BR" sz="3000">
                <a:solidFill>
                  <a:srgbClr val="434343"/>
                </a:solidFill>
                <a:latin typeface="Comfortaa"/>
                <a:ea typeface="Comfortaa"/>
                <a:cs typeface="Comfortaa"/>
                <a:sym typeface="Comfortaa"/>
              </a:rPr>
              <a:t>leadership</a:t>
            </a:r>
            <a:endParaRPr sz="3000">
              <a:solidFill>
                <a:srgbClr val="434343"/>
              </a:solidFill>
              <a:latin typeface="Comfortaa"/>
              <a:ea typeface="Comfortaa"/>
              <a:cs typeface="Comfortaa"/>
              <a:sym typeface="Comfortaa"/>
            </a:endParaRPr>
          </a:p>
          <a:p>
            <a:pPr indent="-419100" lvl="0" marL="457200" rtl="0" algn="l">
              <a:spcBef>
                <a:spcPts val="0"/>
              </a:spcBef>
              <a:spcAft>
                <a:spcPts val="0"/>
              </a:spcAft>
              <a:buClr>
                <a:srgbClr val="434343"/>
              </a:buClr>
              <a:buSzPts val="3000"/>
              <a:buFont typeface="Comfortaa"/>
              <a:buChar char="●"/>
            </a:pPr>
            <a:r>
              <a:rPr lang="pt-BR" sz="3000">
                <a:solidFill>
                  <a:srgbClr val="434343"/>
                </a:solidFill>
                <a:latin typeface="Comfortaa"/>
                <a:ea typeface="Comfortaa"/>
                <a:cs typeface="Comfortaa"/>
                <a:sym typeface="Comfortaa"/>
              </a:rPr>
              <a:t>toxic</a:t>
            </a:r>
            <a:endParaRPr sz="3000">
              <a:solidFill>
                <a:srgbClr val="434343"/>
              </a:solidFill>
              <a:latin typeface="Comfortaa"/>
              <a:ea typeface="Comfortaa"/>
              <a:cs typeface="Comfortaa"/>
              <a:sym typeface="Comfortaa"/>
            </a:endParaRPr>
          </a:p>
          <a:p>
            <a:pPr indent="-419100" lvl="0" marL="457200" rtl="0" algn="l">
              <a:spcBef>
                <a:spcPts val="0"/>
              </a:spcBef>
              <a:spcAft>
                <a:spcPts val="0"/>
              </a:spcAft>
              <a:buClr>
                <a:srgbClr val="434343"/>
              </a:buClr>
              <a:buSzPts val="3000"/>
              <a:buFont typeface="Comfortaa"/>
              <a:buChar char="●"/>
            </a:pPr>
            <a:r>
              <a:rPr lang="pt-BR" sz="3000">
                <a:solidFill>
                  <a:srgbClr val="434343"/>
                </a:solidFill>
                <a:latin typeface="Comfortaa"/>
                <a:ea typeface="Comfortaa"/>
                <a:cs typeface="Comfortaa"/>
                <a:sym typeface="Comfortaa"/>
              </a:rPr>
              <a:t>weak</a:t>
            </a:r>
            <a:endParaRPr sz="3000">
              <a:solidFill>
                <a:srgbClr val="434343"/>
              </a:solidFill>
              <a:latin typeface="Comfortaa"/>
              <a:ea typeface="Comfortaa"/>
              <a:cs typeface="Comfortaa"/>
              <a:sym typeface="Comfortaa"/>
            </a:endParaRPr>
          </a:p>
          <a:p>
            <a:pPr indent="-419100" lvl="0" marL="457200" rtl="0" algn="l">
              <a:spcBef>
                <a:spcPts val="0"/>
              </a:spcBef>
              <a:spcAft>
                <a:spcPts val="0"/>
              </a:spcAft>
              <a:buClr>
                <a:srgbClr val="434343"/>
              </a:buClr>
              <a:buSzPts val="3000"/>
              <a:buFont typeface="Comfortaa"/>
              <a:buChar char="●"/>
            </a:pPr>
            <a:r>
              <a:rPr lang="pt-BR" sz="3000">
                <a:solidFill>
                  <a:srgbClr val="434343"/>
                </a:solidFill>
                <a:latin typeface="Comfortaa"/>
                <a:ea typeface="Comfortaa"/>
                <a:cs typeface="Comfortaa"/>
                <a:sym typeface="Comfortaa"/>
              </a:rPr>
              <a:t>empty</a:t>
            </a:r>
            <a:endParaRPr sz="3000">
              <a:solidFill>
                <a:srgbClr val="434343"/>
              </a:solidFill>
              <a:latin typeface="Comfortaa"/>
              <a:ea typeface="Comfortaa"/>
              <a:cs typeface="Comfortaa"/>
              <a:sym typeface="Comfortaa"/>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7" name="Shape 1657"/>
        <p:cNvGrpSpPr/>
        <p:nvPr/>
      </p:nvGrpSpPr>
      <p:grpSpPr>
        <a:xfrm>
          <a:off x="0" y="0"/>
          <a:ext cx="0" cy="0"/>
          <a:chOff x="0" y="0"/>
          <a:chExt cx="0" cy="0"/>
        </a:xfrm>
      </p:grpSpPr>
      <p:sp>
        <p:nvSpPr>
          <p:cNvPr id="1658" name="Google Shape;1658;g3f8d41e330d_0_63"/>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Idea 2: Meaning as a point in space</a:t>
            </a:r>
            <a:endParaRPr/>
          </a:p>
        </p:txBody>
      </p:sp>
      <p:sp>
        <p:nvSpPr>
          <p:cNvPr id="1659" name="Google Shape;1659;g3f8d41e330d_0_63"/>
          <p:cNvSpPr txBox="1"/>
          <p:nvPr>
            <p:ph idx="1" type="body"/>
          </p:nvPr>
        </p:nvSpPr>
        <p:spPr>
          <a:xfrm>
            <a:off x="457175" y="971925"/>
            <a:ext cx="8228700" cy="29583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pt-BR" sz="1800"/>
              <a:t>F</a:t>
            </a:r>
            <a:r>
              <a:rPr b="1" lang="pt-BR" sz="1800"/>
              <a:t>actor analysis</a:t>
            </a:r>
            <a:r>
              <a:rPr lang="pt-BR" sz="1800"/>
              <a:t> (Osgood et al., 1957; Russell, 1980, 2003)</a:t>
            </a:r>
            <a:endParaRPr sz="1800"/>
          </a:p>
          <a:p>
            <a:pPr indent="-342900" lvl="0" marL="457200" rtl="0" algn="l">
              <a:spcBef>
                <a:spcPts val="0"/>
              </a:spcBef>
              <a:spcAft>
                <a:spcPts val="0"/>
              </a:spcAft>
              <a:buSzPts val="1800"/>
              <a:buChar char="●"/>
            </a:pPr>
            <a:r>
              <a:rPr lang="pt-BR" sz="1800"/>
              <a:t>Core Dimensions of word Meaning:</a:t>
            </a:r>
            <a:endParaRPr sz="1800"/>
          </a:p>
          <a:p>
            <a:pPr indent="-342900" lvl="1" marL="914400" rtl="0" algn="l">
              <a:spcBef>
                <a:spcPts val="0"/>
              </a:spcBef>
              <a:spcAft>
                <a:spcPts val="0"/>
              </a:spcAft>
              <a:buSzPts val="1800"/>
              <a:buChar char="○"/>
            </a:pPr>
            <a:r>
              <a:rPr lang="pt-BR" sz="1800"/>
              <a:t></a:t>
            </a:r>
            <a:r>
              <a:rPr b="1" lang="pt-BR" sz="1800"/>
              <a:t>valence (V)</a:t>
            </a:r>
            <a:r>
              <a:rPr lang="pt-BR" sz="1800"/>
              <a:t>: positive/pleasure – negative/displeasure</a:t>
            </a:r>
            <a:endParaRPr sz="1800"/>
          </a:p>
          <a:p>
            <a:pPr indent="-342900" lvl="1" marL="914400" rtl="0" algn="l">
              <a:spcBef>
                <a:spcPts val="0"/>
              </a:spcBef>
              <a:spcAft>
                <a:spcPts val="0"/>
              </a:spcAft>
              <a:buSzPts val="1800"/>
              <a:buChar char="○"/>
            </a:pPr>
            <a:r>
              <a:rPr lang="pt-BR" sz="1800"/>
              <a:t></a:t>
            </a:r>
            <a:r>
              <a:rPr b="1" lang="pt-BR" sz="1800"/>
              <a:t>arousal (A)</a:t>
            </a:r>
            <a:r>
              <a:rPr lang="pt-BR" sz="1800"/>
              <a:t>: active/stimulated – sluggish/bored</a:t>
            </a:r>
            <a:endParaRPr sz="1800"/>
          </a:p>
          <a:p>
            <a:pPr indent="-342900" lvl="1" marL="914400" rtl="0" algn="l">
              <a:spcBef>
                <a:spcPts val="0"/>
              </a:spcBef>
              <a:spcAft>
                <a:spcPts val="0"/>
              </a:spcAft>
              <a:buSzPts val="1800"/>
              <a:buChar char="○"/>
            </a:pPr>
            <a:r>
              <a:rPr lang="pt-BR" sz="1800"/>
              <a:t></a:t>
            </a:r>
            <a:r>
              <a:rPr b="1" lang="pt-BR" sz="1800"/>
              <a:t>dominance (D)</a:t>
            </a:r>
            <a:r>
              <a:rPr lang="pt-BR" sz="1800"/>
              <a:t>: powerful/strong – powerless/weak</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pt-BR" sz="1800"/>
              <a:t>banquet &gt;</a:t>
            </a:r>
            <a:r>
              <a:rPr baseline="-25000" lang="pt-BR" sz="1800"/>
              <a:t>valence</a:t>
            </a:r>
            <a:r>
              <a:rPr lang="pt-BR" sz="1800"/>
              <a:t> funeral</a:t>
            </a:r>
            <a:endParaRPr sz="1800"/>
          </a:p>
          <a:p>
            <a:pPr indent="-342900" lvl="0" marL="457200" rtl="0" algn="l">
              <a:spcBef>
                <a:spcPts val="0"/>
              </a:spcBef>
              <a:spcAft>
                <a:spcPts val="0"/>
              </a:spcAft>
              <a:buSzPts val="1800"/>
              <a:buChar char="●"/>
            </a:pPr>
            <a:r>
              <a:rPr lang="pt-BR" sz="1800"/>
              <a:t>nervous &gt;</a:t>
            </a:r>
            <a:r>
              <a:rPr baseline="-25000" lang="pt-BR" sz="1800"/>
              <a:t>arousal</a:t>
            </a:r>
            <a:r>
              <a:rPr lang="pt-BR" sz="1800"/>
              <a:t> lazy</a:t>
            </a:r>
            <a:endParaRPr sz="1800"/>
          </a:p>
          <a:p>
            <a:pPr indent="-342900" lvl="0" marL="457200" rtl="0" algn="l">
              <a:spcBef>
                <a:spcPts val="0"/>
              </a:spcBef>
              <a:spcAft>
                <a:spcPts val="0"/>
              </a:spcAft>
              <a:buSzPts val="1800"/>
              <a:buChar char="●"/>
            </a:pPr>
            <a:r>
              <a:rPr lang="pt-BR" sz="1800"/>
              <a:t>queen &gt;</a:t>
            </a:r>
            <a:r>
              <a:rPr baseline="-25000" lang="pt-BR" sz="1800"/>
              <a:t>dominance</a:t>
            </a:r>
            <a:r>
              <a:rPr lang="pt-BR" sz="1800"/>
              <a:t> delicate</a:t>
            </a:r>
            <a:endParaRPr sz="1800"/>
          </a:p>
        </p:txBody>
      </p:sp>
      <p:grpSp>
        <p:nvGrpSpPr>
          <p:cNvPr id="1660" name="Google Shape;1660;g3f8d41e330d_0_63"/>
          <p:cNvGrpSpPr/>
          <p:nvPr/>
        </p:nvGrpSpPr>
        <p:grpSpPr>
          <a:xfrm>
            <a:off x="5179900" y="2915775"/>
            <a:ext cx="3912625" cy="2135425"/>
            <a:chOff x="4985875" y="1774475"/>
            <a:chExt cx="3912625" cy="2135425"/>
          </a:xfrm>
        </p:grpSpPr>
        <p:cxnSp>
          <p:nvCxnSpPr>
            <p:cNvPr id="1661" name="Google Shape;1661;g3f8d41e330d_0_63"/>
            <p:cNvCxnSpPr/>
            <p:nvPr/>
          </p:nvCxnSpPr>
          <p:spPr>
            <a:xfrm rot="10800000">
              <a:off x="6856300" y="2016475"/>
              <a:ext cx="0" cy="1347300"/>
            </a:xfrm>
            <a:prstGeom prst="straightConnector1">
              <a:avLst/>
            </a:prstGeom>
            <a:noFill/>
            <a:ln cap="flat" cmpd="sng" w="38100">
              <a:solidFill>
                <a:schemeClr val="dk2"/>
              </a:solidFill>
              <a:prstDash val="solid"/>
              <a:round/>
              <a:headEnd len="med" w="med" type="none"/>
              <a:tailEnd len="med" w="med" type="stealth"/>
            </a:ln>
          </p:spPr>
        </p:cxnSp>
        <p:cxnSp>
          <p:nvCxnSpPr>
            <p:cNvPr id="1662" name="Google Shape;1662;g3f8d41e330d_0_63"/>
            <p:cNvCxnSpPr/>
            <p:nvPr/>
          </p:nvCxnSpPr>
          <p:spPr>
            <a:xfrm flipH="1">
              <a:off x="5878225" y="3355200"/>
              <a:ext cx="960900" cy="554700"/>
            </a:xfrm>
            <a:prstGeom prst="straightConnector1">
              <a:avLst/>
            </a:prstGeom>
            <a:noFill/>
            <a:ln cap="flat" cmpd="sng" w="38100">
              <a:solidFill>
                <a:schemeClr val="dk2"/>
              </a:solidFill>
              <a:prstDash val="solid"/>
              <a:round/>
              <a:headEnd len="med" w="med" type="none"/>
              <a:tailEnd len="med" w="med" type="stealth"/>
            </a:ln>
          </p:spPr>
        </p:cxnSp>
        <p:cxnSp>
          <p:nvCxnSpPr>
            <p:cNvPr id="1663" name="Google Shape;1663;g3f8d41e330d_0_63"/>
            <p:cNvCxnSpPr/>
            <p:nvPr/>
          </p:nvCxnSpPr>
          <p:spPr>
            <a:xfrm>
              <a:off x="6873450" y="3346625"/>
              <a:ext cx="1089900" cy="25800"/>
            </a:xfrm>
            <a:prstGeom prst="straightConnector1">
              <a:avLst/>
            </a:prstGeom>
            <a:noFill/>
            <a:ln cap="flat" cmpd="sng" w="38100">
              <a:solidFill>
                <a:schemeClr val="dk2"/>
              </a:solidFill>
              <a:prstDash val="solid"/>
              <a:round/>
              <a:headEnd len="med" w="med" type="none"/>
              <a:tailEnd len="med" w="med" type="stealth"/>
            </a:ln>
          </p:spPr>
        </p:cxnSp>
        <p:sp>
          <p:nvSpPr>
            <p:cNvPr id="1664" name="Google Shape;1664;g3f8d41e330d_0_63"/>
            <p:cNvSpPr txBox="1"/>
            <p:nvPr/>
          </p:nvSpPr>
          <p:spPr>
            <a:xfrm>
              <a:off x="7733900" y="2840600"/>
              <a:ext cx="116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valence</a:t>
              </a:r>
              <a:endParaRPr sz="1800">
                <a:solidFill>
                  <a:srgbClr val="434343"/>
                </a:solidFill>
                <a:latin typeface="Comfortaa"/>
                <a:ea typeface="Comfortaa"/>
                <a:cs typeface="Comfortaa"/>
                <a:sym typeface="Comfortaa"/>
              </a:endParaRPr>
            </a:p>
          </p:txBody>
        </p:sp>
        <p:sp>
          <p:nvSpPr>
            <p:cNvPr id="1665" name="Google Shape;1665;g3f8d41e330d_0_63"/>
            <p:cNvSpPr txBox="1"/>
            <p:nvPr/>
          </p:nvSpPr>
          <p:spPr>
            <a:xfrm>
              <a:off x="6959550" y="1774475"/>
              <a:ext cx="116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arousal</a:t>
              </a:r>
              <a:endParaRPr sz="1800">
                <a:solidFill>
                  <a:srgbClr val="434343"/>
                </a:solidFill>
                <a:latin typeface="Comfortaa"/>
                <a:ea typeface="Comfortaa"/>
                <a:cs typeface="Comfortaa"/>
                <a:sym typeface="Comfortaa"/>
              </a:endParaRPr>
            </a:p>
          </p:txBody>
        </p:sp>
        <p:sp>
          <p:nvSpPr>
            <p:cNvPr id="1666" name="Google Shape;1666;g3f8d41e330d_0_63"/>
            <p:cNvSpPr txBox="1"/>
            <p:nvPr/>
          </p:nvSpPr>
          <p:spPr>
            <a:xfrm>
              <a:off x="4985875" y="3198950"/>
              <a:ext cx="1570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dominance</a:t>
              </a:r>
              <a:endParaRPr sz="1800">
                <a:solidFill>
                  <a:srgbClr val="434343"/>
                </a:solidFill>
                <a:latin typeface="Comfortaa"/>
                <a:ea typeface="Comfortaa"/>
                <a:cs typeface="Comfortaa"/>
                <a:sym typeface="Comfortaa"/>
              </a:endParaRPr>
            </a:p>
          </p:txBody>
        </p:sp>
      </p:grpSp>
      <p:sp>
        <p:nvSpPr>
          <p:cNvPr id="1667" name="Google Shape;1667;g3f8d41e330d_0_63"/>
          <p:cNvSpPr txBox="1"/>
          <p:nvPr/>
        </p:nvSpPr>
        <p:spPr>
          <a:xfrm>
            <a:off x="546425" y="4538525"/>
            <a:ext cx="3143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a:t>
            </a:r>
            <a:r>
              <a:rPr lang="pt-BR" sz="2400">
                <a:solidFill>
                  <a:srgbClr val="434343"/>
                </a:solidFill>
                <a:latin typeface="Comfortaa"/>
                <a:ea typeface="Comfortaa"/>
                <a:cs typeface="Comfortaa"/>
                <a:sym typeface="Comfortaa"/>
              </a:rPr>
              <a:t>Mohammad</a:t>
            </a:r>
            <a:r>
              <a:rPr lang="pt-BR" sz="2400">
                <a:solidFill>
                  <a:srgbClr val="434343"/>
                </a:solidFill>
                <a:latin typeface="Comfortaa"/>
                <a:ea typeface="Comfortaa"/>
                <a:cs typeface="Comfortaa"/>
                <a:sym typeface="Comfortaa"/>
              </a:rPr>
              <a:t>, 2018)</a:t>
            </a:r>
            <a:endParaRPr sz="2400">
              <a:solidFill>
                <a:srgbClr val="434343"/>
              </a:solidFill>
              <a:latin typeface="Comfortaa"/>
              <a:ea typeface="Comfortaa"/>
              <a:cs typeface="Comfortaa"/>
              <a:sym typeface="Comfortaa"/>
            </a:endParaRPr>
          </a:p>
        </p:txBody>
      </p:sp>
      <p:sp>
        <p:nvSpPr>
          <p:cNvPr id="1668" name="Google Shape;1668;g3f8d41e330d_0_63"/>
          <p:cNvSpPr txBox="1"/>
          <p:nvPr/>
        </p:nvSpPr>
        <p:spPr>
          <a:xfrm>
            <a:off x="546425" y="398442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2" name="Shape 1672"/>
        <p:cNvGrpSpPr/>
        <p:nvPr/>
      </p:nvGrpSpPr>
      <p:grpSpPr>
        <a:xfrm>
          <a:off x="0" y="0"/>
          <a:ext cx="0" cy="0"/>
          <a:chOff x="0" y="0"/>
          <a:chExt cx="0" cy="0"/>
        </a:xfrm>
      </p:grpSpPr>
      <p:sp>
        <p:nvSpPr>
          <p:cNvPr id="1673" name="Google Shape;1673;g3fb4b53f0be_2_21"/>
          <p:cNvSpPr txBox="1"/>
          <p:nvPr>
            <p:ph type="title"/>
          </p:nvPr>
        </p:nvSpPr>
        <p:spPr>
          <a:xfrm>
            <a:off x="457176" y="205025"/>
            <a:ext cx="42705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VAD Space</a:t>
            </a:r>
            <a:endParaRPr/>
          </a:p>
        </p:txBody>
      </p:sp>
      <p:sp>
        <p:nvSpPr>
          <p:cNvPr id="1674" name="Google Shape;1674;g3fb4b53f0be_2_21"/>
          <p:cNvSpPr txBox="1"/>
          <p:nvPr>
            <p:ph idx="1" type="body"/>
          </p:nvPr>
        </p:nvSpPr>
        <p:spPr>
          <a:xfrm>
            <a:off x="245600" y="4742225"/>
            <a:ext cx="7378500" cy="27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sz="1500" u="sng">
                <a:solidFill>
                  <a:schemeClr val="hlink"/>
                </a:solidFill>
                <a:hlinkClick r:id="rId3"/>
              </a:rPr>
              <a:t>https://saifmohammad.com/WebPages/nrc-vad.html</a:t>
            </a:r>
            <a:endParaRPr sz="1500"/>
          </a:p>
        </p:txBody>
      </p:sp>
      <p:pic>
        <p:nvPicPr>
          <p:cNvPr id="1675" name="Google Shape;1675;g3fb4b53f0be_2_21"/>
          <p:cNvPicPr preferRelativeResize="0"/>
          <p:nvPr/>
        </p:nvPicPr>
        <p:blipFill>
          <a:blip r:embed="rId4">
            <a:alphaModFix/>
          </a:blip>
          <a:stretch>
            <a:fillRect/>
          </a:stretch>
        </p:blipFill>
        <p:spPr>
          <a:xfrm>
            <a:off x="4928575" y="152400"/>
            <a:ext cx="3661850" cy="4589825"/>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9" name="Shape 1679"/>
        <p:cNvGrpSpPr/>
        <p:nvPr/>
      </p:nvGrpSpPr>
      <p:grpSpPr>
        <a:xfrm>
          <a:off x="0" y="0"/>
          <a:ext cx="0" cy="0"/>
          <a:chOff x="0" y="0"/>
          <a:chExt cx="0" cy="0"/>
        </a:xfrm>
      </p:grpSpPr>
      <p:sp>
        <p:nvSpPr>
          <p:cNvPr id="1680" name="Google Shape;1680;g3f8d41e330d_0_28"/>
          <p:cNvSpPr txBox="1"/>
          <p:nvPr>
            <p:ph type="title"/>
          </p:nvPr>
        </p:nvSpPr>
        <p:spPr>
          <a:xfrm>
            <a:off x="457172" y="205014"/>
            <a:ext cx="82287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pt-BR"/>
              <a:t>Idea 2:</a:t>
            </a:r>
            <a:r>
              <a:rPr lang="pt-BR"/>
              <a:t> </a:t>
            </a:r>
            <a:r>
              <a:rPr lang="pt-BR" sz="3000"/>
              <a:t>Meaning as a point in space</a:t>
            </a:r>
            <a:r>
              <a:rPr lang="pt-BR" sz="2000"/>
              <a:t> (Osgood et al. 1957)</a:t>
            </a:r>
            <a:endParaRPr sz="2000"/>
          </a:p>
        </p:txBody>
      </p:sp>
      <p:sp>
        <p:nvSpPr>
          <p:cNvPr id="1681" name="Google Shape;1681;g3f8d41e330d_0_28"/>
          <p:cNvSpPr txBox="1"/>
          <p:nvPr>
            <p:ph idx="1" type="body"/>
          </p:nvPr>
        </p:nvSpPr>
        <p:spPr>
          <a:xfrm>
            <a:off x="457175" y="1083490"/>
            <a:ext cx="8228700" cy="136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pt-BR" sz="1900"/>
              <a:t>3 affective dimensions for a word</a:t>
            </a:r>
            <a:endParaRPr sz="1900"/>
          </a:p>
          <a:p>
            <a:pPr indent="-349250" lvl="0" marL="457200" rtl="0" algn="l">
              <a:spcBef>
                <a:spcPts val="0"/>
              </a:spcBef>
              <a:spcAft>
                <a:spcPts val="0"/>
              </a:spcAft>
              <a:buSzPts val="1900"/>
              <a:buChar char="●"/>
            </a:pPr>
            <a:r>
              <a:rPr b="1" lang="pt-BR" sz="1900"/>
              <a:t>valence</a:t>
            </a:r>
            <a:r>
              <a:rPr lang="pt-BR" sz="1900"/>
              <a:t>: pleasantness </a:t>
            </a:r>
            <a:endParaRPr sz="1900"/>
          </a:p>
          <a:p>
            <a:pPr indent="-349250" lvl="0" marL="457200" rtl="0" algn="l">
              <a:spcBef>
                <a:spcPts val="0"/>
              </a:spcBef>
              <a:spcAft>
                <a:spcPts val="0"/>
              </a:spcAft>
              <a:buSzPts val="1900"/>
              <a:buChar char="●"/>
            </a:pPr>
            <a:r>
              <a:rPr b="1" lang="pt-BR" sz="1900"/>
              <a:t>arousal</a:t>
            </a:r>
            <a:r>
              <a:rPr lang="pt-BR" sz="1900"/>
              <a:t>: intensity of emotion </a:t>
            </a:r>
            <a:endParaRPr sz="1900"/>
          </a:p>
          <a:p>
            <a:pPr indent="-349250" lvl="0" marL="457200" rtl="0" algn="l">
              <a:spcBef>
                <a:spcPts val="0"/>
              </a:spcBef>
              <a:spcAft>
                <a:spcPts val="0"/>
              </a:spcAft>
              <a:buSzPts val="1900"/>
              <a:buChar char="●"/>
            </a:pPr>
            <a:r>
              <a:rPr b="1" lang="pt-BR" sz="1900"/>
              <a:t>dominance</a:t>
            </a:r>
            <a:r>
              <a:rPr lang="pt-BR" sz="1900"/>
              <a:t>: the degree of control exerted</a:t>
            </a:r>
            <a:endParaRPr sz="1900"/>
          </a:p>
        </p:txBody>
      </p:sp>
      <p:graphicFrame>
        <p:nvGraphicFramePr>
          <p:cNvPr id="1682" name="Google Shape;1682;g3f8d41e330d_0_28"/>
          <p:cNvGraphicFramePr/>
          <p:nvPr/>
        </p:nvGraphicFramePr>
        <p:xfrm>
          <a:off x="1904900" y="2445790"/>
          <a:ext cx="3000000" cy="3000000"/>
        </p:xfrm>
        <a:graphic>
          <a:graphicData uri="http://schemas.openxmlformats.org/drawingml/2006/table">
            <a:tbl>
              <a:tblPr>
                <a:noFill/>
                <a:tableStyleId>{21883011-008D-4DB6-BC79-789B9463DC1F}</a:tableStyleId>
              </a:tblPr>
              <a:tblGrid>
                <a:gridCol w="1242125"/>
                <a:gridCol w="1153400"/>
                <a:gridCol w="670350"/>
                <a:gridCol w="463325"/>
                <a:gridCol w="1133675"/>
                <a:gridCol w="670350"/>
              </a:tblGrid>
              <a:tr h="276225">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pt-BR" sz="1500">
                          <a:latin typeface="Comfortaa"/>
                          <a:ea typeface="Comfortaa"/>
                          <a:cs typeface="Comfortaa"/>
                          <a:sym typeface="Comfortaa"/>
                        </a:rPr>
                        <a:t>Word</a:t>
                      </a:r>
                      <a:endParaRPr b="1"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pt-BR" sz="1500">
                          <a:latin typeface="Comfortaa"/>
                          <a:ea typeface="Comfortaa"/>
                          <a:cs typeface="Comfortaa"/>
                          <a:sym typeface="Comfortaa"/>
                        </a:rPr>
                        <a:t>Score</a:t>
                      </a:r>
                      <a:endParaRPr b="1"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pt-BR" sz="1500">
                          <a:latin typeface="Comfortaa"/>
                          <a:ea typeface="Comfortaa"/>
                          <a:cs typeface="Comfortaa"/>
                          <a:sym typeface="Comfortaa"/>
                        </a:rPr>
                        <a:t>Word</a:t>
                      </a:r>
                      <a:endParaRPr b="1"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pt-BR" sz="1500">
                          <a:latin typeface="Comfortaa"/>
                          <a:ea typeface="Comfortaa"/>
                          <a:cs typeface="Comfortaa"/>
                          <a:sym typeface="Comfortaa"/>
                        </a:rPr>
                        <a:t>Score</a:t>
                      </a:r>
                      <a:endParaRPr b="1"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B7B7"/>
                    </a:solidFill>
                  </a:tcPr>
                </a:tc>
              </a:tr>
              <a:tr h="276225">
                <a:tc rowSpan="2">
                  <a:txBody>
                    <a:bodyPr/>
                    <a:lstStyle/>
                    <a:p>
                      <a:pPr indent="0" lvl="0" marL="0" rtl="0" algn="l">
                        <a:lnSpc>
                          <a:spcPct val="115000"/>
                        </a:lnSpc>
                        <a:spcBef>
                          <a:spcPts val="0"/>
                        </a:spcBef>
                        <a:spcAft>
                          <a:spcPts val="0"/>
                        </a:spcAft>
                        <a:buNone/>
                      </a:pPr>
                      <a:r>
                        <a:rPr b="1" lang="pt-BR" sz="1500">
                          <a:latin typeface="Comfortaa"/>
                          <a:ea typeface="Comfortaa"/>
                          <a:cs typeface="Comfortaa"/>
                          <a:sym typeface="Comfortaa"/>
                        </a:rPr>
                        <a:t>Valence</a:t>
                      </a:r>
                      <a:endParaRPr b="1" sz="1500">
                        <a:latin typeface="Comfortaa"/>
                        <a:ea typeface="Comfortaa"/>
                        <a:cs typeface="Comfortaa"/>
                        <a:sym typeface="Comforta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love</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1.000</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toxic</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0.008</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6225">
                <a:tc vMerge="1"/>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happy</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1.000</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nightmare</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0.005</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6225">
                <a:tc rowSpan="2">
                  <a:txBody>
                    <a:bodyPr/>
                    <a:lstStyle/>
                    <a:p>
                      <a:pPr indent="0" lvl="0" marL="0" rtl="0" algn="l">
                        <a:lnSpc>
                          <a:spcPct val="115000"/>
                        </a:lnSpc>
                        <a:spcBef>
                          <a:spcPts val="0"/>
                        </a:spcBef>
                        <a:spcAft>
                          <a:spcPts val="0"/>
                        </a:spcAft>
                        <a:buNone/>
                      </a:pPr>
                      <a:r>
                        <a:rPr b="1" lang="pt-BR" sz="1500">
                          <a:latin typeface="Comfortaa"/>
                          <a:ea typeface="Comfortaa"/>
                          <a:cs typeface="Comfortaa"/>
                          <a:sym typeface="Comfortaa"/>
                        </a:rPr>
                        <a:t>Arousal</a:t>
                      </a:r>
                      <a:endParaRPr b="1" sz="1500">
                        <a:latin typeface="Comfortaa"/>
                        <a:ea typeface="Comfortaa"/>
                        <a:cs typeface="Comfortaa"/>
                        <a:sym typeface="Comforta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elated</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0.960</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mellow</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0.069</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6225">
                <a:tc vMerge="1"/>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frenzy</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0.965</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napping</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0.046</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6225">
                <a:tc rowSpan="2">
                  <a:txBody>
                    <a:bodyPr/>
                    <a:lstStyle/>
                    <a:p>
                      <a:pPr indent="0" lvl="0" marL="0" rtl="0" algn="l">
                        <a:lnSpc>
                          <a:spcPct val="115000"/>
                        </a:lnSpc>
                        <a:spcBef>
                          <a:spcPts val="0"/>
                        </a:spcBef>
                        <a:spcAft>
                          <a:spcPts val="0"/>
                        </a:spcAft>
                        <a:buNone/>
                      </a:pPr>
                      <a:r>
                        <a:rPr b="1" lang="pt-BR" sz="1500">
                          <a:latin typeface="Comfortaa"/>
                          <a:ea typeface="Comfortaa"/>
                          <a:cs typeface="Comfortaa"/>
                          <a:sym typeface="Comfortaa"/>
                        </a:rPr>
                        <a:t>Dominance</a:t>
                      </a:r>
                      <a:endParaRPr b="1" sz="1500">
                        <a:latin typeface="Comfortaa"/>
                        <a:ea typeface="Comfortaa"/>
                        <a:cs typeface="Comfortaa"/>
                        <a:sym typeface="Comforta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powerful</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0.991</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weak</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0.045</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6225">
                <a:tc vMerge="1"/>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leadership</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0.983</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1500">
                          <a:latin typeface="Comfortaa"/>
                          <a:ea typeface="Comfortaa"/>
                          <a:cs typeface="Comfortaa"/>
                          <a:sym typeface="Comfortaa"/>
                        </a:rPr>
                        <a:t>empty</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pt-BR" sz="1500">
                          <a:latin typeface="Comfortaa"/>
                          <a:ea typeface="Comfortaa"/>
                          <a:cs typeface="Comfortaa"/>
                          <a:sym typeface="Comfortaa"/>
                        </a:rPr>
                        <a:t>0.081</a:t>
                      </a:r>
                      <a:endParaRPr sz="1500">
                        <a:latin typeface="Comfortaa"/>
                        <a:ea typeface="Comfortaa"/>
                        <a:cs typeface="Comfortaa"/>
                        <a:sym typeface="Comforta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683" name="Google Shape;1683;g3f8d41e330d_0_28"/>
          <p:cNvSpPr txBox="1"/>
          <p:nvPr/>
        </p:nvSpPr>
        <p:spPr>
          <a:xfrm>
            <a:off x="7319650" y="3430525"/>
            <a:ext cx="1707900" cy="46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pt-BR" sz="1300">
                <a:solidFill>
                  <a:schemeClr val="dk1"/>
                </a:solidFill>
                <a:latin typeface="Comfortaa"/>
                <a:ea typeface="Comfortaa"/>
                <a:cs typeface="Comfortaa"/>
                <a:sym typeface="Comfortaa"/>
              </a:rPr>
              <a:t>NRC VAD Lexicon </a:t>
            </a:r>
            <a:endParaRPr sz="1000">
              <a:latin typeface="Comfortaa"/>
              <a:ea typeface="Comfortaa"/>
              <a:cs typeface="Comfortaa"/>
              <a:sym typeface="Comfortaa"/>
            </a:endParaRPr>
          </a:p>
          <a:p>
            <a:pPr indent="0" lvl="0" marL="0" marR="0" rtl="0" algn="l">
              <a:spcBef>
                <a:spcPts val="0"/>
              </a:spcBef>
              <a:spcAft>
                <a:spcPts val="0"/>
              </a:spcAft>
              <a:buNone/>
            </a:pPr>
            <a:r>
              <a:rPr lang="pt-BR" sz="1300">
                <a:solidFill>
                  <a:schemeClr val="dk1"/>
                </a:solidFill>
                <a:latin typeface="Comfortaa"/>
                <a:ea typeface="Comfortaa"/>
                <a:cs typeface="Comfortaa"/>
                <a:sym typeface="Comfortaa"/>
              </a:rPr>
              <a:t> (Mohammad 2018)</a:t>
            </a:r>
            <a:endParaRPr sz="1000">
              <a:latin typeface="Comfortaa"/>
              <a:ea typeface="Comfortaa"/>
              <a:cs typeface="Comfortaa"/>
              <a:sym typeface="Comfortaa"/>
            </a:endParaRPr>
          </a:p>
        </p:txBody>
      </p:sp>
      <p:sp>
        <p:nvSpPr>
          <p:cNvPr id="1684" name="Google Shape;1684;g3f8d41e330d_0_28"/>
          <p:cNvSpPr txBox="1"/>
          <p:nvPr/>
        </p:nvSpPr>
        <p:spPr>
          <a:xfrm>
            <a:off x="457175" y="4616625"/>
            <a:ext cx="7448400" cy="461700"/>
          </a:xfrm>
          <a:prstGeom prst="rect">
            <a:avLst/>
          </a:prstGeom>
          <a:noFill/>
          <a:ln>
            <a:noFill/>
          </a:ln>
        </p:spPr>
        <p:txBody>
          <a:bodyPr anchorCtr="0" anchor="t" bIns="91425" lIns="91425" spcFirstLastPara="1" rIns="91425" wrap="square" tIns="91425">
            <a:spAutoFit/>
          </a:bodyPr>
          <a:lstStyle/>
          <a:p>
            <a:pPr indent="-12700" lvl="0" marL="12700" rtl="0" algn="l">
              <a:lnSpc>
                <a:spcPct val="90000"/>
              </a:lnSpc>
              <a:spcBef>
                <a:spcPts val="1200"/>
              </a:spcBef>
              <a:spcAft>
                <a:spcPts val="0"/>
              </a:spcAft>
              <a:buNone/>
            </a:pPr>
            <a:r>
              <a:rPr lang="pt-BR" sz="2000">
                <a:solidFill>
                  <a:srgbClr val="434343"/>
                </a:solidFill>
                <a:latin typeface="Comfortaa"/>
                <a:ea typeface="Comfortaa"/>
                <a:cs typeface="Comfortaa"/>
                <a:sym typeface="Comfortaa"/>
              </a:rPr>
              <a:t>Hence the connotation of a word is a vector in 3-space</a:t>
            </a:r>
            <a:endParaRPr sz="900"/>
          </a:p>
        </p:txBody>
      </p:sp>
      <p:sp>
        <p:nvSpPr>
          <p:cNvPr id="1685" name="Google Shape;1685;g3f8d41e330d_0_28"/>
          <p:cNvSpPr txBox="1"/>
          <p:nvPr/>
        </p:nvSpPr>
        <p:spPr>
          <a:xfrm>
            <a:off x="6405850" y="80942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0" name="Shape 1690"/>
        <p:cNvGrpSpPr/>
        <p:nvPr/>
      </p:nvGrpSpPr>
      <p:grpSpPr>
        <a:xfrm>
          <a:off x="0" y="0"/>
          <a:ext cx="0" cy="0"/>
          <a:chOff x="0" y="0"/>
          <a:chExt cx="0" cy="0"/>
        </a:xfrm>
      </p:grpSpPr>
      <p:sp>
        <p:nvSpPr>
          <p:cNvPr id="1691" name="Google Shape;1691;g3f9ebdf94e2_0_1531"/>
          <p:cNvSpPr txBox="1"/>
          <p:nvPr>
            <p:ph type="title"/>
          </p:nvPr>
        </p:nvSpPr>
        <p:spPr>
          <a:xfrm>
            <a:off x="311700" y="2050200"/>
            <a:ext cx="8520600" cy="1043100"/>
          </a:xfrm>
          <a:prstGeom prst="rect">
            <a:avLst/>
          </a:prstGeom>
          <a:noFill/>
          <a:ln>
            <a:noFill/>
          </a:ln>
        </p:spPr>
        <p:txBody>
          <a:bodyPr anchorCtr="0" anchor="b" bIns="34275" lIns="68575" spcFirstLastPara="1" rIns="68575" wrap="square" tIns="34275">
            <a:noAutofit/>
          </a:bodyPr>
          <a:lstStyle/>
          <a:p>
            <a:pPr indent="0" lvl="0" marL="0" rtl="0" algn="l">
              <a:lnSpc>
                <a:spcPct val="85000"/>
              </a:lnSpc>
              <a:spcBef>
                <a:spcPts val="0"/>
              </a:spcBef>
              <a:spcAft>
                <a:spcPts val="0"/>
              </a:spcAft>
              <a:buClr>
                <a:srgbClr val="3F3F3F"/>
              </a:buClr>
              <a:buSzPts val="2700"/>
              <a:buFont typeface="Calibri"/>
              <a:buNone/>
            </a:pPr>
            <a:r>
              <a:rPr lang="pt-BR" sz="2300"/>
              <a:t>Idea 1: </a:t>
            </a:r>
            <a:r>
              <a:rPr b="0" lang="pt-BR" sz="2300"/>
              <a:t>Defining meaning by </a:t>
            </a:r>
            <a:r>
              <a:rPr lang="pt-BR" sz="2300"/>
              <a:t>linguistic distribution</a:t>
            </a:r>
            <a:br>
              <a:rPr lang="pt-BR" sz="2300"/>
            </a:br>
            <a:br>
              <a:rPr lang="pt-BR" sz="2300"/>
            </a:br>
            <a:r>
              <a:rPr lang="pt-BR" sz="2300"/>
              <a:t>Idea 2: </a:t>
            </a:r>
            <a:r>
              <a:rPr b="0" lang="pt-BR" sz="2300"/>
              <a:t>Meaning as a </a:t>
            </a:r>
            <a:r>
              <a:rPr lang="pt-BR" sz="2300"/>
              <a:t>point in multidimensional space</a:t>
            </a:r>
            <a:endParaRPr sz="3000"/>
          </a:p>
        </p:txBody>
      </p:sp>
      <p:sp>
        <p:nvSpPr>
          <p:cNvPr id="1692" name="Google Shape;1692;g3f9ebdf94e2_0_1531"/>
          <p:cNvSpPr txBox="1"/>
          <p:nvPr/>
        </p:nvSpPr>
        <p:spPr>
          <a:xfrm>
            <a:off x="6287175" y="4370575"/>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6" name="Shape 1696"/>
        <p:cNvGrpSpPr/>
        <p:nvPr/>
      </p:nvGrpSpPr>
      <p:grpSpPr>
        <a:xfrm>
          <a:off x="0" y="0"/>
          <a:ext cx="0" cy="0"/>
          <a:chOff x="0" y="0"/>
          <a:chExt cx="0" cy="0"/>
        </a:xfrm>
      </p:grpSpPr>
      <p:sp>
        <p:nvSpPr>
          <p:cNvPr id="1697" name="Google Shape;1697;g3fb4b53f0be_2_16"/>
          <p:cNvSpPr txBox="1"/>
          <p:nvPr>
            <p:ph type="title"/>
          </p:nvPr>
        </p:nvSpPr>
        <p:spPr>
          <a:xfrm>
            <a:off x="311700" y="445025"/>
            <a:ext cx="8520600" cy="11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Defining meaning as a point in space based on distribution</a:t>
            </a:r>
            <a:endParaRPr/>
          </a:p>
        </p:txBody>
      </p:sp>
      <p:sp>
        <p:nvSpPr>
          <p:cNvPr id="1698" name="Google Shape;1698;g3fb4b53f0be_2_16"/>
          <p:cNvSpPr txBox="1"/>
          <p:nvPr>
            <p:ph idx="1" type="body"/>
          </p:nvPr>
        </p:nvSpPr>
        <p:spPr>
          <a:xfrm>
            <a:off x="311700" y="1723100"/>
            <a:ext cx="8520600" cy="284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800"/>
              <a:t>Each word = a vector   (not just "good" or "w</a:t>
            </a:r>
            <a:r>
              <a:rPr baseline="-25000" lang="pt-BR" sz="2800"/>
              <a:t>45</a:t>
            </a:r>
            <a:r>
              <a:rPr lang="pt-BR" sz="2800"/>
              <a:t>")</a:t>
            </a:r>
            <a:endParaRPr sz="2800"/>
          </a:p>
          <a:p>
            <a:pPr indent="0" lvl="0" marL="0" rtl="0" algn="l">
              <a:spcBef>
                <a:spcPts val="0"/>
              </a:spcBef>
              <a:spcAft>
                <a:spcPts val="0"/>
              </a:spcAft>
              <a:buNone/>
            </a:pPr>
            <a:r>
              <a:rPr lang="pt-BR" sz="2800"/>
              <a:t>Similar words are "nearby in semantic space"</a:t>
            </a:r>
            <a:endParaRPr sz="2800"/>
          </a:p>
          <a:p>
            <a:pPr indent="0" lvl="0" marL="0" rtl="0" algn="l">
              <a:spcBef>
                <a:spcPts val="0"/>
              </a:spcBef>
              <a:spcAft>
                <a:spcPts val="0"/>
              </a:spcAft>
              <a:buNone/>
            </a:pPr>
            <a:r>
              <a:rPr lang="pt-BR" sz="2800"/>
              <a:t>We build this space automatically by seeing which words are nearby in text</a:t>
            </a:r>
            <a:endParaRPr sz="2800"/>
          </a:p>
          <a:p>
            <a:pPr indent="0" lvl="0" marL="0" rtl="0" algn="l">
              <a:spcBef>
                <a:spcPts val="0"/>
              </a:spcBef>
              <a:spcAft>
                <a:spcPts val="0"/>
              </a:spcAft>
              <a:buNone/>
            </a:pPr>
            <a:r>
              <a:t/>
            </a:r>
            <a:endParaRPr sz="2800"/>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2" name="Shape 1702"/>
        <p:cNvGrpSpPr/>
        <p:nvPr/>
      </p:nvGrpSpPr>
      <p:grpSpPr>
        <a:xfrm>
          <a:off x="0" y="0"/>
          <a:ext cx="0" cy="0"/>
          <a:chOff x="0" y="0"/>
          <a:chExt cx="0" cy="0"/>
        </a:xfrm>
      </p:grpSpPr>
      <p:sp>
        <p:nvSpPr>
          <p:cNvPr id="1703" name="Google Shape;1703;g3f9ebdf94e2_0_1543"/>
          <p:cNvSpPr txBox="1"/>
          <p:nvPr>
            <p:ph type="title"/>
          </p:nvPr>
        </p:nvSpPr>
        <p:spPr>
          <a:xfrm>
            <a:off x="342875" y="153744"/>
            <a:ext cx="6171600" cy="10464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We define meaning of a word as a vector</a:t>
            </a:r>
            <a:endParaRPr/>
          </a:p>
        </p:txBody>
      </p:sp>
      <p:sp>
        <p:nvSpPr>
          <p:cNvPr id="1704" name="Google Shape;1704;g3f9ebdf94e2_0_1543"/>
          <p:cNvSpPr txBox="1"/>
          <p:nvPr>
            <p:ph idx="1" type="body"/>
          </p:nvPr>
        </p:nvSpPr>
        <p:spPr>
          <a:xfrm>
            <a:off x="914400" y="1200150"/>
            <a:ext cx="7772400" cy="3828900"/>
          </a:xfrm>
          <a:prstGeom prst="rect">
            <a:avLst/>
          </a:prstGeom>
          <a:noFill/>
          <a:ln>
            <a:noFill/>
          </a:ln>
        </p:spPr>
        <p:txBody>
          <a:bodyPr anchorCtr="0" anchor="t" bIns="34275" lIns="0" spcFirstLastPara="1" rIns="0" wrap="square" tIns="34275">
            <a:normAutofit fontScale="92500"/>
          </a:bodyPr>
          <a:lstStyle/>
          <a:p>
            <a:pPr indent="-12700" lvl="0" marL="12700" rtl="0" algn="l">
              <a:lnSpc>
                <a:spcPct val="90000"/>
              </a:lnSpc>
              <a:spcBef>
                <a:spcPts val="0"/>
              </a:spcBef>
              <a:spcAft>
                <a:spcPts val="0"/>
              </a:spcAft>
              <a:buSzPct val="100000"/>
              <a:buNone/>
            </a:pPr>
            <a:r>
              <a:rPr lang="pt-BR" sz="2700"/>
              <a:t>Called an "embedding" because it's embedded into a space (see textbook)</a:t>
            </a:r>
            <a:endParaRPr/>
          </a:p>
          <a:p>
            <a:pPr indent="-12700" lvl="0" marL="12700" rtl="0" algn="l">
              <a:lnSpc>
                <a:spcPct val="90000"/>
              </a:lnSpc>
              <a:spcBef>
                <a:spcPts val="1100"/>
              </a:spcBef>
              <a:spcAft>
                <a:spcPts val="0"/>
              </a:spcAft>
              <a:buSzPct val="100000"/>
              <a:buNone/>
            </a:pPr>
            <a:r>
              <a:rPr lang="pt-BR" sz="2700"/>
              <a:t>The standard way to represent meaning in NLP</a:t>
            </a:r>
            <a:endParaRPr/>
          </a:p>
          <a:p>
            <a:pPr indent="-685800" lvl="0" marL="685800" rtl="0" algn="l">
              <a:lnSpc>
                <a:spcPct val="90000"/>
              </a:lnSpc>
              <a:spcBef>
                <a:spcPts val="1100"/>
              </a:spcBef>
              <a:spcAft>
                <a:spcPts val="0"/>
              </a:spcAft>
              <a:buSzPct val="100000"/>
              <a:buNone/>
            </a:pPr>
            <a:r>
              <a:rPr lang="pt-BR" sz="2700"/>
              <a:t>	</a:t>
            </a:r>
            <a:r>
              <a:rPr b="1" lang="pt-BR" sz="2700">
                <a:solidFill>
                  <a:srgbClr val="0000FF"/>
                </a:solidFill>
              </a:rPr>
              <a:t>Every modern NLP algorithm uses embeddings as the representation of word meaning</a:t>
            </a:r>
            <a:endParaRPr/>
          </a:p>
          <a:p>
            <a:pPr indent="-12700" lvl="0" marL="12700" rtl="0" algn="l">
              <a:lnSpc>
                <a:spcPct val="90000"/>
              </a:lnSpc>
              <a:spcBef>
                <a:spcPts val="1100"/>
              </a:spcBef>
              <a:spcAft>
                <a:spcPts val="0"/>
              </a:spcAft>
              <a:buSzPct val="100000"/>
              <a:buNone/>
            </a:pPr>
            <a:r>
              <a:rPr lang="pt-BR" sz="2700"/>
              <a:t>Fine-grained model of meaning for similarity </a:t>
            </a:r>
            <a:endParaRPr/>
          </a:p>
          <a:p>
            <a:pPr indent="-101600" lvl="1" marL="406400" rtl="0" algn="l">
              <a:lnSpc>
                <a:spcPct val="90000"/>
              </a:lnSpc>
              <a:spcBef>
                <a:spcPts val="300"/>
              </a:spcBef>
              <a:spcAft>
                <a:spcPts val="0"/>
              </a:spcAft>
              <a:buSzPct val="100000"/>
              <a:buNone/>
            </a:pPr>
            <a:r>
              <a:t/>
            </a:r>
            <a:endParaRPr/>
          </a:p>
          <a:p>
            <a:pPr indent="-12700" lvl="0" marL="12700" rtl="0" algn="l">
              <a:lnSpc>
                <a:spcPct val="90000"/>
              </a:lnSpc>
              <a:spcBef>
                <a:spcPts val="1200"/>
              </a:spcBef>
              <a:spcAft>
                <a:spcPts val="0"/>
              </a:spcAft>
              <a:buSzPct val="93333"/>
              <a:buNone/>
            </a:pPr>
            <a:r>
              <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8" name="Shape 1708"/>
        <p:cNvGrpSpPr/>
        <p:nvPr/>
      </p:nvGrpSpPr>
      <p:grpSpPr>
        <a:xfrm>
          <a:off x="0" y="0"/>
          <a:ext cx="0" cy="0"/>
          <a:chOff x="0" y="0"/>
          <a:chExt cx="0" cy="0"/>
        </a:xfrm>
      </p:grpSpPr>
      <p:sp>
        <p:nvSpPr>
          <p:cNvPr id="1709" name="Google Shape;1709;g3f9ebdf94e2_0_1548"/>
          <p:cNvSpPr txBox="1"/>
          <p:nvPr>
            <p:ph type="title"/>
          </p:nvPr>
        </p:nvSpPr>
        <p:spPr>
          <a:xfrm>
            <a:off x="311700" y="445025"/>
            <a:ext cx="8520600" cy="5727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Intuition: why vectors?</a:t>
            </a:r>
            <a:endParaRPr/>
          </a:p>
        </p:txBody>
      </p:sp>
      <p:sp>
        <p:nvSpPr>
          <p:cNvPr id="1710" name="Google Shape;1710;g3f9ebdf94e2_0_1548"/>
          <p:cNvSpPr txBox="1"/>
          <p:nvPr>
            <p:ph idx="1" type="body"/>
          </p:nvPr>
        </p:nvSpPr>
        <p:spPr>
          <a:xfrm>
            <a:off x="311700" y="1152475"/>
            <a:ext cx="8520600" cy="3416400"/>
          </a:xfrm>
          <a:prstGeom prst="rect">
            <a:avLst/>
          </a:prstGeom>
          <a:noFill/>
          <a:ln>
            <a:noFill/>
          </a:ln>
        </p:spPr>
        <p:txBody>
          <a:bodyPr anchorCtr="0" anchor="t" bIns="34275" lIns="0" spcFirstLastPara="1" rIns="0" wrap="square" tIns="34275">
            <a:normAutofit fontScale="92500" lnSpcReduction="20000"/>
          </a:bodyPr>
          <a:lstStyle/>
          <a:p>
            <a:pPr indent="-12700" lvl="0" marL="12700" rtl="0" algn="l">
              <a:lnSpc>
                <a:spcPct val="90000"/>
              </a:lnSpc>
              <a:spcBef>
                <a:spcPts val="0"/>
              </a:spcBef>
              <a:spcAft>
                <a:spcPts val="0"/>
              </a:spcAft>
              <a:buSzPct val="100000"/>
              <a:buNone/>
            </a:pPr>
            <a:r>
              <a:rPr lang="pt-BR" sz="2400"/>
              <a:t>Consider sentiment analysis:</a:t>
            </a:r>
            <a:endParaRPr/>
          </a:p>
          <a:p>
            <a:pPr indent="-12700" lvl="0" marL="12700" rtl="0" algn="l">
              <a:lnSpc>
                <a:spcPct val="90000"/>
              </a:lnSpc>
              <a:spcBef>
                <a:spcPts val="1100"/>
              </a:spcBef>
              <a:spcAft>
                <a:spcPts val="0"/>
              </a:spcAft>
              <a:buSzPct val="100000"/>
              <a:buNone/>
            </a:pPr>
            <a:r>
              <a:t/>
            </a:r>
            <a:endParaRPr sz="300"/>
          </a:p>
          <a:p>
            <a:pPr indent="-242570" lvl="1" marL="406400" rtl="0" algn="l">
              <a:lnSpc>
                <a:spcPct val="90000"/>
              </a:lnSpc>
              <a:spcBef>
                <a:spcPts val="300"/>
              </a:spcBef>
              <a:spcAft>
                <a:spcPts val="0"/>
              </a:spcAft>
              <a:buSzPct val="100000"/>
              <a:buChar char="○"/>
            </a:pPr>
            <a:r>
              <a:rPr lang="pt-BR" sz="2400"/>
              <a:t>With </a:t>
            </a:r>
            <a:r>
              <a:rPr b="1" lang="pt-BR" sz="2400"/>
              <a:t>words</a:t>
            </a:r>
            <a:r>
              <a:rPr lang="pt-BR" sz="2400"/>
              <a:t>,  a feature is a word identity</a:t>
            </a:r>
            <a:endParaRPr/>
          </a:p>
          <a:p>
            <a:pPr indent="-224949" lvl="2" marL="520700" rtl="0" algn="l">
              <a:lnSpc>
                <a:spcPct val="90000"/>
              </a:lnSpc>
              <a:spcBef>
                <a:spcPts val="500"/>
              </a:spcBef>
              <a:spcAft>
                <a:spcPts val="0"/>
              </a:spcAft>
              <a:buSzPct val="100000"/>
              <a:buChar char="■"/>
            </a:pPr>
            <a:r>
              <a:rPr lang="pt-BR" sz="2100"/>
              <a:t>Feature 5: 'The previous word was "terrible"'</a:t>
            </a:r>
            <a:endParaRPr/>
          </a:p>
          <a:p>
            <a:pPr indent="-224949" lvl="2" marL="520700" rtl="0" algn="l">
              <a:lnSpc>
                <a:spcPct val="90000"/>
              </a:lnSpc>
              <a:spcBef>
                <a:spcPts val="500"/>
              </a:spcBef>
              <a:spcAft>
                <a:spcPts val="0"/>
              </a:spcAft>
              <a:buSzPct val="100000"/>
              <a:buChar char="■"/>
            </a:pPr>
            <a:r>
              <a:rPr lang="pt-BR" sz="2100"/>
              <a:t>requires </a:t>
            </a:r>
            <a:r>
              <a:rPr b="1" lang="pt-BR" sz="2100"/>
              <a:t>exact</a:t>
            </a:r>
            <a:r>
              <a:rPr lang="pt-BR" sz="2100"/>
              <a:t> </a:t>
            </a:r>
            <a:r>
              <a:rPr b="1" lang="pt-BR" sz="2100"/>
              <a:t>same</a:t>
            </a:r>
            <a:r>
              <a:rPr lang="pt-BR" sz="2100"/>
              <a:t> </a:t>
            </a:r>
            <a:r>
              <a:rPr b="1" lang="pt-BR" sz="2100"/>
              <a:t>word</a:t>
            </a:r>
            <a:r>
              <a:rPr lang="pt-BR" sz="2100"/>
              <a:t> to be in training and test</a:t>
            </a:r>
            <a:endParaRPr/>
          </a:p>
          <a:p>
            <a:pPr indent="-165100" lvl="2" marL="520700" rtl="0" algn="l">
              <a:lnSpc>
                <a:spcPct val="90000"/>
              </a:lnSpc>
              <a:spcBef>
                <a:spcPts val="500"/>
              </a:spcBef>
              <a:spcAft>
                <a:spcPts val="0"/>
              </a:spcAft>
              <a:buSzPct val="100000"/>
              <a:buNone/>
            </a:pPr>
            <a:r>
              <a:t/>
            </a:r>
            <a:endParaRPr sz="1100"/>
          </a:p>
          <a:p>
            <a:pPr indent="-242570" lvl="1" marL="406400" rtl="0" algn="l">
              <a:lnSpc>
                <a:spcPct val="90000"/>
              </a:lnSpc>
              <a:spcBef>
                <a:spcPts val="500"/>
              </a:spcBef>
              <a:spcAft>
                <a:spcPts val="0"/>
              </a:spcAft>
              <a:buSzPct val="100000"/>
              <a:buChar char="○"/>
            </a:pPr>
            <a:r>
              <a:rPr lang="pt-BR" sz="2400"/>
              <a:t>With </a:t>
            </a:r>
            <a:r>
              <a:rPr b="1" lang="pt-BR" sz="2400"/>
              <a:t>embeddings</a:t>
            </a:r>
            <a:r>
              <a:rPr lang="pt-BR" sz="2400"/>
              <a:t>: </a:t>
            </a:r>
            <a:endParaRPr/>
          </a:p>
          <a:p>
            <a:pPr indent="-224949" lvl="2" marL="520700" rtl="0" algn="l">
              <a:lnSpc>
                <a:spcPct val="90000"/>
              </a:lnSpc>
              <a:spcBef>
                <a:spcPts val="500"/>
              </a:spcBef>
              <a:spcAft>
                <a:spcPts val="0"/>
              </a:spcAft>
              <a:buSzPct val="100000"/>
              <a:buChar char="■"/>
            </a:pPr>
            <a:r>
              <a:rPr lang="pt-BR" sz="2100"/>
              <a:t>Feature is a word vector</a:t>
            </a:r>
            <a:endParaRPr/>
          </a:p>
          <a:p>
            <a:pPr indent="-224949" lvl="2" marL="520700" rtl="0" algn="l">
              <a:lnSpc>
                <a:spcPct val="90000"/>
              </a:lnSpc>
              <a:spcBef>
                <a:spcPts val="500"/>
              </a:spcBef>
              <a:spcAft>
                <a:spcPts val="0"/>
              </a:spcAft>
              <a:buSzPct val="100000"/>
              <a:buChar char="■"/>
            </a:pPr>
            <a:r>
              <a:rPr lang="pt-BR" sz="2100"/>
              <a:t>'The previous word was vector [35,22,17…]</a:t>
            </a:r>
            <a:endParaRPr/>
          </a:p>
          <a:p>
            <a:pPr indent="-224949" lvl="2" marL="520700" rtl="0" algn="l">
              <a:lnSpc>
                <a:spcPct val="90000"/>
              </a:lnSpc>
              <a:spcBef>
                <a:spcPts val="500"/>
              </a:spcBef>
              <a:spcAft>
                <a:spcPts val="0"/>
              </a:spcAft>
              <a:buSzPct val="100000"/>
              <a:buChar char="■"/>
            </a:pPr>
            <a:r>
              <a:rPr lang="pt-BR" sz="2100"/>
              <a:t>Now in the test set we might see a similar vector [34,21,14]</a:t>
            </a:r>
            <a:endParaRPr/>
          </a:p>
          <a:p>
            <a:pPr indent="-224949" lvl="2" marL="520700" rtl="0" algn="l">
              <a:lnSpc>
                <a:spcPct val="90000"/>
              </a:lnSpc>
              <a:spcBef>
                <a:spcPts val="500"/>
              </a:spcBef>
              <a:spcAft>
                <a:spcPts val="0"/>
              </a:spcAft>
              <a:buSzPct val="100000"/>
              <a:buChar char="■"/>
            </a:pPr>
            <a:r>
              <a:rPr lang="pt-BR" sz="2100"/>
              <a:t>We can generalize to </a:t>
            </a:r>
            <a:r>
              <a:rPr b="1" lang="pt-BR" sz="2100"/>
              <a:t>similar but unseen</a:t>
            </a:r>
            <a:r>
              <a:rPr lang="pt-BR" sz="2100"/>
              <a:t> words!!! </a:t>
            </a:r>
            <a:endParaRPr/>
          </a:p>
          <a:p>
            <a:pPr indent="-12700" lvl="0" marL="12700" rtl="0" algn="l">
              <a:lnSpc>
                <a:spcPct val="90000"/>
              </a:lnSpc>
              <a:spcBef>
                <a:spcPts val="1200"/>
              </a:spcBef>
              <a:spcAft>
                <a:spcPts val="0"/>
              </a:spcAft>
              <a:buSzPct val="93333"/>
              <a:buNone/>
            </a:pPr>
            <a:r>
              <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4" name="Shape 1714"/>
        <p:cNvGrpSpPr/>
        <p:nvPr/>
      </p:nvGrpSpPr>
      <p:grpSpPr>
        <a:xfrm>
          <a:off x="0" y="0"/>
          <a:ext cx="0" cy="0"/>
          <a:chOff x="0" y="0"/>
          <a:chExt cx="0" cy="0"/>
        </a:xfrm>
      </p:grpSpPr>
      <p:sp>
        <p:nvSpPr>
          <p:cNvPr id="1715" name="Google Shape;1715;g3f9ebdf94e2_0_1553"/>
          <p:cNvSpPr txBox="1"/>
          <p:nvPr>
            <p:ph type="title"/>
          </p:nvPr>
        </p:nvSpPr>
        <p:spPr>
          <a:xfrm>
            <a:off x="857250" y="214954"/>
            <a:ext cx="6560700" cy="756600"/>
          </a:xfrm>
          <a:prstGeom prst="rect">
            <a:avLst/>
          </a:prstGeom>
          <a:noFill/>
          <a:ln>
            <a:noFill/>
          </a:ln>
        </p:spPr>
        <p:txBody>
          <a:bodyPr anchorCtr="0" anchor="b" bIns="34275" lIns="68575" spcFirstLastPara="1" rIns="68575" wrap="square" tIns="34275">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We'll discuss 2 kinds of embeddings</a:t>
            </a:r>
            <a:endParaRPr/>
          </a:p>
        </p:txBody>
      </p:sp>
      <p:sp>
        <p:nvSpPr>
          <p:cNvPr id="1716" name="Google Shape;1716;g3f9ebdf94e2_0_1553"/>
          <p:cNvSpPr txBox="1"/>
          <p:nvPr>
            <p:ph idx="1" type="body"/>
          </p:nvPr>
        </p:nvSpPr>
        <p:spPr>
          <a:xfrm>
            <a:off x="857250" y="1143000"/>
            <a:ext cx="7944000" cy="4000500"/>
          </a:xfrm>
          <a:prstGeom prst="rect">
            <a:avLst/>
          </a:prstGeom>
          <a:noFill/>
          <a:ln>
            <a:noFill/>
          </a:ln>
        </p:spPr>
        <p:txBody>
          <a:bodyPr anchorCtr="0" anchor="t" bIns="34275" lIns="0" spcFirstLastPara="1" rIns="0" wrap="square" tIns="34275">
            <a:normAutofit lnSpcReduction="10000"/>
          </a:bodyPr>
          <a:lstStyle/>
          <a:p>
            <a:pPr indent="-12700" lvl="0" marL="12700" rtl="0" algn="l">
              <a:lnSpc>
                <a:spcPct val="90000"/>
              </a:lnSpc>
              <a:spcBef>
                <a:spcPts val="0"/>
              </a:spcBef>
              <a:spcAft>
                <a:spcPts val="0"/>
              </a:spcAft>
              <a:buSzPts val="2400"/>
              <a:buNone/>
            </a:pPr>
            <a:r>
              <a:rPr lang="pt-BR" sz="2400">
                <a:solidFill>
                  <a:srgbClr val="0000FF"/>
                </a:solidFill>
              </a:rPr>
              <a:t>Simple count embeddings </a:t>
            </a:r>
            <a:endParaRPr/>
          </a:p>
          <a:p>
            <a:pPr indent="-127000" lvl="1" marL="406400" rtl="0" algn="l">
              <a:lnSpc>
                <a:spcPct val="90000"/>
              </a:lnSpc>
              <a:spcBef>
                <a:spcPts val="300"/>
              </a:spcBef>
              <a:spcAft>
                <a:spcPts val="0"/>
              </a:spcAft>
              <a:buSzPts val="2100"/>
              <a:buNone/>
            </a:pPr>
            <a:r>
              <a:rPr b="1" lang="pt-BR" sz="2100"/>
              <a:t>Sparse</a:t>
            </a:r>
            <a:r>
              <a:rPr lang="pt-BR" sz="2100"/>
              <a:t> vectors</a:t>
            </a:r>
            <a:endParaRPr/>
          </a:p>
          <a:p>
            <a:pPr indent="-127000" lvl="1" marL="406400" rtl="0" algn="l">
              <a:lnSpc>
                <a:spcPct val="90000"/>
              </a:lnSpc>
              <a:spcBef>
                <a:spcPts val="500"/>
              </a:spcBef>
              <a:spcAft>
                <a:spcPts val="0"/>
              </a:spcAft>
              <a:buSzPts val="2100"/>
              <a:buNone/>
            </a:pPr>
            <a:r>
              <a:rPr lang="pt-BR" sz="2100"/>
              <a:t>Words are represented by the </a:t>
            </a:r>
            <a:r>
              <a:rPr b="1" lang="pt-BR" sz="2100"/>
              <a:t>counts </a:t>
            </a:r>
            <a:r>
              <a:rPr lang="pt-BR" sz="2100"/>
              <a:t>of nearby words</a:t>
            </a:r>
            <a:endParaRPr/>
          </a:p>
          <a:p>
            <a:pPr indent="-127000" lvl="1" marL="406400" rtl="0" algn="l">
              <a:lnSpc>
                <a:spcPct val="90000"/>
              </a:lnSpc>
              <a:spcBef>
                <a:spcPts val="500"/>
              </a:spcBef>
              <a:spcAft>
                <a:spcPts val="0"/>
              </a:spcAft>
              <a:buSzPts val="2100"/>
              <a:buNone/>
            </a:pPr>
            <a:r>
              <a:rPr lang="pt-BR" sz="2100"/>
              <a:t>Later for information retrieval we'll augment this model to create the </a:t>
            </a:r>
            <a:r>
              <a:rPr b="1" lang="pt-BR" sz="2100"/>
              <a:t>tf-idf </a:t>
            </a:r>
            <a:r>
              <a:rPr lang="pt-BR" sz="2100"/>
              <a:t>model of weighting those counts.</a:t>
            </a:r>
            <a:endParaRPr/>
          </a:p>
          <a:p>
            <a:pPr indent="-12700" lvl="0" marL="12700" rtl="0" algn="l">
              <a:lnSpc>
                <a:spcPct val="90000"/>
              </a:lnSpc>
              <a:spcBef>
                <a:spcPts val="1200"/>
              </a:spcBef>
              <a:spcAft>
                <a:spcPts val="0"/>
              </a:spcAft>
              <a:buSzPts val="2400"/>
              <a:buNone/>
            </a:pPr>
            <a:r>
              <a:rPr lang="pt-BR" sz="2400">
                <a:solidFill>
                  <a:srgbClr val="0000FF"/>
                </a:solidFill>
              </a:rPr>
              <a:t>Word2vec</a:t>
            </a:r>
            <a:endParaRPr/>
          </a:p>
          <a:p>
            <a:pPr indent="-127000" lvl="1" marL="406400" rtl="0" algn="l">
              <a:lnSpc>
                <a:spcPct val="90000"/>
              </a:lnSpc>
              <a:spcBef>
                <a:spcPts val="300"/>
              </a:spcBef>
              <a:spcAft>
                <a:spcPts val="0"/>
              </a:spcAft>
              <a:buSzPts val="2100"/>
              <a:buNone/>
            </a:pPr>
            <a:r>
              <a:rPr b="1" lang="pt-BR" sz="2100"/>
              <a:t>Dense</a:t>
            </a:r>
            <a:r>
              <a:rPr lang="pt-BR" sz="2100"/>
              <a:t> vectors</a:t>
            </a:r>
            <a:endParaRPr/>
          </a:p>
          <a:p>
            <a:pPr indent="-127000" lvl="1" marL="406400" rtl="0" algn="l">
              <a:lnSpc>
                <a:spcPct val="90000"/>
              </a:lnSpc>
              <a:spcBef>
                <a:spcPts val="500"/>
              </a:spcBef>
              <a:spcAft>
                <a:spcPts val="0"/>
              </a:spcAft>
              <a:buSzPts val="2100"/>
              <a:buNone/>
            </a:pPr>
            <a:r>
              <a:rPr lang="pt-BR" sz="2100"/>
              <a:t>Representation is created by training a classifier to </a:t>
            </a:r>
            <a:r>
              <a:rPr b="1" lang="pt-BR" sz="2100"/>
              <a:t>predict</a:t>
            </a:r>
            <a:r>
              <a:rPr lang="pt-BR" sz="2100"/>
              <a:t> whether a word is likely to appear nearby</a:t>
            </a:r>
            <a:endParaRPr/>
          </a:p>
          <a:p>
            <a:pPr indent="-127000" lvl="1" marL="406400" rtl="0" algn="l">
              <a:lnSpc>
                <a:spcPct val="90000"/>
              </a:lnSpc>
              <a:spcBef>
                <a:spcPts val="500"/>
              </a:spcBef>
              <a:spcAft>
                <a:spcPts val="0"/>
              </a:spcAft>
              <a:buSzPts val="2100"/>
              <a:buNone/>
            </a:pPr>
            <a:r>
              <a:rPr lang="pt-BR" sz="2100"/>
              <a:t>Later we'll discuss extensions called  </a:t>
            </a:r>
            <a:r>
              <a:rPr b="1" lang="pt-BR" sz="2100">
                <a:solidFill>
                  <a:srgbClr val="0000FF"/>
                </a:solidFill>
              </a:rPr>
              <a:t>contextual embeddings</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sp>
        <p:nvSpPr>
          <p:cNvPr id="1721" name="Google Shape;1721;g3f9ebdf94e2_0_1558"/>
          <p:cNvSpPr txBox="1"/>
          <p:nvPr>
            <p:ph type="title"/>
          </p:nvPr>
        </p:nvSpPr>
        <p:spPr>
          <a:xfrm>
            <a:off x="403825" y="182875"/>
            <a:ext cx="7982100" cy="19125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pt-BR"/>
              <a:t>From now on:</a:t>
            </a:r>
            <a:br>
              <a:rPr lang="pt-BR"/>
            </a:br>
            <a:r>
              <a:rPr lang="pt-BR"/>
              <a:t>Computing with meaning representations</a:t>
            </a:r>
            <a:br>
              <a:rPr lang="pt-BR"/>
            </a:br>
            <a:r>
              <a:rPr lang="pt-BR"/>
              <a:t>instead of string representations</a:t>
            </a:r>
            <a:endParaRPr/>
          </a:p>
        </p:txBody>
      </p:sp>
      <p:pic>
        <p:nvPicPr>
          <p:cNvPr id="1722" name="Google Shape;1722;g3f9ebdf94e2_0_1558"/>
          <p:cNvPicPr preferRelativeResize="0"/>
          <p:nvPr>
            <p:ph idx="1" type="body"/>
          </p:nvPr>
        </p:nvPicPr>
        <p:blipFill rotWithShape="1">
          <a:blip r:embed="rId3">
            <a:alphaModFix/>
          </a:blip>
          <a:srcRect b="0" l="0" r="0" t="0"/>
          <a:stretch/>
        </p:blipFill>
        <p:spPr>
          <a:xfrm>
            <a:off x="384764" y="2343150"/>
            <a:ext cx="8374500" cy="154080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6" name="Shape 1726"/>
        <p:cNvGrpSpPr/>
        <p:nvPr/>
      </p:nvGrpSpPr>
      <p:grpSpPr>
        <a:xfrm>
          <a:off x="0" y="0"/>
          <a:ext cx="0" cy="0"/>
          <a:chOff x="0" y="0"/>
          <a:chExt cx="0" cy="0"/>
        </a:xfrm>
      </p:grpSpPr>
      <p:sp>
        <p:nvSpPr>
          <p:cNvPr id="1727" name="Google Shape;1727;g3fb4b53f0be_3_87"/>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Words in Space – Linguistic Regularities</a:t>
            </a:r>
            <a:endParaRPr b="1" i="0" sz="3000" u="none" cap="none" strike="noStrike">
              <a:solidFill>
                <a:srgbClr val="252323"/>
              </a:solidFill>
              <a:latin typeface="Comfortaa"/>
              <a:ea typeface="Comfortaa"/>
              <a:cs typeface="Comfortaa"/>
              <a:sym typeface="Comfortaa"/>
            </a:endParaRPr>
          </a:p>
        </p:txBody>
      </p:sp>
      <p:pic>
        <p:nvPicPr>
          <p:cNvPr id="1728" name="Google Shape;1728;g3fb4b53f0be_3_87"/>
          <p:cNvPicPr preferRelativeResize="0"/>
          <p:nvPr/>
        </p:nvPicPr>
        <p:blipFill rotWithShape="1">
          <a:blip r:embed="rId3">
            <a:alphaModFix/>
          </a:blip>
          <a:srcRect b="0" l="0" r="0" t="0"/>
          <a:stretch/>
        </p:blipFill>
        <p:spPr>
          <a:xfrm>
            <a:off x="653102" y="1469429"/>
            <a:ext cx="7649846" cy="2737056"/>
          </a:xfrm>
          <a:prstGeom prst="rect">
            <a:avLst/>
          </a:prstGeom>
          <a:noFill/>
          <a:ln>
            <a:noFill/>
          </a:ln>
        </p:spPr>
      </p:pic>
      <p:sp>
        <p:nvSpPr>
          <p:cNvPr id="1729" name="Google Shape;1729;g3fb4b53f0be_3_87"/>
          <p:cNvSpPr txBox="1"/>
          <p:nvPr/>
        </p:nvSpPr>
        <p:spPr>
          <a:xfrm>
            <a:off x="6136223" y="4257099"/>
            <a:ext cx="2190900" cy="314700"/>
          </a:xfrm>
          <a:prstGeom prst="rect">
            <a:avLst/>
          </a:prstGeom>
          <a:noFill/>
          <a:ln>
            <a:noFill/>
          </a:ln>
        </p:spPr>
        <p:txBody>
          <a:bodyPr anchorCtr="0" anchor="t" bIns="40825" lIns="81625" spcFirstLastPara="1" rIns="81625" wrap="square" tIns="40825">
            <a:no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000000"/>
                </a:solidFill>
                <a:latin typeface="Arial"/>
                <a:ea typeface="Arial"/>
                <a:cs typeface="Arial"/>
                <a:sym typeface="Arial"/>
              </a:rPr>
              <a:t>(Mikolov et al., 2013)</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sp>
        <p:nvSpPr>
          <p:cNvPr id="1734" name="Google Shape;1734;p7"/>
          <p:cNvSpPr txBox="1"/>
          <p:nvPr>
            <p:ph idx="1" type="subTitle"/>
          </p:nvPr>
        </p:nvSpPr>
        <p:spPr>
          <a:xfrm>
            <a:off x="1495500" y="1959725"/>
            <a:ext cx="6153000" cy="933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000"/>
              <a:buNone/>
            </a:pPr>
            <a:r>
              <a:rPr b="1" lang="pt-BR" sz="5000">
                <a:solidFill>
                  <a:srgbClr val="FFFFFF"/>
                </a:solidFill>
              </a:rPr>
              <a:t>André Santanchè</a:t>
            </a:r>
            <a:endParaRPr b="1" sz="5000">
              <a:solidFill>
                <a:srgbClr val="FFFFFF"/>
              </a:solidFill>
            </a:endParaRPr>
          </a:p>
        </p:txBody>
      </p:sp>
      <p:sp>
        <p:nvSpPr>
          <p:cNvPr id="1735" name="Google Shape;1735;p7"/>
          <p:cNvSpPr txBox="1"/>
          <p:nvPr/>
        </p:nvSpPr>
        <p:spPr>
          <a:xfrm>
            <a:off x="2339550" y="3134950"/>
            <a:ext cx="4464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Courier New"/>
                <a:ea typeface="Courier New"/>
                <a:cs typeface="Courier New"/>
                <a:sym typeface="Courier New"/>
              </a:rPr>
              <a:t>https://www.ic.unicamp.br/~santanche/</a:t>
            </a:r>
            <a:endParaRPr b="0" i="0" sz="1400" u="none" cap="none" strike="noStrike">
              <a:solidFill>
                <a:schemeClr val="lt1"/>
              </a:solidFill>
              <a:latin typeface="Courier New"/>
              <a:ea typeface="Courier New"/>
              <a:cs typeface="Courier New"/>
              <a:sym typeface="Courier New"/>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id="1740" name="Google Shape;1740;g3f8d500992e_0_0"/>
          <p:cNvSpPr txBox="1"/>
          <p:nvPr>
            <p:ph type="title"/>
          </p:nvPr>
        </p:nvSpPr>
        <p:spPr>
          <a:xfrm>
            <a:off x="311700" y="1116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References</a:t>
            </a:r>
            <a:endParaRPr/>
          </a:p>
        </p:txBody>
      </p:sp>
      <p:sp>
        <p:nvSpPr>
          <p:cNvPr id="1741" name="Google Shape;1741;g3f8d500992e_0_0"/>
          <p:cNvSpPr txBox="1"/>
          <p:nvPr>
            <p:ph idx="1" type="body"/>
          </p:nvPr>
        </p:nvSpPr>
        <p:spPr>
          <a:xfrm>
            <a:off x="311700" y="895300"/>
            <a:ext cx="8520600" cy="41052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15000"/>
              </a:lnSpc>
              <a:spcBef>
                <a:spcPts val="0"/>
              </a:spcBef>
              <a:spcAft>
                <a:spcPts val="0"/>
              </a:spcAft>
              <a:buSzPts val="1300"/>
              <a:buChar char="●"/>
            </a:pPr>
            <a:r>
              <a:rPr lang="pt-BR" sz="1300"/>
              <a:t>Jurafsky, D. and Martin, J. H. (2025). </a:t>
            </a:r>
            <a:r>
              <a:rPr b="1" lang="pt-BR" sz="1300"/>
              <a:t>Speech and Language Processing: An Introduction to Natural Language Processing, Computational Linguistics, and Speech Recognition with Language Models. 3rd edition</a:t>
            </a:r>
            <a:r>
              <a:rPr lang="pt-BR" sz="1300"/>
              <a:t>. </a:t>
            </a:r>
            <a:r>
              <a:rPr lang="pt-BR" sz="1300">
                <a:uFill>
                  <a:noFill/>
                </a:uFill>
                <a:hlinkClick r:id="rId3"/>
              </a:rPr>
              <a:t>https://web.stanford.edu/~jurafsky/slp3/</a:t>
            </a:r>
            <a:endParaRPr sz="1300">
              <a:solidFill>
                <a:srgbClr val="B7B7B7"/>
              </a:solidFill>
            </a:endParaRPr>
          </a:p>
          <a:p>
            <a:pPr indent="-311150" lvl="0" marL="457200" rtl="0" algn="l">
              <a:lnSpc>
                <a:spcPct val="115000"/>
              </a:lnSpc>
              <a:spcBef>
                <a:spcPts val="0"/>
              </a:spcBef>
              <a:spcAft>
                <a:spcPts val="0"/>
              </a:spcAft>
              <a:buSzPts val="1300"/>
              <a:buChar char="●"/>
            </a:pPr>
            <a:r>
              <a:rPr lang="pt-BR" sz="1300"/>
              <a:t>Manning, C. D., Raghavan, P., &amp; Schütze, H. (2009). </a:t>
            </a:r>
            <a:r>
              <a:rPr b="1" lang="pt-BR" sz="1300"/>
              <a:t>Introduction to Information Retrieval</a:t>
            </a:r>
            <a:r>
              <a:rPr lang="pt-BR" sz="1300"/>
              <a:t>. Cambridge University Press. </a:t>
            </a:r>
            <a:r>
              <a:rPr lang="pt-BR" sz="1300" u="sng">
                <a:solidFill>
                  <a:schemeClr val="hlink"/>
                </a:solidFill>
                <a:hlinkClick r:id="rId4"/>
              </a:rPr>
              <a:t>https://nlp.stanford.edu/IR-book/</a:t>
            </a:r>
            <a:endParaRPr sz="1300"/>
          </a:p>
          <a:p>
            <a:pPr indent="-311150" lvl="0" marL="457200" rtl="0" algn="l">
              <a:lnSpc>
                <a:spcPct val="115000"/>
              </a:lnSpc>
              <a:spcBef>
                <a:spcPts val="0"/>
              </a:spcBef>
              <a:spcAft>
                <a:spcPts val="0"/>
              </a:spcAft>
              <a:buSzPts val="1300"/>
              <a:buChar char="●"/>
            </a:pPr>
            <a:r>
              <a:rPr lang="pt-BR" sz="1300"/>
              <a:t>Mohammad, S. M. (2018). </a:t>
            </a:r>
            <a:r>
              <a:rPr b="1" lang="pt-BR" sz="1300"/>
              <a:t>Obtaining Reliable Human Ratings of Valence, Arousal, and Dominance for 20,000 English Words</a:t>
            </a:r>
            <a:r>
              <a:rPr lang="pt-BR" sz="1300"/>
              <a:t>. ACL 2018 - 56th Annual Meeting of the Association for Computational Linguistics, Proceedings of the Conference (Long Papers), 1, 174–184. </a:t>
            </a:r>
            <a:r>
              <a:rPr lang="pt-BR" sz="1300" u="sng">
                <a:solidFill>
                  <a:schemeClr val="hlink"/>
                </a:solidFill>
                <a:hlinkClick r:id="rId5"/>
              </a:rPr>
              <a:t>https://doi.org/10.18653/V1/P18-1017</a:t>
            </a:r>
            <a:endParaRPr sz="1300"/>
          </a:p>
          <a:p>
            <a:pPr indent="-311150" lvl="0" marL="457200" rtl="0" algn="l">
              <a:lnSpc>
                <a:spcPct val="115000"/>
              </a:lnSpc>
              <a:spcBef>
                <a:spcPts val="0"/>
              </a:spcBef>
              <a:spcAft>
                <a:spcPts val="0"/>
              </a:spcAft>
              <a:buSzPts val="1300"/>
              <a:buChar char="●"/>
            </a:pPr>
            <a:r>
              <a:rPr lang="pt-BR" sz="1300"/>
              <a:t>Osgood, C. E., Suci, G. J., &amp; Tannenbaum, P. H. (1957). </a:t>
            </a:r>
            <a:r>
              <a:rPr b="1" lang="pt-BR" sz="1300"/>
              <a:t>The Measurement of Meaning</a:t>
            </a:r>
            <a:r>
              <a:rPr lang="pt-BR" sz="1300"/>
              <a:t>. University of Illinois Press.</a:t>
            </a:r>
            <a:endParaRPr sz="1300"/>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g3f8b35c8c4a_1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Acknowledgement</a:t>
            </a:r>
            <a:endParaRPr/>
          </a:p>
        </p:txBody>
      </p:sp>
      <p:sp>
        <p:nvSpPr>
          <p:cNvPr id="1747" name="Google Shape;1747;g3f8b35c8c4a_1_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By KN Dela Cruz - Own work, CC BY-SA 4.0, </a:t>
            </a:r>
            <a:r>
              <a:rPr lang="pt-BR" u="sng">
                <a:solidFill>
                  <a:schemeClr val="hlink"/>
                </a:solidFill>
                <a:hlinkClick r:id="rId3"/>
              </a:rPr>
              <a:t>https://commons.wikimedia.org/w/index.php?curid=117199094</a:t>
            </a:r>
            <a:endParaRPr/>
          </a:p>
        </p:txBody>
      </p:sp>
      <p:pic>
        <p:nvPicPr>
          <p:cNvPr id="1748" name="Google Shape;1748;g3f8b35c8c4a_1_0"/>
          <p:cNvPicPr preferRelativeResize="0"/>
          <p:nvPr/>
        </p:nvPicPr>
        <p:blipFill>
          <a:blip r:embed="rId4">
            <a:alphaModFix/>
          </a:blip>
          <a:stretch>
            <a:fillRect/>
          </a:stretch>
        </p:blipFill>
        <p:spPr>
          <a:xfrm>
            <a:off x="139700" y="1542562"/>
            <a:ext cx="4481575" cy="2636222"/>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g3f8b9352fab_0_0"/>
          <p:cNvSpPr txBox="1"/>
          <p:nvPr/>
        </p:nvSpPr>
        <p:spPr>
          <a:xfrm>
            <a:off x="457172" y="204740"/>
            <a:ext cx="8228700" cy="85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pt-BR" sz="3000" u="none" cap="none" strike="noStrike">
                <a:solidFill>
                  <a:srgbClr val="252323"/>
                </a:solidFill>
                <a:latin typeface="Comfortaa"/>
                <a:ea typeface="Comfortaa"/>
                <a:cs typeface="Comfortaa"/>
                <a:sym typeface="Comfortaa"/>
              </a:rPr>
              <a:t>Acknowledgments</a:t>
            </a:r>
            <a:endParaRPr b="1" i="0" sz="3000" u="none" cap="none" strike="noStrike">
              <a:solidFill>
                <a:srgbClr val="252323"/>
              </a:solidFill>
              <a:latin typeface="Comfortaa"/>
              <a:ea typeface="Comfortaa"/>
              <a:cs typeface="Comfortaa"/>
              <a:sym typeface="Comfortaa"/>
            </a:endParaRPr>
          </a:p>
        </p:txBody>
      </p:sp>
      <p:sp>
        <p:nvSpPr>
          <p:cNvPr id="1754" name="Google Shape;1754;g3f8b9352fab_0_0"/>
          <p:cNvSpPr txBox="1"/>
          <p:nvPr/>
        </p:nvSpPr>
        <p:spPr>
          <a:xfrm>
            <a:off x="4673927" y="1203299"/>
            <a:ext cx="4015500" cy="339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pt-BR" sz="1100" u="sng" cap="none" strike="noStrike">
                <a:solidFill>
                  <a:schemeClr val="hlink"/>
                </a:solidFill>
                <a:latin typeface="Comfortaa"/>
                <a:ea typeface="Comfortaa"/>
                <a:cs typeface="Comfortaa"/>
                <a:sym typeface="Comfortaa"/>
                <a:hlinkClick r:id="rId3"/>
              </a:rPr>
              <a:t>https://pixabay.com/illustrations/platypus-character-cartoon-cute-8354976/</a:t>
            </a:r>
            <a:endParaRPr b="0" i="0" sz="1100" u="none" cap="none" strike="noStrike">
              <a:solidFill>
                <a:srgbClr val="252323"/>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100"/>
              <a:buFont typeface="Arial"/>
              <a:buNone/>
            </a:pPr>
            <a:r>
              <a:rPr b="0" i="0" lang="pt-BR" sz="1100" u="sng" cap="none" strike="noStrike">
                <a:solidFill>
                  <a:schemeClr val="hlink"/>
                </a:solidFill>
                <a:latin typeface="Comfortaa"/>
                <a:ea typeface="Comfortaa"/>
                <a:cs typeface="Comfortaa"/>
                <a:sym typeface="Comfortaa"/>
                <a:hlinkClick r:id="rId4"/>
              </a:rPr>
              <a:t>https://pixabay.com/illustrations/pterodactyl-dinosaur-creature-8240037/</a:t>
            </a:r>
            <a:endParaRPr b="0" i="0" sz="1100" u="none" cap="none" strike="noStrike">
              <a:solidFill>
                <a:srgbClr val="252323"/>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100"/>
              <a:buFont typeface="Arial"/>
              <a:buNone/>
            </a:pPr>
            <a:r>
              <a:rPr b="0" i="0" lang="pt-BR" sz="1100" u="sng" cap="none" strike="noStrike">
                <a:solidFill>
                  <a:schemeClr val="hlink"/>
                </a:solidFill>
                <a:latin typeface="Comfortaa"/>
                <a:ea typeface="Comfortaa"/>
                <a:cs typeface="Comfortaa"/>
                <a:sym typeface="Comfortaa"/>
                <a:hlinkClick r:id="rId5"/>
              </a:rPr>
              <a:t>https://pixabay.com/illustrations/eagle-bird-hawk-wild-animal-prey-1643086/</a:t>
            </a:r>
            <a:endParaRPr b="0" i="0" sz="1100" u="none" cap="none" strike="noStrike">
              <a:solidFill>
                <a:srgbClr val="252323"/>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100"/>
              <a:buFont typeface="Arial"/>
              <a:buNone/>
            </a:pPr>
            <a:r>
              <a:rPr b="0" i="0" lang="pt-BR" sz="1100" u="sng" cap="none" strike="noStrike">
                <a:solidFill>
                  <a:schemeClr val="hlink"/>
                </a:solidFill>
                <a:latin typeface="Comfortaa"/>
                <a:ea typeface="Comfortaa"/>
                <a:cs typeface="Comfortaa"/>
                <a:sym typeface="Comfortaa"/>
                <a:hlinkClick r:id="rId6"/>
              </a:rPr>
              <a:t>https://pixabay.com/illustrations/duck-icon-duck-icon-mallard-bird-5569004/</a:t>
            </a:r>
            <a:endParaRPr b="0" i="0" sz="1100" u="none" cap="none" strike="noStrike">
              <a:solidFill>
                <a:srgbClr val="252323"/>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100"/>
              <a:buFont typeface="Arial"/>
              <a:buNone/>
            </a:pPr>
            <a:r>
              <a:rPr b="0" i="0" lang="pt-BR" sz="1100" u="sng" cap="none" strike="noStrike">
                <a:solidFill>
                  <a:schemeClr val="hlink"/>
                </a:solidFill>
                <a:latin typeface="Comfortaa"/>
                <a:ea typeface="Comfortaa"/>
                <a:cs typeface="Comfortaa"/>
                <a:sym typeface="Comfortaa"/>
                <a:hlinkClick r:id="rId7"/>
              </a:rPr>
              <a:t>https://pixabay.com/vectors/beaver-animal-rodent-mammal-48437/</a:t>
            </a:r>
            <a:endParaRPr b="0" i="0" sz="1100" u="none" cap="none" strike="noStrike">
              <a:solidFill>
                <a:srgbClr val="252323"/>
              </a:solidFill>
              <a:latin typeface="Comfortaa"/>
              <a:ea typeface="Comfortaa"/>
              <a:cs typeface="Comfortaa"/>
              <a:sym typeface="Comfortaa"/>
            </a:endParaRPr>
          </a:p>
        </p:txBody>
      </p:sp>
      <p:pic>
        <p:nvPicPr>
          <p:cNvPr id="1755" name="Google Shape;1755;g3f8b9352fab_0_0"/>
          <p:cNvPicPr preferRelativeResize="0"/>
          <p:nvPr/>
        </p:nvPicPr>
        <p:blipFill rotWithShape="1">
          <a:blip r:embed="rId8">
            <a:alphaModFix/>
          </a:blip>
          <a:srcRect b="0" l="0" r="0" t="0"/>
          <a:stretch/>
        </p:blipFill>
        <p:spPr>
          <a:xfrm>
            <a:off x="326551" y="3918477"/>
            <a:ext cx="1142888" cy="1142888"/>
          </a:xfrm>
          <a:prstGeom prst="rect">
            <a:avLst/>
          </a:prstGeom>
          <a:noFill/>
          <a:ln>
            <a:noFill/>
          </a:ln>
        </p:spPr>
      </p:pic>
      <p:pic>
        <p:nvPicPr>
          <p:cNvPr id="1756" name="Google Shape;1756;g3f8b9352fab_0_0"/>
          <p:cNvPicPr preferRelativeResize="0"/>
          <p:nvPr/>
        </p:nvPicPr>
        <p:blipFill rotWithShape="1">
          <a:blip r:embed="rId9">
            <a:alphaModFix/>
          </a:blip>
          <a:srcRect b="0" l="0" r="0" t="0"/>
          <a:stretch/>
        </p:blipFill>
        <p:spPr>
          <a:xfrm>
            <a:off x="174705" y="2612318"/>
            <a:ext cx="2764159" cy="1632698"/>
          </a:xfrm>
          <a:prstGeom prst="rect">
            <a:avLst/>
          </a:prstGeom>
          <a:noFill/>
          <a:ln>
            <a:noFill/>
          </a:ln>
        </p:spPr>
      </p:pic>
      <p:pic>
        <p:nvPicPr>
          <p:cNvPr id="1757" name="Google Shape;1757;g3f8b9352fab_0_0"/>
          <p:cNvPicPr preferRelativeResize="0"/>
          <p:nvPr/>
        </p:nvPicPr>
        <p:blipFill rotWithShape="1">
          <a:blip r:embed="rId10">
            <a:alphaModFix/>
          </a:blip>
          <a:srcRect b="0" l="0" r="0" t="0"/>
          <a:stretch/>
        </p:blipFill>
        <p:spPr>
          <a:xfrm>
            <a:off x="1718639" y="1187625"/>
            <a:ext cx="2526438" cy="1424693"/>
          </a:xfrm>
          <a:prstGeom prst="rect">
            <a:avLst/>
          </a:prstGeom>
          <a:noFill/>
          <a:ln>
            <a:noFill/>
          </a:ln>
        </p:spPr>
      </p:pic>
      <p:pic>
        <p:nvPicPr>
          <p:cNvPr id="1758" name="Google Shape;1758;g3f8b9352fab_0_0"/>
          <p:cNvPicPr preferRelativeResize="0"/>
          <p:nvPr/>
        </p:nvPicPr>
        <p:blipFill rotWithShape="1">
          <a:blip r:embed="rId11">
            <a:alphaModFix/>
          </a:blip>
          <a:srcRect b="0" l="0" r="0" t="0"/>
          <a:stretch/>
        </p:blipFill>
        <p:spPr>
          <a:xfrm>
            <a:off x="461090" y="979619"/>
            <a:ext cx="1498165" cy="1479879"/>
          </a:xfrm>
          <a:prstGeom prst="rect">
            <a:avLst/>
          </a:prstGeom>
          <a:noFill/>
          <a:ln>
            <a:noFill/>
          </a:ln>
        </p:spPr>
      </p:pic>
      <p:pic>
        <p:nvPicPr>
          <p:cNvPr id="1759" name="Google Shape;1759;g3f8b9352fab_0_0"/>
          <p:cNvPicPr preferRelativeResize="0"/>
          <p:nvPr/>
        </p:nvPicPr>
        <p:blipFill rotWithShape="1">
          <a:blip r:embed="rId12">
            <a:alphaModFix/>
          </a:blip>
          <a:srcRect b="0" l="0" r="0" t="0"/>
          <a:stretch/>
        </p:blipFill>
        <p:spPr>
          <a:xfrm>
            <a:off x="3050315" y="3591937"/>
            <a:ext cx="1194809" cy="1285913"/>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3" name="Shape 1763"/>
        <p:cNvGrpSpPr/>
        <p:nvPr/>
      </p:nvGrpSpPr>
      <p:grpSpPr>
        <a:xfrm>
          <a:off x="0" y="0"/>
          <a:ext cx="0" cy="0"/>
          <a:chOff x="0" y="0"/>
          <a:chExt cx="0" cy="0"/>
        </a:xfrm>
      </p:grpSpPr>
      <p:sp>
        <p:nvSpPr>
          <p:cNvPr id="1764" name="Google Shape;1764;g3f6939d4d94_0_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Licença</a:t>
            </a:r>
            <a:endParaRPr/>
          </a:p>
        </p:txBody>
      </p:sp>
      <p:sp>
        <p:nvSpPr>
          <p:cNvPr id="1765" name="Google Shape;1765;g3f6939d4d94_0_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SzPts val="2300"/>
              <a:buChar char="●"/>
            </a:pPr>
            <a:r>
              <a:rPr lang="pt-BR" sz="2300"/>
              <a:t>Estes slides são concedidos sob uma Licença Creative Commons. Sob as seguintes condições: Atribuição, Uso Não-Comercial e Compartilhamento pela mesma Licença. </a:t>
            </a:r>
            <a:endParaRPr sz="2300"/>
          </a:p>
          <a:p>
            <a:pPr indent="-374650" lvl="0" marL="457200" rtl="0" algn="l">
              <a:lnSpc>
                <a:spcPct val="115000"/>
              </a:lnSpc>
              <a:spcBef>
                <a:spcPts val="0"/>
              </a:spcBef>
              <a:spcAft>
                <a:spcPts val="0"/>
              </a:spcAft>
              <a:buSzPts val="2300"/>
              <a:buChar char="●"/>
            </a:pPr>
            <a:r>
              <a:rPr lang="pt-BR" sz="2300"/>
              <a:t>Mais detalhes sobre a referida licença Creative Commons veja no link:</a:t>
            </a:r>
            <a:br>
              <a:rPr lang="pt-BR" sz="2300"/>
            </a:br>
            <a:r>
              <a:rPr lang="pt-BR" sz="2300" u="sng">
                <a:solidFill>
                  <a:schemeClr val="hlink"/>
                </a:solidFill>
                <a:hlinkClick r:id="rId3"/>
              </a:rPr>
              <a:t>http://creativecommons.org/licenses/by-nc-sa/3.0/</a:t>
            </a:r>
            <a:endParaRPr sz="2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