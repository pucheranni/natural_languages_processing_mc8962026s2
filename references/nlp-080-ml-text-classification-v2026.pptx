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Lst>
  <p:sldSz cy="5143500" cx="9144000"/>
  <p:notesSz cx="6858000" cy="9144000"/>
  <p:embeddedFontLst>
    <p:embeddedFont>
      <p:font typeface="Advent Pro Medium"/>
      <p:regular r:id="rId223"/>
      <p:bold r:id="rId224"/>
      <p:italic r:id="rId225"/>
      <p:boldItalic r:id="rId226"/>
    </p:embeddedFont>
    <p:embeddedFont>
      <p:font typeface="Advent Pro"/>
      <p:regular r:id="rId227"/>
      <p:bold r:id="rId228"/>
      <p:italic r:id="rId229"/>
      <p:boldItalic r:id="rId230"/>
    </p:embeddedFont>
    <p:embeddedFont>
      <p:font typeface="Comfortaa"/>
      <p:regular r:id="rId231"/>
      <p:bold r:id="rId232"/>
    </p:embeddedFont>
    <p:embeddedFont>
      <p:font typeface="Cambria Math"/>
      <p:regular r:id="rId2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4" roundtripDataSignature="AMtx7mgWX8uSwIewQCSc8gAv0hAhP2qf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3BB5FC-66A1-48A0-959A-E853AC047F4A}">
  <a:tblStyle styleId="{D33BB5FC-66A1-48A0-959A-E853AC047F4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228" Type="http://schemas.openxmlformats.org/officeDocument/2006/relationships/font" Target="fonts/AdventPro-bold.fntdata"/><Relationship Id="rId106" Type="http://schemas.openxmlformats.org/officeDocument/2006/relationships/slide" Target="slides/slide100.xml"/><Relationship Id="rId227" Type="http://schemas.openxmlformats.org/officeDocument/2006/relationships/font" Target="fonts/AdventPro-regular.fntdata"/><Relationship Id="rId105" Type="http://schemas.openxmlformats.org/officeDocument/2006/relationships/slide" Target="slides/slide99.xml"/><Relationship Id="rId226" Type="http://schemas.openxmlformats.org/officeDocument/2006/relationships/font" Target="fonts/AdventProMedium-boldItalic.fntdata"/><Relationship Id="rId104" Type="http://schemas.openxmlformats.org/officeDocument/2006/relationships/slide" Target="slides/slide98.xml"/><Relationship Id="rId225" Type="http://schemas.openxmlformats.org/officeDocument/2006/relationships/font" Target="fonts/AdventProMedium-italic.fntdata"/><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font" Target="fonts/AdventPro-italic.fntdata"/><Relationship Id="rId220" Type="http://schemas.openxmlformats.org/officeDocument/2006/relationships/slide" Target="slides/slide214.xml"/><Relationship Id="rId103" Type="http://schemas.openxmlformats.org/officeDocument/2006/relationships/slide" Target="slides/slide97.xml"/><Relationship Id="rId224" Type="http://schemas.openxmlformats.org/officeDocument/2006/relationships/font" Target="fonts/AdventProMedium-bold.fntdata"/><Relationship Id="rId102" Type="http://schemas.openxmlformats.org/officeDocument/2006/relationships/slide" Target="slides/slide96.xml"/><Relationship Id="rId223" Type="http://schemas.openxmlformats.org/officeDocument/2006/relationships/font" Target="fonts/AdventProMedium-regular.fntdata"/><Relationship Id="rId101" Type="http://schemas.openxmlformats.org/officeDocument/2006/relationships/slide" Target="slides/slide95.xml"/><Relationship Id="rId222" Type="http://schemas.openxmlformats.org/officeDocument/2006/relationships/slide" Target="slides/slide216.xml"/><Relationship Id="rId100" Type="http://schemas.openxmlformats.org/officeDocument/2006/relationships/slide" Target="slides/slide94.xml"/><Relationship Id="rId221" Type="http://schemas.openxmlformats.org/officeDocument/2006/relationships/slide" Target="slides/slide215.xml"/><Relationship Id="rId217" Type="http://schemas.openxmlformats.org/officeDocument/2006/relationships/slide" Target="slides/slide211.xml"/><Relationship Id="rId216" Type="http://schemas.openxmlformats.org/officeDocument/2006/relationships/slide" Target="slides/slide210.xml"/><Relationship Id="rId215" Type="http://schemas.openxmlformats.org/officeDocument/2006/relationships/slide" Target="slides/slide209.xml"/><Relationship Id="rId214" Type="http://schemas.openxmlformats.org/officeDocument/2006/relationships/slide" Target="slides/slide208.xml"/><Relationship Id="rId219" Type="http://schemas.openxmlformats.org/officeDocument/2006/relationships/slide" Target="slides/slide213.xml"/><Relationship Id="rId218" Type="http://schemas.openxmlformats.org/officeDocument/2006/relationships/slide" Target="slides/slide212.xml"/><Relationship Id="rId213" Type="http://schemas.openxmlformats.org/officeDocument/2006/relationships/slide" Target="slides/slide207.xml"/><Relationship Id="rId212" Type="http://schemas.openxmlformats.org/officeDocument/2006/relationships/slide" Target="slides/slide206.xml"/><Relationship Id="rId211" Type="http://schemas.openxmlformats.org/officeDocument/2006/relationships/slide" Target="slides/slide205.xml"/><Relationship Id="rId210" Type="http://schemas.openxmlformats.org/officeDocument/2006/relationships/slide" Target="slides/slide20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font" Target="fonts/Comfortaa-regular.fntdata"/><Relationship Id="rId230" Type="http://schemas.openxmlformats.org/officeDocument/2006/relationships/font" Target="fonts/AdventPro-boldItalic.fntdata"/><Relationship Id="rId114" Type="http://schemas.openxmlformats.org/officeDocument/2006/relationships/slide" Target="slides/slide108.xml"/><Relationship Id="rId113" Type="http://schemas.openxmlformats.org/officeDocument/2006/relationships/slide" Target="slides/slide107.xml"/><Relationship Id="rId234" Type="http://customschemas.google.com/relationships/presentationmetadata" Target="metadata"/><Relationship Id="rId112" Type="http://schemas.openxmlformats.org/officeDocument/2006/relationships/slide" Target="slides/slide106.xml"/><Relationship Id="rId233" Type="http://schemas.openxmlformats.org/officeDocument/2006/relationships/font" Target="fonts/CambriaMath-regular.fntdata"/><Relationship Id="rId111" Type="http://schemas.openxmlformats.org/officeDocument/2006/relationships/slide" Target="slides/slide105.xml"/><Relationship Id="rId232" Type="http://schemas.openxmlformats.org/officeDocument/2006/relationships/font" Target="fonts/Comfortaa-bold.fntdata"/><Relationship Id="rId206" Type="http://schemas.openxmlformats.org/officeDocument/2006/relationships/slide" Target="slides/slide200.xml"/><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slide" Target="slides/slide203.xml"/><Relationship Id="rId208" Type="http://schemas.openxmlformats.org/officeDocument/2006/relationships/slide" Target="slides/slide202.xml"/><Relationship Id="rId207" Type="http://schemas.openxmlformats.org/officeDocument/2006/relationships/slide" Target="slides/slide201.xml"/><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bbe1c27eb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g3fbbe1c27eb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bbe1c27eb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bbe1c27eb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bbe1c27eb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bbe1c27eb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bbe1c27eb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bbe1c27eb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a047440f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7a047440f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bb7e4475e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fbb7e4475e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bb7e4475e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fbb7e4475e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bb7e4475e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fbb7e4475e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bc1dcd94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fbc1dcd94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pt-BR"/>
              <a:t>Uma representação simplificada de um fenômeno tipicamente complexo, criado tipicamente a partir de dados experimentais, que é válido sob certas condições e que tem alguma utilidade.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c1dcd94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3fbc1dcd94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bc1dcd94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fbc1dcd947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pt-BR"/>
              <a:t>O que eu consigo fazer com este modelo?</a:t>
            </a:r>
            <a:endParaRPr/>
          </a:p>
          <a:p>
            <a:pPr indent="-298450" lvl="0" marL="457200" rtl="0" algn="l">
              <a:lnSpc>
                <a:spcPct val="100000"/>
              </a:lnSpc>
              <a:spcBef>
                <a:spcPts val="0"/>
              </a:spcBef>
              <a:spcAft>
                <a:spcPts val="0"/>
              </a:spcAft>
              <a:buSzPts val="1100"/>
              <a:buChar char="●"/>
            </a:pPr>
            <a:r>
              <a:rPr lang="pt-BR"/>
              <a:t>Dado um instante do tempo, predizer o deslocamento do corpo</a:t>
            </a:r>
            <a:endParaRPr/>
          </a:p>
          <a:p>
            <a:pPr indent="-298450" lvl="0" marL="457200" rtl="0" algn="l">
              <a:lnSpc>
                <a:spcPct val="100000"/>
              </a:lnSpc>
              <a:spcBef>
                <a:spcPts val="0"/>
              </a:spcBef>
              <a:spcAft>
                <a:spcPts val="0"/>
              </a:spcAft>
              <a:buSzPts val="1100"/>
              <a:buChar char="●"/>
            </a:pPr>
            <a:r>
              <a:rPr lang="pt-BR"/>
              <a:t>Estimar a velocidade que um corpo deve estar para realizar um certo deslocamento em um período de tempo</a:t>
            </a:r>
            <a:endParaRPr/>
          </a:p>
          <a:p>
            <a:pPr indent="-298450" lvl="0" marL="457200" rtl="0" algn="l">
              <a:lnSpc>
                <a:spcPct val="100000"/>
              </a:lnSpc>
              <a:spcBef>
                <a:spcPts val="0"/>
              </a:spcBef>
              <a:spcAft>
                <a:spcPts val="0"/>
              </a:spcAft>
              <a:buSzPts val="1100"/>
              <a:buChar char="●"/>
            </a:pPr>
            <a:r>
              <a:rPr lang="pt-BR"/>
              <a:t>Comparar dois corpos em movimento</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bc1dcd94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3fbc1dcd94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bc1dcd94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fbc1dcd947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bc1dcd94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fbc1dcd947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bc1dcd94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fbc1dcd947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bc1dcd94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fbc1dcd947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bc1dcd94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3fbc1dcd947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bc1dcd94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fbc1dcd947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bc1dcd94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fbc1dcd947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bbe1c27eb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fbbe1c27eb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bb7e4475e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fbb7e4475e_0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bb7e4475e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fbb7e4475e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bb7e4475e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fbb7e4475e_0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bb7e4475e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fbb7e4475e_0_5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bb7e4475e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fbb7e4475e_0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bb7e4475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fbb7e4475e_0_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bb7e4475e_1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fbb7e4475e_1_4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bb7e4475e_1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fbb7e4475e_1_4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bb7e4475e_1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fbb7e4475e_1_4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bb7e4475e_1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fbb7e4475e_1_4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bb7e4475e_1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3fbb7e4475e_1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bb7e4475e_1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fbb7e4475e_1_5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bb7e4475e_1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fbb7e4475e_1_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bb7e4475e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3fbb7e4475e_0_4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bb7e4475e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g3fbb7e4475e_0_4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fbb7e4475e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3fbb7e4475e_0_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bb7e4475e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3fbb7e4475e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bb7e4475e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fbb7e4475e_0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bb7e4475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g3fbb7e4475e_0_4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bb7e4475e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g3fbb7e4475e_0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bbe1c27eb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3fbbe1c27eb_1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fbbe1c27eb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g3fbbe1c27eb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fbbe1c27eb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3fbbe1c27eb_1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bbe1c27eb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3fbbe1c27eb_1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fbbe1c27eb_1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fbbe1c27eb_1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bbe1c27eb_1_15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24" name="Google Shape;524;g3fbbe1c27eb_1_15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Text classification comes up in lots of very practical applications. One is spam detection</a:t>
            </a:r>
            <a:endParaRPr/>
          </a:p>
        </p:txBody>
      </p:sp>
      <p:sp>
        <p:nvSpPr>
          <p:cNvPr id="525" name="Google Shape;525;g3fbbe1c27eb_1_15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fbbe1c27eb_1_165: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32" name="Google Shape;532;g3fbbe1c27eb_1_165: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Text classification is also a task that was addressed very early in the history of what became natural language processing and machine learning. Perhaps the most famous early example is the question of authorship identification.</a:t>
            </a:r>
            <a:endParaRPr/>
          </a:p>
        </p:txBody>
      </p:sp>
      <p:sp>
        <p:nvSpPr>
          <p:cNvPr id="533" name="Google Shape;533;g3fbbe1c27eb_1_165: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fbbe1c27eb_1_177: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47" name="Google Shape;547;g3fbbe1c27eb_1_177: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Another practical text classification task is sentiment analysis: using the language in a text to classify the author's expressed attitude toward something, either as a binary outcome (positive vs negative), or a scalar value. Sentiment is commonly computed on product reviews, like these examples extracted from online movie reviews.</a:t>
            </a:r>
            <a:endParaRPr/>
          </a:p>
        </p:txBody>
      </p:sp>
      <p:sp>
        <p:nvSpPr>
          <p:cNvPr id="548" name="Google Shape;548;g3fbbe1c27eb_1_177: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fbbe1c27eb_1_188: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60" name="Google Shape;560;g3fbbe1c27eb_1_188: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Even language modeling can be viewed as classification….</a:t>
            </a:r>
            <a:endParaRPr/>
          </a:p>
        </p:txBody>
      </p:sp>
      <p:sp>
        <p:nvSpPr>
          <p:cNvPr id="561" name="Google Shape;561;g3fbbe1c27eb_1_188: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bbe1c27eb_1_194: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68" name="Google Shape;568;g3fbbe1c27eb_1_194: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In summary, lots of very disparate tasks can be modeled as assigning a class label to a text</a:t>
            </a:r>
            <a:endParaRPr/>
          </a:p>
        </p:txBody>
      </p:sp>
      <p:sp>
        <p:nvSpPr>
          <p:cNvPr id="569" name="Google Shape;569;g3fbbe1c27eb_1_194: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bbe1c27eb_1_200: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76" name="Google Shape;576;g3fbbe1c27eb_1_200: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g3fbbe1c27eb_1_200: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fbc1dcd947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fbc1dcd947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bbe1c27eb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g3fbbe1c27eb_1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fbbe1c27eb_1_34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95" name="Google Shape;595;g3fbbe1c27eb_1_34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g3fbbe1c27eb_1_34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We're going to define logistic regression, which is a probabilistic classifier</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fbbe1c27eb_1_355: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03" name="Google Shape;603;g3fbbe1c27eb_1_355: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g3fbbe1c27eb_1_355: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fbbe1c27eb_1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fbbe1c27eb_1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chemeClr val="dk1"/>
                </a:solidFill>
              </a:rPr>
              <a:t>Probabilistic classification is usually a kind of supervised machine learning</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fbb7e4475e_1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g3fbb7e4475e_1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fbb7e4475e_1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g3fbb7e4475e_1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bb7e4475e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g3fbb7e4475e_1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fbb7e4475e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fbb7e4475e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b7e4475e_1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1" name="Google Shape;701;g3fbb7e4475e_1_5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bb7e4475e_1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g3fbb7e4475e_1_6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bb491504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1" name="Google Shape;731;g3fbb4915044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bb491504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g3fbb4915044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fbb491504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6" name="Google Shape;746;g3fbb4915044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fbb491504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g3fbb4915044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fbb7e4475e_1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g3fbb7e4475e_1_6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fbc1dcd94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fbc1dcd94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fbc1dcd94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2" name="Google Shape;782;g3fbc1dcd947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fbc1dcd947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g3fbc1dcd947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fbc1dcd947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g3fbc1dcd947_0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fbc1dcd94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7" name="Google Shape;817;g3fbc1dcd947_0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pt-BR"/>
              <a:t>Abordagem linear para modelar o relacionamento entre:</a:t>
            </a:r>
            <a:endParaRPr/>
          </a:p>
          <a:p>
            <a:pPr indent="-298450" lvl="0" marL="457200" rtl="0" algn="l">
              <a:lnSpc>
                <a:spcPct val="100000"/>
              </a:lnSpc>
              <a:spcBef>
                <a:spcPts val="0"/>
              </a:spcBef>
              <a:spcAft>
                <a:spcPts val="0"/>
              </a:spcAft>
              <a:buSzPts val="1100"/>
              <a:buChar char="●"/>
            </a:pPr>
            <a:r>
              <a:rPr lang="pt-BR"/>
              <a:t>uma ou mais variáveis independentes</a:t>
            </a:r>
            <a:endParaRPr/>
          </a:p>
          <a:p>
            <a:pPr indent="-298450" lvl="0" marL="457200" rtl="0" algn="l">
              <a:lnSpc>
                <a:spcPct val="100000"/>
              </a:lnSpc>
              <a:spcBef>
                <a:spcPts val="0"/>
              </a:spcBef>
              <a:spcAft>
                <a:spcPts val="0"/>
              </a:spcAft>
              <a:buSzPts val="1100"/>
              <a:buChar char="●"/>
            </a:pPr>
            <a:r>
              <a:rPr lang="pt-BR"/>
              <a:t>uma variável dependente</a:t>
            </a:r>
            <a:endParaRPr/>
          </a:p>
          <a:p>
            <a:pPr indent="0" lvl="0" marL="0" rtl="0" algn="l">
              <a:lnSpc>
                <a:spcPct val="100000"/>
              </a:lnSpc>
              <a:spcBef>
                <a:spcPts val="0"/>
              </a:spcBef>
              <a:spcAft>
                <a:spcPts val="0"/>
              </a:spcAft>
              <a:buSzPts val="1100"/>
              <a:buNone/>
            </a:pPr>
            <a:r>
              <a:rPr lang="pt-BR"/>
              <a:t>Regressão não implica em</a:t>
            </a:r>
            <a:endParaRPr/>
          </a:p>
          <a:p>
            <a:pPr indent="0" lvl="0" marL="0" rtl="0" algn="l">
              <a:lnSpc>
                <a:spcPct val="100000"/>
              </a:lnSpc>
              <a:spcBef>
                <a:spcPts val="0"/>
              </a:spcBef>
              <a:spcAft>
                <a:spcPts val="0"/>
              </a:spcAft>
              <a:buSzPts val="1100"/>
              <a:buNone/>
            </a:pPr>
            <a:r>
              <a:rPr lang="pt-BR"/>
              <a:t>causalidade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fbc1dcd947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3" name="Google Shape;823;g3fbc1dcd947_0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pt-BR"/>
              <a:t>Abordagem linear para modelar o relacionamento entre:</a:t>
            </a:r>
            <a:endParaRPr/>
          </a:p>
          <a:p>
            <a:pPr indent="-298450" lvl="0" marL="457200" rtl="0" algn="l">
              <a:lnSpc>
                <a:spcPct val="100000"/>
              </a:lnSpc>
              <a:spcBef>
                <a:spcPts val="0"/>
              </a:spcBef>
              <a:spcAft>
                <a:spcPts val="0"/>
              </a:spcAft>
              <a:buSzPts val="1100"/>
              <a:buChar char="●"/>
            </a:pPr>
            <a:r>
              <a:rPr lang="pt-BR"/>
              <a:t>uma ou mais variáveis independentes</a:t>
            </a:r>
            <a:endParaRPr/>
          </a:p>
          <a:p>
            <a:pPr indent="-298450" lvl="0" marL="457200" rtl="0" algn="l">
              <a:lnSpc>
                <a:spcPct val="100000"/>
              </a:lnSpc>
              <a:spcBef>
                <a:spcPts val="0"/>
              </a:spcBef>
              <a:spcAft>
                <a:spcPts val="0"/>
              </a:spcAft>
              <a:buSzPts val="1100"/>
              <a:buChar char="●"/>
            </a:pPr>
            <a:r>
              <a:rPr lang="pt-BR"/>
              <a:t>uma variável dependente</a:t>
            </a:r>
            <a:endParaRPr/>
          </a:p>
          <a:p>
            <a:pPr indent="0" lvl="0" marL="0" rtl="0" algn="l">
              <a:lnSpc>
                <a:spcPct val="100000"/>
              </a:lnSpc>
              <a:spcBef>
                <a:spcPts val="0"/>
              </a:spcBef>
              <a:spcAft>
                <a:spcPts val="0"/>
              </a:spcAft>
              <a:buSzPts val="1100"/>
              <a:buNone/>
            </a:pPr>
            <a:r>
              <a:rPr lang="pt-BR"/>
              <a:t>Regressão não implica em</a:t>
            </a:r>
            <a:endParaRPr/>
          </a:p>
          <a:p>
            <a:pPr indent="0" lvl="0" marL="0" rtl="0" algn="l">
              <a:lnSpc>
                <a:spcPct val="100000"/>
              </a:lnSpc>
              <a:spcBef>
                <a:spcPts val="0"/>
              </a:spcBef>
              <a:spcAft>
                <a:spcPts val="0"/>
              </a:spcAft>
              <a:buSzPts val="1100"/>
              <a:buNone/>
            </a:pPr>
            <a:r>
              <a:rPr lang="pt-BR"/>
              <a:t>causalidade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fbc1dcd947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4" name="Google Shape;834;g3fbc1dcd947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fbc1dcd947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9" name="Google Shape;849;g3fbc1dcd947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bc1dcd94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fbc1dcd94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bc1dcd94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fbc1dcd94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fbc1dcd947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6" name="Google Shape;886;g3fbc1dcd947_0_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fbc1dcd947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fbc1dcd947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fbc1dcd947_0_563: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g3fbc1dcd947_0_563: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fbc1dcd947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4" name="Google Shape;904;g3fbc1dcd947_0_5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fbc1dcd947_0_1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fbc1dcd947_0_1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fbc1dcd947_0_1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fbc1dcd947_0_1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fbc1dcd947_0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6" name="Google Shape;926;g3fbc1dcd947_0_1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fbc1dcd947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g3fbc1dcd947_0_1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fbc1dcd947_0_1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6" name="Google Shape;946;g3fbc1dcd947_0_15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bc1dcd947_0_1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0" name="Google Shape;960;g3fbc1dcd947_0_15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fbc1dcd947_0_1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8" name="Google Shape;968;g3fbc1dcd947_0_15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fbc1dcd947_0_1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2" name="Google Shape;982;g3fbc1dcd947_0_16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fbc1dcd947_0_1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2" name="Google Shape;992;g3fbc1dcd947_0_1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h185f1079fcc11dd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1" name="Google Shape;1001;h185f1079fcc11ddc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h185f1079fcc11d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4" name="Google Shape;1014;h185f1079fcc11d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fbc1dcd947_0_1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4" name="Google Shape;1024;g3fbc1dcd947_0_16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fbc1dcd947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2" name="Google Shape;1032;g3fbc1dcd947_0_1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h185f1079fcc11dd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9" name="Google Shape;1049;h185f1079fcc11ddc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pt-BR"/>
              <a:t>\begin{align*}</a:t>
            </a:r>
            <a:endParaRPr/>
          </a:p>
          <a:p>
            <a:pPr indent="0" lvl="0" marL="0" rtl="0" algn="l">
              <a:spcBef>
                <a:spcPts val="0"/>
              </a:spcBef>
              <a:spcAft>
                <a:spcPts val="0"/>
              </a:spcAft>
              <a:buSzPts val="1100"/>
              <a:buNone/>
            </a:pPr>
            <a:r>
              <a:rPr lang="pt-BR"/>
              <a:t>p(X) &amp;= \frac{1}{1 + e^{-(-16.11 + 2.42 \times 7.6)}} \\</a:t>
            </a:r>
            <a:endParaRPr/>
          </a:p>
          <a:p>
            <a:pPr indent="0" lvl="0" marL="0" rtl="0" algn="l">
              <a:spcBef>
                <a:spcPts val="0"/>
              </a:spcBef>
              <a:spcAft>
                <a:spcPts val="0"/>
              </a:spcAft>
              <a:buSzPts val="1100"/>
              <a:buNone/>
            </a:pPr>
            <a:r>
              <a:rPr lang="pt-BR"/>
              <a:t>&amp;= 0.91</a:t>
            </a:r>
            <a:endParaRPr/>
          </a:p>
          <a:p>
            <a:pPr indent="0" lvl="0" marL="0" rtl="0" algn="l">
              <a:lnSpc>
                <a:spcPct val="100000"/>
              </a:lnSpc>
              <a:spcBef>
                <a:spcPts val="0"/>
              </a:spcBef>
              <a:spcAft>
                <a:spcPts val="0"/>
              </a:spcAft>
              <a:buSzPts val="1100"/>
              <a:buNone/>
            </a:pPr>
            <a:r>
              <a:rPr lang="pt-BR"/>
              <a:t>\end{align*}</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fbc1dcd947_0_1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8" name="Google Shape;1068;g3fbc1dcd947_0_19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fbc1dcd947_0_1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fbc1dcd947_0_1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fbc1dcd947_0_1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fbc1dcd947_0_1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fbef7491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2" name="Google Shape;1092;g3fbef74915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h28f86b313e326572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h28f86b313e326572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h28f86b313e326572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h28f86b313e326572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h28f86b313e326572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h28f86b313e326572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28f86b313e326572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h28f86b313e326572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h28f86b313e326572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h28f86b313e326572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28f86b313e326572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h28f86b313e326572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fbc1dcd947_0_2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3fbc1dcd947_0_2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fbc1dcd947_0_200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70" name="Google Shape;1170;g3fbc1dcd947_0_200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Suppose we are doing binary sentiment classification on movie review text, and we would like to know whether to assign the sentiment class 1=positive or 0=negative to the following review</a:t>
            </a:r>
            <a:endParaRPr/>
          </a:p>
        </p:txBody>
      </p:sp>
      <p:sp>
        <p:nvSpPr>
          <p:cNvPr id="1171" name="Google Shape;1171;g3fbc1dcd947_0_200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fbc1dcd947_0_2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3fbc1dcd947_0_2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3fbc1dcd947_0_2018: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87" name="Google Shape;1187;g3fbc1dcd947_0_2018: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We’ll represent each input observation by the 6 features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1...</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6 of the input </a:t>
            </a:r>
            <a:endParaRPr/>
          </a:p>
          <a:p>
            <a:pPr indent="0" lvl="0" marL="0" rtl="0" algn="l">
              <a:spcBef>
                <a:spcPts val="360"/>
              </a:spcBef>
              <a:spcAft>
                <a:spcPts val="0"/>
              </a:spcAft>
              <a:buNone/>
            </a:pPr>
            <a:r>
              <a:t/>
            </a:r>
            <a:endParaRPr/>
          </a:p>
        </p:txBody>
      </p:sp>
      <p:sp>
        <p:nvSpPr>
          <p:cNvPr id="1188" name="Google Shape;1188;g3fbc1dcd947_0_2018: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fbc1dcd947_0_2027: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94" name="Google Shape;1194;g3fbc1dcd947_0_2027: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Let’s assume for the moment that we’ve already learned a real-valued weight for each of these features, and that the 6 weights corresponding to the 6 features are as follows. The weight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for example indicates how important a feature the number of positive lexicon words (</a:t>
            </a:r>
            <a:r>
              <a:rPr i="1" lang="pt-BR" sz="1200">
                <a:solidFill>
                  <a:schemeClr val="dk1"/>
                </a:solidFill>
                <a:latin typeface="Arial"/>
                <a:ea typeface="Arial"/>
                <a:cs typeface="Arial"/>
                <a:sym typeface="Arial"/>
              </a:rPr>
              <a:t>great</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nice</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enjoyable</a:t>
            </a:r>
            <a:r>
              <a:rPr lang="pt-BR" sz="1200">
                <a:solidFill>
                  <a:schemeClr val="dk1"/>
                </a:solidFill>
                <a:latin typeface="Arial"/>
                <a:ea typeface="Arial"/>
                <a:cs typeface="Arial"/>
                <a:sym typeface="Arial"/>
              </a:rPr>
              <a:t>, etc.) is to a positive sentiment decision, while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2 tells us the importance of negative lexicon words. Note that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 2.5 is positive, while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2 = −5.0, meaning that negative words are negatively associated with a positive sentiment decision, and are about twice as important as positive words.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195" name="Google Shape;1195;g3fbc1dcd947_0_2027: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bc1dcd947_0_203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06" name="Google Shape;1206;g3fbc1dcd947_0_203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Given these 6 features and the input review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we can compute </a:t>
            </a:r>
            <a:r>
              <a:rPr i="1" lang="pt-BR" sz="1200">
                <a:solidFill>
                  <a:schemeClr val="dk1"/>
                </a:solidFill>
                <a:latin typeface="Arial"/>
                <a:ea typeface="Arial"/>
                <a:cs typeface="Arial"/>
                <a:sym typeface="Arial"/>
              </a:rPr>
              <a:t>P</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and </a:t>
            </a:r>
            <a:r>
              <a:rPr i="1" lang="pt-BR" sz="1200">
                <a:solidFill>
                  <a:schemeClr val="dk1"/>
                </a:solidFill>
                <a:latin typeface="Arial"/>
                <a:ea typeface="Arial"/>
                <a:cs typeface="Arial"/>
                <a:sym typeface="Arial"/>
              </a:rPr>
              <a:t>P</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a:t>
            </a:r>
            <a:endParaRPr/>
          </a:p>
          <a:p>
            <a:pPr indent="0" lvl="0" marL="0" rtl="0" algn="l">
              <a:spcBef>
                <a:spcPts val="360"/>
              </a:spcBef>
              <a:spcAft>
                <a:spcPts val="0"/>
              </a:spcAft>
              <a:buNone/>
            </a:pPr>
            <a:r>
              <a:t/>
            </a:r>
            <a:endParaRPr/>
          </a:p>
        </p:txBody>
      </p:sp>
      <p:sp>
        <p:nvSpPr>
          <p:cNvPr id="1207" name="Google Shape;1207;g3fbc1dcd947_0_203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fbc1dcd947_0_2048: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17" name="Google Shape;1217;g3fbc1dcd947_0_2048: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We might use features like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1 below expressing that the current word is lower case and the class is EOS (perhaps with a positive weight), or that the current word is in our abbreviations dictionary (“Prof.”) and the class is EOS (perhaps with a negative weight). A feature can also express a quite complex combination of properties. For example a period following an upper case word is likely to be an EOS, but if the word itself is </a:t>
            </a:r>
            <a:r>
              <a:rPr i="1" lang="pt-BR" sz="1200">
                <a:solidFill>
                  <a:schemeClr val="dk1"/>
                </a:solidFill>
                <a:latin typeface="Arial"/>
                <a:ea typeface="Arial"/>
                <a:cs typeface="Arial"/>
                <a:sym typeface="Arial"/>
              </a:rPr>
              <a:t>St. </a:t>
            </a:r>
            <a:r>
              <a:rPr lang="pt-BR" sz="1200">
                <a:solidFill>
                  <a:schemeClr val="dk1"/>
                </a:solidFill>
                <a:latin typeface="Arial"/>
                <a:ea typeface="Arial"/>
                <a:cs typeface="Arial"/>
                <a:sym typeface="Arial"/>
              </a:rPr>
              <a:t>and the previous word is capitalized, then the period is likely part of a shortening of the word </a:t>
            </a:r>
            <a:r>
              <a:rPr i="1" lang="pt-BR" sz="1200">
                <a:solidFill>
                  <a:schemeClr val="dk1"/>
                </a:solidFill>
                <a:latin typeface="Arial"/>
                <a:ea typeface="Arial"/>
                <a:cs typeface="Arial"/>
                <a:sym typeface="Arial"/>
              </a:rPr>
              <a:t>street</a:t>
            </a:r>
            <a:r>
              <a:rPr lang="pt-BR" sz="1200">
                <a:solidFill>
                  <a:schemeClr val="dk1"/>
                </a:solidFill>
                <a:latin typeface="Arial"/>
                <a:ea typeface="Arial"/>
                <a:cs typeface="Arial"/>
                <a:sym typeface="Arial"/>
              </a:rPr>
              <a:t>. </a:t>
            </a:r>
            <a:endParaRPr/>
          </a:p>
          <a:p>
            <a:pPr indent="0" lvl="0" marL="0" rtl="0" algn="l">
              <a:spcBef>
                <a:spcPts val="360"/>
              </a:spcBef>
              <a:spcAft>
                <a:spcPts val="0"/>
              </a:spcAft>
              <a:buNone/>
            </a:pPr>
            <a:r>
              <a:t/>
            </a:r>
            <a:endParaRPr/>
          </a:p>
        </p:txBody>
      </p:sp>
      <p:sp>
        <p:nvSpPr>
          <p:cNvPr id="1218" name="Google Shape;1218;g3fbc1dcd947_0_2048: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3fbb7e4475e_1_1: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g3fbb7e4475e_1_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fbb7e4475e_1_648: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g3fbb7e4475e_1_648: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fbb7e4475e_1_144: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g3fbb7e4475e_1_144: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fbc1dcd947_0_2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fbc1dcd947_0_2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bb7e4475e_1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1" name="Google Shape;1261;g3fbb7e4475e_1_8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fbb7e4475e_0_640: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76" name="Google Shape;1276;g3fbb7e4475e_0_640: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This requires two components. The first is a metric for how close the current label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ˆ) is to the true gold label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 Rather than measure similarity, we usually talk about the opposite of this: the </a:t>
            </a:r>
            <a:r>
              <a:rPr i="1" lang="pt-BR" sz="1200">
                <a:solidFill>
                  <a:schemeClr val="dk1"/>
                </a:solidFill>
                <a:latin typeface="Arial"/>
                <a:ea typeface="Arial"/>
                <a:cs typeface="Arial"/>
                <a:sym typeface="Arial"/>
              </a:rPr>
              <a:t>distance </a:t>
            </a:r>
            <a:r>
              <a:rPr lang="pt-BR" sz="1200">
                <a:solidFill>
                  <a:schemeClr val="dk1"/>
                </a:solidFill>
                <a:latin typeface="Arial"/>
                <a:ea typeface="Arial"/>
                <a:cs typeface="Arial"/>
                <a:sym typeface="Arial"/>
              </a:rPr>
              <a:t>between the system output and the gold output, and we call this distance </a:t>
            </a:r>
            <a:endParaRPr/>
          </a:p>
          <a:p>
            <a:pPr indent="0" lvl="0" marL="0" rtl="0" algn="l">
              <a:spcBef>
                <a:spcPts val="360"/>
              </a:spcBef>
              <a:spcAft>
                <a:spcPts val="0"/>
              </a:spcAft>
              <a:buNone/>
            </a:pPr>
            <a:r>
              <a:rPr lang="pt-BR" sz="1200">
                <a:solidFill>
                  <a:schemeClr val="dk1"/>
                </a:solidFill>
                <a:latin typeface="Arial"/>
                <a:ea typeface="Arial"/>
                <a:cs typeface="Arial"/>
                <a:sym typeface="Arial"/>
              </a:rPr>
              <a:t>the </a:t>
            </a:r>
            <a:r>
              <a:rPr b="1" lang="pt-BR" sz="1200">
                <a:solidFill>
                  <a:schemeClr val="dk1"/>
                </a:solidFill>
                <a:latin typeface="Arial"/>
                <a:ea typeface="Arial"/>
                <a:cs typeface="Arial"/>
                <a:sym typeface="Arial"/>
              </a:rPr>
              <a:t>loss</a:t>
            </a:r>
            <a:r>
              <a:rPr b="0" lang="pt-BR" sz="1200">
                <a:solidFill>
                  <a:schemeClr val="dk1"/>
                </a:solidFill>
                <a:latin typeface="Arial"/>
                <a:ea typeface="Arial"/>
                <a:cs typeface="Arial"/>
                <a:sym typeface="Arial"/>
              </a:rPr>
              <a:t> </a:t>
            </a:r>
            <a:r>
              <a:rPr lang="pt-BR" sz="1200">
                <a:solidFill>
                  <a:schemeClr val="dk1"/>
                </a:solidFill>
                <a:latin typeface="Arial"/>
                <a:ea typeface="Arial"/>
                <a:cs typeface="Arial"/>
                <a:sym typeface="Arial"/>
              </a:rPr>
              <a:t>function or the </a:t>
            </a:r>
            <a:r>
              <a:rPr b="1" lang="pt-BR" sz="1200">
                <a:solidFill>
                  <a:schemeClr val="dk1"/>
                </a:solidFill>
                <a:latin typeface="Arial"/>
                <a:ea typeface="Arial"/>
                <a:cs typeface="Arial"/>
                <a:sym typeface="Arial"/>
              </a:rPr>
              <a:t>cost</a:t>
            </a:r>
            <a:r>
              <a:rPr b="0" lang="pt-BR" sz="1200">
                <a:solidFill>
                  <a:schemeClr val="dk1"/>
                </a:solidFill>
                <a:latin typeface="Arial"/>
                <a:ea typeface="Arial"/>
                <a:cs typeface="Arial"/>
                <a:sym typeface="Arial"/>
              </a:rPr>
              <a:t> function</a:t>
            </a:r>
            <a:r>
              <a:rPr lang="pt-BR" sz="1200">
                <a:solidFill>
                  <a:schemeClr val="dk1"/>
                </a:solidFill>
                <a:latin typeface="Arial"/>
                <a:ea typeface="Arial"/>
                <a:cs typeface="Arial"/>
                <a:sym typeface="Arial"/>
              </a:rPr>
              <a:t>. We'll we’ll introduce the loss function that is commonly used for logistic regression and also for neural networks, the </a:t>
            </a:r>
            <a:r>
              <a:rPr b="0" lang="pt-BR" sz="1200">
                <a:solidFill>
                  <a:schemeClr val="dk1"/>
                </a:solidFill>
                <a:latin typeface="Arial"/>
                <a:ea typeface="Arial"/>
                <a:cs typeface="Arial"/>
                <a:sym typeface="Arial"/>
              </a:rPr>
              <a:t>cross-entropy loss</a:t>
            </a:r>
            <a:r>
              <a:rPr lang="pt-BR" sz="1200">
                <a:solidFill>
                  <a:schemeClr val="dk1"/>
                </a:solidFill>
                <a:latin typeface="Arial"/>
                <a:ea typeface="Arial"/>
                <a:cs typeface="Arial"/>
                <a:sym typeface="Arial"/>
              </a:rPr>
              <a:t>.</a:t>
            </a:r>
            <a:br>
              <a:rPr lang="pt-BR" sz="1200">
                <a:solidFill>
                  <a:schemeClr val="dk1"/>
                </a:solidFill>
                <a:latin typeface="Arial"/>
                <a:ea typeface="Arial"/>
                <a:cs typeface="Arial"/>
                <a:sym typeface="Arial"/>
              </a:rPr>
            </a:br>
            <a:r>
              <a:rPr lang="pt-BR" sz="1200">
                <a:solidFill>
                  <a:schemeClr val="dk1"/>
                </a:solidFill>
                <a:latin typeface="Arial"/>
                <a:ea typeface="Arial"/>
                <a:cs typeface="Arial"/>
                <a:sym typeface="Arial"/>
              </a:rPr>
              <a:t>The second thing we need is an optimization algorithm for iteratively updating </a:t>
            </a:r>
            <a:endParaRPr/>
          </a:p>
          <a:p>
            <a:pPr indent="0" lvl="0" marL="0" rtl="0" algn="l">
              <a:spcBef>
                <a:spcPts val="360"/>
              </a:spcBef>
              <a:spcAft>
                <a:spcPts val="0"/>
              </a:spcAft>
              <a:buNone/>
            </a:pPr>
            <a:r>
              <a:rPr lang="pt-BR" sz="1200">
                <a:solidFill>
                  <a:schemeClr val="dk1"/>
                </a:solidFill>
                <a:latin typeface="Arial"/>
                <a:ea typeface="Arial"/>
                <a:cs typeface="Arial"/>
                <a:sym typeface="Arial"/>
              </a:rPr>
              <a:t>the weights so as to minimize this loss function. The standard algorithm for this is </a:t>
            </a:r>
            <a:r>
              <a:rPr b="0" lang="pt-BR" sz="1200">
                <a:solidFill>
                  <a:schemeClr val="dk1"/>
                </a:solidFill>
                <a:latin typeface="Arial"/>
                <a:ea typeface="Arial"/>
                <a:cs typeface="Arial"/>
                <a:sym typeface="Arial"/>
              </a:rPr>
              <a:t>gradient descent</a:t>
            </a:r>
            <a:r>
              <a:rPr lang="pt-BR" sz="1200">
                <a:solidFill>
                  <a:schemeClr val="dk1"/>
                </a:solidFill>
                <a:latin typeface="Arial"/>
                <a:ea typeface="Arial"/>
                <a:cs typeface="Arial"/>
                <a:sym typeface="Arial"/>
              </a:rPr>
              <a:t>; we’ll introduce the </a:t>
            </a:r>
            <a:r>
              <a:rPr b="0" lang="pt-BR" sz="1200">
                <a:solidFill>
                  <a:schemeClr val="dk1"/>
                </a:solidFill>
                <a:latin typeface="Arial"/>
                <a:ea typeface="Arial"/>
                <a:cs typeface="Arial"/>
                <a:sym typeface="Arial"/>
              </a:rPr>
              <a:t>stochastic gradient descent </a:t>
            </a:r>
            <a:r>
              <a:rPr lang="pt-BR" sz="1200">
                <a:solidFill>
                  <a:schemeClr val="dk1"/>
                </a:solidFill>
                <a:latin typeface="Arial"/>
                <a:ea typeface="Arial"/>
                <a:cs typeface="Arial"/>
                <a:sym typeface="Arial"/>
              </a:rPr>
              <a:t>algorithm in the following section.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277" name="Google Shape;1277;g3fbb7e4475e_0_640: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h28f86b313e326572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h28f86b313e326572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h28f86b313e32657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h28f86b313e32657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h28f86b313e32657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h28f86b313e32657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h28f86b313e32657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h28f86b313e32657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h28f86b313e32657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h28f86b313e32657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h28f86b313e32657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h28f86b313e32657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h28f86b313e32657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h28f86b313e32657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28f86b313e32657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h28f86b313e32657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h28f86b313e32657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h28f86b313e32657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h28f86b313e326572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h28f86b313e326572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h28f86b313e32657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h28f86b313e32657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h28f86b313e326572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h28f86b313e32657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h28f86b313e32657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h28f86b313e32657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h28f86b313e326572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h28f86b313e32657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h28f86b313e326572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h28f86b313e326572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h28f86b313e32657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h28f86b313e32657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h28f86b313e326572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8" name="Google Shape;1478;h28f86b313e326572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h28f86b313e326572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h28f86b313e326572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h28f86b313e326572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8" name="Google Shape;1508;h28f86b313e326572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h28f86b313e326572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h28f86b313e326572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h28f86b313e326572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h28f86b313e326572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h28f86b313e326572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h28f86b313e326572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h28f86b313e326572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h28f86b313e326572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h28f86b313e326572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h28f86b313e326572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h28f86b313e326572_0_409: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h28f86b313e326572_0_40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h28f86b313e326572_0_415: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h28f86b313e326572_0_415: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h28f86b313e326572_0_42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589" name="Google Shape;1589;h28f86b313e326572_0_421: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The weight </a:t>
            </a:r>
            <a:r>
              <a:rPr i="1" lang="pt-BR" sz="1200">
                <a:solidFill>
                  <a:schemeClr val="dk1"/>
                </a:solidFill>
                <a:latin typeface="Arial"/>
                <a:ea typeface="Arial"/>
                <a:cs typeface="Arial"/>
                <a:sym typeface="Arial"/>
              </a:rPr>
              <a:t>w</a:t>
            </a:r>
            <a:r>
              <a:rPr baseline="-25000" i="1" lang="pt-BR" sz="1200">
                <a:solidFill>
                  <a:schemeClr val="dk1"/>
                </a:solidFill>
                <a:latin typeface="Arial"/>
                <a:ea typeface="Arial"/>
                <a:cs typeface="Arial"/>
                <a:sym typeface="Arial"/>
              </a:rPr>
              <a:t>i</a:t>
            </a:r>
            <a:r>
              <a:rPr i="1" lang="pt-BR" sz="1200">
                <a:solidFill>
                  <a:schemeClr val="dk1"/>
                </a:solidFill>
                <a:latin typeface="Arial"/>
                <a:ea typeface="Arial"/>
                <a:cs typeface="Arial"/>
                <a:sym typeface="Arial"/>
              </a:rPr>
              <a:t> </a:t>
            </a:r>
            <a:r>
              <a:rPr lang="pt-BR" sz="1200">
                <a:solidFill>
                  <a:schemeClr val="dk1"/>
                </a:solidFill>
                <a:latin typeface="Arial"/>
                <a:ea typeface="Arial"/>
                <a:cs typeface="Arial"/>
                <a:sym typeface="Arial"/>
              </a:rPr>
              <a:t>represents how important that input feature is to the classification decision, and can be positive (providing evidence that the instance being classified belongs in the positive class) or negative (providing evidence that the instance being classified belongs in the negative class). Thus we might expect in a sentiment task the word </a:t>
            </a:r>
            <a:r>
              <a:rPr i="1" lang="pt-BR" sz="1200">
                <a:solidFill>
                  <a:schemeClr val="dk1"/>
                </a:solidFill>
                <a:latin typeface="Arial"/>
                <a:ea typeface="Arial"/>
                <a:cs typeface="Arial"/>
                <a:sym typeface="Arial"/>
              </a:rPr>
              <a:t>awesome </a:t>
            </a:r>
            <a:r>
              <a:rPr lang="pt-BR" sz="1200">
                <a:solidFill>
                  <a:schemeClr val="dk1"/>
                </a:solidFill>
                <a:latin typeface="Arial"/>
                <a:ea typeface="Arial"/>
                <a:cs typeface="Arial"/>
                <a:sym typeface="Arial"/>
              </a:rPr>
              <a:t>to have a high positive weight, and </a:t>
            </a:r>
            <a:r>
              <a:rPr i="1" lang="pt-BR" sz="1200">
                <a:solidFill>
                  <a:schemeClr val="dk1"/>
                </a:solidFill>
                <a:latin typeface="Arial"/>
                <a:ea typeface="Arial"/>
                <a:cs typeface="Arial"/>
                <a:sym typeface="Arial"/>
              </a:rPr>
              <a:t>abysmal </a:t>
            </a:r>
            <a:r>
              <a:rPr lang="pt-BR" sz="1200">
                <a:solidFill>
                  <a:schemeClr val="dk1"/>
                </a:solidFill>
                <a:latin typeface="Arial"/>
                <a:ea typeface="Arial"/>
                <a:cs typeface="Arial"/>
                <a:sym typeface="Arial"/>
              </a:rPr>
              <a:t>to have a very negative weight. </a:t>
            </a:r>
            <a:endParaRPr/>
          </a:p>
          <a:p>
            <a:pPr indent="0" lvl="0" marL="0" rtl="0" algn="l">
              <a:spcBef>
                <a:spcPts val="360"/>
              </a:spcBef>
              <a:spcAft>
                <a:spcPts val="0"/>
              </a:spcAft>
              <a:buNone/>
            </a:pPr>
            <a:r>
              <a:t/>
            </a:r>
            <a:endParaRPr/>
          </a:p>
        </p:txBody>
      </p:sp>
      <p:sp>
        <p:nvSpPr>
          <p:cNvPr id="1590" name="Google Shape;1590;h28f86b313e326572_0_421: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h28f86b313e326572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h28f86b313e326572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h28f86b313e326572_0_434: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04" name="Google Shape;1604;h28f86b313e326572_0_434: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The </a:t>
            </a:r>
            <a:r>
              <a:rPr b="0" lang="pt-BR" sz="1200">
                <a:solidFill>
                  <a:schemeClr val="dk1"/>
                </a:solidFill>
                <a:latin typeface="Arial"/>
                <a:ea typeface="Arial"/>
                <a:cs typeface="Arial"/>
                <a:sym typeface="Arial"/>
              </a:rPr>
              <a:t>bias term</a:t>
            </a:r>
            <a:r>
              <a:rPr lang="pt-BR" sz="1200">
                <a:solidFill>
                  <a:schemeClr val="dk1"/>
                </a:solidFill>
                <a:latin typeface="Arial"/>
                <a:ea typeface="Arial"/>
                <a:cs typeface="Arial"/>
                <a:sym typeface="Arial"/>
              </a:rPr>
              <a:t>, also called the </a:t>
            </a:r>
            <a:r>
              <a:rPr b="0" lang="pt-BR" sz="1200">
                <a:solidFill>
                  <a:schemeClr val="dk1"/>
                </a:solidFill>
                <a:latin typeface="Arial"/>
                <a:ea typeface="Arial"/>
                <a:cs typeface="Arial"/>
                <a:sym typeface="Arial"/>
              </a:rPr>
              <a:t>intercept</a:t>
            </a:r>
            <a:r>
              <a:rPr lang="pt-BR" sz="1200">
                <a:solidFill>
                  <a:schemeClr val="dk1"/>
                </a:solidFill>
                <a:latin typeface="Arial"/>
                <a:ea typeface="Arial"/>
                <a:cs typeface="Arial"/>
                <a:sym typeface="Arial"/>
              </a:rPr>
              <a:t>, is another real number that’s added to the weighted inputs.</a:t>
            </a:r>
            <a:endParaRPr/>
          </a:p>
          <a:p>
            <a:pPr indent="0" lvl="0" marL="0" marR="0" rtl="0" algn="l">
              <a:lnSpc>
                <a:spcPct val="100000"/>
              </a:lnSpc>
              <a:spcBef>
                <a:spcPts val="36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Arial"/>
              <a:buNone/>
            </a:pPr>
            <a:r>
              <a:rPr lang="pt-BR" sz="1200">
                <a:solidFill>
                  <a:schemeClr val="dk1"/>
                </a:solidFill>
                <a:latin typeface="Arial"/>
                <a:ea typeface="Arial"/>
                <a:cs typeface="Arial"/>
                <a:sym typeface="Arial"/>
              </a:rPr>
              <a:t>(We'll represent such sums using the </a:t>
            </a:r>
            <a:r>
              <a:rPr b="0" lang="pt-BR" sz="1200">
                <a:solidFill>
                  <a:schemeClr val="dk1"/>
                </a:solidFill>
                <a:latin typeface="Arial"/>
                <a:ea typeface="Arial"/>
                <a:cs typeface="Arial"/>
                <a:sym typeface="Arial"/>
              </a:rPr>
              <a:t>dot product </a:t>
            </a:r>
            <a:r>
              <a:rPr lang="pt-BR" sz="1200">
                <a:solidFill>
                  <a:schemeClr val="dk1"/>
                </a:solidFill>
                <a:latin typeface="Arial"/>
                <a:ea typeface="Arial"/>
                <a:cs typeface="Arial"/>
                <a:sym typeface="Arial"/>
              </a:rPr>
              <a:t>notation. The dot product of two vectors </a:t>
            </a:r>
            <a:r>
              <a:rPr i="1" lang="pt-BR" sz="1200">
                <a:solidFill>
                  <a:schemeClr val="dk1"/>
                </a:solidFill>
                <a:latin typeface="Arial"/>
                <a:ea typeface="Arial"/>
                <a:cs typeface="Arial"/>
                <a:sym typeface="Arial"/>
              </a:rPr>
              <a:t>a </a:t>
            </a:r>
            <a:r>
              <a:rPr lang="pt-BR" sz="1200">
                <a:solidFill>
                  <a:schemeClr val="dk1"/>
                </a:solidFill>
                <a:latin typeface="Arial"/>
                <a:ea typeface="Arial"/>
                <a:cs typeface="Arial"/>
                <a:sym typeface="Arial"/>
              </a:rPr>
              <a:t>and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is the sum of the products of the corresponding elements of each vector.)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605" name="Google Shape;1605;h28f86b313e326572_0_434: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h28f86b313e326572_0_442: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13" name="Google Shape;1613;h28f86b313e326572_0_442: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a:t>We said "if this sum is high we say y=1.</a:t>
            </a:r>
            <a:endParaRPr/>
          </a:p>
        </p:txBody>
      </p:sp>
      <p:sp>
        <p:nvSpPr>
          <p:cNvPr id="1614" name="Google Shape;1614;h28f86b313e326572_0_442: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h28f86b313e326572_0_44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21" name="Google Shape;1621;h28f86b313e326572_0_44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Nothing forces </a:t>
            </a:r>
            <a:r>
              <a:rPr i="1" lang="pt-BR" sz="1200">
                <a:solidFill>
                  <a:schemeClr val="dk1"/>
                </a:solidFill>
                <a:latin typeface="Arial"/>
                <a:ea typeface="Arial"/>
                <a:cs typeface="Arial"/>
                <a:sym typeface="Arial"/>
              </a:rPr>
              <a:t>z </a:t>
            </a:r>
            <a:r>
              <a:rPr lang="pt-BR" sz="1200">
                <a:solidFill>
                  <a:schemeClr val="dk1"/>
                </a:solidFill>
                <a:latin typeface="Arial"/>
                <a:ea typeface="Arial"/>
                <a:cs typeface="Arial"/>
                <a:sym typeface="Arial"/>
              </a:rPr>
              <a:t>to be a legal probability, that is, to lie between 0 and 1. In fact, since weights are real-valued, the output might even be negative; </a:t>
            </a:r>
            <a:r>
              <a:rPr i="1" lang="pt-BR" sz="1200">
                <a:solidFill>
                  <a:schemeClr val="dk1"/>
                </a:solidFill>
                <a:latin typeface="Arial"/>
                <a:ea typeface="Arial"/>
                <a:cs typeface="Arial"/>
                <a:sym typeface="Arial"/>
              </a:rPr>
              <a:t>z </a:t>
            </a:r>
            <a:r>
              <a:rPr lang="pt-BR" sz="1200">
                <a:solidFill>
                  <a:schemeClr val="dk1"/>
                </a:solidFill>
                <a:latin typeface="Arial"/>
                <a:ea typeface="Arial"/>
                <a:cs typeface="Arial"/>
                <a:sym typeface="Arial"/>
              </a:rPr>
              <a:t>ranges from −∞ to ∞. </a:t>
            </a:r>
            <a:endParaRPr/>
          </a:p>
          <a:p>
            <a:pPr indent="0" lvl="0" marL="0" rtl="0" algn="l">
              <a:spcBef>
                <a:spcPts val="360"/>
              </a:spcBef>
              <a:spcAft>
                <a:spcPts val="0"/>
              </a:spcAft>
              <a:buNone/>
            </a:pPr>
            <a:r>
              <a:t/>
            </a:r>
            <a:endParaRPr/>
          </a:p>
        </p:txBody>
      </p:sp>
      <p:sp>
        <p:nvSpPr>
          <p:cNvPr id="1622" name="Google Shape;1622;h28f86b313e326572_0_44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h28f86b313e326572_0_458: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31" name="Google Shape;1631;h28f86b313e326572_0_458: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The sigmoid function  The 1/1+e^-z (so-named because it looks like an s) is also called the logistic function. It takes a real value and maps it to the range [0, 1</a:t>
            </a:r>
            <a:endParaRPr/>
          </a:p>
          <a:p>
            <a:pPr indent="0" lvl="0" marL="0" rtl="0" algn="l">
              <a:spcBef>
                <a:spcPts val="360"/>
              </a:spcBef>
              <a:spcAft>
                <a:spcPts val="0"/>
              </a:spcAft>
              <a:buNone/>
            </a:pPr>
            <a:r>
              <a:rPr lang="pt-BR" sz="1200">
                <a:solidFill>
                  <a:schemeClr val="dk1"/>
                </a:solidFill>
                <a:latin typeface="Arial"/>
                <a:ea typeface="Arial"/>
                <a:cs typeface="Arial"/>
                <a:sym typeface="Arial"/>
              </a:rPr>
              <a:t>It is nearly linear around 0 but outlier values get squashed toward 0 or 1. </a:t>
            </a:r>
            <a:endParaRPr/>
          </a:p>
          <a:p>
            <a:pPr indent="0" lvl="0" marL="0" rtl="0" algn="l">
              <a:spcBef>
                <a:spcPts val="360"/>
              </a:spcBef>
              <a:spcAft>
                <a:spcPts val="0"/>
              </a:spcAft>
              <a:buNone/>
            </a:pPr>
            <a:r>
              <a:t/>
            </a:r>
            <a:endParaRPr/>
          </a:p>
        </p:txBody>
      </p:sp>
      <p:sp>
        <p:nvSpPr>
          <p:cNvPr id="1632" name="Google Shape;1632;h28f86b313e326572_0_458: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h28f86b313e326572_0_468: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h28f86b313e326572_0_468: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h28f86b313e326572_0_474: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49" name="Google Shape;1649;h28f86b313e326572_0_474: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We’re almost there. If we apply the sigmoid to the sum of the weighted features, we get a number between 0 and 1. To make it a probability, we just need to make sure that the two cases, </a:t>
            </a:r>
            <a:r>
              <a:rPr i="1" lang="pt-BR" sz="1200">
                <a:solidFill>
                  <a:schemeClr val="dk1"/>
                </a:solidFill>
                <a:latin typeface="Arial"/>
                <a:ea typeface="Arial"/>
                <a:cs typeface="Arial"/>
                <a:sym typeface="Arial"/>
              </a:rPr>
              <a:t>p</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y </a:t>
            </a:r>
            <a:r>
              <a:rPr lang="pt-BR" sz="1200">
                <a:solidFill>
                  <a:schemeClr val="dk1"/>
                </a:solidFill>
                <a:latin typeface="Arial"/>
                <a:ea typeface="Arial"/>
                <a:cs typeface="Arial"/>
                <a:sym typeface="Arial"/>
              </a:rPr>
              <a:t>= 1) and </a:t>
            </a:r>
            <a:r>
              <a:rPr i="1" lang="pt-BR" sz="1200">
                <a:solidFill>
                  <a:schemeClr val="dk1"/>
                </a:solidFill>
                <a:latin typeface="Arial"/>
                <a:ea typeface="Arial"/>
                <a:cs typeface="Arial"/>
                <a:sym typeface="Arial"/>
              </a:rPr>
              <a:t>p</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y </a:t>
            </a:r>
            <a:r>
              <a:rPr lang="pt-BR" sz="1200">
                <a:solidFill>
                  <a:schemeClr val="dk1"/>
                </a:solidFill>
                <a:latin typeface="Arial"/>
                <a:ea typeface="Arial"/>
                <a:cs typeface="Arial"/>
                <a:sym typeface="Arial"/>
              </a:rPr>
              <a:t>= 0), sum to 1. We can do this as follows: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650" name="Google Shape;1650;h28f86b313e326572_0_474: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h28f86b313e326572_0_482: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58" name="Google Shape;1658;h28f86b313e326572_0_482: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The sigmoid function has the property </a:t>
            </a:r>
            <a:endParaRPr/>
          </a:p>
          <a:p>
            <a:pPr indent="0" lvl="0" marL="0" rtl="0" algn="l">
              <a:spcBef>
                <a:spcPts val="360"/>
              </a:spcBef>
              <a:spcAft>
                <a:spcPts val="0"/>
              </a:spcAft>
              <a:buNone/>
            </a:pPr>
            <a:r>
              <a:t/>
            </a:r>
            <a:endParaRPr/>
          </a:p>
        </p:txBody>
      </p:sp>
      <p:sp>
        <p:nvSpPr>
          <p:cNvPr id="1659" name="Google Shape;1659;h28f86b313e326572_0_482: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h28f86b313e326572_0_493: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h28f86b313e326572_0_493: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h28f86b313e326572_0_500: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h28f86b313e326572_0_500: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h28f86b313e326572_0_517: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h28f86b313e326572_0_517: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h28f86b313e326572_0_345: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05" name="Google Shape;1705;h28f86b313e326572_0_345: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Logistic regression is an instance of supervised classification in which we know the correct label </a:t>
            </a:r>
            <a:r>
              <a:rPr i="1" lang="pt-BR" sz="1200">
                <a:solidFill>
                  <a:schemeClr val="dk1"/>
                </a:solidFill>
                <a:latin typeface="Arial"/>
                <a:ea typeface="Arial"/>
                <a:cs typeface="Arial"/>
                <a:sym typeface="Arial"/>
              </a:rPr>
              <a:t>y </a:t>
            </a:r>
            <a:r>
              <a:rPr lang="pt-BR" sz="1200">
                <a:solidFill>
                  <a:schemeClr val="dk1"/>
                </a:solidFill>
                <a:latin typeface="Arial"/>
                <a:ea typeface="Arial"/>
                <a:cs typeface="Arial"/>
                <a:sym typeface="Arial"/>
              </a:rPr>
              <a:t>(either 0 or 1) for each observation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But what the system produces is an estimate, ^y. We want to learn parameters (meaning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and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that make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ˆ for each training observation as close as possible to the true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706" name="Google Shape;1706;h28f86b313e326572_0_345: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h28f86b313e326572_0_352: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13" name="Google Shape;1713;h28f86b313e326572_0_352: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We need a loss function that expresses, for an observation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how close the classifier output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ˆ = σ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x </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is to the correct output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 which is 0 or 1). </a:t>
            </a:r>
            <a:endParaRPr/>
          </a:p>
          <a:p>
            <a:pPr indent="0" lvl="0" marL="0" rtl="0" algn="l">
              <a:spcBef>
                <a:spcPts val="360"/>
              </a:spcBef>
              <a:spcAft>
                <a:spcPts val="0"/>
              </a:spcAft>
              <a:buNone/>
            </a:pPr>
            <a:r>
              <a:t/>
            </a:r>
            <a:endParaRPr/>
          </a:p>
        </p:txBody>
      </p:sp>
      <p:sp>
        <p:nvSpPr>
          <p:cNvPr id="1714" name="Google Shape;1714;h28f86b313e326572_0_352: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h28f86b313e326572_0_35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21" name="Google Shape;1721;h28f86b313e326572_0_35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We do this via a loss function that prefers the correct class labels of the training examples to be </a:t>
            </a:r>
            <a:r>
              <a:rPr i="1" lang="pt-BR" sz="1200">
                <a:solidFill>
                  <a:schemeClr val="dk1"/>
                </a:solidFill>
                <a:latin typeface="Arial"/>
                <a:ea typeface="Arial"/>
                <a:cs typeface="Arial"/>
                <a:sym typeface="Arial"/>
              </a:rPr>
              <a:t>more likely</a:t>
            </a:r>
            <a:r>
              <a:rPr lang="pt-BR" sz="1200">
                <a:solidFill>
                  <a:schemeClr val="dk1"/>
                </a:solidFill>
                <a:latin typeface="Arial"/>
                <a:ea typeface="Arial"/>
                <a:cs typeface="Arial"/>
                <a:sym typeface="Arial"/>
              </a:rPr>
              <a:t>. This is called </a:t>
            </a:r>
            <a:r>
              <a:rPr b="0" lang="pt-BR" sz="1200">
                <a:solidFill>
                  <a:schemeClr val="dk1"/>
                </a:solidFill>
                <a:latin typeface="Arial"/>
                <a:ea typeface="Arial"/>
                <a:cs typeface="Arial"/>
                <a:sym typeface="Arial"/>
              </a:rPr>
              <a:t>conditional maximum likelihood estimation</a:t>
            </a:r>
            <a:r>
              <a:rPr lang="pt-BR" sz="1200">
                <a:solidFill>
                  <a:schemeClr val="dk1"/>
                </a:solidFill>
                <a:latin typeface="Arial"/>
                <a:ea typeface="Arial"/>
                <a:cs typeface="Arial"/>
                <a:sym typeface="Arial"/>
              </a:rPr>
              <a:t>: we choose the parameters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b </a:t>
            </a:r>
            <a:r>
              <a:rPr lang="pt-BR" sz="1200">
                <a:solidFill>
                  <a:schemeClr val="dk1"/>
                </a:solidFill>
                <a:latin typeface="Arial"/>
                <a:ea typeface="Arial"/>
                <a:cs typeface="Arial"/>
                <a:sym typeface="Arial"/>
              </a:rPr>
              <a:t>that </a:t>
            </a:r>
            <a:r>
              <a:rPr b="0" lang="pt-BR" sz="1200">
                <a:solidFill>
                  <a:schemeClr val="dk1"/>
                </a:solidFill>
                <a:latin typeface="Arial"/>
                <a:ea typeface="Arial"/>
                <a:cs typeface="Arial"/>
                <a:sym typeface="Arial"/>
              </a:rPr>
              <a:t>maximize the log probability of the true </a:t>
            </a:r>
            <a:r>
              <a:rPr i="1" lang="pt-BR" sz="1200">
                <a:solidFill>
                  <a:schemeClr val="dk1"/>
                </a:solidFill>
                <a:latin typeface="Arial"/>
                <a:ea typeface="Arial"/>
                <a:cs typeface="Arial"/>
                <a:sym typeface="Arial"/>
              </a:rPr>
              <a:t>y </a:t>
            </a:r>
            <a:r>
              <a:rPr b="0" lang="pt-BR" sz="1200">
                <a:solidFill>
                  <a:schemeClr val="dk1"/>
                </a:solidFill>
                <a:latin typeface="Arial"/>
                <a:ea typeface="Arial"/>
                <a:cs typeface="Arial"/>
                <a:sym typeface="Arial"/>
              </a:rPr>
              <a:t>labels in the training data </a:t>
            </a:r>
            <a:r>
              <a:rPr lang="pt-BR" sz="1200">
                <a:solidFill>
                  <a:schemeClr val="dk1"/>
                </a:solidFill>
                <a:latin typeface="Arial"/>
                <a:ea typeface="Arial"/>
                <a:cs typeface="Arial"/>
                <a:sym typeface="Arial"/>
              </a:rPr>
              <a:t>given the observations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The resulting loss function is the negative log likelihood loss, generally called the </a:t>
            </a:r>
            <a:r>
              <a:rPr b="0" lang="pt-BR" sz="1200">
                <a:solidFill>
                  <a:schemeClr val="dk1"/>
                </a:solidFill>
                <a:latin typeface="Arial"/>
                <a:ea typeface="Arial"/>
                <a:cs typeface="Arial"/>
                <a:sym typeface="Arial"/>
              </a:rPr>
              <a:t>cross-entropy loss</a:t>
            </a:r>
            <a:r>
              <a:rPr lang="pt-BR" sz="1200">
                <a:solidFill>
                  <a:schemeClr val="dk1"/>
                </a:solidFill>
                <a:latin typeface="Arial"/>
                <a:ea typeface="Arial"/>
                <a:cs typeface="Arial"/>
                <a:sym typeface="Arial"/>
              </a:rPr>
              <a:t>. </a:t>
            </a:r>
            <a:endParaRPr/>
          </a:p>
          <a:p>
            <a:pPr indent="0" lvl="0" marL="0" rtl="0" algn="l">
              <a:spcBef>
                <a:spcPts val="360"/>
              </a:spcBef>
              <a:spcAft>
                <a:spcPts val="0"/>
              </a:spcAft>
              <a:buNone/>
            </a:pPr>
            <a:r>
              <a:t/>
            </a:r>
            <a:endParaRPr/>
          </a:p>
        </p:txBody>
      </p:sp>
      <p:sp>
        <p:nvSpPr>
          <p:cNvPr id="1722" name="Google Shape;1722;h28f86b313e326572_0_35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h28f86b313e326572_0_366: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29" name="Google Shape;1729;h28f86b313e326572_0_366: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Let’s derive this loss function, applied to a single observation </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We’d like to learn weights that maximize the probability of the correct label, that's </a:t>
            </a:r>
            <a:r>
              <a:rPr i="1" lang="pt-BR" sz="1200">
                <a:solidFill>
                  <a:schemeClr val="dk1"/>
                </a:solidFill>
                <a:latin typeface="Arial"/>
                <a:ea typeface="Arial"/>
                <a:cs typeface="Arial"/>
                <a:sym typeface="Arial"/>
              </a:rPr>
              <a:t>p</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a:t>
            </a:r>
            <a:endParaRPr/>
          </a:p>
          <a:p>
            <a:pPr indent="0" lvl="0" marL="0" rtl="0" algn="l">
              <a:spcBef>
                <a:spcPts val="360"/>
              </a:spcBef>
              <a:spcAft>
                <a:spcPts val="0"/>
              </a:spcAft>
              <a:buNone/>
            </a:pPr>
            <a:r>
              <a:t/>
            </a:r>
            <a:endParaRPr/>
          </a:p>
        </p:txBody>
      </p:sp>
      <p:sp>
        <p:nvSpPr>
          <p:cNvPr id="1730" name="Google Shape;1730;h28f86b313e326572_0_366: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3fbb7e4475e_0_665: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g3fbb7e4475e_0_665: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h28f86b313e326572_0_91: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h28f86b313e326572_0_9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fbb7e4475e_0_686: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g3fbb7e4475e_0_686: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g3fbb7e4475e_0_692: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g3fbb7e4475e_0_692: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g3fbb7e4475e_0_69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74" name="Google Shape;1774;g3fbb7e4475e_0_69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By contrast, let’s pretend instead that the example was actually negative, i.e., the true </a:t>
            </a:r>
            <a:r>
              <a:rPr i="1" lang="pt-BR" sz="1200">
                <a:solidFill>
                  <a:schemeClr val="dk1"/>
                </a:solidFill>
                <a:latin typeface="Arial"/>
                <a:ea typeface="Arial"/>
                <a:cs typeface="Arial"/>
                <a:sym typeface="Arial"/>
              </a:rPr>
              <a:t>y </a:t>
            </a:r>
            <a:r>
              <a:rPr lang="pt-BR" sz="1200">
                <a:solidFill>
                  <a:schemeClr val="dk1"/>
                </a:solidFill>
                <a:latin typeface="Arial"/>
                <a:ea typeface="Arial"/>
                <a:cs typeface="Arial"/>
                <a:sym typeface="Arial"/>
              </a:rPr>
              <a:t>= 0 (perhaps the reviewer went on to say “But bottom line, the movie is terrible! I beg you not to see it!”) . In this case our model is confused, the model is wrong, so we’d want the loss to be higher. Let's plug in </a:t>
            </a:r>
            <a:r>
              <a:rPr i="1" lang="pt-BR" sz="1200">
                <a:solidFill>
                  <a:schemeClr val="dk1"/>
                </a:solidFill>
                <a:latin typeface="Arial"/>
                <a:ea typeface="Arial"/>
                <a:cs typeface="Arial"/>
                <a:sym typeface="Arial"/>
              </a:rPr>
              <a:t>y </a:t>
            </a:r>
            <a:r>
              <a:rPr lang="pt-BR" sz="1200">
                <a:solidFill>
                  <a:schemeClr val="dk1"/>
                </a:solidFill>
                <a:latin typeface="Arial"/>
                <a:ea typeface="Arial"/>
                <a:cs typeface="Arial"/>
                <a:sym typeface="Arial"/>
              </a:rPr>
              <a:t>= 0 and 1−σ(</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 .31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775" name="Google Shape;1775;g3fbb7e4475e_0_69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3fbb7e4475e_0_707:notes"/>
          <p:cNvSpPr txBox="1"/>
          <p:nvPr>
            <p:ph idx="1" type="body"/>
          </p:nvPr>
        </p:nvSpPr>
        <p:spPr>
          <a:xfrm>
            <a:off x="914507" y="4344140"/>
            <a:ext cx="50289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g3fbb7e4475e_0_707: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h2237bd4fd160ea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3" name="Google Shape;1793;h2237bd4fd160ea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h548695578f27d86f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h548695578f27d86f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7" name="Shape 1817"/>
        <p:cNvGrpSpPr/>
        <p:nvPr/>
      </p:nvGrpSpPr>
      <p:grpSpPr>
        <a:xfrm>
          <a:off x="0" y="0"/>
          <a:ext cx="0" cy="0"/>
          <a:chOff x="0" y="0"/>
          <a:chExt cx="0" cy="0"/>
        </a:xfrm>
      </p:grpSpPr>
      <p:sp>
        <p:nvSpPr>
          <p:cNvPr id="1818" name="Google Shape;1818;h2237bd4fd160ea92_0_14: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19" name="Google Shape;1819;h2237bd4fd160ea92_0_14: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Our goal with gradient descent is to find the optimal weights: minimize the loss function we’ve defined for the model. We’ll explicitly represent the fact that the loss function </a:t>
            </a:r>
            <a:r>
              <a:rPr i="1" lang="pt-BR" sz="1200">
                <a:solidFill>
                  <a:schemeClr val="dk1"/>
                </a:solidFill>
                <a:latin typeface="Arial"/>
                <a:ea typeface="Arial"/>
                <a:cs typeface="Arial"/>
                <a:sym typeface="Arial"/>
              </a:rPr>
              <a:t>L </a:t>
            </a:r>
            <a:r>
              <a:rPr lang="pt-BR" sz="1200">
                <a:solidFill>
                  <a:schemeClr val="dk1"/>
                </a:solidFill>
                <a:latin typeface="Arial"/>
                <a:ea typeface="Arial"/>
                <a:cs typeface="Arial"/>
                <a:sym typeface="Arial"/>
              </a:rPr>
              <a:t>is parameterized by the weights, which we can refer to in machine learning in general as θ (in the case of logistic regression θ =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a:t>
            </a:r>
            <a:r>
              <a:rPr lang="pt-BR">
                <a:latin typeface="Calibri"/>
                <a:ea typeface="Calibri"/>
                <a:cs typeface="Calibri"/>
                <a:sym typeface="Calibri"/>
              </a:rPr>
              <a:t>And we’ll represent </a:t>
            </a:r>
            <a:r>
              <a:rPr i="0" lang="pt-BR">
                <a:latin typeface="Cambria Math"/>
                <a:ea typeface="Cambria Math"/>
                <a:cs typeface="Cambria Math"/>
                <a:sym typeface="Cambria Math"/>
              </a:rPr>
              <a:t>𝑦 ̂  </a:t>
            </a:r>
            <a:r>
              <a:rPr lang="pt-BR">
                <a:latin typeface="Calibri"/>
                <a:ea typeface="Calibri"/>
                <a:cs typeface="Calibri"/>
                <a:sym typeface="Calibri"/>
              </a:rPr>
              <a:t>as </a:t>
            </a:r>
            <a:r>
              <a:rPr i="1" lang="pt-BR">
                <a:latin typeface="Calibri"/>
                <a:ea typeface="Calibri"/>
                <a:cs typeface="Calibri"/>
                <a:sym typeface="Calibri"/>
              </a:rPr>
              <a:t>f </a:t>
            </a:r>
            <a:r>
              <a:rPr lang="pt-BR">
                <a:latin typeface="Calibri"/>
                <a:ea typeface="Calibri"/>
                <a:cs typeface="Calibri"/>
                <a:sym typeface="Calibri"/>
              </a:rPr>
              <a:t>(</a:t>
            </a:r>
            <a:r>
              <a:rPr i="1" lang="pt-BR">
                <a:latin typeface="Calibri"/>
                <a:ea typeface="Calibri"/>
                <a:cs typeface="Calibri"/>
                <a:sym typeface="Calibri"/>
              </a:rPr>
              <a:t>x</a:t>
            </a:r>
            <a:r>
              <a:rPr lang="pt-BR">
                <a:latin typeface="Calibri"/>
                <a:ea typeface="Calibri"/>
                <a:cs typeface="Calibri"/>
                <a:sym typeface="Calibri"/>
              </a:rPr>
              <a:t>; θ ) to make the dependence on θ more obvious</a:t>
            </a:r>
            <a:r>
              <a:rPr lang="pt-BR" sz="1200">
                <a:solidFill>
                  <a:schemeClr val="dk1"/>
                </a:solidFill>
                <a:latin typeface="Arial"/>
                <a:ea typeface="Arial"/>
                <a:cs typeface="Arial"/>
                <a:sym typeface="Arial"/>
              </a:rPr>
              <a:t>. So the goal is to find the set of weights which minimizes the loss function, averaged over all examples:  EQ</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820" name="Google Shape;1820;h2237bd4fd160ea92_0_14: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h10357b960f8fc55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8" name="Google Shape;1828;h10357b960f8fc55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h2237bd4fd160ea92_0_2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34" name="Google Shape;1834;h2237bd4fd160ea92_0_21: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How do we find the minimum of a loss function? Gradient descent is a method that finds a minimum of a function by figuring out in which direction (in the space of the parameters θ) the function’s slope is rising the most steeply, and moving in the opposite direction. </a:t>
            </a:r>
            <a:endParaRPr sz="1200">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Arial"/>
              <a:buNone/>
            </a:pPr>
            <a:r>
              <a:rPr lang="pt-BR" sz="1200">
                <a:solidFill>
                  <a:schemeClr val="dk1"/>
                </a:solidFill>
                <a:latin typeface="Arial"/>
                <a:ea typeface="Arial"/>
                <a:cs typeface="Arial"/>
                <a:sym typeface="Arial"/>
              </a:rPr>
              <a:t>The intuition is that if you are hiking in a canyon and trying to descend most quickly down to the river at the bottom, you might look around yourself 360 degrees, find the direction where the ground is sloping the steepest, and walk downhill in that direction.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835" name="Google Shape;1835;h2237bd4fd160ea92_0_21: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h2237bd4fd160ea92_0_30: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45" name="Google Shape;1845;h2237bd4fd160ea92_0_30: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For logistic regression, this loss function is conveniently </a:t>
            </a:r>
            <a:r>
              <a:rPr b="0" lang="pt-BR" sz="1200">
                <a:solidFill>
                  <a:schemeClr val="dk1"/>
                </a:solidFill>
                <a:latin typeface="Arial"/>
                <a:ea typeface="Arial"/>
                <a:cs typeface="Arial"/>
                <a:sym typeface="Arial"/>
              </a:rPr>
              <a:t>convex</a:t>
            </a:r>
            <a:r>
              <a:rPr lang="pt-BR" sz="1200">
                <a:solidFill>
                  <a:schemeClr val="dk1"/>
                </a:solidFill>
                <a:latin typeface="Arial"/>
                <a:ea typeface="Arial"/>
                <a:cs typeface="Arial"/>
                <a:sym typeface="Arial"/>
              </a:rPr>
              <a:t>. A convex function has just one minimum; there are no local minima to get stuck in, so gradient descent starting from any point is guaranteed to find the minimum. (By contrast, the loss for multi-layer neural networks is non-convex, and gradient descent may get stuck in local minima for neural network training and never find the global optimum.) </a:t>
            </a:r>
            <a:endParaRPr/>
          </a:p>
          <a:p>
            <a:pPr indent="0" lvl="0" marL="0" rtl="0" algn="l">
              <a:spcBef>
                <a:spcPts val="360"/>
              </a:spcBef>
              <a:spcAft>
                <a:spcPts val="0"/>
              </a:spcAft>
              <a:buNone/>
            </a:pPr>
            <a:r>
              <a:t/>
            </a:r>
            <a:endParaRPr/>
          </a:p>
        </p:txBody>
      </p:sp>
      <p:sp>
        <p:nvSpPr>
          <p:cNvPr id="1846" name="Google Shape;1846;h2237bd4fd160ea92_0_30: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h2237bd4fd160ea92_0_36: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53" name="Google Shape;1853;h2237bd4fd160ea92_0_36: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Although the algorithm (and the concept of gradient) are designed for direction </a:t>
            </a:r>
            <a:r>
              <a:rPr i="1" lang="pt-BR" sz="1200">
                <a:solidFill>
                  <a:schemeClr val="dk1"/>
                </a:solidFill>
                <a:latin typeface="Arial"/>
                <a:ea typeface="Arial"/>
                <a:cs typeface="Arial"/>
                <a:sym typeface="Arial"/>
              </a:rPr>
              <a:t>vectors</a:t>
            </a:r>
            <a:r>
              <a:rPr lang="pt-BR" sz="1200">
                <a:solidFill>
                  <a:schemeClr val="dk1"/>
                </a:solidFill>
                <a:latin typeface="Arial"/>
                <a:ea typeface="Arial"/>
                <a:cs typeface="Arial"/>
                <a:sym typeface="Arial"/>
              </a:rPr>
              <a:t>, let’s first consider a visualization of the case where the parameter of our system is just a single scalar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Given a random initialization of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at some value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and assuming the loss function </a:t>
            </a:r>
            <a:r>
              <a:rPr i="1" lang="pt-BR" sz="1200">
                <a:solidFill>
                  <a:schemeClr val="dk1"/>
                </a:solidFill>
                <a:latin typeface="Arial"/>
                <a:ea typeface="Arial"/>
                <a:cs typeface="Arial"/>
                <a:sym typeface="Arial"/>
              </a:rPr>
              <a:t>L </a:t>
            </a:r>
            <a:r>
              <a:rPr lang="pt-BR" sz="1200">
                <a:solidFill>
                  <a:schemeClr val="dk1"/>
                </a:solidFill>
                <a:latin typeface="Arial"/>
                <a:ea typeface="Arial"/>
                <a:cs typeface="Arial"/>
                <a:sym typeface="Arial"/>
              </a:rPr>
              <a:t>happened to have this shape, we need the algorithm to tell us whether at the next iteration we should move left (making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2 smaller than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or right (making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2 bigger than </a:t>
            </a:r>
            <a:r>
              <a:rPr i="1" lang="pt-BR" sz="1200">
                <a:solidFill>
                  <a:schemeClr val="dk1"/>
                </a:solidFill>
                <a:latin typeface="Arial"/>
                <a:ea typeface="Arial"/>
                <a:cs typeface="Arial"/>
                <a:sym typeface="Arial"/>
              </a:rPr>
              <a:t>w</a:t>
            </a:r>
            <a:r>
              <a:rPr lang="pt-BR" sz="1200">
                <a:solidFill>
                  <a:schemeClr val="dk1"/>
                </a:solidFill>
                <a:latin typeface="Arial"/>
                <a:ea typeface="Arial"/>
                <a:cs typeface="Arial"/>
                <a:sym typeface="Arial"/>
              </a:rPr>
              <a:t>1) to reach the minimum. The gradient descent algorithm answers this question by finding the </a:t>
            </a:r>
            <a:r>
              <a:rPr b="0" lang="pt-BR" sz="1200">
                <a:solidFill>
                  <a:schemeClr val="dk1"/>
                </a:solidFill>
                <a:latin typeface="Arial"/>
                <a:ea typeface="Arial"/>
                <a:cs typeface="Arial"/>
                <a:sym typeface="Arial"/>
              </a:rPr>
              <a:t>gradient </a:t>
            </a:r>
            <a:r>
              <a:rPr lang="pt-BR" sz="1200">
                <a:solidFill>
                  <a:schemeClr val="dk1"/>
                </a:solidFill>
                <a:latin typeface="Arial"/>
                <a:ea typeface="Arial"/>
                <a:cs typeface="Arial"/>
                <a:sym typeface="Arial"/>
              </a:rPr>
              <a:t>of the loss function at the current point and moving in the opposite direction.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854" name="Google Shape;1854;h2237bd4fd160ea92_0_36: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h548695578f27d86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h548695578f27d86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h548695578f27d8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h548695578f27d8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h2237bd4fd160ea92_0_44: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79" name="Google Shape;1879;h2237bd4fd160ea92_0_44: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The gradient of a function of many variables is a vector pointing in the direction of the greatest increase in a function. The gradient is a multi-variable generalization of the slope, so for a function of one variable like the one in this figure, we can informally think of the gradient as the slope. The dotted line shows the slope of this hypothetical loss function at point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w1 </a:t>
            </a:r>
            <a:r>
              <a:rPr lang="pt-BR" sz="1200">
                <a:solidFill>
                  <a:schemeClr val="dk1"/>
                </a:solidFill>
                <a:latin typeface="Arial"/>
                <a:ea typeface="Arial"/>
                <a:cs typeface="Arial"/>
                <a:sym typeface="Arial"/>
              </a:rPr>
              <a:t>. You can see that the slope of this dotted line is negative.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880" name="Google Shape;1880;h2237bd4fd160ea92_0_44: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h2237bd4fd160ea92_0_52: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89" name="Google Shape;1889;h2237bd4fd160ea92_0_52: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Thus to find the minimum, gradient descent tells us to go in the opposite direction: moving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in a positive direction.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890" name="Google Shape;1890;h2237bd4fd160ea92_0_52: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h2237bd4fd160ea92_0_60: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99" name="Google Shape;1899;h2237bd4fd160ea92_0_60: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360"/>
              </a:spcBef>
              <a:spcAft>
                <a:spcPts val="0"/>
              </a:spcAft>
              <a:buNone/>
            </a:pPr>
            <a:r>
              <a:t/>
            </a:r>
            <a:endParaRPr/>
          </a:p>
        </p:txBody>
      </p:sp>
      <p:sp>
        <p:nvSpPr>
          <p:cNvPr id="1900" name="Google Shape;1900;h2237bd4fd160ea92_0_60: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h548695578f27d86f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h548695578f27d86f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h225ca5ac618c9a54_0_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16" name="Google Shape;1916;h225ca5ac618c9a54_0_1: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The magnitude of the amount to move in gradient descent is the value of the slope of the loss function (with respect to w) weighted by a </a:t>
            </a:r>
            <a:r>
              <a:rPr b="0" lang="pt-BR" sz="1200">
                <a:solidFill>
                  <a:schemeClr val="dk1"/>
                </a:solidFill>
                <a:latin typeface="Arial"/>
                <a:ea typeface="Arial"/>
                <a:cs typeface="Arial"/>
                <a:sym typeface="Arial"/>
              </a:rPr>
              <a:t>learning rate </a:t>
            </a:r>
            <a:r>
              <a:rPr lang="pt-BR" sz="1200">
                <a:solidFill>
                  <a:schemeClr val="dk1"/>
                </a:solidFill>
                <a:latin typeface="Arial"/>
                <a:ea typeface="Arial"/>
                <a:cs typeface="Arial"/>
                <a:sym typeface="Arial"/>
              </a:rPr>
              <a:t>η . A higher (faster) learning rate means that we should move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more on each step. The change we make in our parameter is the learning rate times the gradient (or the slope, in our single-variable example)</a:t>
            </a:r>
            <a:endParaRPr/>
          </a:p>
          <a:p>
            <a:pPr indent="0" lvl="0" marL="0" rtl="0" algn="l">
              <a:spcBef>
                <a:spcPts val="360"/>
              </a:spcBef>
              <a:spcAft>
                <a:spcPts val="0"/>
              </a:spcAft>
              <a:buNone/>
            </a:pPr>
            <a:r>
              <a:t/>
            </a:r>
            <a:endParaRPr/>
          </a:p>
        </p:txBody>
      </p:sp>
      <p:sp>
        <p:nvSpPr>
          <p:cNvPr id="1917" name="Google Shape;1917;h225ca5ac618c9a54_0_1: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h548695578f27d86f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5" name="Google Shape;1925;h548695578f27d86f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h7be4e124204b1a2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2" name="Google Shape;1932;h7be4e124204b1a2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h548695578f27d86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9" name="Google Shape;1939;h548695578f27d86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h2237bd4fd160ea92_0_73: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46" name="Google Shape;1946;h2237bd4fd160ea92_0_73: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Now let’s extend the intuition from a function of one scalar variable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to many variables, because we don’t just want to move left or right, we want to know where in the N-dimensional space (of the </a:t>
            </a:r>
            <a:r>
              <a:rPr i="1" lang="pt-BR" sz="1200">
                <a:solidFill>
                  <a:schemeClr val="dk1"/>
                </a:solidFill>
                <a:latin typeface="Arial"/>
                <a:ea typeface="Arial"/>
                <a:cs typeface="Arial"/>
                <a:sym typeface="Arial"/>
              </a:rPr>
              <a:t>N </a:t>
            </a:r>
            <a:r>
              <a:rPr lang="pt-BR" sz="1200">
                <a:solidFill>
                  <a:schemeClr val="dk1"/>
                </a:solidFill>
                <a:latin typeface="Arial"/>
                <a:ea typeface="Arial"/>
                <a:cs typeface="Arial"/>
                <a:sym typeface="Arial"/>
              </a:rPr>
              <a:t>parameters that make up θ ) we should move. The </a:t>
            </a:r>
            <a:r>
              <a:rPr b="0" lang="pt-BR" sz="1200">
                <a:solidFill>
                  <a:schemeClr val="dk1"/>
                </a:solidFill>
                <a:latin typeface="Arial"/>
                <a:ea typeface="Arial"/>
                <a:cs typeface="Arial"/>
                <a:sym typeface="Arial"/>
              </a:rPr>
              <a:t>gradient </a:t>
            </a:r>
            <a:r>
              <a:rPr lang="pt-BR" sz="1200">
                <a:solidFill>
                  <a:schemeClr val="dk1"/>
                </a:solidFill>
                <a:latin typeface="Arial"/>
                <a:ea typeface="Arial"/>
                <a:cs typeface="Arial"/>
                <a:sym typeface="Arial"/>
              </a:rPr>
              <a:t>is just such a vector; it expresses the directional components of the sharpest slope along each of those </a:t>
            </a:r>
            <a:r>
              <a:rPr i="1" lang="pt-BR" sz="1200">
                <a:solidFill>
                  <a:schemeClr val="dk1"/>
                </a:solidFill>
                <a:latin typeface="Arial"/>
                <a:ea typeface="Arial"/>
                <a:cs typeface="Arial"/>
                <a:sym typeface="Arial"/>
              </a:rPr>
              <a:t>N </a:t>
            </a:r>
            <a:r>
              <a:rPr lang="pt-BR" sz="1200">
                <a:solidFill>
                  <a:schemeClr val="dk1"/>
                </a:solidFill>
                <a:latin typeface="Arial"/>
                <a:ea typeface="Arial"/>
                <a:cs typeface="Arial"/>
                <a:sym typeface="Arial"/>
              </a:rPr>
              <a:t>dimensions. </a:t>
            </a:r>
            <a:endParaRPr/>
          </a:p>
        </p:txBody>
      </p:sp>
      <p:sp>
        <p:nvSpPr>
          <p:cNvPr id="1947" name="Google Shape;1947;h2237bd4fd160ea92_0_73: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h2237bd4fd160ea92_0_7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54" name="Google Shape;1954;h2237bd4fd160ea92_0_7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If we’re just imagining two weight dimensions (say for one weight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and one bias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the gradient might be a vector with two orthogonal components, each of which tells us how much the ground slopes in the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dimension and in the </a:t>
            </a:r>
            <a:r>
              <a:rPr i="1" lang="pt-BR" sz="1200">
                <a:solidFill>
                  <a:schemeClr val="dk1"/>
                </a:solidFill>
                <a:latin typeface="Arial"/>
                <a:ea typeface="Arial"/>
                <a:cs typeface="Arial"/>
                <a:sym typeface="Arial"/>
              </a:rPr>
              <a:t>b </a:t>
            </a:r>
            <a:r>
              <a:rPr lang="pt-BR" sz="1200">
                <a:solidFill>
                  <a:schemeClr val="dk1"/>
                </a:solidFill>
                <a:latin typeface="Arial"/>
                <a:ea typeface="Arial"/>
                <a:cs typeface="Arial"/>
                <a:sym typeface="Arial"/>
              </a:rPr>
              <a:t>dimension. This figure shows a visualization of the value of a 2-dimensional gradient vector taken at the red point. </a:t>
            </a:r>
            <a:endParaRPr/>
          </a:p>
          <a:p>
            <a:pPr indent="0" lvl="0" marL="0" rtl="0" algn="l">
              <a:spcBef>
                <a:spcPts val="360"/>
              </a:spcBef>
              <a:spcAft>
                <a:spcPts val="0"/>
              </a:spcAft>
              <a:buNone/>
            </a:pPr>
            <a:r>
              <a:t/>
            </a:r>
            <a:endParaRPr/>
          </a:p>
        </p:txBody>
      </p:sp>
      <p:sp>
        <p:nvSpPr>
          <p:cNvPr id="1955" name="Google Shape;1955;h2237bd4fd160ea92_0_7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h2237bd4fd160ea92_0_86: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63" name="Google Shape;1963;h2237bd4fd160ea92_0_86: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In an actual logistic regression, the parameter vector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is much longer than 1 or 2, since the input feature vector </a:t>
            </a:r>
            <a:r>
              <a:rPr i="1" lang="pt-BR" sz="1200">
                <a:solidFill>
                  <a:schemeClr val="dk1"/>
                </a:solidFill>
                <a:latin typeface="Arial"/>
                <a:ea typeface="Arial"/>
                <a:cs typeface="Arial"/>
                <a:sym typeface="Arial"/>
              </a:rPr>
              <a:t>x </a:t>
            </a:r>
            <a:r>
              <a:rPr lang="pt-BR" sz="1200">
                <a:solidFill>
                  <a:schemeClr val="dk1"/>
                </a:solidFill>
                <a:latin typeface="Arial"/>
                <a:ea typeface="Arial"/>
                <a:cs typeface="Arial"/>
                <a:sym typeface="Arial"/>
              </a:rPr>
              <a:t>can be quite long, and we need a weight </a:t>
            </a:r>
            <a:r>
              <a:rPr i="1" lang="pt-BR" sz="1200">
                <a:solidFill>
                  <a:schemeClr val="dk1"/>
                </a:solidFill>
                <a:latin typeface="Arial"/>
                <a:ea typeface="Arial"/>
                <a:cs typeface="Arial"/>
                <a:sym typeface="Arial"/>
              </a:rPr>
              <a:t>wi </a:t>
            </a:r>
            <a:r>
              <a:rPr lang="pt-BR" sz="1200">
                <a:solidFill>
                  <a:schemeClr val="dk1"/>
                </a:solidFill>
                <a:latin typeface="Arial"/>
                <a:ea typeface="Arial"/>
                <a:cs typeface="Arial"/>
                <a:sym typeface="Arial"/>
              </a:rPr>
              <a:t>for each </a:t>
            </a:r>
            <a:r>
              <a:rPr i="1" lang="pt-BR" sz="1200">
                <a:solidFill>
                  <a:schemeClr val="dk1"/>
                </a:solidFill>
                <a:latin typeface="Arial"/>
                <a:ea typeface="Arial"/>
                <a:cs typeface="Arial"/>
                <a:sym typeface="Arial"/>
              </a:rPr>
              <a:t>xi</a:t>
            </a:r>
            <a:r>
              <a:rPr lang="pt-BR" sz="1200">
                <a:solidFill>
                  <a:schemeClr val="dk1"/>
                </a:solidFill>
                <a:latin typeface="Arial"/>
                <a:ea typeface="Arial"/>
                <a:cs typeface="Arial"/>
                <a:sym typeface="Arial"/>
              </a:rPr>
              <a:t>. For each dimension/variable </a:t>
            </a:r>
            <a:r>
              <a:rPr i="1" lang="pt-BR" sz="1200">
                <a:solidFill>
                  <a:schemeClr val="dk1"/>
                </a:solidFill>
                <a:latin typeface="Arial"/>
                <a:ea typeface="Arial"/>
                <a:cs typeface="Arial"/>
                <a:sym typeface="Arial"/>
              </a:rPr>
              <a:t>wi </a:t>
            </a:r>
            <a:r>
              <a:rPr lang="pt-BR" sz="1200">
                <a:solidFill>
                  <a:schemeClr val="dk1"/>
                </a:solidFill>
                <a:latin typeface="Arial"/>
                <a:ea typeface="Arial"/>
                <a:cs typeface="Arial"/>
                <a:sym typeface="Arial"/>
              </a:rPr>
              <a:t>in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(plus the bias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the gradient will have a component that tells us the slope with respect to that variable. Essentially we’re asking: “How much would a small change in that variable </a:t>
            </a:r>
            <a:r>
              <a:rPr i="1" lang="pt-BR" sz="1200">
                <a:solidFill>
                  <a:schemeClr val="dk1"/>
                </a:solidFill>
                <a:latin typeface="Arial"/>
                <a:ea typeface="Arial"/>
                <a:cs typeface="Arial"/>
                <a:sym typeface="Arial"/>
              </a:rPr>
              <a:t>wi </a:t>
            </a:r>
            <a:r>
              <a:rPr lang="pt-BR" sz="1200">
                <a:solidFill>
                  <a:schemeClr val="dk1"/>
                </a:solidFill>
                <a:latin typeface="Arial"/>
                <a:ea typeface="Arial"/>
                <a:cs typeface="Arial"/>
                <a:sym typeface="Arial"/>
              </a:rPr>
              <a:t>influence the total loss function </a:t>
            </a:r>
            <a:r>
              <a:rPr i="1" lang="pt-BR" sz="1200">
                <a:solidFill>
                  <a:schemeClr val="dk1"/>
                </a:solidFill>
                <a:latin typeface="Arial"/>
                <a:ea typeface="Arial"/>
                <a:cs typeface="Arial"/>
                <a:sym typeface="Arial"/>
              </a:rPr>
              <a:t>L</a:t>
            </a:r>
            <a:r>
              <a:rPr lang="pt-BR" sz="1200">
                <a:solidFill>
                  <a:schemeClr val="dk1"/>
                </a:solidFill>
                <a:latin typeface="Arial"/>
                <a:ea typeface="Arial"/>
                <a:cs typeface="Arial"/>
                <a:sym typeface="Arial"/>
              </a:rPr>
              <a:t>?” In each dimension </a:t>
            </a:r>
            <a:r>
              <a:rPr i="1" lang="pt-BR" sz="1200">
                <a:solidFill>
                  <a:schemeClr val="dk1"/>
                </a:solidFill>
                <a:latin typeface="Arial"/>
                <a:ea typeface="Arial"/>
                <a:cs typeface="Arial"/>
                <a:sym typeface="Arial"/>
              </a:rPr>
              <a:t>wi</a:t>
            </a:r>
            <a:r>
              <a:rPr lang="pt-BR" sz="1200">
                <a:solidFill>
                  <a:schemeClr val="dk1"/>
                </a:solidFill>
                <a:latin typeface="Arial"/>
                <a:ea typeface="Arial"/>
                <a:cs typeface="Arial"/>
                <a:sym typeface="Arial"/>
              </a:rPr>
              <a:t>, we express the slope as a partial derivative of the loss function with respect to wi. The gradient is then defined as a vector of these partials. </a:t>
            </a:r>
            <a:endParaRPr/>
          </a:p>
          <a:p>
            <a:pPr indent="0" lvl="0" marL="0" rtl="0" algn="l">
              <a:spcBef>
                <a:spcPts val="360"/>
              </a:spcBef>
              <a:spcAft>
                <a:spcPts val="0"/>
              </a:spcAft>
              <a:buNone/>
            </a:pPr>
            <a:r>
              <a:t/>
            </a:r>
            <a:endParaRPr/>
          </a:p>
        </p:txBody>
      </p:sp>
      <p:sp>
        <p:nvSpPr>
          <p:cNvPr id="1964" name="Google Shape;1964;h2237bd4fd160ea92_0_86: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h2237bd4fd160ea92_0_92: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70" name="Google Shape;1970;h2237bd4fd160ea92_0_92: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Here's a vector of gradients.  We’ll represent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ˆ as </a:t>
            </a:r>
            <a:r>
              <a:rPr i="1" lang="pt-BR" sz="1200">
                <a:solidFill>
                  <a:schemeClr val="dk1"/>
                </a:solidFill>
                <a:latin typeface="Arial"/>
                <a:ea typeface="Arial"/>
                <a:cs typeface="Arial"/>
                <a:sym typeface="Arial"/>
              </a:rPr>
              <a:t>f </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θ ) to make the dependence on θ more obvious: </a:t>
            </a:r>
            <a:endParaRPr/>
          </a:p>
          <a:p>
            <a:pPr indent="0" lvl="0" marL="0" rtl="0" algn="l">
              <a:spcBef>
                <a:spcPts val="360"/>
              </a:spcBef>
              <a:spcAft>
                <a:spcPts val="0"/>
              </a:spcAft>
              <a:buNone/>
            </a:pPr>
            <a:r>
              <a:t/>
            </a:r>
            <a:endParaRPr/>
          </a:p>
        </p:txBody>
      </p:sp>
      <p:sp>
        <p:nvSpPr>
          <p:cNvPr id="1971" name="Google Shape;1971;h2237bd4fd160ea92_0_92: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h2237bd4fd160ea92_0_10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80" name="Google Shape;1980;h2237bd4fd160ea92_0_101: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In order to update θ , we need a definition for the gradient ∇</a:t>
            </a:r>
            <a:r>
              <a:rPr i="1" lang="pt-BR" sz="1200">
                <a:solidFill>
                  <a:schemeClr val="dk1"/>
                </a:solidFill>
                <a:latin typeface="Arial"/>
                <a:ea typeface="Arial"/>
                <a:cs typeface="Arial"/>
                <a:sym typeface="Arial"/>
              </a:rPr>
              <a:t>L</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f </a:t>
            </a:r>
            <a:r>
              <a:rPr lang="pt-BR" sz="1200">
                <a:solidFill>
                  <a:schemeClr val="dk1"/>
                </a:solidFill>
                <a:latin typeface="Arial"/>
                <a:ea typeface="Arial"/>
                <a:cs typeface="Arial"/>
                <a:sym typeface="Arial"/>
              </a:rPr>
              <a:t>(</a:t>
            </a:r>
            <a:r>
              <a:rPr i="1" lang="pt-BR" sz="1200">
                <a:solidFill>
                  <a:schemeClr val="dk1"/>
                </a:solidFill>
                <a:latin typeface="Arial"/>
                <a:ea typeface="Arial"/>
                <a:cs typeface="Arial"/>
                <a:sym typeface="Arial"/>
              </a:rPr>
              <a:t>x</a:t>
            </a:r>
            <a:r>
              <a:rPr lang="pt-BR" sz="1200">
                <a:solidFill>
                  <a:schemeClr val="dk1"/>
                </a:solidFill>
                <a:latin typeface="Arial"/>
                <a:ea typeface="Arial"/>
                <a:cs typeface="Arial"/>
                <a:sym typeface="Arial"/>
              </a:rPr>
              <a:t>; θ ),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 Recall that for logistic regression, the cross-entropy loss function is:  EQ</a:t>
            </a:r>
            <a:endParaRPr/>
          </a:p>
          <a:p>
            <a:pPr indent="0" lvl="0" marL="0" marR="0" rtl="0" algn="l">
              <a:lnSpc>
                <a:spcPct val="100000"/>
              </a:lnSpc>
              <a:spcBef>
                <a:spcPts val="36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Arial"/>
              <a:buNone/>
            </a:pPr>
            <a:r>
              <a:rPr lang="pt-BR" sz="1200">
                <a:solidFill>
                  <a:schemeClr val="dk1"/>
                </a:solidFill>
                <a:latin typeface="Arial"/>
                <a:ea typeface="Arial"/>
                <a:cs typeface="Arial"/>
                <a:sym typeface="Arial"/>
              </a:rPr>
              <a:t>It turns out that the derivative of this function for one observation vector </a:t>
            </a:r>
            <a:r>
              <a:rPr i="1" lang="pt-BR" sz="1200">
                <a:solidFill>
                  <a:schemeClr val="dk1"/>
                </a:solidFill>
                <a:latin typeface="Arial"/>
                <a:ea typeface="Arial"/>
                <a:cs typeface="Arial"/>
                <a:sym typeface="Arial"/>
              </a:rPr>
              <a:t>x </a:t>
            </a:r>
            <a:r>
              <a:rPr lang="pt-BR" sz="1200">
                <a:solidFill>
                  <a:schemeClr val="dk1"/>
                </a:solidFill>
                <a:latin typeface="Arial"/>
                <a:ea typeface="Arial"/>
                <a:cs typeface="Arial"/>
                <a:sym typeface="Arial"/>
              </a:rPr>
              <a:t>is  EQ</a:t>
            </a:r>
            <a:endParaRPr/>
          </a:p>
          <a:p>
            <a:pPr indent="0" lvl="0" marL="0" marR="0" rtl="0" algn="l">
              <a:lnSpc>
                <a:spcPct val="100000"/>
              </a:lnSpc>
              <a:spcBef>
                <a:spcPts val="36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Arial"/>
              <a:buNone/>
            </a:pPr>
            <a:r>
              <a:rPr lang="pt-BR" sz="1200">
                <a:solidFill>
                  <a:schemeClr val="dk1"/>
                </a:solidFill>
                <a:latin typeface="Arial"/>
                <a:ea typeface="Arial"/>
                <a:cs typeface="Arial"/>
                <a:sym typeface="Arial"/>
              </a:rPr>
              <a:t>Note that the gradient with respect to a single weight </a:t>
            </a:r>
            <a:r>
              <a:rPr i="1" lang="pt-BR" sz="1200">
                <a:solidFill>
                  <a:schemeClr val="dk1"/>
                </a:solidFill>
                <a:latin typeface="Arial"/>
                <a:ea typeface="Arial"/>
                <a:cs typeface="Arial"/>
                <a:sym typeface="Arial"/>
              </a:rPr>
              <a:t>w j </a:t>
            </a:r>
            <a:r>
              <a:rPr lang="pt-BR" sz="1200">
                <a:solidFill>
                  <a:schemeClr val="dk1"/>
                </a:solidFill>
                <a:latin typeface="Arial"/>
                <a:ea typeface="Arial"/>
                <a:cs typeface="Arial"/>
                <a:sym typeface="Arial"/>
              </a:rPr>
              <a:t>represents a very intuitive value: the difference between the true </a:t>
            </a:r>
            <a:r>
              <a:rPr i="1" lang="pt-BR" sz="1200">
                <a:solidFill>
                  <a:schemeClr val="dk1"/>
                </a:solidFill>
                <a:latin typeface="Arial"/>
                <a:ea typeface="Arial"/>
                <a:cs typeface="Arial"/>
                <a:sym typeface="Arial"/>
              </a:rPr>
              <a:t>y </a:t>
            </a:r>
            <a:r>
              <a:rPr lang="pt-BR" sz="1200">
                <a:solidFill>
                  <a:schemeClr val="dk1"/>
                </a:solidFill>
                <a:latin typeface="Arial"/>
                <a:ea typeface="Arial"/>
                <a:cs typeface="Arial"/>
                <a:sym typeface="Arial"/>
              </a:rPr>
              <a:t>and our estimated </a:t>
            </a:r>
            <a:r>
              <a:rPr i="1" lang="pt-BR" sz="1200">
                <a:solidFill>
                  <a:schemeClr val="dk1"/>
                </a:solidFill>
                <a:latin typeface="Arial"/>
                <a:ea typeface="Arial"/>
                <a:cs typeface="Arial"/>
                <a:sym typeface="Arial"/>
              </a:rPr>
              <a:t>y</a:t>
            </a:r>
            <a:r>
              <a:rPr lang="pt-BR" sz="1200">
                <a:solidFill>
                  <a:schemeClr val="dk1"/>
                </a:solidFill>
                <a:latin typeface="Arial"/>
                <a:ea typeface="Arial"/>
                <a:cs typeface="Arial"/>
                <a:sym typeface="Arial"/>
              </a:rPr>
              <a:t>ˆ = σ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x </a:t>
            </a:r>
            <a:r>
              <a:rPr lang="pt-BR" sz="1200">
                <a:solidFill>
                  <a:schemeClr val="dk1"/>
                </a:solidFill>
                <a:latin typeface="Arial"/>
                <a:ea typeface="Arial"/>
                <a:cs typeface="Arial"/>
                <a:sym typeface="Arial"/>
              </a:rPr>
              <a:t>+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for that observation, multiplied by the corresponding input value </a:t>
            </a:r>
            <a:r>
              <a:rPr i="1" lang="pt-BR" sz="1200">
                <a:solidFill>
                  <a:schemeClr val="dk1"/>
                </a:solidFill>
                <a:latin typeface="Arial"/>
                <a:ea typeface="Arial"/>
                <a:cs typeface="Arial"/>
                <a:sym typeface="Arial"/>
              </a:rPr>
              <a:t>x j </a:t>
            </a:r>
            <a:r>
              <a:rPr lang="pt-BR" sz="1200">
                <a:solidFill>
                  <a:schemeClr val="dk1"/>
                </a:solidFill>
                <a:latin typeface="Arial"/>
                <a:ea typeface="Arial"/>
                <a:cs typeface="Arial"/>
                <a:sym typeface="Arial"/>
              </a:rPr>
              <a:t>.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981" name="Google Shape;1981;h2237bd4fd160ea92_0_101: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h41fd6f99bf9c8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0" name="Google Shape;1990;h41fd6f99bf9c8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p(y|x) &amp;=\hat{y}^y(1-\hat{y})^{1-y}</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L_{CE}(\hat{y},y) &amp;= -\ln{p(y|x)}</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-\ln\hat{y}^y(1-\hat{y})^{1-y}</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 \left[ y \ln\hat{y} + (1 - y) \ln(1 - \hat{y}) \right]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\frac{\partial L_{CE}(\hat{y},y)}{\partial w_j} &amp;=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\_\_\_\_\_\_\_\_\_\_&amp;\_\_\_\_\_\_\_\_\_\_\_\_\_\_\_\_\_\_</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\hat{y} &amp;= \sigma(w \cdot x + b)</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L_{CE}(\hat{y},y) &amp;= - \left[ y \ln \sigma(w \cdot x + b) + (1 - y) \ln(1 - \sigma(w \cdot x + b)) \right]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\frac{\partial L_{CE}(\hat{y},y)}{\partial w_j} &amp;= (\sigma(w \cdot x + b) - y) x_j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4" name="Shape 1994"/>
        <p:cNvGrpSpPr/>
        <p:nvPr/>
      </p:nvGrpSpPr>
      <p:grpSpPr>
        <a:xfrm>
          <a:off x="0" y="0"/>
          <a:ext cx="0" cy="0"/>
          <a:chOff x="0" y="0"/>
          <a:chExt cx="0" cy="0"/>
        </a:xfrm>
      </p:grpSpPr>
      <p:sp>
        <p:nvSpPr>
          <p:cNvPr id="1995" name="Google Shape;1995;h2237bd4fd160ea92_0_111: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996" name="Google Shape;1996;h2237bd4fd160ea92_0_111: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pt-BR" sz="1200">
                <a:solidFill>
                  <a:schemeClr val="dk1"/>
                </a:solidFill>
                <a:latin typeface="Arial"/>
                <a:ea typeface="Arial"/>
                <a:cs typeface="Arial"/>
                <a:sym typeface="Arial"/>
              </a:rPr>
              <a:t>Stochastic gradient descent is an online algorithm that minimizes the loss function by computing its gradient after each training example, and nudging θ in the right direction (the opposite direction of the gradient). The algorithm can terminate when it converges (or when the gradient norm &lt; ε), or when progress halts (for example when the loss starts going up on a held-out set). </a:t>
            </a:r>
            <a:endParaRPr/>
          </a:p>
          <a:p>
            <a:pPr indent="0" lvl="0" marL="0" marR="0" rtl="0" algn="l">
              <a:lnSpc>
                <a:spcPct val="100000"/>
              </a:lnSpc>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p:txBody>
      </p:sp>
      <p:sp>
        <p:nvSpPr>
          <p:cNvPr id="1997" name="Google Shape;1997;h2237bd4fd160ea92_0_111: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h2237bd4fd160ea92_0_119:notes"/>
          <p:cNvSpPr/>
          <p:nvPr>
            <p:ph idx="2" type="sldImg"/>
          </p:nvPr>
        </p:nvSpPr>
        <p:spPr>
          <a:xfrm>
            <a:off x="291052" y="685917"/>
            <a:ext cx="6276000" cy="342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002" name="Google Shape;2002;h2237bd4fd160ea92_0_119:notes"/>
          <p:cNvSpPr txBox="1"/>
          <p:nvPr>
            <p:ph idx="1" type="body"/>
          </p:nvPr>
        </p:nvSpPr>
        <p:spPr>
          <a:xfrm>
            <a:off x="914507" y="4344140"/>
            <a:ext cx="5028900" cy="4113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a:solidFill>
                  <a:schemeClr val="dk1"/>
                </a:solidFill>
                <a:latin typeface="Arial"/>
                <a:ea typeface="Arial"/>
                <a:cs typeface="Arial"/>
                <a:sym typeface="Arial"/>
              </a:rPr>
              <a:t>The learning rate η is a </a:t>
            </a:r>
            <a:r>
              <a:rPr b="0" lang="pt-BR" sz="1200">
                <a:solidFill>
                  <a:schemeClr val="dk1"/>
                </a:solidFill>
                <a:latin typeface="Arial"/>
                <a:ea typeface="Arial"/>
                <a:cs typeface="Arial"/>
                <a:sym typeface="Arial"/>
              </a:rPr>
              <a:t>hyperparameter </a:t>
            </a:r>
            <a:r>
              <a:rPr lang="pt-BR" sz="1200">
                <a:solidFill>
                  <a:schemeClr val="dk1"/>
                </a:solidFill>
                <a:latin typeface="Arial"/>
                <a:ea typeface="Arial"/>
                <a:cs typeface="Arial"/>
                <a:sym typeface="Arial"/>
              </a:rPr>
              <a:t>that must be adjusted. If it’s too high, the learner will take steps that are too large, overshooting the minimum of the loss function. If it’s too low, the learner will take steps that are too small, and take too long to get to the minimum. It is common to start with a higher learning rate and then slowly decrease it. Hyperparameters are a special kind of parameter for any machine learning model. Unlike regular parameters of a model (weights like </a:t>
            </a:r>
            <a:r>
              <a:rPr i="1" lang="pt-BR" sz="1200">
                <a:solidFill>
                  <a:schemeClr val="dk1"/>
                </a:solidFill>
                <a:latin typeface="Arial"/>
                <a:ea typeface="Arial"/>
                <a:cs typeface="Arial"/>
                <a:sym typeface="Arial"/>
              </a:rPr>
              <a:t>w </a:t>
            </a:r>
            <a:r>
              <a:rPr lang="pt-BR" sz="1200">
                <a:solidFill>
                  <a:schemeClr val="dk1"/>
                </a:solidFill>
                <a:latin typeface="Arial"/>
                <a:ea typeface="Arial"/>
                <a:cs typeface="Arial"/>
                <a:sym typeface="Arial"/>
              </a:rPr>
              <a:t>and </a:t>
            </a:r>
            <a:r>
              <a:rPr i="1" lang="pt-BR" sz="1200">
                <a:solidFill>
                  <a:schemeClr val="dk1"/>
                </a:solidFill>
                <a:latin typeface="Arial"/>
                <a:ea typeface="Arial"/>
                <a:cs typeface="Arial"/>
                <a:sym typeface="Arial"/>
              </a:rPr>
              <a:t>b</a:t>
            </a:r>
            <a:r>
              <a:rPr lang="pt-BR" sz="1200">
                <a:solidFill>
                  <a:schemeClr val="dk1"/>
                </a:solidFill>
                <a:latin typeface="Arial"/>
                <a:ea typeface="Arial"/>
                <a:cs typeface="Arial"/>
                <a:sym typeface="Arial"/>
              </a:rPr>
              <a:t>), which are learned by the algorithm from the training set, hyperparameters are special parameters chosen by the algorithm designer that affect how the algorithm works. </a:t>
            </a:r>
            <a:endParaRPr/>
          </a:p>
          <a:p>
            <a:pPr indent="0" lvl="0" marL="0" rtl="0" algn="l">
              <a:spcBef>
                <a:spcPts val="360"/>
              </a:spcBef>
              <a:spcAft>
                <a:spcPts val="0"/>
              </a:spcAft>
              <a:buNone/>
            </a:pPr>
            <a:r>
              <a:t/>
            </a:r>
            <a:endParaRPr/>
          </a:p>
        </p:txBody>
      </p:sp>
      <p:sp>
        <p:nvSpPr>
          <p:cNvPr id="2003" name="Google Shape;2003;h2237bd4fd160ea92_0_119:notes"/>
          <p:cNvSpPr txBox="1"/>
          <p:nvPr>
            <p:ph idx="12" type="sldNum"/>
          </p:nvPr>
        </p:nvSpPr>
        <p:spPr>
          <a:xfrm>
            <a:off x="3885458" y="8686735"/>
            <a:ext cx="29724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h548695578f27d86f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9" name="Google Shape;2009;h548695578f27d86f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h548695578f27d86f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h548695578f27d86f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p(y|x) = \hat{y}^y(1-\hat{y})^{1-y}</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h548695578f27d86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0" name="Google Shape;2030;h548695578f27d86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L_{CE}(\hat{y},y) = -\ln{p(y|x)}</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\begin{align*}</a:t>
            </a:r>
            <a:endParaRPr/>
          </a:p>
          <a:p>
            <a:pPr indent="0" lvl="0" marL="0" rtl="0" algn="l">
              <a:spcBef>
                <a:spcPts val="0"/>
              </a:spcBef>
              <a:spcAft>
                <a:spcPts val="0"/>
              </a:spcAft>
              <a:buNone/>
            </a:pPr>
            <a:r>
              <a:rPr lang="pt-BR"/>
              <a:t>L_{CE}(\hat{y},y) &amp;= -\ln{p(y|x)}</a:t>
            </a:r>
            <a:endParaRPr/>
          </a:p>
          <a:p>
            <a:pPr indent="0" lvl="0" marL="0" rtl="0" algn="l">
              <a:spcBef>
                <a:spcPts val="0"/>
              </a:spcBef>
              <a:spcAft>
                <a:spcPts val="0"/>
              </a:spcAft>
              <a:buNone/>
            </a:pPr>
            <a:r>
              <a:rPr lang="pt-BR"/>
              <a:t>\\</a:t>
            </a:r>
            <a:endParaRPr/>
          </a:p>
          <a:p>
            <a:pPr indent="0" lvl="0" marL="0" rtl="0" algn="l">
              <a:spcBef>
                <a:spcPts val="0"/>
              </a:spcBef>
              <a:spcAft>
                <a:spcPts val="0"/>
              </a:spcAft>
              <a:buNone/>
            </a:pPr>
            <a:r>
              <a:rPr lang="pt-BR"/>
              <a:t>&amp;= -\ln\hat{y}^y(1-\hat{y})^{1-y}</a:t>
            </a:r>
            <a:endParaRPr/>
          </a:p>
          <a:p>
            <a:pPr indent="0" lvl="0" marL="0" rtl="0" algn="l">
              <a:spcBef>
                <a:spcPts val="0"/>
              </a:spcBef>
              <a:spcAft>
                <a:spcPts val="0"/>
              </a:spcAft>
              <a:buNone/>
            </a:pPr>
            <a:r>
              <a:rPr lang="pt-BR"/>
              <a:t>\\</a:t>
            </a:r>
            <a:endParaRPr/>
          </a:p>
          <a:p>
            <a:pPr indent="0" lvl="0" marL="0" rtl="0" algn="l">
              <a:spcBef>
                <a:spcPts val="0"/>
              </a:spcBef>
              <a:spcAft>
                <a:spcPts val="0"/>
              </a:spcAft>
              <a:buNone/>
            </a:pPr>
            <a:r>
              <a:rPr lang="pt-BR"/>
              <a:t>&amp;= - \left[ y \ln\hat{y} + (1 - y) \ln(1 - \hat{y}) \right]</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h548695578f27d86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8" name="Google Shape;2038;h548695578f27d86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\frac{\partial L_{CE}(\hat{y},y)}{\partial w_j} = (\hat{y} - y) x_j</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h7be4e124204b1a2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5" name="Google Shape;2045;h7be4e124204b1a2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\Delta w_j =  -\eta (\hat{y} - y) x_j</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\Delta w_j &amp;= -\eta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-\eta (\hat{y} - y) x_j</a:t>
            </a:r>
            <a:endParaRPr/>
          </a:p>
          <a:p>
            <a:pPr indent="0" lvl="0" marL="0" rtl="0" algn="l">
              <a:spcBef>
                <a:spcPts val="0"/>
              </a:spcBef>
              <a:spcAft>
                <a:spcPts val="0"/>
              </a:spcAft>
              <a:buNone/>
            </a:pPr>
            <a:r>
              <a:rPr lang="pt-BR"/>
              <a:t>\end{align*}</a:t>
            </a:r>
            <a:endParaRPr/>
          </a:p>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h7be4e124204b1a2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3" name="Google Shape;2053;h7be4e124204b1a2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\Delta w_j = -\eta (\hat{y} - y) x_j</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w^{t+1} = w^t + \Delta w_j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w^{t+1} &amp;= w^t + \Delta w_j  </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 - \eta (\hat{y} - y) x_j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h41fd6f99bf9c8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1" name="Google Shape;2061;h41fd6f99bf9c8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p(y|x) &amp;=\hat{y}^y(1-\hat{y})^{1-y}</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L_{CE}(\hat{y},y) &amp;= -\ln{p(y|x)}</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\frac{\partial L_{CE}(\hat{y},y)}{\partial w_j} &amp;=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\Delta w_j &amp;=  -\eta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w^{t+1} &amp;= w^t + \Delta w_j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h41fd6f99bf9c8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7" name="Google Shape;2067;h41fd6f99bf9c8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\hat{y} &amp;= \sigma(w \cdot x + b)</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L_{CE}(\hat{y},y) &amp;= - \left[ y \ln \sigma(w \cdot x + b) + (1 - y) \ln(1 - \sigma(w \cdot x + b)) \right]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\frac{\partial L_{CE}(\hat{y},y)}{\partial w_j} &amp;= (\sigma(w \cdot x + b)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\Delta w_j &amp;= - \eta (\sigma(w \cdot x + b)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w^{t+1} &amp;= w^t - \eta (\sigma(w \cdot x + b) - y) x_j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h548695578f27d86f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4" name="Google Shape;2074;h548695578f27d86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p(y|x) &amp;=\hat{y}^y(1-\hat{y})^{1-y}</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L_{CE}(\hat{y},y) &amp;= -\ln{p(y|x)}</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-\ln\hat{y}^y(1-\hat{y})^{1-y}</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 \left[ y \ln\hat{y} + (1 - y) \ln(1 - \hat{y}) \right]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\frac{\partial L_{CE}(\hat{y},y)}{\partial w_j} &amp;=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\Delta w_j &amp;= -\eta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-\eta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w^{t+1} &amp;= w^t + \Delta w_j  </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 - \eta (\hat{y} - y) x_j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0" name="Google Shape;208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g3fbc1dcd94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6" name="Google Shape;2086;g3fbc1dcd94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g3fbc1dcd94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3" name="Google Shape;2093;g3fbc1dcd94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h10357b960f8fc55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0" name="Google Shape;2100;h10357b960f8fc55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3fbb7e4475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7" name="Google Shape;2107;g3fbb7e4475e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g3fbb7e4475e_1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3" name="Google Shape;2113;g3fbb7e4475e_1_6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3fbb7e4475e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9" name="Google Shape;2119;g3fbb7e4475e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3fbb7e4475e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5" name="Google Shape;2125;g3fbb7e4475e_2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3fbb7e4475e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1" name="Google Shape;2131;g3fbb7e4475e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g3fbb7e4475e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7" name="Google Shape;2137;g3fbb7e4475e_2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g3fbb7e4475e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3" name="Google Shape;2143;g3fbb7e4475e_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3fbb7e4475e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9" name="Google Shape;2149;g3fbb7e4475e_2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3" name="Shape 2153"/>
        <p:cNvGrpSpPr/>
        <p:nvPr/>
      </p:nvGrpSpPr>
      <p:grpSpPr>
        <a:xfrm>
          <a:off x="0" y="0"/>
          <a:ext cx="0" cy="0"/>
          <a:chOff x="0" y="0"/>
          <a:chExt cx="0" cy="0"/>
        </a:xfrm>
      </p:grpSpPr>
      <p:sp>
        <p:nvSpPr>
          <p:cNvPr id="2154" name="Google Shape;2154;g3fbb7e4475e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5" name="Google Shape;2155;g3fbb7e4475e_2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g3fbb7e4475e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1" name="Google Shape;2161;g3fbb7e4475e_2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g3f6939d4d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7" name="Google Shape;2167;g3f6939d4d9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6F6476"/>
        </a:solidFill>
      </p:bgPr>
    </p:bg>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B7B7B7"/>
              </a:buClr>
              <a:buSzPts val="2000"/>
              <a:buNone/>
              <a:defRPr sz="2000">
                <a:solidFill>
                  <a:srgbClr val="B7B7B7"/>
                </a:solidFill>
              </a:defRPr>
            </a:lvl1pPr>
            <a:lvl2pPr lvl="1" algn="ctr">
              <a:lnSpc>
                <a:spcPct val="100000"/>
              </a:lnSpc>
              <a:spcBef>
                <a:spcPts val="0"/>
              </a:spcBef>
              <a:spcAft>
                <a:spcPts val="0"/>
              </a:spcAft>
              <a:buClr>
                <a:srgbClr val="B7B7B7"/>
              </a:buClr>
              <a:buSzPts val="2000"/>
              <a:buNone/>
              <a:defRPr sz="2000">
                <a:solidFill>
                  <a:srgbClr val="B7B7B7"/>
                </a:solidFill>
              </a:defRPr>
            </a:lvl2pPr>
            <a:lvl3pPr lvl="2" algn="ctr">
              <a:lnSpc>
                <a:spcPct val="100000"/>
              </a:lnSpc>
              <a:spcBef>
                <a:spcPts val="0"/>
              </a:spcBef>
              <a:spcAft>
                <a:spcPts val="0"/>
              </a:spcAft>
              <a:buClr>
                <a:srgbClr val="B7B7B7"/>
              </a:buClr>
              <a:buSzPts val="2000"/>
              <a:buNone/>
              <a:defRPr sz="2000">
                <a:solidFill>
                  <a:srgbClr val="B7B7B7"/>
                </a:solidFill>
              </a:defRPr>
            </a:lvl3pPr>
            <a:lvl4pPr lvl="3" algn="ctr">
              <a:lnSpc>
                <a:spcPct val="100000"/>
              </a:lnSpc>
              <a:spcBef>
                <a:spcPts val="0"/>
              </a:spcBef>
              <a:spcAft>
                <a:spcPts val="0"/>
              </a:spcAft>
              <a:buClr>
                <a:srgbClr val="B7B7B7"/>
              </a:buClr>
              <a:buSzPts val="2000"/>
              <a:buNone/>
              <a:defRPr sz="2000">
                <a:solidFill>
                  <a:srgbClr val="B7B7B7"/>
                </a:solidFill>
              </a:defRPr>
            </a:lvl4pPr>
            <a:lvl5pPr lvl="4" algn="ctr">
              <a:lnSpc>
                <a:spcPct val="100000"/>
              </a:lnSpc>
              <a:spcBef>
                <a:spcPts val="0"/>
              </a:spcBef>
              <a:spcAft>
                <a:spcPts val="0"/>
              </a:spcAft>
              <a:buClr>
                <a:srgbClr val="B7B7B7"/>
              </a:buClr>
              <a:buSzPts val="2000"/>
              <a:buNone/>
              <a:defRPr sz="2000">
                <a:solidFill>
                  <a:srgbClr val="B7B7B7"/>
                </a:solidFill>
              </a:defRPr>
            </a:lvl5pPr>
            <a:lvl6pPr lvl="5" algn="ctr">
              <a:lnSpc>
                <a:spcPct val="100000"/>
              </a:lnSpc>
              <a:spcBef>
                <a:spcPts val="0"/>
              </a:spcBef>
              <a:spcAft>
                <a:spcPts val="0"/>
              </a:spcAft>
              <a:buClr>
                <a:srgbClr val="B7B7B7"/>
              </a:buClr>
              <a:buSzPts val="2000"/>
              <a:buNone/>
              <a:defRPr sz="2000">
                <a:solidFill>
                  <a:srgbClr val="B7B7B7"/>
                </a:solidFill>
              </a:defRPr>
            </a:lvl6pPr>
            <a:lvl7pPr lvl="6" algn="ctr">
              <a:lnSpc>
                <a:spcPct val="100000"/>
              </a:lnSpc>
              <a:spcBef>
                <a:spcPts val="0"/>
              </a:spcBef>
              <a:spcAft>
                <a:spcPts val="0"/>
              </a:spcAft>
              <a:buClr>
                <a:srgbClr val="B7B7B7"/>
              </a:buClr>
              <a:buSzPts val="2000"/>
              <a:buNone/>
              <a:defRPr sz="2000">
                <a:solidFill>
                  <a:srgbClr val="B7B7B7"/>
                </a:solidFill>
              </a:defRPr>
            </a:lvl7pPr>
            <a:lvl8pPr lvl="7" algn="ctr">
              <a:lnSpc>
                <a:spcPct val="100000"/>
              </a:lnSpc>
              <a:spcBef>
                <a:spcPts val="0"/>
              </a:spcBef>
              <a:spcAft>
                <a:spcPts val="0"/>
              </a:spcAft>
              <a:buClr>
                <a:srgbClr val="B7B7B7"/>
              </a:buClr>
              <a:buSzPts val="2000"/>
              <a:buNone/>
              <a:defRPr sz="2000">
                <a:solidFill>
                  <a:srgbClr val="B7B7B7"/>
                </a:solidFill>
              </a:defRPr>
            </a:lvl8pPr>
            <a:lvl9pPr lvl="8" algn="ctr">
              <a:lnSpc>
                <a:spcPct val="100000"/>
              </a:lnSpc>
              <a:spcBef>
                <a:spcPts val="0"/>
              </a:spcBef>
              <a:spcAft>
                <a:spcPts val="0"/>
              </a:spcAft>
              <a:buClr>
                <a:srgbClr val="B7B7B7"/>
              </a:buClr>
              <a:buSzPts val="2000"/>
              <a:buNone/>
              <a:defRPr sz="2000">
                <a:solidFill>
                  <a:srgbClr val="B7B7B7"/>
                </a:solidFill>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algn="l">
              <a:lnSpc>
                <a:spcPct val="115000"/>
              </a:lnSpc>
              <a:spcBef>
                <a:spcPts val="0"/>
              </a:spcBef>
              <a:spcAft>
                <a:spcPts val="0"/>
              </a:spcAft>
              <a:buSzPts val="3000"/>
              <a:buChar char="●"/>
              <a:defRPr/>
            </a:lvl1pPr>
            <a:lvl2pPr indent="-381000" lvl="1" marL="914400" algn="l">
              <a:lnSpc>
                <a:spcPct val="115000"/>
              </a:lnSpc>
              <a:spcBef>
                <a:spcPts val="1600"/>
              </a:spcBef>
              <a:spcAft>
                <a:spcPts val="0"/>
              </a:spcAft>
              <a:buSzPts val="2400"/>
              <a:buChar char="○"/>
              <a:defRPr/>
            </a:lvl2pPr>
            <a:lvl3pPr indent="-342900" lvl="2" marL="1371600" algn="l">
              <a:lnSpc>
                <a:spcPct val="115000"/>
              </a:lnSpc>
              <a:spcBef>
                <a:spcPts val="1600"/>
              </a:spcBef>
              <a:spcAft>
                <a:spcPts val="0"/>
              </a:spcAft>
              <a:buSzPts val="18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 name="Shape 20"/>
        <p:cNvGrpSpPr/>
        <p:nvPr/>
      </p:nvGrpSpPr>
      <p:grpSpPr>
        <a:xfrm>
          <a:off x="0" y="0"/>
          <a:ext cx="0" cy="0"/>
          <a:chOff x="0" y="0"/>
          <a:chExt cx="0" cy="0"/>
        </a:xfrm>
      </p:grpSpPr>
      <p:sp>
        <p:nvSpPr>
          <p:cNvPr id="21" name="Google Shape;21;p12"/>
          <p:cNvSpPr/>
          <p:nvPr/>
        </p:nvSpPr>
        <p:spPr>
          <a:xfrm>
            <a:off x="0" y="-125"/>
            <a:ext cx="4572000" cy="5143500"/>
          </a:xfrm>
          <a:prstGeom prst="rect">
            <a:avLst/>
          </a:prstGeom>
          <a:solidFill>
            <a:srgbClr val="6F64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B2E2C"/>
              </a:solidFill>
              <a:latin typeface="Arial"/>
              <a:ea typeface="Arial"/>
              <a:cs typeface="Arial"/>
              <a:sym typeface="Arial"/>
            </a:endParaRPr>
          </a:p>
        </p:txBody>
      </p:sp>
      <p:sp>
        <p:nvSpPr>
          <p:cNvPr id="22" name="Google Shape;22;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3000"/>
              <a:buNone/>
              <a:defRPr sz="30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23" name="Google Shape;23;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D9D9D9"/>
              </a:buClr>
              <a:buSzPts val="1400"/>
              <a:buNone/>
              <a:defRPr sz="1400">
                <a:solidFill>
                  <a:srgbClr val="D9D9D9"/>
                </a:solidFill>
              </a:defRPr>
            </a:lvl1pPr>
            <a:lvl2pPr lvl="1" algn="ctr">
              <a:lnSpc>
                <a:spcPct val="100000"/>
              </a:lnSpc>
              <a:spcBef>
                <a:spcPts val="0"/>
              </a:spcBef>
              <a:spcAft>
                <a:spcPts val="0"/>
              </a:spcAft>
              <a:buClr>
                <a:srgbClr val="D9D9D9"/>
              </a:buClr>
              <a:buSzPts val="2400"/>
              <a:buNone/>
              <a:defRPr>
                <a:solidFill>
                  <a:srgbClr val="D9D9D9"/>
                </a:solidFill>
              </a:defRPr>
            </a:lvl2pPr>
            <a:lvl3pPr lvl="2" algn="ctr">
              <a:lnSpc>
                <a:spcPct val="100000"/>
              </a:lnSpc>
              <a:spcBef>
                <a:spcPts val="0"/>
              </a:spcBef>
              <a:spcAft>
                <a:spcPts val="0"/>
              </a:spcAft>
              <a:buClr>
                <a:srgbClr val="D9D9D9"/>
              </a:buClr>
              <a:buSzPts val="1800"/>
              <a:buNone/>
              <a:defRPr>
                <a:solidFill>
                  <a:srgbClr val="D9D9D9"/>
                </a:solidFill>
              </a:defRPr>
            </a:lvl3pPr>
            <a:lvl4pPr lvl="3" algn="ctr">
              <a:lnSpc>
                <a:spcPct val="100000"/>
              </a:lnSpc>
              <a:spcBef>
                <a:spcPts val="0"/>
              </a:spcBef>
              <a:spcAft>
                <a:spcPts val="0"/>
              </a:spcAft>
              <a:buClr>
                <a:srgbClr val="D9D9D9"/>
              </a:buClr>
              <a:buSzPts val="1400"/>
              <a:buNone/>
              <a:defRPr>
                <a:solidFill>
                  <a:srgbClr val="D9D9D9"/>
                </a:solidFill>
              </a:defRPr>
            </a:lvl4pPr>
            <a:lvl5pPr lvl="4" algn="ctr">
              <a:lnSpc>
                <a:spcPct val="100000"/>
              </a:lnSpc>
              <a:spcBef>
                <a:spcPts val="0"/>
              </a:spcBef>
              <a:spcAft>
                <a:spcPts val="0"/>
              </a:spcAft>
              <a:buClr>
                <a:srgbClr val="D9D9D9"/>
              </a:buClr>
              <a:buSzPts val="1400"/>
              <a:buNone/>
              <a:defRPr>
                <a:solidFill>
                  <a:srgbClr val="D9D9D9"/>
                </a:solidFill>
              </a:defRPr>
            </a:lvl5pPr>
            <a:lvl6pPr lvl="5" algn="ctr">
              <a:lnSpc>
                <a:spcPct val="100000"/>
              </a:lnSpc>
              <a:spcBef>
                <a:spcPts val="0"/>
              </a:spcBef>
              <a:spcAft>
                <a:spcPts val="0"/>
              </a:spcAft>
              <a:buClr>
                <a:srgbClr val="D9D9D9"/>
              </a:buClr>
              <a:buSzPts val="1400"/>
              <a:buNone/>
              <a:defRPr>
                <a:solidFill>
                  <a:srgbClr val="D9D9D9"/>
                </a:solidFill>
              </a:defRPr>
            </a:lvl6pPr>
            <a:lvl7pPr lvl="6" algn="ctr">
              <a:lnSpc>
                <a:spcPct val="100000"/>
              </a:lnSpc>
              <a:spcBef>
                <a:spcPts val="0"/>
              </a:spcBef>
              <a:spcAft>
                <a:spcPts val="0"/>
              </a:spcAft>
              <a:buClr>
                <a:srgbClr val="D9D9D9"/>
              </a:buClr>
              <a:buSzPts val="1400"/>
              <a:buNone/>
              <a:defRPr>
                <a:solidFill>
                  <a:srgbClr val="D9D9D9"/>
                </a:solidFill>
              </a:defRPr>
            </a:lvl7pPr>
            <a:lvl8pPr lvl="7" algn="ctr">
              <a:lnSpc>
                <a:spcPct val="100000"/>
              </a:lnSpc>
              <a:spcBef>
                <a:spcPts val="0"/>
              </a:spcBef>
              <a:spcAft>
                <a:spcPts val="0"/>
              </a:spcAft>
              <a:buClr>
                <a:srgbClr val="D9D9D9"/>
              </a:buClr>
              <a:buSzPts val="1400"/>
              <a:buNone/>
              <a:defRPr>
                <a:solidFill>
                  <a:srgbClr val="D9D9D9"/>
                </a:solidFill>
              </a:defRPr>
            </a:lvl8pPr>
            <a:lvl9pPr lvl="8" algn="ctr">
              <a:lnSpc>
                <a:spcPct val="100000"/>
              </a:lnSpc>
              <a:spcBef>
                <a:spcPts val="0"/>
              </a:spcBef>
              <a:spcAft>
                <a:spcPts val="0"/>
              </a:spcAft>
              <a:buClr>
                <a:srgbClr val="D9D9D9"/>
              </a:buClr>
              <a:buSzPts val="1400"/>
              <a:buNone/>
              <a:defRPr>
                <a:solidFill>
                  <a:srgbClr val="D9D9D9"/>
                </a:solidFill>
              </a:defRPr>
            </a:lvl9pPr>
          </a:lstStyle>
          <a:p/>
        </p:txBody>
      </p:sp>
      <p:sp>
        <p:nvSpPr>
          <p:cNvPr id="24" name="Google Shape;24;p1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419100" lvl="0" marL="457200" algn="l">
              <a:lnSpc>
                <a:spcPct val="115000"/>
              </a:lnSpc>
              <a:spcBef>
                <a:spcPts val="0"/>
              </a:spcBef>
              <a:spcAft>
                <a:spcPts val="0"/>
              </a:spcAft>
              <a:buClr>
                <a:schemeClr val="dk1"/>
              </a:buClr>
              <a:buSzPts val="3000"/>
              <a:buChar char="●"/>
              <a:defRPr>
                <a:solidFill>
                  <a:schemeClr val="dk1"/>
                </a:solidFill>
              </a:defRPr>
            </a:lvl1pPr>
            <a:lvl2pPr indent="-381000" lvl="1" marL="914400" algn="l">
              <a:lnSpc>
                <a:spcPct val="115000"/>
              </a:lnSpc>
              <a:spcBef>
                <a:spcPts val="1600"/>
              </a:spcBef>
              <a:spcAft>
                <a:spcPts val="0"/>
              </a:spcAft>
              <a:buClr>
                <a:schemeClr val="dk1"/>
              </a:buClr>
              <a:buSzPts val="2400"/>
              <a:buChar char="○"/>
              <a:defRPr>
                <a:solidFill>
                  <a:schemeClr val="dk1"/>
                </a:solidFill>
              </a:defRPr>
            </a:lvl2pPr>
            <a:lvl3pPr indent="-342900" lvl="2" marL="1371600" algn="l">
              <a:lnSpc>
                <a:spcPct val="115000"/>
              </a:lnSpc>
              <a:spcBef>
                <a:spcPts val="1600"/>
              </a:spcBef>
              <a:spcAft>
                <a:spcPts val="0"/>
              </a:spcAft>
              <a:buClr>
                <a:schemeClr val="dk1"/>
              </a:buClr>
              <a:buSzPts val="1800"/>
              <a:buChar char="■"/>
              <a:defRPr>
                <a:solidFill>
                  <a:schemeClr val="dk1"/>
                </a:solidFill>
              </a:defRPr>
            </a:lvl3pPr>
            <a:lvl4pPr indent="-317500" lvl="3" marL="1828800" algn="l">
              <a:lnSpc>
                <a:spcPct val="115000"/>
              </a:lnSpc>
              <a:spcBef>
                <a:spcPts val="1600"/>
              </a:spcBef>
              <a:spcAft>
                <a:spcPts val="0"/>
              </a:spcAft>
              <a:buClr>
                <a:schemeClr val="dk1"/>
              </a:buClr>
              <a:buSzPts val="1400"/>
              <a:buChar char="●"/>
              <a:defRPr>
                <a:solidFill>
                  <a:schemeClr val="dk1"/>
                </a:solidFill>
              </a:defRPr>
            </a:lvl4pPr>
            <a:lvl5pPr indent="-317500" lvl="4" marL="2286000" algn="l">
              <a:lnSpc>
                <a:spcPct val="115000"/>
              </a:lnSpc>
              <a:spcBef>
                <a:spcPts val="1600"/>
              </a:spcBef>
              <a:spcAft>
                <a:spcPts val="0"/>
              </a:spcAft>
              <a:buClr>
                <a:schemeClr val="dk1"/>
              </a:buClr>
              <a:buSzPts val="1400"/>
              <a:buChar char="○"/>
              <a:defRPr>
                <a:solidFill>
                  <a:schemeClr val="dk1"/>
                </a:solidFill>
              </a:defRPr>
            </a:lvl5pPr>
            <a:lvl6pPr indent="-317500" lvl="5" marL="2743200" algn="l">
              <a:lnSpc>
                <a:spcPct val="115000"/>
              </a:lnSpc>
              <a:spcBef>
                <a:spcPts val="1600"/>
              </a:spcBef>
              <a:spcAft>
                <a:spcPts val="0"/>
              </a:spcAft>
              <a:buClr>
                <a:schemeClr val="dk1"/>
              </a:buClr>
              <a:buSzPts val="1400"/>
              <a:buChar char="■"/>
              <a:defRPr>
                <a:solidFill>
                  <a:schemeClr val="dk1"/>
                </a:solidFill>
              </a:defRPr>
            </a:lvl6pPr>
            <a:lvl7pPr indent="-317500" lvl="6" marL="3200400" algn="l">
              <a:lnSpc>
                <a:spcPct val="115000"/>
              </a:lnSpc>
              <a:spcBef>
                <a:spcPts val="1600"/>
              </a:spcBef>
              <a:spcAft>
                <a:spcPts val="0"/>
              </a:spcAft>
              <a:buClr>
                <a:schemeClr val="dk1"/>
              </a:buClr>
              <a:buSzPts val="1400"/>
              <a:buChar char="●"/>
              <a:defRPr>
                <a:solidFill>
                  <a:schemeClr val="dk1"/>
                </a:solidFill>
              </a:defRPr>
            </a:lvl7pPr>
            <a:lvl8pPr indent="-317500" lvl="7" marL="3657600" algn="l">
              <a:lnSpc>
                <a:spcPct val="115000"/>
              </a:lnSpc>
              <a:spcBef>
                <a:spcPts val="1600"/>
              </a:spcBef>
              <a:spcAft>
                <a:spcPts val="0"/>
              </a:spcAft>
              <a:buClr>
                <a:schemeClr val="dk1"/>
              </a:buClr>
              <a:buSzPts val="1400"/>
              <a:buChar char="○"/>
              <a:defRPr>
                <a:solidFill>
                  <a:schemeClr val="dk1"/>
                </a:solidFill>
              </a:defRPr>
            </a:lvl8pPr>
            <a:lvl9pPr indent="-317500" lvl="8" marL="4114800" algn="l">
              <a:lnSpc>
                <a:spcPct val="115000"/>
              </a:lnSpc>
              <a:spcBef>
                <a:spcPts val="1600"/>
              </a:spcBef>
              <a:spcAft>
                <a:spcPts val="1600"/>
              </a:spcAft>
              <a:buClr>
                <a:schemeClr val="dk1"/>
              </a:buClr>
              <a:buSzPts val="1400"/>
              <a:buChar char="■"/>
              <a:defRPr>
                <a:solidFill>
                  <a:schemeClr val="dk1"/>
                </a:solidFill>
              </a:defRPr>
            </a:lvl9pPr>
          </a:lstStyle>
          <a:p/>
        </p:txBody>
      </p:sp>
      <p:sp>
        <p:nvSpPr>
          <p:cNvPr id="25" name="Google Shape;2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1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1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30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419100" lvl="0" marL="457200" algn="ctr">
              <a:lnSpc>
                <a:spcPct val="115000"/>
              </a:lnSpc>
              <a:spcBef>
                <a:spcPts val="0"/>
              </a:spcBef>
              <a:spcAft>
                <a:spcPts val="0"/>
              </a:spcAft>
              <a:buSzPts val="3000"/>
              <a:buChar char="●"/>
              <a:defRPr/>
            </a:lvl1pPr>
            <a:lvl2pPr indent="-381000" lvl="1" marL="914400" algn="ctr">
              <a:lnSpc>
                <a:spcPct val="115000"/>
              </a:lnSpc>
              <a:spcBef>
                <a:spcPts val="1600"/>
              </a:spcBef>
              <a:spcAft>
                <a:spcPts val="0"/>
              </a:spcAft>
              <a:buSzPts val="2400"/>
              <a:buChar char="○"/>
              <a:defRPr/>
            </a:lvl2pPr>
            <a:lvl3pPr indent="-342900" lvl="2" marL="1371600" algn="ctr">
              <a:lnSpc>
                <a:spcPct val="115000"/>
              </a:lnSpc>
              <a:spcBef>
                <a:spcPts val="1600"/>
              </a:spcBef>
              <a:spcAft>
                <a:spcPts val="0"/>
              </a:spcAft>
              <a:buSzPts val="18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0" name="Shape 50"/>
        <p:cNvGrpSpPr/>
        <p:nvPr/>
      </p:nvGrpSpPr>
      <p:grpSpPr>
        <a:xfrm>
          <a:off x="0" y="0"/>
          <a:ext cx="0" cy="0"/>
          <a:chOff x="0" y="0"/>
          <a:chExt cx="0" cy="0"/>
        </a:xfrm>
      </p:grpSpPr>
      <p:sp>
        <p:nvSpPr>
          <p:cNvPr id="51" name="Google Shape;51;p20"/>
          <p:cNvSpPr txBox="1"/>
          <p:nvPr>
            <p:ph type="title"/>
          </p:nvPr>
        </p:nvSpPr>
        <p:spPr>
          <a:xfrm>
            <a:off x="457172" y="205014"/>
            <a:ext cx="8228700" cy="858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20"/>
          <p:cNvSpPr txBox="1"/>
          <p:nvPr>
            <p:ph idx="1" type="body"/>
          </p:nvPr>
        </p:nvSpPr>
        <p:spPr>
          <a:xfrm>
            <a:off x="457172" y="1203631"/>
            <a:ext cx="8228700" cy="33948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3000"/>
              <a:buNone/>
              <a:defRPr/>
            </a:lvl1pPr>
            <a:lvl2pPr indent="-228600" lvl="1" marL="914400" algn="l">
              <a:lnSpc>
                <a:spcPct val="115000"/>
              </a:lnSpc>
              <a:spcBef>
                <a:spcPts val="1600"/>
              </a:spcBef>
              <a:spcAft>
                <a:spcPts val="0"/>
              </a:spcAft>
              <a:buSzPts val="2400"/>
              <a:buNone/>
              <a:defRPr/>
            </a:lvl2pPr>
            <a:lvl3pPr indent="-228600" lvl="2" marL="1371600" algn="l">
              <a:lnSpc>
                <a:spcPct val="115000"/>
              </a:lnSpc>
              <a:spcBef>
                <a:spcPts val="1600"/>
              </a:spcBef>
              <a:spcAft>
                <a:spcPts val="0"/>
              </a:spcAft>
              <a:buSzPts val="1800"/>
              <a:buNone/>
              <a:defRPr/>
            </a:lvl3pPr>
            <a:lvl4pPr indent="-228600" lvl="3" marL="1828800" algn="l">
              <a:lnSpc>
                <a:spcPct val="115000"/>
              </a:lnSpc>
              <a:spcBef>
                <a:spcPts val="1600"/>
              </a:spcBef>
              <a:spcAft>
                <a:spcPts val="0"/>
              </a:spcAft>
              <a:buSzPts val="1400"/>
              <a:buNone/>
              <a:defRPr/>
            </a:lvl4pPr>
            <a:lvl5pPr indent="-228600" lvl="4" marL="2286000" algn="l">
              <a:lnSpc>
                <a:spcPct val="115000"/>
              </a:lnSpc>
              <a:spcBef>
                <a:spcPts val="1600"/>
              </a:spcBef>
              <a:spcAft>
                <a:spcPts val="0"/>
              </a:spcAft>
              <a:buSzPts val="1400"/>
              <a:buNone/>
              <a:defRPr/>
            </a:lvl5pPr>
            <a:lvl6pPr indent="-228600" lvl="5" marL="2743200" algn="l">
              <a:lnSpc>
                <a:spcPct val="115000"/>
              </a:lnSpc>
              <a:spcBef>
                <a:spcPts val="1600"/>
              </a:spcBef>
              <a:spcAft>
                <a:spcPts val="0"/>
              </a:spcAft>
              <a:buSzPts val="1400"/>
              <a:buNone/>
              <a:defRPr/>
            </a:lvl6pPr>
            <a:lvl7pPr indent="-228600" lvl="6" marL="3200400" algn="l">
              <a:lnSpc>
                <a:spcPct val="115000"/>
              </a:lnSpc>
              <a:spcBef>
                <a:spcPts val="1600"/>
              </a:spcBef>
              <a:spcAft>
                <a:spcPts val="0"/>
              </a:spcAft>
              <a:buSzPts val="1400"/>
              <a:buNone/>
              <a:defRPr/>
            </a:lvl7pPr>
            <a:lvl8pPr indent="-228600" lvl="7" marL="3657600" algn="l">
              <a:lnSpc>
                <a:spcPct val="115000"/>
              </a:lnSpc>
              <a:spcBef>
                <a:spcPts val="1600"/>
              </a:spcBef>
              <a:spcAft>
                <a:spcPts val="0"/>
              </a:spcAft>
              <a:buSzPts val="1400"/>
              <a:buNone/>
              <a:defRPr/>
            </a:lvl8pPr>
            <a:lvl9pPr indent="-228600" lvl="8" marL="4114800" algn="l">
              <a:lnSpc>
                <a:spcPct val="115000"/>
              </a:lnSpc>
              <a:spcBef>
                <a:spcPts val="1600"/>
              </a:spcBef>
              <a:spcAft>
                <a:spcPts val="160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3E7EA"/>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400"/>
              <a:buFont typeface="Comfortaa"/>
              <a:buNone/>
              <a:defRPr b="1" i="0" sz="3400" u="none" cap="none" strike="noStrike">
                <a:solidFill>
                  <a:schemeClr val="dk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2pPr>
            <a:lvl3pPr lvl="2"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3pPr>
            <a:lvl4pPr lvl="3"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4pPr>
            <a:lvl5pPr lvl="4"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5pPr>
            <a:lvl6pPr lvl="5"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6pPr>
            <a:lvl7pPr lvl="6"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7pPr>
            <a:lvl8pPr lvl="7"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8pPr>
            <a:lvl9pPr lvl="8"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15000"/>
              </a:lnSpc>
              <a:spcBef>
                <a:spcPts val="0"/>
              </a:spcBef>
              <a:spcAft>
                <a:spcPts val="0"/>
              </a:spcAft>
              <a:buClr>
                <a:srgbClr val="434343"/>
              </a:buClr>
              <a:buSzPts val="3000"/>
              <a:buFont typeface="Comfortaa"/>
              <a:buChar char="●"/>
              <a:defRPr b="0" i="0" sz="3000" u="none" cap="none" strike="noStrike">
                <a:solidFill>
                  <a:srgbClr val="434343"/>
                </a:solidFill>
                <a:latin typeface="Comfortaa"/>
                <a:ea typeface="Comfortaa"/>
                <a:cs typeface="Comfortaa"/>
                <a:sym typeface="Comfortaa"/>
              </a:defRPr>
            </a:lvl1pPr>
            <a:lvl2pPr indent="-381000" lvl="1" marL="914400" marR="0" rtl="0" algn="l">
              <a:lnSpc>
                <a:spcPct val="115000"/>
              </a:lnSpc>
              <a:spcBef>
                <a:spcPts val="1600"/>
              </a:spcBef>
              <a:spcAft>
                <a:spcPts val="0"/>
              </a:spcAft>
              <a:buClr>
                <a:srgbClr val="434343"/>
              </a:buClr>
              <a:buSzPts val="2400"/>
              <a:buFont typeface="Comfortaa"/>
              <a:buChar char="○"/>
              <a:defRPr b="0" i="0" sz="2400" u="none" cap="none" strike="noStrike">
                <a:solidFill>
                  <a:srgbClr val="434343"/>
                </a:solidFill>
                <a:latin typeface="Comfortaa"/>
                <a:ea typeface="Comfortaa"/>
                <a:cs typeface="Comfortaa"/>
                <a:sym typeface="Comfortaa"/>
              </a:defRPr>
            </a:lvl2pPr>
            <a:lvl3pPr indent="-342900" lvl="2" marL="1371600" marR="0" rtl="0" algn="l">
              <a:lnSpc>
                <a:spcPct val="115000"/>
              </a:lnSpc>
              <a:spcBef>
                <a:spcPts val="1600"/>
              </a:spcBef>
              <a:spcAft>
                <a:spcPts val="0"/>
              </a:spcAft>
              <a:buClr>
                <a:srgbClr val="666666"/>
              </a:buClr>
              <a:buSzPts val="1800"/>
              <a:buFont typeface="Comfortaa"/>
              <a:buChar char="■"/>
              <a:defRPr b="0" i="0" sz="1800" u="none" cap="none" strike="noStrike">
                <a:solidFill>
                  <a:srgbClr val="666666"/>
                </a:solidFill>
                <a:latin typeface="Comfortaa"/>
                <a:ea typeface="Comfortaa"/>
                <a:cs typeface="Comfortaa"/>
                <a:sym typeface="Comfortaa"/>
              </a:defRPr>
            </a:lvl3pPr>
            <a:lvl4pPr indent="-317500" lvl="3" marL="18288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4pPr>
            <a:lvl5pPr indent="-317500" lvl="4" marL="22860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5pPr>
            <a:lvl6pPr indent="-317500" lvl="5" marL="27432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6pPr>
            <a:lvl7pPr indent="-317500" lvl="6" marL="32004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7pPr>
            <a:lvl8pPr indent="-317500" lvl="7" marL="36576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8pPr>
            <a:lvl9pPr indent="-317500" lvl="8" marL="4114800" marR="0" rtl="0" algn="l">
              <a:lnSpc>
                <a:spcPct val="115000"/>
              </a:lnSpc>
              <a:spcBef>
                <a:spcPts val="1600"/>
              </a:spcBef>
              <a:spcAft>
                <a:spcPts val="160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9.png"/><Relationship Id="rId4" Type="http://schemas.openxmlformats.org/officeDocument/2006/relationships/hyperlink" Target="https://web.stanford.edu/class/cs124/" TargetMode="External"/><Relationship Id="rId5" Type="http://schemas.openxmlformats.org/officeDocument/2006/relationships/hyperlink" Target="https://web.stanford.edu/~jurafsky/slp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hyperlink" Target="https://github.com/datasci4health/home/blob/master/data/zombie/raw/zombie-anemia.csv"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3.jpg"/><Relationship Id="rId4" Type="http://schemas.openxmlformats.org/officeDocument/2006/relationships/image" Target="../media/image21.jpg"/><Relationship Id="rId5" Type="http://schemas.openxmlformats.org/officeDocument/2006/relationships/image" Target="../media/image1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11.png"/><Relationship Id="rId4"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11.png"/><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32.png"/><Relationship Id="rId7"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5.png"/><Relationship Id="rId4"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43.png"/><Relationship Id="rId4" Type="http://schemas.openxmlformats.org/officeDocument/2006/relationships/image" Target="../media/image30.png"/><Relationship Id="rId5" Type="http://schemas.openxmlformats.org/officeDocument/2006/relationships/image" Target="../media/image38.png"/><Relationship Id="rId6" Type="http://schemas.openxmlformats.org/officeDocument/2006/relationships/image" Target="../media/image3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4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 Id="rId3" Type="http://schemas.openxmlformats.org/officeDocument/2006/relationships/image" Target="../media/image4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34.png"/><Relationship Id="rId6" Type="http://schemas.openxmlformats.org/officeDocument/2006/relationships/image" Target="../media/image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40.png"/><Relationship Id="rId6"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 Id="rId3" Type="http://schemas.openxmlformats.org/officeDocument/2006/relationships/image" Target="../media/image4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5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 Id="rId3" Type="http://schemas.openxmlformats.org/officeDocument/2006/relationships/hyperlink" Target="https://github.com/santanche/nlp2learn/tree/main/machine-learning/logistic-regression" TargetMode="External"/><Relationship Id="rId4" Type="http://schemas.openxmlformats.org/officeDocument/2006/relationships/image" Target="../media/image8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 Id="rId3" Type="http://schemas.openxmlformats.org/officeDocument/2006/relationships/image" Target="../media/image8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5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 Id="rId3" Type="http://schemas.openxmlformats.org/officeDocument/2006/relationships/image" Target="../media/image13.png"/><Relationship Id="rId4" Type="http://schemas.openxmlformats.org/officeDocument/2006/relationships/image" Target="../media/image5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 Id="rId3" Type="http://schemas.openxmlformats.org/officeDocument/2006/relationships/image" Target="../media/image56.png"/><Relationship Id="rId4" Type="http://schemas.openxmlformats.org/officeDocument/2006/relationships/image" Target="../media/image4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44.png"/><Relationship Id="rId4" Type="http://schemas.openxmlformats.org/officeDocument/2006/relationships/image" Target="../media/image4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 Id="rId3" Type="http://schemas.openxmlformats.org/officeDocument/2006/relationships/image" Target="../media/image56.png"/><Relationship Id="rId4" Type="http://schemas.openxmlformats.org/officeDocument/2006/relationships/image" Target="../media/image4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 Id="rId3" Type="http://schemas.openxmlformats.org/officeDocument/2006/relationships/image" Target="../media/image57.png"/><Relationship Id="rId4" Type="http://schemas.openxmlformats.org/officeDocument/2006/relationships/image" Target="../media/image4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 Id="rId3" Type="http://schemas.openxmlformats.org/officeDocument/2006/relationships/image" Target="../media/image61.png"/><Relationship Id="rId4" Type="http://schemas.openxmlformats.org/officeDocument/2006/relationships/image" Target="../media/image4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 Id="rId3" Type="http://schemas.openxmlformats.org/officeDocument/2006/relationships/image" Target="../media/image61.png"/><Relationship Id="rId4" Type="http://schemas.openxmlformats.org/officeDocument/2006/relationships/image" Target="../media/image4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 Id="rId3" Type="http://schemas.openxmlformats.org/officeDocument/2006/relationships/image" Target="../media/image61.png"/><Relationship Id="rId4" Type="http://schemas.openxmlformats.org/officeDocument/2006/relationships/image" Target="../media/image5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 Id="rId3" Type="http://schemas.openxmlformats.org/officeDocument/2006/relationships/image" Target="../media/image54.png"/><Relationship Id="rId4" Type="http://schemas.openxmlformats.org/officeDocument/2006/relationships/image" Target="../media/image51.png"/><Relationship Id="rId5" Type="http://schemas.openxmlformats.org/officeDocument/2006/relationships/image" Target="../media/image5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 Id="rId3" Type="http://schemas.openxmlformats.org/officeDocument/2006/relationships/image" Target="../media/image61.png"/><Relationship Id="rId4" Type="http://schemas.openxmlformats.org/officeDocument/2006/relationships/image" Target="../media/image50.png"/><Relationship Id="rId5" Type="http://schemas.openxmlformats.org/officeDocument/2006/relationships/image" Target="../media/image4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 Id="rId3" Type="http://schemas.openxmlformats.org/officeDocument/2006/relationships/image" Target="../media/image61.png"/><Relationship Id="rId4" Type="http://schemas.openxmlformats.org/officeDocument/2006/relationships/image" Target="../media/image52.png"/><Relationship Id="rId5" Type="http://schemas.openxmlformats.org/officeDocument/2006/relationships/image" Target="../media/image5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5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 Id="rId3" Type="http://schemas.openxmlformats.org/officeDocument/2006/relationships/image" Target="../media/image8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 Id="rId3" Type="http://schemas.openxmlformats.org/officeDocument/2006/relationships/image" Target="../media/image5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 Id="rId3" Type="http://schemas.openxmlformats.org/officeDocument/2006/relationships/image" Target="../media/image6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 Id="rId3" Type="http://schemas.openxmlformats.org/officeDocument/2006/relationships/image" Target="../media/image60.png"/><Relationship Id="rId4" Type="http://schemas.openxmlformats.org/officeDocument/2006/relationships/image" Target="../media/image7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 Id="rId3" Type="http://schemas.openxmlformats.org/officeDocument/2006/relationships/image" Target="../media/image60.png"/><Relationship Id="rId4" Type="http://schemas.openxmlformats.org/officeDocument/2006/relationships/image" Target="../media/image72.png"/><Relationship Id="rId5" Type="http://schemas.openxmlformats.org/officeDocument/2006/relationships/image" Target="../media/image6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 Id="rId3" Type="http://schemas.openxmlformats.org/officeDocument/2006/relationships/image" Target="../media/image60.png"/><Relationship Id="rId4" Type="http://schemas.openxmlformats.org/officeDocument/2006/relationships/image" Target="../media/image72.png"/><Relationship Id="rId5" Type="http://schemas.openxmlformats.org/officeDocument/2006/relationships/image" Target="../media/image62.png"/><Relationship Id="rId6" Type="http://schemas.openxmlformats.org/officeDocument/2006/relationships/image" Target="../media/image6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 Id="rId3" Type="http://schemas.openxmlformats.org/officeDocument/2006/relationships/image" Target="../media/image60.png"/><Relationship Id="rId4" Type="http://schemas.openxmlformats.org/officeDocument/2006/relationships/image" Target="../media/image72.png"/><Relationship Id="rId5" Type="http://schemas.openxmlformats.org/officeDocument/2006/relationships/image" Target="../media/image62.png"/><Relationship Id="rId6" Type="http://schemas.openxmlformats.org/officeDocument/2006/relationships/image" Target="../media/image64.png"/><Relationship Id="rId7" Type="http://schemas.openxmlformats.org/officeDocument/2006/relationships/image" Target="../media/image6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65.png"/><Relationship Id="rId4" Type="http://schemas.openxmlformats.org/officeDocument/2006/relationships/image" Target="../media/image6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 Id="rId3" Type="http://schemas.openxmlformats.org/officeDocument/2006/relationships/image" Target="../media/image10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 Id="rId3" Type="http://schemas.openxmlformats.org/officeDocument/2006/relationships/image" Target="../media/image67.png"/><Relationship Id="rId4" Type="http://schemas.openxmlformats.org/officeDocument/2006/relationships/image" Target="../media/image8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 Id="rId3" Type="http://schemas.openxmlformats.org/officeDocument/2006/relationships/image" Target="../media/image69.png"/><Relationship Id="rId4" Type="http://schemas.openxmlformats.org/officeDocument/2006/relationships/image" Target="../media/image7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 Id="rId3" Type="http://schemas.openxmlformats.org/officeDocument/2006/relationships/image" Target="../media/image8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7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7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7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7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74.png"/><Relationship Id="rId4" Type="http://schemas.openxmlformats.org/officeDocument/2006/relationships/image" Target="../media/image77.png"/><Relationship Id="rId5" Type="http://schemas.openxmlformats.org/officeDocument/2006/relationships/image" Target="../media/image7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78.png"/><Relationship Id="rId4" Type="http://schemas.openxmlformats.org/officeDocument/2006/relationships/image" Target="../media/image75.png"/><Relationship Id="rId5" Type="http://schemas.openxmlformats.org/officeDocument/2006/relationships/image" Target="../media/image7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86.png"/><Relationship Id="rId4" Type="http://schemas.openxmlformats.org/officeDocument/2006/relationships/image" Target="../media/image79.png"/><Relationship Id="rId5" Type="http://schemas.openxmlformats.org/officeDocument/2006/relationships/image" Target="../media/image7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81.png"/><Relationship Id="rId4" Type="http://schemas.openxmlformats.org/officeDocument/2006/relationships/image" Target="../media/image7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99.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8.xml"/><Relationship Id="rId3" Type="http://schemas.openxmlformats.org/officeDocument/2006/relationships/image" Target="../media/image98.jpg"/><Relationship Id="rId4" Type="http://schemas.openxmlformats.org/officeDocument/2006/relationships/image" Target="../media/image93.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9.xml"/><Relationship Id="rId3" Type="http://schemas.openxmlformats.org/officeDocument/2006/relationships/image" Target="../media/image93.jpg"/><Relationship Id="rId4" Type="http://schemas.openxmlformats.org/officeDocument/2006/relationships/image" Target="../media/image98.jpg"/><Relationship Id="rId5" Type="http://schemas.openxmlformats.org/officeDocument/2006/relationships/image" Target="../media/image81.png"/><Relationship Id="rId6" Type="http://schemas.openxmlformats.org/officeDocument/2006/relationships/image" Target="../media/image91.png"/><Relationship Id="rId7" Type="http://schemas.openxmlformats.org/officeDocument/2006/relationships/image" Target="../media/image87.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0.xml"/><Relationship Id="rId3" Type="http://schemas.openxmlformats.org/officeDocument/2006/relationships/image" Target="../media/image93.jpg"/><Relationship Id="rId4" Type="http://schemas.openxmlformats.org/officeDocument/2006/relationships/image" Target="../media/image98.jpg"/><Relationship Id="rId5" Type="http://schemas.openxmlformats.org/officeDocument/2006/relationships/image" Target="../media/image81.png"/><Relationship Id="rId6" Type="http://schemas.openxmlformats.org/officeDocument/2006/relationships/image" Target="../media/image88.png"/><Relationship Id="rId7" Type="http://schemas.openxmlformats.org/officeDocument/2006/relationships/image" Target="../media/image8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1.xml"/><Relationship Id="rId3" Type="http://schemas.openxmlformats.org/officeDocument/2006/relationships/image" Target="../media/image9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 Id="rId3" Type="http://schemas.openxmlformats.org/officeDocument/2006/relationships/image" Target="../media/image93.jpg"/><Relationship Id="rId4" Type="http://schemas.openxmlformats.org/officeDocument/2006/relationships/image" Target="../media/image98.jp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5.png"/><Relationship Id="rId8" Type="http://schemas.openxmlformats.org/officeDocument/2006/relationships/image" Target="../media/image9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3.xml"/><Relationship Id="rId3" Type="http://schemas.openxmlformats.org/officeDocument/2006/relationships/image" Target="../media/image90.png"/><Relationship Id="rId4" Type="http://schemas.openxmlformats.org/officeDocument/2006/relationships/image" Target="../media/image9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97.png"/><Relationship Id="rId4" Type="http://schemas.openxmlformats.org/officeDocument/2006/relationships/image" Target="../media/image9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93.jpg"/><Relationship Id="rId4" Type="http://schemas.openxmlformats.org/officeDocument/2006/relationships/image" Target="../media/image98.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6.xml"/><Relationship Id="rId3" Type="http://schemas.openxmlformats.org/officeDocument/2006/relationships/image" Target="../media/image93.jpg"/><Relationship Id="rId4" Type="http://schemas.openxmlformats.org/officeDocument/2006/relationships/image" Target="../media/image98.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7.xml"/><Relationship Id="rId3" Type="http://schemas.openxmlformats.org/officeDocument/2006/relationships/image" Target="../media/image93.jpg"/><Relationship Id="rId4" Type="http://schemas.openxmlformats.org/officeDocument/2006/relationships/image" Target="../media/image98.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8.xml"/><Relationship Id="rId3" Type="http://schemas.openxmlformats.org/officeDocument/2006/relationships/image" Target="../media/image93.jpg"/><Relationship Id="rId4" Type="http://schemas.openxmlformats.org/officeDocument/2006/relationships/image" Target="../media/image98.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93.jpg"/><Relationship Id="rId4" Type="http://schemas.openxmlformats.org/officeDocument/2006/relationships/image" Target="../media/image98.jpg"/><Relationship Id="rId5" Type="http://schemas.openxmlformats.org/officeDocument/2006/relationships/image" Target="../media/image13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0.xml"/><Relationship Id="rId3" Type="http://schemas.openxmlformats.org/officeDocument/2006/relationships/image" Target="../media/image93.jpg"/><Relationship Id="rId4" Type="http://schemas.openxmlformats.org/officeDocument/2006/relationships/image" Target="../media/image98.jpg"/><Relationship Id="rId5" Type="http://schemas.openxmlformats.org/officeDocument/2006/relationships/image" Target="../media/image131.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5.xml"/><Relationship Id="rId3" Type="http://schemas.openxmlformats.org/officeDocument/2006/relationships/image" Target="../media/image11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10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0.xml"/><Relationship Id="rId3" Type="http://schemas.openxmlformats.org/officeDocument/2006/relationships/image" Target="../media/image102.png"/><Relationship Id="rId4" Type="http://schemas.openxmlformats.org/officeDocument/2006/relationships/image" Target="../media/image10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1.xml"/><Relationship Id="rId3" Type="http://schemas.openxmlformats.org/officeDocument/2006/relationships/image" Target="../media/image108.png"/><Relationship Id="rId4" Type="http://schemas.openxmlformats.org/officeDocument/2006/relationships/image" Target="../media/image105.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3.xml"/><Relationship Id="rId3" Type="http://schemas.openxmlformats.org/officeDocument/2006/relationships/image" Target="../media/image113.png"/><Relationship Id="rId4" Type="http://schemas.openxmlformats.org/officeDocument/2006/relationships/image" Target="../media/image110.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4.xml"/><Relationship Id="rId3" Type="http://schemas.openxmlformats.org/officeDocument/2006/relationships/image" Target="../media/image107.png"/><Relationship Id="rId4" Type="http://schemas.openxmlformats.org/officeDocument/2006/relationships/image" Target="../media/image110.png"/><Relationship Id="rId5" Type="http://schemas.openxmlformats.org/officeDocument/2006/relationships/image" Target="../media/image106.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5.xml"/><Relationship Id="rId3" Type="http://schemas.openxmlformats.org/officeDocument/2006/relationships/image" Target="../media/image126.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6.xml"/><Relationship Id="rId3" Type="http://schemas.openxmlformats.org/officeDocument/2006/relationships/image" Target="../media/image108.png"/><Relationship Id="rId4" Type="http://schemas.openxmlformats.org/officeDocument/2006/relationships/image" Target="../media/image7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7.xml"/><Relationship Id="rId3" Type="http://schemas.openxmlformats.org/officeDocument/2006/relationships/image" Target="../media/image120.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8.xml"/><Relationship Id="rId3" Type="http://schemas.openxmlformats.org/officeDocument/2006/relationships/image" Target="../media/image109.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9.xml"/><Relationship Id="rId3" Type="http://schemas.openxmlformats.org/officeDocument/2006/relationships/image" Target="../media/image112.png"/><Relationship Id="rId4" Type="http://schemas.openxmlformats.org/officeDocument/2006/relationships/image" Target="../media/image115.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1.xml"/><Relationship Id="rId3" Type="http://schemas.openxmlformats.org/officeDocument/2006/relationships/image" Target="../media/image116.png"/><Relationship Id="rId4" Type="http://schemas.openxmlformats.org/officeDocument/2006/relationships/image" Target="../media/image11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114.png"/><Relationship Id="rId4" Type="http://schemas.openxmlformats.org/officeDocument/2006/relationships/image" Target="../media/image11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 Id="rId3" Type="http://schemas.openxmlformats.org/officeDocument/2006/relationships/image" Target="../media/image119.png"/><Relationship Id="rId4" Type="http://schemas.openxmlformats.org/officeDocument/2006/relationships/image" Target="../media/image128.png"/><Relationship Id="rId5" Type="http://schemas.openxmlformats.org/officeDocument/2006/relationships/image" Target="../media/image12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69.png"/><Relationship Id="rId4" Type="http://schemas.openxmlformats.org/officeDocument/2006/relationships/image" Target="../media/image117.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127.png"/><Relationship Id="rId4" Type="http://schemas.openxmlformats.org/officeDocument/2006/relationships/image" Target="../media/image70.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 Id="rId3" Type="http://schemas.openxmlformats.org/officeDocument/2006/relationships/image" Target="../media/image127.png"/><Relationship Id="rId4" Type="http://schemas.openxmlformats.org/officeDocument/2006/relationships/image" Target="../media/image11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9.xml"/><Relationship Id="rId3" Type="http://schemas.openxmlformats.org/officeDocument/2006/relationships/image" Target="../media/image124.png"/><Relationship Id="rId4" Type="http://schemas.openxmlformats.org/officeDocument/2006/relationships/image" Target="../media/image123.png"/><Relationship Id="rId5" Type="http://schemas.openxmlformats.org/officeDocument/2006/relationships/image" Target="../media/image125.png"/><Relationship Id="rId6" Type="http://schemas.openxmlformats.org/officeDocument/2006/relationships/image" Target="../media/image12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0.xml"/><Relationship Id="rId3" Type="http://schemas.openxmlformats.org/officeDocument/2006/relationships/image" Target="../media/image130.png"/><Relationship Id="rId4" Type="http://schemas.openxmlformats.org/officeDocument/2006/relationships/image" Target="../media/image13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1.xml"/><Relationship Id="rId3" Type="http://schemas.openxmlformats.org/officeDocument/2006/relationships/image" Target="../media/image139.gif"/></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133.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135.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5.xml"/><Relationship Id="rId3" Type="http://schemas.openxmlformats.org/officeDocument/2006/relationships/image" Target="../media/image137.png"/><Relationship Id="rId4" Type="http://schemas.openxmlformats.org/officeDocument/2006/relationships/image" Target="../media/image136.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6.xml"/><Relationship Id="rId3" Type="http://schemas.openxmlformats.org/officeDocument/2006/relationships/image" Target="../media/image147.png"/><Relationship Id="rId4" Type="http://schemas.openxmlformats.org/officeDocument/2006/relationships/image" Target="../media/image143.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7.xml"/><Relationship Id="rId3" Type="http://schemas.openxmlformats.org/officeDocument/2006/relationships/image" Target="../media/image138.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 Id="rId3" Type="http://schemas.openxmlformats.org/officeDocument/2006/relationships/image" Target="../media/image134.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0.xml"/><Relationship Id="rId3" Type="http://schemas.openxmlformats.org/officeDocument/2006/relationships/image" Target="../media/image129.png"/><Relationship Id="rId4" Type="http://schemas.openxmlformats.org/officeDocument/2006/relationships/image" Target="../media/image140.png"/><Relationship Id="rId5" Type="http://schemas.openxmlformats.org/officeDocument/2006/relationships/image" Target="../media/image14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 Id="rId3" Type="http://schemas.openxmlformats.org/officeDocument/2006/relationships/image" Target="../media/image150.png"/><Relationship Id="rId4" Type="http://schemas.openxmlformats.org/officeDocument/2006/relationships/image" Target="../media/image14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2.xml"/><Relationship Id="rId3" Type="http://schemas.openxmlformats.org/officeDocument/2006/relationships/image" Target="../media/image150.png"/><Relationship Id="rId4" Type="http://schemas.openxmlformats.org/officeDocument/2006/relationships/image" Target="../media/image145.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3.xml"/><Relationship Id="rId3" Type="http://schemas.openxmlformats.org/officeDocument/2006/relationships/image" Target="../media/image145.png"/><Relationship Id="rId4" Type="http://schemas.openxmlformats.org/officeDocument/2006/relationships/image" Target="../media/image14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4.xml"/><Relationship Id="rId3" Type="http://schemas.openxmlformats.org/officeDocument/2006/relationships/image" Target="../media/image157.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6.xml"/><Relationship Id="rId3" Type="http://schemas.openxmlformats.org/officeDocument/2006/relationships/image" Target="../media/image15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 Id="rId3" Type="http://schemas.openxmlformats.org/officeDocument/2006/relationships/image" Target="../media/image169.png"/><Relationship Id="rId4" Type="http://schemas.openxmlformats.org/officeDocument/2006/relationships/image" Target="../media/image156.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148.png"/><Relationship Id="rId4" Type="http://schemas.openxmlformats.org/officeDocument/2006/relationships/image" Target="../media/image15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0.xml"/><Relationship Id="rId3" Type="http://schemas.openxmlformats.org/officeDocument/2006/relationships/image" Target="../media/image158.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1.xml"/><Relationship Id="rId3" Type="http://schemas.openxmlformats.org/officeDocument/2006/relationships/image" Target="../media/image170.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4.xml"/><Relationship Id="rId3" Type="http://schemas.openxmlformats.org/officeDocument/2006/relationships/image" Target="../media/image149.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5.xml"/><Relationship Id="rId3" Type="http://schemas.openxmlformats.org/officeDocument/2006/relationships/image" Target="../media/image149.png"/><Relationship Id="rId4" Type="http://schemas.openxmlformats.org/officeDocument/2006/relationships/image" Target="../media/image124.png"/><Relationship Id="rId5" Type="http://schemas.openxmlformats.org/officeDocument/2006/relationships/image" Target="../media/image155.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6.xml"/><Relationship Id="rId3" Type="http://schemas.openxmlformats.org/officeDocument/2006/relationships/image" Target="../media/image162.png"/><Relationship Id="rId4" Type="http://schemas.openxmlformats.org/officeDocument/2006/relationships/image" Target="../media/image124.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7.xml"/><Relationship Id="rId3" Type="http://schemas.openxmlformats.org/officeDocument/2006/relationships/image" Target="../media/image162.png"/><Relationship Id="rId4" Type="http://schemas.openxmlformats.org/officeDocument/2006/relationships/image" Target="../media/image161.png"/><Relationship Id="rId5" Type="http://schemas.openxmlformats.org/officeDocument/2006/relationships/image" Target="../media/image160.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8.xml"/><Relationship Id="rId3" Type="http://schemas.openxmlformats.org/officeDocument/2006/relationships/image" Target="../media/image160.png"/><Relationship Id="rId4" Type="http://schemas.openxmlformats.org/officeDocument/2006/relationships/image" Target="../media/image164.png"/><Relationship Id="rId5" Type="http://schemas.openxmlformats.org/officeDocument/2006/relationships/image" Target="../media/image165.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9.xml"/><Relationship Id="rId3" Type="http://schemas.openxmlformats.org/officeDocument/2006/relationships/image" Target="../media/image16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0.xml"/><Relationship Id="rId3" Type="http://schemas.openxmlformats.org/officeDocument/2006/relationships/image" Target="../media/image163.png"/><Relationship Id="rId4" Type="http://schemas.openxmlformats.org/officeDocument/2006/relationships/image" Target="../media/image168.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1.xml"/><Relationship Id="rId3" Type="http://schemas.openxmlformats.org/officeDocument/2006/relationships/image" Target="../media/image167.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 Id="rId3" Type="http://schemas.openxmlformats.org/officeDocument/2006/relationships/hyperlink" Target="https://pixabay.com/pt/users/clker-free-vector-images-3736/?utm_source=link-attribution&amp;utm_medium=referral&amp;utm_campaign=image&amp;utm_content=23793" TargetMode="External"/><Relationship Id="rId4" Type="http://schemas.openxmlformats.org/officeDocument/2006/relationships/hyperlink" Target="https://pixabay.com/pt//?utm_source=link-attribution&amp;utm_medium=referral&amp;utm_campaign=image&amp;utm_content=23793" TargetMode="External"/><Relationship Id="rId5" Type="http://schemas.openxmlformats.org/officeDocument/2006/relationships/hyperlink" Target="https://pixabay.com/pt/vectors/velhote-dirigir-carros-antigos-23793/" TargetMode="External"/><Relationship Id="rId6" Type="http://schemas.openxmlformats.org/officeDocument/2006/relationships/image" Target="../media/image39.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 Id="rId3" Type="http://schemas.openxmlformats.org/officeDocument/2006/relationships/hyperlink" Target="https://pixabay.com/pt/users/openclipart-vectors-30363/?utm_source=link-attribution&amp;utm_medium=referral&amp;utm_campaign=image&amp;utm_content=158544" TargetMode="External"/><Relationship Id="rId4" Type="http://schemas.openxmlformats.org/officeDocument/2006/relationships/hyperlink" Target="https://pixabay.com/pt//?utm_source=link-attribution&amp;utm_medium=referral&amp;utm_campaign=image&amp;utm_content=158544" TargetMode="External"/><Relationship Id="rId5" Type="http://schemas.openxmlformats.org/officeDocument/2006/relationships/hyperlink" Target="https://pixabay.com/pt/vectors/carro-engra%C3%A7ado-ve%C3%ADculo-autom%C3%B3vel-158544/" TargetMode="External"/><Relationship Id="rId6" Type="http://schemas.openxmlformats.org/officeDocument/2006/relationships/image" Target="../media/image36.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 Id="rId3" Type="http://schemas.openxmlformats.org/officeDocument/2006/relationships/hyperlink" Target="https://twitter.com/j_bertolotti/status/1121054414066810881" TargetMode="External"/><Relationship Id="rId4" Type="http://schemas.openxmlformats.org/officeDocument/2006/relationships/hyperlink" Target="https://commons.wikimedia.org/w/index.php?curid=78332649" TargetMode="External"/><Relationship Id="rId5" Type="http://schemas.openxmlformats.org/officeDocument/2006/relationships/image" Target="../media/image139.gif"/></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 Id="rId3" Type="http://schemas.openxmlformats.org/officeDocument/2006/relationships/hyperlink" Target="https://doi.org/10.1371/JOURNAL.PONE.0290762" TargetMode="External"/><Relationship Id="rId4" Type="http://schemas.openxmlformats.org/officeDocument/2006/relationships/hyperlink" Target="https://doi.org/10.1007/978-1-4614-7138-7"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 Id="rId3" Type="http://schemas.openxmlformats.org/officeDocument/2006/relationships/hyperlink" Target="http://web.mit.edu/6.034/wwwbob/" TargetMode="External"/><Relationship Id="rId4" Type="http://schemas.openxmlformats.org/officeDocument/2006/relationships/hyperlink" Target="https://courses.cs.washington.edu/courses/csep546/17au/slides/intro.pdf" TargetMode="External"/><Relationship Id="rId5" Type="http://schemas.openxmlformats.org/officeDocument/2006/relationships/hyperlink" Target="https://doi.org/10.1609/AIMAG.V13I3.1011"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 Id="rId3" Type="http://schemas.openxmlformats.org/officeDocument/2006/relationships/hyperlink" Target="https://towardsdatascience.com/support-vector-machine-introduction-to-machine-learning-algorithms-934a444fca47" TargetMode="External"/><Relationship Id="rId4" Type="http://schemas.openxmlformats.org/officeDocument/2006/relationships/hyperlink" Target="https://dblp.org/rec/conf/sbbd/Keogh03" TargetMode="Externa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 Id="rId3" Type="http://schemas.openxmlformats.org/officeDocument/2006/relationships/hyperlink" Target="https://ocw.mit.edu" TargetMode="External"/><Relationship Id="rId4" Type="http://schemas.openxmlformats.org/officeDocument/2006/relationships/hyperlink" Target="https://online.stat.psu.edu/stat555/node/85/" TargetMode="Externa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2.xml"/><Relationship Id="rId3" Type="http://schemas.openxmlformats.org/officeDocument/2006/relationships/hyperlink" Target="https://www.khanacademy.org/science/biology/gene-expression-central-dogma/central-dogma-transcription/a/the-genetic-code-discovery-and-properties"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 Id="rId3" Type="http://schemas.openxmlformats.org/officeDocument/2006/relationships/hyperlink" Target="https://people.mpi-inf.mpg.de/~pmiettin/bmf_tutorial/" TargetMode="Externa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 Id="rId3" Type="http://schemas.openxmlformats.org/officeDocument/2006/relationships/hyperlink" Target="https://doi.org/10.1016/0306-4573(85)90108-6"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 Id="rId3" Type="http://schemas.openxmlformats.org/officeDocument/2006/relationships/hyperlink" Target="http://doi.org/10.1007/978-3-540-76805-0_17" TargetMode="Externa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 Id="rId3" Type="http://schemas.openxmlformats.org/officeDocument/2006/relationships/hyperlink" Target="http://creativecommons.org/licenses/by-nc-sa/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2"/>
          <p:cNvSpPr/>
          <p:nvPr/>
        </p:nvSpPr>
        <p:spPr>
          <a:xfrm>
            <a:off x="4449625" y="4177875"/>
            <a:ext cx="28647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4449625" y="3958575"/>
            <a:ext cx="13551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4449625" y="4397175"/>
            <a:ext cx="24774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txBox="1"/>
          <p:nvPr/>
        </p:nvSpPr>
        <p:spPr>
          <a:xfrm>
            <a:off x="4400875" y="3866000"/>
            <a:ext cx="2958300" cy="75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André Santanchè</a:t>
            </a:r>
            <a:endParaRPr b="0" i="0" sz="1400" u="none" cap="none" strike="noStrike">
              <a:solidFill>
                <a:srgbClr val="BF3730"/>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Laboratory of Information Systems - LIS</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Instituto de Computação - UNICAMP</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dvent Pro Medium"/>
              <a:ea typeface="Advent Pro Medium"/>
              <a:cs typeface="Advent Pro Medium"/>
              <a:sym typeface="Advent Pro Medium"/>
            </a:endParaRPr>
          </a:p>
        </p:txBody>
      </p:sp>
      <p:sp>
        <p:nvSpPr>
          <p:cNvPr id="61" name="Google Shape;61;p2"/>
          <p:cNvSpPr txBox="1"/>
          <p:nvPr/>
        </p:nvSpPr>
        <p:spPr>
          <a:xfrm>
            <a:off x="4295300" y="311000"/>
            <a:ext cx="47634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pt-BR" sz="1200" u="none" cap="none" strike="noStrike">
                <a:solidFill>
                  <a:srgbClr val="EFEFEF"/>
                </a:solidFill>
                <a:latin typeface="Advent Pro"/>
                <a:ea typeface="Advent Pro"/>
                <a:cs typeface="Advent Pro"/>
                <a:sym typeface="Advent Pro"/>
              </a:rPr>
              <a:t>NATURAL LANGUAGE PROCESSING</a:t>
            </a:r>
            <a:endParaRPr b="1" i="0" sz="1200" u="none" cap="none" strike="noStrike">
              <a:solidFill>
                <a:srgbClr val="EFEFE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Machine Learning and Text Classification</a:t>
            </a:r>
            <a:endParaRPr b="1" i="0" sz="4800" u="none" cap="none" strike="noStrike">
              <a:solidFill>
                <a:srgbClr val="FFFFFF"/>
              </a:solidFill>
              <a:latin typeface="Advent Pro"/>
              <a:ea typeface="Advent Pro"/>
              <a:cs typeface="Advent Pro"/>
              <a:sym typeface="Advent Pro"/>
            </a:endParaRPr>
          </a:p>
        </p:txBody>
      </p:sp>
      <p:sp>
        <p:nvSpPr>
          <p:cNvPr id="62" name="Google Shape;62;p2"/>
          <p:cNvSpPr txBox="1"/>
          <p:nvPr/>
        </p:nvSpPr>
        <p:spPr>
          <a:xfrm>
            <a:off x="4400875" y="4648400"/>
            <a:ext cx="2326500" cy="27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pt-BR" sz="1100">
                <a:solidFill>
                  <a:schemeClr val="lt1"/>
                </a:solidFill>
                <a:latin typeface="Advent Pro"/>
                <a:ea typeface="Advent Pro"/>
                <a:cs typeface="Advent Pro"/>
                <a:sym typeface="Advent Pro"/>
              </a:rPr>
              <a:t>September</a:t>
            </a:r>
            <a:r>
              <a:rPr b="1" i="0" lang="pt-BR" sz="1100" u="none" cap="none" strike="noStrike">
                <a:solidFill>
                  <a:schemeClr val="lt1"/>
                </a:solidFill>
                <a:latin typeface="Advent Pro"/>
                <a:ea typeface="Advent Pro"/>
                <a:cs typeface="Advent Pro"/>
                <a:sym typeface="Advent Pro"/>
              </a:rPr>
              <a:t> 2026</a:t>
            </a:r>
            <a:endParaRPr b="1" i="0" sz="1100" u="none" cap="none" strike="noStrike">
              <a:solidFill>
                <a:schemeClr val="lt1"/>
              </a:solidFill>
              <a:latin typeface="Advent Pro"/>
              <a:ea typeface="Advent Pro"/>
              <a:cs typeface="Advent Pro"/>
              <a:sym typeface="Advent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g3fbbe1c27eb_1_11"/>
          <p:cNvPicPr preferRelativeResize="0"/>
          <p:nvPr/>
        </p:nvPicPr>
        <p:blipFill>
          <a:blip r:embed="rId3">
            <a:alphaModFix/>
          </a:blip>
          <a:stretch>
            <a:fillRect/>
          </a:stretch>
        </p:blipFill>
        <p:spPr>
          <a:xfrm>
            <a:off x="369425" y="1408176"/>
            <a:ext cx="4068778" cy="2288674"/>
          </a:xfrm>
          <a:prstGeom prst="rect">
            <a:avLst/>
          </a:prstGeom>
          <a:noFill/>
          <a:ln>
            <a:noFill/>
          </a:ln>
        </p:spPr>
      </p:pic>
      <p:sp>
        <p:nvSpPr>
          <p:cNvPr id="68" name="Google Shape;68;g3fbbe1c27eb_1_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Acknowledgments</a:t>
            </a:r>
            <a:endParaRPr/>
          </a:p>
        </p:txBody>
      </p:sp>
      <p:sp>
        <p:nvSpPr>
          <p:cNvPr id="69" name="Google Shape;69;g3fbbe1c27eb_1_11"/>
          <p:cNvSpPr txBox="1"/>
          <p:nvPr>
            <p:ph idx="1" type="body"/>
          </p:nvPr>
        </p:nvSpPr>
        <p:spPr>
          <a:xfrm>
            <a:off x="229625" y="3696850"/>
            <a:ext cx="4403100" cy="13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lang="pt-BR" sz="1600"/>
              <a:t>CS 124: From Languages to Information</a:t>
            </a:r>
            <a:endParaRPr sz="1600"/>
          </a:p>
          <a:p>
            <a:pPr indent="0" lvl="0" marL="0" rtl="0" algn="l">
              <a:lnSpc>
                <a:spcPct val="115000"/>
              </a:lnSpc>
              <a:spcBef>
                <a:spcPts val="0"/>
              </a:spcBef>
              <a:spcAft>
                <a:spcPts val="0"/>
              </a:spcAft>
              <a:buSzPts val="3000"/>
              <a:buNone/>
            </a:pPr>
            <a:r>
              <a:rPr lang="pt-BR" sz="1600"/>
              <a:t>Dan Jurafsky</a:t>
            </a:r>
            <a:endParaRPr sz="1600"/>
          </a:p>
          <a:p>
            <a:pPr indent="0" lvl="0" marL="0" rtl="0" algn="l">
              <a:lnSpc>
                <a:spcPct val="115000"/>
              </a:lnSpc>
              <a:spcBef>
                <a:spcPts val="0"/>
              </a:spcBef>
              <a:spcAft>
                <a:spcPts val="0"/>
              </a:spcAft>
              <a:buSzPts val="3000"/>
              <a:buNone/>
            </a:pPr>
            <a:r>
              <a:rPr lang="pt-BR" sz="1600"/>
              <a:t>Winter 2026</a:t>
            </a:r>
            <a:endParaRPr sz="1600"/>
          </a:p>
          <a:p>
            <a:pPr indent="0" lvl="0" marL="0" rtl="0" algn="l">
              <a:lnSpc>
                <a:spcPct val="115000"/>
              </a:lnSpc>
              <a:spcBef>
                <a:spcPts val="0"/>
              </a:spcBef>
              <a:spcAft>
                <a:spcPts val="0"/>
              </a:spcAft>
              <a:buSzPts val="3000"/>
              <a:buNone/>
            </a:pPr>
            <a:r>
              <a:rPr lang="pt-BR" sz="1600" u="sng">
                <a:solidFill>
                  <a:schemeClr val="hlink"/>
                </a:solidFill>
                <a:hlinkClick r:id="rId4"/>
              </a:rPr>
              <a:t>https://web.stanford.edu/class/cs124/</a:t>
            </a:r>
            <a:endParaRPr sz="1600"/>
          </a:p>
        </p:txBody>
      </p:sp>
      <p:sp>
        <p:nvSpPr>
          <p:cNvPr id="70" name="Google Shape;70;g3fbbe1c27eb_1_11"/>
          <p:cNvSpPr txBox="1"/>
          <p:nvPr/>
        </p:nvSpPr>
        <p:spPr>
          <a:xfrm>
            <a:off x="5079700" y="1495650"/>
            <a:ext cx="3584100" cy="269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pt-BR" sz="1600" u="none" cap="none" strike="noStrike">
                <a:solidFill>
                  <a:srgbClr val="434343"/>
                </a:solidFill>
                <a:latin typeface="Comfortaa"/>
                <a:ea typeface="Comfortaa"/>
                <a:cs typeface="Comfortaa"/>
                <a:sym typeface="Comfortaa"/>
              </a:rPr>
              <a:t>Jurafsky, D. and Martin, J. H. (2025). </a:t>
            </a:r>
            <a:r>
              <a:rPr b="1" i="0" lang="pt-BR" sz="1600" u="none" cap="none" strike="noStrike">
                <a:solidFill>
                  <a:srgbClr val="434343"/>
                </a:solidFill>
                <a:latin typeface="Comfortaa"/>
                <a:ea typeface="Comfortaa"/>
                <a:cs typeface="Comfortaa"/>
                <a:sym typeface="Comfortaa"/>
              </a:rPr>
              <a:t>Speech and Language Processing: An Introduction to Natural Language Processing, Computational Linguistics, and Speech Recognition with Language Models</a:t>
            </a:r>
            <a:r>
              <a:rPr b="0" i="0" lang="pt-BR" sz="1600" u="none" cap="none" strike="noStrike">
                <a:solidFill>
                  <a:srgbClr val="434343"/>
                </a:solidFill>
                <a:latin typeface="Comfortaa"/>
                <a:ea typeface="Comfortaa"/>
                <a:cs typeface="Comfortaa"/>
                <a:sym typeface="Comfortaa"/>
              </a:rPr>
              <a:t>. 3rd edition. </a:t>
            </a:r>
            <a:r>
              <a:rPr b="0" i="0" lang="pt-BR" sz="1600" u="sng" cap="none" strike="noStrike">
                <a:solidFill>
                  <a:schemeClr val="accent5"/>
                </a:solidFill>
                <a:latin typeface="Comfortaa"/>
                <a:ea typeface="Comfortaa"/>
                <a:cs typeface="Comfortaa"/>
                <a:sym typeface="Comfortaa"/>
                <a:hlinkClick r:id="rId5">
                  <a:extLst>
                    <a:ext uri="{A12FA001-AC4F-418D-AE19-62706E023703}">
                      <ahyp:hlinkClr val="tx"/>
                    </a:ext>
                  </a:extLst>
                </a:hlinkClick>
              </a:rPr>
              <a:t>https://web.stanford.edu/~jurafsky/slp3/</a:t>
            </a:r>
            <a:endParaRPr b="0" i="0" sz="3000" u="none" cap="none" strike="noStrike">
              <a:solidFill>
                <a:srgbClr val="434343"/>
              </a:solidFill>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fbbe1c27eb_1_8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Why Machine Learning in NLP?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fbbe1c27eb_1_8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Why ML in NLP</a:t>
            </a:r>
            <a:endParaRPr/>
          </a:p>
        </p:txBody>
      </p:sp>
      <p:sp>
        <p:nvSpPr>
          <p:cNvPr id="81" name="Google Shape;81;g3fbbe1c27eb_1_8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pt-BR"/>
              <a:t>Foundation for more advanced techniques (neural networks)</a:t>
            </a:r>
            <a:endParaRPr/>
          </a:p>
          <a:p>
            <a:pPr indent="-419100" lvl="0" marL="457200" rtl="0" algn="l">
              <a:spcBef>
                <a:spcPts val="0"/>
              </a:spcBef>
              <a:spcAft>
                <a:spcPts val="0"/>
              </a:spcAft>
              <a:buSzPts val="3000"/>
              <a:buChar char="●"/>
            </a:pPr>
            <a:r>
              <a:rPr lang="pt-BR"/>
              <a:t>Commonly combined with language models</a:t>
            </a:r>
            <a:endParaRPr/>
          </a:p>
          <a:p>
            <a:pPr indent="-419100" lvl="0" marL="457200" rtl="0" algn="l">
              <a:spcBef>
                <a:spcPts val="0"/>
              </a:spcBef>
              <a:spcAft>
                <a:spcPts val="0"/>
              </a:spcAft>
              <a:buSzPts val="3000"/>
              <a:buChar char="●"/>
            </a:pPr>
            <a:r>
              <a:rPr lang="pt-BR"/>
              <a:t>Help explain how the input relates to the output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fbbe1c27eb_1_148"/>
          <p:cNvSpPr txBox="1"/>
          <p:nvPr>
            <p:ph type="title"/>
          </p:nvPr>
        </p:nvSpPr>
        <p:spPr>
          <a:xfrm>
            <a:off x="311700" y="445025"/>
            <a:ext cx="8601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Linear/Logistic Regression +</a:t>
            </a:r>
            <a:endParaRPr/>
          </a:p>
          <a:p>
            <a:pPr indent="0" lvl="0" marL="0" rtl="0" algn="l">
              <a:spcBef>
                <a:spcPts val="0"/>
              </a:spcBef>
              <a:spcAft>
                <a:spcPts val="0"/>
              </a:spcAft>
              <a:buNone/>
            </a:pPr>
            <a:r>
              <a:rPr lang="pt-BR"/>
              <a:t>Training and </a:t>
            </a:r>
            <a:r>
              <a:rPr lang="pt-BR"/>
              <a:t>Evaluation</a:t>
            </a:r>
            <a:endParaRPr/>
          </a:p>
        </p:txBody>
      </p:sp>
      <p:pic>
        <p:nvPicPr>
          <p:cNvPr id="87" name="Google Shape;87;g3fbbe1c27eb_1_148"/>
          <p:cNvPicPr preferRelativeResize="0"/>
          <p:nvPr/>
        </p:nvPicPr>
        <p:blipFill>
          <a:blip r:embed="rId3">
            <a:alphaModFix/>
          </a:blip>
          <a:stretch>
            <a:fillRect/>
          </a:stretch>
        </p:blipFill>
        <p:spPr>
          <a:xfrm>
            <a:off x="4058075" y="1615275"/>
            <a:ext cx="4854625" cy="3400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7a047440fb_0_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Knowledge Discovery &amp;</a:t>
            </a:r>
            <a:br>
              <a:rPr lang="pt-BR"/>
            </a:br>
            <a:r>
              <a:rPr lang="pt-BR"/>
              <a:t>Data Mining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fbb7e4475e_0_1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Knowledge Discovery Steps</a:t>
            </a:r>
            <a:endParaRPr/>
          </a:p>
        </p:txBody>
      </p:sp>
      <p:pic>
        <p:nvPicPr>
          <p:cNvPr id="98" name="Google Shape;98;g3fbb7e4475e_0_178"/>
          <p:cNvPicPr preferRelativeResize="0"/>
          <p:nvPr/>
        </p:nvPicPr>
        <p:blipFill rotWithShape="1">
          <a:blip r:embed="rId3">
            <a:alphaModFix/>
          </a:blip>
          <a:srcRect b="0" l="0" r="0" t="0"/>
          <a:stretch/>
        </p:blipFill>
        <p:spPr>
          <a:xfrm>
            <a:off x="474075" y="1158574"/>
            <a:ext cx="8195849" cy="3759324"/>
          </a:xfrm>
          <a:prstGeom prst="rect">
            <a:avLst/>
          </a:prstGeom>
          <a:noFill/>
          <a:ln>
            <a:noFill/>
          </a:ln>
        </p:spPr>
      </p:pic>
      <p:sp>
        <p:nvSpPr>
          <p:cNvPr id="99" name="Google Shape;99;g3fbb7e4475e_0_178"/>
          <p:cNvSpPr txBox="1"/>
          <p:nvPr/>
        </p:nvSpPr>
        <p:spPr>
          <a:xfrm>
            <a:off x="6416400" y="4325225"/>
            <a:ext cx="24159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rgbClr val="000000"/>
                </a:solidFill>
                <a:latin typeface="Arial"/>
                <a:ea typeface="Arial"/>
                <a:cs typeface="Arial"/>
                <a:sym typeface="Arial"/>
              </a:rPr>
              <a:t>(Fayyad et al. 1996)</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fbb7e4475e_0_1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Knowledge Discovery Steps</a:t>
            </a:r>
            <a:endParaRPr/>
          </a:p>
        </p:txBody>
      </p:sp>
      <p:pic>
        <p:nvPicPr>
          <p:cNvPr id="105" name="Google Shape;105;g3fbb7e4475e_0_184"/>
          <p:cNvPicPr preferRelativeResize="0"/>
          <p:nvPr/>
        </p:nvPicPr>
        <p:blipFill rotWithShape="1">
          <a:blip r:embed="rId3">
            <a:alphaModFix/>
          </a:blip>
          <a:srcRect b="0" l="0" r="0" t="0"/>
          <a:stretch/>
        </p:blipFill>
        <p:spPr>
          <a:xfrm>
            <a:off x="474075" y="1158574"/>
            <a:ext cx="8195849" cy="3759324"/>
          </a:xfrm>
          <a:prstGeom prst="rect">
            <a:avLst/>
          </a:prstGeom>
          <a:noFill/>
          <a:ln>
            <a:noFill/>
          </a:ln>
        </p:spPr>
      </p:pic>
      <p:sp>
        <p:nvSpPr>
          <p:cNvPr id="106" name="Google Shape;106;g3fbb7e4475e_0_184"/>
          <p:cNvSpPr txBox="1"/>
          <p:nvPr/>
        </p:nvSpPr>
        <p:spPr>
          <a:xfrm>
            <a:off x="6416400" y="4325225"/>
            <a:ext cx="24159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rgbClr val="000000"/>
                </a:solidFill>
                <a:latin typeface="Arial"/>
                <a:ea typeface="Arial"/>
                <a:cs typeface="Arial"/>
                <a:sym typeface="Arial"/>
              </a:rPr>
              <a:t>(Fayyad et al. 1996)</a:t>
            </a:r>
            <a:endParaRPr b="0" i="0" sz="1800" u="none" cap="none" strike="noStrike">
              <a:solidFill>
                <a:srgbClr val="000000"/>
              </a:solidFill>
              <a:latin typeface="Arial"/>
              <a:ea typeface="Arial"/>
              <a:cs typeface="Arial"/>
              <a:sym typeface="Arial"/>
            </a:endParaRPr>
          </a:p>
        </p:txBody>
      </p:sp>
      <p:sp>
        <p:nvSpPr>
          <p:cNvPr id="107" name="Google Shape;107;g3fbb7e4475e_0_184"/>
          <p:cNvSpPr/>
          <p:nvPr/>
        </p:nvSpPr>
        <p:spPr>
          <a:xfrm>
            <a:off x="4727950" y="1163700"/>
            <a:ext cx="3942000" cy="28161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fbb7e4475e_0_19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"Knowledge discovery is the nontrivial extraction of implicit, previously unknown, and potentially useful information from data." (Frawley et al., 1992)</a:t>
            </a:r>
            <a:endParaRPr/>
          </a:p>
        </p:txBody>
      </p:sp>
      <p:sp>
        <p:nvSpPr>
          <p:cNvPr id="113" name="Google Shape;113;g3fbb7e4475e_0_19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Data Mining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fbc1dcd947_0_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pt-BR"/>
              <a:t>A </a:t>
            </a:r>
            <a:r>
              <a:rPr b="1" lang="pt-BR"/>
              <a:t>simplified representatio</a:t>
            </a:r>
            <a:r>
              <a:rPr lang="pt-BR"/>
              <a:t>n of a typically complex phenomenon, typically created from experimental data, that is valid under certain conditions and has some utility.</a:t>
            </a:r>
            <a:endParaRPr/>
          </a:p>
        </p:txBody>
      </p:sp>
      <p:sp>
        <p:nvSpPr>
          <p:cNvPr id="119" name="Google Shape;119;g3fbc1dcd947_0_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fbc1dcd947_0_7"/>
          <p:cNvSpPr txBox="1"/>
          <p:nvPr>
            <p:ph type="title"/>
          </p:nvPr>
        </p:nvSpPr>
        <p:spPr>
          <a:xfrm>
            <a:off x="311700" y="152400"/>
            <a:ext cx="8520600" cy="993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Mathematical Model of Uniform Rectilinear Motion</a:t>
            </a:r>
            <a:endParaRPr/>
          </a:p>
        </p:txBody>
      </p:sp>
      <p:sp>
        <p:nvSpPr>
          <p:cNvPr id="125" name="Google Shape;125;g3fbc1dcd947_0_7"/>
          <p:cNvSpPr txBox="1"/>
          <p:nvPr>
            <p:ph idx="1" type="body"/>
          </p:nvPr>
        </p:nvSpPr>
        <p:spPr>
          <a:xfrm>
            <a:off x="4445000" y="1812875"/>
            <a:ext cx="4031700" cy="993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SzPts val="2400"/>
              <a:buNone/>
            </a:pPr>
            <a:r>
              <a:rPr lang="pt-BR" sz="4800"/>
              <a:t>s = s</a:t>
            </a:r>
            <a:r>
              <a:rPr baseline="-25000" lang="pt-BR" sz="4800"/>
              <a:t>0</a:t>
            </a:r>
            <a:r>
              <a:rPr lang="pt-BR" sz="4800"/>
              <a:t> + v.t</a:t>
            </a:r>
            <a:endParaRPr sz="4800"/>
          </a:p>
        </p:txBody>
      </p:sp>
      <p:pic>
        <p:nvPicPr>
          <p:cNvPr id="126" name="Google Shape;126;g3fbc1dcd947_0_7"/>
          <p:cNvPicPr preferRelativeResize="0"/>
          <p:nvPr/>
        </p:nvPicPr>
        <p:blipFill rotWithShape="1">
          <a:blip r:embed="rId3">
            <a:alphaModFix/>
          </a:blip>
          <a:srcRect b="0" l="0" r="0" t="0"/>
          <a:stretch/>
        </p:blipFill>
        <p:spPr>
          <a:xfrm>
            <a:off x="435500" y="1729850"/>
            <a:ext cx="3692001" cy="3109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fbc1dcd947_0_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What can I do with this model?</a:t>
            </a:r>
            <a:endParaRPr/>
          </a:p>
        </p:txBody>
      </p:sp>
      <p:sp>
        <p:nvSpPr>
          <p:cNvPr id="132" name="Google Shape;132;g3fbc1dcd947_0_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Char char="●"/>
            </a:pPr>
            <a:r>
              <a:rPr lang="pt-BR" sz="2900"/>
              <a:t>Predict a body's displacement at a given moment in time</a:t>
            </a:r>
            <a:endParaRPr sz="2900"/>
          </a:p>
          <a:p>
            <a:pPr indent="-374650" lvl="0" marL="457200" rtl="0" algn="l">
              <a:lnSpc>
                <a:spcPct val="115000"/>
              </a:lnSpc>
              <a:spcBef>
                <a:spcPts val="0"/>
              </a:spcBef>
              <a:spcAft>
                <a:spcPts val="0"/>
              </a:spcAft>
              <a:buSzPts val="2300"/>
              <a:buChar char="●"/>
            </a:pPr>
            <a:r>
              <a:rPr lang="pt-BR" sz="2900"/>
              <a:t>Estimate the speed a body must have to cover a certain distance within a specific time period</a:t>
            </a:r>
            <a:endParaRPr sz="2900"/>
          </a:p>
          <a:p>
            <a:pPr indent="-374650" lvl="0" marL="457200" rtl="0" algn="l">
              <a:lnSpc>
                <a:spcPct val="115000"/>
              </a:lnSpc>
              <a:spcBef>
                <a:spcPts val="0"/>
              </a:spcBef>
              <a:spcAft>
                <a:spcPts val="0"/>
              </a:spcAft>
              <a:buSzPts val="2300"/>
              <a:buChar char="●"/>
            </a:pPr>
            <a:r>
              <a:rPr lang="pt-BR" sz="2900"/>
              <a:t>Compare two moving bodies</a:t>
            </a:r>
            <a:endParaRPr sz="2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fbc1dcd947_0_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Light Box</a:t>
            </a:r>
            <a:endParaRPr/>
          </a:p>
        </p:txBody>
      </p:sp>
      <p:pic>
        <p:nvPicPr>
          <p:cNvPr id="138" name="Google Shape;138;g3fbc1dcd947_0_25"/>
          <p:cNvPicPr preferRelativeResize="0"/>
          <p:nvPr/>
        </p:nvPicPr>
        <p:blipFill rotWithShape="1">
          <a:blip r:embed="rId3">
            <a:alphaModFix/>
          </a:blip>
          <a:srcRect b="0" l="0" r="0" t="0"/>
          <a:stretch/>
        </p:blipFill>
        <p:spPr>
          <a:xfrm>
            <a:off x="1942513" y="1017725"/>
            <a:ext cx="5258977" cy="3820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fbc1dcd947_0_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Light Box</a:t>
            </a:r>
            <a:endParaRPr/>
          </a:p>
        </p:txBody>
      </p:sp>
      <p:pic>
        <p:nvPicPr>
          <p:cNvPr id="144" name="Google Shape;144;g3fbc1dcd947_0_30"/>
          <p:cNvPicPr preferRelativeResize="0"/>
          <p:nvPr/>
        </p:nvPicPr>
        <p:blipFill rotWithShape="1">
          <a:blip r:embed="rId3">
            <a:alphaModFix/>
          </a:blip>
          <a:srcRect b="0" l="0" r="0" t="0"/>
          <a:stretch/>
        </p:blipFill>
        <p:spPr>
          <a:xfrm>
            <a:off x="1942513" y="1017725"/>
            <a:ext cx="5258977" cy="38209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fbc1dcd947_0_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Light Box</a:t>
            </a:r>
            <a:endParaRPr/>
          </a:p>
        </p:txBody>
      </p:sp>
      <p:pic>
        <p:nvPicPr>
          <p:cNvPr id="150" name="Google Shape;150;g3fbc1dcd947_0_35"/>
          <p:cNvPicPr preferRelativeResize="0"/>
          <p:nvPr/>
        </p:nvPicPr>
        <p:blipFill rotWithShape="1">
          <a:blip r:embed="rId3">
            <a:alphaModFix/>
          </a:blip>
          <a:srcRect b="0" l="0" r="0" t="0"/>
          <a:stretch/>
        </p:blipFill>
        <p:spPr>
          <a:xfrm>
            <a:off x="1942513" y="1017725"/>
            <a:ext cx="5258977" cy="38209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fbc1dcd947_0_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Light Box</a:t>
            </a:r>
            <a:endParaRPr/>
          </a:p>
        </p:txBody>
      </p:sp>
      <p:pic>
        <p:nvPicPr>
          <p:cNvPr id="156" name="Google Shape;156;g3fbc1dcd947_0_40"/>
          <p:cNvPicPr preferRelativeResize="0"/>
          <p:nvPr/>
        </p:nvPicPr>
        <p:blipFill rotWithShape="1">
          <a:blip r:embed="rId3">
            <a:alphaModFix/>
          </a:blip>
          <a:srcRect b="0" l="0" r="0" t="0"/>
          <a:stretch/>
        </p:blipFill>
        <p:spPr>
          <a:xfrm>
            <a:off x="1942513" y="1017725"/>
            <a:ext cx="5258977" cy="3820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fbc1dcd947_0_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Light Box</a:t>
            </a:r>
            <a:endParaRPr/>
          </a:p>
        </p:txBody>
      </p:sp>
      <p:pic>
        <p:nvPicPr>
          <p:cNvPr id="162" name="Google Shape;162;g3fbc1dcd947_0_45"/>
          <p:cNvPicPr preferRelativeResize="0"/>
          <p:nvPr/>
        </p:nvPicPr>
        <p:blipFill rotWithShape="1">
          <a:blip r:embed="rId3">
            <a:alphaModFix/>
          </a:blip>
          <a:srcRect b="0" l="0" r="0" t="0"/>
          <a:stretch/>
        </p:blipFill>
        <p:spPr>
          <a:xfrm>
            <a:off x="1942513" y="1017725"/>
            <a:ext cx="5258977" cy="38209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fbc1dcd947_0_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Theory-driven x Data-driven</a:t>
            </a:r>
            <a:endParaRPr/>
          </a:p>
        </p:txBody>
      </p:sp>
      <p:sp>
        <p:nvSpPr>
          <p:cNvPr id="168" name="Google Shape;168;g3fbc1dcd947_0_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a:t>
            </a:r>
            <a:r>
              <a:rPr b="1" lang="pt-BR"/>
              <a:t>Theory-driven</a:t>
            </a:r>
            <a:r>
              <a:rPr lang="pt-BR"/>
              <a:t> models encapsulate some kind of </a:t>
            </a:r>
            <a:r>
              <a:rPr b="1" lang="pt-BR"/>
              <a:t>understanding</a:t>
            </a:r>
            <a:r>
              <a:rPr lang="pt-BR"/>
              <a:t> (theory, hypothesis, conjecture) about the mechanism underlying the data [...]"</a:t>
            </a:r>
            <a:endParaRPr/>
          </a:p>
          <a:p>
            <a:pPr indent="-381000" lvl="0" marL="457200" rtl="0" algn="l">
              <a:lnSpc>
                <a:spcPct val="115000"/>
              </a:lnSpc>
              <a:spcBef>
                <a:spcPts val="0"/>
              </a:spcBef>
              <a:spcAft>
                <a:spcPts val="0"/>
              </a:spcAft>
              <a:buSzPts val="2400"/>
              <a:buChar char="●"/>
            </a:pPr>
            <a:r>
              <a:rPr lang="pt-BR"/>
              <a:t>"[...] </a:t>
            </a:r>
            <a:r>
              <a:rPr b="1" lang="pt-BR"/>
              <a:t>data-driven</a:t>
            </a:r>
            <a:r>
              <a:rPr lang="pt-BR"/>
              <a:t> models merely seek to summarize or describe the data."</a:t>
            </a:r>
            <a:endParaRPr/>
          </a:p>
          <a:p>
            <a:pPr indent="0" lvl="0" marL="457200" rtl="0" algn="r">
              <a:lnSpc>
                <a:spcPct val="115000"/>
              </a:lnSpc>
              <a:spcBef>
                <a:spcPts val="1600"/>
              </a:spcBef>
              <a:spcAft>
                <a:spcPts val="1600"/>
              </a:spcAft>
              <a:buSzPts val="2400"/>
              <a:buNone/>
            </a:pPr>
            <a:r>
              <a:rPr lang="pt-BR"/>
              <a:t>(Hand, 2019)</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fbc1dcd947_0_59"/>
          <p:cNvSpPr txBox="1"/>
          <p:nvPr>
            <p:ph type="title"/>
          </p:nvPr>
        </p:nvSpPr>
        <p:spPr>
          <a:xfrm>
            <a:off x="346200" y="83391"/>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Data-driven</a:t>
            </a:r>
            <a:endParaRPr/>
          </a:p>
        </p:txBody>
      </p:sp>
      <p:pic>
        <p:nvPicPr>
          <p:cNvPr id="174" name="Google Shape;174;g3fbc1dcd947_0_59"/>
          <p:cNvPicPr preferRelativeResize="0"/>
          <p:nvPr/>
        </p:nvPicPr>
        <p:blipFill rotWithShape="1">
          <a:blip r:embed="rId3">
            <a:alphaModFix/>
          </a:blip>
          <a:srcRect b="0" l="0" r="0" t="0"/>
          <a:stretch/>
        </p:blipFill>
        <p:spPr>
          <a:xfrm>
            <a:off x="622200" y="624200"/>
            <a:ext cx="2958989" cy="2149905"/>
          </a:xfrm>
          <a:prstGeom prst="rect">
            <a:avLst/>
          </a:prstGeom>
          <a:noFill/>
          <a:ln>
            <a:noFill/>
          </a:ln>
        </p:spPr>
      </p:pic>
      <p:pic>
        <p:nvPicPr>
          <p:cNvPr id="175" name="Google Shape;175;g3fbc1dcd947_0_59"/>
          <p:cNvPicPr preferRelativeResize="0"/>
          <p:nvPr/>
        </p:nvPicPr>
        <p:blipFill rotWithShape="1">
          <a:blip r:embed="rId4">
            <a:alphaModFix/>
          </a:blip>
          <a:srcRect b="0" l="0" r="0" t="0"/>
          <a:stretch/>
        </p:blipFill>
        <p:spPr>
          <a:xfrm>
            <a:off x="4998536" y="665801"/>
            <a:ext cx="2958989" cy="2149905"/>
          </a:xfrm>
          <a:prstGeom prst="rect">
            <a:avLst/>
          </a:prstGeom>
          <a:noFill/>
          <a:ln>
            <a:noFill/>
          </a:ln>
        </p:spPr>
      </p:pic>
      <p:pic>
        <p:nvPicPr>
          <p:cNvPr id="176" name="Google Shape;176;g3fbc1dcd947_0_59"/>
          <p:cNvPicPr preferRelativeResize="0"/>
          <p:nvPr/>
        </p:nvPicPr>
        <p:blipFill rotWithShape="1">
          <a:blip r:embed="rId5">
            <a:alphaModFix/>
          </a:blip>
          <a:srcRect b="0" l="0" r="0" t="0"/>
          <a:stretch/>
        </p:blipFill>
        <p:spPr>
          <a:xfrm>
            <a:off x="622204" y="2815695"/>
            <a:ext cx="2958989" cy="2149905"/>
          </a:xfrm>
          <a:prstGeom prst="rect">
            <a:avLst/>
          </a:prstGeom>
          <a:noFill/>
          <a:ln>
            <a:noFill/>
          </a:ln>
        </p:spPr>
      </p:pic>
      <p:pic>
        <p:nvPicPr>
          <p:cNvPr id="177" name="Google Shape;177;g3fbc1dcd947_0_59"/>
          <p:cNvPicPr preferRelativeResize="0"/>
          <p:nvPr/>
        </p:nvPicPr>
        <p:blipFill rotWithShape="1">
          <a:blip r:embed="rId6">
            <a:alphaModFix/>
          </a:blip>
          <a:srcRect b="0" l="0" r="0" t="0"/>
          <a:stretch/>
        </p:blipFill>
        <p:spPr>
          <a:xfrm>
            <a:off x="4998526" y="2815698"/>
            <a:ext cx="2958989" cy="214990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fbc1dcd947_0_67"/>
          <p:cNvSpPr txBox="1"/>
          <p:nvPr>
            <p:ph type="title"/>
          </p:nvPr>
        </p:nvSpPr>
        <p:spPr>
          <a:xfrm>
            <a:off x="311713" y="2937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Theory-driven</a:t>
            </a:r>
            <a:endParaRPr/>
          </a:p>
        </p:txBody>
      </p:sp>
      <p:pic>
        <p:nvPicPr>
          <p:cNvPr id="183" name="Google Shape;183;g3fbc1dcd947_0_67"/>
          <p:cNvPicPr preferRelativeResize="0"/>
          <p:nvPr/>
        </p:nvPicPr>
        <p:blipFill rotWithShape="1">
          <a:blip r:embed="rId3">
            <a:alphaModFix/>
          </a:blip>
          <a:srcRect b="0" l="0" r="0" t="0"/>
          <a:stretch/>
        </p:blipFill>
        <p:spPr>
          <a:xfrm>
            <a:off x="1942513" y="1017725"/>
            <a:ext cx="5258977" cy="38209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fbbe1c27eb_1_7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Machine Learning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fbb7e4475e_0_221"/>
          <p:cNvSpPr txBox="1"/>
          <p:nvPr>
            <p:ph type="title"/>
          </p:nvPr>
        </p:nvSpPr>
        <p:spPr>
          <a:xfrm>
            <a:off x="311700" y="95951"/>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The Major ML Tasks</a:t>
            </a:r>
            <a:endParaRPr/>
          </a:p>
        </p:txBody>
      </p:sp>
      <p:sp>
        <p:nvSpPr>
          <p:cNvPr id="194" name="Google Shape;194;g3fbb7e4475e_0_221"/>
          <p:cNvSpPr txBox="1"/>
          <p:nvPr>
            <p:ph idx="1" type="body"/>
          </p:nvPr>
        </p:nvSpPr>
        <p:spPr>
          <a:xfrm>
            <a:off x="311700" y="803400"/>
            <a:ext cx="8520600" cy="4183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pt-BR" sz="2000"/>
              <a:t>Regression</a:t>
            </a:r>
            <a:endParaRPr sz="2000"/>
          </a:p>
          <a:p>
            <a:pPr indent="-317500" lvl="1" marL="914400" rtl="0" algn="l">
              <a:lnSpc>
                <a:spcPct val="115000"/>
              </a:lnSpc>
              <a:spcBef>
                <a:spcPts val="0"/>
              </a:spcBef>
              <a:spcAft>
                <a:spcPts val="0"/>
              </a:spcAft>
              <a:buSzPts val="1400"/>
              <a:buChar char="○"/>
            </a:pPr>
            <a:r>
              <a:rPr lang="pt-BR" sz="1400"/>
              <a:t>What value will this individual have?</a:t>
            </a:r>
            <a:endParaRPr sz="1400"/>
          </a:p>
          <a:p>
            <a:pPr indent="-317500" lvl="0" marL="457200" rtl="0" algn="l">
              <a:lnSpc>
                <a:spcPct val="115000"/>
              </a:lnSpc>
              <a:spcBef>
                <a:spcPts val="0"/>
              </a:spcBef>
              <a:spcAft>
                <a:spcPts val="0"/>
              </a:spcAft>
              <a:buSzPts val="1400"/>
              <a:buChar char="●"/>
            </a:pPr>
            <a:r>
              <a:rPr lang="pt-BR" sz="2000"/>
              <a:t>Classification</a:t>
            </a:r>
            <a:endParaRPr sz="2000"/>
          </a:p>
          <a:p>
            <a:pPr indent="-298450" lvl="1" marL="914400" rtl="0" algn="l">
              <a:lnSpc>
                <a:spcPct val="115000"/>
              </a:lnSpc>
              <a:spcBef>
                <a:spcPts val="0"/>
              </a:spcBef>
              <a:spcAft>
                <a:spcPts val="0"/>
              </a:spcAft>
              <a:buSzPts val="1100"/>
              <a:buChar char="○"/>
            </a:pPr>
            <a:r>
              <a:rPr lang="pt-BR" sz="1400"/>
              <a:t>What class does this individual belong to?</a:t>
            </a:r>
            <a:endParaRPr sz="1400"/>
          </a:p>
          <a:p>
            <a:pPr indent="-317500" lvl="0" marL="457200" rtl="0" algn="l">
              <a:lnSpc>
                <a:spcPct val="115000"/>
              </a:lnSpc>
              <a:spcBef>
                <a:spcPts val="0"/>
              </a:spcBef>
              <a:spcAft>
                <a:spcPts val="0"/>
              </a:spcAft>
              <a:buSzPts val="1400"/>
              <a:buChar char="●"/>
            </a:pPr>
            <a:r>
              <a:rPr lang="pt-BR" sz="2000"/>
              <a:t>Clustering</a:t>
            </a:r>
            <a:endParaRPr sz="2000"/>
          </a:p>
          <a:p>
            <a:pPr indent="-298450" lvl="1" marL="914400" rtl="0" algn="l">
              <a:lnSpc>
                <a:spcPct val="115000"/>
              </a:lnSpc>
              <a:spcBef>
                <a:spcPts val="0"/>
              </a:spcBef>
              <a:spcAft>
                <a:spcPts val="0"/>
              </a:spcAft>
              <a:buSzPts val="1100"/>
              <a:buChar char="○"/>
            </a:pPr>
            <a:r>
              <a:rPr lang="pt-BR" sz="1400"/>
              <a:t>How can I group these individuals according to some criteria?</a:t>
            </a:r>
            <a:endParaRPr sz="1400"/>
          </a:p>
          <a:p>
            <a:pPr indent="-317500" lvl="0" marL="457200" rtl="0" algn="l">
              <a:lnSpc>
                <a:spcPct val="115000"/>
              </a:lnSpc>
              <a:spcBef>
                <a:spcPts val="0"/>
              </a:spcBef>
              <a:spcAft>
                <a:spcPts val="0"/>
              </a:spcAft>
              <a:buSzPts val="1400"/>
              <a:buChar char="●"/>
            </a:pPr>
            <a:r>
              <a:rPr lang="pt-BR" sz="2000"/>
              <a:t>Anomaly Detection</a:t>
            </a:r>
            <a:endParaRPr sz="2000"/>
          </a:p>
          <a:p>
            <a:pPr indent="-355600" lvl="1" marL="914400" rtl="0" algn="l">
              <a:lnSpc>
                <a:spcPct val="115000"/>
              </a:lnSpc>
              <a:spcBef>
                <a:spcPts val="0"/>
              </a:spcBef>
              <a:spcAft>
                <a:spcPts val="0"/>
              </a:spcAft>
              <a:buSzPts val="2000"/>
              <a:buChar char="○"/>
            </a:pPr>
            <a:r>
              <a:rPr lang="pt-BR" sz="1400"/>
              <a:t>Which individuals deviate significantly from normal patterns?</a:t>
            </a:r>
            <a:endParaRPr sz="2000"/>
          </a:p>
          <a:p>
            <a:pPr indent="-317500" lvl="0" marL="457200" rtl="0" algn="l">
              <a:lnSpc>
                <a:spcPct val="115000"/>
              </a:lnSpc>
              <a:spcBef>
                <a:spcPts val="0"/>
              </a:spcBef>
              <a:spcAft>
                <a:spcPts val="0"/>
              </a:spcAft>
              <a:buSzPts val="1400"/>
              <a:buChar char="●"/>
            </a:pPr>
            <a:r>
              <a:rPr lang="pt-BR" sz="2000"/>
              <a:t>Dimensionality Reduction</a:t>
            </a:r>
            <a:endParaRPr sz="2000"/>
          </a:p>
          <a:p>
            <a:pPr indent="-355600" lvl="1" marL="914400" marR="0" rtl="0" algn="l">
              <a:lnSpc>
                <a:spcPct val="115000"/>
              </a:lnSpc>
              <a:spcBef>
                <a:spcPts val="0"/>
              </a:spcBef>
              <a:spcAft>
                <a:spcPts val="0"/>
              </a:spcAft>
              <a:buSzPts val="2000"/>
              <a:buChar char="○"/>
            </a:pPr>
            <a:r>
              <a:rPr lang="pt-BR" sz="1400"/>
              <a:t>How can complex data be simplified while retaining its essential information?</a:t>
            </a:r>
            <a:endParaRPr sz="1400"/>
          </a:p>
          <a:p>
            <a:pPr indent="-317500" lvl="0" marL="457200" rtl="0" algn="l">
              <a:lnSpc>
                <a:spcPct val="115000"/>
              </a:lnSpc>
              <a:spcBef>
                <a:spcPts val="0"/>
              </a:spcBef>
              <a:spcAft>
                <a:spcPts val="0"/>
              </a:spcAft>
              <a:buSzPts val="1400"/>
              <a:buChar char="●"/>
            </a:pPr>
            <a:r>
              <a:rPr lang="pt-BR" sz="2000"/>
              <a:t>Associations</a:t>
            </a:r>
            <a:endParaRPr sz="2000"/>
          </a:p>
          <a:p>
            <a:pPr indent="-298450" lvl="1" marL="914400" rtl="0" algn="l">
              <a:lnSpc>
                <a:spcPct val="115000"/>
              </a:lnSpc>
              <a:spcBef>
                <a:spcPts val="0"/>
              </a:spcBef>
              <a:spcAft>
                <a:spcPts val="0"/>
              </a:spcAft>
              <a:buSzPts val="1100"/>
              <a:buChar char="○"/>
            </a:pPr>
            <a:r>
              <a:rPr lang="pt-BR" sz="1400"/>
              <a:t>How does the occurrence of A be related to B?</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g3fbb7e4475e_0_230"/>
          <p:cNvPicPr preferRelativeResize="0"/>
          <p:nvPr/>
        </p:nvPicPr>
        <p:blipFill rotWithShape="1">
          <a:blip r:embed="rId3">
            <a:alphaModFix/>
          </a:blip>
          <a:srcRect b="0" l="0" r="0" t="0"/>
          <a:stretch/>
        </p:blipFill>
        <p:spPr>
          <a:xfrm>
            <a:off x="1572600" y="278332"/>
            <a:ext cx="5998800" cy="4079194"/>
          </a:xfrm>
          <a:prstGeom prst="rect">
            <a:avLst/>
          </a:prstGeom>
          <a:noFill/>
          <a:ln>
            <a:noFill/>
          </a:ln>
        </p:spPr>
      </p:pic>
      <p:sp>
        <p:nvSpPr>
          <p:cNvPr id="200" name="Google Shape;200;g3fbb7e4475e_0_230"/>
          <p:cNvSpPr txBox="1"/>
          <p:nvPr>
            <p:ph idx="1" type="body"/>
          </p:nvPr>
        </p:nvSpPr>
        <p:spPr>
          <a:xfrm>
            <a:off x="5283675" y="4274925"/>
            <a:ext cx="3473700" cy="605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pt-BR"/>
              <a:t>(Domingos, 2017)</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g3fbb7e4475e_0_235"/>
          <p:cNvPicPr preferRelativeResize="0"/>
          <p:nvPr/>
        </p:nvPicPr>
        <p:blipFill rotWithShape="1">
          <a:blip r:embed="rId3">
            <a:alphaModFix/>
          </a:blip>
          <a:srcRect b="0" l="0" r="0" t="0"/>
          <a:stretch/>
        </p:blipFill>
        <p:spPr>
          <a:xfrm>
            <a:off x="350700" y="139425"/>
            <a:ext cx="7975025" cy="4838650"/>
          </a:xfrm>
          <a:prstGeom prst="rect">
            <a:avLst/>
          </a:prstGeom>
          <a:noFill/>
          <a:ln>
            <a:noFill/>
          </a:ln>
        </p:spPr>
      </p:pic>
      <p:sp>
        <p:nvSpPr>
          <p:cNvPr id="206" name="Google Shape;206;g3fbb7e4475e_0_235"/>
          <p:cNvSpPr txBox="1"/>
          <p:nvPr>
            <p:ph idx="4294967295" type="body"/>
          </p:nvPr>
        </p:nvSpPr>
        <p:spPr>
          <a:xfrm>
            <a:off x="631400" y="4184000"/>
            <a:ext cx="4221000" cy="6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pt-BR"/>
              <a:t>(Grimson et al., 2016)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fbb7e4475e_0_532"/>
          <p:cNvSpPr txBox="1"/>
          <p:nvPr>
            <p:ph idx="1" type="body"/>
          </p:nvPr>
        </p:nvSpPr>
        <p:spPr>
          <a:xfrm>
            <a:off x="311700" y="816776"/>
            <a:ext cx="8520600" cy="41622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pt-BR" sz="2300"/>
              <a:t>Supervised (inductive) learning</a:t>
            </a:r>
            <a:endParaRPr sz="2300"/>
          </a:p>
          <a:p>
            <a:pPr indent="-317500" lvl="1" marL="914400" rtl="0" algn="l">
              <a:lnSpc>
                <a:spcPct val="115000"/>
              </a:lnSpc>
              <a:spcBef>
                <a:spcPts val="0"/>
              </a:spcBef>
              <a:spcAft>
                <a:spcPts val="0"/>
              </a:spcAft>
              <a:buSzPts val="1400"/>
              <a:buChar char="○"/>
            </a:pPr>
            <a:r>
              <a:rPr lang="pt-BR" sz="1700"/>
              <a:t>Training data includes desired outputs</a:t>
            </a:r>
            <a:endParaRPr sz="1700"/>
          </a:p>
          <a:p>
            <a:pPr indent="-336550" lvl="0" marL="457200" rtl="0" algn="l">
              <a:lnSpc>
                <a:spcPct val="115000"/>
              </a:lnSpc>
              <a:spcBef>
                <a:spcPts val="0"/>
              </a:spcBef>
              <a:spcAft>
                <a:spcPts val="0"/>
              </a:spcAft>
              <a:buSzPts val="1700"/>
              <a:buChar char="●"/>
            </a:pPr>
            <a:r>
              <a:rPr lang="pt-BR" sz="2300"/>
              <a:t>Unsupervised learning</a:t>
            </a:r>
            <a:endParaRPr sz="2300"/>
          </a:p>
          <a:p>
            <a:pPr indent="-317500" lvl="1" marL="914400" rtl="0" algn="l">
              <a:lnSpc>
                <a:spcPct val="115000"/>
              </a:lnSpc>
              <a:spcBef>
                <a:spcPts val="0"/>
              </a:spcBef>
              <a:spcAft>
                <a:spcPts val="0"/>
              </a:spcAft>
              <a:buSzPts val="1400"/>
              <a:buChar char="○"/>
            </a:pPr>
            <a:r>
              <a:rPr lang="pt-BR" sz="1700"/>
              <a:t>Training data does not include desired outputs</a:t>
            </a:r>
            <a:endParaRPr sz="1700"/>
          </a:p>
          <a:p>
            <a:pPr indent="-336550" lvl="0" marL="457200" rtl="0" algn="l">
              <a:lnSpc>
                <a:spcPct val="115000"/>
              </a:lnSpc>
              <a:spcBef>
                <a:spcPts val="0"/>
              </a:spcBef>
              <a:spcAft>
                <a:spcPts val="0"/>
              </a:spcAft>
              <a:buSzPts val="1700"/>
              <a:buChar char="●"/>
            </a:pPr>
            <a:r>
              <a:rPr lang="pt-BR" sz="2300"/>
              <a:t>Semi-supervised learning</a:t>
            </a:r>
            <a:endParaRPr sz="2300"/>
          </a:p>
          <a:p>
            <a:pPr indent="-317500" lvl="1" marL="914400" rtl="0" algn="l">
              <a:lnSpc>
                <a:spcPct val="115000"/>
              </a:lnSpc>
              <a:spcBef>
                <a:spcPts val="0"/>
              </a:spcBef>
              <a:spcAft>
                <a:spcPts val="0"/>
              </a:spcAft>
              <a:buSzPts val="1400"/>
              <a:buChar char="○"/>
            </a:pPr>
            <a:r>
              <a:rPr lang="pt-BR" sz="1700"/>
              <a:t>Training data includes a few desired outputs</a:t>
            </a:r>
            <a:endParaRPr sz="1700"/>
          </a:p>
          <a:p>
            <a:pPr indent="-336550" lvl="0" marL="457200" rtl="0" algn="l">
              <a:lnSpc>
                <a:spcPct val="115000"/>
              </a:lnSpc>
              <a:spcBef>
                <a:spcPts val="0"/>
              </a:spcBef>
              <a:spcAft>
                <a:spcPts val="0"/>
              </a:spcAft>
              <a:buSzPts val="1700"/>
              <a:buChar char="●"/>
            </a:pPr>
            <a:r>
              <a:rPr lang="pt-BR" sz="2300"/>
              <a:t>Reinforcement learning</a:t>
            </a:r>
            <a:endParaRPr sz="2300"/>
          </a:p>
          <a:p>
            <a:pPr indent="-317500" lvl="1" marL="914400" rtl="0" algn="l">
              <a:lnSpc>
                <a:spcPct val="115000"/>
              </a:lnSpc>
              <a:spcBef>
                <a:spcPts val="0"/>
              </a:spcBef>
              <a:spcAft>
                <a:spcPts val="0"/>
              </a:spcAft>
              <a:buSzPts val="1400"/>
              <a:buChar char="○"/>
            </a:pPr>
            <a:r>
              <a:rPr lang="pt-BR" sz="1700"/>
              <a:t>Rewards from sequence of actions</a:t>
            </a:r>
            <a:endParaRPr sz="1700"/>
          </a:p>
          <a:p>
            <a:pPr indent="0" lvl="0" marL="0" rtl="0" algn="r">
              <a:lnSpc>
                <a:spcPct val="115000"/>
              </a:lnSpc>
              <a:spcBef>
                <a:spcPts val="1600"/>
              </a:spcBef>
              <a:spcAft>
                <a:spcPts val="0"/>
              </a:spcAft>
              <a:buSzPts val="2400"/>
              <a:buNone/>
            </a:pPr>
            <a:r>
              <a:rPr lang="pt-BR" sz="2000"/>
              <a:t>(Domingos, 2017)</a:t>
            </a:r>
            <a:endParaRPr sz="2000"/>
          </a:p>
          <a:p>
            <a:pPr indent="-336550" lvl="0" marL="457200" marR="0" rtl="0" algn="l">
              <a:lnSpc>
                <a:spcPct val="115000"/>
              </a:lnSpc>
              <a:spcBef>
                <a:spcPts val="0"/>
              </a:spcBef>
              <a:spcAft>
                <a:spcPts val="0"/>
              </a:spcAft>
              <a:buSzPts val="1700"/>
              <a:buChar char="●"/>
            </a:pPr>
            <a:r>
              <a:rPr lang="pt-BR" sz="2300"/>
              <a:t>Self-supervised learning</a:t>
            </a:r>
            <a:endParaRPr sz="2300"/>
          </a:p>
          <a:p>
            <a:pPr indent="-317500" lvl="1" marL="914400" marR="0" rtl="0" algn="l">
              <a:lnSpc>
                <a:spcPct val="115000"/>
              </a:lnSpc>
              <a:spcBef>
                <a:spcPts val="0"/>
              </a:spcBef>
              <a:spcAft>
                <a:spcPts val="0"/>
              </a:spcAft>
              <a:buSzPts val="1400"/>
              <a:buChar char="○"/>
            </a:pPr>
            <a:r>
              <a:rPr lang="pt-BR" sz="1700"/>
              <a:t>Training data generates its own desired outputs</a:t>
            </a:r>
            <a:endParaRPr sz="1700"/>
          </a:p>
          <a:p>
            <a:pPr indent="0" lvl="0" marL="0" rtl="0" algn="l">
              <a:lnSpc>
                <a:spcPct val="115000"/>
              </a:lnSpc>
              <a:spcBef>
                <a:spcPts val="1600"/>
              </a:spcBef>
              <a:spcAft>
                <a:spcPts val="1600"/>
              </a:spcAft>
              <a:buSzPts val="2400"/>
              <a:buNone/>
            </a:pPr>
            <a:r>
              <a:t/>
            </a:r>
            <a:endParaRPr sz="2300"/>
          </a:p>
        </p:txBody>
      </p:sp>
      <p:sp>
        <p:nvSpPr>
          <p:cNvPr id="212" name="Google Shape;212;g3fbb7e4475e_0_532"/>
          <p:cNvSpPr txBox="1"/>
          <p:nvPr>
            <p:ph type="title"/>
          </p:nvPr>
        </p:nvSpPr>
        <p:spPr>
          <a:xfrm>
            <a:off x="311700" y="109319"/>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Types of Learning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fbb7e4475e_0_245"/>
          <p:cNvSpPr txBox="1"/>
          <p:nvPr>
            <p:ph type="title"/>
          </p:nvPr>
        </p:nvSpPr>
        <p:spPr>
          <a:xfrm>
            <a:off x="311700" y="157273"/>
            <a:ext cx="8520600" cy="1104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 Unsupervised Machine Learning</a:t>
            </a:r>
            <a:endParaRPr/>
          </a:p>
        </p:txBody>
      </p:sp>
      <p:sp>
        <p:nvSpPr>
          <p:cNvPr id="218" name="Google Shape;218;g3fbb7e4475e_0_2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Supervised</a:t>
            </a:r>
            <a:endParaRPr/>
          </a:p>
          <a:p>
            <a:pPr indent="-361950" lvl="1" marL="914400" rtl="0" algn="l">
              <a:lnSpc>
                <a:spcPct val="115000"/>
              </a:lnSpc>
              <a:spcBef>
                <a:spcPts val="0"/>
              </a:spcBef>
              <a:spcAft>
                <a:spcPts val="0"/>
              </a:spcAft>
              <a:buSzPts val="2100"/>
              <a:buChar char="○"/>
            </a:pPr>
            <a:r>
              <a:rPr lang="pt-BR"/>
              <a:t>"[...] you have input variables (x) and an output variable (Y) and you use an algorithm to learn the mapping function from the input to the output." (Brownlee, 2018)</a:t>
            </a:r>
            <a:endParaRPr/>
          </a:p>
          <a:p>
            <a:pPr indent="-361950" lvl="1" marL="914400" rtl="0" algn="l">
              <a:lnSpc>
                <a:spcPct val="115000"/>
              </a:lnSpc>
              <a:spcBef>
                <a:spcPts val="0"/>
              </a:spcBef>
              <a:spcAft>
                <a:spcPts val="0"/>
              </a:spcAft>
              <a:buSzPts val="2100"/>
              <a:buChar char="○"/>
            </a:pPr>
            <a:r>
              <a:rPr lang="pt-BR"/>
              <a:t>Applications</a:t>
            </a:r>
            <a:endParaRPr/>
          </a:p>
          <a:p>
            <a:pPr indent="-342900" lvl="2" marL="1371600" rtl="0" algn="l">
              <a:lnSpc>
                <a:spcPct val="115000"/>
              </a:lnSpc>
              <a:spcBef>
                <a:spcPts val="0"/>
              </a:spcBef>
              <a:spcAft>
                <a:spcPts val="0"/>
              </a:spcAft>
              <a:buSzPts val="1800"/>
              <a:buChar char="■"/>
            </a:pPr>
            <a:r>
              <a:rPr lang="pt-BR"/>
              <a:t>Regression</a:t>
            </a:r>
            <a:endParaRPr/>
          </a:p>
          <a:p>
            <a:pPr indent="-342900" lvl="2" marL="1371600" rtl="0" algn="l">
              <a:lnSpc>
                <a:spcPct val="115000"/>
              </a:lnSpc>
              <a:spcBef>
                <a:spcPts val="0"/>
              </a:spcBef>
              <a:spcAft>
                <a:spcPts val="0"/>
              </a:spcAft>
              <a:buSzPts val="1800"/>
              <a:buChar char="■"/>
            </a:pPr>
            <a:r>
              <a:rPr lang="pt-BR"/>
              <a:t>Classification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fbb7e4475e_0_250"/>
          <p:cNvSpPr txBox="1"/>
          <p:nvPr>
            <p:ph type="title"/>
          </p:nvPr>
        </p:nvSpPr>
        <p:spPr>
          <a:xfrm>
            <a:off x="311700" y="145265"/>
            <a:ext cx="8520600" cy="1007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 Unsupervised Machine Learning</a:t>
            </a:r>
            <a:endParaRPr/>
          </a:p>
        </p:txBody>
      </p:sp>
      <p:sp>
        <p:nvSpPr>
          <p:cNvPr id="224" name="Google Shape;224;g3fbb7e4475e_0_250"/>
          <p:cNvSpPr txBox="1"/>
          <p:nvPr>
            <p:ph idx="1" type="body"/>
          </p:nvPr>
        </p:nvSpPr>
        <p:spPr>
          <a:xfrm>
            <a:off x="311700" y="1152475"/>
            <a:ext cx="8520600" cy="38151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Unsupervised</a:t>
            </a:r>
            <a:endParaRPr/>
          </a:p>
          <a:p>
            <a:pPr indent="-349250" lvl="1" marL="914400" rtl="0" algn="l">
              <a:lnSpc>
                <a:spcPct val="115000"/>
              </a:lnSpc>
              <a:spcBef>
                <a:spcPts val="0"/>
              </a:spcBef>
              <a:spcAft>
                <a:spcPts val="0"/>
              </a:spcAft>
              <a:buSzPts val="1900"/>
              <a:buChar char="○"/>
            </a:pPr>
            <a:r>
              <a:rPr lang="pt-BR" sz="2200"/>
              <a:t>"[...] you only have input data (X) and no corresponding output variables." (Brownlee, 2018)</a:t>
            </a:r>
            <a:endParaRPr sz="2200"/>
          </a:p>
          <a:p>
            <a:pPr indent="-361950" lvl="1" marL="914400" rtl="0" algn="l">
              <a:lnSpc>
                <a:spcPct val="115000"/>
              </a:lnSpc>
              <a:spcBef>
                <a:spcPts val="0"/>
              </a:spcBef>
              <a:spcAft>
                <a:spcPts val="0"/>
              </a:spcAft>
              <a:buSzPts val="2100"/>
              <a:buChar char="○"/>
            </a:pPr>
            <a:r>
              <a:rPr lang="pt-BR"/>
              <a:t>Applications</a:t>
            </a:r>
            <a:endParaRPr/>
          </a:p>
          <a:p>
            <a:pPr indent="-342900" lvl="2" marL="1371600" rtl="0" algn="l">
              <a:lnSpc>
                <a:spcPct val="115000"/>
              </a:lnSpc>
              <a:spcBef>
                <a:spcPts val="0"/>
              </a:spcBef>
              <a:spcAft>
                <a:spcPts val="0"/>
              </a:spcAft>
              <a:buSzPts val="1800"/>
              <a:buChar char="■"/>
            </a:pPr>
            <a:r>
              <a:rPr lang="pt-BR"/>
              <a:t>Clustering</a:t>
            </a:r>
            <a:endParaRPr/>
          </a:p>
          <a:p>
            <a:pPr indent="-342900" lvl="2" marL="1371600" rtl="0" algn="l">
              <a:lnSpc>
                <a:spcPct val="115000"/>
              </a:lnSpc>
              <a:spcBef>
                <a:spcPts val="0"/>
              </a:spcBef>
              <a:spcAft>
                <a:spcPts val="0"/>
              </a:spcAft>
              <a:buSzPts val="1800"/>
              <a:buChar char="■"/>
            </a:pPr>
            <a:r>
              <a:rPr lang="pt-BR"/>
              <a:t>Association</a:t>
            </a:r>
            <a:endParaRPr/>
          </a:p>
          <a:p>
            <a:pPr indent="-381000" lvl="0" marL="457200" rtl="0" algn="l">
              <a:lnSpc>
                <a:spcPct val="115000"/>
              </a:lnSpc>
              <a:spcBef>
                <a:spcPts val="0"/>
              </a:spcBef>
              <a:spcAft>
                <a:spcPts val="0"/>
              </a:spcAft>
              <a:buSzPts val="2400"/>
              <a:buChar char="●"/>
            </a:pPr>
            <a:r>
              <a:rPr lang="pt-BR"/>
              <a:t>Semi-Supervised</a:t>
            </a:r>
            <a:endParaRPr/>
          </a:p>
          <a:p>
            <a:pPr indent="-349250" lvl="1" marL="914400" rtl="0" algn="l">
              <a:lnSpc>
                <a:spcPct val="115000"/>
              </a:lnSpc>
              <a:spcBef>
                <a:spcPts val="0"/>
              </a:spcBef>
              <a:spcAft>
                <a:spcPts val="0"/>
              </a:spcAft>
              <a:buSzPts val="1900"/>
              <a:buChar char="○"/>
            </a:pPr>
            <a:r>
              <a:rPr lang="pt-BR" sz="2200"/>
              <a:t>"[...] you have a large amount of input data (X) and only some of the data is labeled (Y)" (Brownlee, 2018)</a:t>
            </a:r>
            <a:endParaRPr sz="2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fbb7e4475e_1_415"/>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230" name="Google Shape;230;g3fbb7e4475e_1_415"/>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231" name="Google Shape;231;g3fbb7e4475e_1_415"/>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232" name="Google Shape;232;g3fbb7e4475e_1_415"/>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233" name="Google Shape;233;g3fbb7e4475e_1_415"/>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234" name="Google Shape;234;g3fbb7e4475e_1_415"/>
          <p:cNvSpPr/>
          <p:nvPr/>
        </p:nvSpPr>
        <p:spPr>
          <a:xfrm>
            <a:off x="7896775" y="2064550"/>
            <a:ext cx="11667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Production</a:t>
            </a:r>
            <a:endParaRPr b="0" i="0" sz="1400" u="none" cap="none" strike="noStrike">
              <a:solidFill>
                <a:srgbClr val="000000"/>
              </a:solidFill>
              <a:latin typeface="Arial"/>
              <a:ea typeface="Arial"/>
              <a:cs typeface="Arial"/>
              <a:sym typeface="Arial"/>
            </a:endParaRPr>
          </a:p>
        </p:txBody>
      </p:sp>
      <p:cxnSp>
        <p:nvCxnSpPr>
          <p:cNvPr id="235" name="Google Shape;235;g3fbb7e4475e_1_415"/>
          <p:cNvCxnSpPr>
            <a:stCxn id="231" idx="3"/>
            <a:endCxn id="233"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236" name="Google Shape;236;g3fbb7e4475e_1_415"/>
          <p:cNvCxnSpPr>
            <a:stCxn id="232" idx="3"/>
            <a:endCxn id="233"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237" name="Google Shape;237;g3fbb7e4475e_1_415"/>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238" name="Google Shape;238;g3fbb7e4475e_1_415"/>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239" name="Google Shape;239;g3fbb7e4475e_1_415"/>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240" name="Google Shape;240;g3fbb7e4475e_1_415"/>
          <p:cNvSpPr/>
          <p:nvPr/>
        </p:nvSpPr>
        <p:spPr>
          <a:xfrm>
            <a:off x="3362150" y="4242100"/>
            <a:ext cx="10269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Test Data</a:t>
            </a:r>
            <a:endParaRPr b="0" i="0" sz="1400" u="none" cap="none" strike="noStrike">
              <a:solidFill>
                <a:srgbClr val="000000"/>
              </a:solidFill>
              <a:latin typeface="Arial"/>
              <a:ea typeface="Arial"/>
              <a:cs typeface="Arial"/>
              <a:sym typeface="Arial"/>
            </a:endParaRPr>
          </a:p>
        </p:txBody>
      </p:sp>
      <p:sp>
        <p:nvSpPr>
          <p:cNvPr id="241" name="Google Shape;241;g3fbb7e4475e_1_415"/>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242" name="Google Shape;242;g3fbb7e4475e_1_415"/>
          <p:cNvCxnSpPr>
            <a:stCxn id="230" idx="4"/>
            <a:endCxn id="241"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243" name="Google Shape;243;g3fbb7e4475e_1_415"/>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sp>
        <p:nvSpPr>
          <p:cNvPr id="244" name="Google Shape;244;g3fbb7e4475e_1_415"/>
          <p:cNvSpPr/>
          <p:nvPr/>
        </p:nvSpPr>
        <p:spPr>
          <a:xfrm>
            <a:off x="6329875" y="2064550"/>
            <a:ext cx="11946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Final Evaluation</a:t>
            </a:r>
            <a:endParaRPr b="0" i="0" sz="1400" u="none" cap="none" strike="noStrike">
              <a:solidFill>
                <a:srgbClr val="000000"/>
              </a:solidFill>
              <a:latin typeface="Arial"/>
              <a:ea typeface="Arial"/>
              <a:cs typeface="Arial"/>
              <a:sym typeface="Arial"/>
            </a:endParaRPr>
          </a:p>
        </p:txBody>
      </p:sp>
      <p:cxnSp>
        <p:nvCxnSpPr>
          <p:cNvPr id="245" name="Google Shape;245;g3fbb7e4475e_1_415"/>
          <p:cNvCxnSpPr>
            <a:stCxn id="233" idx="6"/>
            <a:endCxn id="244" idx="1"/>
          </p:cNvCxnSpPr>
          <p:nvPr/>
        </p:nvCxnSpPr>
        <p:spPr>
          <a:xfrm flipH="1" rot="10800000">
            <a:off x="5957601" y="2297338"/>
            <a:ext cx="372300" cy="1500"/>
          </a:xfrm>
          <a:prstGeom prst="straightConnector1">
            <a:avLst/>
          </a:prstGeom>
          <a:noFill/>
          <a:ln cap="flat" cmpd="sng" w="38100">
            <a:solidFill>
              <a:schemeClr val="dk2"/>
            </a:solidFill>
            <a:prstDash val="solid"/>
            <a:round/>
            <a:headEnd len="sm" w="sm" type="none"/>
            <a:tailEnd len="med" w="med" type="triangle"/>
          </a:ln>
        </p:spPr>
      </p:cxnSp>
      <p:sp>
        <p:nvSpPr>
          <p:cNvPr id="246" name="Google Shape;246;g3fbb7e4475e_1_415"/>
          <p:cNvSpPr txBox="1"/>
          <p:nvPr/>
        </p:nvSpPr>
        <p:spPr>
          <a:xfrm>
            <a:off x="7127275" y="1773100"/>
            <a:ext cx="1166700" cy="52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cxnSp>
        <p:nvCxnSpPr>
          <p:cNvPr id="247" name="Google Shape;247;g3fbb7e4475e_1_415"/>
          <p:cNvCxnSpPr>
            <a:stCxn id="240" idx="3"/>
          </p:cNvCxnSpPr>
          <p:nvPr/>
        </p:nvCxnSpPr>
        <p:spPr>
          <a:xfrm flipH="1" rot="10800000">
            <a:off x="4389050" y="2480350"/>
            <a:ext cx="1994700" cy="1994400"/>
          </a:xfrm>
          <a:prstGeom prst="bentConnector3">
            <a:avLst>
              <a:gd fmla="val 80970" name="adj1"/>
            </a:avLst>
          </a:prstGeom>
          <a:noFill/>
          <a:ln cap="flat" cmpd="sng" w="38100">
            <a:solidFill>
              <a:schemeClr val="dk2"/>
            </a:solidFill>
            <a:prstDash val="solid"/>
            <a:round/>
            <a:headEnd len="sm" w="sm" type="none"/>
            <a:tailEnd len="med" w="med" type="triangle"/>
          </a:ln>
        </p:spPr>
      </p:cxnSp>
      <p:cxnSp>
        <p:nvCxnSpPr>
          <p:cNvPr id="248" name="Google Shape;248;g3fbb7e4475e_1_415"/>
          <p:cNvCxnSpPr>
            <a:stCxn id="244" idx="3"/>
            <a:endCxn id="234" idx="1"/>
          </p:cNvCxnSpPr>
          <p:nvPr/>
        </p:nvCxnSpPr>
        <p:spPr>
          <a:xfrm>
            <a:off x="7524475" y="2297200"/>
            <a:ext cx="372300" cy="0"/>
          </a:xfrm>
          <a:prstGeom prst="straightConnector1">
            <a:avLst/>
          </a:prstGeom>
          <a:noFill/>
          <a:ln cap="flat" cmpd="sng" w="38100">
            <a:solidFill>
              <a:schemeClr val="dk2"/>
            </a:solidFill>
            <a:prstDash val="solid"/>
            <a:round/>
            <a:headEnd len="sm" w="sm" type="none"/>
            <a:tailEnd len="med" w="med" type="triangle"/>
          </a:ln>
        </p:spPr>
      </p:cxnSp>
      <p:cxnSp>
        <p:nvCxnSpPr>
          <p:cNvPr id="249" name="Google Shape;249;g3fbb7e4475e_1_415"/>
          <p:cNvCxnSpPr>
            <a:stCxn id="241" idx="3"/>
            <a:endCxn id="231"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250" name="Google Shape;250;g3fbb7e4475e_1_415"/>
          <p:cNvCxnSpPr>
            <a:stCxn id="241" idx="3"/>
            <a:endCxn id="240" idx="1"/>
          </p:cNvCxnSpPr>
          <p:nvPr/>
        </p:nvCxnSpPr>
        <p:spPr>
          <a:xfrm>
            <a:off x="2765100" y="3336475"/>
            <a:ext cx="597000" cy="1138200"/>
          </a:xfrm>
          <a:prstGeom prst="bentConnector3">
            <a:avLst>
              <a:gd fmla="val 26072" name="adj1"/>
            </a:avLst>
          </a:prstGeom>
          <a:noFill/>
          <a:ln cap="flat" cmpd="sng" w="38100">
            <a:solidFill>
              <a:schemeClr val="dk2"/>
            </a:solidFill>
            <a:prstDash val="solid"/>
            <a:round/>
            <a:headEnd len="sm" w="sm" type="none"/>
            <a:tailEnd len="med" w="med" type="triangle"/>
          </a:ln>
        </p:spPr>
      </p:cxnSp>
      <p:cxnSp>
        <p:nvCxnSpPr>
          <p:cNvPr id="251" name="Google Shape;251;g3fbb7e4475e_1_415"/>
          <p:cNvCxnSpPr>
            <a:stCxn id="241" idx="3"/>
            <a:endCxn id="232"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252" name="Google Shape;252;g3fbb7e4475e_1_415"/>
          <p:cNvSpPr txBox="1"/>
          <p:nvPr/>
        </p:nvSpPr>
        <p:spPr>
          <a:xfrm>
            <a:off x="4941898" y="4085200"/>
            <a:ext cx="560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pt-BR"/>
              <a:t>Test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fbb7e4475e_1_442"/>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258" name="Google Shape;258;g3fbb7e4475e_1_442"/>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259" name="Google Shape;259;g3fbb7e4475e_1_442"/>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260" name="Google Shape;260;g3fbb7e4475e_1_442"/>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261" name="Google Shape;261;g3fbb7e4475e_1_442"/>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cxnSp>
        <p:nvCxnSpPr>
          <p:cNvPr id="262" name="Google Shape;262;g3fbb7e4475e_1_442"/>
          <p:cNvCxnSpPr>
            <a:stCxn id="259" idx="3"/>
            <a:endCxn id="261"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263" name="Google Shape;263;g3fbb7e4475e_1_442"/>
          <p:cNvCxnSpPr>
            <a:stCxn id="260" idx="3"/>
            <a:endCxn id="261"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264" name="Google Shape;264;g3fbb7e4475e_1_442"/>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265" name="Google Shape;265;g3fbb7e4475e_1_442"/>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266" name="Google Shape;266;g3fbb7e4475e_1_442"/>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267" name="Google Shape;267;g3fbb7e4475e_1_442"/>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268" name="Google Shape;268;g3fbb7e4475e_1_442"/>
          <p:cNvCxnSpPr>
            <a:stCxn id="258" idx="4"/>
            <a:endCxn id="267"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269" name="Google Shape;269;g3fbb7e4475e_1_442"/>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cxnSp>
        <p:nvCxnSpPr>
          <p:cNvPr id="270" name="Google Shape;270;g3fbb7e4475e_1_442"/>
          <p:cNvCxnSpPr>
            <a:stCxn id="267" idx="3"/>
            <a:endCxn id="259"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271" name="Google Shape;271;g3fbb7e4475e_1_442"/>
          <p:cNvCxnSpPr>
            <a:stCxn id="267" idx="3"/>
            <a:endCxn id="260"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fbb7e4475e_1_469"/>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277" name="Google Shape;277;g3fbb7e4475e_1_469"/>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278" name="Google Shape;278;g3fbb7e4475e_1_469"/>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279" name="Google Shape;279;g3fbb7e4475e_1_469"/>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280" name="Google Shape;280;g3fbb7e4475e_1_469"/>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cxnSp>
        <p:nvCxnSpPr>
          <p:cNvPr id="281" name="Google Shape;281;g3fbb7e4475e_1_469"/>
          <p:cNvCxnSpPr>
            <a:stCxn id="278" idx="3"/>
            <a:endCxn id="280"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282" name="Google Shape;282;g3fbb7e4475e_1_469"/>
          <p:cNvCxnSpPr>
            <a:stCxn id="279" idx="3"/>
            <a:endCxn id="280"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283" name="Google Shape;283;g3fbb7e4475e_1_469"/>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284" name="Google Shape;284;g3fbb7e4475e_1_469"/>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285" name="Google Shape;285;g3fbb7e4475e_1_469"/>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286" name="Google Shape;286;g3fbb7e4475e_1_469"/>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287" name="Google Shape;287;g3fbb7e4475e_1_469"/>
          <p:cNvCxnSpPr>
            <a:stCxn id="277" idx="4"/>
            <a:endCxn id="286"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288" name="Google Shape;288;g3fbb7e4475e_1_469"/>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cxnSp>
        <p:nvCxnSpPr>
          <p:cNvPr id="289" name="Google Shape;289;g3fbb7e4475e_1_469"/>
          <p:cNvCxnSpPr>
            <a:stCxn id="286" idx="3"/>
            <a:endCxn id="278"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290" name="Google Shape;290;g3fbb7e4475e_1_469"/>
          <p:cNvCxnSpPr>
            <a:stCxn id="286" idx="3"/>
            <a:endCxn id="279"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291" name="Google Shape;291;g3fbb7e4475e_1_469"/>
          <p:cNvSpPr/>
          <p:nvPr/>
        </p:nvSpPr>
        <p:spPr>
          <a:xfrm>
            <a:off x="-46100" y="2477175"/>
            <a:ext cx="2917500" cy="17088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fbb7e4475e_1_488"/>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297" name="Google Shape;297;g3fbb7e4475e_1_488"/>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298" name="Google Shape;298;g3fbb7e4475e_1_488"/>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299" name="Google Shape;299;g3fbb7e4475e_1_488"/>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300" name="Google Shape;300;g3fbb7e4475e_1_488"/>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cxnSp>
        <p:nvCxnSpPr>
          <p:cNvPr id="301" name="Google Shape;301;g3fbb7e4475e_1_488"/>
          <p:cNvCxnSpPr>
            <a:stCxn id="298" idx="3"/>
            <a:endCxn id="300"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302" name="Google Shape;302;g3fbb7e4475e_1_488"/>
          <p:cNvCxnSpPr>
            <a:stCxn id="299" idx="3"/>
            <a:endCxn id="300"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303" name="Google Shape;303;g3fbb7e4475e_1_488"/>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304" name="Google Shape;304;g3fbb7e4475e_1_488"/>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305" name="Google Shape;305;g3fbb7e4475e_1_488"/>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306" name="Google Shape;306;g3fbb7e4475e_1_488"/>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307" name="Google Shape;307;g3fbb7e4475e_1_488"/>
          <p:cNvCxnSpPr>
            <a:stCxn id="297" idx="4"/>
            <a:endCxn id="306"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308" name="Google Shape;308;g3fbb7e4475e_1_488"/>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cxnSp>
        <p:nvCxnSpPr>
          <p:cNvPr id="309" name="Google Shape;309;g3fbb7e4475e_1_488"/>
          <p:cNvCxnSpPr>
            <a:stCxn id="306" idx="3"/>
            <a:endCxn id="298"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310" name="Google Shape;310;g3fbb7e4475e_1_488"/>
          <p:cNvCxnSpPr>
            <a:stCxn id="306" idx="3"/>
            <a:endCxn id="299"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311" name="Google Shape;311;g3fbb7e4475e_1_488"/>
          <p:cNvSpPr/>
          <p:nvPr/>
        </p:nvSpPr>
        <p:spPr>
          <a:xfrm>
            <a:off x="2936075" y="1717000"/>
            <a:ext cx="1764600" cy="11637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3fbb7e4475e_1_488"/>
          <p:cNvSpPr/>
          <p:nvPr/>
        </p:nvSpPr>
        <p:spPr>
          <a:xfrm>
            <a:off x="3040050" y="2789475"/>
            <a:ext cx="1764600" cy="11637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fbb7e4475e_1_508"/>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318" name="Google Shape;318;g3fbb7e4475e_1_508"/>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319" name="Google Shape;319;g3fbb7e4475e_1_508"/>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320" name="Google Shape;320;g3fbb7e4475e_1_508"/>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321" name="Google Shape;321;g3fbb7e4475e_1_508"/>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cxnSp>
        <p:nvCxnSpPr>
          <p:cNvPr id="322" name="Google Shape;322;g3fbb7e4475e_1_508"/>
          <p:cNvCxnSpPr>
            <a:stCxn id="319" idx="3"/>
            <a:endCxn id="321"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323" name="Google Shape;323;g3fbb7e4475e_1_508"/>
          <p:cNvCxnSpPr>
            <a:stCxn id="320" idx="3"/>
            <a:endCxn id="321"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324" name="Google Shape;324;g3fbb7e4475e_1_508"/>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325" name="Google Shape;325;g3fbb7e4475e_1_508"/>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326" name="Google Shape;326;g3fbb7e4475e_1_508"/>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327" name="Google Shape;327;g3fbb7e4475e_1_508"/>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328" name="Google Shape;328;g3fbb7e4475e_1_508"/>
          <p:cNvCxnSpPr>
            <a:stCxn id="318" idx="4"/>
            <a:endCxn id="327"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329" name="Google Shape;329;g3fbb7e4475e_1_508"/>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cxnSp>
        <p:nvCxnSpPr>
          <p:cNvPr id="330" name="Google Shape;330;g3fbb7e4475e_1_508"/>
          <p:cNvCxnSpPr>
            <a:stCxn id="327" idx="3"/>
            <a:endCxn id="319"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331" name="Google Shape;331;g3fbb7e4475e_1_508"/>
          <p:cNvCxnSpPr>
            <a:stCxn id="327" idx="3"/>
            <a:endCxn id="320"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332" name="Google Shape;332;g3fbb7e4475e_1_508"/>
          <p:cNvSpPr/>
          <p:nvPr/>
        </p:nvSpPr>
        <p:spPr>
          <a:xfrm>
            <a:off x="2936075" y="1717000"/>
            <a:ext cx="3439500" cy="11637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fbb7e4475e_1_528"/>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338" name="Google Shape;338;g3fbb7e4475e_1_528"/>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339" name="Google Shape;339;g3fbb7e4475e_1_528"/>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340" name="Google Shape;340;g3fbb7e4475e_1_528"/>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341" name="Google Shape;341;g3fbb7e4475e_1_528"/>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cxnSp>
        <p:nvCxnSpPr>
          <p:cNvPr id="342" name="Google Shape;342;g3fbb7e4475e_1_528"/>
          <p:cNvCxnSpPr>
            <a:stCxn id="339" idx="3"/>
            <a:endCxn id="341"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343" name="Google Shape;343;g3fbb7e4475e_1_528"/>
          <p:cNvCxnSpPr>
            <a:stCxn id="340" idx="3"/>
            <a:endCxn id="341"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344" name="Google Shape;344;g3fbb7e4475e_1_528"/>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345" name="Google Shape;345;g3fbb7e4475e_1_528"/>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346" name="Google Shape;346;g3fbb7e4475e_1_528"/>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347" name="Google Shape;347;g3fbb7e4475e_1_528"/>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348" name="Google Shape;348;g3fbb7e4475e_1_528"/>
          <p:cNvCxnSpPr>
            <a:stCxn id="338" idx="4"/>
            <a:endCxn id="347"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349" name="Google Shape;349;g3fbb7e4475e_1_528"/>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cxnSp>
        <p:nvCxnSpPr>
          <p:cNvPr id="350" name="Google Shape;350;g3fbb7e4475e_1_528"/>
          <p:cNvCxnSpPr>
            <a:stCxn id="347" idx="3"/>
            <a:endCxn id="339"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351" name="Google Shape;351;g3fbb7e4475e_1_528"/>
          <p:cNvCxnSpPr>
            <a:stCxn id="347" idx="3"/>
            <a:endCxn id="340"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352" name="Google Shape;352;g3fbb7e4475e_1_528"/>
          <p:cNvSpPr/>
          <p:nvPr/>
        </p:nvSpPr>
        <p:spPr>
          <a:xfrm>
            <a:off x="5848000" y="1111800"/>
            <a:ext cx="851700" cy="6816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3fbb7e4475e_1_528"/>
          <p:cNvSpPr/>
          <p:nvPr/>
        </p:nvSpPr>
        <p:spPr>
          <a:xfrm rot="-1794901">
            <a:off x="3158309" y="2012986"/>
            <a:ext cx="3145485" cy="1529541"/>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fbb7e4475e_1_548"/>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359" name="Google Shape;359;g3fbb7e4475e_1_548"/>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360" name="Google Shape;360;g3fbb7e4475e_1_548"/>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361" name="Google Shape;361;g3fbb7e4475e_1_548"/>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362" name="Google Shape;362;g3fbb7e4475e_1_548"/>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363" name="Google Shape;363;g3fbb7e4475e_1_548"/>
          <p:cNvSpPr/>
          <p:nvPr/>
        </p:nvSpPr>
        <p:spPr>
          <a:xfrm>
            <a:off x="7896775" y="2064550"/>
            <a:ext cx="11667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Production</a:t>
            </a:r>
            <a:endParaRPr b="0" i="0" sz="1400" u="none" cap="none" strike="noStrike">
              <a:solidFill>
                <a:srgbClr val="000000"/>
              </a:solidFill>
              <a:latin typeface="Arial"/>
              <a:ea typeface="Arial"/>
              <a:cs typeface="Arial"/>
              <a:sym typeface="Arial"/>
            </a:endParaRPr>
          </a:p>
        </p:txBody>
      </p:sp>
      <p:cxnSp>
        <p:nvCxnSpPr>
          <p:cNvPr id="364" name="Google Shape;364;g3fbb7e4475e_1_548"/>
          <p:cNvCxnSpPr>
            <a:stCxn id="360" idx="3"/>
            <a:endCxn id="362"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365" name="Google Shape;365;g3fbb7e4475e_1_548"/>
          <p:cNvCxnSpPr>
            <a:stCxn id="361" idx="3"/>
            <a:endCxn id="362"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366" name="Google Shape;366;g3fbb7e4475e_1_548"/>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367" name="Google Shape;367;g3fbb7e4475e_1_548"/>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368" name="Google Shape;368;g3fbb7e4475e_1_548"/>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369" name="Google Shape;369;g3fbb7e4475e_1_548"/>
          <p:cNvSpPr/>
          <p:nvPr/>
        </p:nvSpPr>
        <p:spPr>
          <a:xfrm>
            <a:off x="3362150" y="4242100"/>
            <a:ext cx="10269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Test Data</a:t>
            </a:r>
            <a:endParaRPr b="0" i="0" sz="1400" u="none" cap="none" strike="noStrike">
              <a:solidFill>
                <a:srgbClr val="000000"/>
              </a:solidFill>
              <a:latin typeface="Arial"/>
              <a:ea typeface="Arial"/>
              <a:cs typeface="Arial"/>
              <a:sym typeface="Arial"/>
            </a:endParaRPr>
          </a:p>
        </p:txBody>
      </p:sp>
      <p:sp>
        <p:nvSpPr>
          <p:cNvPr id="370" name="Google Shape;370;g3fbb7e4475e_1_548"/>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371" name="Google Shape;371;g3fbb7e4475e_1_548"/>
          <p:cNvCxnSpPr>
            <a:stCxn id="359" idx="4"/>
            <a:endCxn id="370"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372" name="Google Shape;372;g3fbb7e4475e_1_548"/>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sp>
        <p:nvSpPr>
          <p:cNvPr id="373" name="Google Shape;373;g3fbb7e4475e_1_548"/>
          <p:cNvSpPr/>
          <p:nvPr/>
        </p:nvSpPr>
        <p:spPr>
          <a:xfrm>
            <a:off x="6329875" y="2064550"/>
            <a:ext cx="11946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Final Evaluation</a:t>
            </a:r>
            <a:endParaRPr b="0" i="0" sz="1400" u="none" cap="none" strike="noStrike">
              <a:solidFill>
                <a:srgbClr val="000000"/>
              </a:solidFill>
              <a:latin typeface="Arial"/>
              <a:ea typeface="Arial"/>
              <a:cs typeface="Arial"/>
              <a:sym typeface="Arial"/>
            </a:endParaRPr>
          </a:p>
        </p:txBody>
      </p:sp>
      <p:cxnSp>
        <p:nvCxnSpPr>
          <p:cNvPr id="374" name="Google Shape;374;g3fbb7e4475e_1_548"/>
          <p:cNvCxnSpPr>
            <a:stCxn id="362" idx="6"/>
            <a:endCxn id="373" idx="1"/>
          </p:cNvCxnSpPr>
          <p:nvPr/>
        </p:nvCxnSpPr>
        <p:spPr>
          <a:xfrm flipH="1" rot="10800000">
            <a:off x="5957601" y="2297338"/>
            <a:ext cx="372300" cy="1500"/>
          </a:xfrm>
          <a:prstGeom prst="straightConnector1">
            <a:avLst/>
          </a:prstGeom>
          <a:noFill/>
          <a:ln cap="flat" cmpd="sng" w="38100">
            <a:solidFill>
              <a:schemeClr val="dk2"/>
            </a:solidFill>
            <a:prstDash val="solid"/>
            <a:round/>
            <a:headEnd len="sm" w="sm" type="none"/>
            <a:tailEnd len="med" w="med" type="triangle"/>
          </a:ln>
        </p:spPr>
      </p:cxnSp>
      <p:sp>
        <p:nvSpPr>
          <p:cNvPr id="375" name="Google Shape;375;g3fbb7e4475e_1_548"/>
          <p:cNvSpPr txBox="1"/>
          <p:nvPr/>
        </p:nvSpPr>
        <p:spPr>
          <a:xfrm>
            <a:off x="7127275" y="1773100"/>
            <a:ext cx="1166700" cy="52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cxnSp>
        <p:nvCxnSpPr>
          <p:cNvPr id="376" name="Google Shape;376;g3fbb7e4475e_1_548"/>
          <p:cNvCxnSpPr>
            <a:stCxn id="369" idx="3"/>
          </p:cNvCxnSpPr>
          <p:nvPr/>
        </p:nvCxnSpPr>
        <p:spPr>
          <a:xfrm flipH="1" rot="10800000">
            <a:off x="4389050" y="2480350"/>
            <a:ext cx="1994700" cy="1994400"/>
          </a:xfrm>
          <a:prstGeom prst="bentConnector3">
            <a:avLst>
              <a:gd fmla="val 80970" name="adj1"/>
            </a:avLst>
          </a:prstGeom>
          <a:noFill/>
          <a:ln cap="flat" cmpd="sng" w="38100">
            <a:solidFill>
              <a:schemeClr val="dk2"/>
            </a:solidFill>
            <a:prstDash val="solid"/>
            <a:round/>
            <a:headEnd len="sm" w="sm" type="none"/>
            <a:tailEnd len="med" w="med" type="triangle"/>
          </a:ln>
        </p:spPr>
      </p:cxnSp>
      <p:cxnSp>
        <p:nvCxnSpPr>
          <p:cNvPr id="377" name="Google Shape;377;g3fbb7e4475e_1_548"/>
          <p:cNvCxnSpPr>
            <a:stCxn id="373" idx="3"/>
            <a:endCxn id="363" idx="1"/>
          </p:cNvCxnSpPr>
          <p:nvPr/>
        </p:nvCxnSpPr>
        <p:spPr>
          <a:xfrm>
            <a:off x="7524475" y="2297200"/>
            <a:ext cx="372300" cy="0"/>
          </a:xfrm>
          <a:prstGeom prst="straightConnector1">
            <a:avLst/>
          </a:prstGeom>
          <a:noFill/>
          <a:ln cap="flat" cmpd="sng" w="38100">
            <a:solidFill>
              <a:schemeClr val="dk2"/>
            </a:solidFill>
            <a:prstDash val="solid"/>
            <a:round/>
            <a:headEnd len="sm" w="sm" type="none"/>
            <a:tailEnd len="med" w="med" type="triangle"/>
          </a:ln>
        </p:spPr>
      </p:cxnSp>
      <p:cxnSp>
        <p:nvCxnSpPr>
          <p:cNvPr id="378" name="Google Shape;378;g3fbb7e4475e_1_548"/>
          <p:cNvCxnSpPr>
            <a:stCxn id="370" idx="3"/>
            <a:endCxn id="360"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379" name="Google Shape;379;g3fbb7e4475e_1_548"/>
          <p:cNvCxnSpPr>
            <a:stCxn id="370" idx="3"/>
            <a:endCxn id="369" idx="1"/>
          </p:cNvCxnSpPr>
          <p:nvPr/>
        </p:nvCxnSpPr>
        <p:spPr>
          <a:xfrm>
            <a:off x="2765100" y="3336475"/>
            <a:ext cx="597000" cy="1138200"/>
          </a:xfrm>
          <a:prstGeom prst="bentConnector3">
            <a:avLst>
              <a:gd fmla="val 26072" name="adj1"/>
            </a:avLst>
          </a:prstGeom>
          <a:noFill/>
          <a:ln cap="flat" cmpd="sng" w="38100">
            <a:solidFill>
              <a:schemeClr val="dk2"/>
            </a:solidFill>
            <a:prstDash val="solid"/>
            <a:round/>
            <a:headEnd len="sm" w="sm" type="none"/>
            <a:tailEnd len="med" w="med" type="triangle"/>
          </a:ln>
        </p:spPr>
      </p:cxnSp>
      <p:cxnSp>
        <p:nvCxnSpPr>
          <p:cNvPr id="380" name="Google Shape;380;g3fbb7e4475e_1_548"/>
          <p:cNvCxnSpPr>
            <a:stCxn id="370" idx="3"/>
            <a:endCxn id="361"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381" name="Google Shape;381;g3fbb7e4475e_1_548"/>
          <p:cNvSpPr txBox="1"/>
          <p:nvPr/>
        </p:nvSpPr>
        <p:spPr>
          <a:xfrm>
            <a:off x="4941898" y="4085200"/>
            <a:ext cx="560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pt-BR"/>
              <a:t>Test</a:t>
            </a:r>
            <a:endParaRPr b="0" i="0" sz="1400" u="none" cap="none" strike="noStrike">
              <a:solidFill>
                <a:srgbClr val="000000"/>
              </a:solidFill>
              <a:latin typeface="Arial"/>
              <a:ea typeface="Arial"/>
              <a:cs typeface="Arial"/>
              <a:sym typeface="Arial"/>
            </a:endParaRPr>
          </a:p>
        </p:txBody>
      </p:sp>
      <p:sp>
        <p:nvSpPr>
          <p:cNvPr id="382" name="Google Shape;382;g3fbb7e4475e_1_548"/>
          <p:cNvSpPr/>
          <p:nvPr/>
        </p:nvSpPr>
        <p:spPr>
          <a:xfrm>
            <a:off x="6091850" y="1701400"/>
            <a:ext cx="2998500" cy="11916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3fbb7e4475e_1_548"/>
          <p:cNvSpPr/>
          <p:nvPr/>
        </p:nvSpPr>
        <p:spPr>
          <a:xfrm>
            <a:off x="2503500" y="3822350"/>
            <a:ext cx="2998500" cy="11916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fbb7e4475e_0_4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Classification</a:t>
            </a:r>
            <a:endParaRPr/>
          </a:p>
        </p:txBody>
      </p:sp>
      <p:sp>
        <p:nvSpPr>
          <p:cNvPr id="389" name="Google Shape;389;g3fbb7e4475e_0_400"/>
          <p:cNvSpPr txBox="1"/>
          <p:nvPr>
            <p:ph idx="1" type="body"/>
          </p:nvPr>
        </p:nvSpPr>
        <p:spPr>
          <a:xfrm>
            <a:off x="311700" y="1152475"/>
            <a:ext cx="8520600" cy="452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What class does this individual belong to?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fbb7e4475e_0_4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Classification</a:t>
            </a:r>
            <a:endParaRPr/>
          </a:p>
        </p:txBody>
      </p:sp>
      <p:sp>
        <p:nvSpPr>
          <p:cNvPr id="395" name="Google Shape;395;g3fbb7e4475e_0_405"/>
          <p:cNvSpPr txBox="1"/>
          <p:nvPr>
            <p:ph idx="1" type="body"/>
          </p:nvPr>
        </p:nvSpPr>
        <p:spPr>
          <a:xfrm>
            <a:off x="5256900" y="4387700"/>
            <a:ext cx="3450300" cy="45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pt-BR"/>
              <a:t>(Tan et al., 2016)</a:t>
            </a:r>
            <a:endParaRPr/>
          </a:p>
        </p:txBody>
      </p:sp>
      <p:sp>
        <p:nvSpPr>
          <p:cNvPr id="396" name="Google Shape;396;g3fbb7e4475e_0_405"/>
          <p:cNvSpPr/>
          <p:nvPr/>
        </p:nvSpPr>
        <p:spPr>
          <a:xfrm>
            <a:off x="3333150" y="2476975"/>
            <a:ext cx="2325300" cy="11247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pt-BR" sz="2400" u="none" cap="none" strike="noStrike">
                <a:solidFill>
                  <a:srgbClr val="000000"/>
                </a:solidFill>
                <a:latin typeface="Arial"/>
                <a:ea typeface="Arial"/>
                <a:cs typeface="Arial"/>
                <a:sym typeface="Arial"/>
              </a:rPr>
              <a:t>Classification</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pt-BR" sz="2400" u="none" cap="none" strike="noStrike">
                <a:solidFill>
                  <a:srgbClr val="000000"/>
                </a:solidFill>
                <a:latin typeface="Arial"/>
                <a:ea typeface="Arial"/>
                <a:cs typeface="Arial"/>
                <a:sym typeface="Arial"/>
              </a:rPr>
              <a:t>Model</a:t>
            </a:r>
            <a:endParaRPr b="0" i="0" sz="2400" u="none" cap="none" strike="noStrike">
              <a:solidFill>
                <a:srgbClr val="000000"/>
              </a:solidFill>
              <a:latin typeface="Arial"/>
              <a:ea typeface="Arial"/>
              <a:cs typeface="Arial"/>
              <a:sym typeface="Arial"/>
            </a:endParaRPr>
          </a:p>
        </p:txBody>
      </p:sp>
      <p:sp>
        <p:nvSpPr>
          <p:cNvPr id="397" name="Google Shape;397;g3fbb7e4475e_0_405"/>
          <p:cNvSpPr txBox="1"/>
          <p:nvPr/>
        </p:nvSpPr>
        <p:spPr>
          <a:xfrm>
            <a:off x="581325" y="2752975"/>
            <a:ext cx="1516500" cy="64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Atribute set</a:t>
            </a:r>
            <a:endParaRPr b="1"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(x)</a:t>
            </a:r>
            <a:endParaRPr b="1" i="0" sz="1800" u="none" cap="none" strike="noStrike">
              <a:solidFill>
                <a:srgbClr val="000000"/>
              </a:solidFill>
              <a:latin typeface="Arial"/>
              <a:ea typeface="Arial"/>
              <a:cs typeface="Arial"/>
              <a:sym typeface="Arial"/>
            </a:endParaRPr>
          </a:p>
        </p:txBody>
      </p:sp>
      <p:sp>
        <p:nvSpPr>
          <p:cNvPr id="398" name="Google Shape;398;g3fbb7e4475e_0_405"/>
          <p:cNvSpPr/>
          <p:nvPr/>
        </p:nvSpPr>
        <p:spPr>
          <a:xfrm>
            <a:off x="2097825" y="2752975"/>
            <a:ext cx="1124700" cy="572700"/>
          </a:xfrm>
          <a:prstGeom prst="rightArrow">
            <a:avLst>
              <a:gd fmla="val 50000" name="adj1"/>
              <a:gd fmla="val 50000" name="adj2"/>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fbb7e4475e_0_405"/>
          <p:cNvSpPr txBox="1"/>
          <p:nvPr/>
        </p:nvSpPr>
        <p:spPr>
          <a:xfrm>
            <a:off x="6951425" y="2716075"/>
            <a:ext cx="1465200" cy="64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Class label</a:t>
            </a:r>
            <a:endParaRPr b="1"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(y)</a:t>
            </a:r>
            <a:endParaRPr b="1" i="0" sz="1800" u="none" cap="none" strike="noStrike">
              <a:solidFill>
                <a:srgbClr val="000000"/>
              </a:solidFill>
              <a:latin typeface="Arial"/>
              <a:ea typeface="Arial"/>
              <a:cs typeface="Arial"/>
              <a:sym typeface="Arial"/>
            </a:endParaRPr>
          </a:p>
        </p:txBody>
      </p:sp>
      <p:sp>
        <p:nvSpPr>
          <p:cNvPr id="400" name="Google Shape;400;g3fbb7e4475e_0_405"/>
          <p:cNvSpPr txBox="1"/>
          <p:nvPr/>
        </p:nvSpPr>
        <p:spPr>
          <a:xfrm>
            <a:off x="777225" y="1827600"/>
            <a:ext cx="11247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pt-BR" sz="2700" u="none" cap="none" strike="noStrike">
                <a:solidFill>
                  <a:srgbClr val="000000"/>
                </a:solidFill>
                <a:latin typeface="Arial"/>
                <a:ea typeface="Arial"/>
                <a:cs typeface="Arial"/>
                <a:sym typeface="Arial"/>
              </a:rPr>
              <a:t>Input</a:t>
            </a:r>
            <a:endParaRPr b="1" i="0" sz="2700" u="none" cap="none" strike="noStrike">
              <a:solidFill>
                <a:srgbClr val="000000"/>
              </a:solidFill>
              <a:latin typeface="Arial"/>
              <a:ea typeface="Arial"/>
              <a:cs typeface="Arial"/>
              <a:sym typeface="Arial"/>
            </a:endParaRPr>
          </a:p>
        </p:txBody>
      </p:sp>
      <p:sp>
        <p:nvSpPr>
          <p:cNvPr id="401" name="Google Shape;401;g3fbb7e4475e_0_405"/>
          <p:cNvSpPr txBox="1"/>
          <p:nvPr/>
        </p:nvSpPr>
        <p:spPr>
          <a:xfrm>
            <a:off x="6989375" y="1827600"/>
            <a:ext cx="1389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pt-BR" sz="2700" u="none" cap="none" strike="noStrike">
                <a:solidFill>
                  <a:srgbClr val="000000"/>
                </a:solidFill>
                <a:latin typeface="Arial"/>
                <a:ea typeface="Arial"/>
                <a:cs typeface="Arial"/>
                <a:sym typeface="Arial"/>
              </a:rPr>
              <a:t>Output</a:t>
            </a:r>
            <a:endParaRPr b="1" i="0" sz="2700" u="none" cap="none" strike="noStrike">
              <a:solidFill>
                <a:srgbClr val="000000"/>
              </a:solidFill>
              <a:latin typeface="Arial"/>
              <a:ea typeface="Arial"/>
              <a:cs typeface="Arial"/>
              <a:sym typeface="Arial"/>
            </a:endParaRPr>
          </a:p>
        </p:txBody>
      </p:sp>
      <p:sp>
        <p:nvSpPr>
          <p:cNvPr id="402" name="Google Shape;402;g3fbb7e4475e_0_405"/>
          <p:cNvSpPr/>
          <p:nvPr/>
        </p:nvSpPr>
        <p:spPr>
          <a:xfrm>
            <a:off x="5769075" y="2716075"/>
            <a:ext cx="1124700" cy="572700"/>
          </a:xfrm>
          <a:prstGeom prst="rightArrow">
            <a:avLst>
              <a:gd fmla="val 50000" name="adj1"/>
              <a:gd fmla="val 50000" name="adj2"/>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fbb7e4475e_0_417"/>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Classification Examples</a:t>
            </a:r>
            <a:endParaRPr/>
          </a:p>
        </p:txBody>
      </p:sp>
      <p:sp>
        <p:nvSpPr>
          <p:cNvPr id="408" name="Google Shape;408;g3fbb7e4475e_0_417"/>
          <p:cNvSpPr txBox="1"/>
          <p:nvPr>
            <p:ph idx="1" type="body"/>
          </p:nvPr>
        </p:nvSpPr>
        <p:spPr>
          <a:xfrm>
            <a:off x="311700" y="598560"/>
            <a:ext cx="8520600" cy="45123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Binary Classification</a:t>
            </a:r>
            <a:endParaRPr/>
          </a:p>
          <a:p>
            <a:pPr indent="-361950" lvl="1" marL="914400" rtl="0" algn="l">
              <a:lnSpc>
                <a:spcPct val="115000"/>
              </a:lnSpc>
              <a:spcBef>
                <a:spcPts val="0"/>
              </a:spcBef>
              <a:spcAft>
                <a:spcPts val="0"/>
              </a:spcAft>
              <a:buSzPts val="2100"/>
              <a:buChar char="○"/>
            </a:pPr>
            <a:r>
              <a:rPr lang="pt-BR"/>
              <a:t>Spam filtering</a:t>
            </a:r>
            <a:endParaRPr/>
          </a:p>
          <a:p>
            <a:pPr indent="-342900" lvl="2" marL="1371600" rtl="0" algn="l">
              <a:lnSpc>
                <a:spcPct val="115000"/>
              </a:lnSpc>
              <a:spcBef>
                <a:spcPts val="0"/>
              </a:spcBef>
              <a:spcAft>
                <a:spcPts val="0"/>
              </a:spcAft>
              <a:buSzPts val="1800"/>
              <a:buChar char="■"/>
            </a:pPr>
            <a:r>
              <a:rPr lang="pt-BR"/>
              <a:t>classes: spam x non-spam</a:t>
            </a:r>
            <a:endParaRPr/>
          </a:p>
          <a:p>
            <a:pPr indent="-342900" lvl="2" marL="1371600" rtl="0" algn="l">
              <a:lnSpc>
                <a:spcPct val="115000"/>
              </a:lnSpc>
              <a:spcBef>
                <a:spcPts val="0"/>
              </a:spcBef>
              <a:spcAft>
                <a:spcPts val="0"/>
              </a:spcAft>
              <a:buSzPts val="1800"/>
              <a:buChar char="■"/>
            </a:pPr>
            <a:r>
              <a:rPr lang="pt-BR"/>
              <a:t>features: extracted from email content - header and body</a:t>
            </a:r>
            <a:endParaRPr/>
          </a:p>
          <a:p>
            <a:pPr indent="-361950" lvl="1" marL="914400" rtl="0" algn="l">
              <a:lnSpc>
                <a:spcPct val="115000"/>
              </a:lnSpc>
              <a:spcBef>
                <a:spcPts val="0"/>
              </a:spcBef>
              <a:spcAft>
                <a:spcPts val="0"/>
              </a:spcAft>
              <a:buSzPts val="2100"/>
              <a:buChar char="○"/>
            </a:pPr>
            <a:r>
              <a:rPr lang="pt-BR"/>
              <a:t>Tumor identification</a:t>
            </a:r>
            <a:endParaRPr/>
          </a:p>
          <a:p>
            <a:pPr indent="-342900" lvl="2" marL="1371600" rtl="0" algn="l">
              <a:lnSpc>
                <a:spcPct val="115000"/>
              </a:lnSpc>
              <a:spcBef>
                <a:spcPts val="0"/>
              </a:spcBef>
              <a:spcAft>
                <a:spcPts val="0"/>
              </a:spcAft>
              <a:buSzPts val="1800"/>
              <a:buChar char="■"/>
            </a:pPr>
            <a:r>
              <a:rPr lang="pt-BR"/>
              <a:t>classes: malignant x benign</a:t>
            </a:r>
            <a:endParaRPr/>
          </a:p>
          <a:p>
            <a:pPr indent="-342900" lvl="2" marL="1371600" rtl="0" algn="l">
              <a:lnSpc>
                <a:spcPct val="115000"/>
              </a:lnSpc>
              <a:spcBef>
                <a:spcPts val="0"/>
              </a:spcBef>
              <a:spcAft>
                <a:spcPts val="0"/>
              </a:spcAft>
              <a:buSzPts val="1800"/>
              <a:buChar char="■"/>
            </a:pPr>
            <a:r>
              <a:rPr lang="pt-BR"/>
              <a:t>features: extracted from MRI images</a:t>
            </a:r>
            <a:endParaRPr/>
          </a:p>
          <a:p>
            <a:pPr indent="-381000" lvl="0" marL="457200" rtl="0" algn="l">
              <a:lnSpc>
                <a:spcPct val="115000"/>
              </a:lnSpc>
              <a:spcBef>
                <a:spcPts val="0"/>
              </a:spcBef>
              <a:spcAft>
                <a:spcPts val="0"/>
              </a:spcAft>
              <a:buSzPts val="2400"/>
              <a:buChar char="●"/>
            </a:pPr>
            <a:r>
              <a:rPr lang="pt-BR"/>
              <a:t>Multiclass Classification</a:t>
            </a:r>
            <a:endParaRPr/>
          </a:p>
          <a:p>
            <a:pPr indent="-361950" lvl="1" marL="914400" rtl="0" algn="l">
              <a:lnSpc>
                <a:spcPct val="115000"/>
              </a:lnSpc>
              <a:spcBef>
                <a:spcPts val="0"/>
              </a:spcBef>
              <a:spcAft>
                <a:spcPts val="0"/>
              </a:spcAft>
              <a:buSzPts val="2100"/>
              <a:buChar char="○"/>
            </a:pPr>
            <a:r>
              <a:rPr lang="pt-BR"/>
              <a:t>Galaxy classification</a:t>
            </a:r>
            <a:endParaRPr/>
          </a:p>
          <a:p>
            <a:pPr indent="-342900" lvl="2" marL="1371600" rtl="0" algn="l">
              <a:lnSpc>
                <a:spcPct val="115000"/>
              </a:lnSpc>
              <a:spcBef>
                <a:spcPts val="0"/>
              </a:spcBef>
              <a:spcAft>
                <a:spcPts val="0"/>
              </a:spcAft>
              <a:buSzPts val="1800"/>
              <a:buChar char="■"/>
            </a:pPr>
            <a:r>
              <a:rPr lang="pt-BR"/>
              <a:t>classes: elliptical, spiral, or irregular-shaped</a:t>
            </a:r>
            <a:endParaRPr/>
          </a:p>
          <a:p>
            <a:pPr indent="-342900" lvl="2" marL="1371600" rtl="0" algn="l">
              <a:lnSpc>
                <a:spcPct val="115000"/>
              </a:lnSpc>
              <a:spcBef>
                <a:spcPts val="0"/>
              </a:spcBef>
              <a:spcAft>
                <a:spcPts val="0"/>
              </a:spcAft>
              <a:buSzPts val="1800"/>
              <a:buChar char="■"/>
            </a:pPr>
            <a:r>
              <a:rPr lang="pt-BR"/>
              <a:t>features: extracted from telescope images</a:t>
            </a:r>
            <a:endParaRPr/>
          </a:p>
        </p:txBody>
      </p:sp>
      <p:sp>
        <p:nvSpPr>
          <p:cNvPr id="409" name="Google Shape;409;g3fbb7e4475e_0_417"/>
          <p:cNvSpPr txBox="1"/>
          <p:nvPr/>
        </p:nvSpPr>
        <p:spPr>
          <a:xfrm>
            <a:off x="5683025" y="875250"/>
            <a:ext cx="32373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1600"/>
              </a:spcAft>
              <a:buNone/>
            </a:pPr>
            <a:r>
              <a:rPr lang="pt-BR" sz="3000">
                <a:solidFill>
                  <a:srgbClr val="434343"/>
                </a:solidFill>
                <a:latin typeface="Comfortaa"/>
                <a:ea typeface="Comfortaa"/>
                <a:cs typeface="Comfortaa"/>
                <a:sym typeface="Comfortaa"/>
              </a:rPr>
              <a:t>(Tan et al., 2016)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3fbb7e4475e_0_422"/>
          <p:cNvSpPr txBox="1"/>
          <p:nvPr>
            <p:ph type="title"/>
          </p:nvPr>
        </p:nvSpPr>
        <p:spPr>
          <a:xfrm>
            <a:off x="311700" y="2814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Vertebrate Classification</a:t>
            </a:r>
            <a:endParaRPr/>
          </a:p>
        </p:txBody>
      </p:sp>
      <p:pic>
        <p:nvPicPr>
          <p:cNvPr id="415" name="Google Shape;415;g3fbb7e4475e_0_422"/>
          <p:cNvPicPr preferRelativeResize="0"/>
          <p:nvPr/>
        </p:nvPicPr>
        <p:blipFill rotWithShape="1">
          <a:blip r:embed="rId3">
            <a:alphaModFix/>
          </a:blip>
          <a:srcRect b="0" l="0" r="0" t="0"/>
          <a:stretch/>
        </p:blipFill>
        <p:spPr>
          <a:xfrm>
            <a:off x="590550" y="854175"/>
            <a:ext cx="7962900" cy="3676650"/>
          </a:xfrm>
          <a:prstGeom prst="rect">
            <a:avLst/>
          </a:prstGeom>
          <a:noFill/>
          <a:ln>
            <a:noFill/>
          </a:ln>
        </p:spPr>
      </p:pic>
      <p:sp>
        <p:nvSpPr>
          <p:cNvPr id="416" name="Google Shape;416;g3fbb7e4475e_0_422"/>
          <p:cNvSpPr txBox="1"/>
          <p:nvPr>
            <p:ph idx="4294967295" type="body"/>
          </p:nvPr>
        </p:nvSpPr>
        <p:spPr>
          <a:xfrm>
            <a:off x="5985975" y="4387700"/>
            <a:ext cx="2721300" cy="45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pt-BR"/>
              <a:t>(Tan et al., 2016)</a:t>
            </a:r>
            <a:endParaRPr/>
          </a:p>
        </p:txBody>
      </p:sp>
      <p:sp>
        <p:nvSpPr>
          <p:cNvPr id="417" name="Google Shape;417;g3fbb7e4475e_0_422"/>
          <p:cNvSpPr/>
          <p:nvPr/>
        </p:nvSpPr>
        <p:spPr>
          <a:xfrm>
            <a:off x="614450" y="856100"/>
            <a:ext cx="6834900" cy="3676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3fbb7e4475e_0_422"/>
          <p:cNvSpPr/>
          <p:nvPr/>
        </p:nvSpPr>
        <p:spPr>
          <a:xfrm>
            <a:off x="7463250" y="835375"/>
            <a:ext cx="1090200" cy="3676800"/>
          </a:xfrm>
          <a:prstGeom prst="rect">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fbb7e4475e_0_434"/>
          <p:cNvSpPr txBox="1"/>
          <p:nvPr>
            <p:ph type="title"/>
          </p:nvPr>
        </p:nvSpPr>
        <p:spPr>
          <a:xfrm>
            <a:off x="311700" y="445025"/>
            <a:ext cx="2565600" cy="99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Zombie</a:t>
            </a:r>
            <a:br>
              <a:rPr lang="pt-BR"/>
            </a:br>
            <a:r>
              <a:rPr lang="pt-BR"/>
              <a:t>Anemia</a:t>
            </a:r>
            <a:endParaRPr/>
          </a:p>
        </p:txBody>
      </p:sp>
      <p:pic>
        <p:nvPicPr>
          <p:cNvPr id="424" name="Google Shape;424;g3fbb7e4475e_0_434"/>
          <p:cNvPicPr preferRelativeResize="0"/>
          <p:nvPr/>
        </p:nvPicPr>
        <p:blipFill rotWithShape="1">
          <a:blip r:embed="rId3">
            <a:alphaModFix/>
          </a:blip>
          <a:srcRect b="0" l="0" r="0" t="0"/>
          <a:stretch/>
        </p:blipFill>
        <p:spPr>
          <a:xfrm>
            <a:off x="363325" y="2026796"/>
            <a:ext cx="1060143" cy="1279830"/>
          </a:xfrm>
          <a:prstGeom prst="rect">
            <a:avLst/>
          </a:prstGeom>
          <a:noFill/>
          <a:ln>
            <a:noFill/>
          </a:ln>
        </p:spPr>
      </p:pic>
      <p:pic>
        <p:nvPicPr>
          <p:cNvPr id="425" name="Google Shape;425;g3fbb7e4475e_0_434"/>
          <p:cNvPicPr preferRelativeResize="0"/>
          <p:nvPr/>
        </p:nvPicPr>
        <p:blipFill rotWithShape="1">
          <a:blip r:embed="rId4">
            <a:alphaModFix/>
          </a:blip>
          <a:srcRect b="0" l="0" r="0" t="0"/>
          <a:stretch/>
        </p:blipFill>
        <p:spPr>
          <a:xfrm>
            <a:off x="1498779" y="1988350"/>
            <a:ext cx="1060147" cy="1356723"/>
          </a:xfrm>
          <a:prstGeom prst="rect">
            <a:avLst/>
          </a:prstGeom>
          <a:noFill/>
          <a:ln>
            <a:noFill/>
          </a:ln>
        </p:spPr>
      </p:pic>
      <p:graphicFrame>
        <p:nvGraphicFramePr>
          <p:cNvPr id="426" name="Google Shape;426;g3fbb7e4475e_0_434"/>
          <p:cNvGraphicFramePr/>
          <p:nvPr/>
        </p:nvGraphicFramePr>
        <p:xfrm>
          <a:off x="2877375" y="1651875"/>
          <a:ext cx="3000000" cy="3000000"/>
        </p:xfrm>
        <a:graphic>
          <a:graphicData uri="http://schemas.openxmlformats.org/drawingml/2006/table">
            <a:tbl>
              <a:tblPr>
                <a:noFill/>
                <a:tableStyleId>{D33BB5FC-66A1-48A0-959A-E853AC047F4A}</a:tableStyleId>
              </a:tblPr>
              <a:tblGrid>
                <a:gridCol w="952500"/>
                <a:gridCol w="952500"/>
                <a:gridCol w="952500"/>
                <a:gridCol w="952500"/>
                <a:gridCol w="952500"/>
                <a:gridCol w="952500"/>
              </a:tblGrid>
              <a:tr h="200025">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gs</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mcgs</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mcgsc</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mcv</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gender</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anemia</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29.1</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83.7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15.9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25.4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21.5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71.2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31.4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87.5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99.5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11.6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30.9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74.5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12.7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19.5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82.9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12.7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92.3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14.1</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30.5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75.2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25.8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31.3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82.9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18.3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87.8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27" name="Google Shape;427;g3fbb7e4475e_0_434"/>
          <p:cNvSpPr txBox="1"/>
          <p:nvPr/>
        </p:nvSpPr>
        <p:spPr>
          <a:xfrm>
            <a:off x="1239225" y="4272775"/>
            <a:ext cx="723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sng" cap="none" strike="noStrike">
                <a:solidFill>
                  <a:schemeClr val="hlink"/>
                </a:solidFill>
                <a:latin typeface="Arial"/>
                <a:ea typeface="Arial"/>
                <a:cs typeface="Arial"/>
                <a:sym typeface="Arial"/>
                <a:hlinkClick r:id="rId5"/>
              </a:rPr>
              <a:t>https://github.com/datasci4health/home/blob/master/data/zombie/raw/zombie-anemia.csv</a:t>
            </a:r>
            <a:endParaRPr b="0" i="0" sz="1400" u="none" cap="none" strike="noStrike">
              <a:solidFill>
                <a:srgbClr val="000000"/>
              </a:solidFill>
              <a:latin typeface="Arial"/>
              <a:ea typeface="Arial"/>
              <a:cs typeface="Arial"/>
              <a:sym typeface="Arial"/>
            </a:endParaRPr>
          </a:p>
        </p:txBody>
      </p:sp>
      <p:sp>
        <p:nvSpPr>
          <p:cNvPr id="428" name="Google Shape;428;g3fbb7e4475e_0_434"/>
          <p:cNvSpPr txBox="1"/>
          <p:nvPr/>
        </p:nvSpPr>
        <p:spPr>
          <a:xfrm>
            <a:off x="2877375" y="233075"/>
            <a:ext cx="5890500" cy="12120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15000"/>
              </a:lnSpc>
              <a:spcBef>
                <a:spcPts val="0"/>
              </a:spcBef>
              <a:spcAft>
                <a:spcPts val="0"/>
              </a:spcAft>
              <a:buClr>
                <a:schemeClr val="dk2"/>
              </a:buClr>
              <a:buSzPts val="1500"/>
              <a:buFont typeface="Arial"/>
              <a:buChar char="●"/>
            </a:pPr>
            <a:r>
              <a:rPr b="1" i="0" lang="pt-BR" sz="1500" u="none" cap="none" strike="noStrike">
                <a:solidFill>
                  <a:schemeClr val="dk1"/>
                </a:solidFill>
                <a:latin typeface="Arial"/>
                <a:ea typeface="Arial"/>
                <a:cs typeface="Arial"/>
                <a:sym typeface="Arial"/>
              </a:rPr>
              <a:t>GS</a:t>
            </a:r>
            <a:r>
              <a:rPr b="0" i="0" lang="pt-BR" sz="1500" u="none" cap="none" strike="noStrike">
                <a:solidFill>
                  <a:schemeClr val="dk2"/>
                </a:solidFill>
                <a:latin typeface="Arial"/>
                <a:ea typeface="Arial"/>
                <a:cs typeface="Arial"/>
                <a:sym typeface="Arial"/>
              </a:rPr>
              <a:t> - Green Substance</a:t>
            </a:r>
            <a:endParaRPr b="0" i="0" sz="1500" u="none" cap="none" strike="noStrike">
              <a:solidFill>
                <a:schemeClr val="dk2"/>
              </a:solidFill>
              <a:latin typeface="Arial"/>
              <a:ea typeface="Arial"/>
              <a:cs typeface="Arial"/>
              <a:sym typeface="Arial"/>
            </a:endParaRPr>
          </a:p>
          <a:p>
            <a:pPr indent="-323850" lvl="0" marL="457200" marR="0" rtl="0" algn="l">
              <a:lnSpc>
                <a:spcPct val="115000"/>
              </a:lnSpc>
              <a:spcBef>
                <a:spcPts val="0"/>
              </a:spcBef>
              <a:spcAft>
                <a:spcPts val="0"/>
              </a:spcAft>
              <a:buClr>
                <a:schemeClr val="dk2"/>
              </a:buClr>
              <a:buSzPts val="1500"/>
              <a:buFont typeface="Arial"/>
              <a:buChar char="●"/>
            </a:pPr>
            <a:r>
              <a:rPr b="1" i="0" lang="pt-BR" sz="1500" u="none" cap="none" strike="noStrike">
                <a:solidFill>
                  <a:schemeClr val="dk1"/>
                </a:solidFill>
                <a:latin typeface="Arial"/>
                <a:ea typeface="Arial"/>
                <a:cs typeface="Arial"/>
                <a:sym typeface="Arial"/>
              </a:rPr>
              <a:t>MCGS</a:t>
            </a:r>
            <a:r>
              <a:rPr b="0" i="0" lang="pt-BR" sz="1500" u="none" cap="none" strike="noStrike">
                <a:solidFill>
                  <a:schemeClr val="dk2"/>
                </a:solidFill>
                <a:latin typeface="Arial"/>
                <a:ea typeface="Arial"/>
                <a:cs typeface="Arial"/>
                <a:sym typeface="Arial"/>
              </a:rPr>
              <a:t> - Mean Corpuscular Green Substance</a:t>
            </a:r>
            <a:endParaRPr b="0" i="0" sz="1500" u="none" cap="none" strike="noStrike">
              <a:solidFill>
                <a:schemeClr val="dk2"/>
              </a:solidFill>
              <a:latin typeface="Arial"/>
              <a:ea typeface="Arial"/>
              <a:cs typeface="Arial"/>
              <a:sym typeface="Arial"/>
            </a:endParaRPr>
          </a:p>
          <a:p>
            <a:pPr indent="-323850" lvl="0" marL="457200" marR="0" rtl="0" algn="l">
              <a:lnSpc>
                <a:spcPct val="115000"/>
              </a:lnSpc>
              <a:spcBef>
                <a:spcPts val="0"/>
              </a:spcBef>
              <a:spcAft>
                <a:spcPts val="0"/>
              </a:spcAft>
              <a:buClr>
                <a:schemeClr val="dk2"/>
              </a:buClr>
              <a:buSzPts val="1500"/>
              <a:buFont typeface="Arial"/>
              <a:buChar char="●"/>
            </a:pPr>
            <a:r>
              <a:rPr b="1" i="0" lang="pt-BR" sz="1500" u="none" cap="none" strike="noStrike">
                <a:solidFill>
                  <a:schemeClr val="dk1"/>
                </a:solidFill>
                <a:latin typeface="Arial"/>
                <a:ea typeface="Arial"/>
                <a:cs typeface="Arial"/>
                <a:sym typeface="Arial"/>
              </a:rPr>
              <a:t>MCGSC</a:t>
            </a:r>
            <a:r>
              <a:rPr b="0" i="0" lang="pt-BR" sz="1500" u="none" cap="none" strike="noStrike">
                <a:solidFill>
                  <a:schemeClr val="dk2"/>
                </a:solidFill>
                <a:latin typeface="Arial"/>
                <a:ea typeface="Arial"/>
                <a:cs typeface="Arial"/>
                <a:sym typeface="Arial"/>
              </a:rPr>
              <a:t> - Mean Corpuscular Green Substance Concentration</a:t>
            </a:r>
            <a:endParaRPr b="0" i="0" sz="1500" u="none" cap="none" strike="noStrike">
              <a:solidFill>
                <a:schemeClr val="dk2"/>
              </a:solidFill>
              <a:latin typeface="Arial"/>
              <a:ea typeface="Arial"/>
              <a:cs typeface="Arial"/>
              <a:sym typeface="Arial"/>
            </a:endParaRPr>
          </a:p>
          <a:p>
            <a:pPr indent="-323850" lvl="0" marL="457200" marR="0" rtl="0" algn="l">
              <a:lnSpc>
                <a:spcPct val="115000"/>
              </a:lnSpc>
              <a:spcBef>
                <a:spcPts val="0"/>
              </a:spcBef>
              <a:spcAft>
                <a:spcPts val="0"/>
              </a:spcAft>
              <a:buClr>
                <a:schemeClr val="dk2"/>
              </a:buClr>
              <a:buSzPts val="1500"/>
              <a:buFont typeface="Arial"/>
              <a:buChar char="●"/>
            </a:pPr>
            <a:r>
              <a:rPr b="1" i="0" lang="pt-BR" sz="1500" u="none" cap="none" strike="noStrike">
                <a:solidFill>
                  <a:schemeClr val="dk1"/>
                </a:solidFill>
                <a:latin typeface="Arial"/>
                <a:ea typeface="Arial"/>
                <a:cs typeface="Arial"/>
                <a:sym typeface="Arial"/>
              </a:rPr>
              <a:t>MCV</a:t>
            </a:r>
            <a:r>
              <a:rPr b="0" i="0" lang="pt-BR" sz="1500" u="none" cap="none" strike="noStrike">
                <a:solidFill>
                  <a:schemeClr val="dk2"/>
                </a:solidFill>
                <a:latin typeface="Arial"/>
                <a:ea typeface="Arial"/>
                <a:cs typeface="Arial"/>
                <a:sym typeface="Arial"/>
              </a:rPr>
              <a:t> - Mean Corpuscular Volume</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fbb7e4475e_0_443"/>
          <p:cNvSpPr txBox="1"/>
          <p:nvPr>
            <p:ph idx="1" type="body"/>
          </p:nvPr>
        </p:nvSpPr>
        <p:spPr>
          <a:xfrm>
            <a:off x="311700" y="33187"/>
            <a:ext cx="8520600" cy="4770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pt-BR" sz="1800">
                <a:solidFill>
                  <a:schemeClr val="dk1"/>
                </a:solidFill>
              </a:rPr>
              <a:t>GS</a:t>
            </a:r>
            <a:r>
              <a:rPr lang="pt-BR" sz="1800"/>
              <a:t> - Green Substance</a:t>
            </a:r>
            <a:endParaRPr sz="1800"/>
          </a:p>
          <a:p>
            <a:pPr indent="0" lvl="0" marL="457200" rtl="0" algn="l">
              <a:lnSpc>
                <a:spcPct val="115000"/>
              </a:lnSpc>
              <a:spcBef>
                <a:spcPts val="1600"/>
              </a:spcBef>
              <a:spcAft>
                <a:spcPts val="0"/>
              </a:spcAft>
              <a:buSzPts val="2400"/>
              <a:buNone/>
            </a:pPr>
            <a:r>
              <a:t/>
            </a:r>
            <a:endParaRPr sz="1800"/>
          </a:p>
          <a:p>
            <a:pPr indent="-342900" lvl="0" marL="457200" rtl="0" algn="l">
              <a:lnSpc>
                <a:spcPct val="115000"/>
              </a:lnSpc>
              <a:spcBef>
                <a:spcPts val="1600"/>
              </a:spcBef>
              <a:spcAft>
                <a:spcPts val="0"/>
              </a:spcAft>
              <a:buSzPts val="1800"/>
              <a:buChar char="●"/>
            </a:pPr>
            <a:r>
              <a:rPr b="1" lang="pt-BR" sz="1800">
                <a:solidFill>
                  <a:schemeClr val="dk1"/>
                </a:solidFill>
              </a:rPr>
              <a:t>MCGS</a:t>
            </a:r>
            <a:r>
              <a:rPr lang="pt-BR" sz="1800"/>
              <a:t> - Mean Corpuscular Green Substance</a:t>
            </a:r>
            <a:endParaRPr sz="1800"/>
          </a:p>
          <a:p>
            <a:pPr indent="-330200" lvl="1" marL="914400" rtl="0" algn="l">
              <a:lnSpc>
                <a:spcPct val="115000"/>
              </a:lnSpc>
              <a:spcBef>
                <a:spcPts val="0"/>
              </a:spcBef>
              <a:spcAft>
                <a:spcPts val="0"/>
              </a:spcAft>
              <a:buSzPts val="1600"/>
              <a:buChar char="○"/>
            </a:pPr>
            <a:r>
              <a:rPr lang="pt-BR" sz="1600"/>
              <a:t>average of green substance in Green Blood Cells</a:t>
            </a:r>
            <a:endParaRPr sz="1600"/>
          </a:p>
          <a:p>
            <a:pPr indent="0" lvl="0" marL="457200" rtl="0" algn="l">
              <a:lnSpc>
                <a:spcPct val="115000"/>
              </a:lnSpc>
              <a:spcBef>
                <a:spcPts val="1600"/>
              </a:spcBef>
              <a:spcAft>
                <a:spcPts val="0"/>
              </a:spcAft>
              <a:buSzPts val="2400"/>
              <a:buNone/>
            </a:pPr>
            <a:r>
              <a:t/>
            </a:r>
            <a:endParaRPr sz="1800"/>
          </a:p>
          <a:p>
            <a:pPr indent="-342900" lvl="0" marL="457200" rtl="0" algn="l">
              <a:lnSpc>
                <a:spcPct val="115000"/>
              </a:lnSpc>
              <a:spcBef>
                <a:spcPts val="1600"/>
              </a:spcBef>
              <a:spcAft>
                <a:spcPts val="0"/>
              </a:spcAft>
              <a:buSzPts val="1800"/>
              <a:buChar char="●"/>
            </a:pPr>
            <a:r>
              <a:rPr b="1" lang="pt-BR" sz="1800">
                <a:solidFill>
                  <a:schemeClr val="dk1"/>
                </a:solidFill>
              </a:rPr>
              <a:t>MCGSC</a:t>
            </a:r>
            <a:r>
              <a:rPr lang="pt-BR" sz="1800"/>
              <a:t> - Mean Corpuscular Green Substance Concentration</a:t>
            </a:r>
            <a:endParaRPr sz="1800"/>
          </a:p>
          <a:p>
            <a:pPr indent="-330200" lvl="1" marL="914400" rtl="0" algn="l">
              <a:lnSpc>
                <a:spcPct val="115000"/>
              </a:lnSpc>
              <a:spcBef>
                <a:spcPts val="0"/>
              </a:spcBef>
              <a:spcAft>
                <a:spcPts val="0"/>
              </a:spcAft>
              <a:buSzPts val="1600"/>
              <a:buChar char="○"/>
            </a:pPr>
            <a:r>
              <a:rPr lang="pt-BR" sz="1600"/>
              <a:t>average of green substance per unit of volume in Green Blood Cells</a:t>
            </a:r>
            <a:endParaRPr sz="1600"/>
          </a:p>
          <a:p>
            <a:pPr indent="0" lvl="0" marL="457200" rtl="0" algn="l">
              <a:lnSpc>
                <a:spcPct val="115000"/>
              </a:lnSpc>
              <a:spcBef>
                <a:spcPts val="1600"/>
              </a:spcBef>
              <a:spcAft>
                <a:spcPts val="0"/>
              </a:spcAft>
              <a:buSzPts val="2400"/>
              <a:buNone/>
            </a:pPr>
            <a:r>
              <a:t/>
            </a:r>
            <a:endParaRPr sz="1800"/>
          </a:p>
          <a:p>
            <a:pPr indent="-342900" lvl="0" marL="457200" rtl="0" algn="l">
              <a:lnSpc>
                <a:spcPct val="115000"/>
              </a:lnSpc>
              <a:spcBef>
                <a:spcPts val="1600"/>
              </a:spcBef>
              <a:spcAft>
                <a:spcPts val="0"/>
              </a:spcAft>
              <a:buSzPts val="1800"/>
              <a:buChar char="●"/>
            </a:pPr>
            <a:r>
              <a:rPr b="1" lang="pt-BR" sz="1800">
                <a:solidFill>
                  <a:srgbClr val="000000"/>
                </a:solidFill>
              </a:rPr>
              <a:t>MCV</a:t>
            </a:r>
            <a:r>
              <a:rPr lang="pt-BR" sz="1800"/>
              <a:t> - Mean Corpuscular Volume</a:t>
            </a:r>
            <a:endParaRPr sz="1800"/>
          </a:p>
          <a:p>
            <a:pPr indent="-330200" lvl="1" marL="914400" rtl="0" algn="l">
              <a:lnSpc>
                <a:spcPct val="115000"/>
              </a:lnSpc>
              <a:spcBef>
                <a:spcPts val="0"/>
              </a:spcBef>
              <a:spcAft>
                <a:spcPts val="0"/>
              </a:spcAft>
              <a:buSzPts val="1600"/>
              <a:buChar char="○"/>
            </a:pPr>
            <a:r>
              <a:rPr lang="pt-BR" sz="1600"/>
              <a:t>Average size of Green Blood Cells</a:t>
            </a:r>
            <a:endParaRPr sz="1600"/>
          </a:p>
        </p:txBody>
      </p:sp>
      <p:pic>
        <p:nvPicPr>
          <p:cNvPr id="434" name="Google Shape;434;g3fbb7e4475e_0_443"/>
          <p:cNvPicPr preferRelativeResize="0"/>
          <p:nvPr/>
        </p:nvPicPr>
        <p:blipFill rotWithShape="1">
          <a:blip r:embed="rId3">
            <a:alphaModFix/>
          </a:blip>
          <a:srcRect b="0" l="0" r="0" t="0"/>
          <a:stretch/>
        </p:blipFill>
        <p:spPr>
          <a:xfrm>
            <a:off x="1203675" y="393025"/>
            <a:ext cx="646075" cy="722350"/>
          </a:xfrm>
          <a:prstGeom prst="rect">
            <a:avLst/>
          </a:prstGeom>
          <a:noFill/>
          <a:ln>
            <a:noFill/>
          </a:ln>
        </p:spPr>
      </p:pic>
      <p:grpSp>
        <p:nvGrpSpPr>
          <p:cNvPr id="435" name="Google Shape;435;g3fbb7e4475e_0_443"/>
          <p:cNvGrpSpPr/>
          <p:nvPr/>
        </p:nvGrpSpPr>
        <p:grpSpPr>
          <a:xfrm>
            <a:off x="1114975" y="1742464"/>
            <a:ext cx="1356997" cy="722356"/>
            <a:chOff x="5398900" y="2038161"/>
            <a:chExt cx="2520425" cy="1286475"/>
          </a:xfrm>
        </p:grpSpPr>
        <p:pic>
          <p:nvPicPr>
            <p:cNvPr id="436" name="Google Shape;436;g3fbb7e4475e_0_443"/>
            <p:cNvPicPr preferRelativeResize="0"/>
            <p:nvPr/>
          </p:nvPicPr>
          <p:blipFill rotWithShape="1">
            <a:blip r:embed="rId4">
              <a:alphaModFix/>
            </a:blip>
            <a:srcRect b="0" l="0" r="0" t="0"/>
            <a:stretch/>
          </p:blipFill>
          <p:spPr>
            <a:xfrm>
              <a:off x="5398900" y="2038161"/>
              <a:ext cx="2520425" cy="1286475"/>
            </a:xfrm>
            <a:prstGeom prst="rect">
              <a:avLst/>
            </a:prstGeom>
            <a:noFill/>
            <a:ln>
              <a:noFill/>
            </a:ln>
          </p:spPr>
        </p:pic>
        <p:pic>
          <p:nvPicPr>
            <p:cNvPr id="437" name="Google Shape;437;g3fbb7e4475e_0_443"/>
            <p:cNvPicPr preferRelativeResize="0"/>
            <p:nvPr/>
          </p:nvPicPr>
          <p:blipFill rotWithShape="1">
            <a:blip r:embed="rId3">
              <a:alphaModFix/>
            </a:blip>
            <a:srcRect b="0" l="0" r="0" t="0"/>
            <a:stretch/>
          </p:blipFill>
          <p:spPr>
            <a:xfrm>
              <a:off x="5733375" y="2331778"/>
              <a:ext cx="296518" cy="289953"/>
            </a:xfrm>
            <a:prstGeom prst="rect">
              <a:avLst/>
            </a:prstGeom>
            <a:noFill/>
            <a:ln>
              <a:noFill/>
            </a:ln>
          </p:spPr>
        </p:pic>
        <p:pic>
          <p:nvPicPr>
            <p:cNvPr id="438" name="Google Shape;438;g3fbb7e4475e_0_443"/>
            <p:cNvPicPr preferRelativeResize="0"/>
            <p:nvPr/>
          </p:nvPicPr>
          <p:blipFill rotWithShape="1">
            <a:blip r:embed="rId3">
              <a:alphaModFix/>
            </a:blip>
            <a:srcRect b="0" l="0" r="0" t="0"/>
            <a:stretch/>
          </p:blipFill>
          <p:spPr>
            <a:xfrm>
              <a:off x="6140704" y="2189376"/>
              <a:ext cx="296518" cy="289953"/>
            </a:xfrm>
            <a:prstGeom prst="rect">
              <a:avLst/>
            </a:prstGeom>
            <a:noFill/>
            <a:ln>
              <a:noFill/>
            </a:ln>
          </p:spPr>
        </p:pic>
        <p:pic>
          <p:nvPicPr>
            <p:cNvPr id="439" name="Google Shape;439;g3fbb7e4475e_0_443"/>
            <p:cNvPicPr preferRelativeResize="0"/>
            <p:nvPr/>
          </p:nvPicPr>
          <p:blipFill rotWithShape="1">
            <a:blip r:embed="rId3">
              <a:alphaModFix/>
            </a:blip>
            <a:srcRect b="0" l="0" r="0" t="0"/>
            <a:stretch/>
          </p:blipFill>
          <p:spPr>
            <a:xfrm>
              <a:off x="5766393" y="2734847"/>
              <a:ext cx="296518" cy="289953"/>
            </a:xfrm>
            <a:prstGeom prst="rect">
              <a:avLst/>
            </a:prstGeom>
            <a:noFill/>
            <a:ln>
              <a:noFill/>
            </a:ln>
          </p:spPr>
        </p:pic>
        <p:pic>
          <p:nvPicPr>
            <p:cNvPr id="440" name="Google Shape;440;g3fbb7e4475e_0_443"/>
            <p:cNvPicPr preferRelativeResize="0"/>
            <p:nvPr/>
          </p:nvPicPr>
          <p:blipFill rotWithShape="1">
            <a:blip r:embed="rId3">
              <a:alphaModFix/>
            </a:blip>
            <a:srcRect b="0" l="0" r="0" t="0"/>
            <a:stretch/>
          </p:blipFill>
          <p:spPr>
            <a:xfrm>
              <a:off x="6140698" y="2885595"/>
              <a:ext cx="296518" cy="289953"/>
            </a:xfrm>
            <a:prstGeom prst="rect">
              <a:avLst/>
            </a:prstGeom>
            <a:noFill/>
            <a:ln>
              <a:noFill/>
            </a:ln>
          </p:spPr>
        </p:pic>
        <p:pic>
          <p:nvPicPr>
            <p:cNvPr id="441" name="Google Shape;441;g3fbb7e4475e_0_443"/>
            <p:cNvPicPr preferRelativeResize="0"/>
            <p:nvPr/>
          </p:nvPicPr>
          <p:blipFill rotWithShape="1">
            <a:blip r:embed="rId3">
              <a:alphaModFix/>
            </a:blip>
            <a:srcRect b="0" l="0" r="0" t="0"/>
            <a:stretch/>
          </p:blipFill>
          <p:spPr>
            <a:xfrm>
              <a:off x="6998078" y="2088052"/>
              <a:ext cx="296518" cy="289953"/>
            </a:xfrm>
            <a:prstGeom prst="rect">
              <a:avLst/>
            </a:prstGeom>
            <a:noFill/>
            <a:ln>
              <a:noFill/>
            </a:ln>
          </p:spPr>
        </p:pic>
        <p:pic>
          <p:nvPicPr>
            <p:cNvPr id="442" name="Google Shape;442;g3fbb7e4475e_0_443"/>
            <p:cNvPicPr preferRelativeResize="0"/>
            <p:nvPr/>
          </p:nvPicPr>
          <p:blipFill rotWithShape="1">
            <a:blip r:embed="rId3">
              <a:alphaModFix/>
            </a:blip>
            <a:srcRect b="0" l="0" r="0" t="0"/>
            <a:stretch/>
          </p:blipFill>
          <p:spPr>
            <a:xfrm>
              <a:off x="7512007" y="2378000"/>
              <a:ext cx="296518" cy="289953"/>
            </a:xfrm>
            <a:prstGeom prst="rect">
              <a:avLst/>
            </a:prstGeom>
            <a:noFill/>
            <a:ln>
              <a:noFill/>
            </a:ln>
          </p:spPr>
        </p:pic>
      </p:grpSp>
      <p:pic>
        <p:nvPicPr>
          <p:cNvPr id="443" name="Google Shape;443;g3fbb7e4475e_0_443"/>
          <p:cNvPicPr preferRelativeResize="0"/>
          <p:nvPr/>
        </p:nvPicPr>
        <p:blipFill rotWithShape="1">
          <a:blip r:embed="rId4">
            <a:alphaModFix/>
          </a:blip>
          <a:srcRect b="0" l="0" r="0" t="0"/>
          <a:stretch/>
        </p:blipFill>
        <p:spPr>
          <a:xfrm>
            <a:off x="1114975" y="4403367"/>
            <a:ext cx="1039100" cy="530382"/>
          </a:xfrm>
          <a:prstGeom prst="rect">
            <a:avLst/>
          </a:prstGeom>
          <a:noFill/>
          <a:ln>
            <a:noFill/>
          </a:ln>
        </p:spPr>
      </p:pic>
      <p:pic>
        <p:nvPicPr>
          <p:cNvPr id="444" name="Google Shape;444;g3fbb7e4475e_0_443"/>
          <p:cNvPicPr preferRelativeResize="0"/>
          <p:nvPr/>
        </p:nvPicPr>
        <p:blipFill rotWithShape="1">
          <a:blip r:embed="rId4">
            <a:alphaModFix/>
          </a:blip>
          <a:srcRect b="0" l="0" r="0" t="0"/>
          <a:stretch/>
        </p:blipFill>
        <p:spPr>
          <a:xfrm>
            <a:off x="2373375" y="4458122"/>
            <a:ext cx="704725" cy="359675"/>
          </a:xfrm>
          <a:prstGeom prst="rect">
            <a:avLst/>
          </a:prstGeom>
          <a:noFill/>
          <a:ln>
            <a:noFill/>
          </a:ln>
        </p:spPr>
      </p:pic>
      <p:pic>
        <p:nvPicPr>
          <p:cNvPr id="445" name="Google Shape;445;g3fbb7e4475e_0_443"/>
          <p:cNvPicPr preferRelativeResize="0"/>
          <p:nvPr/>
        </p:nvPicPr>
        <p:blipFill rotWithShape="1">
          <a:blip r:embed="rId4">
            <a:alphaModFix/>
          </a:blip>
          <a:srcRect b="0" l="0" r="0" t="0"/>
          <a:stretch/>
        </p:blipFill>
        <p:spPr>
          <a:xfrm>
            <a:off x="3297400" y="4491401"/>
            <a:ext cx="866700" cy="442350"/>
          </a:xfrm>
          <a:prstGeom prst="rect">
            <a:avLst/>
          </a:prstGeom>
          <a:noFill/>
          <a:ln>
            <a:noFill/>
          </a:ln>
        </p:spPr>
      </p:pic>
      <p:pic>
        <p:nvPicPr>
          <p:cNvPr id="446" name="Google Shape;446;g3fbb7e4475e_0_443"/>
          <p:cNvPicPr preferRelativeResize="0"/>
          <p:nvPr/>
        </p:nvPicPr>
        <p:blipFill rotWithShape="1">
          <a:blip r:embed="rId4">
            <a:alphaModFix/>
          </a:blip>
          <a:srcRect b="0" l="0" r="0" t="0"/>
          <a:stretch/>
        </p:blipFill>
        <p:spPr>
          <a:xfrm>
            <a:off x="4410625" y="4649804"/>
            <a:ext cx="646075" cy="329747"/>
          </a:xfrm>
          <a:prstGeom prst="rect">
            <a:avLst/>
          </a:prstGeom>
          <a:noFill/>
          <a:ln>
            <a:noFill/>
          </a:ln>
        </p:spPr>
      </p:pic>
      <p:pic>
        <p:nvPicPr>
          <p:cNvPr id="447" name="Google Shape;447;g3fbb7e4475e_0_443"/>
          <p:cNvPicPr preferRelativeResize="0"/>
          <p:nvPr/>
        </p:nvPicPr>
        <p:blipFill rotWithShape="1">
          <a:blip r:embed="rId4">
            <a:alphaModFix/>
          </a:blip>
          <a:srcRect b="0" l="0" r="0" t="0"/>
          <a:stretch/>
        </p:blipFill>
        <p:spPr>
          <a:xfrm>
            <a:off x="3139400" y="3180896"/>
            <a:ext cx="1099450" cy="561179"/>
          </a:xfrm>
          <a:prstGeom prst="rect">
            <a:avLst/>
          </a:prstGeom>
          <a:noFill/>
          <a:ln>
            <a:noFill/>
          </a:ln>
        </p:spPr>
      </p:pic>
      <p:pic>
        <p:nvPicPr>
          <p:cNvPr id="448" name="Google Shape;448;g3fbb7e4475e_0_443"/>
          <p:cNvPicPr preferRelativeResize="0"/>
          <p:nvPr/>
        </p:nvPicPr>
        <p:blipFill rotWithShape="1">
          <a:blip r:embed="rId5">
            <a:alphaModFix/>
          </a:blip>
          <a:srcRect b="0" l="0" r="0" t="0"/>
          <a:stretch/>
        </p:blipFill>
        <p:spPr>
          <a:xfrm>
            <a:off x="1820250" y="3180900"/>
            <a:ext cx="1099450" cy="561159"/>
          </a:xfrm>
          <a:prstGeom prst="rect">
            <a:avLst/>
          </a:prstGeom>
          <a:noFill/>
          <a:ln>
            <a:noFill/>
          </a:ln>
        </p:spPr>
      </p:pic>
      <p:pic>
        <p:nvPicPr>
          <p:cNvPr id="449" name="Google Shape;449;g3fbb7e4475e_0_443"/>
          <p:cNvPicPr preferRelativeResize="0"/>
          <p:nvPr/>
        </p:nvPicPr>
        <p:blipFill rotWithShape="1">
          <a:blip r:embed="rId6">
            <a:alphaModFix/>
          </a:blip>
          <a:srcRect b="0" l="0" r="0" t="0"/>
          <a:stretch/>
        </p:blipFill>
        <p:spPr>
          <a:xfrm>
            <a:off x="632975" y="3153513"/>
            <a:ext cx="1099468" cy="5611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fbb7e4475e_0_4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Labeled Data</a:t>
            </a:r>
            <a:endParaRPr/>
          </a:p>
        </p:txBody>
      </p:sp>
      <p:graphicFrame>
        <p:nvGraphicFramePr>
          <p:cNvPr id="455" name="Google Shape;455;g3fbb7e4475e_0_463"/>
          <p:cNvGraphicFramePr/>
          <p:nvPr/>
        </p:nvGraphicFramePr>
        <p:xfrm>
          <a:off x="2877375" y="1651875"/>
          <a:ext cx="3000000" cy="3000000"/>
        </p:xfrm>
        <a:graphic>
          <a:graphicData uri="http://schemas.openxmlformats.org/drawingml/2006/table">
            <a:tbl>
              <a:tblPr>
                <a:noFill/>
                <a:tableStyleId>{D33BB5FC-66A1-48A0-959A-E853AC047F4A}</a:tableStyleId>
              </a:tblPr>
              <a:tblGrid>
                <a:gridCol w="952500"/>
                <a:gridCol w="952500"/>
                <a:gridCol w="952500"/>
                <a:gridCol w="952500"/>
                <a:gridCol w="952500"/>
                <a:gridCol w="952500"/>
              </a:tblGrid>
              <a:tr h="200025">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gs</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mcgs</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mcgsc</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mcv</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gender</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anemia</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29.1</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83.7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15.9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25.4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21.5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71.2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31.4</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87.5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99.5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11.6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30.9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74.5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12.7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19.5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82.9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12.7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92.3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14.1</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29.7</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30.5</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75.2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25.8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31.3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82.9</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not 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18.3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29.6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87.8</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anemia</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56" name="Google Shape;456;g3fbb7e4475e_0_463"/>
          <p:cNvSpPr/>
          <p:nvPr/>
        </p:nvSpPr>
        <p:spPr>
          <a:xfrm>
            <a:off x="2837550" y="1622450"/>
            <a:ext cx="4722300" cy="2602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g3fbb7e4475e_0_463"/>
          <p:cNvSpPr txBox="1"/>
          <p:nvPr/>
        </p:nvSpPr>
        <p:spPr>
          <a:xfrm>
            <a:off x="1284150" y="2591700"/>
            <a:ext cx="1083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FF0000"/>
                </a:solidFill>
                <a:latin typeface="Arial"/>
                <a:ea typeface="Arial"/>
                <a:cs typeface="Arial"/>
                <a:sym typeface="Arial"/>
              </a:rPr>
              <a:t>features</a:t>
            </a:r>
            <a:endParaRPr b="1" i="0" sz="1800" u="none" cap="none" strike="noStrike">
              <a:solidFill>
                <a:srgbClr val="FF0000"/>
              </a:solidFill>
              <a:latin typeface="Arial"/>
              <a:ea typeface="Arial"/>
              <a:cs typeface="Arial"/>
              <a:sym typeface="Arial"/>
            </a:endParaRPr>
          </a:p>
        </p:txBody>
      </p:sp>
      <p:cxnSp>
        <p:nvCxnSpPr>
          <p:cNvPr id="458" name="Google Shape;458;g3fbb7e4475e_0_463"/>
          <p:cNvCxnSpPr>
            <a:stCxn id="457" idx="3"/>
            <a:endCxn id="456" idx="1"/>
          </p:cNvCxnSpPr>
          <p:nvPr/>
        </p:nvCxnSpPr>
        <p:spPr>
          <a:xfrm>
            <a:off x="2368050" y="2822550"/>
            <a:ext cx="469500" cy="101400"/>
          </a:xfrm>
          <a:prstGeom prst="straightConnector1">
            <a:avLst/>
          </a:prstGeom>
          <a:noFill/>
          <a:ln cap="flat" cmpd="sng" w="38100">
            <a:solidFill>
              <a:srgbClr val="FF0000"/>
            </a:solidFill>
            <a:prstDash val="solid"/>
            <a:round/>
            <a:headEnd len="sm" w="sm" type="none"/>
            <a:tailEnd len="med" w="med" type="stealth"/>
          </a:ln>
        </p:spPr>
      </p:cxnSp>
      <p:sp>
        <p:nvSpPr>
          <p:cNvPr id="459" name="Google Shape;459;g3fbb7e4475e_0_463"/>
          <p:cNvSpPr/>
          <p:nvPr/>
        </p:nvSpPr>
        <p:spPr>
          <a:xfrm>
            <a:off x="7628900" y="1608650"/>
            <a:ext cx="1083900" cy="2616600"/>
          </a:xfrm>
          <a:prstGeom prst="rect">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fbb7e4475e_0_463"/>
          <p:cNvSpPr txBox="1"/>
          <p:nvPr/>
        </p:nvSpPr>
        <p:spPr>
          <a:xfrm>
            <a:off x="6800975" y="4470125"/>
            <a:ext cx="959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lang="pt-BR" sz="1800">
                <a:solidFill>
                  <a:srgbClr val="9900FF"/>
                </a:solidFill>
              </a:rPr>
              <a:t>labels</a:t>
            </a:r>
            <a:endParaRPr b="1" i="0" sz="1800" u="none" cap="none" strike="noStrike">
              <a:solidFill>
                <a:srgbClr val="9900FF"/>
              </a:solidFill>
              <a:latin typeface="Arial"/>
              <a:ea typeface="Arial"/>
              <a:cs typeface="Arial"/>
              <a:sym typeface="Arial"/>
            </a:endParaRPr>
          </a:p>
        </p:txBody>
      </p:sp>
      <p:cxnSp>
        <p:nvCxnSpPr>
          <p:cNvPr id="461" name="Google Shape;461;g3fbb7e4475e_0_463"/>
          <p:cNvCxnSpPr>
            <a:endCxn id="459" idx="2"/>
          </p:cNvCxnSpPr>
          <p:nvPr/>
        </p:nvCxnSpPr>
        <p:spPr>
          <a:xfrm flipH="1" rot="10800000">
            <a:off x="7594550" y="4225250"/>
            <a:ext cx="576300" cy="331500"/>
          </a:xfrm>
          <a:prstGeom prst="straightConnector1">
            <a:avLst/>
          </a:prstGeom>
          <a:noFill/>
          <a:ln cap="flat" cmpd="sng" w="38100">
            <a:solidFill>
              <a:srgbClr val="9900FF"/>
            </a:solidFill>
            <a:prstDash val="solid"/>
            <a:round/>
            <a:headEnd len="sm" w="sm" type="none"/>
            <a:tailEnd len="med" w="med" type="stealth"/>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fbbe1c27eb_1_91"/>
          <p:cNvSpPr txBox="1"/>
          <p:nvPr/>
        </p:nvSpPr>
        <p:spPr>
          <a:xfrm>
            <a:off x="61350" y="4113350"/>
            <a:ext cx="2322000" cy="985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600"/>
              </a:spcBef>
              <a:spcAft>
                <a:spcPts val="0"/>
              </a:spcAft>
              <a:buNone/>
            </a:pPr>
            <a:r>
              <a:rPr b="1" lang="pt-BR" sz="1800">
                <a:solidFill>
                  <a:schemeClr val="dk1"/>
                </a:solidFill>
                <a:latin typeface="Comfortaa"/>
                <a:ea typeface="Comfortaa"/>
                <a:cs typeface="Comfortaa"/>
                <a:sym typeface="Comfortaa"/>
              </a:rPr>
              <a:t>Anemia</a:t>
            </a:r>
            <a:endParaRPr b="1" sz="1800">
              <a:solidFill>
                <a:schemeClr val="dk1"/>
              </a:solidFill>
              <a:latin typeface="Comfortaa"/>
              <a:ea typeface="Comfortaa"/>
              <a:cs typeface="Comfortaa"/>
              <a:sym typeface="Comfortaa"/>
            </a:endParaRPr>
          </a:p>
          <a:p>
            <a:pPr indent="0" lvl="0" marL="0" rtl="0" algn="l">
              <a:lnSpc>
                <a:spcPct val="115000"/>
              </a:lnSpc>
              <a:spcBef>
                <a:spcPts val="1600"/>
              </a:spcBef>
              <a:spcAft>
                <a:spcPts val="1600"/>
              </a:spcAft>
              <a:buNone/>
            </a:pPr>
            <a:r>
              <a:rPr b="1" lang="pt-BR" sz="1800">
                <a:solidFill>
                  <a:schemeClr val="dk1"/>
                </a:solidFill>
                <a:latin typeface="Comfortaa"/>
                <a:ea typeface="Comfortaa"/>
                <a:cs typeface="Comfortaa"/>
                <a:sym typeface="Comfortaa"/>
              </a:rPr>
              <a:t>Not anemia</a:t>
            </a:r>
            <a:endParaRPr/>
          </a:p>
        </p:txBody>
      </p:sp>
      <p:sp>
        <p:nvSpPr>
          <p:cNvPr id="467" name="Google Shape;467;g3fbbe1c27eb_1_91"/>
          <p:cNvSpPr txBox="1"/>
          <p:nvPr>
            <p:ph type="title"/>
          </p:nvPr>
        </p:nvSpPr>
        <p:spPr>
          <a:xfrm>
            <a:off x="311700" y="33200"/>
            <a:ext cx="3481800" cy="1119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pt-BR"/>
              <a:t>MCV X GS ￫ Anemia</a:t>
            </a:r>
            <a:endParaRPr/>
          </a:p>
        </p:txBody>
      </p:sp>
      <p:sp>
        <p:nvSpPr>
          <p:cNvPr id="468" name="Google Shape;468;g3fbbe1c27eb_1_91"/>
          <p:cNvSpPr txBox="1"/>
          <p:nvPr>
            <p:ph idx="1" type="body"/>
          </p:nvPr>
        </p:nvSpPr>
        <p:spPr>
          <a:xfrm>
            <a:off x="187388" y="1849350"/>
            <a:ext cx="3606000" cy="72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2400"/>
              <a:buNone/>
            </a:pPr>
            <a:r>
              <a:rPr b="1" lang="pt-BR" sz="1800">
                <a:solidFill>
                  <a:schemeClr val="dk1"/>
                </a:solidFill>
              </a:rPr>
              <a:t>MCV</a:t>
            </a:r>
            <a:r>
              <a:rPr lang="pt-BR" sz="1800"/>
              <a:t> - Mean Corpuscular Volume</a:t>
            </a:r>
            <a:endParaRPr sz="1800"/>
          </a:p>
          <a:p>
            <a:pPr indent="0" lvl="0" marL="0" rtl="0" algn="l">
              <a:lnSpc>
                <a:spcPct val="115000"/>
              </a:lnSpc>
              <a:spcBef>
                <a:spcPts val="1600"/>
              </a:spcBef>
              <a:spcAft>
                <a:spcPts val="0"/>
              </a:spcAft>
              <a:buSzPts val="2400"/>
              <a:buNone/>
            </a:pPr>
            <a:r>
              <a:t/>
            </a:r>
            <a:endParaRPr sz="1800"/>
          </a:p>
          <a:p>
            <a:pPr indent="0" lvl="0" marL="0" rtl="0" algn="l">
              <a:lnSpc>
                <a:spcPct val="115000"/>
              </a:lnSpc>
              <a:spcBef>
                <a:spcPts val="1600"/>
              </a:spcBef>
              <a:spcAft>
                <a:spcPts val="0"/>
              </a:spcAft>
              <a:buSzPts val="2400"/>
              <a:buNone/>
            </a:pPr>
            <a:r>
              <a:t/>
            </a:r>
            <a:endParaRPr sz="1800"/>
          </a:p>
          <a:p>
            <a:pPr indent="0" lvl="0" marL="0" rtl="0" algn="l">
              <a:lnSpc>
                <a:spcPct val="115000"/>
              </a:lnSpc>
              <a:spcBef>
                <a:spcPts val="1600"/>
              </a:spcBef>
              <a:spcAft>
                <a:spcPts val="1600"/>
              </a:spcAft>
              <a:buSzPts val="2400"/>
              <a:buNone/>
            </a:pPr>
            <a:r>
              <a:t/>
            </a:r>
            <a:endParaRPr b="1" sz="1800">
              <a:solidFill>
                <a:schemeClr val="dk1"/>
              </a:solidFill>
            </a:endParaRPr>
          </a:p>
        </p:txBody>
      </p:sp>
      <p:pic>
        <p:nvPicPr>
          <p:cNvPr id="469" name="Google Shape;469;g3fbbe1c27eb_1_91"/>
          <p:cNvPicPr preferRelativeResize="0"/>
          <p:nvPr/>
        </p:nvPicPr>
        <p:blipFill rotWithShape="1">
          <a:blip r:embed="rId3">
            <a:alphaModFix/>
          </a:blip>
          <a:srcRect b="0" l="0" r="0" t="0"/>
          <a:stretch/>
        </p:blipFill>
        <p:spPr>
          <a:xfrm>
            <a:off x="7640075" y="4244925"/>
            <a:ext cx="646075" cy="722350"/>
          </a:xfrm>
          <a:prstGeom prst="rect">
            <a:avLst/>
          </a:prstGeom>
          <a:noFill/>
          <a:ln>
            <a:noFill/>
          </a:ln>
        </p:spPr>
      </p:pic>
      <p:pic>
        <p:nvPicPr>
          <p:cNvPr id="470" name="Google Shape;470;g3fbbe1c27eb_1_91"/>
          <p:cNvPicPr preferRelativeResize="0"/>
          <p:nvPr/>
        </p:nvPicPr>
        <p:blipFill rotWithShape="1">
          <a:blip r:embed="rId4">
            <a:alphaModFix/>
          </a:blip>
          <a:srcRect b="0" l="0" r="0" t="0"/>
          <a:stretch/>
        </p:blipFill>
        <p:spPr>
          <a:xfrm>
            <a:off x="230675" y="2629417"/>
            <a:ext cx="1039100" cy="530382"/>
          </a:xfrm>
          <a:prstGeom prst="rect">
            <a:avLst/>
          </a:prstGeom>
          <a:noFill/>
          <a:ln>
            <a:noFill/>
          </a:ln>
        </p:spPr>
      </p:pic>
      <p:pic>
        <p:nvPicPr>
          <p:cNvPr id="471" name="Google Shape;471;g3fbbe1c27eb_1_91"/>
          <p:cNvPicPr preferRelativeResize="0"/>
          <p:nvPr/>
        </p:nvPicPr>
        <p:blipFill rotWithShape="1">
          <a:blip r:embed="rId4">
            <a:alphaModFix/>
          </a:blip>
          <a:srcRect b="0" l="0" r="0" t="0"/>
          <a:stretch/>
        </p:blipFill>
        <p:spPr>
          <a:xfrm>
            <a:off x="1489075" y="2684172"/>
            <a:ext cx="704725" cy="359675"/>
          </a:xfrm>
          <a:prstGeom prst="rect">
            <a:avLst/>
          </a:prstGeom>
          <a:noFill/>
          <a:ln>
            <a:noFill/>
          </a:ln>
        </p:spPr>
      </p:pic>
      <p:pic>
        <p:nvPicPr>
          <p:cNvPr id="472" name="Google Shape;472;g3fbbe1c27eb_1_91"/>
          <p:cNvPicPr preferRelativeResize="0"/>
          <p:nvPr/>
        </p:nvPicPr>
        <p:blipFill rotWithShape="1">
          <a:blip r:embed="rId4">
            <a:alphaModFix/>
          </a:blip>
          <a:srcRect b="0" l="0" r="0" t="0"/>
          <a:stretch/>
        </p:blipFill>
        <p:spPr>
          <a:xfrm>
            <a:off x="2413100" y="2717451"/>
            <a:ext cx="866700" cy="442350"/>
          </a:xfrm>
          <a:prstGeom prst="rect">
            <a:avLst/>
          </a:prstGeom>
          <a:noFill/>
          <a:ln>
            <a:noFill/>
          </a:ln>
        </p:spPr>
      </p:pic>
      <p:pic>
        <p:nvPicPr>
          <p:cNvPr id="473" name="Google Shape;473;g3fbbe1c27eb_1_91"/>
          <p:cNvPicPr preferRelativeResize="0"/>
          <p:nvPr/>
        </p:nvPicPr>
        <p:blipFill rotWithShape="1">
          <a:blip r:embed="rId4">
            <a:alphaModFix/>
          </a:blip>
          <a:srcRect b="0" l="0" r="0" t="0"/>
          <a:stretch/>
        </p:blipFill>
        <p:spPr>
          <a:xfrm>
            <a:off x="1894000" y="3159804"/>
            <a:ext cx="646075" cy="329747"/>
          </a:xfrm>
          <a:prstGeom prst="rect">
            <a:avLst/>
          </a:prstGeom>
          <a:noFill/>
          <a:ln>
            <a:noFill/>
          </a:ln>
        </p:spPr>
      </p:pic>
      <p:sp>
        <p:nvSpPr>
          <p:cNvPr id="474" name="Google Shape;474;g3fbbe1c27eb_1_91"/>
          <p:cNvSpPr/>
          <p:nvPr/>
        </p:nvSpPr>
        <p:spPr>
          <a:xfrm>
            <a:off x="1908400" y="4667575"/>
            <a:ext cx="303900" cy="2997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3fbbe1c27eb_1_91"/>
          <p:cNvSpPr/>
          <p:nvPr/>
        </p:nvSpPr>
        <p:spPr>
          <a:xfrm>
            <a:off x="1908400" y="4197925"/>
            <a:ext cx="303900" cy="2997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6" name="Google Shape;476;g3fbbe1c27eb_1_91"/>
          <p:cNvPicPr preferRelativeResize="0"/>
          <p:nvPr/>
        </p:nvPicPr>
        <p:blipFill rotWithShape="1">
          <a:blip r:embed="rId5">
            <a:alphaModFix/>
          </a:blip>
          <a:srcRect b="0" l="0" r="0" t="0"/>
          <a:stretch/>
        </p:blipFill>
        <p:spPr>
          <a:xfrm>
            <a:off x="3812550" y="196350"/>
            <a:ext cx="4921500" cy="3797149"/>
          </a:xfrm>
          <a:prstGeom prst="rect">
            <a:avLst/>
          </a:prstGeom>
          <a:noFill/>
          <a:ln>
            <a:noFill/>
          </a:ln>
        </p:spPr>
      </p:pic>
      <p:sp>
        <p:nvSpPr>
          <p:cNvPr id="477" name="Google Shape;477;g3fbbe1c27eb_1_91"/>
          <p:cNvSpPr txBox="1"/>
          <p:nvPr/>
        </p:nvSpPr>
        <p:spPr>
          <a:xfrm>
            <a:off x="4773300" y="4375250"/>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pt-BR" sz="1800">
                <a:solidFill>
                  <a:schemeClr val="dk1"/>
                </a:solidFill>
                <a:latin typeface="Comfortaa"/>
                <a:ea typeface="Comfortaa"/>
                <a:cs typeface="Comfortaa"/>
                <a:sym typeface="Comfortaa"/>
              </a:rPr>
              <a:t>GS</a:t>
            </a:r>
            <a:r>
              <a:rPr lang="pt-BR" sz="1800">
                <a:solidFill>
                  <a:srgbClr val="434343"/>
                </a:solidFill>
                <a:latin typeface="Comfortaa"/>
                <a:ea typeface="Comfortaa"/>
                <a:cs typeface="Comfortaa"/>
                <a:sym typeface="Comfortaa"/>
              </a:rPr>
              <a:t> - Green Substance</a:t>
            </a:r>
            <a:endParaRPr sz="1800">
              <a:solidFill>
                <a:srgbClr val="434343"/>
              </a:solidFill>
              <a:latin typeface="Comfortaa"/>
              <a:ea typeface="Comfortaa"/>
              <a:cs typeface="Comfortaa"/>
              <a:sym typeface="Comforta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fbbe1c27eb_1_108"/>
          <p:cNvSpPr txBox="1"/>
          <p:nvPr/>
        </p:nvSpPr>
        <p:spPr>
          <a:xfrm>
            <a:off x="61350" y="4113350"/>
            <a:ext cx="2322000" cy="985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600"/>
              </a:spcBef>
              <a:spcAft>
                <a:spcPts val="0"/>
              </a:spcAft>
              <a:buNone/>
            </a:pPr>
            <a:r>
              <a:rPr b="1" lang="pt-BR" sz="1800">
                <a:solidFill>
                  <a:schemeClr val="dk1"/>
                </a:solidFill>
                <a:latin typeface="Comfortaa"/>
                <a:ea typeface="Comfortaa"/>
                <a:cs typeface="Comfortaa"/>
                <a:sym typeface="Comfortaa"/>
              </a:rPr>
              <a:t>Anemia</a:t>
            </a:r>
            <a:endParaRPr b="1" sz="1800">
              <a:solidFill>
                <a:schemeClr val="dk1"/>
              </a:solidFill>
              <a:latin typeface="Comfortaa"/>
              <a:ea typeface="Comfortaa"/>
              <a:cs typeface="Comfortaa"/>
              <a:sym typeface="Comfortaa"/>
            </a:endParaRPr>
          </a:p>
          <a:p>
            <a:pPr indent="0" lvl="0" marL="0" rtl="0" algn="l">
              <a:lnSpc>
                <a:spcPct val="115000"/>
              </a:lnSpc>
              <a:spcBef>
                <a:spcPts val="1600"/>
              </a:spcBef>
              <a:spcAft>
                <a:spcPts val="1600"/>
              </a:spcAft>
              <a:buNone/>
            </a:pPr>
            <a:r>
              <a:rPr b="1" lang="pt-BR" sz="1800">
                <a:solidFill>
                  <a:schemeClr val="dk1"/>
                </a:solidFill>
                <a:latin typeface="Comfortaa"/>
                <a:ea typeface="Comfortaa"/>
                <a:cs typeface="Comfortaa"/>
                <a:sym typeface="Comfortaa"/>
              </a:rPr>
              <a:t>Not anemia</a:t>
            </a:r>
            <a:endParaRPr/>
          </a:p>
        </p:txBody>
      </p:sp>
      <p:sp>
        <p:nvSpPr>
          <p:cNvPr id="483" name="Google Shape;483;g3fbbe1c27eb_1_108"/>
          <p:cNvSpPr txBox="1"/>
          <p:nvPr>
            <p:ph type="title"/>
          </p:nvPr>
        </p:nvSpPr>
        <p:spPr>
          <a:xfrm>
            <a:off x="311700" y="33200"/>
            <a:ext cx="3481800" cy="64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pt-BR"/>
              <a:t>Task 1</a:t>
            </a:r>
            <a:endParaRPr/>
          </a:p>
        </p:txBody>
      </p:sp>
      <p:sp>
        <p:nvSpPr>
          <p:cNvPr id="484" name="Google Shape;484;g3fbbe1c27eb_1_108"/>
          <p:cNvSpPr txBox="1"/>
          <p:nvPr>
            <p:ph idx="1" type="body"/>
          </p:nvPr>
        </p:nvSpPr>
        <p:spPr>
          <a:xfrm>
            <a:off x="187388" y="2269943"/>
            <a:ext cx="3606000" cy="72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2400"/>
              <a:buNone/>
            </a:pPr>
            <a:r>
              <a:rPr b="1" lang="pt-BR" sz="1800">
                <a:solidFill>
                  <a:schemeClr val="dk1"/>
                </a:solidFill>
              </a:rPr>
              <a:t>MCV</a:t>
            </a:r>
            <a:r>
              <a:rPr lang="pt-BR" sz="1800"/>
              <a:t> - Mean Corpuscular Volume</a:t>
            </a:r>
            <a:endParaRPr sz="1800"/>
          </a:p>
          <a:p>
            <a:pPr indent="0" lvl="0" marL="0" rtl="0" algn="l">
              <a:lnSpc>
                <a:spcPct val="115000"/>
              </a:lnSpc>
              <a:spcBef>
                <a:spcPts val="1600"/>
              </a:spcBef>
              <a:spcAft>
                <a:spcPts val="0"/>
              </a:spcAft>
              <a:buSzPts val="2400"/>
              <a:buNone/>
            </a:pPr>
            <a:r>
              <a:t/>
            </a:r>
            <a:endParaRPr sz="1800"/>
          </a:p>
          <a:p>
            <a:pPr indent="0" lvl="0" marL="0" rtl="0" algn="l">
              <a:lnSpc>
                <a:spcPct val="115000"/>
              </a:lnSpc>
              <a:spcBef>
                <a:spcPts val="1600"/>
              </a:spcBef>
              <a:spcAft>
                <a:spcPts val="0"/>
              </a:spcAft>
              <a:buSzPts val="2400"/>
              <a:buNone/>
            </a:pPr>
            <a:r>
              <a:t/>
            </a:r>
            <a:endParaRPr sz="1800"/>
          </a:p>
          <a:p>
            <a:pPr indent="0" lvl="0" marL="0" rtl="0" algn="l">
              <a:lnSpc>
                <a:spcPct val="115000"/>
              </a:lnSpc>
              <a:spcBef>
                <a:spcPts val="1600"/>
              </a:spcBef>
              <a:spcAft>
                <a:spcPts val="1600"/>
              </a:spcAft>
              <a:buSzPts val="2400"/>
              <a:buNone/>
            </a:pPr>
            <a:r>
              <a:t/>
            </a:r>
            <a:endParaRPr b="1" sz="1800">
              <a:solidFill>
                <a:schemeClr val="dk1"/>
              </a:solidFill>
            </a:endParaRPr>
          </a:p>
        </p:txBody>
      </p:sp>
      <p:pic>
        <p:nvPicPr>
          <p:cNvPr id="485" name="Google Shape;485;g3fbbe1c27eb_1_108"/>
          <p:cNvPicPr preferRelativeResize="0"/>
          <p:nvPr/>
        </p:nvPicPr>
        <p:blipFill rotWithShape="1">
          <a:blip r:embed="rId3">
            <a:alphaModFix/>
          </a:blip>
          <a:srcRect b="0" l="0" r="0" t="0"/>
          <a:stretch/>
        </p:blipFill>
        <p:spPr>
          <a:xfrm>
            <a:off x="7640075" y="4244925"/>
            <a:ext cx="646075" cy="722350"/>
          </a:xfrm>
          <a:prstGeom prst="rect">
            <a:avLst/>
          </a:prstGeom>
          <a:noFill/>
          <a:ln>
            <a:noFill/>
          </a:ln>
        </p:spPr>
      </p:pic>
      <p:pic>
        <p:nvPicPr>
          <p:cNvPr id="486" name="Google Shape;486;g3fbbe1c27eb_1_108"/>
          <p:cNvPicPr preferRelativeResize="0"/>
          <p:nvPr/>
        </p:nvPicPr>
        <p:blipFill rotWithShape="1">
          <a:blip r:embed="rId4">
            <a:alphaModFix/>
          </a:blip>
          <a:srcRect b="0" l="0" r="0" t="0"/>
          <a:stretch/>
        </p:blipFill>
        <p:spPr>
          <a:xfrm>
            <a:off x="230675" y="3050010"/>
            <a:ext cx="1039100" cy="530382"/>
          </a:xfrm>
          <a:prstGeom prst="rect">
            <a:avLst/>
          </a:prstGeom>
          <a:noFill/>
          <a:ln>
            <a:noFill/>
          </a:ln>
        </p:spPr>
      </p:pic>
      <p:pic>
        <p:nvPicPr>
          <p:cNvPr id="487" name="Google Shape;487;g3fbbe1c27eb_1_108"/>
          <p:cNvPicPr preferRelativeResize="0"/>
          <p:nvPr/>
        </p:nvPicPr>
        <p:blipFill rotWithShape="1">
          <a:blip r:embed="rId4">
            <a:alphaModFix/>
          </a:blip>
          <a:srcRect b="0" l="0" r="0" t="0"/>
          <a:stretch/>
        </p:blipFill>
        <p:spPr>
          <a:xfrm>
            <a:off x="1489075" y="3104765"/>
            <a:ext cx="704725" cy="359675"/>
          </a:xfrm>
          <a:prstGeom prst="rect">
            <a:avLst/>
          </a:prstGeom>
          <a:noFill/>
          <a:ln>
            <a:noFill/>
          </a:ln>
        </p:spPr>
      </p:pic>
      <p:pic>
        <p:nvPicPr>
          <p:cNvPr id="488" name="Google Shape;488;g3fbbe1c27eb_1_108"/>
          <p:cNvPicPr preferRelativeResize="0"/>
          <p:nvPr/>
        </p:nvPicPr>
        <p:blipFill rotWithShape="1">
          <a:blip r:embed="rId4">
            <a:alphaModFix/>
          </a:blip>
          <a:srcRect b="0" l="0" r="0" t="0"/>
          <a:stretch/>
        </p:blipFill>
        <p:spPr>
          <a:xfrm>
            <a:off x="2413100" y="3138044"/>
            <a:ext cx="866700" cy="442350"/>
          </a:xfrm>
          <a:prstGeom prst="rect">
            <a:avLst/>
          </a:prstGeom>
          <a:noFill/>
          <a:ln>
            <a:noFill/>
          </a:ln>
        </p:spPr>
      </p:pic>
      <p:pic>
        <p:nvPicPr>
          <p:cNvPr id="489" name="Google Shape;489;g3fbbe1c27eb_1_108"/>
          <p:cNvPicPr preferRelativeResize="0"/>
          <p:nvPr/>
        </p:nvPicPr>
        <p:blipFill rotWithShape="1">
          <a:blip r:embed="rId4">
            <a:alphaModFix/>
          </a:blip>
          <a:srcRect b="0" l="0" r="0" t="0"/>
          <a:stretch/>
        </p:blipFill>
        <p:spPr>
          <a:xfrm>
            <a:off x="1894000" y="3580397"/>
            <a:ext cx="646075" cy="329747"/>
          </a:xfrm>
          <a:prstGeom prst="rect">
            <a:avLst/>
          </a:prstGeom>
          <a:noFill/>
          <a:ln>
            <a:noFill/>
          </a:ln>
        </p:spPr>
      </p:pic>
      <p:sp>
        <p:nvSpPr>
          <p:cNvPr id="490" name="Google Shape;490;g3fbbe1c27eb_1_108"/>
          <p:cNvSpPr/>
          <p:nvPr/>
        </p:nvSpPr>
        <p:spPr>
          <a:xfrm>
            <a:off x="1908400" y="4667575"/>
            <a:ext cx="303900" cy="299700"/>
          </a:xfrm>
          <a:prstGeom prst="ellipse">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3fbbe1c27eb_1_108"/>
          <p:cNvSpPr/>
          <p:nvPr/>
        </p:nvSpPr>
        <p:spPr>
          <a:xfrm>
            <a:off x="1908400" y="4197925"/>
            <a:ext cx="303900" cy="2997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2" name="Google Shape;492;g3fbbe1c27eb_1_108"/>
          <p:cNvPicPr preferRelativeResize="0"/>
          <p:nvPr/>
        </p:nvPicPr>
        <p:blipFill rotWithShape="1">
          <a:blip r:embed="rId5">
            <a:alphaModFix/>
          </a:blip>
          <a:srcRect b="0" l="0" r="0" t="0"/>
          <a:stretch/>
        </p:blipFill>
        <p:spPr>
          <a:xfrm>
            <a:off x="3812550" y="196350"/>
            <a:ext cx="4921500" cy="3797149"/>
          </a:xfrm>
          <a:prstGeom prst="rect">
            <a:avLst/>
          </a:prstGeom>
          <a:noFill/>
          <a:ln>
            <a:noFill/>
          </a:ln>
        </p:spPr>
      </p:pic>
      <p:sp>
        <p:nvSpPr>
          <p:cNvPr id="493" name="Google Shape;493;g3fbbe1c27eb_1_108"/>
          <p:cNvSpPr txBox="1"/>
          <p:nvPr/>
        </p:nvSpPr>
        <p:spPr>
          <a:xfrm>
            <a:off x="4773300" y="4375250"/>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pt-BR" sz="1800">
                <a:solidFill>
                  <a:schemeClr val="dk1"/>
                </a:solidFill>
                <a:latin typeface="Comfortaa"/>
                <a:ea typeface="Comfortaa"/>
                <a:cs typeface="Comfortaa"/>
                <a:sym typeface="Comfortaa"/>
              </a:rPr>
              <a:t>GS</a:t>
            </a:r>
            <a:r>
              <a:rPr lang="pt-BR" sz="1800">
                <a:solidFill>
                  <a:srgbClr val="434343"/>
                </a:solidFill>
                <a:latin typeface="Comfortaa"/>
                <a:ea typeface="Comfortaa"/>
                <a:cs typeface="Comfortaa"/>
                <a:sym typeface="Comfortaa"/>
              </a:rPr>
              <a:t> - Green Substance</a:t>
            </a:r>
            <a:endParaRPr sz="1800">
              <a:solidFill>
                <a:srgbClr val="434343"/>
              </a:solidFill>
              <a:latin typeface="Comfortaa"/>
              <a:ea typeface="Comfortaa"/>
              <a:cs typeface="Comfortaa"/>
              <a:sym typeface="Comfortaa"/>
            </a:endParaRPr>
          </a:p>
        </p:txBody>
      </p:sp>
      <p:sp>
        <p:nvSpPr>
          <p:cNvPr id="494" name="Google Shape;494;g3fbbe1c27eb_1_108"/>
          <p:cNvSpPr txBox="1"/>
          <p:nvPr/>
        </p:nvSpPr>
        <p:spPr>
          <a:xfrm>
            <a:off x="271625" y="741150"/>
            <a:ext cx="35409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500">
                <a:solidFill>
                  <a:srgbClr val="434343"/>
                </a:solidFill>
                <a:latin typeface="Comfortaa"/>
                <a:ea typeface="Comfortaa"/>
                <a:cs typeface="Comfortaa"/>
                <a:sym typeface="Comfortaa"/>
              </a:rPr>
              <a:t>What insights can I learn from this graph?</a:t>
            </a:r>
            <a:endParaRPr sz="2500">
              <a:solidFill>
                <a:srgbClr val="434343"/>
              </a:solidFill>
              <a:latin typeface="Comfortaa"/>
              <a:ea typeface="Comfortaa"/>
              <a:cs typeface="Comfortaa"/>
              <a:sym typeface="Comforta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fbbe1c27eb_1_124"/>
          <p:cNvSpPr txBox="1"/>
          <p:nvPr>
            <p:ph type="title"/>
          </p:nvPr>
        </p:nvSpPr>
        <p:spPr>
          <a:xfrm>
            <a:off x="311700" y="33200"/>
            <a:ext cx="3481800" cy="64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pt-BR"/>
              <a:t>Task 1</a:t>
            </a:r>
            <a:endParaRPr/>
          </a:p>
        </p:txBody>
      </p:sp>
      <p:sp>
        <p:nvSpPr>
          <p:cNvPr id="500" name="Google Shape;500;g3fbbe1c27eb_1_124"/>
          <p:cNvSpPr txBox="1"/>
          <p:nvPr>
            <p:ph idx="1" type="body"/>
          </p:nvPr>
        </p:nvSpPr>
        <p:spPr>
          <a:xfrm>
            <a:off x="61348" y="1665349"/>
            <a:ext cx="2961600" cy="593400"/>
          </a:xfrm>
          <a:prstGeom prst="rect">
            <a:avLst/>
          </a:prstGeom>
          <a:noFill/>
          <a:ln>
            <a:noFill/>
          </a:ln>
        </p:spPr>
        <p:txBody>
          <a:bodyPr anchorCtr="0" anchor="t" bIns="75100" lIns="75100" spcFirstLastPara="1" rIns="75100" wrap="square" tIns="75100">
            <a:noAutofit/>
          </a:bodyPr>
          <a:lstStyle/>
          <a:p>
            <a:pPr indent="0" lvl="0" marL="0" rtl="0" algn="l">
              <a:lnSpc>
                <a:spcPct val="115000"/>
              </a:lnSpc>
              <a:spcBef>
                <a:spcPts val="1314"/>
              </a:spcBef>
              <a:spcAft>
                <a:spcPts val="0"/>
              </a:spcAft>
              <a:buSzPts val="1971"/>
              <a:buNone/>
            </a:pPr>
            <a:r>
              <a:rPr b="1" lang="pt-BR" sz="1478">
                <a:solidFill>
                  <a:schemeClr val="dk1"/>
                </a:solidFill>
              </a:rPr>
              <a:t>MCV</a:t>
            </a:r>
            <a:r>
              <a:rPr lang="pt-BR" sz="1478"/>
              <a:t> - Mean Corpuscular Volume</a:t>
            </a:r>
            <a:endParaRPr sz="1478"/>
          </a:p>
          <a:p>
            <a:pPr indent="0" lvl="0" marL="0" rtl="0" algn="l">
              <a:lnSpc>
                <a:spcPct val="115000"/>
              </a:lnSpc>
              <a:spcBef>
                <a:spcPts val="1314"/>
              </a:spcBef>
              <a:spcAft>
                <a:spcPts val="0"/>
              </a:spcAft>
              <a:buSzPts val="1971"/>
              <a:buNone/>
            </a:pPr>
            <a:r>
              <a:t/>
            </a:r>
            <a:endParaRPr sz="1478"/>
          </a:p>
          <a:p>
            <a:pPr indent="0" lvl="0" marL="0" rtl="0" algn="l">
              <a:lnSpc>
                <a:spcPct val="115000"/>
              </a:lnSpc>
              <a:spcBef>
                <a:spcPts val="1314"/>
              </a:spcBef>
              <a:spcAft>
                <a:spcPts val="0"/>
              </a:spcAft>
              <a:buSzPts val="1971"/>
              <a:buNone/>
            </a:pPr>
            <a:r>
              <a:t/>
            </a:r>
            <a:endParaRPr sz="1478"/>
          </a:p>
          <a:p>
            <a:pPr indent="0" lvl="0" marL="0" rtl="0" algn="l">
              <a:lnSpc>
                <a:spcPct val="115000"/>
              </a:lnSpc>
              <a:spcBef>
                <a:spcPts val="1314"/>
              </a:spcBef>
              <a:spcAft>
                <a:spcPts val="1314"/>
              </a:spcAft>
              <a:buSzPts val="1971"/>
              <a:buNone/>
            </a:pPr>
            <a:r>
              <a:t/>
            </a:r>
            <a:endParaRPr b="1" sz="1478">
              <a:solidFill>
                <a:schemeClr val="dk1"/>
              </a:solidFill>
            </a:endParaRPr>
          </a:p>
        </p:txBody>
      </p:sp>
      <p:pic>
        <p:nvPicPr>
          <p:cNvPr id="501" name="Google Shape;501;g3fbbe1c27eb_1_124"/>
          <p:cNvPicPr preferRelativeResize="0"/>
          <p:nvPr/>
        </p:nvPicPr>
        <p:blipFill rotWithShape="1">
          <a:blip r:embed="rId3">
            <a:alphaModFix/>
          </a:blip>
          <a:srcRect b="0" l="0" r="0" t="0"/>
          <a:stretch/>
        </p:blipFill>
        <p:spPr>
          <a:xfrm>
            <a:off x="7640075" y="4350075"/>
            <a:ext cx="646075" cy="722350"/>
          </a:xfrm>
          <a:prstGeom prst="rect">
            <a:avLst/>
          </a:prstGeom>
          <a:noFill/>
          <a:ln>
            <a:noFill/>
          </a:ln>
        </p:spPr>
      </p:pic>
      <p:pic>
        <p:nvPicPr>
          <p:cNvPr id="502" name="Google Shape;502;g3fbbe1c27eb_1_124"/>
          <p:cNvPicPr preferRelativeResize="0"/>
          <p:nvPr/>
        </p:nvPicPr>
        <p:blipFill rotWithShape="1">
          <a:blip r:embed="rId4">
            <a:alphaModFix/>
          </a:blip>
          <a:srcRect b="0" l="0" r="0" t="0"/>
          <a:stretch/>
        </p:blipFill>
        <p:spPr>
          <a:xfrm>
            <a:off x="96900" y="2306031"/>
            <a:ext cx="853426" cy="435609"/>
          </a:xfrm>
          <a:prstGeom prst="rect">
            <a:avLst/>
          </a:prstGeom>
          <a:noFill/>
          <a:ln>
            <a:noFill/>
          </a:ln>
        </p:spPr>
      </p:pic>
      <p:pic>
        <p:nvPicPr>
          <p:cNvPr id="503" name="Google Shape;503;g3fbbe1c27eb_1_124"/>
          <p:cNvPicPr preferRelativeResize="0"/>
          <p:nvPr/>
        </p:nvPicPr>
        <p:blipFill rotWithShape="1">
          <a:blip r:embed="rId4">
            <a:alphaModFix/>
          </a:blip>
          <a:srcRect b="0" l="0" r="0" t="0"/>
          <a:stretch/>
        </p:blipFill>
        <p:spPr>
          <a:xfrm>
            <a:off x="1130439" y="2351002"/>
            <a:ext cx="578800" cy="295405"/>
          </a:xfrm>
          <a:prstGeom prst="rect">
            <a:avLst/>
          </a:prstGeom>
          <a:noFill/>
          <a:ln>
            <a:noFill/>
          </a:ln>
        </p:spPr>
      </p:pic>
      <p:pic>
        <p:nvPicPr>
          <p:cNvPr id="504" name="Google Shape;504;g3fbbe1c27eb_1_124"/>
          <p:cNvPicPr preferRelativeResize="0"/>
          <p:nvPr/>
        </p:nvPicPr>
        <p:blipFill rotWithShape="1">
          <a:blip r:embed="rId4">
            <a:alphaModFix/>
          </a:blip>
          <a:srcRect b="0" l="0" r="0" t="0"/>
          <a:stretch/>
        </p:blipFill>
        <p:spPr>
          <a:xfrm>
            <a:off x="1889351" y="2378335"/>
            <a:ext cx="711830" cy="363307"/>
          </a:xfrm>
          <a:prstGeom prst="rect">
            <a:avLst/>
          </a:prstGeom>
          <a:noFill/>
          <a:ln>
            <a:noFill/>
          </a:ln>
        </p:spPr>
      </p:pic>
      <p:pic>
        <p:nvPicPr>
          <p:cNvPr id="505" name="Google Shape;505;g3fbbe1c27eb_1_124"/>
          <p:cNvPicPr preferRelativeResize="0"/>
          <p:nvPr/>
        </p:nvPicPr>
        <p:blipFill rotWithShape="1">
          <a:blip r:embed="rId4">
            <a:alphaModFix/>
          </a:blip>
          <a:srcRect b="0" l="0" r="0" t="0"/>
          <a:stretch/>
        </p:blipFill>
        <p:spPr>
          <a:xfrm>
            <a:off x="1463009" y="2741647"/>
            <a:ext cx="530629" cy="270825"/>
          </a:xfrm>
          <a:prstGeom prst="rect">
            <a:avLst/>
          </a:prstGeom>
          <a:noFill/>
          <a:ln>
            <a:noFill/>
          </a:ln>
        </p:spPr>
      </p:pic>
      <p:pic>
        <p:nvPicPr>
          <p:cNvPr id="506" name="Google Shape;506;g3fbbe1c27eb_1_124"/>
          <p:cNvPicPr preferRelativeResize="0"/>
          <p:nvPr/>
        </p:nvPicPr>
        <p:blipFill rotWithShape="1">
          <a:blip r:embed="rId5">
            <a:alphaModFix/>
          </a:blip>
          <a:srcRect b="0" l="0" r="0" t="0"/>
          <a:stretch/>
        </p:blipFill>
        <p:spPr>
          <a:xfrm>
            <a:off x="3812550" y="196350"/>
            <a:ext cx="4921500" cy="3797149"/>
          </a:xfrm>
          <a:prstGeom prst="rect">
            <a:avLst/>
          </a:prstGeom>
          <a:noFill/>
          <a:ln>
            <a:noFill/>
          </a:ln>
        </p:spPr>
      </p:pic>
      <p:sp>
        <p:nvSpPr>
          <p:cNvPr id="507" name="Google Shape;507;g3fbbe1c27eb_1_124"/>
          <p:cNvSpPr txBox="1"/>
          <p:nvPr/>
        </p:nvSpPr>
        <p:spPr>
          <a:xfrm>
            <a:off x="4668150" y="4541725"/>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pt-BR" sz="1800">
                <a:solidFill>
                  <a:schemeClr val="dk1"/>
                </a:solidFill>
                <a:latin typeface="Comfortaa"/>
                <a:ea typeface="Comfortaa"/>
                <a:cs typeface="Comfortaa"/>
                <a:sym typeface="Comfortaa"/>
              </a:rPr>
              <a:t>GS</a:t>
            </a:r>
            <a:r>
              <a:rPr lang="pt-BR" sz="1800">
                <a:solidFill>
                  <a:srgbClr val="434343"/>
                </a:solidFill>
                <a:latin typeface="Comfortaa"/>
                <a:ea typeface="Comfortaa"/>
                <a:cs typeface="Comfortaa"/>
                <a:sym typeface="Comfortaa"/>
              </a:rPr>
              <a:t> - Green Substance</a:t>
            </a:r>
            <a:endParaRPr sz="1800">
              <a:solidFill>
                <a:srgbClr val="434343"/>
              </a:solidFill>
              <a:latin typeface="Comfortaa"/>
              <a:ea typeface="Comfortaa"/>
              <a:cs typeface="Comfortaa"/>
              <a:sym typeface="Comfortaa"/>
            </a:endParaRPr>
          </a:p>
        </p:txBody>
      </p:sp>
      <p:sp>
        <p:nvSpPr>
          <p:cNvPr id="508" name="Google Shape;508;g3fbbe1c27eb_1_124"/>
          <p:cNvSpPr/>
          <p:nvPr/>
        </p:nvSpPr>
        <p:spPr>
          <a:xfrm>
            <a:off x="2781275" y="1831325"/>
            <a:ext cx="711900" cy="1130400"/>
          </a:xfrm>
          <a:prstGeom prst="upArrow">
            <a:avLst>
              <a:gd fmla="val 50000" name="adj1"/>
              <a:gd fmla="val 50000" name="adj2"/>
            </a:avLst>
          </a:prstGeom>
          <a:solidFill>
            <a:srgbClr val="B6D7A8"/>
          </a:solid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509" name="Google Shape;509;g3fbbe1c27eb_1_124"/>
          <p:cNvSpPr txBox="1"/>
          <p:nvPr/>
        </p:nvSpPr>
        <p:spPr>
          <a:xfrm>
            <a:off x="368025" y="3249500"/>
            <a:ext cx="2961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100">
                <a:solidFill>
                  <a:srgbClr val="434343"/>
                </a:solidFill>
                <a:latin typeface="Comfortaa"/>
                <a:ea typeface="Comfortaa"/>
                <a:cs typeface="Comfortaa"/>
                <a:sym typeface="Comfortaa"/>
              </a:rPr>
              <a:t>low or no influence</a:t>
            </a:r>
            <a:endParaRPr sz="2100">
              <a:solidFill>
                <a:srgbClr val="434343"/>
              </a:solidFill>
              <a:latin typeface="Comfortaa"/>
              <a:ea typeface="Comfortaa"/>
              <a:cs typeface="Comfortaa"/>
              <a:sym typeface="Comfortaa"/>
            </a:endParaRPr>
          </a:p>
        </p:txBody>
      </p:sp>
      <p:sp>
        <p:nvSpPr>
          <p:cNvPr id="510" name="Google Shape;510;g3fbbe1c27eb_1_124"/>
          <p:cNvSpPr/>
          <p:nvPr/>
        </p:nvSpPr>
        <p:spPr>
          <a:xfrm rot="5400000">
            <a:off x="5710950" y="3689025"/>
            <a:ext cx="711900" cy="1130400"/>
          </a:xfrm>
          <a:prstGeom prst="upArrow">
            <a:avLst>
              <a:gd fmla="val 50000" name="adj1"/>
              <a:gd fmla="val 50000" name="adj2"/>
            </a:avLst>
          </a:prstGeom>
          <a:solidFill>
            <a:srgbClr val="B6D7A8"/>
          </a:solidFill>
          <a:ln cap="flat" cmpd="sng" w="3810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511" name="Google Shape;511;g3fbbe1c27eb_1_124"/>
          <p:cNvSpPr txBox="1"/>
          <p:nvPr/>
        </p:nvSpPr>
        <p:spPr>
          <a:xfrm>
            <a:off x="3084350" y="4013675"/>
            <a:ext cx="2255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100">
                <a:solidFill>
                  <a:srgbClr val="434343"/>
                </a:solidFill>
                <a:latin typeface="Comfortaa"/>
                <a:ea typeface="Comfortaa"/>
                <a:cs typeface="Comfortaa"/>
                <a:sym typeface="Comfortaa"/>
              </a:rPr>
              <a:t>high</a:t>
            </a:r>
            <a:r>
              <a:rPr lang="pt-BR" sz="2100">
                <a:solidFill>
                  <a:srgbClr val="434343"/>
                </a:solidFill>
                <a:latin typeface="Comfortaa"/>
                <a:ea typeface="Comfortaa"/>
                <a:cs typeface="Comfortaa"/>
                <a:sym typeface="Comfortaa"/>
              </a:rPr>
              <a:t> influence</a:t>
            </a:r>
            <a:endParaRPr sz="2100">
              <a:solidFill>
                <a:srgbClr val="434343"/>
              </a:solidFill>
              <a:latin typeface="Comfortaa"/>
              <a:ea typeface="Comfortaa"/>
              <a:cs typeface="Comfortaa"/>
              <a:sym typeface="Comforta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fbbe1c27eb_1_14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Classification in NLP</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fbbe1c27eb_1_3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Classification Tasks in NLP?</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fbbe1c27eb_1_15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Is this spam?</a:t>
            </a:r>
            <a:endParaRPr/>
          </a:p>
        </p:txBody>
      </p:sp>
      <p:sp>
        <p:nvSpPr>
          <p:cNvPr id="528" name="Google Shape;528;g3fbbe1c27eb_1_159"/>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SzPts val="2800"/>
              <a:buNone/>
            </a:pPr>
            <a:r>
              <a:rPr b="1" lang="pt-BR" sz="1600"/>
              <a:t>Dear Sir,</a:t>
            </a:r>
            <a:endParaRPr b="1" sz="1600"/>
          </a:p>
          <a:p>
            <a:pPr indent="0" lvl="0" marL="0" rtl="0" algn="l">
              <a:spcBef>
                <a:spcPts val="0"/>
              </a:spcBef>
              <a:spcAft>
                <a:spcPts val="0"/>
              </a:spcAft>
              <a:buSzPts val="2800"/>
              <a:buNone/>
            </a:pPr>
            <a:r>
              <a:rPr b="1" lang="pt-BR" sz="1600"/>
              <a:t>Please find attached the forms you requested.</a:t>
            </a:r>
            <a:endParaRPr b="1" sz="1600"/>
          </a:p>
          <a:p>
            <a:pPr indent="0" lvl="0" marL="0" rtl="0" algn="l">
              <a:spcBef>
                <a:spcPts val="0"/>
              </a:spcBef>
              <a:spcAft>
                <a:spcPts val="0"/>
              </a:spcAft>
              <a:buSzPts val="2800"/>
              <a:buNone/>
            </a:pPr>
            <a:r>
              <a:rPr b="1" lang="pt-BR" sz="1600"/>
              <a:t>Special Note:</a:t>
            </a:r>
            <a:r>
              <a:rPr lang="pt-BR" sz="1600"/>
              <a:t> Student needs to provide the hand signed forms on the very first day of registration- (Forms attached)</a:t>
            </a:r>
            <a:br>
              <a:rPr lang="pt-BR" sz="1600"/>
            </a:br>
            <a:br>
              <a:rPr lang="pt-BR" sz="1600"/>
            </a:br>
            <a:r>
              <a:rPr b="1" lang="pt-BR" sz="1600" u="sng"/>
              <a:t>IMPORTANT NOTE: </a:t>
            </a:r>
            <a:endParaRPr b="1" sz="1600" u="sng"/>
          </a:p>
          <a:p>
            <a:pPr indent="0" lvl="0" marL="0" rtl="0" algn="l">
              <a:spcBef>
                <a:spcPts val="0"/>
              </a:spcBef>
              <a:spcAft>
                <a:spcPts val="0"/>
              </a:spcAft>
              <a:buSzPts val="2800"/>
              <a:buNone/>
            </a:pPr>
            <a:r>
              <a:rPr lang="pt-BR" sz="1600"/>
              <a:t>We will be needing additional bank statements and proof for justification if students have completed education outside their home state.(Legitimate documents- electricity bill, Rental Agreement, Bank Statement, College/University ID )</a:t>
            </a:r>
            <a:endParaRPr sz="1600"/>
          </a:p>
          <a:p>
            <a:pPr indent="0" lvl="0" marL="0" rtl="0" algn="l">
              <a:spcBef>
                <a:spcPts val="0"/>
              </a:spcBef>
              <a:spcAft>
                <a:spcPts val="0"/>
              </a:spcAft>
              <a:buSzPts val="2800"/>
              <a:buNone/>
            </a:pPr>
            <a:r>
              <a:rPr b="1" lang="pt-BR" sz="1600"/>
              <a:t>Please feel free to reach us in case any queries arise. </a:t>
            </a:r>
            <a:endParaRPr b="1" sz="1600"/>
          </a:p>
          <a:p>
            <a:pPr indent="0" lvl="0" marL="0" rtl="0" algn="l">
              <a:spcBef>
                <a:spcPts val="0"/>
              </a:spcBef>
              <a:spcAft>
                <a:spcPts val="0"/>
              </a:spcAft>
              <a:buSzPts val="2800"/>
              <a:buNone/>
            </a:pPr>
            <a:r>
              <a:rPr lang="pt-BR" sz="1600"/>
              <a:t>Study Abroad Partners</a:t>
            </a:r>
            <a:endParaRPr sz="1600"/>
          </a:p>
        </p:txBody>
      </p:sp>
      <p:sp>
        <p:nvSpPr>
          <p:cNvPr id="529" name="Google Shape;529;g3fbbe1c27eb_1_159"/>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3fbbe1c27eb_1_165"/>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Who wrote which </a:t>
            </a:r>
            <a:r>
              <a:rPr i="1" lang="pt-BR"/>
              <a:t>Federalist Papers</a:t>
            </a:r>
            <a:r>
              <a:rPr lang="pt-BR"/>
              <a:t>?</a:t>
            </a:r>
            <a:endParaRPr/>
          </a:p>
        </p:txBody>
      </p:sp>
      <p:sp>
        <p:nvSpPr>
          <p:cNvPr id="536" name="Google Shape;536;g3fbbe1c27eb_1_165"/>
          <p:cNvSpPr txBox="1"/>
          <p:nvPr>
            <p:ph idx="1" type="body"/>
          </p:nvPr>
        </p:nvSpPr>
        <p:spPr>
          <a:xfrm>
            <a:off x="311700" y="1152475"/>
            <a:ext cx="8520600" cy="3859500"/>
          </a:xfrm>
          <a:prstGeom prst="rect">
            <a:avLst/>
          </a:prstGeom>
          <a:noFill/>
          <a:ln>
            <a:noFill/>
          </a:ln>
        </p:spPr>
        <p:txBody>
          <a:bodyPr anchorCtr="0" anchor="t" bIns="45700" lIns="0" spcFirstLastPara="1" rIns="0" wrap="square" tIns="45700">
            <a:normAutofit fontScale="77500" lnSpcReduction="20000"/>
          </a:bodyPr>
          <a:lstStyle/>
          <a:p>
            <a:pPr indent="-7938" lvl="0" marL="7938" rtl="0" algn="l">
              <a:lnSpc>
                <a:spcPct val="110000"/>
              </a:lnSpc>
              <a:spcBef>
                <a:spcPts val="0"/>
              </a:spcBef>
              <a:spcAft>
                <a:spcPts val="0"/>
              </a:spcAft>
              <a:buSzPct val="100000"/>
              <a:buNone/>
            </a:pPr>
            <a:r>
              <a:rPr lang="pt-BR" sz="2400"/>
              <a:t>1787-8: essays anonymously written by:</a:t>
            </a:r>
            <a:endParaRPr/>
          </a:p>
          <a:p>
            <a:pPr indent="-7938" lvl="0" marL="7938" rtl="0" algn="l">
              <a:lnSpc>
                <a:spcPct val="110000"/>
              </a:lnSpc>
              <a:spcBef>
                <a:spcPts val="900"/>
              </a:spcBef>
              <a:spcAft>
                <a:spcPts val="0"/>
              </a:spcAft>
              <a:buSzPct val="100000"/>
              <a:buNone/>
            </a:pPr>
            <a:r>
              <a:rPr lang="pt-BR" sz="2400"/>
              <a:t>     </a:t>
            </a:r>
            <a:r>
              <a:rPr lang="pt-BR" sz="2400">
                <a:solidFill>
                  <a:srgbClr val="0200FF"/>
                </a:solidFill>
              </a:rPr>
              <a:t>Alexander Hamilton, James Madison, and John Jay </a:t>
            </a:r>
            <a:endParaRPr/>
          </a:p>
          <a:p>
            <a:pPr indent="-7938" lvl="0" marL="7938" rtl="0" algn="l">
              <a:lnSpc>
                <a:spcPct val="110000"/>
              </a:lnSpc>
              <a:spcBef>
                <a:spcPts val="900"/>
              </a:spcBef>
              <a:spcAft>
                <a:spcPts val="0"/>
              </a:spcAft>
              <a:buSzPct val="100000"/>
              <a:buNone/>
            </a:pPr>
            <a:r>
              <a:rPr lang="pt-BR" sz="2400"/>
              <a:t>to convince New York to ratify U.S Constitution  </a:t>
            </a:r>
            <a:endParaRPr/>
          </a:p>
          <a:p>
            <a:pPr indent="-7938" lvl="0" marL="7938" rtl="0" algn="l">
              <a:lnSpc>
                <a:spcPct val="110000"/>
              </a:lnSpc>
              <a:spcBef>
                <a:spcPts val="900"/>
              </a:spcBef>
              <a:spcAft>
                <a:spcPts val="0"/>
              </a:spcAft>
              <a:buSzPct val="100000"/>
              <a:buNone/>
            </a:pPr>
            <a:r>
              <a:rPr lang="pt-BR" sz="2400"/>
              <a:t>Authorship of 12 of the letters unclear between:</a:t>
            </a:r>
            <a:endParaRPr/>
          </a:p>
          <a:p>
            <a:pPr indent="-7938" lvl="0" marL="7938" rtl="0" algn="l">
              <a:lnSpc>
                <a:spcPct val="110000"/>
              </a:lnSpc>
              <a:spcBef>
                <a:spcPts val="900"/>
              </a:spcBef>
              <a:spcAft>
                <a:spcPts val="0"/>
              </a:spcAft>
              <a:buSzPct val="100000"/>
              <a:buNone/>
            </a:pPr>
            <a:r>
              <a:t/>
            </a:r>
            <a:endParaRPr sz="2400"/>
          </a:p>
          <a:p>
            <a:pPr indent="-7938" lvl="0" marL="7938" rtl="0" algn="l">
              <a:lnSpc>
                <a:spcPct val="110000"/>
              </a:lnSpc>
              <a:spcBef>
                <a:spcPts val="900"/>
              </a:spcBef>
              <a:spcAft>
                <a:spcPts val="0"/>
              </a:spcAft>
              <a:buSzPct val="100000"/>
              <a:buNone/>
            </a:pPr>
            <a:r>
              <a:t/>
            </a:r>
            <a:endParaRPr sz="2400"/>
          </a:p>
          <a:p>
            <a:pPr indent="-7938" lvl="0" marL="7938" rtl="0" algn="l">
              <a:lnSpc>
                <a:spcPct val="110000"/>
              </a:lnSpc>
              <a:spcBef>
                <a:spcPts val="900"/>
              </a:spcBef>
              <a:spcAft>
                <a:spcPts val="0"/>
              </a:spcAft>
              <a:buSzPct val="100000"/>
              <a:buNone/>
            </a:pPr>
            <a:r>
              <a:t/>
            </a:r>
            <a:endParaRPr sz="2400"/>
          </a:p>
          <a:p>
            <a:pPr indent="-7938" lvl="0" marL="7938" rtl="0" algn="l">
              <a:lnSpc>
                <a:spcPct val="110000"/>
              </a:lnSpc>
              <a:spcBef>
                <a:spcPts val="900"/>
              </a:spcBef>
              <a:spcAft>
                <a:spcPts val="0"/>
              </a:spcAft>
              <a:buSzPct val="100000"/>
              <a:buNone/>
            </a:pPr>
            <a:r>
              <a:t/>
            </a:r>
            <a:endParaRPr sz="2400"/>
          </a:p>
          <a:p>
            <a:pPr indent="-7938" lvl="0" marL="7938" rtl="0" algn="l">
              <a:lnSpc>
                <a:spcPct val="110000"/>
              </a:lnSpc>
              <a:spcBef>
                <a:spcPts val="900"/>
              </a:spcBef>
              <a:spcAft>
                <a:spcPts val="0"/>
              </a:spcAft>
              <a:buSzPct val="100000"/>
              <a:buNone/>
            </a:pPr>
            <a:r>
              <a:t/>
            </a:r>
            <a:endParaRPr sz="2400"/>
          </a:p>
          <a:p>
            <a:pPr indent="-7938" lvl="0" marL="7938" rtl="0" algn="l">
              <a:lnSpc>
                <a:spcPct val="110000"/>
              </a:lnSpc>
              <a:spcBef>
                <a:spcPts val="900"/>
              </a:spcBef>
              <a:spcAft>
                <a:spcPts val="0"/>
              </a:spcAft>
              <a:buSzPct val="100000"/>
              <a:buNone/>
            </a:pPr>
            <a:r>
              <a:rPr lang="pt-BR" sz="2400"/>
              <a:t>1963: solved by Mosteller and Wallace using Bayesian methods</a:t>
            </a:r>
            <a:endParaRPr/>
          </a:p>
        </p:txBody>
      </p:sp>
      <p:pic>
        <p:nvPicPr>
          <p:cNvPr descr="370px-Federalist.jpg" id="537" name="Google Shape;537;g3fbbe1c27eb_1_165"/>
          <p:cNvPicPr preferRelativeResize="0"/>
          <p:nvPr/>
        </p:nvPicPr>
        <p:blipFill rotWithShape="1">
          <a:blip r:embed="rId3">
            <a:alphaModFix/>
          </a:blip>
          <a:srcRect b="0" l="0" r="0" t="0"/>
          <a:stretch/>
        </p:blipFill>
        <p:spPr>
          <a:xfrm>
            <a:off x="7543800" y="895350"/>
            <a:ext cx="1341574" cy="2175525"/>
          </a:xfrm>
          <a:prstGeom prst="rect">
            <a:avLst/>
          </a:prstGeom>
          <a:noFill/>
          <a:ln>
            <a:noFill/>
          </a:ln>
        </p:spPr>
      </p:pic>
      <p:grpSp>
        <p:nvGrpSpPr>
          <p:cNvPr id="538" name="Google Shape;538;g3fbbe1c27eb_1_165"/>
          <p:cNvGrpSpPr/>
          <p:nvPr/>
        </p:nvGrpSpPr>
        <p:grpSpPr>
          <a:xfrm>
            <a:off x="2011150" y="2633326"/>
            <a:ext cx="3387227" cy="1764799"/>
            <a:chOff x="2379175" y="3141526"/>
            <a:chExt cx="3387227" cy="1764799"/>
          </a:xfrm>
        </p:grpSpPr>
        <p:pic>
          <p:nvPicPr>
            <p:cNvPr descr="220px-James_Madison.jpg" id="539" name="Google Shape;539;g3fbbe1c27eb_1_165"/>
            <p:cNvPicPr preferRelativeResize="0"/>
            <p:nvPr/>
          </p:nvPicPr>
          <p:blipFill rotWithShape="1">
            <a:blip r:embed="rId4">
              <a:alphaModFix/>
            </a:blip>
            <a:srcRect b="0" l="0" r="0" t="0"/>
            <a:stretch/>
          </p:blipFill>
          <p:spPr>
            <a:xfrm>
              <a:off x="4724400" y="3141526"/>
              <a:ext cx="907007" cy="1104900"/>
            </a:xfrm>
            <a:prstGeom prst="rect">
              <a:avLst/>
            </a:prstGeom>
            <a:noFill/>
            <a:ln>
              <a:noFill/>
            </a:ln>
          </p:spPr>
        </p:pic>
        <p:pic>
          <p:nvPicPr>
            <p:cNvPr descr="220px-Alexander_Hamilton_portrait_by_John_Trumbull_1806.jpg" id="540" name="Google Shape;540;g3fbbe1c27eb_1_165"/>
            <p:cNvPicPr preferRelativeResize="0"/>
            <p:nvPr/>
          </p:nvPicPr>
          <p:blipFill rotWithShape="1">
            <a:blip r:embed="rId5">
              <a:alphaModFix/>
            </a:blip>
            <a:srcRect b="0" l="0" r="0" t="0"/>
            <a:stretch/>
          </p:blipFill>
          <p:spPr>
            <a:xfrm>
              <a:off x="2667626" y="3141526"/>
              <a:ext cx="947391" cy="1123950"/>
            </a:xfrm>
            <a:prstGeom prst="rect">
              <a:avLst/>
            </a:prstGeom>
            <a:noFill/>
            <a:ln>
              <a:noFill/>
            </a:ln>
          </p:spPr>
        </p:pic>
        <p:sp>
          <p:nvSpPr>
            <p:cNvPr id="541" name="Google Shape;541;g3fbbe1c27eb_1_165"/>
            <p:cNvSpPr txBox="1"/>
            <p:nvPr/>
          </p:nvSpPr>
          <p:spPr>
            <a:xfrm>
              <a:off x="4488402" y="4259825"/>
              <a:ext cx="1278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Comfortaa"/>
                  <a:ea typeface="Comfortaa"/>
                  <a:cs typeface="Comfortaa"/>
                  <a:sym typeface="Comfortaa"/>
                </a:rPr>
                <a:t>James Madison</a:t>
              </a:r>
              <a:endParaRPr>
                <a:latin typeface="Comfortaa"/>
                <a:ea typeface="Comfortaa"/>
                <a:cs typeface="Comfortaa"/>
                <a:sym typeface="Comfortaa"/>
              </a:endParaRPr>
            </a:p>
          </p:txBody>
        </p:sp>
        <p:sp>
          <p:nvSpPr>
            <p:cNvPr id="542" name="Google Shape;542;g3fbbe1c27eb_1_165"/>
            <p:cNvSpPr txBox="1"/>
            <p:nvPr/>
          </p:nvSpPr>
          <p:spPr>
            <a:xfrm>
              <a:off x="2379175" y="4259825"/>
              <a:ext cx="1524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Comfortaa"/>
                  <a:ea typeface="Comfortaa"/>
                  <a:cs typeface="Comfortaa"/>
                  <a:sym typeface="Comfortaa"/>
                </a:rPr>
                <a:t>Alexander Hamilton</a:t>
              </a:r>
              <a:endParaRPr>
                <a:latin typeface="Comfortaa"/>
                <a:ea typeface="Comfortaa"/>
                <a:cs typeface="Comfortaa"/>
                <a:sym typeface="Comfortaa"/>
              </a:endParaRPr>
            </a:p>
          </p:txBody>
        </p:sp>
      </p:grpSp>
      <p:sp>
        <p:nvSpPr>
          <p:cNvPr id="543" name="Google Shape;543;g3fbbe1c27eb_1_165"/>
          <p:cNvSpPr txBox="1"/>
          <p:nvPr/>
        </p:nvSpPr>
        <p:spPr>
          <a:xfrm>
            <a:off x="7920903" y="3936575"/>
            <a:ext cx="911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Wikimedia commons</a:t>
            </a:r>
            <a:endParaRPr/>
          </a:p>
        </p:txBody>
      </p:sp>
      <p:sp>
        <p:nvSpPr>
          <p:cNvPr id="544" name="Google Shape;544;g3fbbe1c27eb_1_165"/>
          <p:cNvSpPr txBox="1"/>
          <p:nvPr/>
        </p:nvSpPr>
        <p:spPr>
          <a:xfrm>
            <a:off x="6474275" y="416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fbbe1c27eb_1_177"/>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Positive or negative movie review?</a:t>
            </a:r>
            <a:endParaRPr/>
          </a:p>
        </p:txBody>
      </p:sp>
      <p:sp>
        <p:nvSpPr>
          <p:cNvPr id="551" name="Google Shape;551;g3fbbe1c27eb_1_177"/>
          <p:cNvSpPr txBox="1"/>
          <p:nvPr>
            <p:ph idx="1" type="body"/>
          </p:nvPr>
        </p:nvSpPr>
        <p:spPr>
          <a:xfrm>
            <a:off x="1219199" y="1200150"/>
            <a:ext cx="7543800" cy="3429000"/>
          </a:xfrm>
          <a:prstGeom prst="rect">
            <a:avLst/>
          </a:prstGeom>
          <a:noFill/>
          <a:ln>
            <a:noFill/>
          </a:ln>
        </p:spPr>
        <p:txBody>
          <a:bodyPr anchorCtr="0" anchor="t" bIns="45700" lIns="0" spcFirstLastPara="1" rIns="0" wrap="square" tIns="45700">
            <a:noAutofit/>
          </a:bodyPr>
          <a:lstStyle/>
          <a:p>
            <a:pPr indent="0" lvl="0" marL="7938" rtl="0" algn="l">
              <a:lnSpc>
                <a:spcPct val="100000"/>
              </a:lnSpc>
              <a:spcBef>
                <a:spcPts val="0"/>
              </a:spcBef>
              <a:spcAft>
                <a:spcPts val="0"/>
              </a:spcAft>
              <a:buSzPts val="2800"/>
              <a:buNone/>
            </a:pPr>
            <a:r>
              <a:rPr lang="pt-BR" sz="2400"/>
              <a:t>unbelievably disappointing </a:t>
            </a:r>
            <a:endParaRPr sz="2400"/>
          </a:p>
          <a:p>
            <a:pPr indent="0" lvl="0" marL="7938" rtl="0" algn="l">
              <a:lnSpc>
                <a:spcPct val="100000"/>
              </a:lnSpc>
              <a:spcBef>
                <a:spcPts val="1800"/>
              </a:spcBef>
              <a:spcAft>
                <a:spcPts val="0"/>
              </a:spcAft>
              <a:buSzPts val="2800"/>
              <a:buNone/>
            </a:pPr>
            <a:r>
              <a:rPr lang="pt-BR" sz="2400"/>
              <a:t>Full of zany characters and richly applied satire, and some great plot twists</a:t>
            </a:r>
            <a:endParaRPr sz="2400"/>
          </a:p>
          <a:p>
            <a:pPr indent="0" lvl="0" marL="7938" rtl="0" algn="l">
              <a:lnSpc>
                <a:spcPct val="100000"/>
              </a:lnSpc>
              <a:spcBef>
                <a:spcPts val="1800"/>
              </a:spcBef>
              <a:spcAft>
                <a:spcPts val="0"/>
              </a:spcAft>
              <a:buSzPts val="2800"/>
              <a:buNone/>
            </a:pPr>
            <a:r>
              <a:rPr lang="pt-BR" sz="2400"/>
              <a:t>this is the greatest screwball comedy ever filmed</a:t>
            </a:r>
            <a:endParaRPr sz="2400"/>
          </a:p>
          <a:p>
            <a:pPr indent="0" lvl="0" marL="7938" rtl="0" algn="l">
              <a:lnSpc>
                <a:spcPct val="100000"/>
              </a:lnSpc>
              <a:spcBef>
                <a:spcPts val="1800"/>
              </a:spcBef>
              <a:spcAft>
                <a:spcPts val="0"/>
              </a:spcAft>
              <a:buSzPts val="2800"/>
              <a:buNone/>
            </a:pPr>
            <a:r>
              <a:rPr lang="pt-BR" sz="2400"/>
              <a:t>It was pathetic. The worst part about it was the boxing scenes.</a:t>
            </a:r>
            <a:endParaRPr sz="2400"/>
          </a:p>
          <a:p>
            <a:pPr indent="-7938" lvl="0" marL="7938" rtl="0" algn="l">
              <a:lnSpc>
                <a:spcPct val="90000"/>
              </a:lnSpc>
              <a:spcBef>
                <a:spcPts val="1800"/>
              </a:spcBef>
              <a:spcAft>
                <a:spcPts val="0"/>
              </a:spcAft>
              <a:buSzPts val="2800"/>
              <a:buNone/>
            </a:pPr>
            <a:r>
              <a:t/>
            </a:r>
            <a:endParaRPr sz="2400"/>
          </a:p>
          <a:p>
            <a:pPr indent="-7938" lvl="0" marL="7938" rtl="0" algn="l">
              <a:lnSpc>
                <a:spcPct val="90000"/>
              </a:lnSpc>
              <a:spcBef>
                <a:spcPts val="1050"/>
              </a:spcBef>
              <a:spcAft>
                <a:spcPts val="0"/>
              </a:spcAft>
              <a:buSzPts val="2800"/>
              <a:buNone/>
            </a:pPr>
            <a:r>
              <a:t/>
            </a:r>
            <a:endParaRPr sz="2400"/>
          </a:p>
          <a:p>
            <a:pPr indent="-7938" lvl="0" marL="7938" rtl="0" algn="l">
              <a:lnSpc>
                <a:spcPct val="90000"/>
              </a:lnSpc>
              <a:spcBef>
                <a:spcPts val="1050"/>
              </a:spcBef>
              <a:spcAft>
                <a:spcPts val="0"/>
              </a:spcAft>
              <a:buSzPts val="2800"/>
              <a:buNone/>
            </a:pPr>
            <a:r>
              <a:t/>
            </a:r>
            <a:endParaRPr sz="2400"/>
          </a:p>
          <a:p>
            <a:pPr indent="-7938" lvl="0" marL="7938" rtl="0" algn="l">
              <a:lnSpc>
                <a:spcPct val="90000"/>
              </a:lnSpc>
              <a:spcBef>
                <a:spcPts val="1050"/>
              </a:spcBef>
              <a:spcAft>
                <a:spcPts val="0"/>
              </a:spcAft>
              <a:buSzPts val="2800"/>
              <a:buNone/>
            </a:pPr>
            <a:r>
              <a:t/>
            </a:r>
            <a:endParaRPr sz="2400"/>
          </a:p>
          <a:p>
            <a:pPr indent="-7938" lvl="0" marL="7938" rtl="0" algn="l">
              <a:lnSpc>
                <a:spcPct val="90000"/>
              </a:lnSpc>
              <a:spcBef>
                <a:spcPts val="1050"/>
              </a:spcBef>
              <a:spcAft>
                <a:spcPts val="0"/>
              </a:spcAft>
              <a:buSzPts val="2800"/>
              <a:buNone/>
            </a:pPr>
            <a:r>
              <a:t/>
            </a:r>
            <a:endParaRPr sz="2400"/>
          </a:p>
        </p:txBody>
      </p:sp>
      <p:sp>
        <p:nvSpPr>
          <p:cNvPr id="552" name="Google Shape;552;g3fbbe1c27eb_1_177"/>
          <p:cNvSpPr txBox="1"/>
          <p:nvPr>
            <p:ph idx="4294967295" type="sldNum"/>
          </p:nvPr>
        </p:nvSpPr>
        <p:spPr>
          <a:xfrm>
            <a:off x="7425345" y="4844840"/>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descr="Thumbs-down-icon.png" id="553" name="Google Shape;553;g3fbbe1c27eb_1_177"/>
          <p:cNvPicPr preferRelativeResize="0"/>
          <p:nvPr/>
        </p:nvPicPr>
        <p:blipFill rotWithShape="1">
          <a:blip r:embed="rId3">
            <a:alphaModFix/>
          </a:blip>
          <a:srcRect b="0" l="0" r="0" t="0"/>
          <a:stretch/>
        </p:blipFill>
        <p:spPr>
          <a:xfrm>
            <a:off x="557534" y="3891818"/>
            <a:ext cx="558800" cy="503632"/>
          </a:xfrm>
          <a:prstGeom prst="rect">
            <a:avLst/>
          </a:prstGeom>
          <a:noFill/>
          <a:ln>
            <a:noFill/>
          </a:ln>
        </p:spPr>
      </p:pic>
      <p:pic>
        <p:nvPicPr>
          <p:cNvPr descr="Thumbs-up-icon.png" id="554" name="Google Shape;554;g3fbbe1c27eb_1_177"/>
          <p:cNvPicPr preferRelativeResize="0"/>
          <p:nvPr/>
        </p:nvPicPr>
        <p:blipFill rotWithShape="1">
          <a:blip r:embed="rId4">
            <a:alphaModFix/>
          </a:blip>
          <a:srcRect b="0" l="0" r="0" t="0"/>
          <a:stretch/>
        </p:blipFill>
        <p:spPr>
          <a:xfrm>
            <a:off x="557520" y="1979663"/>
            <a:ext cx="591828" cy="533399"/>
          </a:xfrm>
          <a:prstGeom prst="rect">
            <a:avLst/>
          </a:prstGeom>
          <a:noFill/>
          <a:ln>
            <a:noFill/>
          </a:ln>
        </p:spPr>
      </p:pic>
      <p:pic>
        <p:nvPicPr>
          <p:cNvPr descr="Thumbs-down-icon.png" id="555" name="Google Shape;555;g3fbbe1c27eb_1_177"/>
          <p:cNvPicPr preferRelativeResize="0"/>
          <p:nvPr/>
        </p:nvPicPr>
        <p:blipFill rotWithShape="1">
          <a:blip r:embed="rId3">
            <a:alphaModFix/>
          </a:blip>
          <a:srcRect b="0" l="0" r="0" t="0"/>
          <a:stretch/>
        </p:blipFill>
        <p:spPr>
          <a:xfrm>
            <a:off x="557534" y="1200150"/>
            <a:ext cx="558800" cy="503632"/>
          </a:xfrm>
          <a:prstGeom prst="rect">
            <a:avLst/>
          </a:prstGeom>
          <a:noFill/>
          <a:ln>
            <a:noFill/>
          </a:ln>
        </p:spPr>
      </p:pic>
      <p:pic>
        <p:nvPicPr>
          <p:cNvPr descr="Thumbs-up-icon.png" id="556" name="Google Shape;556;g3fbbe1c27eb_1_177"/>
          <p:cNvPicPr preferRelativeResize="0"/>
          <p:nvPr/>
        </p:nvPicPr>
        <p:blipFill rotWithShape="1">
          <a:blip r:embed="rId4">
            <a:alphaModFix/>
          </a:blip>
          <a:srcRect b="0" l="0" r="0" t="0"/>
          <a:stretch/>
        </p:blipFill>
        <p:spPr>
          <a:xfrm>
            <a:off x="541008" y="2788951"/>
            <a:ext cx="591828" cy="533399"/>
          </a:xfrm>
          <a:prstGeom prst="rect">
            <a:avLst/>
          </a:prstGeom>
          <a:noFill/>
          <a:ln>
            <a:noFill/>
          </a:ln>
        </p:spPr>
      </p:pic>
      <p:sp>
        <p:nvSpPr>
          <p:cNvPr id="557" name="Google Shape;557;g3fbbe1c27eb_1_177"/>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fbbe1c27eb_1_188"/>
          <p:cNvSpPr txBox="1"/>
          <p:nvPr>
            <p:ph type="title"/>
          </p:nvPr>
        </p:nvSpPr>
        <p:spPr>
          <a:xfrm>
            <a:off x="311700" y="445025"/>
            <a:ext cx="8520600" cy="10272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3F3F3F"/>
              </a:buClr>
              <a:buSzPct val="105882"/>
              <a:buFont typeface="Calibri"/>
              <a:buNone/>
            </a:pPr>
            <a:r>
              <a:rPr lang="pt-BR"/>
              <a:t>Even language modeling can be viewed as classification!</a:t>
            </a:r>
            <a:endParaRPr/>
          </a:p>
        </p:txBody>
      </p:sp>
      <p:sp>
        <p:nvSpPr>
          <p:cNvPr id="564" name="Google Shape;564;g3fbbe1c27eb_1_188"/>
          <p:cNvSpPr txBox="1"/>
          <p:nvPr>
            <p:ph idx="1" type="body"/>
          </p:nvPr>
        </p:nvSpPr>
        <p:spPr>
          <a:xfrm>
            <a:off x="311700" y="1621025"/>
            <a:ext cx="8520600" cy="2623200"/>
          </a:xfrm>
          <a:prstGeom prst="rect">
            <a:avLst/>
          </a:prstGeom>
          <a:noFill/>
          <a:ln>
            <a:noFill/>
          </a:ln>
        </p:spPr>
        <p:txBody>
          <a:bodyPr anchorCtr="0" anchor="t" bIns="45700" lIns="0" spcFirstLastPara="1" rIns="0" wrap="square" tIns="45700">
            <a:normAutofit/>
          </a:bodyPr>
          <a:lstStyle/>
          <a:p>
            <a:pPr indent="-419100" lvl="0" marL="457200" rtl="0" algn="l">
              <a:spcBef>
                <a:spcPts val="0"/>
              </a:spcBef>
              <a:spcAft>
                <a:spcPts val="0"/>
              </a:spcAft>
              <a:buSzPts val="3000"/>
              <a:buChar char="●"/>
            </a:pPr>
            <a:r>
              <a:rPr lang="pt-BR"/>
              <a:t>Let the set of classes be the words (vocabulary V)</a:t>
            </a:r>
            <a:endParaRPr/>
          </a:p>
          <a:p>
            <a:pPr indent="-419100" lvl="0" marL="457200" rtl="0" algn="l">
              <a:spcBef>
                <a:spcPts val="0"/>
              </a:spcBef>
              <a:spcAft>
                <a:spcPts val="0"/>
              </a:spcAft>
              <a:buSzPts val="3000"/>
              <a:buChar char="●"/>
            </a:pPr>
            <a:r>
              <a:rPr lang="pt-BR"/>
              <a:t>Predicting the next word is classifying </a:t>
            </a:r>
            <a:endParaRPr/>
          </a:p>
          <a:p>
            <a:pPr indent="-381000" lvl="1" marL="914400" rtl="0" algn="l">
              <a:spcBef>
                <a:spcPts val="0"/>
              </a:spcBef>
              <a:spcAft>
                <a:spcPts val="0"/>
              </a:spcAft>
              <a:buSzPts val="2400"/>
              <a:buChar char="○"/>
            </a:pPr>
            <a:r>
              <a:rPr lang="pt-BR"/>
              <a:t>the context-so-far </a:t>
            </a:r>
            <a:endParaRPr/>
          </a:p>
          <a:p>
            <a:pPr indent="-381000" lvl="1" marL="914400" rtl="0" algn="l">
              <a:spcBef>
                <a:spcPts val="0"/>
              </a:spcBef>
              <a:spcAft>
                <a:spcPts val="0"/>
              </a:spcAft>
              <a:buSzPts val="2400"/>
              <a:buChar char="○"/>
            </a:pPr>
            <a:r>
              <a:rPr lang="pt-BR"/>
              <a:t>into a class for each possible next word</a:t>
            </a:r>
            <a:endParaRPr/>
          </a:p>
        </p:txBody>
      </p:sp>
      <p:sp>
        <p:nvSpPr>
          <p:cNvPr id="565" name="Google Shape;565;g3fbbe1c27eb_1_188"/>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g3fbbe1c27eb_1_194"/>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3F3F3F"/>
              </a:buClr>
              <a:buSzPct val="105882"/>
              <a:buFont typeface="Calibri"/>
              <a:buNone/>
            </a:pPr>
            <a:r>
              <a:rPr lang="pt-BR"/>
              <a:t>Text Classification</a:t>
            </a:r>
            <a:endParaRPr/>
          </a:p>
        </p:txBody>
      </p:sp>
      <p:sp>
        <p:nvSpPr>
          <p:cNvPr id="572" name="Google Shape;572;g3fbbe1c27eb_1_194"/>
          <p:cNvSpPr txBox="1"/>
          <p:nvPr>
            <p:ph idx="1" type="body"/>
          </p:nvPr>
        </p:nvSpPr>
        <p:spPr>
          <a:xfrm>
            <a:off x="311700" y="1152475"/>
            <a:ext cx="8520600" cy="3272400"/>
          </a:xfrm>
          <a:prstGeom prst="rect">
            <a:avLst/>
          </a:prstGeom>
          <a:noFill/>
          <a:ln>
            <a:noFill/>
          </a:ln>
        </p:spPr>
        <p:txBody>
          <a:bodyPr anchorCtr="0" anchor="t" bIns="45700" lIns="0" spcFirstLastPara="1" rIns="0" wrap="square" tIns="45700">
            <a:normAutofit fontScale="92500" lnSpcReduction="10000"/>
          </a:bodyPr>
          <a:lstStyle/>
          <a:p>
            <a:pPr indent="-404813" lvl="0" marL="457200" rtl="0" algn="l">
              <a:spcBef>
                <a:spcPts val="0"/>
              </a:spcBef>
              <a:spcAft>
                <a:spcPts val="0"/>
              </a:spcAft>
              <a:buSzPct val="100000"/>
              <a:buChar char="●"/>
            </a:pPr>
            <a:r>
              <a:rPr lang="pt-BR"/>
              <a:t>Spam detection</a:t>
            </a:r>
            <a:endParaRPr/>
          </a:p>
          <a:p>
            <a:pPr indent="-404813" lvl="0" marL="457200" rtl="0" algn="l">
              <a:spcBef>
                <a:spcPts val="0"/>
              </a:spcBef>
              <a:spcAft>
                <a:spcPts val="0"/>
              </a:spcAft>
              <a:buSzPct val="100000"/>
              <a:buChar char="●"/>
            </a:pPr>
            <a:r>
              <a:rPr lang="pt-BR"/>
              <a:t>Authorship identification (who wrote this?)</a:t>
            </a:r>
            <a:endParaRPr/>
          </a:p>
          <a:p>
            <a:pPr indent="-404813" lvl="0" marL="457200" rtl="0" algn="l">
              <a:spcBef>
                <a:spcPts val="0"/>
              </a:spcBef>
              <a:spcAft>
                <a:spcPts val="0"/>
              </a:spcAft>
              <a:buSzPct val="100000"/>
              <a:buChar char="●"/>
            </a:pPr>
            <a:r>
              <a:rPr lang="pt-BR"/>
              <a:t>Language Identification (is this Portuguese?)</a:t>
            </a:r>
            <a:endParaRPr/>
          </a:p>
          <a:p>
            <a:pPr indent="-404813" lvl="0" marL="457200" rtl="0" algn="l">
              <a:spcBef>
                <a:spcPts val="0"/>
              </a:spcBef>
              <a:spcAft>
                <a:spcPts val="0"/>
              </a:spcAft>
              <a:buSzPct val="100000"/>
              <a:buChar char="●"/>
            </a:pPr>
            <a:r>
              <a:rPr lang="pt-BR"/>
              <a:t>Sentiment analysis</a:t>
            </a:r>
            <a:endParaRPr/>
          </a:p>
          <a:p>
            <a:pPr indent="-404813" lvl="0" marL="457200" rtl="0" algn="l">
              <a:spcBef>
                <a:spcPts val="0"/>
              </a:spcBef>
              <a:spcAft>
                <a:spcPts val="0"/>
              </a:spcAft>
              <a:buSzPct val="100000"/>
              <a:buChar char="●"/>
            </a:pPr>
            <a:r>
              <a:rPr lang="pt-BR"/>
              <a:t>Language modeling (what next word does this context expect)</a:t>
            </a:r>
            <a:endParaRPr/>
          </a:p>
        </p:txBody>
      </p:sp>
      <p:sp>
        <p:nvSpPr>
          <p:cNvPr id="573" name="Google Shape;573;g3fbbe1c27eb_1_194"/>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3fbbe1c27eb_1_200"/>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3F3F3F"/>
              </a:buClr>
              <a:buSzPct val="105882"/>
              <a:buFont typeface="Calibri"/>
              <a:buNone/>
            </a:pPr>
            <a:r>
              <a:rPr lang="pt-BR"/>
              <a:t>Many kinds of classifiers!</a:t>
            </a:r>
            <a:endParaRPr/>
          </a:p>
        </p:txBody>
      </p:sp>
      <p:sp>
        <p:nvSpPr>
          <p:cNvPr id="580" name="Google Shape;580;g3fbbe1c27eb_1_200"/>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lnSpcReduction="10000"/>
          </a:bodyPr>
          <a:lstStyle/>
          <a:p>
            <a:pPr indent="-419100" lvl="0" marL="457200" rtl="0" algn="l">
              <a:spcBef>
                <a:spcPts val="0"/>
              </a:spcBef>
              <a:spcAft>
                <a:spcPts val="0"/>
              </a:spcAft>
              <a:buSzPts val="3000"/>
              <a:buChar char="●"/>
            </a:pPr>
            <a:r>
              <a:rPr lang="pt-BR"/>
              <a:t>Logistic regression  (this lecture)</a:t>
            </a:r>
            <a:endParaRPr/>
          </a:p>
          <a:p>
            <a:pPr indent="-419100" lvl="0" marL="457200" rtl="0" algn="l">
              <a:spcBef>
                <a:spcPts val="0"/>
              </a:spcBef>
              <a:spcAft>
                <a:spcPts val="0"/>
              </a:spcAft>
              <a:buSzPts val="3000"/>
              <a:buChar char="●"/>
            </a:pPr>
            <a:r>
              <a:rPr lang="pt-BR"/>
              <a:t>Naive Bayes </a:t>
            </a:r>
            <a:endParaRPr/>
          </a:p>
          <a:p>
            <a:pPr indent="-419100" lvl="0" marL="457200" rtl="0" algn="l">
              <a:spcBef>
                <a:spcPts val="0"/>
              </a:spcBef>
              <a:spcAft>
                <a:spcPts val="0"/>
              </a:spcAft>
              <a:buSzPts val="3000"/>
              <a:buChar char="●"/>
            </a:pPr>
            <a:r>
              <a:rPr lang="pt-BR"/>
              <a:t>Neural networks </a:t>
            </a:r>
            <a:endParaRPr/>
          </a:p>
          <a:p>
            <a:pPr indent="-419100" lvl="0" marL="457200" rtl="0" algn="l">
              <a:spcBef>
                <a:spcPts val="0"/>
              </a:spcBef>
              <a:spcAft>
                <a:spcPts val="0"/>
              </a:spcAft>
              <a:buSzPts val="3000"/>
              <a:buChar char="●"/>
            </a:pPr>
            <a:r>
              <a:rPr lang="pt-BR"/>
              <a:t>k-nearest neighbors</a:t>
            </a:r>
            <a:endParaRPr/>
          </a:p>
          <a:p>
            <a:pPr indent="-419100" lvl="0" marL="457200" rtl="0" algn="l">
              <a:spcBef>
                <a:spcPts val="0"/>
              </a:spcBef>
              <a:spcAft>
                <a:spcPts val="0"/>
              </a:spcAft>
              <a:buSzPts val="3000"/>
              <a:buChar char="●"/>
            </a:pPr>
            <a:r>
              <a:rPr lang="pt-BR"/>
              <a:t>LLMs</a:t>
            </a:r>
            <a:endParaRPr/>
          </a:p>
          <a:p>
            <a:pPr indent="-381000" lvl="1" marL="914400" rtl="0" algn="l">
              <a:spcBef>
                <a:spcPts val="0"/>
              </a:spcBef>
              <a:spcAft>
                <a:spcPts val="0"/>
              </a:spcAft>
              <a:buSzPts val="2400"/>
              <a:buChar char="○"/>
            </a:pPr>
            <a:r>
              <a:rPr lang="pt-BR"/>
              <a:t>Fine-tuned as classifiers</a:t>
            </a:r>
            <a:endParaRPr/>
          </a:p>
          <a:p>
            <a:pPr indent="-381000" lvl="1" marL="914400" rtl="0" algn="l">
              <a:spcBef>
                <a:spcPts val="0"/>
              </a:spcBef>
              <a:spcAft>
                <a:spcPts val="0"/>
              </a:spcAft>
              <a:buSzPts val="2400"/>
              <a:buChar char="○"/>
            </a:pPr>
            <a:r>
              <a:rPr lang="pt-BR"/>
              <a:t>Prompted to give a classification</a:t>
            </a:r>
            <a:endParaRPr/>
          </a:p>
        </p:txBody>
      </p:sp>
      <p:sp>
        <p:nvSpPr>
          <p:cNvPr id="581" name="Google Shape;581;g3fbbe1c27eb_1_20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fbc1dcd947_0_5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2</a:t>
            </a:r>
            <a:endParaRPr/>
          </a:p>
        </p:txBody>
      </p:sp>
      <p:sp>
        <p:nvSpPr>
          <p:cNvPr id="587" name="Google Shape;587;g3fbc1dcd947_0_544"/>
          <p:cNvSpPr txBox="1"/>
          <p:nvPr>
            <p:ph idx="1" type="body"/>
          </p:nvPr>
        </p:nvSpPr>
        <p:spPr>
          <a:xfrm>
            <a:off x="311700" y="1152475"/>
            <a:ext cx="8520600" cy="355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2200"/>
              <a:t>Project 2</a:t>
            </a:r>
            <a:endParaRPr b="1" sz="2200"/>
          </a:p>
          <a:p>
            <a:pPr indent="-368300" lvl="0" marL="457200" rtl="0" algn="l">
              <a:spcBef>
                <a:spcPts val="0"/>
              </a:spcBef>
              <a:spcAft>
                <a:spcPts val="0"/>
              </a:spcAft>
              <a:buSzPts val="2200"/>
              <a:buChar char="●"/>
            </a:pPr>
            <a:r>
              <a:rPr lang="pt-BR" sz="2200"/>
              <a:t>Develop and evaluate a process for extracting a clinical knowledge graph from MultiCaRe texts, enhancing and expanding Project 1 using statistical techniques and/or machine learning, but without the use of LLMs or embeddings.</a:t>
            </a:r>
            <a:endParaRPr sz="2200"/>
          </a:p>
          <a:p>
            <a:pPr indent="0" lvl="0" marL="0" rtl="0" algn="l">
              <a:spcBef>
                <a:spcPts val="0"/>
              </a:spcBef>
              <a:spcAft>
                <a:spcPts val="0"/>
              </a:spcAft>
              <a:buNone/>
            </a:pPr>
            <a:r>
              <a:rPr b="1" lang="pt-BR" sz="2200"/>
              <a:t>Task</a:t>
            </a:r>
            <a:endParaRPr b="1" sz="2200"/>
          </a:p>
          <a:p>
            <a:pPr indent="-368300" lvl="0" marL="457200" rtl="0" algn="l">
              <a:spcBef>
                <a:spcPts val="0"/>
              </a:spcBef>
              <a:spcAft>
                <a:spcPts val="0"/>
              </a:spcAft>
              <a:buSzPts val="2200"/>
              <a:buChar char="●"/>
            </a:pPr>
            <a:r>
              <a:rPr lang="pt-BR" sz="2200"/>
              <a:t>Discuss and list the machine learning techniques that could be used to produce a knowledge graph (KG).</a:t>
            </a:r>
            <a:endParaRPr sz="22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fbbe1c27eb_1_15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ML and Classification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fbbe1c27eb_1_34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3F3F3F"/>
              </a:buClr>
              <a:buSzPct val="105882"/>
              <a:buFont typeface="Calibri"/>
              <a:buNone/>
            </a:pPr>
            <a:r>
              <a:rPr lang="pt-BR"/>
              <a:t>Probabilistic Classifiers</a:t>
            </a:r>
            <a:endParaRPr/>
          </a:p>
        </p:txBody>
      </p:sp>
      <p:sp>
        <p:nvSpPr>
          <p:cNvPr id="599" name="Google Shape;599;g3fbbe1c27eb_1_349"/>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0" lvl="0" marL="0" rtl="0" algn="l">
              <a:spcBef>
                <a:spcPts val="0"/>
              </a:spcBef>
              <a:spcAft>
                <a:spcPts val="0"/>
              </a:spcAft>
              <a:buSzPts val="3200"/>
              <a:buNone/>
            </a:pPr>
            <a:r>
              <a:rPr lang="pt-BR"/>
              <a:t>A subset of classifiers that return a probability for each possible output class.</a:t>
            </a:r>
            <a:endParaRPr/>
          </a:p>
        </p:txBody>
      </p:sp>
      <p:sp>
        <p:nvSpPr>
          <p:cNvPr id="600" name="Google Shape;600;g3fbbe1c27eb_1_349"/>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fbbe1c27eb_1_355"/>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3F3F3F"/>
              </a:buClr>
              <a:buSzPct val="105882"/>
              <a:buFont typeface="Calibri"/>
              <a:buNone/>
            </a:pPr>
            <a:r>
              <a:rPr lang="pt-BR"/>
              <a:t>Probabilistic Text Classification: definition</a:t>
            </a:r>
            <a:endParaRPr/>
          </a:p>
        </p:txBody>
      </p:sp>
      <p:sp>
        <p:nvSpPr>
          <p:cNvPr id="607" name="Google Shape;607;g3fbbe1c27eb_1_355"/>
          <p:cNvSpPr txBox="1"/>
          <p:nvPr>
            <p:ph idx="1" type="body"/>
          </p:nvPr>
        </p:nvSpPr>
        <p:spPr>
          <a:xfrm>
            <a:off x="311700" y="1152475"/>
            <a:ext cx="8520600" cy="3658200"/>
          </a:xfrm>
          <a:prstGeom prst="rect">
            <a:avLst/>
          </a:prstGeom>
          <a:noFill/>
          <a:ln>
            <a:noFill/>
          </a:ln>
        </p:spPr>
        <p:txBody>
          <a:bodyPr anchorCtr="0" anchor="t" bIns="45700" lIns="0" spcFirstLastPara="1" rIns="0" wrap="square" tIns="45700">
            <a:normAutofit fontScale="62500" lnSpcReduction="20000"/>
          </a:bodyPr>
          <a:lstStyle/>
          <a:p>
            <a:pPr indent="0" lvl="0" marL="0" rtl="0" algn="l">
              <a:spcBef>
                <a:spcPts val="0"/>
              </a:spcBef>
              <a:spcAft>
                <a:spcPts val="0"/>
              </a:spcAft>
              <a:buSzPct val="106667"/>
              <a:buNone/>
            </a:pPr>
            <a:r>
              <a:rPr b="1" lang="pt-BR"/>
              <a:t>Input:</a:t>
            </a:r>
            <a:endParaRPr b="1"/>
          </a:p>
          <a:p>
            <a:pPr indent="-347663" lvl="0" marL="457200" rtl="0" algn="l">
              <a:spcBef>
                <a:spcPts val="0"/>
              </a:spcBef>
              <a:spcAft>
                <a:spcPts val="0"/>
              </a:spcAft>
              <a:buSzPct val="100000"/>
              <a:buChar char="●"/>
            </a:pPr>
            <a:r>
              <a:rPr lang="pt-BR"/>
              <a:t> a "document" (any text) </a:t>
            </a:r>
            <a:r>
              <a:rPr b="1" i="1" lang="pt-BR">
                <a:solidFill>
                  <a:srgbClr val="BF3730"/>
                </a:solidFill>
              </a:rPr>
              <a:t>d</a:t>
            </a:r>
            <a:endParaRPr b="1" i="1">
              <a:solidFill>
                <a:srgbClr val="BF3730"/>
              </a:solidFill>
            </a:endParaRPr>
          </a:p>
          <a:p>
            <a:pPr indent="-347663" lvl="0" marL="457200" rtl="0" algn="l">
              <a:spcBef>
                <a:spcPts val="0"/>
              </a:spcBef>
              <a:spcAft>
                <a:spcPts val="0"/>
              </a:spcAft>
              <a:buSzPct val="100000"/>
              <a:buChar char="●"/>
            </a:pPr>
            <a:r>
              <a:rPr lang="pt-BR"/>
              <a:t> a fixed set of output classes  </a:t>
            </a:r>
            <a:r>
              <a:rPr b="1" lang="pt-BR">
                <a:solidFill>
                  <a:srgbClr val="BF3730"/>
                </a:solidFill>
              </a:rPr>
              <a:t>Y = {</a:t>
            </a:r>
            <a:r>
              <a:rPr b="1" i="1" lang="pt-BR">
                <a:solidFill>
                  <a:srgbClr val="BF3730"/>
                </a:solidFill>
              </a:rPr>
              <a:t>y</a:t>
            </a:r>
            <a:r>
              <a:rPr b="1" baseline="-25000" i="1" lang="pt-BR">
                <a:solidFill>
                  <a:srgbClr val="BF3730"/>
                </a:solidFill>
              </a:rPr>
              <a:t>1</a:t>
            </a:r>
            <a:r>
              <a:rPr b="1" i="1" lang="pt-BR">
                <a:solidFill>
                  <a:srgbClr val="BF3730"/>
                </a:solidFill>
              </a:rPr>
              <a:t>, y</a:t>
            </a:r>
            <a:r>
              <a:rPr b="1" baseline="-25000" i="1" lang="pt-BR">
                <a:solidFill>
                  <a:srgbClr val="BF3730"/>
                </a:solidFill>
              </a:rPr>
              <a:t>2</a:t>
            </a:r>
            <a:r>
              <a:rPr b="1" i="1" lang="pt-BR">
                <a:solidFill>
                  <a:srgbClr val="BF3730"/>
                </a:solidFill>
              </a:rPr>
              <a:t>,…, y</a:t>
            </a:r>
            <a:r>
              <a:rPr b="1" baseline="-25000" i="1" lang="pt-BR">
                <a:solidFill>
                  <a:srgbClr val="BF3730"/>
                </a:solidFill>
              </a:rPr>
              <a:t>J</a:t>
            </a:r>
            <a:r>
              <a:rPr b="1" lang="pt-BR">
                <a:solidFill>
                  <a:srgbClr val="BF3730"/>
                </a:solidFill>
              </a:rPr>
              <a:t>}</a:t>
            </a:r>
            <a:endParaRPr b="1">
              <a:solidFill>
                <a:srgbClr val="BF3730"/>
              </a:solidFill>
            </a:endParaRPr>
          </a:p>
          <a:p>
            <a:pPr indent="0" lvl="0" marL="0" rtl="0" algn="l">
              <a:spcBef>
                <a:spcPts val="0"/>
              </a:spcBef>
              <a:spcAft>
                <a:spcPts val="0"/>
              </a:spcAft>
              <a:buSzPct val="106667"/>
              <a:buNone/>
            </a:pPr>
            <a:r>
              <a:t/>
            </a:r>
            <a:endParaRPr b="1"/>
          </a:p>
          <a:p>
            <a:pPr indent="0" lvl="0" marL="0" rtl="0" algn="l">
              <a:spcBef>
                <a:spcPts val="0"/>
              </a:spcBef>
              <a:spcAft>
                <a:spcPts val="0"/>
              </a:spcAft>
              <a:buSzPct val="106667"/>
              <a:buNone/>
            </a:pPr>
            <a:r>
              <a:rPr b="1" lang="pt-BR"/>
              <a:t>Output:</a:t>
            </a:r>
            <a:r>
              <a:rPr lang="pt-BR"/>
              <a:t> the probability (for each possible class </a:t>
            </a:r>
            <a:r>
              <a:rPr b="1" lang="pt-BR">
                <a:solidFill>
                  <a:srgbClr val="BF3730"/>
                </a:solidFill>
              </a:rPr>
              <a:t>y</a:t>
            </a:r>
            <a:r>
              <a:rPr b="1" baseline="-25000" lang="pt-BR">
                <a:solidFill>
                  <a:srgbClr val="BF3730"/>
                </a:solidFill>
              </a:rPr>
              <a:t>i</a:t>
            </a:r>
            <a:r>
              <a:rPr b="1" lang="pt-BR">
                <a:solidFill>
                  <a:srgbClr val="BF3730"/>
                </a:solidFill>
              </a:rPr>
              <a:t> </a:t>
            </a:r>
            <a:r>
              <a:rPr lang="pt-BR"/>
              <a:t>) that the true class </a:t>
            </a:r>
            <a:r>
              <a:rPr b="1" lang="pt-BR">
                <a:solidFill>
                  <a:srgbClr val="FF0000"/>
                </a:solidFill>
              </a:rPr>
              <a:t>y</a:t>
            </a:r>
            <a:r>
              <a:rPr lang="pt-BR"/>
              <a:t> is </a:t>
            </a:r>
            <a:r>
              <a:rPr b="1" lang="pt-BR">
                <a:solidFill>
                  <a:srgbClr val="FF0000"/>
                </a:solidFill>
              </a:rPr>
              <a:t>y</a:t>
            </a:r>
            <a:r>
              <a:rPr b="1" baseline="-25000" lang="pt-BR">
                <a:solidFill>
                  <a:srgbClr val="FF0000"/>
                </a:solidFill>
              </a:rPr>
              <a:t>i </a:t>
            </a:r>
            <a:r>
              <a:rPr lang="pt-BR"/>
              <a:t>:</a:t>
            </a:r>
            <a:endParaRPr/>
          </a:p>
          <a:p>
            <a:pPr indent="0" lvl="0" marL="0" rtl="0" algn="l">
              <a:spcBef>
                <a:spcPts val="0"/>
              </a:spcBef>
              <a:spcAft>
                <a:spcPts val="0"/>
              </a:spcAft>
              <a:buSzPct val="106667"/>
              <a:buNone/>
            </a:pPr>
            <a:r>
              <a:rPr lang="pt-BR"/>
              <a:t>			</a:t>
            </a:r>
            <a:r>
              <a:rPr b="1" lang="pt-BR">
                <a:solidFill>
                  <a:srgbClr val="BF3730"/>
                </a:solidFill>
              </a:rPr>
              <a:t>P(y=y</a:t>
            </a:r>
            <a:r>
              <a:rPr b="1" baseline="-25000" lang="pt-BR">
                <a:solidFill>
                  <a:srgbClr val="BF3730"/>
                </a:solidFill>
              </a:rPr>
              <a:t>i</a:t>
            </a:r>
            <a:r>
              <a:rPr b="1" lang="pt-BR">
                <a:solidFill>
                  <a:srgbClr val="BF3730"/>
                </a:solidFill>
              </a:rPr>
              <a:t>|d)     ∀ y</a:t>
            </a:r>
            <a:r>
              <a:rPr b="1" baseline="-25000" lang="pt-BR">
                <a:solidFill>
                  <a:srgbClr val="BF3730"/>
                </a:solidFill>
              </a:rPr>
              <a:t>i</a:t>
            </a:r>
            <a:r>
              <a:rPr b="1" lang="pt-BR">
                <a:solidFill>
                  <a:srgbClr val="BF3730"/>
                </a:solidFill>
              </a:rPr>
              <a:t>∈ Y</a:t>
            </a:r>
            <a:endParaRPr b="1">
              <a:solidFill>
                <a:srgbClr val="BF3730"/>
              </a:solidFill>
            </a:endParaRPr>
          </a:p>
          <a:p>
            <a:pPr indent="0" lvl="0" marL="0" rtl="0" algn="l">
              <a:spcBef>
                <a:spcPts val="0"/>
              </a:spcBef>
              <a:spcAft>
                <a:spcPts val="0"/>
              </a:spcAft>
              <a:buSzPct val="106667"/>
              <a:buNone/>
            </a:pPr>
            <a:r>
              <a:t/>
            </a:r>
            <a:endParaRPr/>
          </a:p>
          <a:p>
            <a:pPr indent="0" lvl="0" marL="0" rtl="0" algn="l">
              <a:spcBef>
                <a:spcPts val="0"/>
              </a:spcBef>
              <a:spcAft>
                <a:spcPts val="0"/>
              </a:spcAft>
              <a:buSzPct val="106667"/>
              <a:buNone/>
            </a:pPr>
            <a:r>
              <a:rPr lang="pt-BR"/>
              <a:t>These probabilities sum to one:   </a:t>
            </a:r>
            <a:r>
              <a:rPr b="1" lang="pt-BR">
                <a:solidFill>
                  <a:srgbClr val="BF3730"/>
                </a:solidFill>
              </a:rPr>
              <a:t>∑</a:t>
            </a:r>
            <a:r>
              <a:rPr b="1" baseline="-25000" lang="pt-BR">
                <a:solidFill>
                  <a:srgbClr val="BF3730"/>
                </a:solidFill>
              </a:rPr>
              <a:t>i  </a:t>
            </a:r>
            <a:r>
              <a:rPr b="1" lang="pt-BR">
                <a:solidFill>
                  <a:srgbClr val="BF3730"/>
                </a:solidFill>
              </a:rPr>
              <a:t>P(y=y</a:t>
            </a:r>
            <a:r>
              <a:rPr b="1" baseline="-25000" lang="pt-BR">
                <a:solidFill>
                  <a:srgbClr val="BF3730"/>
                </a:solidFill>
              </a:rPr>
              <a:t>i</a:t>
            </a:r>
            <a:r>
              <a:rPr b="1" lang="pt-BR">
                <a:solidFill>
                  <a:srgbClr val="BF3730"/>
                </a:solidFill>
              </a:rPr>
              <a:t>|d)=1</a:t>
            </a:r>
            <a:endParaRPr b="1">
              <a:solidFill>
                <a:srgbClr val="BF3730"/>
              </a:solidFill>
            </a:endParaRPr>
          </a:p>
          <a:p>
            <a:pPr indent="0" lvl="0" marL="0" rtl="0" algn="l">
              <a:spcBef>
                <a:spcPts val="0"/>
              </a:spcBef>
              <a:spcAft>
                <a:spcPts val="0"/>
              </a:spcAft>
              <a:buSzPct val="43333"/>
              <a:buNone/>
            </a:pPr>
            <a:r>
              <a:t/>
            </a:r>
            <a:endParaRPr/>
          </a:p>
          <a:p>
            <a:pPr indent="0" lvl="0" marL="0" rtl="0" algn="l">
              <a:spcBef>
                <a:spcPts val="0"/>
              </a:spcBef>
              <a:spcAft>
                <a:spcPts val="0"/>
              </a:spcAft>
              <a:buSzPct val="106667"/>
              <a:buNone/>
            </a:pPr>
            <a:r>
              <a:rPr lang="pt-BR"/>
              <a:t>So for binary classification </a:t>
            </a:r>
            <a:r>
              <a:rPr b="1" lang="pt-BR">
                <a:solidFill>
                  <a:srgbClr val="BF3730"/>
                </a:solidFill>
              </a:rPr>
              <a:t>Y = {0,1}</a:t>
            </a:r>
            <a:r>
              <a:rPr lang="pt-BR"/>
              <a:t>  and</a:t>
            </a:r>
            <a:endParaRPr/>
          </a:p>
          <a:p>
            <a:pPr indent="0" lvl="0" marL="0" rtl="0" algn="l">
              <a:spcBef>
                <a:spcPts val="0"/>
              </a:spcBef>
              <a:spcAft>
                <a:spcPts val="0"/>
              </a:spcAft>
              <a:buSzPct val="33333"/>
              <a:buNone/>
            </a:pPr>
            <a:br>
              <a:rPr lang="pt-BR"/>
            </a:br>
            <a:r>
              <a:rPr lang="pt-BR"/>
              <a:t>         </a:t>
            </a:r>
            <a:r>
              <a:rPr b="1" lang="pt-BR">
                <a:solidFill>
                  <a:srgbClr val="BF3730"/>
                </a:solidFill>
              </a:rPr>
              <a:t>P(y=1|d)   =   1 – P(y=0|d)</a:t>
            </a:r>
            <a:endParaRPr b="1">
              <a:solidFill>
                <a:srgbClr val="BF3730"/>
              </a:solidFill>
            </a:endParaRPr>
          </a:p>
        </p:txBody>
      </p:sp>
      <p:sp>
        <p:nvSpPr>
          <p:cNvPr id="608" name="Google Shape;608;g3fbbe1c27eb_1_355"/>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fbbe1c27eb_1_506"/>
          <p:cNvSpPr txBox="1"/>
          <p:nvPr>
            <p:ph type="title"/>
          </p:nvPr>
        </p:nvSpPr>
        <p:spPr>
          <a:xfrm>
            <a:off x="311700" y="103293"/>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300"/>
              <a:t>Probabilistic Text Classification is usually a kind of</a:t>
            </a:r>
            <a:endParaRPr sz="2300"/>
          </a:p>
          <a:p>
            <a:pPr indent="0" lvl="0" marL="0" rtl="0" algn="l">
              <a:spcBef>
                <a:spcPts val="0"/>
              </a:spcBef>
              <a:spcAft>
                <a:spcPts val="0"/>
              </a:spcAft>
              <a:buNone/>
            </a:pPr>
            <a:r>
              <a:rPr lang="pt-BR" sz="2300"/>
              <a:t>Supervised Machine Learning</a:t>
            </a:r>
            <a:endParaRPr sz="2000"/>
          </a:p>
        </p:txBody>
      </p:sp>
      <p:sp>
        <p:nvSpPr>
          <p:cNvPr id="614" name="Google Shape;614;g3fbbe1c27eb_1_506"/>
          <p:cNvSpPr txBox="1"/>
          <p:nvPr>
            <p:ph idx="1" type="body"/>
          </p:nvPr>
        </p:nvSpPr>
        <p:spPr>
          <a:xfrm>
            <a:off x="311700" y="810751"/>
            <a:ext cx="8520600" cy="403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1800"/>
              <a:t>Training </a:t>
            </a:r>
            <a:endParaRPr b="1" sz="1800"/>
          </a:p>
          <a:p>
            <a:pPr indent="-342900" lvl="0" marL="457200" rtl="0" algn="l">
              <a:spcBef>
                <a:spcPts val="0"/>
              </a:spcBef>
              <a:spcAft>
                <a:spcPts val="0"/>
              </a:spcAft>
              <a:buSzPts val="1800"/>
              <a:buChar char="●"/>
            </a:pPr>
            <a:r>
              <a:rPr b="1" lang="pt-BR" sz="1800"/>
              <a:t>Input</a:t>
            </a:r>
            <a:r>
              <a:rPr lang="pt-BR" sz="1800"/>
              <a:t>: </a:t>
            </a:r>
            <a:endParaRPr sz="1800"/>
          </a:p>
          <a:p>
            <a:pPr indent="-330200" lvl="1" marL="914400" rtl="0" algn="l">
              <a:spcBef>
                <a:spcPts val="0"/>
              </a:spcBef>
              <a:spcAft>
                <a:spcPts val="0"/>
              </a:spcAft>
              <a:buSzPts val="1600"/>
              <a:buChar char="○"/>
            </a:pPr>
            <a:r>
              <a:rPr lang="pt-BR" sz="1600"/>
              <a:t>a fixed set of classes  </a:t>
            </a:r>
            <a:r>
              <a:rPr b="1" lang="pt-BR" sz="1600">
                <a:solidFill>
                  <a:srgbClr val="BF3730"/>
                </a:solidFill>
              </a:rPr>
              <a:t>Y = {</a:t>
            </a:r>
            <a:r>
              <a:rPr b="1" i="1" lang="pt-BR" sz="1600">
                <a:solidFill>
                  <a:srgbClr val="BF3730"/>
                </a:solidFill>
              </a:rPr>
              <a:t>y</a:t>
            </a:r>
            <a:r>
              <a:rPr b="1" baseline="-25000" i="1" lang="pt-BR" sz="1600">
                <a:solidFill>
                  <a:srgbClr val="BF3730"/>
                </a:solidFill>
              </a:rPr>
              <a:t>1</a:t>
            </a:r>
            <a:r>
              <a:rPr b="1" i="1" lang="pt-BR" sz="1600">
                <a:solidFill>
                  <a:srgbClr val="BF3730"/>
                </a:solidFill>
              </a:rPr>
              <a:t>, y</a:t>
            </a:r>
            <a:r>
              <a:rPr b="1" baseline="-25000" i="1" lang="pt-BR" sz="1600">
                <a:solidFill>
                  <a:srgbClr val="BF3730"/>
                </a:solidFill>
              </a:rPr>
              <a:t>2</a:t>
            </a:r>
            <a:r>
              <a:rPr b="1" i="1" lang="pt-BR" sz="1600">
                <a:solidFill>
                  <a:srgbClr val="BF3730"/>
                </a:solidFill>
              </a:rPr>
              <a:t>,…, y</a:t>
            </a:r>
            <a:r>
              <a:rPr b="1" baseline="-25000" i="1" lang="pt-BR" sz="1600">
                <a:solidFill>
                  <a:srgbClr val="BF3730"/>
                </a:solidFill>
              </a:rPr>
              <a:t>J</a:t>
            </a:r>
            <a:r>
              <a:rPr b="1" lang="pt-BR" sz="1600">
                <a:solidFill>
                  <a:srgbClr val="BF3730"/>
                </a:solidFill>
              </a:rPr>
              <a:t>}</a:t>
            </a:r>
            <a:endParaRPr b="1" sz="1600">
              <a:solidFill>
                <a:srgbClr val="BF3730"/>
              </a:solidFill>
            </a:endParaRPr>
          </a:p>
          <a:p>
            <a:pPr indent="-330200" lvl="1" marL="914400" rtl="0" algn="l">
              <a:spcBef>
                <a:spcPts val="0"/>
              </a:spcBef>
              <a:spcAft>
                <a:spcPts val="0"/>
              </a:spcAft>
              <a:buSzPts val="1600"/>
              <a:buChar char="○"/>
            </a:pPr>
            <a:r>
              <a:rPr lang="pt-BR" sz="1600"/>
              <a:t>a training set of </a:t>
            </a:r>
            <a:r>
              <a:rPr i="1" lang="pt-BR" sz="1600">
                <a:solidFill>
                  <a:srgbClr val="BF3730"/>
                </a:solidFill>
              </a:rPr>
              <a:t>m</a:t>
            </a:r>
            <a:r>
              <a:rPr lang="pt-BR" sz="1600"/>
              <a:t> hand-labeled inputs</a:t>
            </a:r>
            <a:r>
              <a:rPr b="1" lang="pt-BR" sz="1600"/>
              <a:t> </a:t>
            </a:r>
            <a:r>
              <a:rPr b="1" lang="pt-BR" sz="1600">
                <a:solidFill>
                  <a:srgbClr val="BF3730"/>
                </a:solidFill>
              </a:rPr>
              <a:t>(</a:t>
            </a:r>
            <a:r>
              <a:rPr b="1" i="1" lang="pt-BR" sz="1600">
                <a:solidFill>
                  <a:srgbClr val="BF3730"/>
                </a:solidFill>
              </a:rPr>
              <a:t>x</a:t>
            </a:r>
            <a:r>
              <a:rPr b="1" baseline="30000" i="1" lang="pt-BR" sz="1600">
                <a:solidFill>
                  <a:srgbClr val="BF3730"/>
                </a:solidFill>
              </a:rPr>
              <a:t>(1)</a:t>
            </a:r>
            <a:r>
              <a:rPr b="1" i="1" lang="pt-BR" sz="1600">
                <a:solidFill>
                  <a:srgbClr val="BF3730"/>
                </a:solidFill>
              </a:rPr>
              <a:t>,y</a:t>
            </a:r>
            <a:r>
              <a:rPr b="1" baseline="30000" i="1" lang="pt-BR" sz="1600">
                <a:solidFill>
                  <a:srgbClr val="BF3730"/>
                </a:solidFill>
              </a:rPr>
              <a:t>(1)</a:t>
            </a:r>
            <a:r>
              <a:rPr b="1" i="1" lang="pt-BR" sz="1600">
                <a:solidFill>
                  <a:srgbClr val="BF3730"/>
                </a:solidFill>
              </a:rPr>
              <a:t>),....,(x</a:t>
            </a:r>
            <a:r>
              <a:rPr b="1" baseline="30000" i="1" lang="pt-BR" sz="1600">
                <a:solidFill>
                  <a:srgbClr val="BF3730"/>
                </a:solidFill>
              </a:rPr>
              <a:t>(m)</a:t>
            </a:r>
            <a:r>
              <a:rPr b="1" i="1" lang="pt-BR" sz="1600">
                <a:solidFill>
                  <a:srgbClr val="BF3730"/>
                </a:solidFill>
              </a:rPr>
              <a:t>,y</a:t>
            </a:r>
            <a:r>
              <a:rPr b="1" baseline="30000" i="1" lang="pt-BR" sz="1600">
                <a:solidFill>
                  <a:srgbClr val="BF3730"/>
                </a:solidFill>
              </a:rPr>
              <a:t>(m</a:t>
            </a:r>
            <a:r>
              <a:rPr b="1" i="1" lang="pt-BR" sz="1600">
                <a:solidFill>
                  <a:srgbClr val="BF3730"/>
                </a:solidFill>
              </a:rPr>
              <a:t>)</a:t>
            </a:r>
            <a:r>
              <a:rPr b="1" lang="pt-BR" sz="1600">
                <a:solidFill>
                  <a:srgbClr val="BF3730"/>
                </a:solidFill>
              </a:rPr>
              <a:t>)</a:t>
            </a:r>
            <a:endParaRPr b="1" sz="1600">
              <a:solidFill>
                <a:srgbClr val="BF3730"/>
              </a:solidFill>
            </a:endParaRPr>
          </a:p>
          <a:p>
            <a:pPr indent="-342900" lvl="0" marL="457200" rtl="0" algn="l">
              <a:spcBef>
                <a:spcPts val="0"/>
              </a:spcBef>
              <a:spcAft>
                <a:spcPts val="0"/>
              </a:spcAft>
              <a:buSzPts val="1800"/>
              <a:buChar char="●"/>
            </a:pPr>
            <a:r>
              <a:rPr b="1" lang="pt-BR" sz="1800"/>
              <a:t>Learning algorithm</a:t>
            </a:r>
            <a:endParaRPr b="1" sz="1800"/>
          </a:p>
          <a:p>
            <a:pPr indent="-342900" lvl="0" marL="457200" rtl="0" algn="l">
              <a:spcBef>
                <a:spcPts val="0"/>
              </a:spcBef>
              <a:spcAft>
                <a:spcPts val="0"/>
              </a:spcAft>
              <a:buSzPts val="1800"/>
              <a:buChar char="●"/>
            </a:pPr>
            <a:r>
              <a:rPr b="1" lang="pt-BR" sz="1800"/>
              <a:t>Output</a:t>
            </a:r>
            <a:r>
              <a:rPr lang="pt-BR" sz="1800"/>
              <a:t>: </a:t>
            </a:r>
            <a:endParaRPr sz="1800"/>
          </a:p>
          <a:p>
            <a:pPr indent="-330200" lvl="1" marL="914400" rtl="0" algn="l">
              <a:spcBef>
                <a:spcPts val="0"/>
              </a:spcBef>
              <a:spcAft>
                <a:spcPts val="0"/>
              </a:spcAft>
              <a:buSzPts val="1600"/>
              <a:buChar char="○"/>
            </a:pPr>
            <a:r>
              <a:rPr lang="pt-BR" sz="1600"/>
              <a:t>a learned classifier that maps from </a:t>
            </a:r>
            <a:r>
              <a:rPr b="1" i="1" lang="pt-BR" sz="1600">
                <a:solidFill>
                  <a:srgbClr val="BF3730"/>
                </a:solidFill>
              </a:rPr>
              <a:t>d</a:t>
            </a:r>
            <a:r>
              <a:rPr b="1" lang="pt-BR" sz="1600">
                <a:solidFill>
                  <a:srgbClr val="BF3730"/>
                </a:solidFill>
              </a:rPr>
              <a:t> → P(y=y</a:t>
            </a:r>
            <a:r>
              <a:rPr b="1" baseline="-25000" lang="pt-BR" sz="1600">
                <a:solidFill>
                  <a:srgbClr val="BF3730"/>
                </a:solidFill>
              </a:rPr>
              <a:t>i</a:t>
            </a:r>
            <a:r>
              <a:rPr b="1" lang="pt-BR" sz="1600">
                <a:solidFill>
                  <a:srgbClr val="BF3730"/>
                </a:solidFill>
              </a:rPr>
              <a:t>|d)    ∀ y</a:t>
            </a:r>
            <a:r>
              <a:rPr b="1" baseline="-25000" lang="pt-BR" sz="1600">
                <a:solidFill>
                  <a:srgbClr val="BF3730"/>
                </a:solidFill>
              </a:rPr>
              <a:t>i</a:t>
            </a:r>
            <a:r>
              <a:rPr b="1" lang="pt-BR" sz="1600">
                <a:solidFill>
                  <a:srgbClr val="BF3730"/>
                </a:solidFill>
              </a:rPr>
              <a:t>∈ Y</a:t>
            </a:r>
            <a:endParaRPr b="1" sz="1600">
              <a:solidFill>
                <a:srgbClr val="BF3730"/>
              </a:solidFill>
            </a:endParaRPr>
          </a:p>
          <a:p>
            <a:pPr indent="0" lvl="0" marL="0" rtl="0" algn="l">
              <a:spcBef>
                <a:spcPts val="0"/>
              </a:spcBef>
              <a:spcAft>
                <a:spcPts val="0"/>
              </a:spcAft>
              <a:buNone/>
            </a:pPr>
            <a:r>
              <a:t/>
            </a:r>
            <a:endParaRPr sz="1800"/>
          </a:p>
          <a:p>
            <a:pPr indent="0" lvl="0" marL="0" rtl="0" algn="l">
              <a:spcBef>
                <a:spcPts val="0"/>
              </a:spcBef>
              <a:spcAft>
                <a:spcPts val="0"/>
              </a:spcAft>
              <a:buNone/>
            </a:pPr>
            <a:r>
              <a:rPr b="1" lang="pt-BR" sz="1800"/>
              <a:t>Inference </a:t>
            </a:r>
            <a:r>
              <a:rPr lang="pt-BR" sz="1800"/>
              <a:t>or </a:t>
            </a:r>
            <a:r>
              <a:rPr b="1" lang="pt-BR" sz="1800"/>
              <a:t>Test</a:t>
            </a:r>
            <a:endParaRPr b="1" sz="1800"/>
          </a:p>
          <a:p>
            <a:pPr indent="-342900" lvl="0" marL="457200" rtl="0" algn="l">
              <a:spcBef>
                <a:spcPts val="0"/>
              </a:spcBef>
              <a:spcAft>
                <a:spcPts val="0"/>
              </a:spcAft>
              <a:buSzPts val="1800"/>
              <a:buChar char="●"/>
            </a:pPr>
            <a:r>
              <a:rPr b="1" lang="pt-BR" sz="1800"/>
              <a:t>Input</a:t>
            </a:r>
            <a:r>
              <a:rPr lang="pt-BR" sz="1800"/>
              <a:t>: a document </a:t>
            </a:r>
            <a:r>
              <a:rPr b="1" i="1" lang="pt-BR" sz="1800">
                <a:solidFill>
                  <a:srgbClr val="BF3730"/>
                </a:solidFill>
              </a:rPr>
              <a:t>d</a:t>
            </a:r>
            <a:endParaRPr b="1" i="1" sz="1800">
              <a:solidFill>
                <a:srgbClr val="BF3730"/>
              </a:solidFill>
            </a:endParaRPr>
          </a:p>
          <a:p>
            <a:pPr indent="-342900" lvl="0" marL="457200" rtl="0" algn="l">
              <a:spcBef>
                <a:spcPts val="0"/>
              </a:spcBef>
              <a:spcAft>
                <a:spcPts val="0"/>
              </a:spcAft>
              <a:buSzPts val="1800"/>
              <a:buChar char="●"/>
            </a:pPr>
            <a:r>
              <a:rPr b="1" lang="pt-BR" sz="1800"/>
              <a:t>Output</a:t>
            </a:r>
            <a:r>
              <a:rPr lang="pt-BR" sz="1800"/>
              <a:t>: a distribution over the output classes </a:t>
            </a:r>
            <a:r>
              <a:rPr b="1" i="1" lang="pt-BR" sz="1800">
                <a:solidFill>
                  <a:srgbClr val="BF3730"/>
                </a:solidFill>
              </a:rPr>
              <a:t>P(y=yi|d)    ∀ yi∈ Y</a:t>
            </a:r>
            <a:endParaRPr b="1" i="1" sz="1800">
              <a:solidFill>
                <a:srgbClr val="BF3730"/>
              </a:solidFill>
            </a:endParaRPr>
          </a:p>
          <a:p>
            <a:pPr indent="0" lvl="0" marL="0" rtl="0" algn="l">
              <a:spcBef>
                <a:spcPts val="0"/>
              </a:spcBef>
              <a:spcAft>
                <a:spcPts val="0"/>
              </a:spcAft>
              <a:buNone/>
            </a:pPr>
            <a:r>
              <a:t/>
            </a:r>
            <a:endParaRPr sz="1800"/>
          </a:p>
          <a:p>
            <a:pPr indent="0" lvl="0" marL="0" rtl="0" algn="l">
              <a:spcBef>
                <a:spcPts val="0"/>
              </a:spcBef>
              <a:spcAft>
                <a:spcPts val="0"/>
              </a:spcAft>
              <a:buNone/>
            </a:pPr>
            <a:r>
              <a:rPr lang="pt-BR" sz="1800"/>
              <a:t>So for binary classification that means </a:t>
            </a:r>
            <a:r>
              <a:rPr b="1" i="1" lang="pt-BR" sz="1800">
                <a:solidFill>
                  <a:srgbClr val="BF3730"/>
                </a:solidFill>
              </a:rPr>
              <a:t>P(y=1|d) and P(y=0|d)</a:t>
            </a:r>
            <a:endParaRPr b="1" i="1" sz="1800">
              <a:solidFill>
                <a:srgbClr val="BF3730"/>
              </a:solidFill>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615" name="Google Shape;615;g3fbbe1c27eb_1_506"/>
          <p:cNvSpPr txBox="1"/>
          <p:nvPr/>
        </p:nvSpPr>
        <p:spPr>
          <a:xfrm>
            <a:off x="6248150" y="7687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3fbb7e4475e_1_257"/>
          <p:cNvSpPr txBox="1"/>
          <p:nvPr>
            <p:ph type="title"/>
          </p:nvPr>
        </p:nvSpPr>
        <p:spPr>
          <a:xfrm>
            <a:off x="483350" y="24125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Supervised Machine Learning</a:t>
            </a:r>
            <a:endParaRPr/>
          </a:p>
        </p:txBody>
      </p:sp>
      <p:sp>
        <p:nvSpPr>
          <p:cNvPr id="621" name="Google Shape;621;g3fbb7e4475e_1_257"/>
          <p:cNvSpPr/>
          <p:nvPr/>
        </p:nvSpPr>
        <p:spPr>
          <a:xfrm>
            <a:off x="83950" y="2910225"/>
            <a:ext cx="793200" cy="842700"/>
          </a:xfrm>
          <a:prstGeom prst="can">
            <a:avLst>
              <a:gd fmla="val 25000"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Data Source</a:t>
            </a:r>
            <a:endParaRPr b="0" i="0" sz="1400" u="none" cap="none" strike="noStrike">
              <a:solidFill>
                <a:srgbClr val="000000"/>
              </a:solidFill>
              <a:latin typeface="Arial"/>
              <a:ea typeface="Arial"/>
              <a:cs typeface="Arial"/>
              <a:sym typeface="Arial"/>
            </a:endParaRPr>
          </a:p>
        </p:txBody>
      </p:sp>
      <p:sp>
        <p:nvSpPr>
          <p:cNvPr id="622" name="Google Shape;622;g3fbb7e4475e_1_257"/>
          <p:cNvSpPr/>
          <p:nvPr/>
        </p:nvSpPr>
        <p:spPr>
          <a:xfrm>
            <a:off x="3278300" y="2064551"/>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623" name="Google Shape;623;g3fbb7e4475e_1_257"/>
          <p:cNvSpPr/>
          <p:nvPr/>
        </p:nvSpPr>
        <p:spPr>
          <a:xfrm>
            <a:off x="3325050" y="3098913"/>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sp>
        <p:nvSpPr>
          <p:cNvPr id="624" name="Google Shape;624;g3fbb7e4475e_1_257"/>
          <p:cNvSpPr/>
          <p:nvPr/>
        </p:nvSpPr>
        <p:spPr>
          <a:xfrm>
            <a:off x="4989201" y="1808338"/>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625" name="Google Shape;625;g3fbb7e4475e_1_257"/>
          <p:cNvSpPr/>
          <p:nvPr/>
        </p:nvSpPr>
        <p:spPr>
          <a:xfrm>
            <a:off x="7896775" y="2064550"/>
            <a:ext cx="11667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Production</a:t>
            </a:r>
            <a:endParaRPr b="0" i="0" sz="1400" u="none" cap="none" strike="noStrike">
              <a:solidFill>
                <a:srgbClr val="000000"/>
              </a:solidFill>
              <a:latin typeface="Arial"/>
              <a:ea typeface="Arial"/>
              <a:cs typeface="Arial"/>
              <a:sym typeface="Arial"/>
            </a:endParaRPr>
          </a:p>
        </p:txBody>
      </p:sp>
      <p:cxnSp>
        <p:nvCxnSpPr>
          <p:cNvPr id="626" name="Google Shape;626;g3fbb7e4475e_1_257"/>
          <p:cNvCxnSpPr>
            <a:stCxn id="622" idx="3"/>
            <a:endCxn id="624" idx="2"/>
          </p:cNvCxnSpPr>
          <p:nvPr/>
        </p:nvCxnSpPr>
        <p:spPr>
          <a:xfrm>
            <a:off x="4472901" y="2297201"/>
            <a:ext cx="516300" cy="1500"/>
          </a:xfrm>
          <a:prstGeom prst="straightConnector1">
            <a:avLst/>
          </a:prstGeom>
          <a:noFill/>
          <a:ln cap="flat" cmpd="sng" w="38100">
            <a:solidFill>
              <a:schemeClr val="dk2"/>
            </a:solidFill>
            <a:prstDash val="solid"/>
            <a:round/>
            <a:headEnd len="sm" w="sm" type="none"/>
            <a:tailEnd len="med" w="med" type="triangle"/>
          </a:ln>
        </p:spPr>
      </p:cxnSp>
      <p:cxnSp>
        <p:nvCxnSpPr>
          <p:cNvPr id="627" name="Google Shape;627;g3fbb7e4475e_1_257"/>
          <p:cNvCxnSpPr>
            <a:stCxn id="623" idx="3"/>
            <a:endCxn id="624" idx="4"/>
          </p:cNvCxnSpPr>
          <p:nvPr/>
        </p:nvCxnSpPr>
        <p:spPr>
          <a:xfrm flipH="1" rot="10800000">
            <a:off x="4519651" y="2789463"/>
            <a:ext cx="953700" cy="542100"/>
          </a:xfrm>
          <a:prstGeom prst="bentConnector2">
            <a:avLst/>
          </a:prstGeom>
          <a:noFill/>
          <a:ln cap="flat" cmpd="sng" w="38100">
            <a:solidFill>
              <a:schemeClr val="dk2"/>
            </a:solidFill>
            <a:prstDash val="solid"/>
            <a:round/>
            <a:headEnd len="sm" w="sm" type="none"/>
            <a:tailEnd len="med" w="med" type="triangle"/>
          </a:ln>
        </p:spPr>
      </p:cxnSp>
      <p:sp>
        <p:nvSpPr>
          <p:cNvPr id="628" name="Google Shape;628;g3fbb7e4475e_1_257"/>
          <p:cNvSpPr txBox="1"/>
          <p:nvPr/>
        </p:nvSpPr>
        <p:spPr>
          <a:xfrm>
            <a:off x="4472900" y="1793238"/>
            <a:ext cx="5970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a:t>
            </a:r>
            <a:endParaRPr b="0" i="0" sz="1400" u="none" cap="none" strike="noStrike">
              <a:solidFill>
                <a:srgbClr val="000000"/>
              </a:solidFill>
              <a:latin typeface="Arial"/>
              <a:ea typeface="Arial"/>
              <a:cs typeface="Arial"/>
              <a:sym typeface="Arial"/>
            </a:endParaRPr>
          </a:p>
        </p:txBody>
      </p:sp>
      <p:sp>
        <p:nvSpPr>
          <p:cNvPr id="629" name="Google Shape;629;g3fbb7e4475e_1_257"/>
          <p:cNvSpPr txBox="1"/>
          <p:nvPr/>
        </p:nvSpPr>
        <p:spPr>
          <a:xfrm>
            <a:off x="4572620" y="2939213"/>
            <a:ext cx="893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630" name="Google Shape;630;g3fbb7e4475e_1_257"/>
          <p:cNvSpPr txBox="1"/>
          <p:nvPr/>
        </p:nvSpPr>
        <p:spPr>
          <a:xfrm>
            <a:off x="5847996" y="1187500"/>
            <a:ext cx="5970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Tune</a:t>
            </a:r>
            <a:endParaRPr b="0" i="0" sz="1400" u="none" cap="none" strike="noStrike">
              <a:solidFill>
                <a:srgbClr val="000000"/>
              </a:solidFill>
              <a:latin typeface="Arial"/>
              <a:ea typeface="Arial"/>
              <a:cs typeface="Arial"/>
              <a:sym typeface="Arial"/>
            </a:endParaRPr>
          </a:p>
        </p:txBody>
      </p:sp>
      <p:sp>
        <p:nvSpPr>
          <p:cNvPr id="631" name="Google Shape;631;g3fbb7e4475e_1_257"/>
          <p:cNvSpPr/>
          <p:nvPr/>
        </p:nvSpPr>
        <p:spPr>
          <a:xfrm>
            <a:off x="3362150" y="4242100"/>
            <a:ext cx="10269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Test Data</a:t>
            </a:r>
            <a:endParaRPr b="0" i="0" sz="1400" u="none" cap="none" strike="noStrike">
              <a:solidFill>
                <a:srgbClr val="000000"/>
              </a:solidFill>
              <a:latin typeface="Arial"/>
              <a:ea typeface="Arial"/>
              <a:cs typeface="Arial"/>
              <a:sym typeface="Arial"/>
            </a:endParaRPr>
          </a:p>
        </p:txBody>
      </p:sp>
      <p:sp>
        <p:nvSpPr>
          <p:cNvPr id="632" name="Google Shape;632;g3fbb7e4475e_1_257"/>
          <p:cNvSpPr/>
          <p:nvPr/>
        </p:nvSpPr>
        <p:spPr>
          <a:xfrm>
            <a:off x="1247700" y="3103825"/>
            <a:ext cx="15174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Feature Representation</a:t>
            </a:r>
            <a:endParaRPr b="0" i="0" sz="1400" u="none" cap="none" strike="noStrike">
              <a:solidFill>
                <a:srgbClr val="000000"/>
              </a:solidFill>
              <a:latin typeface="Arial"/>
              <a:ea typeface="Arial"/>
              <a:cs typeface="Arial"/>
              <a:sym typeface="Arial"/>
            </a:endParaRPr>
          </a:p>
        </p:txBody>
      </p:sp>
      <p:cxnSp>
        <p:nvCxnSpPr>
          <p:cNvPr id="633" name="Google Shape;633;g3fbb7e4475e_1_257"/>
          <p:cNvCxnSpPr>
            <a:stCxn id="621" idx="4"/>
            <a:endCxn id="632" idx="1"/>
          </p:cNvCxnSpPr>
          <p:nvPr/>
        </p:nvCxnSpPr>
        <p:spPr>
          <a:xfrm>
            <a:off x="877150" y="3331575"/>
            <a:ext cx="370500" cy="4800"/>
          </a:xfrm>
          <a:prstGeom prst="straightConnector1">
            <a:avLst/>
          </a:prstGeom>
          <a:noFill/>
          <a:ln cap="flat" cmpd="sng" w="38100">
            <a:solidFill>
              <a:schemeClr val="dk2"/>
            </a:solidFill>
            <a:prstDash val="solid"/>
            <a:round/>
            <a:headEnd len="sm" w="sm" type="none"/>
            <a:tailEnd len="med" w="med" type="triangle"/>
          </a:ln>
        </p:spPr>
      </p:cxnSp>
      <p:sp>
        <p:nvSpPr>
          <p:cNvPr id="634" name="Google Shape;634;g3fbb7e4475e_1_257"/>
          <p:cNvSpPr/>
          <p:nvPr/>
        </p:nvSpPr>
        <p:spPr>
          <a:xfrm>
            <a:off x="5349000" y="1187500"/>
            <a:ext cx="463750" cy="681600"/>
          </a:xfrm>
          <a:custGeom>
            <a:rect b="b" l="l" r="r" t="t"/>
            <a:pathLst>
              <a:path extrusionOk="0" h="27264" w="18550">
                <a:moveTo>
                  <a:pt x="18550" y="27264"/>
                </a:moveTo>
                <a:lnTo>
                  <a:pt x="18550" y="0"/>
                </a:lnTo>
                <a:lnTo>
                  <a:pt x="0" y="0"/>
                </a:lnTo>
                <a:lnTo>
                  <a:pt x="0" y="24734"/>
                </a:lnTo>
              </a:path>
            </a:pathLst>
          </a:custGeom>
          <a:noFill/>
          <a:ln cap="flat" cmpd="sng" w="38100">
            <a:solidFill>
              <a:schemeClr val="dk2"/>
            </a:solidFill>
            <a:prstDash val="solid"/>
            <a:round/>
            <a:headEnd len="sm" w="sm" type="none"/>
            <a:tailEnd len="med" w="med" type="triangle"/>
          </a:ln>
        </p:spPr>
      </p:sp>
      <p:sp>
        <p:nvSpPr>
          <p:cNvPr id="635" name="Google Shape;635;g3fbb7e4475e_1_257"/>
          <p:cNvSpPr/>
          <p:nvPr/>
        </p:nvSpPr>
        <p:spPr>
          <a:xfrm>
            <a:off x="6329875" y="2064550"/>
            <a:ext cx="1194600" cy="465300"/>
          </a:xfrm>
          <a:prstGeom prst="roundRect">
            <a:avLst>
              <a:gd fmla="val 40544" name="adj"/>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Final Evaluation</a:t>
            </a:r>
            <a:endParaRPr b="0" i="0" sz="1400" u="none" cap="none" strike="noStrike">
              <a:solidFill>
                <a:srgbClr val="000000"/>
              </a:solidFill>
              <a:latin typeface="Arial"/>
              <a:ea typeface="Arial"/>
              <a:cs typeface="Arial"/>
              <a:sym typeface="Arial"/>
            </a:endParaRPr>
          </a:p>
        </p:txBody>
      </p:sp>
      <p:cxnSp>
        <p:nvCxnSpPr>
          <p:cNvPr id="636" name="Google Shape;636;g3fbb7e4475e_1_257"/>
          <p:cNvCxnSpPr>
            <a:stCxn id="624" idx="6"/>
            <a:endCxn id="635" idx="1"/>
          </p:cNvCxnSpPr>
          <p:nvPr/>
        </p:nvCxnSpPr>
        <p:spPr>
          <a:xfrm flipH="1" rot="10800000">
            <a:off x="5957601" y="2297338"/>
            <a:ext cx="372300" cy="1500"/>
          </a:xfrm>
          <a:prstGeom prst="straightConnector1">
            <a:avLst/>
          </a:prstGeom>
          <a:noFill/>
          <a:ln cap="flat" cmpd="sng" w="38100">
            <a:solidFill>
              <a:schemeClr val="dk2"/>
            </a:solidFill>
            <a:prstDash val="solid"/>
            <a:round/>
            <a:headEnd len="sm" w="sm" type="none"/>
            <a:tailEnd len="med" w="med" type="triangle"/>
          </a:ln>
        </p:spPr>
      </p:cxnSp>
      <p:sp>
        <p:nvSpPr>
          <p:cNvPr id="637" name="Google Shape;637;g3fbb7e4475e_1_257"/>
          <p:cNvSpPr txBox="1"/>
          <p:nvPr/>
        </p:nvSpPr>
        <p:spPr>
          <a:xfrm>
            <a:off x="7127275" y="1773100"/>
            <a:ext cx="1166700" cy="52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cxnSp>
        <p:nvCxnSpPr>
          <p:cNvPr id="638" name="Google Shape;638;g3fbb7e4475e_1_257"/>
          <p:cNvCxnSpPr>
            <a:stCxn id="631" idx="3"/>
          </p:cNvCxnSpPr>
          <p:nvPr/>
        </p:nvCxnSpPr>
        <p:spPr>
          <a:xfrm flipH="1" rot="10800000">
            <a:off x="4389050" y="2480350"/>
            <a:ext cx="1994700" cy="1994400"/>
          </a:xfrm>
          <a:prstGeom prst="bentConnector3">
            <a:avLst>
              <a:gd fmla="val 80970" name="adj1"/>
            </a:avLst>
          </a:prstGeom>
          <a:noFill/>
          <a:ln cap="flat" cmpd="sng" w="38100">
            <a:solidFill>
              <a:schemeClr val="dk2"/>
            </a:solidFill>
            <a:prstDash val="solid"/>
            <a:round/>
            <a:headEnd len="sm" w="sm" type="none"/>
            <a:tailEnd len="med" w="med" type="triangle"/>
          </a:ln>
        </p:spPr>
      </p:cxnSp>
      <p:cxnSp>
        <p:nvCxnSpPr>
          <p:cNvPr id="639" name="Google Shape;639;g3fbb7e4475e_1_257"/>
          <p:cNvCxnSpPr>
            <a:stCxn id="635" idx="3"/>
            <a:endCxn id="625" idx="1"/>
          </p:cNvCxnSpPr>
          <p:nvPr/>
        </p:nvCxnSpPr>
        <p:spPr>
          <a:xfrm>
            <a:off x="7524475" y="2297200"/>
            <a:ext cx="372300" cy="0"/>
          </a:xfrm>
          <a:prstGeom prst="straightConnector1">
            <a:avLst/>
          </a:prstGeom>
          <a:noFill/>
          <a:ln cap="flat" cmpd="sng" w="38100">
            <a:solidFill>
              <a:schemeClr val="dk2"/>
            </a:solidFill>
            <a:prstDash val="solid"/>
            <a:round/>
            <a:headEnd len="sm" w="sm" type="none"/>
            <a:tailEnd len="med" w="med" type="triangle"/>
          </a:ln>
        </p:spPr>
      </p:cxnSp>
      <p:cxnSp>
        <p:nvCxnSpPr>
          <p:cNvPr id="640" name="Google Shape;640;g3fbb7e4475e_1_257"/>
          <p:cNvCxnSpPr>
            <a:stCxn id="632" idx="3"/>
            <a:endCxn id="622" idx="1"/>
          </p:cNvCxnSpPr>
          <p:nvPr/>
        </p:nvCxnSpPr>
        <p:spPr>
          <a:xfrm flipH="1" rot="10800000">
            <a:off x="2765100" y="2297275"/>
            <a:ext cx="513300" cy="1039200"/>
          </a:xfrm>
          <a:prstGeom prst="bentConnector3">
            <a:avLst>
              <a:gd fmla="val 29004" name="adj1"/>
            </a:avLst>
          </a:prstGeom>
          <a:noFill/>
          <a:ln cap="flat" cmpd="sng" w="38100">
            <a:solidFill>
              <a:schemeClr val="dk2"/>
            </a:solidFill>
            <a:prstDash val="solid"/>
            <a:round/>
            <a:headEnd len="sm" w="sm" type="none"/>
            <a:tailEnd len="med" w="med" type="triangle"/>
          </a:ln>
        </p:spPr>
      </p:cxnSp>
      <p:cxnSp>
        <p:nvCxnSpPr>
          <p:cNvPr id="641" name="Google Shape;641;g3fbb7e4475e_1_257"/>
          <p:cNvCxnSpPr>
            <a:stCxn id="632" idx="3"/>
            <a:endCxn id="631" idx="1"/>
          </p:cNvCxnSpPr>
          <p:nvPr/>
        </p:nvCxnSpPr>
        <p:spPr>
          <a:xfrm>
            <a:off x="2765100" y="3336475"/>
            <a:ext cx="597000" cy="1138200"/>
          </a:xfrm>
          <a:prstGeom prst="bentConnector3">
            <a:avLst>
              <a:gd fmla="val 26072" name="adj1"/>
            </a:avLst>
          </a:prstGeom>
          <a:noFill/>
          <a:ln cap="flat" cmpd="sng" w="38100">
            <a:solidFill>
              <a:schemeClr val="dk2"/>
            </a:solidFill>
            <a:prstDash val="solid"/>
            <a:round/>
            <a:headEnd len="sm" w="sm" type="none"/>
            <a:tailEnd len="med" w="med" type="triangle"/>
          </a:ln>
        </p:spPr>
      </p:cxnSp>
      <p:cxnSp>
        <p:nvCxnSpPr>
          <p:cNvPr id="642" name="Google Shape;642;g3fbb7e4475e_1_257"/>
          <p:cNvCxnSpPr>
            <a:stCxn id="632" idx="3"/>
            <a:endCxn id="623" idx="1"/>
          </p:cNvCxnSpPr>
          <p:nvPr/>
        </p:nvCxnSpPr>
        <p:spPr>
          <a:xfrm flipH="1" rot="10800000">
            <a:off x="2765100" y="3331675"/>
            <a:ext cx="560100" cy="4800"/>
          </a:xfrm>
          <a:prstGeom prst="straightConnector1">
            <a:avLst/>
          </a:prstGeom>
          <a:noFill/>
          <a:ln cap="flat" cmpd="sng" w="38100">
            <a:solidFill>
              <a:schemeClr val="dk2"/>
            </a:solidFill>
            <a:prstDash val="solid"/>
            <a:round/>
            <a:headEnd len="sm" w="sm" type="none"/>
            <a:tailEnd len="med" w="med" type="triangle"/>
          </a:ln>
        </p:spPr>
      </p:cxnSp>
      <p:sp>
        <p:nvSpPr>
          <p:cNvPr id="643" name="Google Shape;643;g3fbb7e4475e_1_257"/>
          <p:cNvSpPr txBox="1"/>
          <p:nvPr/>
        </p:nvSpPr>
        <p:spPr>
          <a:xfrm>
            <a:off x="4941898" y="4085200"/>
            <a:ext cx="560100" cy="32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pt-BR"/>
              <a:t>Test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fbb7e4475e_1_388"/>
          <p:cNvSpPr/>
          <p:nvPr/>
        </p:nvSpPr>
        <p:spPr>
          <a:xfrm>
            <a:off x="5281263" y="931163"/>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649" name="Google Shape;649;g3fbb7e4475e_1_388"/>
          <p:cNvSpPr txBox="1"/>
          <p:nvPr>
            <p:ph type="title"/>
          </p:nvPr>
        </p:nvSpPr>
        <p:spPr>
          <a:xfrm>
            <a:off x="311700" y="1237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Classification</a:t>
            </a:r>
            <a:endParaRPr/>
          </a:p>
        </p:txBody>
      </p:sp>
      <p:sp>
        <p:nvSpPr>
          <p:cNvPr id="650" name="Google Shape;650;g3fbb7e4475e_1_388"/>
          <p:cNvSpPr/>
          <p:nvPr/>
        </p:nvSpPr>
        <p:spPr>
          <a:xfrm>
            <a:off x="264513" y="1740926"/>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cxnSp>
        <p:nvCxnSpPr>
          <p:cNvPr id="651" name="Google Shape;651;g3fbb7e4475e_1_388"/>
          <p:cNvCxnSpPr>
            <a:stCxn id="650" idx="3"/>
            <a:endCxn id="652" idx="1"/>
          </p:cNvCxnSpPr>
          <p:nvPr/>
        </p:nvCxnSpPr>
        <p:spPr>
          <a:xfrm flipH="1" rot="10800000">
            <a:off x="1459113" y="1914176"/>
            <a:ext cx="3151200" cy="59400"/>
          </a:xfrm>
          <a:prstGeom prst="straightConnector1">
            <a:avLst/>
          </a:prstGeom>
          <a:noFill/>
          <a:ln cap="flat" cmpd="sng" w="38100">
            <a:solidFill>
              <a:schemeClr val="dk2"/>
            </a:solidFill>
            <a:prstDash val="solid"/>
            <a:round/>
            <a:headEnd len="sm" w="sm" type="none"/>
            <a:tailEnd len="med" w="med" type="triangle"/>
          </a:ln>
        </p:spPr>
      </p:cxnSp>
      <p:sp>
        <p:nvSpPr>
          <p:cNvPr id="652" name="Google Shape;652;g3fbb7e4475e_1_388"/>
          <p:cNvSpPr/>
          <p:nvPr/>
        </p:nvSpPr>
        <p:spPr>
          <a:xfrm>
            <a:off x="4610325" y="1681613"/>
            <a:ext cx="1341900" cy="4653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Classification Function</a:t>
            </a:r>
            <a:endParaRPr b="0" i="0" sz="1400" u="none" cap="none" strike="noStrike">
              <a:solidFill>
                <a:srgbClr val="000000"/>
              </a:solidFill>
              <a:latin typeface="Arial"/>
              <a:ea typeface="Arial"/>
              <a:cs typeface="Arial"/>
              <a:sym typeface="Arial"/>
            </a:endParaRPr>
          </a:p>
        </p:txBody>
      </p:sp>
      <p:sp>
        <p:nvSpPr>
          <p:cNvPr id="653" name="Google Shape;653;g3fbb7e4475e_1_388"/>
          <p:cNvSpPr/>
          <p:nvPr/>
        </p:nvSpPr>
        <p:spPr>
          <a:xfrm>
            <a:off x="4583925" y="3955550"/>
            <a:ext cx="1341900" cy="4653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Objective Function</a:t>
            </a:r>
            <a:endParaRPr b="0" i="0" sz="1400" u="none" cap="none" strike="noStrike">
              <a:solidFill>
                <a:srgbClr val="000000"/>
              </a:solidFill>
              <a:latin typeface="Arial"/>
              <a:ea typeface="Arial"/>
              <a:cs typeface="Arial"/>
              <a:sym typeface="Arial"/>
            </a:endParaRPr>
          </a:p>
        </p:txBody>
      </p:sp>
      <p:cxnSp>
        <p:nvCxnSpPr>
          <p:cNvPr id="654" name="Google Shape;654;g3fbb7e4475e_1_388"/>
          <p:cNvCxnSpPr>
            <a:stCxn id="652" idx="2"/>
            <a:endCxn id="653" idx="0"/>
          </p:cNvCxnSpPr>
          <p:nvPr/>
        </p:nvCxnSpPr>
        <p:spPr>
          <a:xfrm flipH="1">
            <a:off x="5254875" y="2146913"/>
            <a:ext cx="26400" cy="1808700"/>
          </a:xfrm>
          <a:prstGeom prst="straightConnector1">
            <a:avLst/>
          </a:prstGeom>
          <a:noFill/>
          <a:ln cap="flat" cmpd="sng" w="38100">
            <a:solidFill>
              <a:schemeClr val="dk2"/>
            </a:solidFill>
            <a:prstDash val="solid"/>
            <a:round/>
            <a:headEnd len="sm" w="sm" type="none"/>
            <a:tailEnd len="med" w="med" type="triangle"/>
          </a:ln>
        </p:spPr>
      </p:cxnSp>
      <p:sp>
        <p:nvSpPr>
          <p:cNvPr id="655" name="Google Shape;655;g3fbb7e4475e_1_388"/>
          <p:cNvSpPr txBox="1"/>
          <p:nvPr/>
        </p:nvSpPr>
        <p:spPr>
          <a:xfrm>
            <a:off x="3164850" y="1514125"/>
            <a:ext cx="10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{features}</a:t>
            </a:r>
            <a:endParaRPr>
              <a:solidFill>
                <a:srgbClr val="434343"/>
              </a:solidFill>
            </a:endParaRPr>
          </a:p>
        </p:txBody>
      </p:sp>
      <p:sp>
        <p:nvSpPr>
          <p:cNvPr id="656" name="Google Shape;656;g3fbb7e4475e_1_388"/>
          <p:cNvSpPr txBox="1"/>
          <p:nvPr/>
        </p:nvSpPr>
        <p:spPr>
          <a:xfrm>
            <a:off x="5291175" y="2641850"/>
            <a:ext cx="178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{predicted class (ŷ)}</a:t>
            </a:r>
            <a:endParaRPr>
              <a:solidFill>
                <a:srgbClr val="434343"/>
              </a:solidFill>
            </a:endParaRPr>
          </a:p>
        </p:txBody>
      </p:sp>
      <p:sp>
        <p:nvSpPr>
          <p:cNvPr id="657" name="Google Shape;657;g3fbb7e4475e_1_388"/>
          <p:cNvSpPr/>
          <p:nvPr/>
        </p:nvSpPr>
        <p:spPr>
          <a:xfrm>
            <a:off x="7562925" y="2609313"/>
            <a:ext cx="1341900" cy="4653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Optimization</a:t>
            </a:r>
            <a:endParaRPr/>
          </a:p>
          <a:p>
            <a:pPr indent="0" lvl="0" marL="0" marR="0" rtl="0" algn="ctr">
              <a:lnSpc>
                <a:spcPct val="100000"/>
              </a:lnSpc>
              <a:spcBef>
                <a:spcPts val="0"/>
              </a:spcBef>
              <a:spcAft>
                <a:spcPts val="0"/>
              </a:spcAft>
              <a:buClr>
                <a:srgbClr val="000000"/>
              </a:buClr>
              <a:buSzPts val="1400"/>
              <a:buFont typeface="Arial"/>
              <a:buNone/>
            </a:pPr>
            <a:r>
              <a:rPr lang="pt-BR"/>
              <a:t>Algorithm</a:t>
            </a:r>
            <a:endParaRPr/>
          </a:p>
        </p:txBody>
      </p:sp>
      <p:cxnSp>
        <p:nvCxnSpPr>
          <p:cNvPr id="658" name="Google Shape;658;g3fbb7e4475e_1_388"/>
          <p:cNvCxnSpPr>
            <a:stCxn id="653" idx="3"/>
            <a:endCxn id="657" idx="2"/>
          </p:cNvCxnSpPr>
          <p:nvPr/>
        </p:nvCxnSpPr>
        <p:spPr>
          <a:xfrm flipH="1" rot="10800000">
            <a:off x="5925825" y="3074600"/>
            <a:ext cx="2308200" cy="1113600"/>
          </a:xfrm>
          <a:prstGeom prst="straightConnector1">
            <a:avLst/>
          </a:prstGeom>
          <a:noFill/>
          <a:ln cap="flat" cmpd="sng" w="38100">
            <a:solidFill>
              <a:schemeClr val="dk2"/>
            </a:solidFill>
            <a:prstDash val="solid"/>
            <a:round/>
            <a:headEnd len="sm" w="sm" type="none"/>
            <a:tailEnd len="med" w="med" type="triangle"/>
          </a:ln>
        </p:spPr>
      </p:cxnSp>
      <p:cxnSp>
        <p:nvCxnSpPr>
          <p:cNvPr id="659" name="Google Shape;659;g3fbb7e4475e_1_388"/>
          <p:cNvCxnSpPr>
            <a:stCxn id="657" idx="0"/>
            <a:endCxn id="652" idx="3"/>
          </p:cNvCxnSpPr>
          <p:nvPr/>
        </p:nvCxnSpPr>
        <p:spPr>
          <a:xfrm rot="10800000">
            <a:off x="5952075" y="1914213"/>
            <a:ext cx="2281800" cy="695100"/>
          </a:xfrm>
          <a:prstGeom prst="straightConnector1">
            <a:avLst/>
          </a:prstGeom>
          <a:noFill/>
          <a:ln cap="flat" cmpd="sng" w="38100">
            <a:solidFill>
              <a:schemeClr val="dk2"/>
            </a:solidFill>
            <a:prstDash val="solid"/>
            <a:round/>
            <a:headEnd len="sm" w="sm" type="none"/>
            <a:tailEnd len="med" w="med" type="triangle"/>
          </a:ln>
        </p:spPr>
      </p:cxnSp>
      <p:sp>
        <p:nvSpPr>
          <p:cNvPr id="660" name="Google Shape;660;g3fbb7e4475e_1_388"/>
          <p:cNvSpPr txBox="1"/>
          <p:nvPr/>
        </p:nvSpPr>
        <p:spPr>
          <a:xfrm>
            <a:off x="7039425" y="3555425"/>
            <a:ext cx="119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training loss</a:t>
            </a:r>
            <a:endParaRPr>
              <a:solidFill>
                <a:srgbClr val="434343"/>
              </a:solidFill>
            </a:endParaRPr>
          </a:p>
        </p:txBody>
      </p:sp>
      <p:sp>
        <p:nvSpPr>
          <p:cNvPr id="661" name="Google Shape;661;g3fbb7e4475e_1_388"/>
          <p:cNvSpPr txBox="1"/>
          <p:nvPr/>
        </p:nvSpPr>
        <p:spPr>
          <a:xfrm>
            <a:off x="6703250" y="1773475"/>
            <a:ext cx="220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{updated parameters (θ)}</a:t>
            </a:r>
            <a:endParaRPr>
              <a:solidFill>
                <a:srgbClr val="434343"/>
              </a:solidFill>
            </a:endParaRPr>
          </a:p>
        </p:txBody>
      </p:sp>
      <p:cxnSp>
        <p:nvCxnSpPr>
          <p:cNvPr id="662" name="Google Shape;662;g3fbb7e4475e_1_388"/>
          <p:cNvCxnSpPr>
            <a:stCxn id="650" idx="3"/>
            <a:endCxn id="653" idx="1"/>
          </p:cNvCxnSpPr>
          <p:nvPr/>
        </p:nvCxnSpPr>
        <p:spPr>
          <a:xfrm>
            <a:off x="1459113" y="1973576"/>
            <a:ext cx="3124800" cy="2214600"/>
          </a:xfrm>
          <a:prstGeom prst="straightConnector1">
            <a:avLst/>
          </a:prstGeom>
          <a:noFill/>
          <a:ln cap="flat" cmpd="sng" w="38100">
            <a:solidFill>
              <a:schemeClr val="dk2"/>
            </a:solidFill>
            <a:prstDash val="solid"/>
            <a:round/>
            <a:headEnd len="sm" w="sm" type="none"/>
            <a:tailEnd len="med" w="med" type="triangle"/>
          </a:ln>
        </p:spPr>
      </p:cxnSp>
      <p:sp>
        <p:nvSpPr>
          <p:cNvPr id="663" name="Google Shape;663;g3fbb7e4475e_1_388"/>
          <p:cNvSpPr txBox="1"/>
          <p:nvPr/>
        </p:nvSpPr>
        <p:spPr>
          <a:xfrm>
            <a:off x="3466525" y="3155225"/>
            <a:ext cx="14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{true class (y)}</a:t>
            </a:r>
            <a:endParaRPr>
              <a:solidFill>
                <a:srgbClr val="434343"/>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bb7e4475e_1_207"/>
          <p:cNvSpPr/>
          <p:nvPr/>
        </p:nvSpPr>
        <p:spPr>
          <a:xfrm>
            <a:off x="5281263" y="931163"/>
            <a:ext cx="968400" cy="981000"/>
          </a:xfrm>
          <a:prstGeom prst="ellipse">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669" name="Google Shape;669;g3fbb7e4475e_1_207"/>
          <p:cNvSpPr txBox="1"/>
          <p:nvPr>
            <p:ph type="title"/>
          </p:nvPr>
        </p:nvSpPr>
        <p:spPr>
          <a:xfrm>
            <a:off x="311700" y="1237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Classification</a:t>
            </a:r>
            <a:endParaRPr/>
          </a:p>
        </p:txBody>
      </p:sp>
      <p:sp>
        <p:nvSpPr>
          <p:cNvPr id="670" name="Google Shape;670;g3fbb7e4475e_1_207"/>
          <p:cNvSpPr/>
          <p:nvPr/>
        </p:nvSpPr>
        <p:spPr>
          <a:xfrm>
            <a:off x="264513" y="1740926"/>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Training Data</a:t>
            </a:r>
            <a:endParaRPr b="0" i="0" sz="1400" u="none" cap="none" strike="noStrike">
              <a:solidFill>
                <a:srgbClr val="000000"/>
              </a:solidFill>
              <a:latin typeface="Arial"/>
              <a:ea typeface="Arial"/>
              <a:cs typeface="Arial"/>
              <a:sym typeface="Arial"/>
            </a:endParaRPr>
          </a:p>
        </p:txBody>
      </p:sp>
      <p:sp>
        <p:nvSpPr>
          <p:cNvPr id="671" name="Google Shape;671;g3fbb7e4475e_1_207"/>
          <p:cNvSpPr/>
          <p:nvPr/>
        </p:nvSpPr>
        <p:spPr>
          <a:xfrm>
            <a:off x="264526" y="3955538"/>
            <a:ext cx="1194600" cy="465300"/>
          </a:xfrm>
          <a:prstGeom prst="rect">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Validation Data</a:t>
            </a:r>
            <a:endParaRPr b="0" i="0" sz="1400" u="none" cap="none" strike="noStrike">
              <a:solidFill>
                <a:srgbClr val="000000"/>
              </a:solidFill>
              <a:latin typeface="Arial"/>
              <a:ea typeface="Arial"/>
              <a:cs typeface="Arial"/>
              <a:sym typeface="Arial"/>
            </a:endParaRPr>
          </a:p>
        </p:txBody>
      </p:sp>
      <p:cxnSp>
        <p:nvCxnSpPr>
          <p:cNvPr id="672" name="Google Shape;672;g3fbb7e4475e_1_207"/>
          <p:cNvCxnSpPr>
            <a:stCxn id="670" idx="3"/>
            <a:endCxn id="673" idx="1"/>
          </p:cNvCxnSpPr>
          <p:nvPr/>
        </p:nvCxnSpPr>
        <p:spPr>
          <a:xfrm flipH="1" rot="10800000">
            <a:off x="1459113" y="1914176"/>
            <a:ext cx="3151200" cy="59400"/>
          </a:xfrm>
          <a:prstGeom prst="straightConnector1">
            <a:avLst/>
          </a:prstGeom>
          <a:noFill/>
          <a:ln cap="flat" cmpd="sng" w="38100">
            <a:solidFill>
              <a:schemeClr val="dk2"/>
            </a:solidFill>
            <a:prstDash val="solid"/>
            <a:round/>
            <a:headEnd len="sm" w="sm" type="none"/>
            <a:tailEnd len="med" w="med" type="triangle"/>
          </a:ln>
        </p:spPr>
      </p:cxnSp>
      <p:sp>
        <p:nvSpPr>
          <p:cNvPr id="673" name="Google Shape;673;g3fbb7e4475e_1_207"/>
          <p:cNvSpPr/>
          <p:nvPr/>
        </p:nvSpPr>
        <p:spPr>
          <a:xfrm>
            <a:off x="4610325" y="1681613"/>
            <a:ext cx="1341900" cy="4653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Classification Function</a:t>
            </a:r>
            <a:endParaRPr b="0" i="0" sz="1400" u="none" cap="none" strike="noStrike">
              <a:solidFill>
                <a:srgbClr val="000000"/>
              </a:solidFill>
              <a:latin typeface="Arial"/>
              <a:ea typeface="Arial"/>
              <a:cs typeface="Arial"/>
              <a:sym typeface="Arial"/>
            </a:endParaRPr>
          </a:p>
        </p:txBody>
      </p:sp>
      <p:sp>
        <p:nvSpPr>
          <p:cNvPr id="674" name="Google Shape;674;g3fbb7e4475e_1_207"/>
          <p:cNvSpPr/>
          <p:nvPr/>
        </p:nvSpPr>
        <p:spPr>
          <a:xfrm>
            <a:off x="4583925" y="3955550"/>
            <a:ext cx="1341900" cy="4653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Objective</a:t>
            </a:r>
            <a:r>
              <a:rPr lang="pt-BR"/>
              <a:t> Function</a:t>
            </a:r>
            <a:endParaRPr b="0" i="0" sz="1400" u="none" cap="none" strike="noStrike">
              <a:solidFill>
                <a:srgbClr val="000000"/>
              </a:solidFill>
              <a:latin typeface="Arial"/>
              <a:ea typeface="Arial"/>
              <a:cs typeface="Arial"/>
              <a:sym typeface="Arial"/>
            </a:endParaRPr>
          </a:p>
        </p:txBody>
      </p:sp>
      <p:cxnSp>
        <p:nvCxnSpPr>
          <p:cNvPr id="675" name="Google Shape;675;g3fbb7e4475e_1_207"/>
          <p:cNvCxnSpPr>
            <a:stCxn id="671" idx="3"/>
            <a:endCxn id="673" idx="1"/>
          </p:cNvCxnSpPr>
          <p:nvPr/>
        </p:nvCxnSpPr>
        <p:spPr>
          <a:xfrm flipH="1" rot="10800000">
            <a:off x="1459125" y="1914188"/>
            <a:ext cx="3151200" cy="2274000"/>
          </a:xfrm>
          <a:prstGeom prst="straightConnector1">
            <a:avLst/>
          </a:prstGeom>
          <a:noFill/>
          <a:ln cap="flat" cmpd="sng" w="38100">
            <a:solidFill>
              <a:schemeClr val="dk2"/>
            </a:solidFill>
            <a:prstDash val="dash"/>
            <a:round/>
            <a:headEnd len="sm" w="sm" type="none"/>
            <a:tailEnd len="med" w="med" type="triangle"/>
          </a:ln>
        </p:spPr>
      </p:cxnSp>
      <p:cxnSp>
        <p:nvCxnSpPr>
          <p:cNvPr id="676" name="Google Shape;676;g3fbb7e4475e_1_207"/>
          <p:cNvCxnSpPr>
            <a:stCxn id="673" idx="2"/>
            <a:endCxn id="674" idx="0"/>
          </p:cNvCxnSpPr>
          <p:nvPr/>
        </p:nvCxnSpPr>
        <p:spPr>
          <a:xfrm flipH="1">
            <a:off x="5254875" y="2146913"/>
            <a:ext cx="26400" cy="1808700"/>
          </a:xfrm>
          <a:prstGeom prst="straightConnector1">
            <a:avLst/>
          </a:prstGeom>
          <a:noFill/>
          <a:ln cap="flat" cmpd="sng" w="38100">
            <a:solidFill>
              <a:schemeClr val="dk2"/>
            </a:solidFill>
            <a:prstDash val="solid"/>
            <a:round/>
            <a:headEnd len="sm" w="sm" type="none"/>
            <a:tailEnd len="med" w="med" type="triangle"/>
          </a:ln>
        </p:spPr>
      </p:cxnSp>
      <p:sp>
        <p:nvSpPr>
          <p:cNvPr id="677" name="Google Shape;677;g3fbb7e4475e_1_207"/>
          <p:cNvSpPr txBox="1"/>
          <p:nvPr/>
        </p:nvSpPr>
        <p:spPr>
          <a:xfrm>
            <a:off x="3164850" y="1514125"/>
            <a:ext cx="10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{features}</a:t>
            </a:r>
            <a:endParaRPr>
              <a:solidFill>
                <a:srgbClr val="434343"/>
              </a:solidFill>
            </a:endParaRPr>
          </a:p>
        </p:txBody>
      </p:sp>
      <p:sp>
        <p:nvSpPr>
          <p:cNvPr id="678" name="Google Shape;678;g3fbb7e4475e_1_207"/>
          <p:cNvSpPr txBox="1"/>
          <p:nvPr/>
        </p:nvSpPr>
        <p:spPr>
          <a:xfrm>
            <a:off x="2988413" y="2195763"/>
            <a:ext cx="10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a:t>
            </a:r>
            <a:r>
              <a:rPr lang="pt-BR">
                <a:solidFill>
                  <a:srgbClr val="434343"/>
                </a:solidFill>
              </a:rPr>
              <a:t>features}</a:t>
            </a:r>
            <a:endParaRPr>
              <a:solidFill>
                <a:srgbClr val="434343"/>
              </a:solidFill>
            </a:endParaRPr>
          </a:p>
        </p:txBody>
      </p:sp>
      <p:sp>
        <p:nvSpPr>
          <p:cNvPr id="679" name="Google Shape;679;g3fbb7e4475e_1_207"/>
          <p:cNvSpPr txBox="1"/>
          <p:nvPr/>
        </p:nvSpPr>
        <p:spPr>
          <a:xfrm>
            <a:off x="5291175" y="2641850"/>
            <a:ext cx="178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{predicted class (</a:t>
            </a:r>
            <a:r>
              <a:rPr lang="pt-BR">
                <a:solidFill>
                  <a:srgbClr val="434343"/>
                </a:solidFill>
              </a:rPr>
              <a:t>ŷ)</a:t>
            </a:r>
            <a:r>
              <a:rPr lang="pt-BR">
                <a:solidFill>
                  <a:srgbClr val="434343"/>
                </a:solidFill>
              </a:rPr>
              <a:t>}</a:t>
            </a:r>
            <a:endParaRPr>
              <a:solidFill>
                <a:srgbClr val="434343"/>
              </a:solidFill>
            </a:endParaRPr>
          </a:p>
        </p:txBody>
      </p:sp>
      <p:sp>
        <p:nvSpPr>
          <p:cNvPr id="680" name="Google Shape;680;g3fbb7e4475e_1_207"/>
          <p:cNvSpPr/>
          <p:nvPr/>
        </p:nvSpPr>
        <p:spPr>
          <a:xfrm>
            <a:off x="7562925" y="2609313"/>
            <a:ext cx="1341900" cy="4653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Optimization</a:t>
            </a:r>
            <a:endParaRPr/>
          </a:p>
          <a:p>
            <a:pPr indent="0" lvl="0" marL="0" marR="0" rtl="0" algn="ctr">
              <a:lnSpc>
                <a:spcPct val="100000"/>
              </a:lnSpc>
              <a:spcBef>
                <a:spcPts val="0"/>
              </a:spcBef>
              <a:spcAft>
                <a:spcPts val="0"/>
              </a:spcAft>
              <a:buClr>
                <a:srgbClr val="000000"/>
              </a:buClr>
              <a:buSzPts val="1400"/>
              <a:buFont typeface="Arial"/>
              <a:buNone/>
            </a:pPr>
            <a:r>
              <a:rPr lang="pt-BR"/>
              <a:t>Algorithm</a:t>
            </a:r>
            <a:endParaRPr/>
          </a:p>
        </p:txBody>
      </p:sp>
      <p:cxnSp>
        <p:nvCxnSpPr>
          <p:cNvPr id="681" name="Google Shape;681;g3fbb7e4475e_1_207"/>
          <p:cNvCxnSpPr>
            <a:stCxn id="674" idx="3"/>
            <a:endCxn id="680" idx="2"/>
          </p:cNvCxnSpPr>
          <p:nvPr/>
        </p:nvCxnSpPr>
        <p:spPr>
          <a:xfrm flipH="1" rot="10800000">
            <a:off x="5925825" y="3074600"/>
            <a:ext cx="2308200" cy="1113600"/>
          </a:xfrm>
          <a:prstGeom prst="straightConnector1">
            <a:avLst/>
          </a:prstGeom>
          <a:noFill/>
          <a:ln cap="flat" cmpd="sng" w="38100">
            <a:solidFill>
              <a:schemeClr val="dk2"/>
            </a:solidFill>
            <a:prstDash val="solid"/>
            <a:round/>
            <a:headEnd len="sm" w="sm" type="none"/>
            <a:tailEnd len="med" w="med" type="triangle"/>
          </a:ln>
        </p:spPr>
      </p:cxnSp>
      <p:cxnSp>
        <p:nvCxnSpPr>
          <p:cNvPr id="682" name="Google Shape;682;g3fbb7e4475e_1_207"/>
          <p:cNvCxnSpPr>
            <a:stCxn id="680" idx="0"/>
            <a:endCxn id="673" idx="3"/>
          </p:cNvCxnSpPr>
          <p:nvPr/>
        </p:nvCxnSpPr>
        <p:spPr>
          <a:xfrm rot="10800000">
            <a:off x="5952075" y="1914213"/>
            <a:ext cx="2281800" cy="695100"/>
          </a:xfrm>
          <a:prstGeom prst="straightConnector1">
            <a:avLst/>
          </a:prstGeom>
          <a:noFill/>
          <a:ln cap="flat" cmpd="sng" w="38100">
            <a:solidFill>
              <a:schemeClr val="dk2"/>
            </a:solidFill>
            <a:prstDash val="solid"/>
            <a:round/>
            <a:headEnd len="sm" w="sm" type="none"/>
            <a:tailEnd len="med" w="med" type="triangle"/>
          </a:ln>
        </p:spPr>
      </p:cxnSp>
      <p:sp>
        <p:nvSpPr>
          <p:cNvPr id="683" name="Google Shape;683;g3fbb7e4475e_1_207"/>
          <p:cNvSpPr txBox="1"/>
          <p:nvPr/>
        </p:nvSpPr>
        <p:spPr>
          <a:xfrm>
            <a:off x="7039425" y="3555425"/>
            <a:ext cx="119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training loss</a:t>
            </a:r>
            <a:endParaRPr>
              <a:solidFill>
                <a:srgbClr val="434343"/>
              </a:solidFill>
            </a:endParaRPr>
          </a:p>
        </p:txBody>
      </p:sp>
      <p:sp>
        <p:nvSpPr>
          <p:cNvPr id="684" name="Google Shape;684;g3fbb7e4475e_1_207"/>
          <p:cNvSpPr txBox="1"/>
          <p:nvPr/>
        </p:nvSpPr>
        <p:spPr>
          <a:xfrm>
            <a:off x="6703250" y="1773475"/>
            <a:ext cx="220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{updated parameters (θ)}</a:t>
            </a:r>
            <a:endParaRPr>
              <a:solidFill>
                <a:srgbClr val="434343"/>
              </a:solidFill>
            </a:endParaRPr>
          </a:p>
        </p:txBody>
      </p:sp>
      <p:cxnSp>
        <p:nvCxnSpPr>
          <p:cNvPr id="685" name="Google Shape;685;g3fbb7e4475e_1_207"/>
          <p:cNvCxnSpPr>
            <a:stCxn id="670" idx="3"/>
            <a:endCxn id="674" idx="1"/>
          </p:cNvCxnSpPr>
          <p:nvPr/>
        </p:nvCxnSpPr>
        <p:spPr>
          <a:xfrm>
            <a:off x="1459113" y="1973576"/>
            <a:ext cx="3124800" cy="2214600"/>
          </a:xfrm>
          <a:prstGeom prst="straightConnector1">
            <a:avLst/>
          </a:prstGeom>
          <a:noFill/>
          <a:ln cap="flat" cmpd="sng" w="38100">
            <a:solidFill>
              <a:schemeClr val="dk2"/>
            </a:solidFill>
            <a:prstDash val="solid"/>
            <a:round/>
            <a:headEnd len="sm" w="sm" type="none"/>
            <a:tailEnd len="med" w="med" type="triangle"/>
          </a:ln>
        </p:spPr>
      </p:cxnSp>
      <p:cxnSp>
        <p:nvCxnSpPr>
          <p:cNvPr id="686" name="Google Shape;686;g3fbb7e4475e_1_207"/>
          <p:cNvCxnSpPr>
            <a:stCxn id="671" idx="3"/>
            <a:endCxn id="674" idx="1"/>
          </p:cNvCxnSpPr>
          <p:nvPr/>
        </p:nvCxnSpPr>
        <p:spPr>
          <a:xfrm>
            <a:off x="1459125" y="4188188"/>
            <a:ext cx="3124800" cy="0"/>
          </a:xfrm>
          <a:prstGeom prst="straightConnector1">
            <a:avLst/>
          </a:prstGeom>
          <a:noFill/>
          <a:ln cap="flat" cmpd="sng" w="38100">
            <a:solidFill>
              <a:schemeClr val="dk2"/>
            </a:solidFill>
            <a:prstDash val="dash"/>
            <a:round/>
            <a:headEnd len="sm" w="sm" type="none"/>
            <a:tailEnd len="med" w="med" type="triangle"/>
          </a:ln>
        </p:spPr>
      </p:cxnSp>
      <p:sp>
        <p:nvSpPr>
          <p:cNvPr id="687" name="Google Shape;687;g3fbb7e4475e_1_207"/>
          <p:cNvSpPr/>
          <p:nvPr/>
        </p:nvSpPr>
        <p:spPr>
          <a:xfrm>
            <a:off x="7039425" y="4272550"/>
            <a:ext cx="1865400" cy="695100"/>
          </a:xfrm>
          <a:prstGeom prst="roundRect">
            <a:avLst>
              <a:gd fmla="val 26225" name="adj"/>
            </a:avLst>
          </a:prstGeom>
          <a:solidFill>
            <a:srgbClr val="FFFF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pt-BR"/>
              <a:t>Hyperparameter Tuning &amp; Model Selection</a:t>
            </a:r>
            <a:endParaRPr/>
          </a:p>
        </p:txBody>
      </p:sp>
      <p:cxnSp>
        <p:nvCxnSpPr>
          <p:cNvPr id="688" name="Google Shape;688;g3fbb7e4475e_1_207"/>
          <p:cNvCxnSpPr>
            <a:stCxn id="674" idx="3"/>
            <a:endCxn id="687" idx="1"/>
          </p:cNvCxnSpPr>
          <p:nvPr/>
        </p:nvCxnSpPr>
        <p:spPr>
          <a:xfrm>
            <a:off x="5925825" y="4188200"/>
            <a:ext cx="1113600" cy="432000"/>
          </a:xfrm>
          <a:prstGeom prst="straightConnector1">
            <a:avLst/>
          </a:prstGeom>
          <a:noFill/>
          <a:ln cap="flat" cmpd="sng" w="38100">
            <a:solidFill>
              <a:schemeClr val="dk2"/>
            </a:solidFill>
            <a:prstDash val="dash"/>
            <a:round/>
            <a:headEnd len="sm" w="sm" type="none"/>
            <a:tailEnd len="med" w="med" type="triangle"/>
          </a:ln>
        </p:spPr>
      </p:cxnSp>
      <p:sp>
        <p:nvSpPr>
          <p:cNvPr id="689" name="Google Shape;689;g3fbb7e4475e_1_207"/>
          <p:cNvSpPr txBox="1"/>
          <p:nvPr/>
        </p:nvSpPr>
        <p:spPr>
          <a:xfrm>
            <a:off x="5360375" y="4459300"/>
            <a:ext cx="13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validation</a:t>
            </a:r>
            <a:r>
              <a:rPr lang="pt-BR">
                <a:solidFill>
                  <a:srgbClr val="434343"/>
                </a:solidFill>
              </a:rPr>
              <a:t> loss</a:t>
            </a:r>
            <a:endParaRPr>
              <a:solidFill>
                <a:srgbClr val="434343"/>
              </a:solidFill>
            </a:endParaRPr>
          </a:p>
        </p:txBody>
      </p:sp>
      <p:sp>
        <p:nvSpPr>
          <p:cNvPr id="690" name="Google Shape;690;g3fbb7e4475e_1_207"/>
          <p:cNvSpPr txBox="1"/>
          <p:nvPr/>
        </p:nvSpPr>
        <p:spPr>
          <a:xfrm>
            <a:off x="3466525" y="3155225"/>
            <a:ext cx="14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{true class (y)}</a:t>
            </a:r>
            <a:endParaRPr>
              <a:solidFill>
                <a:srgbClr val="434343"/>
              </a:solidFill>
            </a:endParaRPr>
          </a:p>
        </p:txBody>
      </p:sp>
      <p:sp>
        <p:nvSpPr>
          <p:cNvPr id="691" name="Google Shape;691;g3fbb7e4475e_1_207"/>
          <p:cNvSpPr txBox="1"/>
          <p:nvPr/>
        </p:nvSpPr>
        <p:spPr>
          <a:xfrm>
            <a:off x="2290875" y="4188200"/>
            <a:ext cx="14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rPr>
              <a:t>{true class (y)}</a:t>
            </a:r>
            <a:endParaRPr>
              <a:solidFill>
                <a:srgbClr val="434343"/>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fbb7e4475e_0_845"/>
          <p:cNvSpPr txBox="1"/>
          <p:nvPr>
            <p:ph type="title"/>
          </p:nvPr>
        </p:nvSpPr>
        <p:spPr>
          <a:xfrm>
            <a:off x="311700" y="112100"/>
            <a:ext cx="8520600" cy="5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2100"/>
              <a:t>Components of a probabilistic machine learning classifier</a:t>
            </a:r>
            <a:endParaRPr sz="2500"/>
          </a:p>
        </p:txBody>
      </p:sp>
      <p:pic>
        <p:nvPicPr>
          <p:cNvPr id="697" name="Google Shape;697;g3fbb7e4475e_0_845"/>
          <p:cNvPicPr preferRelativeResize="0"/>
          <p:nvPr/>
        </p:nvPicPr>
        <p:blipFill>
          <a:blip r:embed="rId3">
            <a:alphaModFix/>
          </a:blip>
          <a:stretch>
            <a:fillRect/>
          </a:stretch>
        </p:blipFill>
        <p:spPr>
          <a:xfrm>
            <a:off x="167600" y="849225"/>
            <a:ext cx="8808799" cy="4215150"/>
          </a:xfrm>
          <a:prstGeom prst="rect">
            <a:avLst/>
          </a:prstGeom>
          <a:noFill/>
          <a:ln>
            <a:noFill/>
          </a:ln>
        </p:spPr>
      </p:pic>
      <p:sp>
        <p:nvSpPr>
          <p:cNvPr id="698" name="Google Shape;698;g3fbb7e4475e_0_845"/>
          <p:cNvSpPr txBox="1"/>
          <p:nvPr/>
        </p:nvSpPr>
        <p:spPr>
          <a:xfrm>
            <a:off x="646250" y="4246675"/>
            <a:ext cx="2176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by Gemini</a:t>
            </a:r>
            <a:endParaRPr sz="3000">
              <a:solidFill>
                <a:srgbClr val="434343"/>
              </a:solidFill>
              <a:latin typeface="Comfortaa"/>
              <a:ea typeface="Comfortaa"/>
              <a:cs typeface="Comfortaa"/>
              <a:sym typeface="Comforta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bb7e4475e_1_584"/>
          <p:cNvSpPr/>
          <p:nvPr/>
        </p:nvSpPr>
        <p:spPr>
          <a:xfrm>
            <a:off x="6801649" y="1208975"/>
            <a:ext cx="756300" cy="766200"/>
          </a:xfrm>
          <a:prstGeom prst="ellipse">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000000"/>
                </a:solidFill>
                <a:latin typeface="Arial"/>
                <a:ea typeface="Arial"/>
                <a:cs typeface="Arial"/>
                <a:sym typeface="Arial"/>
              </a:rPr>
              <a:t>Model</a:t>
            </a:r>
            <a:endParaRPr b="0" i="0" sz="1093" u="none" cap="none" strike="noStrike">
              <a:solidFill>
                <a:srgbClr val="000000"/>
              </a:solidFill>
              <a:latin typeface="Arial"/>
              <a:ea typeface="Arial"/>
              <a:cs typeface="Arial"/>
              <a:sym typeface="Arial"/>
            </a:endParaRPr>
          </a:p>
        </p:txBody>
      </p:sp>
      <p:sp>
        <p:nvSpPr>
          <p:cNvPr id="704" name="Google Shape;704;g3fbb7e4475e_1_584"/>
          <p:cNvSpPr/>
          <p:nvPr/>
        </p:nvSpPr>
        <p:spPr>
          <a:xfrm>
            <a:off x="6277664" y="179505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Classification Function</a:t>
            </a:r>
            <a:endParaRPr b="0" i="0" sz="1093" u="none" cap="none" strike="noStrike">
              <a:solidFill>
                <a:srgbClr val="000000"/>
              </a:solidFill>
              <a:latin typeface="Arial"/>
              <a:ea typeface="Arial"/>
              <a:cs typeface="Arial"/>
              <a:sym typeface="Arial"/>
            </a:endParaRPr>
          </a:p>
        </p:txBody>
      </p:sp>
      <p:sp>
        <p:nvSpPr>
          <p:cNvPr id="705" name="Google Shape;705;g3fbb7e4475e_1_584"/>
          <p:cNvSpPr/>
          <p:nvPr/>
        </p:nvSpPr>
        <p:spPr>
          <a:xfrm>
            <a:off x="6257047" y="357093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Objective Function</a:t>
            </a:r>
            <a:endParaRPr b="0" i="0" sz="1093" u="none" cap="none" strike="noStrike">
              <a:solidFill>
                <a:srgbClr val="000000"/>
              </a:solidFill>
              <a:latin typeface="Arial"/>
              <a:ea typeface="Arial"/>
              <a:cs typeface="Arial"/>
              <a:sym typeface="Arial"/>
            </a:endParaRPr>
          </a:p>
        </p:txBody>
      </p:sp>
      <p:cxnSp>
        <p:nvCxnSpPr>
          <p:cNvPr id="706" name="Google Shape;706;g3fbb7e4475e_1_584"/>
          <p:cNvCxnSpPr>
            <a:stCxn id="704" idx="2"/>
            <a:endCxn id="705" idx="0"/>
          </p:cNvCxnSpPr>
          <p:nvPr/>
        </p:nvCxnSpPr>
        <p:spPr>
          <a:xfrm flipH="1">
            <a:off x="6780914" y="2158655"/>
            <a:ext cx="20700" cy="1412400"/>
          </a:xfrm>
          <a:prstGeom prst="straightConnector1">
            <a:avLst/>
          </a:prstGeom>
          <a:noFill/>
          <a:ln cap="flat" cmpd="sng" w="29775">
            <a:solidFill>
              <a:schemeClr val="dk2"/>
            </a:solidFill>
            <a:prstDash val="solid"/>
            <a:round/>
            <a:headEnd len="sm" w="sm" type="none"/>
            <a:tailEnd len="med" w="med" type="triangle"/>
          </a:ln>
        </p:spPr>
      </p:cxnSp>
      <p:sp>
        <p:nvSpPr>
          <p:cNvPr id="707" name="Google Shape;707;g3fbb7e4475e_1_584"/>
          <p:cNvSpPr/>
          <p:nvPr/>
        </p:nvSpPr>
        <p:spPr>
          <a:xfrm>
            <a:off x="7860794" y="2513392"/>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Optimization</a:t>
            </a:r>
            <a:endParaRPr sz="1093"/>
          </a:p>
          <a:p>
            <a:pPr indent="0" lvl="0" marL="0" marR="0" rtl="0" algn="ctr">
              <a:lnSpc>
                <a:spcPct val="100000"/>
              </a:lnSpc>
              <a:spcBef>
                <a:spcPts val="0"/>
              </a:spcBef>
              <a:spcAft>
                <a:spcPts val="0"/>
              </a:spcAft>
              <a:buClr>
                <a:srgbClr val="000000"/>
              </a:buClr>
              <a:buSzPts val="1093"/>
              <a:buFont typeface="Arial"/>
              <a:buNone/>
            </a:pPr>
            <a:r>
              <a:rPr lang="pt-BR" sz="1093"/>
              <a:t>Algorithm</a:t>
            </a:r>
            <a:endParaRPr sz="1093"/>
          </a:p>
        </p:txBody>
      </p:sp>
      <p:cxnSp>
        <p:nvCxnSpPr>
          <p:cNvPr id="708" name="Google Shape;708;g3fbb7e4475e_1_584"/>
          <p:cNvCxnSpPr>
            <a:stCxn id="705" idx="3"/>
            <a:endCxn id="707" idx="2"/>
          </p:cNvCxnSpPr>
          <p:nvPr/>
        </p:nvCxnSpPr>
        <p:spPr>
          <a:xfrm flipH="1" rot="10800000">
            <a:off x="7304947" y="2877035"/>
            <a:ext cx="1079700" cy="875700"/>
          </a:xfrm>
          <a:prstGeom prst="straightConnector1">
            <a:avLst/>
          </a:prstGeom>
          <a:noFill/>
          <a:ln cap="flat" cmpd="sng" w="29775">
            <a:solidFill>
              <a:schemeClr val="dk2"/>
            </a:solidFill>
            <a:prstDash val="solid"/>
            <a:round/>
            <a:headEnd len="sm" w="sm" type="none"/>
            <a:tailEnd len="med" w="med" type="triangle"/>
          </a:ln>
        </p:spPr>
      </p:cxnSp>
      <p:cxnSp>
        <p:nvCxnSpPr>
          <p:cNvPr id="709" name="Google Shape;709;g3fbb7e4475e_1_584"/>
          <p:cNvCxnSpPr>
            <a:stCxn id="707" idx="0"/>
            <a:endCxn id="704" idx="3"/>
          </p:cNvCxnSpPr>
          <p:nvPr/>
        </p:nvCxnSpPr>
        <p:spPr>
          <a:xfrm rot="10800000">
            <a:off x="7325444" y="1976992"/>
            <a:ext cx="1059300" cy="536400"/>
          </a:xfrm>
          <a:prstGeom prst="straightConnector1">
            <a:avLst/>
          </a:prstGeom>
          <a:noFill/>
          <a:ln cap="flat" cmpd="sng" w="29775">
            <a:solidFill>
              <a:schemeClr val="dk2"/>
            </a:solidFill>
            <a:prstDash val="solid"/>
            <a:round/>
            <a:headEnd len="sm" w="sm" type="none"/>
            <a:tailEnd len="med" w="med" type="triangle"/>
          </a:ln>
        </p:spPr>
      </p:cxnSp>
      <p:sp>
        <p:nvSpPr>
          <p:cNvPr id="710" name="Google Shape;710;g3fbb7e4475e_1_584"/>
          <p:cNvSpPr/>
          <p:nvPr/>
        </p:nvSpPr>
        <p:spPr>
          <a:xfrm>
            <a:off x="4572000" y="2544973"/>
            <a:ext cx="1185000" cy="363600"/>
          </a:xfrm>
          <a:prstGeom prst="roundRect">
            <a:avLst>
              <a:gd fmla="val 40544" name="adj"/>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Feature Representation</a:t>
            </a:r>
            <a:endParaRPr b="0" i="0" sz="1093" u="none" cap="none" strike="noStrike">
              <a:solidFill>
                <a:srgbClr val="000000"/>
              </a:solidFill>
              <a:latin typeface="Arial"/>
              <a:ea typeface="Arial"/>
              <a:cs typeface="Arial"/>
              <a:sym typeface="Arial"/>
            </a:endParaRPr>
          </a:p>
        </p:txBody>
      </p:sp>
      <p:cxnSp>
        <p:nvCxnSpPr>
          <p:cNvPr id="711" name="Google Shape;711;g3fbb7e4475e_1_584"/>
          <p:cNvCxnSpPr>
            <a:stCxn id="710" idx="3"/>
            <a:endCxn id="704" idx="1"/>
          </p:cNvCxnSpPr>
          <p:nvPr/>
        </p:nvCxnSpPr>
        <p:spPr>
          <a:xfrm flipH="1" rot="10800000">
            <a:off x="5757000" y="1976773"/>
            <a:ext cx="520800" cy="750000"/>
          </a:xfrm>
          <a:prstGeom prst="straightConnector1">
            <a:avLst/>
          </a:prstGeom>
          <a:noFill/>
          <a:ln cap="flat" cmpd="sng" w="29775">
            <a:solidFill>
              <a:schemeClr val="dk2"/>
            </a:solidFill>
            <a:prstDash val="dash"/>
            <a:round/>
            <a:headEnd len="sm" w="sm" type="none"/>
            <a:tailEnd len="med" w="med" type="triangle"/>
          </a:ln>
        </p:spPr>
      </p:cxnSp>
      <p:cxnSp>
        <p:nvCxnSpPr>
          <p:cNvPr id="712" name="Google Shape;712;g3fbb7e4475e_1_584"/>
          <p:cNvCxnSpPr>
            <a:stCxn id="710" idx="3"/>
            <a:endCxn id="705" idx="1"/>
          </p:cNvCxnSpPr>
          <p:nvPr/>
        </p:nvCxnSpPr>
        <p:spPr>
          <a:xfrm>
            <a:off x="5757000" y="2726773"/>
            <a:ext cx="500100" cy="1026000"/>
          </a:xfrm>
          <a:prstGeom prst="straightConnector1">
            <a:avLst/>
          </a:prstGeom>
          <a:noFill/>
          <a:ln cap="flat" cmpd="sng" w="29775">
            <a:solidFill>
              <a:schemeClr val="dk2"/>
            </a:solidFill>
            <a:prstDash val="dash"/>
            <a:round/>
            <a:headEnd len="sm" w="sm" type="none"/>
            <a:tailEnd len="med" w="med" type="triangle"/>
          </a:ln>
        </p:spPr>
      </p:cxnSp>
      <p:sp>
        <p:nvSpPr>
          <p:cNvPr id="713" name="Google Shape;713;g3fbb7e4475e_1_58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Classification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bb7e4475e_1_619"/>
          <p:cNvSpPr/>
          <p:nvPr/>
        </p:nvSpPr>
        <p:spPr>
          <a:xfrm>
            <a:off x="6801649" y="1208975"/>
            <a:ext cx="756300" cy="766200"/>
          </a:xfrm>
          <a:prstGeom prst="ellipse">
            <a:avLst/>
          </a:prstGeom>
          <a:solidFill>
            <a:srgbClr val="FFFFFF"/>
          </a:solidFill>
          <a:ln cap="flat" cmpd="sng" w="2977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B7B7B7"/>
                </a:solidFill>
                <a:latin typeface="Arial"/>
                <a:ea typeface="Arial"/>
                <a:cs typeface="Arial"/>
                <a:sym typeface="Arial"/>
              </a:rPr>
              <a:t>Model</a:t>
            </a:r>
            <a:endParaRPr b="0" i="0" sz="1093" u="none" cap="none" strike="noStrike">
              <a:solidFill>
                <a:srgbClr val="B7B7B7"/>
              </a:solidFill>
              <a:latin typeface="Arial"/>
              <a:ea typeface="Arial"/>
              <a:cs typeface="Arial"/>
              <a:sym typeface="Arial"/>
            </a:endParaRPr>
          </a:p>
        </p:txBody>
      </p:sp>
      <p:sp>
        <p:nvSpPr>
          <p:cNvPr id="719" name="Google Shape;719;g3fbb7e4475e_1_619"/>
          <p:cNvSpPr/>
          <p:nvPr/>
        </p:nvSpPr>
        <p:spPr>
          <a:xfrm>
            <a:off x="6277664" y="1795055"/>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Classification Function</a:t>
            </a:r>
            <a:endParaRPr b="0" i="0" sz="1093" u="none" cap="none" strike="noStrike">
              <a:solidFill>
                <a:srgbClr val="B7B7B7"/>
              </a:solidFill>
              <a:latin typeface="Arial"/>
              <a:ea typeface="Arial"/>
              <a:cs typeface="Arial"/>
              <a:sym typeface="Arial"/>
            </a:endParaRPr>
          </a:p>
        </p:txBody>
      </p:sp>
      <p:sp>
        <p:nvSpPr>
          <p:cNvPr id="720" name="Google Shape;720;g3fbb7e4475e_1_619"/>
          <p:cNvSpPr/>
          <p:nvPr/>
        </p:nvSpPr>
        <p:spPr>
          <a:xfrm>
            <a:off x="6257047" y="3570935"/>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Objective Function</a:t>
            </a:r>
            <a:endParaRPr b="0" i="0" sz="1093" u="none" cap="none" strike="noStrike">
              <a:solidFill>
                <a:srgbClr val="B7B7B7"/>
              </a:solidFill>
              <a:latin typeface="Arial"/>
              <a:ea typeface="Arial"/>
              <a:cs typeface="Arial"/>
              <a:sym typeface="Arial"/>
            </a:endParaRPr>
          </a:p>
        </p:txBody>
      </p:sp>
      <p:cxnSp>
        <p:nvCxnSpPr>
          <p:cNvPr id="721" name="Google Shape;721;g3fbb7e4475e_1_619"/>
          <p:cNvCxnSpPr>
            <a:stCxn id="719" idx="2"/>
            <a:endCxn id="720" idx="0"/>
          </p:cNvCxnSpPr>
          <p:nvPr/>
        </p:nvCxnSpPr>
        <p:spPr>
          <a:xfrm flipH="1">
            <a:off x="6780914" y="2158655"/>
            <a:ext cx="20700" cy="1412400"/>
          </a:xfrm>
          <a:prstGeom prst="straightConnector1">
            <a:avLst/>
          </a:prstGeom>
          <a:noFill/>
          <a:ln cap="flat" cmpd="sng" w="29775">
            <a:solidFill>
              <a:srgbClr val="B7B7B7"/>
            </a:solidFill>
            <a:prstDash val="solid"/>
            <a:round/>
            <a:headEnd len="sm" w="sm" type="none"/>
            <a:tailEnd len="med" w="med" type="triangle"/>
          </a:ln>
        </p:spPr>
      </p:cxnSp>
      <p:sp>
        <p:nvSpPr>
          <p:cNvPr id="722" name="Google Shape;722;g3fbb7e4475e_1_619"/>
          <p:cNvSpPr/>
          <p:nvPr/>
        </p:nvSpPr>
        <p:spPr>
          <a:xfrm>
            <a:off x="7860794" y="2513392"/>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Optimization</a:t>
            </a:r>
            <a:endParaRPr sz="1093">
              <a:solidFill>
                <a:srgbClr val="B7B7B7"/>
              </a:solidFill>
            </a:endParaRPr>
          </a:p>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Algorithm</a:t>
            </a:r>
            <a:endParaRPr sz="1093">
              <a:solidFill>
                <a:srgbClr val="B7B7B7"/>
              </a:solidFill>
            </a:endParaRPr>
          </a:p>
        </p:txBody>
      </p:sp>
      <p:cxnSp>
        <p:nvCxnSpPr>
          <p:cNvPr id="723" name="Google Shape;723;g3fbb7e4475e_1_619"/>
          <p:cNvCxnSpPr>
            <a:stCxn id="720" idx="3"/>
            <a:endCxn id="722" idx="2"/>
          </p:cNvCxnSpPr>
          <p:nvPr/>
        </p:nvCxnSpPr>
        <p:spPr>
          <a:xfrm flipH="1" rot="10800000">
            <a:off x="7304947" y="2877035"/>
            <a:ext cx="1079700" cy="875700"/>
          </a:xfrm>
          <a:prstGeom prst="straightConnector1">
            <a:avLst/>
          </a:prstGeom>
          <a:noFill/>
          <a:ln cap="flat" cmpd="sng" w="29775">
            <a:solidFill>
              <a:srgbClr val="B7B7B7"/>
            </a:solidFill>
            <a:prstDash val="solid"/>
            <a:round/>
            <a:headEnd len="sm" w="sm" type="none"/>
            <a:tailEnd len="med" w="med" type="triangle"/>
          </a:ln>
        </p:spPr>
      </p:cxnSp>
      <p:cxnSp>
        <p:nvCxnSpPr>
          <p:cNvPr id="724" name="Google Shape;724;g3fbb7e4475e_1_619"/>
          <p:cNvCxnSpPr>
            <a:stCxn id="722" idx="0"/>
            <a:endCxn id="719" idx="3"/>
          </p:cNvCxnSpPr>
          <p:nvPr/>
        </p:nvCxnSpPr>
        <p:spPr>
          <a:xfrm rot="10800000">
            <a:off x="7325444" y="1976992"/>
            <a:ext cx="1059300" cy="536400"/>
          </a:xfrm>
          <a:prstGeom prst="straightConnector1">
            <a:avLst/>
          </a:prstGeom>
          <a:noFill/>
          <a:ln cap="flat" cmpd="sng" w="29775">
            <a:solidFill>
              <a:srgbClr val="B7B7B7"/>
            </a:solidFill>
            <a:prstDash val="solid"/>
            <a:round/>
            <a:headEnd len="sm" w="sm" type="none"/>
            <a:tailEnd len="med" w="med" type="triangle"/>
          </a:ln>
        </p:spPr>
      </p:cxnSp>
      <p:sp>
        <p:nvSpPr>
          <p:cNvPr id="725" name="Google Shape;725;g3fbb7e4475e_1_619"/>
          <p:cNvSpPr/>
          <p:nvPr/>
        </p:nvSpPr>
        <p:spPr>
          <a:xfrm>
            <a:off x="4572000" y="2544973"/>
            <a:ext cx="1185000" cy="363600"/>
          </a:xfrm>
          <a:prstGeom prst="roundRect">
            <a:avLst>
              <a:gd fmla="val 40544" name="adj"/>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Feature Representation</a:t>
            </a:r>
            <a:endParaRPr b="0" i="0" sz="1093" u="none" cap="none" strike="noStrike">
              <a:solidFill>
                <a:srgbClr val="000000"/>
              </a:solidFill>
              <a:latin typeface="Arial"/>
              <a:ea typeface="Arial"/>
              <a:cs typeface="Arial"/>
              <a:sym typeface="Arial"/>
            </a:endParaRPr>
          </a:p>
        </p:txBody>
      </p:sp>
      <p:cxnSp>
        <p:nvCxnSpPr>
          <p:cNvPr id="726" name="Google Shape;726;g3fbb7e4475e_1_619"/>
          <p:cNvCxnSpPr>
            <a:stCxn id="725" idx="3"/>
            <a:endCxn id="719" idx="1"/>
          </p:cNvCxnSpPr>
          <p:nvPr/>
        </p:nvCxnSpPr>
        <p:spPr>
          <a:xfrm flipH="1" rot="10800000">
            <a:off x="5757000" y="1976773"/>
            <a:ext cx="520800" cy="750000"/>
          </a:xfrm>
          <a:prstGeom prst="straightConnector1">
            <a:avLst/>
          </a:prstGeom>
          <a:noFill/>
          <a:ln cap="flat" cmpd="sng" w="29775">
            <a:solidFill>
              <a:srgbClr val="B7B7B7"/>
            </a:solidFill>
            <a:prstDash val="dash"/>
            <a:round/>
            <a:headEnd len="sm" w="sm" type="none"/>
            <a:tailEnd len="med" w="med" type="triangle"/>
          </a:ln>
        </p:spPr>
      </p:cxnSp>
      <p:cxnSp>
        <p:nvCxnSpPr>
          <p:cNvPr id="727" name="Google Shape;727;g3fbb7e4475e_1_619"/>
          <p:cNvCxnSpPr>
            <a:stCxn id="725" idx="3"/>
            <a:endCxn id="720" idx="1"/>
          </p:cNvCxnSpPr>
          <p:nvPr/>
        </p:nvCxnSpPr>
        <p:spPr>
          <a:xfrm>
            <a:off x="5757000" y="2726773"/>
            <a:ext cx="500100" cy="1026000"/>
          </a:xfrm>
          <a:prstGeom prst="straightConnector1">
            <a:avLst/>
          </a:prstGeom>
          <a:noFill/>
          <a:ln cap="flat" cmpd="sng" w="29775">
            <a:solidFill>
              <a:srgbClr val="B7B7B7"/>
            </a:solidFill>
            <a:prstDash val="dash"/>
            <a:round/>
            <a:headEnd len="sm" w="sm" type="none"/>
            <a:tailEnd len="med" w="med" type="triangle"/>
          </a:ln>
        </p:spPr>
      </p:cxnSp>
      <p:sp>
        <p:nvSpPr>
          <p:cNvPr id="728" name="Google Shape;728;g3fbb7e4475e_1_6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Feature Representation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fbb4915044_0_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Zombie Health Example</a:t>
            </a:r>
            <a:endParaRPr/>
          </a:p>
        </p:txBody>
      </p:sp>
      <p:pic>
        <p:nvPicPr>
          <p:cNvPr id="734" name="Google Shape;734;g3fbb4915044_0_11"/>
          <p:cNvPicPr preferRelativeResize="0"/>
          <p:nvPr/>
        </p:nvPicPr>
        <p:blipFill rotWithShape="1">
          <a:blip r:embed="rId3">
            <a:alphaModFix/>
          </a:blip>
          <a:srcRect b="0" l="0" r="0" t="0"/>
          <a:stretch/>
        </p:blipFill>
        <p:spPr>
          <a:xfrm>
            <a:off x="2345400" y="1775708"/>
            <a:ext cx="2098808" cy="2447592"/>
          </a:xfrm>
          <a:prstGeom prst="rect">
            <a:avLst/>
          </a:prstGeom>
          <a:noFill/>
          <a:ln>
            <a:noFill/>
          </a:ln>
        </p:spPr>
      </p:pic>
      <p:pic>
        <p:nvPicPr>
          <p:cNvPr id="735" name="Google Shape;735;g3fbb4915044_0_11"/>
          <p:cNvPicPr preferRelativeResize="0"/>
          <p:nvPr/>
        </p:nvPicPr>
        <p:blipFill rotWithShape="1">
          <a:blip r:embed="rId4">
            <a:alphaModFix/>
          </a:blip>
          <a:srcRect b="0" l="0" r="0" t="0"/>
          <a:stretch/>
        </p:blipFill>
        <p:spPr>
          <a:xfrm>
            <a:off x="4844734" y="1628650"/>
            <a:ext cx="2098816" cy="259464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fbb4915044_0_17"/>
          <p:cNvSpPr txBox="1"/>
          <p:nvPr>
            <p:ph type="title"/>
          </p:nvPr>
        </p:nvSpPr>
        <p:spPr>
          <a:xfrm>
            <a:off x="311700" y="445025"/>
            <a:ext cx="2322600" cy="99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Zombie</a:t>
            </a:r>
            <a:br>
              <a:rPr lang="pt-BR"/>
            </a:br>
            <a:r>
              <a:rPr lang="pt-BR"/>
              <a:t>Health</a:t>
            </a:r>
            <a:endParaRPr/>
          </a:p>
        </p:txBody>
      </p:sp>
      <p:pic>
        <p:nvPicPr>
          <p:cNvPr id="741" name="Google Shape;741;g3fbb4915044_0_17"/>
          <p:cNvPicPr preferRelativeResize="0"/>
          <p:nvPr/>
        </p:nvPicPr>
        <p:blipFill rotWithShape="1">
          <a:blip r:embed="rId3">
            <a:alphaModFix/>
          </a:blip>
          <a:srcRect b="0" l="0" r="0" t="0"/>
          <a:stretch/>
        </p:blipFill>
        <p:spPr>
          <a:xfrm>
            <a:off x="363325" y="2026796"/>
            <a:ext cx="1060143" cy="1279830"/>
          </a:xfrm>
          <a:prstGeom prst="rect">
            <a:avLst/>
          </a:prstGeom>
          <a:noFill/>
          <a:ln>
            <a:noFill/>
          </a:ln>
        </p:spPr>
      </p:pic>
      <p:pic>
        <p:nvPicPr>
          <p:cNvPr id="742" name="Google Shape;742;g3fbb4915044_0_17"/>
          <p:cNvPicPr preferRelativeResize="0"/>
          <p:nvPr/>
        </p:nvPicPr>
        <p:blipFill rotWithShape="1">
          <a:blip r:embed="rId4">
            <a:alphaModFix/>
          </a:blip>
          <a:srcRect b="0" l="0" r="0" t="0"/>
          <a:stretch/>
        </p:blipFill>
        <p:spPr>
          <a:xfrm>
            <a:off x="1498779" y="1988350"/>
            <a:ext cx="1060147" cy="1356723"/>
          </a:xfrm>
          <a:prstGeom prst="rect">
            <a:avLst/>
          </a:prstGeom>
          <a:noFill/>
          <a:ln>
            <a:noFill/>
          </a:ln>
        </p:spPr>
      </p:pic>
      <p:graphicFrame>
        <p:nvGraphicFramePr>
          <p:cNvPr id="743" name="Google Shape;743;g3fbb4915044_0_17"/>
          <p:cNvGraphicFramePr/>
          <p:nvPr/>
        </p:nvGraphicFramePr>
        <p:xfrm>
          <a:off x="2634225" y="250663"/>
          <a:ext cx="3000000" cy="3000000"/>
        </p:xfrm>
        <a:graphic>
          <a:graphicData uri="http://schemas.openxmlformats.org/drawingml/2006/table">
            <a:tbl>
              <a:tblPr>
                <a:noFill/>
                <a:tableStyleId>{D33BB5FC-66A1-48A0-959A-E853AC047F4A}</a:tableStyleId>
              </a:tblPr>
              <a:tblGrid>
                <a:gridCol w="1499425"/>
                <a:gridCol w="844150"/>
                <a:gridCol w="585175"/>
                <a:gridCol w="954475"/>
                <a:gridCol w="1182300"/>
                <a:gridCol w="305775"/>
                <a:gridCol w="257150"/>
                <a:gridCol w="305775"/>
                <a:gridCol w="275200"/>
              </a:tblGrid>
              <a:tr h="352075">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name</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type</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gender</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height</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weight</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gbc</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gs</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pbc</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pt-BR" sz="1000" u="none" cap="none" strike="noStrike"/>
                        <a:t>sp</a:t>
                      </a:r>
                      <a:endParaRPr b="1"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Lossack Slossir</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biological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73.84701702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241.8935632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0.8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Aight Man</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biological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61.79887853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106.233687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0.8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Gebbonnulsh Ross</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technological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70.01336535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209.5264998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10</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Siffash Rangrer</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technological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72.76536995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220.6780415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Backom Gadduff</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biological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62.85037864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114.9690383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0550">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Beashithadd Chuckemp</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chemical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56.54797498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84.87212365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48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Boss Bluckrast</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chemical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68.1440328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192.3439766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47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Relleest Cattierl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chemical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68.49641536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154.3426389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46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2.8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Giemmedd Ark</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biological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68.34851551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167.9711105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0.8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Spriss Anne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biological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72.41831663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196.0285063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Nur Slabblir</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chemical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63.40728979</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128.8483894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41</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5.6</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3</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075">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Shorpest Herhock</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biological</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pt-BR" sz="1000" u="none" cap="none" strike="noStrike"/>
                        <a:t>female</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61.89023374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111.6761992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0.8</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14</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5.5</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pt-BR" sz="1000" u="none" cap="none" strike="noStrike"/>
                        <a:t>4.2</a:t>
                      </a:r>
                      <a:endParaRPr sz="10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fbb4915044_0_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Types of Zombies</a:t>
            </a:r>
            <a:endParaRPr/>
          </a:p>
        </p:txBody>
      </p:sp>
      <p:sp>
        <p:nvSpPr>
          <p:cNvPr id="749" name="Google Shape;749;g3fbb4915044_0_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pt-BR"/>
              <a:t>Biological</a:t>
            </a:r>
            <a:endParaRPr/>
          </a:p>
          <a:p>
            <a:pPr indent="-342900" lvl="1" marL="914400" rtl="0" algn="l">
              <a:lnSpc>
                <a:spcPct val="115000"/>
              </a:lnSpc>
              <a:spcBef>
                <a:spcPts val="0"/>
              </a:spcBef>
              <a:spcAft>
                <a:spcPts val="0"/>
              </a:spcAft>
              <a:buSzPts val="1800"/>
              <a:buChar char="○"/>
            </a:pPr>
            <a:r>
              <a:rPr lang="pt-BR"/>
              <a:t>parasites modify the host</a:t>
            </a:r>
            <a:endParaRPr/>
          </a:p>
          <a:p>
            <a:pPr indent="-381000" lvl="0" marL="457200" rtl="0" algn="l">
              <a:lnSpc>
                <a:spcPct val="115000"/>
              </a:lnSpc>
              <a:spcBef>
                <a:spcPts val="0"/>
              </a:spcBef>
              <a:spcAft>
                <a:spcPts val="0"/>
              </a:spcAft>
              <a:buSzPts val="2400"/>
              <a:buChar char="●"/>
            </a:pPr>
            <a:r>
              <a:rPr lang="pt-BR"/>
              <a:t>Chemical</a:t>
            </a:r>
            <a:endParaRPr/>
          </a:p>
          <a:p>
            <a:pPr indent="-342900" lvl="1" marL="914400" rtl="0" algn="l">
              <a:lnSpc>
                <a:spcPct val="115000"/>
              </a:lnSpc>
              <a:spcBef>
                <a:spcPts val="0"/>
              </a:spcBef>
              <a:spcAft>
                <a:spcPts val="0"/>
              </a:spcAft>
              <a:buSzPts val="1800"/>
              <a:buChar char="○"/>
            </a:pPr>
            <a:r>
              <a:rPr lang="pt-BR"/>
              <a:t>strange chemicals meant to bring back to life</a:t>
            </a:r>
            <a:endParaRPr/>
          </a:p>
          <a:p>
            <a:pPr indent="-381000" lvl="0" marL="457200" rtl="0" algn="l">
              <a:lnSpc>
                <a:spcPct val="115000"/>
              </a:lnSpc>
              <a:spcBef>
                <a:spcPts val="0"/>
              </a:spcBef>
              <a:spcAft>
                <a:spcPts val="0"/>
              </a:spcAft>
              <a:buSzPts val="2400"/>
              <a:buChar char="●"/>
            </a:pPr>
            <a:r>
              <a:rPr lang="pt-BR"/>
              <a:t>Technological</a:t>
            </a:r>
            <a:endParaRPr/>
          </a:p>
          <a:p>
            <a:pPr indent="-342900" lvl="1" marL="914400" rtl="0" algn="l">
              <a:lnSpc>
                <a:spcPct val="115000"/>
              </a:lnSpc>
              <a:spcBef>
                <a:spcPts val="0"/>
              </a:spcBef>
              <a:spcAft>
                <a:spcPts val="0"/>
              </a:spcAft>
              <a:buSzPts val="1800"/>
              <a:buChar char="○"/>
            </a:pPr>
            <a:r>
              <a:rPr lang="pt-BR"/>
              <a:t>advanced technology applied to bring back to life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g3fbb4915044_0_29"/>
          <p:cNvSpPr txBox="1"/>
          <p:nvPr>
            <p:ph idx="1" type="body"/>
          </p:nvPr>
        </p:nvSpPr>
        <p:spPr>
          <a:xfrm>
            <a:off x="311700" y="321750"/>
            <a:ext cx="8520600" cy="4770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pt-BR" sz="1800">
                <a:solidFill>
                  <a:srgbClr val="000000"/>
                </a:solidFill>
              </a:rPr>
              <a:t>GBC</a:t>
            </a:r>
            <a:r>
              <a:rPr lang="pt-BR" sz="1800"/>
              <a:t> - Green Blood Cells (million cells per microliter - mcL)</a:t>
            </a:r>
            <a:endParaRPr sz="1800"/>
          </a:p>
          <a:p>
            <a:pPr indent="0" lvl="0" marL="457200" rtl="0" algn="l">
              <a:lnSpc>
                <a:spcPct val="115000"/>
              </a:lnSpc>
              <a:spcBef>
                <a:spcPts val="1600"/>
              </a:spcBef>
              <a:spcAft>
                <a:spcPts val="0"/>
              </a:spcAft>
              <a:buSzPts val="2400"/>
              <a:buNone/>
            </a:pPr>
            <a:r>
              <a:t/>
            </a:r>
            <a:endParaRPr sz="1800"/>
          </a:p>
          <a:p>
            <a:pPr indent="-342900" lvl="0" marL="457200" rtl="0" algn="l">
              <a:lnSpc>
                <a:spcPct val="115000"/>
              </a:lnSpc>
              <a:spcBef>
                <a:spcPts val="1600"/>
              </a:spcBef>
              <a:spcAft>
                <a:spcPts val="0"/>
              </a:spcAft>
              <a:buSzPts val="1800"/>
              <a:buChar char="●"/>
            </a:pPr>
            <a:r>
              <a:rPr b="1" lang="pt-BR" sz="1800">
                <a:solidFill>
                  <a:srgbClr val="000000"/>
                </a:solidFill>
              </a:rPr>
              <a:t>GS</a:t>
            </a:r>
            <a:r>
              <a:rPr lang="pt-BR" sz="1800"/>
              <a:t> - Green Substance (gm/dL - grams per deciliter)</a:t>
            </a:r>
            <a:endParaRPr sz="1800"/>
          </a:p>
          <a:p>
            <a:pPr indent="0" lvl="0" marL="457200" rtl="0" algn="l">
              <a:lnSpc>
                <a:spcPct val="115000"/>
              </a:lnSpc>
              <a:spcBef>
                <a:spcPts val="1600"/>
              </a:spcBef>
              <a:spcAft>
                <a:spcPts val="0"/>
              </a:spcAft>
              <a:buSzPts val="2400"/>
              <a:buNone/>
            </a:pPr>
            <a:r>
              <a:t/>
            </a:r>
            <a:endParaRPr sz="1800"/>
          </a:p>
          <a:p>
            <a:pPr indent="-342900" lvl="0" marL="457200" rtl="0" algn="l">
              <a:lnSpc>
                <a:spcPct val="115000"/>
              </a:lnSpc>
              <a:spcBef>
                <a:spcPts val="1600"/>
              </a:spcBef>
              <a:spcAft>
                <a:spcPts val="0"/>
              </a:spcAft>
              <a:buSzPts val="1800"/>
              <a:buChar char="●"/>
            </a:pPr>
            <a:r>
              <a:rPr b="1" lang="pt-BR" sz="1800">
                <a:solidFill>
                  <a:srgbClr val="000000"/>
                </a:solidFill>
              </a:rPr>
              <a:t>PBC</a:t>
            </a:r>
            <a:r>
              <a:rPr lang="pt-BR" sz="1800"/>
              <a:t> - Purple Blood Cells (million cells per microliter - mcL)</a:t>
            </a:r>
            <a:endParaRPr sz="1800"/>
          </a:p>
          <a:p>
            <a:pPr indent="0" lvl="0" marL="457200" rtl="0" algn="l">
              <a:lnSpc>
                <a:spcPct val="115000"/>
              </a:lnSpc>
              <a:spcBef>
                <a:spcPts val="1600"/>
              </a:spcBef>
              <a:spcAft>
                <a:spcPts val="0"/>
              </a:spcAft>
              <a:buSzPts val="2400"/>
              <a:buNone/>
            </a:pPr>
            <a:r>
              <a:t/>
            </a:r>
            <a:endParaRPr sz="1800"/>
          </a:p>
          <a:p>
            <a:pPr indent="-342900" lvl="0" marL="457200" rtl="0" algn="l">
              <a:lnSpc>
                <a:spcPct val="115000"/>
              </a:lnSpc>
              <a:spcBef>
                <a:spcPts val="1600"/>
              </a:spcBef>
              <a:spcAft>
                <a:spcPts val="0"/>
              </a:spcAft>
              <a:buSzPts val="1800"/>
              <a:buChar char="●"/>
            </a:pPr>
            <a:r>
              <a:rPr b="1" lang="pt-BR" sz="1800">
                <a:solidFill>
                  <a:srgbClr val="000000"/>
                </a:solidFill>
              </a:rPr>
              <a:t>SP</a:t>
            </a:r>
            <a:r>
              <a:rPr lang="pt-BR" sz="1800"/>
              <a:t> - Sticky Paste (gm/dL - grams per deciliter)</a:t>
            </a:r>
            <a:endParaRPr sz="1800"/>
          </a:p>
        </p:txBody>
      </p:sp>
      <p:pic>
        <p:nvPicPr>
          <p:cNvPr id="755" name="Google Shape;755;g3fbb4915044_0_29"/>
          <p:cNvPicPr preferRelativeResize="0"/>
          <p:nvPr/>
        </p:nvPicPr>
        <p:blipFill rotWithShape="1">
          <a:blip r:embed="rId3">
            <a:alphaModFix/>
          </a:blip>
          <a:srcRect b="0" l="0" r="0" t="0"/>
          <a:stretch/>
        </p:blipFill>
        <p:spPr>
          <a:xfrm>
            <a:off x="1674525" y="2665450"/>
            <a:ext cx="1039100" cy="868100"/>
          </a:xfrm>
          <a:prstGeom prst="rect">
            <a:avLst/>
          </a:prstGeom>
          <a:noFill/>
          <a:ln>
            <a:noFill/>
          </a:ln>
        </p:spPr>
      </p:pic>
      <p:pic>
        <p:nvPicPr>
          <p:cNvPr id="756" name="Google Shape;756;g3fbb4915044_0_29"/>
          <p:cNvPicPr preferRelativeResize="0"/>
          <p:nvPr/>
        </p:nvPicPr>
        <p:blipFill rotWithShape="1">
          <a:blip r:embed="rId4">
            <a:alphaModFix/>
          </a:blip>
          <a:srcRect b="0" l="0" r="0" t="0"/>
          <a:stretch/>
        </p:blipFill>
        <p:spPr>
          <a:xfrm>
            <a:off x="1849925" y="1737200"/>
            <a:ext cx="646075" cy="722350"/>
          </a:xfrm>
          <a:prstGeom prst="rect">
            <a:avLst/>
          </a:prstGeom>
          <a:noFill/>
          <a:ln>
            <a:noFill/>
          </a:ln>
        </p:spPr>
      </p:pic>
      <p:pic>
        <p:nvPicPr>
          <p:cNvPr id="757" name="Google Shape;757;g3fbb4915044_0_29"/>
          <p:cNvPicPr preferRelativeResize="0"/>
          <p:nvPr/>
        </p:nvPicPr>
        <p:blipFill rotWithShape="1">
          <a:blip r:embed="rId5">
            <a:alphaModFix/>
          </a:blip>
          <a:srcRect b="0" l="0" r="0" t="0"/>
          <a:stretch/>
        </p:blipFill>
        <p:spPr>
          <a:xfrm>
            <a:off x="1674525" y="725617"/>
            <a:ext cx="1039100" cy="530382"/>
          </a:xfrm>
          <a:prstGeom prst="rect">
            <a:avLst/>
          </a:prstGeom>
          <a:noFill/>
          <a:ln>
            <a:noFill/>
          </a:ln>
        </p:spPr>
      </p:pic>
      <p:pic>
        <p:nvPicPr>
          <p:cNvPr id="758" name="Google Shape;758;g3fbb4915044_0_29"/>
          <p:cNvPicPr preferRelativeResize="0"/>
          <p:nvPr/>
        </p:nvPicPr>
        <p:blipFill rotWithShape="1">
          <a:blip r:embed="rId6">
            <a:alphaModFix/>
          </a:blip>
          <a:srcRect b="0" l="0" r="0" t="0"/>
          <a:stretch/>
        </p:blipFill>
        <p:spPr>
          <a:xfrm>
            <a:off x="2835675" y="2733275"/>
            <a:ext cx="909885" cy="868101"/>
          </a:xfrm>
          <a:prstGeom prst="rect">
            <a:avLst/>
          </a:prstGeom>
          <a:noFill/>
          <a:ln>
            <a:noFill/>
          </a:ln>
        </p:spPr>
      </p:pic>
      <p:pic>
        <p:nvPicPr>
          <p:cNvPr id="759" name="Google Shape;759;g3fbb4915044_0_29"/>
          <p:cNvPicPr preferRelativeResize="0"/>
          <p:nvPr/>
        </p:nvPicPr>
        <p:blipFill rotWithShape="1">
          <a:blip r:embed="rId7">
            <a:alphaModFix/>
          </a:blip>
          <a:srcRect b="0" l="0" r="0" t="0"/>
          <a:stretch/>
        </p:blipFill>
        <p:spPr>
          <a:xfrm>
            <a:off x="1739137" y="3815658"/>
            <a:ext cx="909875" cy="81919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fbb7e4475e_1_634"/>
          <p:cNvSpPr/>
          <p:nvPr/>
        </p:nvSpPr>
        <p:spPr>
          <a:xfrm>
            <a:off x="6801649" y="1208975"/>
            <a:ext cx="756300" cy="766200"/>
          </a:xfrm>
          <a:prstGeom prst="ellipse">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000000"/>
                </a:solidFill>
                <a:latin typeface="Arial"/>
                <a:ea typeface="Arial"/>
                <a:cs typeface="Arial"/>
                <a:sym typeface="Arial"/>
              </a:rPr>
              <a:t>Model</a:t>
            </a:r>
            <a:endParaRPr b="0" i="0" sz="1093" u="none" cap="none" strike="noStrike">
              <a:solidFill>
                <a:srgbClr val="000000"/>
              </a:solidFill>
              <a:latin typeface="Arial"/>
              <a:ea typeface="Arial"/>
              <a:cs typeface="Arial"/>
              <a:sym typeface="Arial"/>
            </a:endParaRPr>
          </a:p>
        </p:txBody>
      </p:sp>
      <p:sp>
        <p:nvSpPr>
          <p:cNvPr id="765" name="Google Shape;765;g3fbb7e4475e_1_634"/>
          <p:cNvSpPr/>
          <p:nvPr/>
        </p:nvSpPr>
        <p:spPr>
          <a:xfrm>
            <a:off x="6277664" y="179505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Classification Function</a:t>
            </a:r>
            <a:endParaRPr b="0" i="0" sz="1093" u="none" cap="none" strike="noStrike">
              <a:solidFill>
                <a:srgbClr val="000000"/>
              </a:solidFill>
              <a:latin typeface="Arial"/>
              <a:ea typeface="Arial"/>
              <a:cs typeface="Arial"/>
              <a:sym typeface="Arial"/>
            </a:endParaRPr>
          </a:p>
        </p:txBody>
      </p:sp>
      <p:sp>
        <p:nvSpPr>
          <p:cNvPr id="766" name="Google Shape;766;g3fbb7e4475e_1_634"/>
          <p:cNvSpPr/>
          <p:nvPr/>
        </p:nvSpPr>
        <p:spPr>
          <a:xfrm>
            <a:off x="6257047" y="3570935"/>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Objective Function</a:t>
            </a:r>
            <a:endParaRPr b="0" i="0" sz="1093" u="none" cap="none" strike="noStrike">
              <a:solidFill>
                <a:srgbClr val="B7B7B7"/>
              </a:solidFill>
              <a:latin typeface="Arial"/>
              <a:ea typeface="Arial"/>
              <a:cs typeface="Arial"/>
              <a:sym typeface="Arial"/>
            </a:endParaRPr>
          </a:p>
        </p:txBody>
      </p:sp>
      <p:cxnSp>
        <p:nvCxnSpPr>
          <p:cNvPr id="767" name="Google Shape;767;g3fbb7e4475e_1_634"/>
          <p:cNvCxnSpPr>
            <a:stCxn id="765" idx="2"/>
            <a:endCxn id="766" idx="0"/>
          </p:cNvCxnSpPr>
          <p:nvPr/>
        </p:nvCxnSpPr>
        <p:spPr>
          <a:xfrm flipH="1">
            <a:off x="6780914" y="2158655"/>
            <a:ext cx="20700" cy="1412400"/>
          </a:xfrm>
          <a:prstGeom prst="straightConnector1">
            <a:avLst/>
          </a:prstGeom>
          <a:noFill/>
          <a:ln cap="flat" cmpd="sng" w="29775">
            <a:solidFill>
              <a:srgbClr val="B7B7B7"/>
            </a:solidFill>
            <a:prstDash val="solid"/>
            <a:round/>
            <a:headEnd len="sm" w="sm" type="none"/>
            <a:tailEnd len="med" w="med" type="triangle"/>
          </a:ln>
        </p:spPr>
      </p:cxnSp>
      <p:sp>
        <p:nvSpPr>
          <p:cNvPr id="768" name="Google Shape;768;g3fbb7e4475e_1_634"/>
          <p:cNvSpPr/>
          <p:nvPr/>
        </p:nvSpPr>
        <p:spPr>
          <a:xfrm>
            <a:off x="7860794" y="2513392"/>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Optimization</a:t>
            </a:r>
            <a:endParaRPr sz="1093">
              <a:solidFill>
                <a:srgbClr val="B7B7B7"/>
              </a:solidFill>
            </a:endParaRPr>
          </a:p>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Algorithm</a:t>
            </a:r>
            <a:endParaRPr sz="1093">
              <a:solidFill>
                <a:srgbClr val="B7B7B7"/>
              </a:solidFill>
            </a:endParaRPr>
          </a:p>
        </p:txBody>
      </p:sp>
      <p:cxnSp>
        <p:nvCxnSpPr>
          <p:cNvPr id="769" name="Google Shape;769;g3fbb7e4475e_1_634"/>
          <p:cNvCxnSpPr>
            <a:stCxn id="766" idx="3"/>
            <a:endCxn id="768" idx="2"/>
          </p:cNvCxnSpPr>
          <p:nvPr/>
        </p:nvCxnSpPr>
        <p:spPr>
          <a:xfrm flipH="1" rot="10800000">
            <a:off x="7304947" y="2877035"/>
            <a:ext cx="1079700" cy="875700"/>
          </a:xfrm>
          <a:prstGeom prst="straightConnector1">
            <a:avLst/>
          </a:prstGeom>
          <a:noFill/>
          <a:ln cap="flat" cmpd="sng" w="29775">
            <a:solidFill>
              <a:srgbClr val="B7B7B7"/>
            </a:solidFill>
            <a:prstDash val="solid"/>
            <a:round/>
            <a:headEnd len="sm" w="sm" type="none"/>
            <a:tailEnd len="med" w="med" type="triangle"/>
          </a:ln>
        </p:spPr>
      </p:cxnSp>
      <p:cxnSp>
        <p:nvCxnSpPr>
          <p:cNvPr id="770" name="Google Shape;770;g3fbb7e4475e_1_634"/>
          <p:cNvCxnSpPr>
            <a:stCxn id="768" idx="0"/>
            <a:endCxn id="765" idx="3"/>
          </p:cNvCxnSpPr>
          <p:nvPr/>
        </p:nvCxnSpPr>
        <p:spPr>
          <a:xfrm rot="10800000">
            <a:off x="7325444" y="1976992"/>
            <a:ext cx="1059300" cy="536400"/>
          </a:xfrm>
          <a:prstGeom prst="straightConnector1">
            <a:avLst/>
          </a:prstGeom>
          <a:noFill/>
          <a:ln cap="flat" cmpd="sng" w="29775">
            <a:solidFill>
              <a:srgbClr val="B7B7B7"/>
            </a:solidFill>
            <a:prstDash val="solid"/>
            <a:round/>
            <a:headEnd len="sm" w="sm" type="none"/>
            <a:tailEnd len="med" w="med" type="triangle"/>
          </a:ln>
        </p:spPr>
      </p:cxnSp>
      <p:sp>
        <p:nvSpPr>
          <p:cNvPr id="771" name="Google Shape;771;g3fbb7e4475e_1_634"/>
          <p:cNvSpPr/>
          <p:nvPr/>
        </p:nvSpPr>
        <p:spPr>
          <a:xfrm>
            <a:off x="4572000" y="2544973"/>
            <a:ext cx="1185000" cy="363600"/>
          </a:xfrm>
          <a:prstGeom prst="roundRect">
            <a:avLst>
              <a:gd fmla="val 40544" name="adj"/>
            </a:avLst>
          </a:prstGeom>
          <a:solidFill>
            <a:srgbClr val="FFFFFF"/>
          </a:solidFill>
          <a:ln cap="flat" cmpd="sng" w="2977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Feature Representation</a:t>
            </a:r>
            <a:endParaRPr b="0" i="0" sz="1093" u="none" cap="none" strike="noStrike">
              <a:solidFill>
                <a:srgbClr val="B7B7B7"/>
              </a:solidFill>
              <a:latin typeface="Arial"/>
              <a:ea typeface="Arial"/>
              <a:cs typeface="Arial"/>
              <a:sym typeface="Arial"/>
            </a:endParaRPr>
          </a:p>
        </p:txBody>
      </p:sp>
      <p:cxnSp>
        <p:nvCxnSpPr>
          <p:cNvPr id="772" name="Google Shape;772;g3fbb7e4475e_1_634"/>
          <p:cNvCxnSpPr>
            <a:stCxn id="771" idx="3"/>
            <a:endCxn id="765" idx="1"/>
          </p:cNvCxnSpPr>
          <p:nvPr/>
        </p:nvCxnSpPr>
        <p:spPr>
          <a:xfrm flipH="1" rot="10800000">
            <a:off x="5757000" y="1976773"/>
            <a:ext cx="520800" cy="750000"/>
          </a:xfrm>
          <a:prstGeom prst="straightConnector1">
            <a:avLst/>
          </a:prstGeom>
          <a:noFill/>
          <a:ln cap="flat" cmpd="sng" w="29775">
            <a:solidFill>
              <a:srgbClr val="B7B7B7"/>
            </a:solidFill>
            <a:prstDash val="dash"/>
            <a:round/>
            <a:headEnd len="sm" w="sm" type="none"/>
            <a:tailEnd len="med" w="med" type="triangle"/>
          </a:ln>
        </p:spPr>
      </p:cxnSp>
      <p:cxnSp>
        <p:nvCxnSpPr>
          <p:cNvPr id="773" name="Google Shape;773;g3fbb7e4475e_1_634"/>
          <p:cNvCxnSpPr>
            <a:stCxn id="771" idx="3"/>
            <a:endCxn id="766" idx="1"/>
          </p:cNvCxnSpPr>
          <p:nvPr/>
        </p:nvCxnSpPr>
        <p:spPr>
          <a:xfrm>
            <a:off x="5757000" y="2726773"/>
            <a:ext cx="500100" cy="1026000"/>
          </a:xfrm>
          <a:prstGeom prst="straightConnector1">
            <a:avLst/>
          </a:prstGeom>
          <a:noFill/>
          <a:ln cap="flat" cmpd="sng" w="29775">
            <a:solidFill>
              <a:srgbClr val="B7B7B7"/>
            </a:solidFill>
            <a:prstDash val="dash"/>
            <a:round/>
            <a:headEnd len="sm" w="sm" type="none"/>
            <a:tailEnd len="med" w="med" type="triangle"/>
          </a:ln>
        </p:spPr>
      </p:cxnSp>
      <p:sp>
        <p:nvSpPr>
          <p:cNvPr id="774" name="Google Shape;774;g3fbb7e4475e_1_6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Classification Function</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3fbc1dcd947_0_1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 Regression</a:t>
            </a:r>
            <a:endParaRPr/>
          </a:p>
          <a:p>
            <a:pPr indent="0" lvl="0" marL="0" rtl="0" algn="ctr">
              <a:spcBef>
                <a:spcPts val="0"/>
              </a:spcBef>
              <a:spcAft>
                <a:spcPts val="0"/>
              </a:spcAft>
              <a:buNone/>
            </a:pPr>
            <a:r>
              <a:rPr lang="pt-BR" sz="2400"/>
              <a:t>to understand Logistic Regression</a:t>
            </a:r>
            <a:endParaRPr sz="24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g3fbc1dcd947_0_2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Linear Regression (intuitive)</a:t>
            </a:r>
            <a:endParaRPr/>
          </a:p>
        </p:txBody>
      </p:sp>
      <p:sp>
        <p:nvSpPr>
          <p:cNvPr id="785" name="Google Shape;785;g3fbc1dcd947_0_230"/>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pt-BR"/>
              <a:t>The line of best fit for the data</a:t>
            </a:r>
            <a:endParaRPr/>
          </a:p>
        </p:txBody>
      </p:sp>
      <p:pic>
        <p:nvPicPr>
          <p:cNvPr id="786" name="Google Shape;786;g3fbc1dcd947_0_230"/>
          <p:cNvPicPr preferRelativeResize="0"/>
          <p:nvPr/>
        </p:nvPicPr>
        <p:blipFill rotWithShape="1">
          <a:blip r:embed="rId3">
            <a:alphaModFix/>
          </a:blip>
          <a:srcRect b="0" l="0" r="0" t="0"/>
          <a:stretch/>
        </p:blipFill>
        <p:spPr>
          <a:xfrm>
            <a:off x="2470128" y="1662753"/>
            <a:ext cx="3989600" cy="325292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fbc1dcd947_0_135"/>
          <p:cNvSpPr txBox="1"/>
          <p:nvPr>
            <p:ph type="title"/>
          </p:nvPr>
        </p:nvSpPr>
        <p:spPr>
          <a:xfrm>
            <a:off x="311700" y="1826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Simple Linear Regression</a:t>
            </a:r>
            <a:endParaRPr/>
          </a:p>
        </p:txBody>
      </p:sp>
      <p:sp>
        <p:nvSpPr>
          <p:cNvPr id="792" name="Google Shape;792;g3fbc1dcd947_0_135"/>
          <p:cNvSpPr txBox="1"/>
          <p:nvPr>
            <p:ph idx="1" type="body"/>
          </p:nvPr>
        </p:nvSpPr>
        <p:spPr>
          <a:xfrm>
            <a:off x="311700" y="695275"/>
            <a:ext cx="8520600" cy="135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pt-BR"/>
              <a:t>Linear Function</a:t>
            </a:r>
            <a:endParaRPr/>
          </a:p>
          <a:p>
            <a:pPr indent="0" lvl="0" marL="0" rtl="0" algn="l">
              <a:lnSpc>
                <a:spcPct val="115000"/>
              </a:lnSpc>
              <a:spcBef>
                <a:spcPts val="1600"/>
              </a:spcBef>
              <a:spcAft>
                <a:spcPts val="1600"/>
              </a:spcAft>
              <a:buSzPts val="2400"/>
              <a:buNone/>
            </a:pPr>
            <a:r>
              <a:t/>
            </a:r>
            <a:endParaRPr/>
          </a:p>
        </p:txBody>
      </p:sp>
      <p:pic>
        <p:nvPicPr>
          <p:cNvPr id="793" name="Google Shape;793;g3fbc1dcd947_0_135"/>
          <p:cNvPicPr preferRelativeResize="0"/>
          <p:nvPr/>
        </p:nvPicPr>
        <p:blipFill rotWithShape="1">
          <a:blip r:embed="rId3">
            <a:alphaModFix/>
          </a:blip>
          <a:srcRect b="0" l="0" r="0" t="0"/>
          <a:stretch/>
        </p:blipFill>
        <p:spPr>
          <a:xfrm>
            <a:off x="4018155" y="950925"/>
            <a:ext cx="4615925" cy="3887775"/>
          </a:xfrm>
          <a:prstGeom prst="rect">
            <a:avLst/>
          </a:prstGeom>
          <a:noFill/>
          <a:ln>
            <a:noFill/>
          </a:ln>
        </p:spPr>
      </p:pic>
      <p:sp>
        <p:nvSpPr>
          <p:cNvPr id="794" name="Google Shape;794;g3fbc1dcd947_0_135"/>
          <p:cNvSpPr/>
          <p:nvPr/>
        </p:nvSpPr>
        <p:spPr>
          <a:xfrm>
            <a:off x="4073400" y="3741975"/>
            <a:ext cx="207000" cy="773400"/>
          </a:xfrm>
          <a:prstGeom prst="leftBrace">
            <a:avLst>
              <a:gd fmla="val 50000" name="adj1"/>
              <a:gd fmla="val 50000" name="adj2"/>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g3fbc1dcd947_0_135"/>
          <p:cNvSpPr txBox="1"/>
          <p:nvPr/>
        </p:nvSpPr>
        <p:spPr>
          <a:xfrm>
            <a:off x="3541775" y="3867075"/>
            <a:ext cx="476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pt-BR" sz="2200" u="none" cap="none" strike="noStrike">
                <a:solidFill>
                  <a:srgbClr val="FF0000"/>
                </a:solidFill>
                <a:latin typeface="Arial"/>
                <a:ea typeface="Arial"/>
                <a:cs typeface="Arial"/>
                <a:sym typeface="Arial"/>
              </a:rPr>
              <a:t>β</a:t>
            </a:r>
            <a:r>
              <a:rPr b="1" baseline="-25000" i="0" lang="pt-BR" sz="2200" u="none" cap="none" strike="noStrike">
                <a:solidFill>
                  <a:srgbClr val="FF0000"/>
                </a:solidFill>
                <a:latin typeface="Arial"/>
                <a:ea typeface="Arial"/>
                <a:cs typeface="Arial"/>
                <a:sym typeface="Arial"/>
              </a:rPr>
              <a:t>0</a:t>
            </a:r>
            <a:endParaRPr b="1" baseline="-25000" i="0" sz="2200" u="none" cap="none" strike="noStrike">
              <a:solidFill>
                <a:srgbClr val="FF0000"/>
              </a:solidFill>
              <a:latin typeface="Arial"/>
              <a:ea typeface="Arial"/>
              <a:cs typeface="Arial"/>
              <a:sym typeface="Arial"/>
            </a:endParaRPr>
          </a:p>
        </p:txBody>
      </p:sp>
      <p:sp>
        <p:nvSpPr>
          <p:cNvPr id="796" name="Google Shape;796;g3fbc1dcd947_0_135"/>
          <p:cNvSpPr/>
          <p:nvPr/>
        </p:nvSpPr>
        <p:spPr>
          <a:xfrm flipH="1">
            <a:off x="5898125" y="2580722"/>
            <a:ext cx="1005900" cy="469800"/>
          </a:xfrm>
          <a:prstGeom prst="rtTriangl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g3fbc1dcd947_0_135"/>
          <p:cNvSpPr txBox="1"/>
          <p:nvPr/>
        </p:nvSpPr>
        <p:spPr>
          <a:xfrm>
            <a:off x="6297000" y="3018025"/>
            <a:ext cx="310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pt-BR" sz="2200" u="none" cap="none" strike="noStrike">
                <a:solidFill>
                  <a:srgbClr val="FF0000"/>
                </a:solidFill>
                <a:latin typeface="Arial"/>
                <a:ea typeface="Arial"/>
                <a:cs typeface="Arial"/>
                <a:sym typeface="Arial"/>
              </a:rPr>
              <a:t>1</a:t>
            </a:r>
            <a:endParaRPr b="1" i="0" sz="2200" u="none" cap="none" strike="noStrike">
              <a:solidFill>
                <a:srgbClr val="FF0000"/>
              </a:solidFill>
              <a:latin typeface="Arial"/>
              <a:ea typeface="Arial"/>
              <a:cs typeface="Arial"/>
              <a:sym typeface="Arial"/>
            </a:endParaRPr>
          </a:p>
        </p:txBody>
      </p:sp>
      <p:pic>
        <p:nvPicPr>
          <p:cNvPr descr="{&quot;code&quot;:&quot;$\\hat{y}=\\hat{\\beta_{0}}+\\hat{\\beta_{1}}x$&quot;,&quot;aid&quot;:null,&quot;type&quot;:&quot;$&quot;,&quot;font&quot;:{&quot;size&quot;:32,&quot;color&quot;:&quot;#595959&quot;,&quot;family&quot;:&quot;Arial&quot;},&quot;backgroundColorModified&quot;:false,&quot;backgroundColor&quot;:&quot;#ffffff&quot;,&quot;id&quot;:&quot;1&quot;,&quot;ts&quot;:1620564552685,&quot;cs&quot;:&quot;Jiqwy0lHwYYPiHsmUMMBGw==&quot;,&quot;size&quot;:{&quot;width&quot;:272.75,&quot;height&quot;:56}}" id="798" name="Google Shape;798;g3fbc1dcd947_0_135"/>
          <p:cNvPicPr preferRelativeResize="0"/>
          <p:nvPr/>
        </p:nvPicPr>
        <p:blipFill rotWithShape="1">
          <a:blip r:embed="rId4">
            <a:alphaModFix/>
          </a:blip>
          <a:srcRect b="0" l="0" r="0" t="0"/>
          <a:stretch/>
        </p:blipFill>
        <p:spPr>
          <a:xfrm>
            <a:off x="881717" y="1374852"/>
            <a:ext cx="2597944" cy="533400"/>
          </a:xfrm>
          <a:prstGeom prst="rect">
            <a:avLst/>
          </a:prstGeom>
          <a:noFill/>
          <a:ln>
            <a:noFill/>
          </a:ln>
        </p:spPr>
      </p:pic>
      <p:sp>
        <p:nvSpPr>
          <p:cNvPr id="799" name="Google Shape;799;g3fbc1dcd947_0_135"/>
          <p:cNvSpPr txBox="1"/>
          <p:nvPr/>
        </p:nvSpPr>
        <p:spPr>
          <a:xfrm>
            <a:off x="6904025" y="2554013"/>
            <a:ext cx="476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pt-BR" sz="2200" u="none" cap="none" strike="noStrike">
                <a:solidFill>
                  <a:srgbClr val="FF0000"/>
                </a:solidFill>
                <a:latin typeface="Arial"/>
                <a:ea typeface="Arial"/>
                <a:cs typeface="Arial"/>
                <a:sym typeface="Arial"/>
              </a:rPr>
              <a:t>β</a:t>
            </a:r>
            <a:r>
              <a:rPr b="1" baseline="-25000" i="0" lang="pt-BR" sz="2200" u="none" cap="none" strike="noStrike">
                <a:solidFill>
                  <a:srgbClr val="FF0000"/>
                </a:solidFill>
                <a:latin typeface="Arial"/>
                <a:ea typeface="Arial"/>
                <a:cs typeface="Arial"/>
                <a:sym typeface="Arial"/>
              </a:rPr>
              <a:t>1</a:t>
            </a:r>
            <a:endParaRPr b="1" baseline="-25000" i="0" sz="2200" u="none" cap="none" strike="noStrike">
              <a:solidFill>
                <a:srgbClr val="FF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id="804" name="Google Shape;804;g3fbc1dcd947_0_281"/>
          <p:cNvPicPr preferRelativeResize="0"/>
          <p:nvPr/>
        </p:nvPicPr>
        <p:blipFill rotWithShape="1">
          <a:blip r:embed="rId3">
            <a:alphaModFix/>
          </a:blip>
          <a:srcRect b="0" l="0" r="0" t="0"/>
          <a:stretch/>
        </p:blipFill>
        <p:spPr>
          <a:xfrm>
            <a:off x="4025566" y="953149"/>
            <a:ext cx="4615916" cy="3887775"/>
          </a:xfrm>
          <a:prstGeom prst="rect">
            <a:avLst/>
          </a:prstGeom>
          <a:noFill/>
          <a:ln>
            <a:noFill/>
          </a:ln>
        </p:spPr>
      </p:pic>
      <p:sp>
        <p:nvSpPr>
          <p:cNvPr id="805" name="Google Shape;805;g3fbc1dcd947_0_281"/>
          <p:cNvSpPr txBox="1"/>
          <p:nvPr>
            <p:ph type="title"/>
          </p:nvPr>
        </p:nvSpPr>
        <p:spPr>
          <a:xfrm>
            <a:off x="311700" y="1826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Simple Linear Regression</a:t>
            </a:r>
            <a:endParaRPr/>
          </a:p>
        </p:txBody>
      </p:sp>
      <p:sp>
        <p:nvSpPr>
          <p:cNvPr id="806" name="Google Shape;806;g3fbc1dcd947_0_281"/>
          <p:cNvSpPr txBox="1"/>
          <p:nvPr>
            <p:ph idx="1" type="body"/>
          </p:nvPr>
        </p:nvSpPr>
        <p:spPr>
          <a:xfrm>
            <a:off x="311700" y="695275"/>
            <a:ext cx="8520600" cy="336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lang="pt-BR"/>
              <a:t>Linear Function</a:t>
            </a:r>
            <a:endParaRPr/>
          </a:p>
          <a:p>
            <a:pPr indent="0" lvl="0" marL="0" rtl="0" algn="l">
              <a:lnSpc>
                <a:spcPct val="115000"/>
              </a:lnSpc>
              <a:spcBef>
                <a:spcPts val="1600"/>
              </a:spcBef>
              <a:spcAft>
                <a:spcPts val="0"/>
              </a:spcAft>
              <a:buSzPts val="2400"/>
              <a:buNone/>
            </a:pPr>
            <a:r>
              <a:t/>
            </a:r>
            <a:endParaRPr/>
          </a:p>
          <a:p>
            <a:pPr indent="-361950" lvl="0" marL="457200" rtl="0" algn="l">
              <a:lnSpc>
                <a:spcPct val="115000"/>
              </a:lnSpc>
              <a:spcBef>
                <a:spcPts val="1600"/>
              </a:spcBef>
              <a:spcAft>
                <a:spcPts val="0"/>
              </a:spcAft>
              <a:buSzPts val="2100"/>
              <a:buChar char="●"/>
            </a:pPr>
            <a:r>
              <a:rPr lang="pt-BR" sz="2100"/>
              <a:t>intercept</a:t>
            </a:r>
            <a:endParaRPr sz="2100"/>
          </a:p>
          <a:p>
            <a:pPr indent="0" lvl="0" marL="0" rtl="0" algn="l">
              <a:lnSpc>
                <a:spcPct val="115000"/>
              </a:lnSpc>
              <a:spcBef>
                <a:spcPts val="1600"/>
              </a:spcBef>
              <a:spcAft>
                <a:spcPts val="0"/>
              </a:spcAft>
              <a:buNone/>
            </a:pPr>
            <a:r>
              <a:t/>
            </a:r>
            <a:endParaRPr sz="2100"/>
          </a:p>
          <a:p>
            <a:pPr indent="-361950" lvl="0" marL="457200" rtl="0" algn="l">
              <a:lnSpc>
                <a:spcPct val="115000"/>
              </a:lnSpc>
              <a:spcBef>
                <a:spcPts val="1600"/>
              </a:spcBef>
              <a:spcAft>
                <a:spcPts val="0"/>
              </a:spcAft>
              <a:buSzPts val="2100"/>
              <a:buChar char="●"/>
            </a:pPr>
            <a:r>
              <a:rPr lang="pt-BR" sz="2100"/>
              <a:t>slope</a:t>
            </a:r>
            <a:endParaRPr sz="2100"/>
          </a:p>
        </p:txBody>
      </p:sp>
      <p:sp>
        <p:nvSpPr>
          <p:cNvPr id="807" name="Google Shape;807;g3fbc1dcd947_0_281"/>
          <p:cNvSpPr/>
          <p:nvPr/>
        </p:nvSpPr>
        <p:spPr>
          <a:xfrm>
            <a:off x="4073400" y="3741975"/>
            <a:ext cx="207000" cy="773400"/>
          </a:xfrm>
          <a:prstGeom prst="leftBrace">
            <a:avLst>
              <a:gd fmla="val 50000" name="adj1"/>
              <a:gd fmla="val 50000" name="adj2"/>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g3fbc1dcd947_0_281"/>
          <p:cNvSpPr/>
          <p:nvPr/>
        </p:nvSpPr>
        <p:spPr>
          <a:xfrm flipH="1">
            <a:off x="5898125" y="2580722"/>
            <a:ext cx="1005900" cy="469800"/>
          </a:xfrm>
          <a:prstGeom prst="rtTriangl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g3fbc1dcd947_0_281"/>
          <p:cNvSpPr txBox="1"/>
          <p:nvPr/>
        </p:nvSpPr>
        <p:spPr>
          <a:xfrm>
            <a:off x="6297000" y="3018025"/>
            <a:ext cx="310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pt-BR" sz="2200" u="none" cap="none" strike="noStrike">
                <a:solidFill>
                  <a:srgbClr val="FF0000"/>
                </a:solidFill>
                <a:latin typeface="Arial"/>
                <a:ea typeface="Arial"/>
                <a:cs typeface="Arial"/>
                <a:sym typeface="Arial"/>
              </a:rPr>
              <a:t>1</a:t>
            </a:r>
            <a:endParaRPr b="1" i="0" sz="2200" u="none" cap="none" strike="noStrike">
              <a:solidFill>
                <a:srgbClr val="FF0000"/>
              </a:solidFill>
              <a:latin typeface="Arial"/>
              <a:ea typeface="Arial"/>
              <a:cs typeface="Arial"/>
              <a:sym typeface="Arial"/>
            </a:endParaRPr>
          </a:p>
        </p:txBody>
      </p:sp>
      <p:sp>
        <p:nvSpPr>
          <p:cNvPr id="810" name="Google Shape;810;g3fbc1dcd947_0_281"/>
          <p:cNvSpPr txBox="1"/>
          <p:nvPr/>
        </p:nvSpPr>
        <p:spPr>
          <a:xfrm>
            <a:off x="3541775" y="3867075"/>
            <a:ext cx="476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pt-BR" sz="2200" u="none" cap="none" strike="noStrike">
                <a:solidFill>
                  <a:srgbClr val="FF0000"/>
                </a:solidFill>
                <a:latin typeface="Arial"/>
                <a:ea typeface="Arial"/>
                <a:cs typeface="Arial"/>
                <a:sym typeface="Arial"/>
              </a:rPr>
              <a:t>β</a:t>
            </a:r>
            <a:r>
              <a:rPr b="1" baseline="-25000" i="0" lang="pt-BR" sz="2200" u="none" cap="none" strike="noStrike">
                <a:solidFill>
                  <a:srgbClr val="FF0000"/>
                </a:solidFill>
                <a:latin typeface="Arial"/>
                <a:ea typeface="Arial"/>
                <a:cs typeface="Arial"/>
                <a:sym typeface="Arial"/>
              </a:rPr>
              <a:t>0</a:t>
            </a:r>
            <a:endParaRPr b="1" baseline="-25000" i="0" sz="2200" u="none" cap="none" strike="noStrike">
              <a:solidFill>
                <a:srgbClr val="FF0000"/>
              </a:solidFill>
              <a:latin typeface="Arial"/>
              <a:ea typeface="Arial"/>
              <a:cs typeface="Arial"/>
              <a:sym typeface="Arial"/>
            </a:endParaRPr>
          </a:p>
        </p:txBody>
      </p:sp>
      <p:sp>
        <p:nvSpPr>
          <p:cNvPr id="811" name="Google Shape;811;g3fbc1dcd947_0_281"/>
          <p:cNvSpPr txBox="1"/>
          <p:nvPr/>
        </p:nvSpPr>
        <p:spPr>
          <a:xfrm>
            <a:off x="6904025" y="2554013"/>
            <a:ext cx="476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pt-BR" sz="2200" u="none" cap="none" strike="noStrike">
                <a:solidFill>
                  <a:srgbClr val="FF0000"/>
                </a:solidFill>
                <a:latin typeface="Arial"/>
                <a:ea typeface="Arial"/>
                <a:cs typeface="Arial"/>
                <a:sym typeface="Arial"/>
              </a:rPr>
              <a:t>β</a:t>
            </a:r>
            <a:r>
              <a:rPr b="1" baseline="-25000" i="0" lang="pt-BR" sz="2200" u="none" cap="none" strike="noStrike">
                <a:solidFill>
                  <a:srgbClr val="FF0000"/>
                </a:solidFill>
                <a:latin typeface="Arial"/>
                <a:ea typeface="Arial"/>
                <a:cs typeface="Arial"/>
                <a:sym typeface="Arial"/>
              </a:rPr>
              <a:t>1</a:t>
            </a:r>
            <a:endParaRPr b="1" baseline="-25000" i="0" sz="2200" u="none" cap="none" strike="noStrike">
              <a:solidFill>
                <a:srgbClr val="FF0000"/>
              </a:solidFill>
              <a:latin typeface="Arial"/>
              <a:ea typeface="Arial"/>
              <a:cs typeface="Arial"/>
              <a:sym typeface="Arial"/>
            </a:endParaRPr>
          </a:p>
        </p:txBody>
      </p:sp>
      <p:pic>
        <p:nvPicPr>
          <p:cNvPr descr="{&quot;code&quot;:&quot;$\\hat{y}=\\hat{\\beta_{0}}+\\hat{\\beta_{1}}x$&quot;,&quot;aid&quot;:null,&quot;type&quot;:&quot;$&quot;,&quot;font&quot;:{&quot;size&quot;:32,&quot;color&quot;:&quot;#595959&quot;,&quot;family&quot;:&quot;Arial&quot;},&quot;backgroundColorModified&quot;:false,&quot;backgroundColor&quot;:&quot;#ffffff&quot;,&quot;id&quot;:&quot;1&quot;,&quot;ts&quot;:1620564552685,&quot;cs&quot;:&quot;Jiqwy0lHwYYPiHsmUMMBGw==&quot;,&quot;size&quot;:{&quot;width&quot;:272.75,&quot;height&quot;:56}}" id="812" name="Google Shape;812;g3fbc1dcd947_0_281"/>
          <p:cNvPicPr preferRelativeResize="0"/>
          <p:nvPr/>
        </p:nvPicPr>
        <p:blipFill rotWithShape="1">
          <a:blip r:embed="rId4">
            <a:alphaModFix/>
          </a:blip>
          <a:srcRect b="0" l="0" r="0" t="0"/>
          <a:stretch/>
        </p:blipFill>
        <p:spPr>
          <a:xfrm>
            <a:off x="881717" y="1374852"/>
            <a:ext cx="2597944" cy="533400"/>
          </a:xfrm>
          <a:prstGeom prst="rect">
            <a:avLst/>
          </a:prstGeom>
          <a:noFill/>
          <a:ln>
            <a:noFill/>
          </a:ln>
        </p:spPr>
      </p:pic>
      <p:pic>
        <p:nvPicPr>
          <p:cNvPr descr="{&quot;font&quot;:{&quot;family&quot;:&quot;Arial&quot;,&quot;size&quot;:32,&quot;color&quot;:&quot;#595959&quot;},&quot;type&quot;:&quot;$&quot;,&quot;code&quot;:&quot;$\\hat{\\beta_{0}}$&quot;,&quot;backgroundColor&quot;:&quot;#ffffff&quot;,&quot;aid&quot;:null,&quot;id&quot;:&quot;1&quot;,&quot;backgroundColorModified&quot;:false,&quot;ts&quot;:1620566503123,&quot;cs&quot;:&quot;psV4utWjDc57AYwHii0whA==&quot;,&quot;size&quot;:{&quot;width&quot;:43,&quot;height&quot;:55.333333333333336}}" id="813" name="Google Shape;813;g3fbc1dcd947_0_281"/>
          <p:cNvPicPr preferRelativeResize="0"/>
          <p:nvPr/>
        </p:nvPicPr>
        <p:blipFill rotWithShape="1">
          <a:blip r:embed="rId5">
            <a:alphaModFix/>
          </a:blip>
          <a:srcRect b="0" l="0" r="0" t="0"/>
          <a:stretch/>
        </p:blipFill>
        <p:spPr>
          <a:xfrm>
            <a:off x="1975909" y="2737777"/>
            <a:ext cx="409575" cy="527050"/>
          </a:xfrm>
          <a:prstGeom prst="rect">
            <a:avLst/>
          </a:prstGeom>
          <a:noFill/>
          <a:ln>
            <a:noFill/>
          </a:ln>
        </p:spPr>
      </p:pic>
      <p:pic>
        <p:nvPicPr>
          <p:cNvPr descr="{&quot;backgroundColorModified&quot;:false,&quot;code&quot;:&quot;$\\hat{\\beta_{1}}$&quot;,&quot;id&quot;:&quot;1&quot;,&quot;aid&quot;:null,&quot;font&quot;:{&quot;size&quot;:32,&quot;family&quot;:&quot;Arial&quot;,&quot;color&quot;:&quot;#595959&quot;},&quot;type&quot;:&quot;$&quot;,&quot;backgroundColor&quot;:&quot;#ffffff&quot;,&quot;ts&quot;:1620566539276,&quot;cs&quot;:&quot;NrDdl9C/DPV2YRV1Pp854Q==&quot;,&quot;size&quot;:{&quot;width&quot;:41.833333333333336,&quot;height&quot;:55.333333333333336}}" id="814" name="Google Shape;814;g3fbc1dcd947_0_281"/>
          <p:cNvPicPr preferRelativeResize="0"/>
          <p:nvPr/>
        </p:nvPicPr>
        <p:blipFill rotWithShape="1">
          <a:blip r:embed="rId6">
            <a:alphaModFix/>
          </a:blip>
          <a:srcRect b="0" l="0" r="0" t="0"/>
          <a:stretch/>
        </p:blipFill>
        <p:spPr>
          <a:xfrm>
            <a:off x="1981457" y="3865152"/>
            <a:ext cx="398463" cy="5270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fbc1dcd947_0_3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Linear Regression</a:t>
            </a:r>
            <a:endParaRPr/>
          </a:p>
        </p:txBody>
      </p:sp>
      <p:sp>
        <p:nvSpPr>
          <p:cNvPr id="820" name="Google Shape;820;g3fbc1dcd947_0_340"/>
          <p:cNvSpPr txBox="1"/>
          <p:nvPr>
            <p:ph idx="1" type="body"/>
          </p:nvPr>
        </p:nvSpPr>
        <p:spPr>
          <a:xfrm>
            <a:off x="311700" y="1152475"/>
            <a:ext cx="8520600" cy="221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2400"/>
              <a:buNone/>
            </a:pPr>
            <a:r>
              <a:rPr lang="pt-BR" sz="2200"/>
              <a:t>Linear approach to modeling the relationship between:</a:t>
            </a:r>
            <a:endParaRPr sz="2200"/>
          </a:p>
          <a:p>
            <a:pPr indent="-368300" lvl="0" marL="457200" rtl="0" algn="l">
              <a:lnSpc>
                <a:spcPct val="115000"/>
              </a:lnSpc>
              <a:spcBef>
                <a:spcPts val="1600"/>
              </a:spcBef>
              <a:spcAft>
                <a:spcPts val="0"/>
              </a:spcAft>
              <a:buSzPts val="2200"/>
              <a:buChar char="●"/>
            </a:pPr>
            <a:r>
              <a:rPr lang="pt-BR" sz="2200"/>
              <a:t>one or more independent variables</a:t>
            </a:r>
            <a:endParaRPr sz="2200"/>
          </a:p>
          <a:p>
            <a:pPr indent="-368300" lvl="0" marL="457200" rtl="0" algn="l">
              <a:lnSpc>
                <a:spcPct val="115000"/>
              </a:lnSpc>
              <a:spcBef>
                <a:spcPts val="0"/>
              </a:spcBef>
              <a:spcAft>
                <a:spcPts val="0"/>
              </a:spcAft>
              <a:buSzPts val="2200"/>
              <a:buChar char="●"/>
            </a:pPr>
            <a:r>
              <a:rPr lang="pt-BR" sz="2200"/>
              <a:t>a dependent variable</a:t>
            </a:r>
            <a:endParaRPr sz="2200"/>
          </a:p>
          <a:p>
            <a:pPr indent="0" lvl="0" marL="0" rtl="0" algn="l">
              <a:lnSpc>
                <a:spcPct val="115000"/>
              </a:lnSpc>
              <a:spcBef>
                <a:spcPts val="1600"/>
              </a:spcBef>
              <a:spcAft>
                <a:spcPts val="1600"/>
              </a:spcAft>
              <a:buSzPts val="2400"/>
              <a:buNone/>
            </a:pPr>
            <a:r>
              <a:rPr lang="pt-BR" sz="2200"/>
              <a:t>Regression does not imply causality</a:t>
            </a:r>
            <a:endParaRPr sz="22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g3fbc1dcd947_0_39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Linear Regression</a:t>
            </a:r>
            <a:endParaRPr/>
          </a:p>
        </p:txBody>
      </p:sp>
      <p:sp>
        <p:nvSpPr>
          <p:cNvPr id="826" name="Google Shape;826;g3fbc1dcd947_0_397"/>
          <p:cNvSpPr txBox="1"/>
          <p:nvPr>
            <p:ph idx="1" type="body"/>
          </p:nvPr>
        </p:nvSpPr>
        <p:spPr>
          <a:xfrm>
            <a:off x="311700" y="1152475"/>
            <a:ext cx="8520600" cy="154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2400"/>
              <a:buNone/>
            </a:pPr>
            <a:r>
              <a:rPr lang="pt-BR" sz="2200"/>
              <a:t>Linear approach to modeling the relationship between:</a:t>
            </a:r>
            <a:endParaRPr sz="2200"/>
          </a:p>
          <a:p>
            <a:pPr indent="-368300" lvl="0" marL="457200" rtl="0" algn="l">
              <a:lnSpc>
                <a:spcPct val="115000"/>
              </a:lnSpc>
              <a:spcBef>
                <a:spcPts val="1600"/>
              </a:spcBef>
              <a:spcAft>
                <a:spcPts val="0"/>
              </a:spcAft>
              <a:buSzPts val="2200"/>
              <a:buChar char="●"/>
            </a:pPr>
            <a:r>
              <a:rPr lang="pt-BR" sz="2200"/>
              <a:t>one or more independent variables</a:t>
            </a:r>
            <a:endParaRPr sz="2200"/>
          </a:p>
          <a:p>
            <a:pPr indent="-368300" lvl="0" marL="457200" rtl="0" algn="l">
              <a:lnSpc>
                <a:spcPct val="115000"/>
              </a:lnSpc>
              <a:spcBef>
                <a:spcPts val="0"/>
              </a:spcBef>
              <a:spcAft>
                <a:spcPts val="0"/>
              </a:spcAft>
              <a:buSzPts val="2200"/>
              <a:buChar char="●"/>
            </a:pPr>
            <a:r>
              <a:rPr lang="pt-BR" sz="2200"/>
              <a:t>a dependent variable</a:t>
            </a:r>
            <a:endParaRPr sz="2200"/>
          </a:p>
        </p:txBody>
      </p:sp>
      <p:pic>
        <p:nvPicPr>
          <p:cNvPr descr="{&quot;code&quot;:&quot;$\\hat{y}=\\hat{\\beta_{0}}+\\hat{\\beta_{1}}x$&quot;,&quot;aid&quot;:null,&quot;type&quot;:&quot;$&quot;,&quot;font&quot;:{&quot;size&quot;:32,&quot;color&quot;:&quot;#595959&quot;,&quot;family&quot;:&quot;Arial&quot;},&quot;backgroundColorModified&quot;:false,&quot;backgroundColor&quot;:&quot;#ffffff&quot;,&quot;id&quot;:&quot;1&quot;,&quot;ts&quot;:1620564552685,&quot;cs&quot;:&quot;Jiqwy0lHwYYPiHsmUMMBGw==&quot;,&quot;size&quot;:{&quot;width&quot;:272.75,&quot;height&quot;:56}}" id="827" name="Google Shape;827;g3fbc1dcd947_0_397"/>
          <p:cNvPicPr preferRelativeResize="0"/>
          <p:nvPr/>
        </p:nvPicPr>
        <p:blipFill rotWithShape="1">
          <a:blip r:embed="rId3">
            <a:alphaModFix/>
          </a:blip>
          <a:srcRect b="0" l="0" r="0" t="0"/>
          <a:stretch/>
        </p:blipFill>
        <p:spPr>
          <a:xfrm>
            <a:off x="667917" y="2834027"/>
            <a:ext cx="2597944" cy="533400"/>
          </a:xfrm>
          <a:prstGeom prst="rect">
            <a:avLst/>
          </a:prstGeom>
          <a:noFill/>
          <a:ln>
            <a:noFill/>
          </a:ln>
        </p:spPr>
      </p:pic>
      <p:sp>
        <p:nvSpPr>
          <p:cNvPr id="828" name="Google Shape;828;g3fbc1dcd947_0_397"/>
          <p:cNvSpPr txBox="1"/>
          <p:nvPr/>
        </p:nvSpPr>
        <p:spPr>
          <a:xfrm>
            <a:off x="2397775" y="3542650"/>
            <a:ext cx="178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741B47"/>
                </a:solidFill>
                <a:latin typeface="Comfortaa"/>
                <a:ea typeface="Comfortaa"/>
                <a:cs typeface="Comfortaa"/>
                <a:sym typeface="Comfortaa"/>
              </a:rPr>
              <a:t>independent</a:t>
            </a:r>
            <a:endParaRPr b="1" sz="1800">
              <a:solidFill>
                <a:srgbClr val="741B47"/>
              </a:solidFill>
              <a:latin typeface="Comfortaa"/>
              <a:ea typeface="Comfortaa"/>
              <a:cs typeface="Comfortaa"/>
              <a:sym typeface="Comfortaa"/>
            </a:endParaRPr>
          </a:p>
        </p:txBody>
      </p:sp>
      <p:sp>
        <p:nvSpPr>
          <p:cNvPr id="829" name="Google Shape;829;g3fbc1dcd947_0_397"/>
          <p:cNvSpPr txBox="1"/>
          <p:nvPr/>
        </p:nvSpPr>
        <p:spPr>
          <a:xfrm>
            <a:off x="311700" y="3542650"/>
            <a:ext cx="15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CC"/>
                </a:solidFill>
                <a:latin typeface="Comfortaa"/>
                <a:ea typeface="Comfortaa"/>
                <a:cs typeface="Comfortaa"/>
                <a:sym typeface="Comfortaa"/>
              </a:rPr>
              <a:t>dependent</a:t>
            </a:r>
            <a:endParaRPr b="1" sz="1800">
              <a:solidFill>
                <a:srgbClr val="0000CC"/>
              </a:solidFill>
              <a:latin typeface="Comfortaa"/>
              <a:ea typeface="Comfortaa"/>
              <a:cs typeface="Comfortaa"/>
              <a:sym typeface="Comfortaa"/>
            </a:endParaRPr>
          </a:p>
        </p:txBody>
      </p:sp>
      <p:sp>
        <p:nvSpPr>
          <p:cNvPr id="830" name="Google Shape;830;g3fbc1dcd947_0_397"/>
          <p:cNvSpPr/>
          <p:nvPr/>
        </p:nvSpPr>
        <p:spPr>
          <a:xfrm>
            <a:off x="527850" y="2870938"/>
            <a:ext cx="532500" cy="634800"/>
          </a:xfrm>
          <a:prstGeom prst="ellipse">
            <a:avLst/>
          </a:prstGeom>
          <a:noFill/>
          <a:ln cap="flat" cmpd="sng" w="38100">
            <a:solidFill>
              <a:srgbClr val="0000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31" name="Google Shape;831;g3fbc1dcd947_0_397"/>
          <p:cNvSpPr/>
          <p:nvPr/>
        </p:nvSpPr>
        <p:spPr>
          <a:xfrm>
            <a:off x="2925550" y="2870925"/>
            <a:ext cx="532500" cy="634800"/>
          </a:xfrm>
          <a:prstGeom prst="ellipse">
            <a:avLst/>
          </a:prstGeom>
          <a:noFill/>
          <a:ln cap="flat" cmpd="sng" w="38100">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pic>
        <p:nvPicPr>
          <p:cNvPr id="836" name="Google Shape;836;g3fbc1dcd947_0_412"/>
          <p:cNvPicPr preferRelativeResize="0"/>
          <p:nvPr/>
        </p:nvPicPr>
        <p:blipFill>
          <a:blip r:embed="rId3">
            <a:alphaModFix/>
          </a:blip>
          <a:stretch>
            <a:fillRect/>
          </a:stretch>
        </p:blipFill>
        <p:spPr>
          <a:xfrm>
            <a:off x="398100" y="3739100"/>
            <a:ext cx="8282101" cy="759600"/>
          </a:xfrm>
          <a:prstGeom prst="rect">
            <a:avLst/>
          </a:prstGeom>
          <a:noFill/>
          <a:ln>
            <a:noFill/>
          </a:ln>
        </p:spPr>
      </p:pic>
      <p:sp>
        <p:nvSpPr>
          <p:cNvPr id="837" name="Google Shape;837;g3fbc1dcd947_0_4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Linear Regression</a:t>
            </a:r>
            <a:endParaRPr/>
          </a:p>
        </p:txBody>
      </p:sp>
      <p:sp>
        <p:nvSpPr>
          <p:cNvPr id="838" name="Google Shape;838;g3fbc1dcd947_0_412"/>
          <p:cNvSpPr txBox="1"/>
          <p:nvPr>
            <p:ph idx="1" type="body"/>
          </p:nvPr>
        </p:nvSpPr>
        <p:spPr>
          <a:xfrm>
            <a:off x="311700" y="1152475"/>
            <a:ext cx="8520600" cy="154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2400"/>
              <a:buNone/>
            </a:pPr>
            <a:r>
              <a:rPr lang="pt-BR" sz="2200"/>
              <a:t>Linear approach to modeling the relationship between:</a:t>
            </a:r>
            <a:endParaRPr sz="2200"/>
          </a:p>
          <a:p>
            <a:pPr indent="-368300" lvl="0" marL="457200" rtl="0" algn="l">
              <a:lnSpc>
                <a:spcPct val="115000"/>
              </a:lnSpc>
              <a:spcBef>
                <a:spcPts val="1600"/>
              </a:spcBef>
              <a:spcAft>
                <a:spcPts val="0"/>
              </a:spcAft>
              <a:buSzPts val="2200"/>
              <a:buChar char="●"/>
            </a:pPr>
            <a:r>
              <a:rPr lang="pt-BR" sz="2200"/>
              <a:t>one or more independent variables</a:t>
            </a:r>
            <a:endParaRPr sz="2200"/>
          </a:p>
          <a:p>
            <a:pPr indent="-368300" lvl="0" marL="457200" rtl="0" algn="l">
              <a:lnSpc>
                <a:spcPct val="115000"/>
              </a:lnSpc>
              <a:spcBef>
                <a:spcPts val="0"/>
              </a:spcBef>
              <a:spcAft>
                <a:spcPts val="0"/>
              </a:spcAft>
              <a:buSzPts val="2200"/>
              <a:buChar char="●"/>
            </a:pPr>
            <a:r>
              <a:rPr lang="pt-BR" sz="2200"/>
              <a:t>a dependent variable</a:t>
            </a:r>
            <a:endParaRPr sz="2200"/>
          </a:p>
          <a:p>
            <a:pPr indent="0" lvl="0" marL="0" rtl="0" algn="l">
              <a:lnSpc>
                <a:spcPct val="115000"/>
              </a:lnSpc>
              <a:spcBef>
                <a:spcPts val="1600"/>
              </a:spcBef>
              <a:spcAft>
                <a:spcPts val="0"/>
              </a:spcAft>
              <a:buNone/>
            </a:pPr>
            <a:r>
              <a:t/>
            </a:r>
            <a:endParaRPr sz="2200"/>
          </a:p>
          <a:p>
            <a:pPr indent="0" lvl="0" marL="0" rtl="0" algn="l">
              <a:lnSpc>
                <a:spcPct val="115000"/>
              </a:lnSpc>
              <a:spcBef>
                <a:spcPts val="1600"/>
              </a:spcBef>
              <a:spcAft>
                <a:spcPts val="1600"/>
              </a:spcAft>
              <a:buNone/>
            </a:pPr>
            <a:r>
              <a:rPr lang="pt-BR" sz="2200"/>
              <a:t>Multiple Linear Regression</a:t>
            </a:r>
            <a:endParaRPr sz="2200"/>
          </a:p>
        </p:txBody>
      </p:sp>
      <p:sp>
        <p:nvSpPr>
          <p:cNvPr id="839" name="Google Shape;839;g3fbc1dcd947_0_412"/>
          <p:cNvSpPr txBox="1"/>
          <p:nvPr/>
        </p:nvSpPr>
        <p:spPr>
          <a:xfrm>
            <a:off x="2788500" y="4561800"/>
            <a:ext cx="178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741B47"/>
                </a:solidFill>
                <a:latin typeface="Comfortaa"/>
                <a:ea typeface="Comfortaa"/>
                <a:cs typeface="Comfortaa"/>
                <a:sym typeface="Comfortaa"/>
              </a:rPr>
              <a:t>independent</a:t>
            </a:r>
            <a:endParaRPr b="1" sz="1800">
              <a:solidFill>
                <a:srgbClr val="741B47"/>
              </a:solidFill>
              <a:latin typeface="Comfortaa"/>
              <a:ea typeface="Comfortaa"/>
              <a:cs typeface="Comfortaa"/>
              <a:sym typeface="Comfortaa"/>
            </a:endParaRPr>
          </a:p>
        </p:txBody>
      </p:sp>
      <p:sp>
        <p:nvSpPr>
          <p:cNvPr id="840" name="Google Shape;840;g3fbc1dcd947_0_412"/>
          <p:cNvSpPr txBox="1"/>
          <p:nvPr/>
        </p:nvSpPr>
        <p:spPr>
          <a:xfrm>
            <a:off x="104700" y="4649700"/>
            <a:ext cx="15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CC"/>
                </a:solidFill>
                <a:latin typeface="Comfortaa"/>
                <a:ea typeface="Comfortaa"/>
                <a:cs typeface="Comfortaa"/>
                <a:sym typeface="Comfortaa"/>
              </a:rPr>
              <a:t>dependent</a:t>
            </a:r>
            <a:endParaRPr b="1" sz="1800">
              <a:solidFill>
                <a:srgbClr val="0000CC"/>
              </a:solidFill>
              <a:latin typeface="Comfortaa"/>
              <a:ea typeface="Comfortaa"/>
              <a:cs typeface="Comfortaa"/>
              <a:sym typeface="Comfortaa"/>
            </a:endParaRPr>
          </a:p>
        </p:txBody>
      </p:sp>
      <p:sp>
        <p:nvSpPr>
          <p:cNvPr id="841" name="Google Shape;841;g3fbc1dcd947_0_412"/>
          <p:cNvSpPr/>
          <p:nvPr/>
        </p:nvSpPr>
        <p:spPr>
          <a:xfrm>
            <a:off x="311700" y="3890102"/>
            <a:ext cx="603900" cy="759600"/>
          </a:xfrm>
          <a:prstGeom prst="ellipse">
            <a:avLst/>
          </a:prstGeom>
          <a:noFill/>
          <a:ln cap="flat" cmpd="sng" w="38100">
            <a:solidFill>
              <a:srgbClr val="0000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42" name="Google Shape;842;g3fbc1dcd947_0_412"/>
          <p:cNvSpPr/>
          <p:nvPr/>
        </p:nvSpPr>
        <p:spPr>
          <a:xfrm>
            <a:off x="3265850" y="3890100"/>
            <a:ext cx="771000" cy="671700"/>
          </a:xfrm>
          <a:prstGeom prst="ellipse">
            <a:avLst/>
          </a:prstGeom>
          <a:noFill/>
          <a:ln cap="flat" cmpd="sng" w="38100">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43" name="Google Shape;843;g3fbc1dcd947_0_412"/>
          <p:cNvSpPr/>
          <p:nvPr/>
        </p:nvSpPr>
        <p:spPr>
          <a:xfrm>
            <a:off x="5074375" y="3934050"/>
            <a:ext cx="771000" cy="671700"/>
          </a:xfrm>
          <a:prstGeom prst="ellipse">
            <a:avLst/>
          </a:prstGeom>
          <a:noFill/>
          <a:ln cap="flat" cmpd="sng" w="38100">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44" name="Google Shape;844;g3fbc1dcd947_0_412"/>
          <p:cNvSpPr/>
          <p:nvPr/>
        </p:nvSpPr>
        <p:spPr>
          <a:xfrm>
            <a:off x="7957775" y="3934050"/>
            <a:ext cx="771000" cy="671700"/>
          </a:xfrm>
          <a:prstGeom prst="ellipse">
            <a:avLst/>
          </a:prstGeom>
          <a:noFill/>
          <a:ln cap="flat" cmpd="sng" w="38100">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845" name="Google Shape;845;g3fbc1dcd947_0_412"/>
          <p:cNvSpPr txBox="1"/>
          <p:nvPr/>
        </p:nvSpPr>
        <p:spPr>
          <a:xfrm>
            <a:off x="4568125" y="4561800"/>
            <a:ext cx="178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741B47"/>
                </a:solidFill>
                <a:latin typeface="Comfortaa"/>
                <a:ea typeface="Comfortaa"/>
                <a:cs typeface="Comfortaa"/>
                <a:sym typeface="Comfortaa"/>
              </a:rPr>
              <a:t>independent</a:t>
            </a:r>
            <a:endParaRPr b="1" sz="1800">
              <a:solidFill>
                <a:srgbClr val="741B47"/>
              </a:solidFill>
              <a:latin typeface="Comfortaa"/>
              <a:ea typeface="Comfortaa"/>
              <a:cs typeface="Comfortaa"/>
              <a:sym typeface="Comfortaa"/>
            </a:endParaRPr>
          </a:p>
        </p:txBody>
      </p:sp>
      <p:sp>
        <p:nvSpPr>
          <p:cNvPr id="846" name="Google Shape;846;g3fbc1dcd947_0_412"/>
          <p:cNvSpPr txBox="1"/>
          <p:nvPr/>
        </p:nvSpPr>
        <p:spPr>
          <a:xfrm>
            <a:off x="7316150" y="4561800"/>
            <a:ext cx="178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741B47"/>
                </a:solidFill>
                <a:latin typeface="Comfortaa"/>
                <a:ea typeface="Comfortaa"/>
                <a:cs typeface="Comfortaa"/>
                <a:sym typeface="Comfortaa"/>
              </a:rPr>
              <a:t>independent</a:t>
            </a:r>
            <a:endParaRPr b="1" sz="1800">
              <a:solidFill>
                <a:srgbClr val="741B47"/>
              </a:solidFill>
              <a:latin typeface="Comfortaa"/>
              <a:ea typeface="Comfortaa"/>
              <a:cs typeface="Comfortaa"/>
              <a:sym typeface="Comfortaa"/>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fbc1dcd947_0_428"/>
          <p:cNvSpPr txBox="1"/>
          <p:nvPr>
            <p:ph type="title"/>
          </p:nvPr>
        </p:nvSpPr>
        <p:spPr>
          <a:xfrm>
            <a:off x="311700" y="86000"/>
            <a:ext cx="8520600" cy="93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Multiple Linear Regression and Hyperplane</a:t>
            </a:r>
            <a:endParaRPr/>
          </a:p>
        </p:txBody>
      </p:sp>
      <p:pic>
        <p:nvPicPr>
          <p:cNvPr id="852" name="Google Shape;852;g3fbc1dcd947_0_428"/>
          <p:cNvPicPr preferRelativeResize="0"/>
          <p:nvPr/>
        </p:nvPicPr>
        <p:blipFill rotWithShape="1">
          <a:blip r:embed="rId3">
            <a:alphaModFix/>
          </a:blip>
          <a:srcRect b="0" l="0" r="0" t="0"/>
          <a:stretch/>
        </p:blipFill>
        <p:spPr>
          <a:xfrm>
            <a:off x="2723313" y="1267825"/>
            <a:ext cx="3697370" cy="3820974"/>
          </a:xfrm>
          <a:prstGeom prst="rect">
            <a:avLst/>
          </a:prstGeom>
          <a:noFill/>
          <a:ln>
            <a:noFill/>
          </a:ln>
        </p:spPr>
      </p:pic>
      <p:sp>
        <p:nvSpPr>
          <p:cNvPr id="853" name="Google Shape;853;g3fbc1dcd947_0_428"/>
          <p:cNvSpPr txBox="1"/>
          <p:nvPr/>
        </p:nvSpPr>
        <p:spPr>
          <a:xfrm>
            <a:off x="6441475" y="3918275"/>
            <a:ext cx="2159400" cy="81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pt-BR"/>
              <a:t>Hyperplane for two dimensions (difficult to draw for 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g3fbc1dcd947_0_124"/>
          <p:cNvPicPr preferRelativeResize="0"/>
          <p:nvPr/>
        </p:nvPicPr>
        <p:blipFill>
          <a:blip r:embed="rId3">
            <a:alphaModFix/>
          </a:blip>
          <a:stretch>
            <a:fillRect/>
          </a:stretch>
        </p:blipFill>
        <p:spPr>
          <a:xfrm flipH="1">
            <a:off x="390247" y="1185987"/>
            <a:ext cx="2784000" cy="1850925"/>
          </a:xfrm>
          <a:prstGeom prst="rect">
            <a:avLst/>
          </a:prstGeom>
          <a:noFill/>
          <a:ln>
            <a:noFill/>
          </a:ln>
        </p:spPr>
      </p:pic>
      <p:pic>
        <p:nvPicPr>
          <p:cNvPr id="859" name="Google Shape;859;g3fbc1dcd947_0_124"/>
          <p:cNvPicPr preferRelativeResize="0"/>
          <p:nvPr/>
        </p:nvPicPr>
        <p:blipFill>
          <a:blip r:embed="rId4">
            <a:alphaModFix/>
          </a:blip>
          <a:stretch>
            <a:fillRect/>
          </a:stretch>
        </p:blipFill>
        <p:spPr>
          <a:xfrm>
            <a:off x="469838" y="3562400"/>
            <a:ext cx="2316976" cy="1372075"/>
          </a:xfrm>
          <a:prstGeom prst="rect">
            <a:avLst/>
          </a:prstGeom>
          <a:noFill/>
          <a:ln>
            <a:noFill/>
          </a:ln>
        </p:spPr>
      </p:pic>
      <p:sp>
        <p:nvSpPr>
          <p:cNvPr id="860" name="Google Shape;860;g3fbc1dcd947_0_124"/>
          <p:cNvSpPr txBox="1"/>
          <p:nvPr>
            <p:ph type="title"/>
          </p:nvPr>
        </p:nvSpPr>
        <p:spPr>
          <a:xfrm>
            <a:off x="311700" y="46950"/>
            <a:ext cx="3673200" cy="10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Slope and Weight</a:t>
            </a:r>
            <a:endParaRPr sz="2600"/>
          </a:p>
          <a:p>
            <a:pPr indent="0" lvl="0" marL="0" rtl="0" algn="l">
              <a:spcBef>
                <a:spcPts val="0"/>
              </a:spcBef>
              <a:spcAft>
                <a:spcPts val="0"/>
              </a:spcAft>
              <a:buNone/>
            </a:pPr>
            <a:r>
              <a:rPr lang="pt-BR" sz="2000"/>
              <a:t>Which is the most powerful engine?</a:t>
            </a:r>
            <a:endParaRPr sz="2000"/>
          </a:p>
        </p:txBody>
      </p:sp>
      <p:pic>
        <p:nvPicPr>
          <p:cNvPr id="861" name="Google Shape;861;g3fbc1dcd947_0_124"/>
          <p:cNvPicPr preferRelativeResize="0"/>
          <p:nvPr/>
        </p:nvPicPr>
        <p:blipFill>
          <a:blip r:embed="rId5">
            <a:alphaModFix/>
          </a:blip>
          <a:stretch>
            <a:fillRect/>
          </a:stretch>
        </p:blipFill>
        <p:spPr>
          <a:xfrm>
            <a:off x="3984850" y="619650"/>
            <a:ext cx="3518275" cy="2130220"/>
          </a:xfrm>
          <a:prstGeom prst="rect">
            <a:avLst/>
          </a:prstGeom>
          <a:noFill/>
          <a:ln>
            <a:noFill/>
          </a:ln>
        </p:spPr>
      </p:pic>
      <p:pic>
        <p:nvPicPr>
          <p:cNvPr id="862" name="Google Shape;862;g3fbc1dcd947_0_124"/>
          <p:cNvPicPr preferRelativeResize="0"/>
          <p:nvPr/>
        </p:nvPicPr>
        <p:blipFill>
          <a:blip r:embed="rId6">
            <a:alphaModFix/>
          </a:blip>
          <a:stretch>
            <a:fillRect/>
          </a:stretch>
        </p:blipFill>
        <p:spPr>
          <a:xfrm>
            <a:off x="3984850" y="2789677"/>
            <a:ext cx="3518276" cy="229011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pic>
        <p:nvPicPr>
          <p:cNvPr id="867" name="Google Shape;867;g3fbc1dcd947_0_192"/>
          <p:cNvPicPr preferRelativeResize="0"/>
          <p:nvPr/>
        </p:nvPicPr>
        <p:blipFill>
          <a:blip r:embed="rId3">
            <a:alphaModFix/>
          </a:blip>
          <a:stretch>
            <a:fillRect/>
          </a:stretch>
        </p:blipFill>
        <p:spPr>
          <a:xfrm>
            <a:off x="469838" y="3562400"/>
            <a:ext cx="2316976" cy="1372075"/>
          </a:xfrm>
          <a:prstGeom prst="rect">
            <a:avLst/>
          </a:prstGeom>
          <a:noFill/>
          <a:ln>
            <a:noFill/>
          </a:ln>
        </p:spPr>
      </p:pic>
      <p:pic>
        <p:nvPicPr>
          <p:cNvPr id="868" name="Google Shape;868;g3fbc1dcd947_0_192"/>
          <p:cNvPicPr preferRelativeResize="0"/>
          <p:nvPr/>
        </p:nvPicPr>
        <p:blipFill>
          <a:blip r:embed="rId4">
            <a:alphaModFix/>
          </a:blip>
          <a:stretch>
            <a:fillRect/>
          </a:stretch>
        </p:blipFill>
        <p:spPr>
          <a:xfrm>
            <a:off x="3984850" y="619650"/>
            <a:ext cx="3518275" cy="2130220"/>
          </a:xfrm>
          <a:prstGeom prst="rect">
            <a:avLst/>
          </a:prstGeom>
          <a:noFill/>
          <a:ln>
            <a:noFill/>
          </a:ln>
        </p:spPr>
      </p:pic>
      <p:pic>
        <p:nvPicPr>
          <p:cNvPr id="869" name="Google Shape;869;g3fbc1dcd947_0_192"/>
          <p:cNvPicPr preferRelativeResize="0"/>
          <p:nvPr/>
        </p:nvPicPr>
        <p:blipFill>
          <a:blip r:embed="rId5">
            <a:alphaModFix/>
          </a:blip>
          <a:stretch>
            <a:fillRect/>
          </a:stretch>
        </p:blipFill>
        <p:spPr>
          <a:xfrm>
            <a:off x="3984850" y="2789677"/>
            <a:ext cx="3518276" cy="2290116"/>
          </a:xfrm>
          <a:prstGeom prst="rect">
            <a:avLst/>
          </a:prstGeom>
          <a:noFill/>
          <a:ln>
            <a:noFill/>
          </a:ln>
        </p:spPr>
      </p:pic>
      <p:sp>
        <p:nvSpPr>
          <p:cNvPr id="870" name="Google Shape;870;g3fbc1dcd947_0_192"/>
          <p:cNvSpPr txBox="1"/>
          <p:nvPr/>
        </p:nvSpPr>
        <p:spPr>
          <a:xfrm>
            <a:off x="3939875" y="2254402"/>
            <a:ext cx="333300" cy="366000"/>
          </a:xfrm>
          <a:prstGeom prst="rect">
            <a:avLst/>
          </a:prstGeom>
          <a:noFill/>
          <a:ln>
            <a:noFill/>
          </a:ln>
        </p:spPr>
        <p:txBody>
          <a:bodyPr anchorCtr="0" anchor="t" bIns="63950" lIns="63950" spcFirstLastPara="1" rIns="63950" wrap="square" tIns="63950">
            <a:spAutoFit/>
          </a:bodyPr>
          <a:lstStyle/>
          <a:p>
            <a:pPr indent="0" lvl="0" marL="0" marR="0" rtl="0" algn="l">
              <a:lnSpc>
                <a:spcPct val="100000"/>
              </a:lnSpc>
              <a:spcBef>
                <a:spcPts val="0"/>
              </a:spcBef>
              <a:spcAft>
                <a:spcPts val="0"/>
              </a:spcAft>
              <a:buClr>
                <a:srgbClr val="000000"/>
              </a:buClr>
              <a:buSzPts val="1539"/>
              <a:buFont typeface="Arial"/>
              <a:buNone/>
            </a:pPr>
            <a:r>
              <a:rPr b="1" i="0" lang="pt-BR" sz="1539" u="none" cap="none" strike="noStrike">
                <a:solidFill>
                  <a:srgbClr val="FF0000"/>
                </a:solidFill>
                <a:latin typeface="Arial"/>
                <a:ea typeface="Arial"/>
                <a:cs typeface="Arial"/>
                <a:sym typeface="Arial"/>
              </a:rPr>
              <a:t>β</a:t>
            </a:r>
            <a:r>
              <a:rPr b="1" baseline="-25000" i="0" lang="pt-BR" sz="1539" u="none" cap="none" strike="noStrike">
                <a:solidFill>
                  <a:srgbClr val="FF0000"/>
                </a:solidFill>
                <a:latin typeface="Arial"/>
                <a:ea typeface="Arial"/>
                <a:cs typeface="Arial"/>
                <a:sym typeface="Arial"/>
              </a:rPr>
              <a:t>0</a:t>
            </a:r>
            <a:endParaRPr b="1" baseline="-25000" i="0" sz="1539" u="none" cap="none" strike="noStrike">
              <a:solidFill>
                <a:srgbClr val="FF0000"/>
              </a:solidFill>
              <a:latin typeface="Arial"/>
              <a:ea typeface="Arial"/>
              <a:cs typeface="Arial"/>
              <a:sym typeface="Arial"/>
            </a:endParaRPr>
          </a:p>
        </p:txBody>
      </p:sp>
      <p:sp>
        <p:nvSpPr>
          <p:cNvPr id="871" name="Google Shape;871;g3fbc1dcd947_0_192"/>
          <p:cNvSpPr/>
          <p:nvPr/>
        </p:nvSpPr>
        <p:spPr>
          <a:xfrm flipH="1">
            <a:off x="5468700" y="3718300"/>
            <a:ext cx="703800" cy="426600"/>
          </a:xfrm>
          <a:prstGeom prst="rtTriangle">
            <a:avLst/>
          </a:prstGeom>
          <a:noFill/>
          <a:ln cap="flat" cmpd="sng" w="26650">
            <a:solidFill>
              <a:srgbClr val="9900FF"/>
            </a:solidFill>
            <a:prstDash val="solid"/>
            <a:round/>
            <a:headEnd len="sm" w="sm" type="none"/>
            <a:tailEnd len="sm" w="sm" type="none"/>
          </a:ln>
        </p:spPr>
        <p:txBody>
          <a:bodyPr anchorCtr="0" anchor="ctr" bIns="63950" lIns="63950" spcFirstLastPara="1" rIns="63950" wrap="square" tIns="63950">
            <a:noAutofit/>
          </a:bodyPr>
          <a:lstStyle/>
          <a:p>
            <a:pPr indent="0" lvl="0" marL="0" marR="0" rtl="0" algn="l">
              <a:lnSpc>
                <a:spcPct val="100000"/>
              </a:lnSpc>
              <a:spcBef>
                <a:spcPts val="0"/>
              </a:spcBef>
              <a:spcAft>
                <a:spcPts val="0"/>
              </a:spcAft>
              <a:buClr>
                <a:srgbClr val="000000"/>
              </a:buClr>
              <a:buSzPts val="979"/>
              <a:buFont typeface="Arial"/>
              <a:buNone/>
            </a:pPr>
            <a:r>
              <a:t/>
            </a:r>
            <a:endParaRPr b="0" i="0" sz="979" u="none" cap="none" strike="noStrike">
              <a:solidFill>
                <a:srgbClr val="000000"/>
              </a:solidFill>
              <a:latin typeface="Arial"/>
              <a:ea typeface="Arial"/>
              <a:cs typeface="Arial"/>
              <a:sym typeface="Arial"/>
            </a:endParaRPr>
          </a:p>
        </p:txBody>
      </p:sp>
      <p:sp>
        <p:nvSpPr>
          <p:cNvPr id="872" name="Google Shape;872;g3fbc1dcd947_0_192"/>
          <p:cNvSpPr txBox="1"/>
          <p:nvPr/>
        </p:nvSpPr>
        <p:spPr>
          <a:xfrm>
            <a:off x="6172509" y="3797796"/>
            <a:ext cx="333300" cy="366000"/>
          </a:xfrm>
          <a:prstGeom prst="rect">
            <a:avLst/>
          </a:prstGeom>
          <a:noFill/>
          <a:ln>
            <a:noFill/>
          </a:ln>
        </p:spPr>
        <p:txBody>
          <a:bodyPr anchorCtr="0" anchor="t" bIns="63950" lIns="63950" spcFirstLastPara="1" rIns="63950" wrap="square" tIns="63950">
            <a:spAutoFit/>
          </a:bodyPr>
          <a:lstStyle/>
          <a:p>
            <a:pPr indent="0" lvl="0" marL="0" marR="0" rtl="0" algn="l">
              <a:lnSpc>
                <a:spcPct val="100000"/>
              </a:lnSpc>
              <a:spcBef>
                <a:spcPts val="0"/>
              </a:spcBef>
              <a:spcAft>
                <a:spcPts val="0"/>
              </a:spcAft>
              <a:buClr>
                <a:srgbClr val="000000"/>
              </a:buClr>
              <a:buSzPts val="1539"/>
              <a:buFont typeface="Arial"/>
              <a:buNone/>
            </a:pPr>
            <a:r>
              <a:rPr b="1" i="0" lang="pt-BR" sz="1539" u="none" cap="none" strike="noStrike">
                <a:solidFill>
                  <a:srgbClr val="9900FF"/>
                </a:solidFill>
                <a:latin typeface="Arial"/>
                <a:ea typeface="Arial"/>
                <a:cs typeface="Arial"/>
                <a:sym typeface="Arial"/>
              </a:rPr>
              <a:t>β</a:t>
            </a:r>
            <a:r>
              <a:rPr b="1" baseline="-25000" i="0" lang="pt-BR" sz="1539" u="none" cap="none" strike="noStrike">
                <a:solidFill>
                  <a:srgbClr val="9900FF"/>
                </a:solidFill>
                <a:latin typeface="Arial"/>
                <a:ea typeface="Arial"/>
                <a:cs typeface="Arial"/>
                <a:sym typeface="Arial"/>
              </a:rPr>
              <a:t>1</a:t>
            </a:r>
            <a:endParaRPr b="1" baseline="-25000" i="0" sz="1539" u="none" cap="none" strike="noStrike">
              <a:solidFill>
                <a:srgbClr val="9900FF"/>
              </a:solidFill>
              <a:latin typeface="Arial"/>
              <a:ea typeface="Arial"/>
              <a:cs typeface="Arial"/>
              <a:sym typeface="Arial"/>
            </a:endParaRPr>
          </a:p>
        </p:txBody>
      </p:sp>
      <p:sp>
        <p:nvSpPr>
          <p:cNvPr id="873" name="Google Shape;873;g3fbc1dcd947_0_192"/>
          <p:cNvSpPr txBox="1"/>
          <p:nvPr/>
        </p:nvSpPr>
        <p:spPr>
          <a:xfrm>
            <a:off x="3939875" y="4568477"/>
            <a:ext cx="333300" cy="366000"/>
          </a:xfrm>
          <a:prstGeom prst="rect">
            <a:avLst/>
          </a:prstGeom>
          <a:noFill/>
          <a:ln>
            <a:noFill/>
          </a:ln>
        </p:spPr>
        <p:txBody>
          <a:bodyPr anchorCtr="0" anchor="t" bIns="63950" lIns="63950" spcFirstLastPara="1" rIns="63950" wrap="square" tIns="63950">
            <a:spAutoFit/>
          </a:bodyPr>
          <a:lstStyle/>
          <a:p>
            <a:pPr indent="0" lvl="0" marL="0" marR="0" rtl="0" algn="l">
              <a:lnSpc>
                <a:spcPct val="100000"/>
              </a:lnSpc>
              <a:spcBef>
                <a:spcPts val="0"/>
              </a:spcBef>
              <a:spcAft>
                <a:spcPts val="0"/>
              </a:spcAft>
              <a:buClr>
                <a:srgbClr val="000000"/>
              </a:buClr>
              <a:buSzPts val="1539"/>
              <a:buFont typeface="Arial"/>
              <a:buNone/>
            </a:pPr>
            <a:r>
              <a:rPr b="1" i="0" lang="pt-BR" sz="1539" u="none" cap="none" strike="noStrike">
                <a:solidFill>
                  <a:srgbClr val="9900FF"/>
                </a:solidFill>
                <a:latin typeface="Arial"/>
                <a:ea typeface="Arial"/>
                <a:cs typeface="Arial"/>
                <a:sym typeface="Arial"/>
              </a:rPr>
              <a:t>β</a:t>
            </a:r>
            <a:r>
              <a:rPr b="1" baseline="-25000" i="0" lang="pt-BR" sz="1539" u="none" cap="none" strike="noStrike">
                <a:solidFill>
                  <a:srgbClr val="9900FF"/>
                </a:solidFill>
                <a:latin typeface="Arial"/>
                <a:ea typeface="Arial"/>
                <a:cs typeface="Arial"/>
                <a:sym typeface="Arial"/>
              </a:rPr>
              <a:t>0</a:t>
            </a:r>
            <a:endParaRPr b="1" baseline="-25000" i="0" sz="1539" u="none" cap="none" strike="noStrike">
              <a:solidFill>
                <a:srgbClr val="9900FF"/>
              </a:solidFill>
              <a:latin typeface="Arial"/>
              <a:ea typeface="Arial"/>
              <a:cs typeface="Arial"/>
              <a:sym typeface="Arial"/>
            </a:endParaRPr>
          </a:p>
        </p:txBody>
      </p:sp>
      <p:cxnSp>
        <p:nvCxnSpPr>
          <p:cNvPr id="874" name="Google Shape;874;g3fbc1dcd947_0_192"/>
          <p:cNvCxnSpPr/>
          <p:nvPr/>
        </p:nvCxnSpPr>
        <p:spPr>
          <a:xfrm flipH="1" rot="10800000">
            <a:off x="4418950" y="3025625"/>
            <a:ext cx="2882400" cy="1711800"/>
          </a:xfrm>
          <a:prstGeom prst="straightConnector1">
            <a:avLst/>
          </a:prstGeom>
          <a:noFill/>
          <a:ln cap="flat" cmpd="sng" w="38100">
            <a:solidFill>
              <a:srgbClr val="9900FF"/>
            </a:solidFill>
            <a:prstDash val="solid"/>
            <a:round/>
            <a:headEnd len="med" w="med" type="none"/>
            <a:tailEnd len="med" w="med" type="none"/>
          </a:ln>
        </p:spPr>
      </p:cxnSp>
      <p:cxnSp>
        <p:nvCxnSpPr>
          <p:cNvPr id="875" name="Google Shape;875;g3fbc1dcd947_0_192"/>
          <p:cNvCxnSpPr/>
          <p:nvPr/>
        </p:nvCxnSpPr>
        <p:spPr>
          <a:xfrm flipH="1" rot="10800000">
            <a:off x="4450800" y="2054200"/>
            <a:ext cx="2850300" cy="485700"/>
          </a:xfrm>
          <a:prstGeom prst="straightConnector1">
            <a:avLst/>
          </a:prstGeom>
          <a:noFill/>
          <a:ln cap="flat" cmpd="sng" w="38100">
            <a:solidFill>
              <a:srgbClr val="9900FF"/>
            </a:solidFill>
            <a:prstDash val="solid"/>
            <a:round/>
            <a:headEnd len="med" w="med" type="none"/>
            <a:tailEnd len="med" w="med" type="none"/>
          </a:ln>
        </p:spPr>
      </p:cxnSp>
      <p:sp>
        <p:nvSpPr>
          <p:cNvPr id="876" name="Google Shape;876;g3fbc1dcd947_0_192"/>
          <p:cNvSpPr/>
          <p:nvPr/>
        </p:nvSpPr>
        <p:spPr>
          <a:xfrm flipH="1">
            <a:off x="5468700" y="2237804"/>
            <a:ext cx="703800" cy="118500"/>
          </a:xfrm>
          <a:prstGeom prst="rtTriangle">
            <a:avLst/>
          </a:prstGeom>
          <a:noFill/>
          <a:ln cap="flat" cmpd="sng" w="26650">
            <a:solidFill>
              <a:srgbClr val="9900FF"/>
            </a:solidFill>
            <a:prstDash val="solid"/>
            <a:round/>
            <a:headEnd len="sm" w="sm" type="none"/>
            <a:tailEnd len="sm" w="sm" type="none"/>
          </a:ln>
        </p:spPr>
        <p:txBody>
          <a:bodyPr anchorCtr="0" anchor="ctr" bIns="63950" lIns="63950" spcFirstLastPara="1" rIns="63950" wrap="square" tIns="63950">
            <a:noAutofit/>
          </a:bodyPr>
          <a:lstStyle/>
          <a:p>
            <a:pPr indent="0" lvl="0" marL="0" marR="0" rtl="0" algn="l">
              <a:lnSpc>
                <a:spcPct val="100000"/>
              </a:lnSpc>
              <a:spcBef>
                <a:spcPts val="0"/>
              </a:spcBef>
              <a:spcAft>
                <a:spcPts val="0"/>
              </a:spcAft>
              <a:buClr>
                <a:srgbClr val="000000"/>
              </a:buClr>
              <a:buSzPts val="979"/>
              <a:buFont typeface="Arial"/>
              <a:buNone/>
            </a:pPr>
            <a:r>
              <a:t/>
            </a:r>
            <a:endParaRPr b="0" i="0" sz="979" u="none" cap="none" strike="noStrike">
              <a:solidFill>
                <a:srgbClr val="000000"/>
              </a:solidFill>
              <a:latin typeface="Arial"/>
              <a:ea typeface="Arial"/>
              <a:cs typeface="Arial"/>
              <a:sym typeface="Arial"/>
            </a:endParaRPr>
          </a:p>
        </p:txBody>
      </p:sp>
      <p:sp>
        <p:nvSpPr>
          <p:cNvPr id="877" name="Google Shape;877;g3fbc1dcd947_0_192"/>
          <p:cNvSpPr txBox="1"/>
          <p:nvPr/>
        </p:nvSpPr>
        <p:spPr>
          <a:xfrm>
            <a:off x="6209046" y="2205746"/>
            <a:ext cx="333300" cy="366000"/>
          </a:xfrm>
          <a:prstGeom prst="rect">
            <a:avLst/>
          </a:prstGeom>
          <a:noFill/>
          <a:ln>
            <a:noFill/>
          </a:ln>
        </p:spPr>
        <p:txBody>
          <a:bodyPr anchorCtr="0" anchor="t" bIns="63950" lIns="63950" spcFirstLastPara="1" rIns="63950" wrap="square" tIns="63950">
            <a:spAutoFit/>
          </a:bodyPr>
          <a:lstStyle/>
          <a:p>
            <a:pPr indent="0" lvl="0" marL="0" marR="0" rtl="0" algn="l">
              <a:lnSpc>
                <a:spcPct val="100000"/>
              </a:lnSpc>
              <a:spcBef>
                <a:spcPts val="0"/>
              </a:spcBef>
              <a:spcAft>
                <a:spcPts val="0"/>
              </a:spcAft>
              <a:buClr>
                <a:srgbClr val="000000"/>
              </a:buClr>
              <a:buSzPts val="1539"/>
              <a:buFont typeface="Arial"/>
              <a:buNone/>
            </a:pPr>
            <a:r>
              <a:rPr b="1" i="0" lang="pt-BR" sz="1539" u="none" cap="none" strike="noStrike">
                <a:solidFill>
                  <a:srgbClr val="9900FF"/>
                </a:solidFill>
                <a:latin typeface="Arial"/>
                <a:ea typeface="Arial"/>
                <a:cs typeface="Arial"/>
                <a:sym typeface="Arial"/>
              </a:rPr>
              <a:t>β</a:t>
            </a:r>
            <a:r>
              <a:rPr b="1" baseline="-25000" i="0" lang="pt-BR" sz="1539" u="none" cap="none" strike="noStrike">
                <a:solidFill>
                  <a:srgbClr val="9900FF"/>
                </a:solidFill>
                <a:latin typeface="Arial"/>
                <a:ea typeface="Arial"/>
                <a:cs typeface="Arial"/>
                <a:sym typeface="Arial"/>
              </a:rPr>
              <a:t>1</a:t>
            </a:r>
            <a:endParaRPr b="1" baseline="-25000" i="0" sz="1539" u="none" cap="none" strike="noStrike">
              <a:solidFill>
                <a:srgbClr val="9900FF"/>
              </a:solidFill>
              <a:latin typeface="Arial"/>
              <a:ea typeface="Arial"/>
              <a:cs typeface="Arial"/>
              <a:sym typeface="Arial"/>
            </a:endParaRPr>
          </a:p>
        </p:txBody>
      </p:sp>
      <p:sp>
        <p:nvSpPr>
          <p:cNvPr id="878" name="Google Shape;878;g3fbc1dcd947_0_192"/>
          <p:cNvSpPr/>
          <p:nvPr/>
        </p:nvSpPr>
        <p:spPr>
          <a:xfrm flipH="1">
            <a:off x="7592000" y="1586029"/>
            <a:ext cx="703800" cy="118500"/>
          </a:xfrm>
          <a:prstGeom prst="rtTriangle">
            <a:avLst/>
          </a:prstGeom>
          <a:noFill/>
          <a:ln cap="flat" cmpd="sng" w="26650">
            <a:solidFill>
              <a:srgbClr val="9900FF"/>
            </a:solidFill>
            <a:prstDash val="solid"/>
            <a:round/>
            <a:headEnd len="sm" w="sm" type="none"/>
            <a:tailEnd len="sm" w="sm" type="none"/>
          </a:ln>
        </p:spPr>
        <p:txBody>
          <a:bodyPr anchorCtr="0" anchor="ctr" bIns="63950" lIns="63950" spcFirstLastPara="1" rIns="63950" wrap="square" tIns="63950">
            <a:noAutofit/>
          </a:bodyPr>
          <a:lstStyle/>
          <a:p>
            <a:pPr indent="0" lvl="0" marL="0" marR="0" rtl="0" algn="l">
              <a:lnSpc>
                <a:spcPct val="100000"/>
              </a:lnSpc>
              <a:spcBef>
                <a:spcPts val="0"/>
              </a:spcBef>
              <a:spcAft>
                <a:spcPts val="0"/>
              </a:spcAft>
              <a:buClr>
                <a:srgbClr val="000000"/>
              </a:buClr>
              <a:buSzPts val="979"/>
              <a:buFont typeface="Arial"/>
              <a:buNone/>
            </a:pPr>
            <a:r>
              <a:t/>
            </a:r>
            <a:endParaRPr b="0" i="0" sz="979" u="none" cap="none" strike="noStrike">
              <a:solidFill>
                <a:srgbClr val="000000"/>
              </a:solidFill>
              <a:latin typeface="Arial"/>
              <a:ea typeface="Arial"/>
              <a:cs typeface="Arial"/>
              <a:sym typeface="Arial"/>
            </a:endParaRPr>
          </a:p>
        </p:txBody>
      </p:sp>
      <p:sp>
        <p:nvSpPr>
          <p:cNvPr id="879" name="Google Shape;879;g3fbc1dcd947_0_192"/>
          <p:cNvSpPr txBox="1"/>
          <p:nvPr/>
        </p:nvSpPr>
        <p:spPr>
          <a:xfrm>
            <a:off x="8295809" y="1450464"/>
            <a:ext cx="333300" cy="366000"/>
          </a:xfrm>
          <a:prstGeom prst="rect">
            <a:avLst/>
          </a:prstGeom>
          <a:noFill/>
          <a:ln>
            <a:noFill/>
          </a:ln>
        </p:spPr>
        <p:txBody>
          <a:bodyPr anchorCtr="0" anchor="t" bIns="63950" lIns="63950" spcFirstLastPara="1" rIns="63950" wrap="square" tIns="63950">
            <a:spAutoFit/>
          </a:bodyPr>
          <a:lstStyle/>
          <a:p>
            <a:pPr indent="0" lvl="0" marL="0" marR="0" rtl="0" algn="l">
              <a:lnSpc>
                <a:spcPct val="100000"/>
              </a:lnSpc>
              <a:spcBef>
                <a:spcPts val="0"/>
              </a:spcBef>
              <a:spcAft>
                <a:spcPts val="0"/>
              </a:spcAft>
              <a:buClr>
                <a:srgbClr val="000000"/>
              </a:buClr>
              <a:buSzPts val="1539"/>
              <a:buFont typeface="Arial"/>
              <a:buNone/>
            </a:pPr>
            <a:r>
              <a:rPr b="1" i="0" lang="pt-BR" sz="1539" u="none" cap="none" strike="noStrike">
                <a:solidFill>
                  <a:srgbClr val="9900FF"/>
                </a:solidFill>
                <a:latin typeface="Arial"/>
                <a:ea typeface="Arial"/>
                <a:cs typeface="Arial"/>
                <a:sym typeface="Arial"/>
              </a:rPr>
              <a:t>β</a:t>
            </a:r>
            <a:r>
              <a:rPr b="1" baseline="-25000" i="0" lang="pt-BR" sz="1539" u="none" cap="none" strike="noStrike">
                <a:solidFill>
                  <a:srgbClr val="9900FF"/>
                </a:solidFill>
                <a:latin typeface="Arial"/>
                <a:ea typeface="Arial"/>
                <a:cs typeface="Arial"/>
                <a:sym typeface="Arial"/>
              </a:rPr>
              <a:t>1</a:t>
            </a:r>
            <a:endParaRPr b="1" baseline="-25000" i="0" sz="1539" u="none" cap="none" strike="noStrike">
              <a:solidFill>
                <a:srgbClr val="9900FF"/>
              </a:solidFill>
              <a:latin typeface="Arial"/>
              <a:ea typeface="Arial"/>
              <a:cs typeface="Arial"/>
              <a:sym typeface="Arial"/>
            </a:endParaRPr>
          </a:p>
        </p:txBody>
      </p:sp>
      <p:sp>
        <p:nvSpPr>
          <p:cNvPr id="880" name="Google Shape;880;g3fbc1dcd947_0_192"/>
          <p:cNvSpPr/>
          <p:nvPr/>
        </p:nvSpPr>
        <p:spPr>
          <a:xfrm flipH="1">
            <a:off x="7592000" y="3711988"/>
            <a:ext cx="703800" cy="426600"/>
          </a:xfrm>
          <a:prstGeom prst="rtTriangle">
            <a:avLst/>
          </a:prstGeom>
          <a:noFill/>
          <a:ln cap="flat" cmpd="sng" w="26650">
            <a:solidFill>
              <a:srgbClr val="9900FF"/>
            </a:solidFill>
            <a:prstDash val="solid"/>
            <a:round/>
            <a:headEnd len="sm" w="sm" type="none"/>
            <a:tailEnd len="sm" w="sm" type="none"/>
          </a:ln>
        </p:spPr>
        <p:txBody>
          <a:bodyPr anchorCtr="0" anchor="ctr" bIns="63950" lIns="63950" spcFirstLastPara="1" rIns="63950" wrap="square" tIns="63950">
            <a:noAutofit/>
          </a:bodyPr>
          <a:lstStyle/>
          <a:p>
            <a:pPr indent="0" lvl="0" marL="0" marR="0" rtl="0" algn="l">
              <a:lnSpc>
                <a:spcPct val="100000"/>
              </a:lnSpc>
              <a:spcBef>
                <a:spcPts val="0"/>
              </a:spcBef>
              <a:spcAft>
                <a:spcPts val="0"/>
              </a:spcAft>
              <a:buClr>
                <a:srgbClr val="000000"/>
              </a:buClr>
              <a:buSzPts val="979"/>
              <a:buFont typeface="Arial"/>
              <a:buNone/>
            </a:pPr>
            <a:r>
              <a:t/>
            </a:r>
            <a:endParaRPr b="0" i="0" sz="979" u="none" cap="none" strike="noStrike">
              <a:solidFill>
                <a:srgbClr val="000000"/>
              </a:solidFill>
              <a:latin typeface="Arial"/>
              <a:ea typeface="Arial"/>
              <a:cs typeface="Arial"/>
              <a:sym typeface="Arial"/>
            </a:endParaRPr>
          </a:p>
        </p:txBody>
      </p:sp>
      <p:sp>
        <p:nvSpPr>
          <p:cNvPr id="881" name="Google Shape;881;g3fbc1dcd947_0_192"/>
          <p:cNvSpPr txBox="1"/>
          <p:nvPr/>
        </p:nvSpPr>
        <p:spPr>
          <a:xfrm>
            <a:off x="8295809" y="3735749"/>
            <a:ext cx="333300" cy="366000"/>
          </a:xfrm>
          <a:prstGeom prst="rect">
            <a:avLst/>
          </a:prstGeom>
          <a:noFill/>
          <a:ln>
            <a:noFill/>
          </a:ln>
        </p:spPr>
        <p:txBody>
          <a:bodyPr anchorCtr="0" anchor="t" bIns="63950" lIns="63950" spcFirstLastPara="1" rIns="63950" wrap="square" tIns="63950">
            <a:spAutoFit/>
          </a:bodyPr>
          <a:lstStyle/>
          <a:p>
            <a:pPr indent="0" lvl="0" marL="0" marR="0" rtl="0" algn="l">
              <a:lnSpc>
                <a:spcPct val="100000"/>
              </a:lnSpc>
              <a:spcBef>
                <a:spcPts val="0"/>
              </a:spcBef>
              <a:spcAft>
                <a:spcPts val="0"/>
              </a:spcAft>
              <a:buClr>
                <a:srgbClr val="000000"/>
              </a:buClr>
              <a:buSzPts val="1539"/>
              <a:buFont typeface="Arial"/>
              <a:buNone/>
            </a:pPr>
            <a:r>
              <a:rPr b="1" i="0" lang="pt-BR" sz="1539" u="none" cap="none" strike="noStrike">
                <a:solidFill>
                  <a:srgbClr val="9900FF"/>
                </a:solidFill>
                <a:latin typeface="Arial"/>
                <a:ea typeface="Arial"/>
                <a:cs typeface="Arial"/>
                <a:sym typeface="Arial"/>
              </a:rPr>
              <a:t>β</a:t>
            </a:r>
            <a:r>
              <a:rPr b="1" baseline="-25000" i="0" lang="pt-BR" sz="1539" u="none" cap="none" strike="noStrike">
                <a:solidFill>
                  <a:srgbClr val="9900FF"/>
                </a:solidFill>
                <a:latin typeface="Arial"/>
                <a:ea typeface="Arial"/>
                <a:cs typeface="Arial"/>
                <a:sym typeface="Arial"/>
              </a:rPr>
              <a:t>1</a:t>
            </a:r>
            <a:endParaRPr b="1" baseline="-25000" i="0" sz="1539" u="none" cap="none" strike="noStrike">
              <a:solidFill>
                <a:srgbClr val="9900FF"/>
              </a:solidFill>
              <a:latin typeface="Arial"/>
              <a:ea typeface="Arial"/>
              <a:cs typeface="Arial"/>
              <a:sym typeface="Arial"/>
            </a:endParaRPr>
          </a:p>
        </p:txBody>
      </p:sp>
      <p:pic>
        <p:nvPicPr>
          <p:cNvPr id="882" name="Google Shape;882;g3fbc1dcd947_0_192"/>
          <p:cNvPicPr preferRelativeResize="0"/>
          <p:nvPr/>
        </p:nvPicPr>
        <p:blipFill>
          <a:blip r:embed="rId6">
            <a:alphaModFix/>
          </a:blip>
          <a:stretch>
            <a:fillRect/>
          </a:stretch>
        </p:blipFill>
        <p:spPr>
          <a:xfrm flipH="1">
            <a:off x="390247" y="1185987"/>
            <a:ext cx="2784000" cy="1850925"/>
          </a:xfrm>
          <a:prstGeom prst="rect">
            <a:avLst/>
          </a:prstGeom>
          <a:noFill/>
          <a:ln>
            <a:noFill/>
          </a:ln>
        </p:spPr>
      </p:pic>
      <p:sp>
        <p:nvSpPr>
          <p:cNvPr id="883" name="Google Shape;883;g3fbc1dcd947_0_192"/>
          <p:cNvSpPr txBox="1"/>
          <p:nvPr>
            <p:ph type="title"/>
          </p:nvPr>
        </p:nvSpPr>
        <p:spPr>
          <a:xfrm>
            <a:off x="311700" y="46950"/>
            <a:ext cx="3673200" cy="10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Slope and Weight</a:t>
            </a:r>
            <a:endParaRPr sz="2600"/>
          </a:p>
          <a:p>
            <a:pPr indent="0" lvl="0" marL="0" rtl="0" algn="l">
              <a:spcBef>
                <a:spcPts val="0"/>
              </a:spcBef>
              <a:spcAft>
                <a:spcPts val="0"/>
              </a:spcAft>
              <a:buNone/>
            </a:pPr>
            <a:r>
              <a:rPr lang="pt-BR" sz="2000"/>
              <a:t>Which is the most powerful engine?</a:t>
            </a:r>
            <a:endParaRPr sz="20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fbc1dcd947_0_4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Slope and Weight</a:t>
            </a:r>
            <a:endParaRPr/>
          </a:p>
        </p:txBody>
      </p:sp>
      <p:pic>
        <p:nvPicPr>
          <p:cNvPr id="889" name="Google Shape;889;g3fbc1dcd947_0_493"/>
          <p:cNvPicPr preferRelativeResize="0"/>
          <p:nvPr/>
        </p:nvPicPr>
        <p:blipFill rotWithShape="1">
          <a:blip r:embed="rId3">
            <a:alphaModFix/>
          </a:blip>
          <a:srcRect b="0" l="0" r="0" t="0"/>
          <a:stretch/>
        </p:blipFill>
        <p:spPr>
          <a:xfrm>
            <a:off x="1329100" y="1097350"/>
            <a:ext cx="6935979" cy="3820975"/>
          </a:xfrm>
          <a:prstGeom prst="rect">
            <a:avLst/>
          </a:prstGeom>
          <a:noFill/>
          <a:ln>
            <a:noFill/>
          </a:ln>
        </p:spPr>
      </p:pic>
      <p:sp>
        <p:nvSpPr>
          <p:cNvPr id="890" name="Google Shape;890;g3fbc1dcd947_0_493"/>
          <p:cNvSpPr txBox="1"/>
          <p:nvPr/>
        </p:nvSpPr>
        <p:spPr>
          <a:xfrm>
            <a:off x="6536875" y="4506525"/>
            <a:ext cx="239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(James et al., 2000)</a:t>
            </a:r>
            <a:endParaRPr sz="1800">
              <a:solidFill>
                <a:srgbClr val="434343"/>
              </a:solidFill>
              <a:latin typeface="Comfortaa"/>
              <a:ea typeface="Comfortaa"/>
              <a:cs typeface="Comfortaa"/>
              <a:sym typeface="Comfortaa"/>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fbc1dcd947_0_48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Logistic Regression</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fbc1dcd947_0_563"/>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Logistic Regression</a:t>
            </a:r>
            <a:endParaRPr/>
          </a:p>
        </p:txBody>
      </p:sp>
      <p:sp>
        <p:nvSpPr>
          <p:cNvPr id="901" name="Google Shape;901;g3fbc1dcd947_0_563"/>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419100" lvl="0" marL="457200" rtl="0" algn="l">
              <a:spcBef>
                <a:spcPts val="0"/>
              </a:spcBef>
              <a:spcAft>
                <a:spcPts val="0"/>
              </a:spcAft>
              <a:buSzPts val="3000"/>
              <a:buChar char="●"/>
            </a:pPr>
            <a:r>
              <a:rPr lang="pt-BR"/>
              <a:t>Important analytic tool in natural and social sciences</a:t>
            </a:r>
            <a:endParaRPr/>
          </a:p>
          <a:p>
            <a:pPr indent="-419100" lvl="0" marL="457200" rtl="0" algn="l">
              <a:spcBef>
                <a:spcPts val="0"/>
              </a:spcBef>
              <a:spcAft>
                <a:spcPts val="0"/>
              </a:spcAft>
              <a:buSzPts val="3000"/>
              <a:buChar char="●"/>
            </a:pPr>
            <a:r>
              <a:rPr lang="pt-BR"/>
              <a:t>Baseline supervised machine learning tool for classification</a:t>
            </a:r>
            <a:endParaRPr/>
          </a:p>
          <a:p>
            <a:pPr indent="-419100" lvl="0" marL="457200" rtl="0" algn="l">
              <a:spcBef>
                <a:spcPts val="0"/>
              </a:spcBef>
              <a:spcAft>
                <a:spcPts val="0"/>
              </a:spcAft>
              <a:buSzPts val="3000"/>
              <a:buChar char="●"/>
            </a:pPr>
            <a:r>
              <a:rPr lang="pt-BR"/>
              <a:t>Is also the foundation of neural networks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g3fbc1dcd947_0_549"/>
          <p:cNvPicPr preferRelativeResize="0"/>
          <p:nvPr/>
        </p:nvPicPr>
        <p:blipFill>
          <a:blip r:embed="rId3">
            <a:alphaModFix/>
          </a:blip>
          <a:stretch>
            <a:fillRect/>
          </a:stretch>
        </p:blipFill>
        <p:spPr>
          <a:xfrm>
            <a:off x="4510825" y="1067750"/>
            <a:ext cx="4419041" cy="3820975"/>
          </a:xfrm>
          <a:prstGeom prst="rect">
            <a:avLst/>
          </a:prstGeom>
          <a:noFill/>
          <a:ln>
            <a:noFill/>
          </a:ln>
        </p:spPr>
      </p:pic>
      <p:sp>
        <p:nvSpPr>
          <p:cNvPr id="907" name="Google Shape;907;g3fbc1dcd947_0_5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Logistic Regression</a:t>
            </a:r>
            <a:endParaRPr/>
          </a:p>
        </p:txBody>
      </p:sp>
      <p:sp>
        <p:nvSpPr>
          <p:cNvPr id="908" name="Google Shape;908;g3fbc1dcd947_0_549"/>
          <p:cNvSpPr/>
          <p:nvPr/>
        </p:nvSpPr>
        <p:spPr>
          <a:xfrm>
            <a:off x="4880525" y="1173850"/>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sp>
        <p:nvSpPr>
          <p:cNvPr id="909" name="Google Shape;909;g3fbc1dcd947_0_549"/>
          <p:cNvSpPr txBox="1"/>
          <p:nvPr>
            <p:ph idx="1" type="body"/>
          </p:nvPr>
        </p:nvSpPr>
        <p:spPr>
          <a:xfrm>
            <a:off x="311700" y="1152475"/>
            <a:ext cx="3948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The sigmoid curve that best classifies the data.</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fbc1dcd947_0_15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Logistic Regression in Orange</a:t>
            </a:r>
            <a:endParaRPr/>
          </a:p>
        </p:txBody>
      </p:sp>
      <p:sp>
        <p:nvSpPr>
          <p:cNvPr id="915" name="Google Shape;915;g3fbc1dcd947_0_15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1300" u="sng">
                <a:solidFill>
                  <a:schemeClr val="lt2"/>
                </a:solidFill>
                <a:hlinkClick r:id="rId3">
                  <a:extLst>
                    <a:ext uri="{A12FA001-AC4F-418D-AE19-62706E023703}">
                      <ahyp:hlinkClr val="tx"/>
                    </a:ext>
                  </a:extLst>
                </a:hlinkClick>
              </a:rPr>
              <a:t>https://github.com/santanche/nlp2learn/tree/main/machine-learning/logistic-regression</a:t>
            </a:r>
            <a:endParaRPr sz="1300">
              <a:solidFill>
                <a:schemeClr val="lt2"/>
              </a:solidFill>
            </a:endParaRPr>
          </a:p>
        </p:txBody>
      </p:sp>
      <p:pic>
        <p:nvPicPr>
          <p:cNvPr id="916" name="Google Shape;916;g3fbc1dcd947_0_1541"/>
          <p:cNvPicPr preferRelativeResize="0"/>
          <p:nvPr/>
        </p:nvPicPr>
        <p:blipFill>
          <a:blip r:embed="rId4">
            <a:alphaModFix/>
          </a:blip>
          <a:stretch>
            <a:fillRect/>
          </a:stretch>
        </p:blipFill>
        <p:spPr>
          <a:xfrm>
            <a:off x="4727925" y="1210862"/>
            <a:ext cx="4291800" cy="27217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pic>
        <p:nvPicPr>
          <p:cNvPr id="921" name="Google Shape;921;g3fbc1dcd947_0_1547"/>
          <p:cNvPicPr preferRelativeResize="0"/>
          <p:nvPr/>
        </p:nvPicPr>
        <p:blipFill>
          <a:blip r:embed="rId3">
            <a:alphaModFix/>
          </a:blip>
          <a:stretch>
            <a:fillRect/>
          </a:stretch>
        </p:blipFill>
        <p:spPr>
          <a:xfrm>
            <a:off x="1356249" y="176825"/>
            <a:ext cx="7591325" cy="4814275"/>
          </a:xfrm>
          <a:prstGeom prst="rect">
            <a:avLst/>
          </a:prstGeom>
          <a:noFill/>
          <a:ln>
            <a:noFill/>
          </a:ln>
        </p:spPr>
      </p:pic>
      <p:sp>
        <p:nvSpPr>
          <p:cNvPr id="922" name="Google Shape;922;g3fbc1dcd947_0_1547"/>
          <p:cNvSpPr txBox="1"/>
          <p:nvPr>
            <p:ph type="title"/>
          </p:nvPr>
        </p:nvSpPr>
        <p:spPr>
          <a:xfrm>
            <a:off x="404300" y="4183450"/>
            <a:ext cx="211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Orange</a:t>
            </a:r>
            <a:endParaRPr/>
          </a:p>
        </p:txBody>
      </p:sp>
      <p:sp>
        <p:nvSpPr>
          <p:cNvPr id="923" name="Google Shape;923;g3fbc1dcd947_0_1547"/>
          <p:cNvSpPr/>
          <p:nvPr/>
        </p:nvSpPr>
        <p:spPr>
          <a:xfrm>
            <a:off x="2938550" y="92625"/>
            <a:ext cx="6112800" cy="24165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g3fbc1dcd947_0_15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Removing Biological</a:t>
            </a:r>
            <a:endParaRPr/>
          </a:p>
        </p:txBody>
      </p:sp>
      <p:sp>
        <p:nvSpPr>
          <p:cNvPr id="929" name="Google Shape;929;g3fbc1dcd947_0_1553"/>
          <p:cNvSpPr txBox="1"/>
          <p:nvPr/>
        </p:nvSpPr>
        <p:spPr>
          <a:xfrm>
            <a:off x="476375" y="1830400"/>
            <a:ext cx="3113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GBC</a:t>
            </a:r>
            <a:r>
              <a:rPr b="0" i="0" lang="pt-BR" sz="1800" u="none" cap="none" strike="noStrike">
                <a:solidFill>
                  <a:schemeClr val="dk2"/>
                </a:solidFill>
                <a:latin typeface="Arial"/>
                <a:ea typeface="Arial"/>
                <a:cs typeface="Arial"/>
                <a:sym typeface="Arial"/>
              </a:rPr>
              <a:t> - Green Blood Cells</a:t>
            </a:r>
            <a:endParaRPr b="0" i="0" sz="1400" u="none" cap="none" strike="noStrike">
              <a:solidFill>
                <a:srgbClr val="000000"/>
              </a:solidFill>
              <a:latin typeface="Arial"/>
              <a:ea typeface="Arial"/>
              <a:cs typeface="Arial"/>
              <a:sym typeface="Arial"/>
            </a:endParaRPr>
          </a:p>
        </p:txBody>
      </p:sp>
      <p:sp>
        <p:nvSpPr>
          <p:cNvPr id="930" name="Google Shape;930;g3fbc1dcd947_0_1553"/>
          <p:cNvSpPr txBox="1"/>
          <p:nvPr/>
        </p:nvSpPr>
        <p:spPr>
          <a:xfrm>
            <a:off x="476375" y="28590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GS</a:t>
            </a:r>
            <a:r>
              <a:rPr b="0" i="0" lang="pt-BR" sz="1800" u="none" cap="none" strike="noStrike">
                <a:solidFill>
                  <a:schemeClr val="dk2"/>
                </a:solidFill>
                <a:latin typeface="Arial"/>
                <a:ea typeface="Arial"/>
                <a:cs typeface="Arial"/>
                <a:sym typeface="Arial"/>
              </a:rPr>
              <a:t> - Green Substance</a:t>
            </a:r>
            <a:endParaRPr b="0" i="0" sz="1400" u="none" cap="none" strike="noStrike">
              <a:solidFill>
                <a:srgbClr val="000000"/>
              </a:solidFill>
              <a:latin typeface="Arial"/>
              <a:ea typeface="Arial"/>
              <a:cs typeface="Arial"/>
              <a:sym typeface="Arial"/>
            </a:endParaRPr>
          </a:p>
        </p:txBody>
      </p:sp>
      <p:pic>
        <p:nvPicPr>
          <p:cNvPr id="931" name="Google Shape;931;g3fbc1dcd947_0_1553"/>
          <p:cNvPicPr preferRelativeResize="0"/>
          <p:nvPr/>
        </p:nvPicPr>
        <p:blipFill rotWithShape="1">
          <a:blip r:embed="rId3">
            <a:alphaModFix/>
          </a:blip>
          <a:srcRect b="0" l="0" r="0" t="0"/>
          <a:stretch/>
        </p:blipFill>
        <p:spPr>
          <a:xfrm>
            <a:off x="1566875" y="3303675"/>
            <a:ext cx="646075" cy="722350"/>
          </a:xfrm>
          <a:prstGeom prst="rect">
            <a:avLst/>
          </a:prstGeom>
          <a:noFill/>
          <a:ln>
            <a:noFill/>
          </a:ln>
        </p:spPr>
      </p:pic>
      <p:pic>
        <p:nvPicPr>
          <p:cNvPr id="932" name="Google Shape;932;g3fbc1dcd947_0_1553"/>
          <p:cNvPicPr preferRelativeResize="0"/>
          <p:nvPr/>
        </p:nvPicPr>
        <p:blipFill rotWithShape="1">
          <a:blip r:embed="rId4">
            <a:alphaModFix/>
          </a:blip>
          <a:srcRect b="0" l="0" r="0" t="0"/>
          <a:stretch/>
        </p:blipFill>
        <p:spPr>
          <a:xfrm>
            <a:off x="1391475" y="2292092"/>
            <a:ext cx="1039100" cy="530382"/>
          </a:xfrm>
          <a:prstGeom prst="rect">
            <a:avLst/>
          </a:prstGeom>
          <a:noFill/>
          <a:ln>
            <a:noFill/>
          </a:ln>
        </p:spPr>
      </p:pic>
      <p:pic>
        <p:nvPicPr>
          <p:cNvPr id="933" name="Google Shape;933;g3fbc1dcd947_0_1553"/>
          <p:cNvPicPr preferRelativeResize="0"/>
          <p:nvPr/>
        </p:nvPicPr>
        <p:blipFill>
          <a:blip r:embed="rId5">
            <a:alphaModFix/>
          </a:blip>
          <a:stretch>
            <a:fillRect/>
          </a:stretch>
        </p:blipFill>
        <p:spPr>
          <a:xfrm>
            <a:off x="3742475" y="1170125"/>
            <a:ext cx="4419041" cy="38209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g3fbc1dcd947_0_15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GBC x Desired Classification</a:t>
            </a:r>
            <a:endParaRPr/>
          </a:p>
        </p:txBody>
      </p:sp>
      <p:sp>
        <p:nvSpPr>
          <p:cNvPr id="939" name="Google Shape;939;g3fbc1dcd947_0_1562"/>
          <p:cNvSpPr txBox="1"/>
          <p:nvPr/>
        </p:nvSpPr>
        <p:spPr>
          <a:xfrm>
            <a:off x="352100" y="1167625"/>
            <a:ext cx="3113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GBC</a:t>
            </a:r>
            <a:r>
              <a:rPr b="0" i="0" lang="pt-BR" sz="1800" u="none" cap="none" strike="noStrike">
                <a:solidFill>
                  <a:schemeClr val="dk2"/>
                </a:solidFill>
                <a:latin typeface="Arial"/>
                <a:ea typeface="Arial"/>
                <a:cs typeface="Arial"/>
                <a:sym typeface="Arial"/>
              </a:rPr>
              <a:t> - Green Blood Cells</a:t>
            </a:r>
            <a:endParaRPr b="0" i="0" sz="1400" u="none" cap="none" strike="noStrike">
              <a:solidFill>
                <a:srgbClr val="000000"/>
              </a:solidFill>
              <a:latin typeface="Arial"/>
              <a:ea typeface="Arial"/>
              <a:cs typeface="Arial"/>
              <a:sym typeface="Arial"/>
            </a:endParaRPr>
          </a:p>
        </p:txBody>
      </p:sp>
      <p:pic>
        <p:nvPicPr>
          <p:cNvPr id="940" name="Google Shape;940;g3fbc1dcd947_0_1562"/>
          <p:cNvPicPr preferRelativeResize="0"/>
          <p:nvPr/>
        </p:nvPicPr>
        <p:blipFill rotWithShape="1">
          <a:blip r:embed="rId3">
            <a:alphaModFix/>
          </a:blip>
          <a:srcRect b="0" l="0" r="0" t="0"/>
          <a:stretch/>
        </p:blipFill>
        <p:spPr>
          <a:xfrm>
            <a:off x="1267200" y="1629317"/>
            <a:ext cx="1039100" cy="530382"/>
          </a:xfrm>
          <a:prstGeom prst="rect">
            <a:avLst/>
          </a:prstGeom>
          <a:noFill/>
          <a:ln>
            <a:noFill/>
          </a:ln>
        </p:spPr>
      </p:pic>
      <p:sp>
        <p:nvSpPr>
          <p:cNvPr id="941" name="Google Shape;941;g3fbc1dcd947_0_1562"/>
          <p:cNvSpPr/>
          <p:nvPr/>
        </p:nvSpPr>
        <p:spPr>
          <a:xfrm>
            <a:off x="3473076" y="1170125"/>
            <a:ext cx="269400" cy="38211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g3fbc1dcd947_0_1562"/>
          <p:cNvSpPr txBox="1"/>
          <p:nvPr/>
        </p:nvSpPr>
        <p:spPr>
          <a:xfrm>
            <a:off x="1267200" y="2880575"/>
            <a:ext cx="219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pt-BR">
                <a:solidFill>
                  <a:srgbClr val="0000FF"/>
                </a:solidFill>
              </a:rPr>
              <a:t>Desired Classification</a:t>
            </a:r>
            <a:endParaRPr b="1" i="0" sz="1400" u="none" cap="none" strike="noStrike">
              <a:solidFill>
                <a:srgbClr val="0000FF"/>
              </a:solidFill>
              <a:latin typeface="Arial"/>
              <a:ea typeface="Arial"/>
              <a:cs typeface="Arial"/>
              <a:sym typeface="Arial"/>
            </a:endParaRPr>
          </a:p>
        </p:txBody>
      </p:sp>
      <p:pic>
        <p:nvPicPr>
          <p:cNvPr id="943" name="Google Shape;943;g3fbc1dcd947_0_1562"/>
          <p:cNvPicPr preferRelativeResize="0"/>
          <p:nvPr/>
        </p:nvPicPr>
        <p:blipFill>
          <a:blip r:embed="rId4">
            <a:alphaModFix/>
          </a:blip>
          <a:stretch>
            <a:fillRect/>
          </a:stretch>
        </p:blipFill>
        <p:spPr>
          <a:xfrm>
            <a:off x="3742475" y="1170125"/>
            <a:ext cx="4419041" cy="382097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pic>
        <p:nvPicPr>
          <p:cNvPr id="948" name="Google Shape;948;g3fbc1dcd947_0_1571"/>
          <p:cNvPicPr preferRelativeResize="0"/>
          <p:nvPr/>
        </p:nvPicPr>
        <p:blipFill>
          <a:blip r:embed="rId3">
            <a:alphaModFix/>
          </a:blip>
          <a:stretch>
            <a:fillRect/>
          </a:stretch>
        </p:blipFill>
        <p:spPr>
          <a:xfrm>
            <a:off x="3611100" y="1019975"/>
            <a:ext cx="4445301" cy="3843700"/>
          </a:xfrm>
          <a:prstGeom prst="rect">
            <a:avLst/>
          </a:prstGeom>
          <a:noFill/>
          <a:ln>
            <a:noFill/>
          </a:ln>
        </p:spPr>
      </p:pic>
      <p:sp>
        <p:nvSpPr>
          <p:cNvPr id="949" name="Google Shape;949;g3fbc1dcd947_0_1571"/>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Linear Regression?</a:t>
            </a:r>
            <a:endParaRPr/>
          </a:p>
        </p:txBody>
      </p:sp>
      <p:sp>
        <p:nvSpPr>
          <p:cNvPr id="950" name="Google Shape;950;g3fbc1dcd947_0_1571"/>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g3fbc1dcd947_0_1571"/>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cxnSp>
        <p:nvCxnSpPr>
          <p:cNvPr id="952" name="Google Shape;952;g3fbc1dcd947_0_1571"/>
          <p:cNvCxnSpPr/>
          <p:nvPr/>
        </p:nvCxnSpPr>
        <p:spPr>
          <a:xfrm flipH="1" rot="10800000">
            <a:off x="4425475" y="1007950"/>
            <a:ext cx="2777400" cy="3555600"/>
          </a:xfrm>
          <a:prstGeom prst="straightConnector1">
            <a:avLst/>
          </a:prstGeom>
          <a:noFill/>
          <a:ln cap="flat" cmpd="sng" w="38100">
            <a:solidFill>
              <a:srgbClr val="000000"/>
            </a:solidFill>
            <a:prstDash val="solid"/>
            <a:round/>
            <a:headEnd len="sm" w="sm" type="none"/>
            <a:tailEnd len="sm" w="sm" type="none"/>
          </a:ln>
        </p:spPr>
      </p:cxnSp>
      <p:pic>
        <p:nvPicPr>
          <p:cNvPr descr="{&quot;type&quot;:&quot;$&quot;,&quot;font&quot;:{&quot;size&quot;:24,&quot;family&quot;:&quot;Arial&quot;,&quot;color&quot;:&quot;#595959&quot;},&quot;aid&quot;:null,&quot;backgroundColorModified&quot;:false,&quot;id&quot;:&quot;1&quot;,&quot;backgroundColor&quot;:&quot;#ffffff&quot;,&quot;code&quot;:&quot;$p\\left(X\\right)=\\beta_{0}+\\beta _{1}X$&quot;,&quot;ts&quot;:1620928031488,&quot;cs&quot;:&quot;t8LEpJjFwKBqEjKBLQ7btw==&quot;,&quot;size&quot;:{&quot;width&quot;:278,&quot;height&quot;:37}}" id="953" name="Google Shape;953;g3fbc1dcd947_0_1571"/>
          <p:cNvPicPr preferRelativeResize="0"/>
          <p:nvPr/>
        </p:nvPicPr>
        <p:blipFill rotWithShape="1">
          <a:blip r:embed="rId4">
            <a:alphaModFix/>
          </a:blip>
          <a:srcRect b="0" l="0" r="0" t="0"/>
          <a:stretch/>
        </p:blipFill>
        <p:spPr>
          <a:xfrm>
            <a:off x="518014" y="1402298"/>
            <a:ext cx="2647950" cy="352425"/>
          </a:xfrm>
          <a:prstGeom prst="rect">
            <a:avLst/>
          </a:prstGeom>
          <a:noFill/>
          <a:ln>
            <a:noFill/>
          </a:ln>
        </p:spPr>
      </p:pic>
      <p:sp>
        <p:nvSpPr>
          <p:cNvPr id="954" name="Google Shape;954;g3fbc1dcd947_0_1571"/>
          <p:cNvSpPr/>
          <p:nvPr/>
        </p:nvSpPr>
        <p:spPr>
          <a:xfrm>
            <a:off x="6634950" y="745600"/>
            <a:ext cx="1118400" cy="6903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g3fbc1dcd947_0_1571"/>
          <p:cNvSpPr/>
          <p:nvPr/>
        </p:nvSpPr>
        <p:spPr>
          <a:xfrm>
            <a:off x="3866225" y="4136025"/>
            <a:ext cx="1180500" cy="6903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g3fbc1dcd947_0_1571"/>
          <p:cNvSpPr txBox="1"/>
          <p:nvPr/>
        </p:nvSpPr>
        <p:spPr>
          <a:xfrm>
            <a:off x="7018250" y="363750"/>
            <a:ext cx="98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pt-BR">
                <a:solidFill>
                  <a:srgbClr val="9900FF"/>
                </a:solidFill>
              </a:rPr>
              <a:t>above 1</a:t>
            </a:r>
            <a:r>
              <a:rPr b="1" i="0" lang="pt-BR" sz="1400" u="none" cap="none" strike="noStrike">
                <a:solidFill>
                  <a:srgbClr val="9900FF"/>
                </a:solidFill>
                <a:latin typeface="Arial"/>
                <a:ea typeface="Arial"/>
                <a:cs typeface="Arial"/>
                <a:sym typeface="Arial"/>
              </a:rPr>
              <a:t>?</a:t>
            </a:r>
            <a:endParaRPr b="1" i="0" sz="1400" u="none" cap="none" strike="noStrike">
              <a:solidFill>
                <a:srgbClr val="9900FF"/>
              </a:solidFill>
              <a:latin typeface="Arial"/>
              <a:ea typeface="Arial"/>
              <a:cs typeface="Arial"/>
              <a:sym typeface="Arial"/>
            </a:endParaRPr>
          </a:p>
        </p:txBody>
      </p:sp>
      <p:sp>
        <p:nvSpPr>
          <p:cNvPr id="957" name="Google Shape;957;g3fbc1dcd947_0_1571"/>
          <p:cNvSpPr txBox="1"/>
          <p:nvPr/>
        </p:nvSpPr>
        <p:spPr>
          <a:xfrm>
            <a:off x="2623525" y="4577425"/>
            <a:ext cx="136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pt-BR">
                <a:solidFill>
                  <a:srgbClr val="9900FF"/>
                </a:solidFill>
              </a:rPr>
              <a:t>below</a:t>
            </a:r>
            <a:r>
              <a:rPr b="1" i="0" lang="pt-BR" sz="1400" u="none" cap="none" strike="noStrike">
                <a:solidFill>
                  <a:srgbClr val="9900FF"/>
                </a:solidFill>
                <a:latin typeface="Arial"/>
                <a:ea typeface="Arial"/>
                <a:cs typeface="Arial"/>
                <a:sym typeface="Arial"/>
              </a:rPr>
              <a:t> 0?</a:t>
            </a:r>
            <a:endParaRPr b="1" i="0" sz="1400" u="none" cap="none" strike="noStrike">
              <a:solidFill>
                <a:srgbClr val="9900FF"/>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fbc1dcd947_0_15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pt-BR"/>
              <a:t>Logit Function</a:t>
            </a:r>
            <a:endParaRPr/>
          </a:p>
        </p:txBody>
      </p:sp>
      <p:pic>
        <p:nvPicPr>
          <p:cNvPr id="963" name="Google Shape;963;g3fbc1dcd947_0_1584"/>
          <p:cNvPicPr preferRelativeResize="0"/>
          <p:nvPr/>
        </p:nvPicPr>
        <p:blipFill rotWithShape="1">
          <a:blip r:embed="rId3">
            <a:alphaModFix/>
          </a:blip>
          <a:srcRect b="0" l="0" r="0" t="0"/>
          <a:stretch/>
        </p:blipFill>
        <p:spPr>
          <a:xfrm>
            <a:off x="3779075" y="1279025"/>
            <a:ext cx="5053224" cy="3289850"/>
          </a:xfrm>
          <a:prstGeom prst="rect">
            <a:avLst/>
          </a:prstGeom>
          <a:noFill/>
          <a:ln>
            <a:noFill/>
          </a:ln>
        </p:spPr>
      </p:pic>
      <p:sp>
        <p:nvSpPr>
          <p:cNvPr id="964" name="Google Shape;964;g3fbc1dcd947_0_1584"/>
          <p:cNvSpPr txBox="1"/>
          <p:nvPr>
            <p:ph idx="1" type="body"/>
          </p:nvPr>
        </p:nvSpPr>
        <p:spPr>
          <a:xfrm>
            <a:off x="311700" y="1152475"/>
            <a:ext cx="3467400" cy="38205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pt-BR" sz="2300"/>
              <a:t>Log-odds = logarithm of odds</a:t>
            </a:r>
            <a:endParaRPr sz="2300"/>
          </a:p>
          <a:p>
            <a:pPr indent="0" lvl="0" marL="457200" rtl="0" algn="l">
              <a:lnSpc>
                <a:spcPct val="115000"/>
              </a:lnSpc>
              <a:spcBef>
                <a:spcPts val="1600"/>
              </a:spcBef>
              <a:spcAft>
                <a:spcPts val="0"/>
              </a:spcAft>
              <a:buSzPts val="2400"/>
              <a:buNone/>
            </a:pPr>
            <a:r>
              <a:t/>
            </a:r>
            <a:endParaRPr sz="2300"/>
          </a:p>
          <a:p>
            <a:pPr indent="0" lvl="0" marL="457200" rtl="0" algn="l">
              <a:lnSpc>
                <a:spcPct val="115000"/>
              </a:lnSpc>
              <a:spcBef>
                <a:spcPts val="0"/>
              </a:spcBef>
              <a:spcAft>
                <a:spcPts val="0"/>
              </a:spcAft>
              <a:buNone/>
            </a:pPr>
            <a:r>
              <a:t/>
            </a:r>
            <a:endParaRPr sz="2300"/>
          </a:p>
          <a:p>
            <a:pPr indent="-336550" lvl="0" marL="457200" rtl="0" algn="l">
              <a:lnSpc>
                <a:spcPct val="115000"/>
              </a:lnSpc>
              <a:spcBef>
                <a:spcPts val="0"/>
              </a:spcBef>
              <a:spcAft>
                <a:spcPts val="0"/>
              </a:spcAft>
              <a:buSzPts val="1700"/>
              <a:buChar char="●"/>
            </a:pPr>
            <a:r>
              <a:rPr lang="pt-BR" sz="2300"/>
              <a:t>Maps probability:</a:t>
            </a:r>
            <a:endParaRPr sz="2300"/>
          </a:p>
          <a:p>
            <a:pPr indent="-336550" lvl="1" marL="914400" rtl="0" algn="l">
              <a:lnSpc>
                <a:spcPct val="115000"/>
              </a:lnSpc>
              <a:spcBef>
                <a:spcPts val="0"/>
              </a:spcBef>
              <a:spcAft>
                <a:spcPts val="0"/>
              </a:spcAft>
              <a:buSzPts val="1700"/>
              <a:buChar char="○"/>
            </a:pPr>
            <a:r>
              <a:rPr lang="pt-BR" sz="2300"/>
              <a:t>from (0, 1)</a:t>
            </a:r>
            <a:endParaRPr sz="2300"/>
          </a:p>
          <a:p>
            <a:pPr indent="-336550" lvl="1" marL="914400" rtl="0" algn="l">
              <a:lnSpc>
                <a:spcPct val="115000"/>
              </a:lnSpc>
              <a:spcBef>
                <a:spcPts val="0"/>
              </a:spcBef>
              <a:spcAft>
                <a:spcPts val="0"/>
              </a:spcAft>
              <a:buSzPts val="1700"/>
              <a:buChar char="○"/>
            </a:pPr>
            <a:r>
              <a:rPr lang="pt-BR" sz="2300"/>
              <a:t>to (-∞, +∞)</a:t>
            </a:r>
            <a:endParaRPr sz="2300"/>
          </a:p>
        </p:txBody>
      </p:sp>
      <p:pic>
        <p:nvPicPr>
          <p:cNvPr descr="{&quot;font&quot;:{&quot;size&quot;:24,&quot;color&quot;:&quot;#595959&quot;,&quot;family&quot;:&quot;Arial&quot;},&quot;id&quot;:&quot;1&quot;,&quot;type&quot;:&quot;$&quot;,&quot;aid&quot;:null,&quot;code&quot;:&quot;$logit\\left(p\\right)=\\log_{}\\left(\\frac{p}{1-p}\\right)$&quot;,&quot;backgroundColor&quot;:&quot;#ffffff&quot;,&quot;backgroundColorModified&quot;:false,&quot;ts&quot;:1620929339087,&quot;cs&quot;:&quot;i5zW9g/hcycl9e+hgnLaGA==&quot;,&quot;size&quot;:{&quot;width&quot;:325.25,&quot;height&quot;:67}}" id="965" name="Google Shape;965;g3fbc1dcd947_0_1584"/>
          <p:cNvPicPr preferRelativeResize="0"/>
          <p:nvPr/>
        </p:nvPicPr>
        <p:blipFill rotWithShape="1">
          <a:blip r:embed="rId4">
            <a:alphaModFix/>
          </a:blip>
          <a:srcRect b="0" l="0" r="0" t="0"/>
          <a:stretch/>
        </p:blipFill>
        <p:spPr>
          <a:xfrm>
            <a:off x="496400" y="2129875"/>
            <a:ext cx="3098006" cy="63817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pic>
        <p:nvPicPr>
          <p:cNvPr id="970" name="Google Shape;970;g3fbc1dcd947_0_1591"/>
          <p:cNvPicPr preferRelativeResize="0"/>
          <p:nvPr/>
        </p:nvPicPr>
        <p:blipFill>
          <a:blip r:embed="rId3">
            <a:alphaModFix/>
          </a:blip>
          <a:stretch>
            <a:fillRect/>
          </a:stretch>
        </p:blipFill>
        <p:spPr>
          <a:xfrm>
            <a:off x="3611100" y="1019975"/>
            <a:ext cx="4445301" cy="3843700"/>
          </a:xfrm>
          <a:prstGeom prst="rect">
            <a:avLst/>
          </a:prstGeom>
          <a:noFill/>
          <a:ln>
            <a:noFill/>
          </a:ln>
        </p:spPr>
      </p:pic>
      <p:sp>
        <p:nvSpPr>
          <p:cNvPr id="971" name="Google Shape;971;g3fbc1dcd947_0_1591"/>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Linear Regression?</a:t>
            </a:r>
            <a:endParaRPr/>
          </a:p>
        </p:txBody>
      </p:sp>
      <p:sp>
        <p:nvSpPr>
          <p:cNvPr id="972" name="Google Shape;972;g3fbc1dcd947_0_1591"/>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3fbc1dcd947_0_1591"/>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cxnSp>
        <p:nvCxnSpPr>
          <p:cNvPr id="974" name="Google Shape;974;g3fbc1dcd947_0_1591"/>
          <p:cNvCxnSpPr/>
          <p:nvPr/>
        </p:nvCxnSpPr>
        <p:spPr>
          <a:xfrm flipH="1" rot="10800000">
            <a:off x="4425475" y="1007950"/>
            <a:ext cx="2777400" cy="3555600"/>
          </a:xfrm>
          <a:prstGeom prst="straightConnector1">
            <a:avLst/>
          </a:prstGeom>
          <a:noFill/>
          <a:ln cap="flat" cmpd="sng" w="38100">
            <a:solidFill>
              <a:srgbClr val="000000"/>
            </a:solidFill>
            <a:prstDash val="solid"/>
            <a:round/>
            <a:headEnd len="sm" w="sm" type="none"/>
            <a:tailEnd len="sm" w="sm" type="none"/>
          </a:ln>
        </p:spPr>
      </p:cxnSp>
      <p:pic>
        <p:nvPicPr>
          <p:cNvPr descr="{&quot;type&quot;:&quot;$&quot;,&quot;font&quot;:{&quot;size&quot;:24,&quot;family&quot;:&quot;Arial&quot;,&quot;color&quot;:&quot;#595959&quot;},&quot;aid&quot;:null,&quot;backgroundColorModified&quot;:false,&quot;id&quot;:&quot;1&quot;,&quot;backgroundColor&quot;:&quot;#ffffff&quot;,&quot;code&quot;:&quot;$p\\left(X\\right)=\\beta_{0}+\\beta _{1}X$&quot;,&quot;ts&quot;:1620928031488,&quot;cs&quot;:&quot;t8LEpJjFwKBqEjKBLQ7btw==&quot;,&quot;size&quot;:{&quot;width&quot;:278,&quot;height&quot;:37}}" id="975" name="Google Shape;975;g3fbc1dcd947_0_1591"/>
          <p:cNvPicPr preferRelativeResize="0"/>
          <p:nvPr/>
        </p:nvPicPr>
        <p:blipFill rotWithShape="1">
          <a:blip r:embed="rId4">
            <a:alphaModFix/>
          </a:blip>
          <a:srcRect b="0" l="0" r="0" t="0"/>
          <a:stretch/>
        </p:blipFill>
        <p:spPr>
          <a:xfrm>
            <a:off x="518014" y="1402298"/>
            <a:ext cx="2647950" cy="352425"/>
          </a:xfrm>
          <a:prstGeom prst="rect">
            <a:avLst/>
          </a:prstGeom>
          <a:noFill/>
          <a:ln>
            <a:noFill/>
          </a:ln>
        </p:spPr>
      </p:pic>
      <p:sp>
        <p:nvSpPr>
          <p:cNvPr id="976" name="Google Shape;976;g3fbc1dcd947_0_1591"/>
          <p:cNvSpPr/>
          <p:nvPr/>
        </p:nvSpPr>
        <p:spPr>
          <a:xfrm>
            <a:off x="6634950" y="745600"/>
            <a:ext cx="1118400" cy="6903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g3fbc1dcd947_0_1591"/>
          <p:cNvSpPr/>
          <p:nvPr/>
        </p:nvSpPr>
        <p:spPr>
          <a:xfrm>
            <a:off x="3866225" y="4136025"/>
            <a:ext cx="1180500" cy="6903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g3fbc1dcd947_0_1591"/>
          <p:cNvSpPr txBox="1"/>
          <p:nvPr/>
        </p:nvSpPr>
        <p:spPr>
          <a:xfrm>
            <a:off x="7018250" y="363750"/>
            <a:ext cx="98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pt-BR">
                <a:solidFill>
                  <a:srgbClr val="9900FF"/>
                </a:solidFill>
              </a:rPr>
              <a:t>above 1</a:t>
            </a:r>
            <a:r>
              <a:rPr b="1" i="0" lang="pt-BR" sz="1400" u="none" cap="none" strike="noStrike">
                <a:solidFill>
                  <a:srgbClr val="9900FF"/>
                </a:solidFill>
                <a:latin typeface="Arial"/>
                <a:ea typeface="Arial"/>
                <a:cs typeface="Arial"/>
                <a:sym typeface="Arial"/>
              </a:rPr>
              <a:t>?</a:t>
            </a:r>
            <a:endParaRPr b="1" i="0" sz="1400" u="none" cap="none" strike="noStrike">
              <a:solidFill>
                <a:srgbClr val="9900FF"/>
              </a:solidFill>
              <a:latin typeface="Arial"/>
              <a:ea typeface="Arial"/>
              <a:cs typeface="Arial"/>
              <a:sym typeface="Arial"/>
            </a:endParaRPr>
          </a:p>
        </p:txBody>
      </p:sp>
      <p:sp>
        <p:nvSpPr>
          <p:cNvPr id="979" name="Google Shape;979;g3fbc1dcd947_0_1591"/>
          <p:cNvSpPr txBox="1"/>
          <p:nvPr/>
        </p:nvSpPr>
        <p:spPr>
          <a:xfrm>
            <a:off x="2623525" y="4577425"/>
            <a:ext cx="136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pt-BR">
                <a:solidFill>
                  <a:srgbClr val="9900FF"/>
                </a:solidFill>
              </a:rPr>
              <a:t>below</a:t>
            </a:r>
            <a:r>
              <a:rPr b="1" i="0" lang="pt-BR" sz="1400" u="none" cap="none" strike="noStrike">
                <a:solidFill>
                  <a:srgbClr val="9900FF"/>
                </a:solidFill>
                <a:latin typeface="Arial"/>
                <a:ea typeface="Arial"/>
                <a:cs typeface="Arial"/>
                <a:sym typeface="Arial"/>
              </a:rPr>
              <a:t> 0?</a:t>
            </a:r>
            <a:endParaRPr b="1" i="0" sz="1400" u="none" cap="none" strike="noStrike">
              <a:solidFill>
                <a:srgbClr val="9900FF"/>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pic>
        <p:nvPicPr>
          <p:cNvPr id="984" name="Google Shape;984;g3fbc1dcd947_0_1604"/>
          <p:cNvPicPr preferRelativeResize="0"/>
          <p:nvPr/>
        </p:nvPicPr>
        <p:blipFill>
          <a:blip r:embed="rId3">
            <a:alphaModFix/>
          </a:blip>
          <a:stretch>
            <a:fillRect/>
          </a:stretch>
        </p:blipFill>
        <p:spPr>
          <a:xfrm>
            <a:off x="3611100" y="1019975"/>
            <a:ext cx="4419041" cy="3820975"/>
          </a:xfrm>
          <a:prstGeom prst="rect">
            <a:avLst/>
          </a:prstGeom>
          <a:noFill/>
          <a:ln>
            <a:noFill/>
          </a:ln>
        </p:spPr>
      </p:pic>
      <p:sp>
        <p:nvSpPr>
          <p:cNvPr id="985" name="Google Shape;985;g3fbc1dcd947_0_1604"/>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Logistic Regression</a:t>
            </a:r>
            <a:endParaRPr/>
          </a:p>
        </p:txBody>
      </p:sp>
      <p:sp>
        <p:nvSpPr>
          <p:cNvPr id="986" name="Google Shape;986;g3fbc1dcd947_0_1604"/>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g3fbc1dcd947_0_1604"/>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sp>
        <p:nvSpPr>
          <p:cNvPr id="988" name="Google Shape;988;g3fbc1dcd947_0_1604"/>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pic>
        <p:nvPicPr>
          <p:cNvPr id="989" name="Google Shape;989;g3fbc1dcd947_0_1604"/>
          <p:cNvPicPr preferRelativeResize="0"/>
          <p:nvPr/>
        </p:nvPicPr>
        <p:blipFill>
          <a:blip r:embed="rId4">
            <a:alphaModFix/>
          </a:blip>
          <a:stretch>
            <a:fillRect/>
          </a:stretch>
        </p:blipFill>
        <p:spPr>
          <a:xfrm>
            <a:off x="119000" y="1265850"/>
            <a:ext cx="3207651" cy="7189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pic>
        <p:nvPicPr>
          <p:cNvPr id="994" name="Google Shape;994;g3fbc1dcd947_0_1613"/>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995" name="Google Shape;995;g3fbc1dcd947_0_1613"/>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996" name="Google Shape;996;g3fbc1dcd947_0_1613"/>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g3fbc1dcd947_0_1613"/>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pic>
        <p:nvPicPr>
          <p:cNvPr id="998" name="Google Shape;998;g3fbc1dcd947_0_1613"/>
          <p:cNvPicPr preferRelativeResize="0"/>
          <p:nvPr/>
        </p:nvPicPr>
        <p:blipFill>
          <a:blip r:embed="rId4">
            <a:alphaModFix/>
          </a:blip>
          <a:stretch>
            <a:fillRect/>
          </a:stretch>
        </p:blipFill>
        <p:spPr>
          <a:xfrm>
            <a:off x="119000" y="1265850"/>
            <a:ext cx="3207651" cy="7189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id="1003" name="Google Shape;1003;h185f1079fcc11ddc_0_12"/>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1004" name="Google Shape;1004;h185f1079fcc11ddc_0_12"/>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1005" name="Google Shape;1005;h185f1079fcc11ddc_0_12"/>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h185f1079fcc11ddc_0_12"/>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sp>
        <p:nvSpPr>
          <p:cNvPr id="1007" name="Google Shape;1007;h185f1079fcc11ddc_0_12"/>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pic>
        <p:nvPicPr>
          <p:cNvPr id="1008" name="Google Shape;1008;h185f1079fcc11ddc_0_12"/>
          <p:cNvPicPr preferRelativeResize="0"/>
          <p:nvPr/>
        </p:nvPicPr>
        <p:blipFill>
          <a:blip r:embed="rId4">
            <a:alphaModFix/>
          </a:blip>
          <a:stretch>
            <a:fillRect/>
          </a:stretch>
        </p:blipFill>
        <p:spPr>
          <a:xfrm>
            <a:off x="119000" y="1265850"/>
            <a:ext cx="3207651" cy="718950"/>
          </a:xfrm>
          <a:prstGeom prst="rect">
            <a:avLst/>
          </a:prstGeom>
          <a:noFill/>
          <a:ln>
            <a:noFill/>
          </a:ln>
        </p:spPr>
      </p:pic>
      <p:sp>
        <p:nvSpPr>
          <p:cNvPr id="1009" name="Google Shape;1009;h185f1079fcc11ddc_0_12"/>
          <p:cNvSpPr/>
          <p:nvPr/>
        </p:nvSpPr>
        <p:spPr>
          <a:xfrm>
            <a:off x="2165950" y="1569475"/>
            <a:ext cx="1160700" cy="473100"/>
          </a:xfrm>
          <a:prstGeom prst="ellipse">
            <a:avLst/>
          </a:prstGeom>
          <a:noFill/>
          <a:ln cap="flat" cmpd="sng" w="38100">
            <a:solidFill>
              <a:srgbClr val="BF37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10" name="Google Shape;1010;h185f1079fcc11ddc_0_12"/>
          <p:cNvSpPr txBox="1"/>
          <p:nvPr/>
        </p:nvSpPr>
        <p:spPr>
          <a:xfrm>
            <a:off x="177350" y="3136200"/>
            <a:ext cx="254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BF3730"/>
                </a:solidFill>
                <a:latin typeface="Comfortaa"/>
                <a:ea typeface="Comfortaa"/>
                <a:cs typeface="Comfortaa"/>
                <a:sym typeface="Comfortaa"/>
              </a:rPr>
              <a:t>linear regression formula</a:t>
            </a:r>
            <a:endParaRPr b="1" sz="1800">
              <a:solidFill>
                <a:srgbClr val="BF3730"/>
              </a:solidFill>
              <a:latin typeface="Comfortaa"/>
              <a:ea typeface="Comfortaa"/>
              <a:cs typeface="Comfortaa"/>
              <a:sym typeface="Comfortaa"/>
            </a:endParaRPr>
          </a:p>
        </p:txBody>
      </p:sp>
      <p:cxnSp>
        <p:nvCxnSpPr>
          <p:cNvPr id="1011" name="Google Shape;1011;h185f1079fcc11ddc_0_12"/>
          <p:cNvCxnSpPr>
            <a:stCxn id="1010" idx="0"/>
            <a:endCxn id="1009" idx="3"/>
          </p:cNvCxnSpPr>
          <p:nvPr/>
        </p:nvCxnSpPr>
        <p:spPr>
          <a:xfrm flipH="1" rot="10800000">
            <a:off x="1448450" y="1973400"/>
            <a:ext cx="887400" cy="1162800"/>
          </a:xfrm>
          <a:prstGeom prst="straightConnector1">
            <a:avLst/>
          </a:prstGeom>
          <a:noFill/>
          <a:ln cap="flat" cmpd="sng" w="38100">
            <a:solidFill>
              <a:srgbClr val="BF3730"/>
            </a:solidFill>
            <a:prstDash val="solid"/>
            <a:round/>
            <a:headEnd len="med" w="med" type="none"/>
            <a:tailEnd len="med" w="med" type="none"/>
          </a:ln>
        </p:spPr>
      </p:cxn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pic>
        <p:nvPicPr>
          <p:cNvPr id="1016" name="Google Shape;1016;h185f1079fcc11ddc_0_0"/>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1017" name="Google Shape;1017;h185f1079fcc11ddc_0_0"/>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1018" name="Google Shape;1018;h185f1079fcc11ddc_0_0"/>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h185f1079fcc11ddc_0_0"/>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pic>
        <p:nvPicPr>
          <p:cNvPr id="1020" name="Google Shape;1020;h185f1079fcc11ddc_0_0"/>
          <p:cNvPicPr preferRelativeResize="0"/>
          <p:nvPr/>
        </p:nvPicPr>
        <p:blipFill>
          <a:blip r:embed="rId4">
            <a:alphaModFix/>
          </a:blip>
          <a:stretch>
            <a:fillRect/>
          </a:stretch>
        </p:blipFill>
        <p:spPr>
          <a:xfrm>
            <a:off x="119000" y="1227400"/>
            <a:ext cx="2539724" cy="1227250"/>
          </a:xfrm>
          <a:prstGeom prst="rect">
            <a:avLst/>
          </a:prstGeom>
          <a:noFill/>
          <a:ln>
            <a:noFill/>
          </a:ln>
        </p:spPr>
      </p:pic>
      <p:sp>
        <p:nvSpPr>
          <p:cNvPr id="1021" name="Google Shape;1021;h185f1079fcc11ddc_0_0"/>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fbc1dcd947_0_1621"/>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pic>
        <p:nvPicPr>
          <p:cNvPr id="1027" name="Google Shape;1027;g3fbc1dcd947_0_1621"/>
          <p:cNvPicPr preferRelativeResize="0"/>
          <p:nvPr/>
        </p:nvPicPr>
        <p:blipFill>
          <a:blip r:embed="rId3">
            <a:alphaModFix/>
          </a:blip>
          <a:stretch>
            <a:fillRect/>
          </a:stretch>
        </p:blipFill>
        <p:spPr>
          <a:xfrm>
            <a:off x="3626000" y="1111100"/>
            <a:ext cx="4003649" cy="2569750"/>
          </a:xfrm>
          <a:prstGeom prst="rect">
            <a:avLst/>
          </a:prstGeom>
          <a:noFill/>
          <a:ln>
            <a:noFill/>
          </a:ln>
        </p:spPr>
      </p:pic>
      <p:pic>
        <p:nvPicPr>
          <p:cNvPr id="1028" name="Google Shape;1028;g3fbc1dcd947_0_1621"/>
          <p:cNvPicPr preferRelativeResize="0"/>
          <p:nvPr/>
        </p:nvPicPr>
        <p:blipFill>
          <a:blip r:embed="rId4">
            <a:alphaModFix/>
          </a:blip>
          <a:stretch>
            <a:fillRect/>
          </a:stretch>
        </p:blipFill>
        <p:spPr>
          <a:xfrm>
            <a:off x="4664763" y="2950163"/>
            <a:ext cx="4295775" cy="1952625"/>
          </a:xfrm>
          <a:prstGeom prst="rect">
            <a:avLst/>
          </a:prstGeom>
          <a:noFill/>
          <a:ln cap="flat" cmpd="sng" w="19050">
            <a:solidFill>
              <a:schemeClr val="dk2"/>
            </a:solidFill>
            <a:prstDash val="solid"/>
            <a:round/>
            <a:headEnd len="sm" w="sm" type="none"/>
            <a:tailEnd len="sm" w="sm" type="none"/>
          </a:ln>
        </p:spPr>
      </p:pic>
      <p:pic>
        <p:nvPicPr>
          <p:cNvPr id="1029" name="Google Shape;1029;g3fbc1dcd947_0_1621"/>
          <p:cNvPicPr preferRelativeResize="0"/>
          <p:nvPr/>
        </p:nvPicPr>
        <p:blipFill>
          <a:blip r:embed="rId5">
            <a:alphaModFix/>
          </a:blip>
          <a:stretch>
            <a:fillRect/>
          </a:stretch>
        </p:blipFill>
        <p:spPr>
          <a:xfrm>
            <a:off x="119000" y="1227400"/>
            <a:ext cx="2539724" cy="122725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pic>
        <p:nvPicPr>
          <p:cNvPr id="1034" name="Google Shape;1034;g3fbc1dcd947_0_1628"/>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1035" name="Google Shape;1035;g3fbc1dcd947_0_1628"/>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1036" name="Google Shape;1036;g3fbc1dcd947_0_1628"/>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3fbc1dcd947_0_1628"/>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sp>
        <p:nvSpPr>
          <p:cNvPr id="1038" name="Google Shape;1038;g3fbc1dcd947_0_1628"/>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cxnSp>
        <p:nvCxnSpPr>
          <p:cNvPr id="1039" name="Google Shape;1039;g3fbc1dcd947_0_1628"/>
          <p:cNvCxnSpPr/>
          <p:nvPr/>
        </p:nvCxnSpPr>
        <p:spPr>
          <a:xfrm>
            <a:off x="3962925" y="2768500"/>
            <a:ext cx="4041900" cy="0"/>
          </a:xfrm>
          <a:prstGeom prst="straightConnector1">
            <a:avLst/>
          </a:prstGeom>
          <a:noFill/>
          <a:ln cap="flat" cmpd="sng" w="38100">
            <a:solidFill>
              <a:schemeClr val="dk2"/>
            </a:solidFill>
            <a:prstDash val="solid"/>
            <a:round/>
            <a:headEnd len="med" w="med" type="none"/>
            <a:tailEnd len="med" w="med" type="none"/>
          </a:ln>
        </p:spPr>
      </p:cxnSp>
      <p:sp>
        <p:nvSpPr>
          <p:cNvPr id="1040" name="Google Shape;1040;g3fbc1dcd947_0_1628"/>
          <p:cNvSpPr/>
          <p:nvPr/>
        </p:nvSpPr>
        <p:spPr>
          <a:xfrm>
            <a:off x="6430850" y="2056600"/>
            <a:ext cx="435000" cy="515100"/>
          </a:xfrm>
          <a:prstGeom prst="upArrow">
            <a:avLst>
              <a:gd fmla="val 50000" name="adj1"/>
              <a:gd fmla="val 50000" name="adj2"/>
            </a:avLst>
          </a:prstGeom>
          <a:solidFill>
            <a:srgbClr val="F4CCCC"/>
          </a:solidFill>
          <a:ln cap="flat" cmpd="sng" w="28575">
            <a:solidFill>
              <a:srgbClr val="DB2E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41" name="Google Shape;1041;g3fbc1dcd947_0_1628"/>
          <p:cNvSpPr/>
          <p:nvPr/>
        </p:nvSpPr>
        <p:spPr>
          <a:xfrm flipH="1" rot="10800000">
            <a:off x="6430850" y="2865525"/>
            <a:ext cx="435000" cy="515100"/>
          </a:xfrm>
          <a:prstGeom prst="upArrow">
            <a:avLst>
              <a:gd fmla="val 50000" name="adj1"/>
              <a:gd fmla="val 50000" name="adj2"/>
            </a:avLst>
          </a:prstGeom>
          <a:solidFill>
            <a:srgbClr val="A4C2F4"/>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042" name="Google Shape;1042;g3fbc1dcd947_0_1628"/>
          <p:cNvSpPr txBox="1"/>
          <p:nvPr/>
        </p:nvSpPr>
        <p:spPr>
          <a:xfrm>
            <a:off x="4018300" y="2122000"/>
            <a:ext cx="743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0.5</a:t>
            </a:r>
            <a:endParaRPr sz="3000">
              <a:solidFill>
                <a:srgbClr val="434343"/>
              </a:solidFill>
              <a:latin typeface="Comfortaa"/>
              <a:ea typeface="Comfortaa"/>
              <a:cs typeface="Comfortaa"/>
              <a:sym typeface="Comfortaa"/>
            </a:endParaRPr>
          </a:p>
        </p:txBody>
      </p:sp>
      <p:sp>
        <p:nvSpPr>
          <p:cNvPr id="1043" name="Google Shape;1043;g3fbc1dcd947_0_1628"/>
          <p:cNvSpPr txBox="1"/>
          <p:nvPr/>
        </p:nvSpPr>
        <p:spPr>
          <a:xfrm>
            <a:off x="6755200" y="1716475"/>
            <a:ext cx="12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DB2E2C"/>
                </a:solidFill>
                <a:latin typeface="Comfortaa"/>
                <a:ea typeface="Comfortaa"/>
                <a:cs typeface="Comfortaa"/>
                <a:sym typeface="Comfortaa"/>
              </a:rPr>
              <a:t>technological</a:t>
            </a:r>
            <a:endParaRPr b="1" sz="1200">
              <a:solidFill>
                <a:srgbClr val="DB2E2C"/>
              </a:solidFill>
              <a:latin typeface="Comfortaa"/>
              <a:ea typeface="Comfortaa"/>
              <a:cs typeface="Comfortaa"/>
              <a:sym typeface="Comfortaa"/>
            </a:endParaRPr>
          </a:p>
        </p:txBody>
      </p:sp>
      <p:sp>
        <p:nvSpPr>
          <p:cNvPr id="1044" name="Google Shape;1044;g3fbc1dcd947_0_1628"/>
          <p:cNvSpPr txBox="1"/>
          <p:nvPr/>
        </p:nvSpPr>
        <p:spPr>
          <a:xfrm>
            <a:off x="6755200" y="3340150"/>
            <a:ext cx="94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00CC"/>
                </a:solidFill>
                <a:latin typeface="Comfortaa"/>
                <a:ea typeface="Comfortaa"/>
                <a:cs typeface="Comfortaa"/>
                <a:sym typeface="Comfortaa"/>
              </a:rPr>
              <a:t>chemical</a:t>
            </a:r>
            <a:endParaRPr b="1" sz="1200">
              <a:solidFill>
                <a:srgbClr val="0000CC"/>
              </a:solidFill>
              <a:latin typeface="Comfortaa"/>
              <a:ea typeface="Comfortaa"/>
              <a:cs typeface="Comfortaa"/>
              <a:sym typeface="Comfortaa"/>
            </a:endParaRPr>
          </a:p>
        </p:txBody>
      </p:sp>
      <p:pic>
        <p:nvPicPr>
          <p:cNvPr id="1045" name="Google Shape;1045;g3fbc1dcd947_0_1628"/>
          <p:cNvPicPr preferRelativeResize="0"/>
          <p:nvPr/>
        </p:nvPicPr>
        <p:blipFill>
          <a:blip r:embed="rId4">
            <a:alphaModFix/>
          </a:blip>
          <a:stretch>
            <a:fillRect/>
          </a:stretch>
        </p:blipFill>
        <p:spPr>
          <a:xfrm>
            <a:off x="119000" y="1227400"/>
            <a:ext cx="2539724" cy="1227250"/>
          </a:xfrm>
          <a:prstGeom prst="rect">
            <a:avLst/>
          </a:prstGeom>
          <a:noFill/>
          <a:ln>
            <a:noFill/>
          </a:ln>
        </p:spPr>
      </p:pic>
      <p:pic>
        <p:nvPicPr>
          <p:cNvPr id="1046" name="Google Shape;1046;g3fbc1dcd947_0_1628"/>
          <p:cNvPicPr preferRelativeResize="0"/>
          <p:nvPr/>
        </p:nvPicPr>
        <p:blipFill>
          <a:blip r:embed="rId5">
            <a:alphaModFix/>
          </a:blip>
          <a:stretch>
            <a:fillRect/>
          </a:stretch>
        </p:blipFill>
        <p:spPr>
          <a:xfrm>
            <a:off x="119000" y="3429000"/>
            <a:ext cx="3009551" cy="155292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pic>
        <p:nvPicPr>
          <p:cNvPr id="1051" name="Google Shape;1051;h185f1079fcc11ddc_0_25"/>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1052" name="Google Shape;1052;h185f1079fcc11ddc_0_25"/>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1053" name="Google Shape;1053;h185f1079fcc11ddc_0_25"/>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cxnSp>
        <p:nvCxnSpPr>
          <p:cNvPr id="1054" name="Google Shape;1054;h185f1079fcc11ddc_0_25"/>
          <p:cNvCxnSpPr/>
          <p:nvPr/>
        </p:nvCxnSpPr>
        <p:spPr>
          <a:xfrm>
            <a:off x="3962925" y="2768500"/>
            <a:ext cx="4041900" cy="0"/>
          </a:xfrm>
          <a:prstGeom prst="straightConnector1">
            <a:avLst/>
          </a:prstGeom>
          <a:noFill/>
          <a:ln cap="flat" cmpd="sng" w="38100">
            <a:solidFill>
              <a:schemeClr val="dk2"/>
            </a:solidFill>
            <a:prstDash val="solid"/>
            <a:round/>
            <a:headEnd len="med" w="med" type="none"/>
            <a:tailEnd len="med" w="med" type="none"/>
          </a:ln>
        </p:spPr>
      </p:cxnSp>
      <p:sp>
        <p:nvSpPr>
          <p:cNvPr id="1055" name="Google Shape;1055;h185f1079fcc11ddc_0_25"/>
          <p:cNvSpPr txBox="1"/>
          <p:nvPr/>
        </p:nvSpPr>
        <p:spPr>
          <a:xfrm>
            <a:off x="4018300" y="2122000"/>
            <a:ext cx="743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0.5</a:t>
            </a:r>
            <a:endParaRPr sz="3000">
              <a:solidFill>
                <a:srgbClr val="434343"/>
              </a:solidFill>
              <a:latin typeface="Comfortaa"/>
              <a:ea typeface="Comfortaa"/>
              <a:cs typeface="Comfortaa"/>
              <a:sym typeface="Comfortaa"/>
            </a:endParaRPr>
          </a:p>
        </p:txBody>
      </p:sp>
      <p:sp>
        <p:nvSpPr>
          <p:cNvPr id="1056" name="Google Shape;1056;h185f1079fcc11ddc_0_25"/>
          <p:cNvSpPr txBox="1"/>
          <p:nvPr/>
        </p:nvSpPr>
        <p:spPr>
          <a:xfrm>
            <a:off x="6755200" y="1716475"/>
            <a:ext cx="12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DB2E2C"/>
                </a:solidFill>
                <a:latin typeface="Comfortaa"/>
                <a:ea typeface="Comfortaa"/>
                <a:cs typeface="Comfortaa"/>
                <a:sym typeface="Comfortaa"/>
              </a:rPr>
              <a:t>technological</a:t>
            </a:r>
            <a:endParaRPr b="1" sz="1200">
              <a:solidFill>
                <a:srgbClr val="DB2E2C"/>
              </a:solidFill>
              <a:latin typeface="Comfortaa"/>
              <a:ea typeface="Comfortaa"/>
              <a:cs typeface="Comfortaa"/>
              <a:sym typeface="Comfortaa"/>
            </a:endParaRPr>
          </a:p>
        </p:txBody>
      </p:sp>
      <p:sp>
        <p:nvSpPr>
          <p:cNvPr id="1057" name="Google Shape;1057;h185f1079fcc11ddc_0_25"/>
          <p:cNvSpPr txBox="1"/>
          <p:nvPr/>
        </p:nvSpPr>
        <p:spPr>
          <a:xfrm>
            <a:off x="6755200" y="3340150"/>
            <a:ext cx="94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00CC"/>
                </a:solidFill>
                <a:latin typeface="Comfortaa"/>
                <a:ea typeface="Comfortaa"/>
                <a:cs typeface="Comfortaa"/>
                <a:sym typeface="Comfortaa"/>
              </a:rPr>
              <a:t>chemical</a:t>
            </a:r>
            <a:endParaRPr b="1" sz="1200">
              <a:solidFill>
                <a:srgbClr val="0000CC"/>
              </a:solidFill>
              <a:latin typeface="Comfortaa"/>
              <a:ea typeface="Comfortaa"/>
              <a:cs typeface="Comfortaa"/>
              <a:sym typeface="Comfortaa"/>
            </a:endParaRPr>
          </a:p>
        </p:txBody>
      </p:sp>
      <p:pic>
        <p:nvPicPr>
          <p:cNvPr id="1058" name="Google Shape;1058;h185f1079fcc11ddc_0_25"/>
          <p:cNvPicPr preferRelativeResize="0"/>
          <p:nvPr/>
        </p:nvPicPr>
        <p:blipFill>
          <a:blip r:embed="rId4">
            <a:alphaModFix/>
          </a:blip>
          <a:stretch>
            <a:fillRect/>
          </a:stretch>
        </p:blipFill>
        <p:spPr>
          <a:xfrm>
            <a:off x="98625" y="1160589"/>
            <a:ext cx="3148999" cy="1286686"/>
          </a:xfrm>
          <a:prstGeom prst="rect">
            <a:avLst/>
          </a:prstGeom>
          <a:noFill/>
          <a:ln>
            <a:noFill/>
          </a:ln>
        </p:spPr>
      </p:pic>
      <p:sp>
        <p:nvSpPr>
          <p:cNvPr id="1059" name="Google Shape;1059;h185f1079fcc11ddc_0_25"/>
          <p:cNvSpPr/>
          <p:nvPr/>
        </p:nvSpPr>
        <p:spPr>
          <a:xfrm>
            <a:off x="6286508" y="1290698"/>
            <a:ext cx="199200" cy="1992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cxnSp>
        <p:nvCxnSpPr>
          <p:cNvPr id="1060" name="Google Shape;1060;h185f1079fcc11ddc_0_25"/>
          <p:cNvCxnSpPr>
            <a:stCxn id="1059" idx="4"/>
          </p:cNvCxnSpPr>
          <p:nvPr/>
        </p:nvCxnSpPr>
        <p:spPr>
          <a:xfrm>
            <a:off x="6386108" y="1489898"/>
            <a:ext cx="0" cy="3107100"/>
          </a:xfrm>
          <a:prstGeom prst="straightConnector1">
            <a:avLst/>
          </a:prstGeom>
          <a:noFill/>
          <a:ln cap="flat" cmpd="sng" w="28575">
            <a:solidFill>
              <a:srgbClr val="9900FF"/>
            </a:solidFill>
            <a:prstDash val="dash"/>
            <a:round/>
            <a:headEnd len="med" w="med" type="none"/>
            <a:tailEnd len="med" w="med" type="none"/>
          </a:ln>
        </p:spPr>
      </p:cxnSp>
      <p:cxnSp>
        <p:nvCxnSpPr>
          <p:cNvPr id="1061" name="Google Shape;1061;h185f1079fcc11ddc_0_25"/>
          <p:cNvCxnSpPr>
            <a:stCxn id="1059" idx="2"/>
          </p:cNvCxnSpPr>
          <p:nvPr/>
        </p:nvCxnSpPr>
        <p:spPr>
          <a:xfrm rot="10800000">
            <a:off x="3934208" y="1390298"/>
            <a:ext cx="2352300" cy="0"/>
          </a:xfrm>
          <a:prstGeom prst="straightConnector1">
            <a:avLst/>
          </a:prstGeom>
          <a:noFill/>
          <a:ln cap="flat" cmpd="sng" w="28575">
            <a:solidFill>
              <a:srgbClr val="9900FF"/>
            </a:solidFill>
            <a:prstDash val="dash"/>
            <a:round/>
            <a:headEnd len="med" w="med" type="none"/>
            <a:tailEnd len="med" w="med" type="none"/>
          </a:ln>
        </p:spPr>
      </p:cxnSp>
      <p:sp>
        <p:nvSpPr>
          <p:cNvPr id="1062" name="Google Shape;1062;h185f1079fcc11ddc_0_25"/>
          <p:cNvSpPr txBox="1"/>
          <p:nvPr/>
        </p:nvSpPr>
        <p:spPr>
          <a:xfrm>
            <a:off x="6150000" y="4537375"/>
            <a:ext cx="4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7.6</a:t>
            </a:r>
            <a:endParaRPr b="1" sz="1800">
              <a:solidFill>
                <a:srgbClr val="9900FF"/>
              </a:solidFill>
              <a:latin typeface="Comfortaa"/>
              <a:ea typeface="Comfortaa"/>
              <a:cs typeface="Comfortaa"/>
              <a:sym typeface="Comfortaa"/>
            </a:endParaRPr>
          </a:p>
        </p:txBody>
      </p:sp>
      <p:sp>
        <p:nvSpPr>
          <p:cNvPr id="1063" name="Google Shape;1063;h185f1079fcc11ddc_0_25"/>
          <p:cNvSpPr txBox="1"/>
          <p:nvPr/>
        </p:nvSpPr>
        <p:spPr>
          <a:xfrm>
            <a:off x="3331600" y="1159450"/>
            <a:ext cx="68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0.9</a:t>
            </a:r>
            <a:r>
              <a:rPr b="1" lang="pt-BR" sz="1800">
                <a:solidFill>
                  <a:srgbClr val="9900FF"/>
                </a:solidFill>
                <a:latin typeface="Comfortaa"/>
                <a:ea typeface="Comfortaa"/>
                <a:cs typeface="Comfortaa"/>
                <a:sym typeface="Comfortaa"/>
              </a:rPr>
              <a:t>1</a:t>
            </a:r>
            <a:endParaRPr b="1" sz="1800">
              <a:solidFill>
                <a:srgbClr val="9900FF"/>
              </a:solidFill>
              <a:latin typeface="Comfortaa"/>
              <a:ea typeface="Comfortaa"/>
              <a:cs typeface="Comfortaa"/>
              <a:sym typeface="Comfortaa"/>
            </a:endParaRPr>
          </a:p>
        </p:txBody>
      </p:sp>
      <p:sp>
        <p:nvSpPr>
          <p:cNvPr id="1064" name="Google Shape;1064;h185f1079fcc11ddc_0_25"/>
          <p:cNvSpPr txBox="1"/>
          <p:nvPr/>
        </p:nvSpPr>
        <p:spPr>
          <a:xfrm>
            <a:off x="98625" y="3066600"/>
            <a:ext cx="1731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X=7.6</a:t>
            </a:r>
            <a:endParaRPr sz="2200">
              <a:solidFill>
                <a:srgbClr val="434343"/>
              </a:solidFill>
              <a:latin typeface="Courier New"/>
              <a:ea typeface="Courier New"/>
              <a:cs typeface="Courier New"/>
              <a:sym typeface="Courier New"/>
            </a:endParaRPr>
          </a:p>
        </p:txBody>
      </p:sp>
      <p:pic>
        <p:nvPicPr>
          <p:cNvPr id="1065" name="Google Shape;1065;h185f1079fcc11ddc_0_25"/>
          <p:cNvPicPr preferRelativeResize="0"/>
          <p:nvPr/>
        </p:nvPicPr>
        <p:blipFill>
          <a:blip r:embed="rId5">
            <a:alphaModFix/>
          </a:blip>
          <a:stretch>
            <a:fillRect/>
          </a:stretch>
        </p:blipFill>
        <p:spPr>
          <a:xfrm>
            <a:off x="157350" y="3924901"/>
            <a:ext cx="3317521" cy="916037"/>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fbc1dcd947_0_19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Two Features</a:t>
            </a:r>
            <a:endParaRPr/>
          </a:p>
        </p:txBody>
      </p:sp>
      <p:sp>
        <p:nvSpPr>
          <p:cNvPr id="1071" name="Google Shape;1071;g3fbc1dcd947_0_1960"/>
          <p:cNvSpPr txBox="1"/>
          <p:nvPr/>
        </p:nvSpPr>
        <p:spPr>
          <a:xfrm>
            <a:off x="476375" y="1830400"/>
            <a:ext cx="3113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GBC</a:t>
            </a:r>
            <a:r>
              <a:rPr b="0" i="0" lang="pt-BR" sz="1800" u="none" cap="none" strike="noStrike">
                <a:solidFill>
                  <a:schemeClr val="dk2"/>
                </a:solidFill>
                <a:latin typeface="Arial"/>
                <a:ea typeface="Arial"/>
                <a:cs typeface="Arial"/>
                <a:sym typeface="Arial"/>
              </a:rPr>
              <a:t> - Green Blood Cells</a:t>
            </a:r>
            <a:endParaRPr b="0" i="0" sz="1400" u="none" cap="none" strike="noStrike">
              <a:solidFill>
                <a:srgbClr val="000000"/>
              </a:solidFill>
              <a:latin typeface="Arial"/>
              <a:ea typeface="Arial"/>
              <a:cs typeface="Arial"/>
              <a:sym typeface="Arial"/>
            </a:endParaRPr>
          </a:p>
        </p:txBody>
      </p:sp>
      <p:sp>
        <p:nvSpPr>
          <p:cNvPr id="1072" name="Google Shape;1072;g3fbc1dcd947_0_1960"/>
          <p:cNvSpPr txBox="1"/>
          <p:nvPr/>
        </p:nvSpPr>
        <p:spPr>
          <a:xfrm>
            <a:off x="476375" y="28590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GS</a:t>
            </a:r>
            <a:r>
              <a:rPr b="0" i="0" lang="pt-BR" sz="1800" u="none" cap="none" strike="noStrike">
                <a:solidFill>
                  <a:schemeClr val="dk2"/>
                </a:solidFill>
                <a:latin typeface="Arial"/>
                <a:ea typeface="Arial"/>
                <a:cs typeface="Arial"/>
                <a:sym typeface="Arial"/>
              </a:rPr>
              <a:t> - Green Substance</a:t>
            </a:r>
            <a:endParaRPr b="0" i="0" sz="1400" u="none" cap="none" strike="noStrike">
              <a:solidFill>
                <a:srgbClr val="000000"/>
              </a:solidFill>
              <a:latin typeface="Arial"/>
              <a:ea typeface="Arial"/>
              <a:cs typeface="Arial"/>
              <a:sym typeface="Arial"/>
            </a:endParaRPr>
          </a:p>
        </p:txBody>
      </p:sp>
      <p:pic>
        <p:nvPicPr>
          <p:cNvPr id="1073" name="Google Shape;1073;g3fbc1dcd947_0_1960"/>
          <p:cNvPicPr preferRelativeResize="0"/>
          <p:nvPr/>
        </p:nvPicPr>
        <p:blipFill rotWithShape="1">
          <a:blip r:embed="rId3">
            <a:alphaModFix/>
          </a:blip>
          <a:srcRect b="0" l="0" r="0" t="0"/>
          <a:stretch/>
        </p:blipFill>
        <p:spPr>
          <a:xfrm>
            <a:off x="1566875" y="3303675"/>
            <a:ext cx="646075" cy="722350"/>
          </a:xfrm>
          <a:prstGeom prst="rect">
            <a:avLst/>
          </a:prstGeom>
          <a:noFill/>
          <a:ln>
            <a:noFill/>
          </a:ln>
        </p:spPr>
      </p:pic>
      <p:pic>
        <p:nvPicPr>
          <p:cNvPr id="1074" name="Google Shape;1074;g3fbc1dcd947_0_1960"/>
          <p:cNvPicPr preferRelativeResize="0"/>
          <p:nvPr/>
        </p:nvPicPr>
        <p:blipFill rotWithShape="1">
          <a:blip r:embed="rId4">
            <a:alphaModFix/>
          </a:blip>
          <a:srcRect b="0" l="0" r="0" t="0"/>
          <a:stretch/>
        </p:blipFill>
        <p:spPr>
          <a:xfrm>
            <a:off x="1391475" y="2292092"/>
            <a:ext cx="1039100" cy="530382"/>
          </a:xfrm>
          <a:prstGeom prst="rect">
            <a:avLst/>
          </a:prstGeom>
          <a:noFill/>
          <a:ln>
            <a:noFill/>
          </a:ln>
        </p:spPr>
      </p:pic>
      <p:pic>
        <p:nvPicPr>
          <p:cNvPr id="1075" name="Google Shape;1075;g3fbc1dcd947_0_1960"/>
          <p:cNvPicPr preferRelativeResize="0"/>
          <p:nvPr/>
        </p:nvPicPr>
        <p:blipFill>
          <a:blip r:embed="rId5">
            <a:alphaModFix/>
          </a:blip>
          <a:stretch>
            <a:fillRect/>
          </a:stretch>
        </p:blipFill>
        <p:spPr>
          <a:xfrm>
            <a:off x="3742475" y="1170125"/>
            <a:ext cx="4419041" cy="382097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id="1080" name="Google Shape;1080;g3fbc1dcd947_0_1969"/>
          <p:cNvPicPr preferRelativeResize="0"/>
          <p:nvPr/>
        </p:nvPicPr>
        <p:blipFill>
          <a:blip r:embed="rId3">
            <a:alphaModFix/>
          </a:blip>
          <a:stretch>
            <a:fillRect/>
          </a:stretch>
        </p:blipFill>
        <p:spPr>
          <a:xfrm>
            <a:off x="1356249" y="176825"/>
            <a:ext cx="7591325" cy="4814275"/>
          </a:xfrm>
          <a:prstGeom prst="rect">
            <a:avLst/>
          </a:prstGeom>
          <a:noFill/>
          <a:ln>
            <a:noFill/>
          </a:ln>
        </p:spPr>
      </p:pic>
      <p:sp>
        <p:nvSpPr>
          <p:cNvPr id="1081" name="Google Shape;1081;g3fbc1dcd947_0_1969"/>
          <p:cNvSpPr txBox="1"/>
          <p:nvPr>
            <p:ph type="title"/>
          </p:nvPr>
        </p:nvSpPr>
        <p:spPr>
          <a:xfrm>
            <a:off x="404300" y="4183450"/>
            <a:ext cx="211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Orange</a:t>
            </a:r>
            <a:endParaRPr/>
          </a:p>
        </p:txBody>
      </p:sp>
      <p:sp>
        <p:nvSpPr>
          <p:cNvPr id="1082" name="Google Shape;1082;g3fbc1dcd947_0_1969"/>
          <p:cNvSpPr/>
          <p:nvPr/>
        </p:nvSpPr>
        <p:spPr>
          <a:xfrm>
            <a:off x="2921700" y="2652275"/>
            <a:ext cx="6112800" cy="24165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fbc1dcd947_0_1975"/>
          <p:cNvSpPr txBox="1"/>
          <p:nvPr>
            <p:ph type="title"/>
          </p:nvPr>
        </p:nvSpPr>
        <p:spPr>
          <a:xfrm>
            <a:off x="311700" y="445025"/>
            <a:ext cx="3287400" cy="10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000"/>
              <a:t>Sigmoid-based Surfaces</a:t>
            </a:r>
            <a:endParaRPr sz="3000"/>
          </a:p>
        </p:txBody>
      </p:sp>
      <p:pic>
        <p:nvPicPr>
          <p:cNvPr id="1088" name="Google Shape;1088;g3fbc1dcd947_0_1975"/>
          <p:cNvPicPr preferRelativeResize="0"/>
          <p:nvPr/>
        </p:nvPicPr>
        <p:blipFill>
          <a:blip r:embed="rId3">
            <a:alphaModFix/>
          </a:blip>
          <a:stretch>
            <a:fillRect/>
          </a:stretch>
        </p:blipFill>
        <p:spPr>
          <a:xfrm>
            <a:off x="3779624" y="205650"/>
            <a:ext cx="5213725" cy="4809149"/>
          </a:xfrm>
          <a:prstGeom prst="rect">
            <a:avLst/>
          </a:prstGeom>
          <a:noFill/>
          <a:ln>
            <a:noFill/>
          </a:ln>
        </p:spPr>
      </p:pic>
      <p:sp>
        <p:nvSpPr>
          <p:cNvPr id="1089" name="Google Shape;1089;g3fbc1dcd947_0_1975"/>
          <p:cNvSpPr txBox="1"/>
          <p:nvPr/>
        </p:nvSpPr>
        <p:spPr>
          <a:xfrm>
            <a:off x="311700" y="4553100"/>
            <a:ext cx="288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(Shyrokykh et al., 2023)</a:t>
            </a:r>
            <a:endParaRPr sz="1800">
              <a:solidFill>
                <a:srgbClr val="434343"/>
              </a:solidFill>
              <a:latin typeface="Comfortaa"/>
              <a:ea typeface="Comfortaa"/>
              <a:cs typeface="Comfortaa"/>
              <a:sym typeface="Comfortaa"/>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g3fbef74915c_0_0"/>
          <p:cNvSpPr/>
          <p:nvPr/>
        </p:nvSpPr>
        <p:spPr>
          <a:xfrm>
            <a:off x="4449625" y="4177875"/>
            <a:ext cx="28647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g3fbef74915c_0_0"/>
          <p:cNvSpPr/>
          <p:nvPr/>
        </p:nvSpPr>
        <p:spPr>
          <a:xfrm>
            <a:off x="4449625" y="3958575"/>
            <a:ext cx="13551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3fbef74915c_0_0"/>
          <p:cNvSpPr/>
          <p:nvPr/>
        </p:nvSpPr>
        <p:spPr>
          <a:xfrm>
            <a:off x="4449625" y="4397175"/>
            <a:ext cx="24774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g3fbef74915c_0_0"/>
          <p:cNvSpPr txBox="1"/>
          <p:nvPr/>
        </p:nvSpPr>
        <p:spPr>
          <a:xfrm>
            <a:off x="4400875" y="3866000"/>
            <a:ext cx="2958300" cy="75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André Santanchè</a:t>
            </a:r>
            <a:endParaRPr b="0" i="0" sz="1400" u="none" cap="none" strike="noStrike">
              <a:solidFill>
                <a:srgbClr val="BF3730"/>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Laboratory of Information Systems - LIS</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Instituto de Computação - UNICAMP</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dvent Pro Medium"/>
              <a:ea typeface="Advent Pro Medium"/>
              <a:cs typeface="Advent Pro Medium"/>
              <a:sym typeface="Advent Pro Medium"/>
            </a:endParaRPr>
          </a:p>
        </p:txBody>
      </p:sp>
      <p:sp>
        <p:nvSpPr>
          <p:cNvPr id="1098" name="Google Shape;1098;g3fbef74915c_0_0"/>
          <p:cNvSpPr txBox="1"/>
          <p:nvPr/>
        </p:nvSpPr>
        <p:spPr>
          <a:xfrm>
            <a:off x="4295300" y="311000"/>
            <a:ext cx="47634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pt-BR" sz="1200" u="none" cap="none" strike="noStrike">
                <a:solidFill>
                  <a:srgbClr val="EFEFEF"/>
                </a:solidFill>
                <a:latin typeface="Advent Pro"/>
                <a:ea typeface="Advent Pro"/>
                <a:cs typeface="Advent Pro"/>
                <a:sym typeface="Advent Pro"/>
              </a:rPr>
              <a:t>NATURAL LANGUAGE PROCESSING</a:t>
            </a:r>
            <a:endParaRPr b="1" i="0" sz="1200" u="none" cap="none" strike="noStrike">
              <a:solidFill>
                <a:srgbClr val="EFEFE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Machine Learning and Text Classification</a:t>
            </a:r>
            <a:endParaRPr b="1" sz="4800">
              <a:solidFill>
                <a:srgbClr val="FFFFF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part 2</a:t>
            </a:r>
            <a:endParaRPr b="1" i="0" sz="4800" u="none" cap="none" strike="noStrike">
              <a:solidFill>
                <a:srgbClr val="FFFFFF"/>
              </a:solidFill>
              <a:latin typeface="Advent Pro"/>
              <a:ea typeface="Advent Pro"/>
              <a:cs typeface="Advent Pro"/>
              <a:sym typeface="Advent Pro"/>
            </a:endParaRPr>
          </a:p>
        </p:txBody>
      </p:sp>
      <p:sp>
        <p:nvSpPr>
          <p:cNvPr id="1099" name="Google Shape;1099;g3fbef74915c_0_0"/>
          <p:cNvSpPr txBox="1"/>
          <p:nvPr/>
        </p:nvSpPr>
        <p:spPr>
          <a:xfrm>
            <a:off x="4400875" y="4648400"/>
            <a:ext cx="2326500" cy="27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pt-BR" sz="1100">
                <a:solidFill>
                  <a:schemeClr val="lt1"/>
                </a:solidFill>
                <a:latin typeface="Advent Pro"/>
                <a:ea typeface="Advent Pro"/>
                <a:cs typeface="Advent Pro"/>
                <a:sym typeface="Advent Pro"/>
              </a:rPr>
              <a:t>September</a:t>
            </a:r>
            <a:r>
              <a:rPr b="1" i="0" lang="pt-BR" sz="1100" u="none" cap="none" strike="noStrike">
                <a:solidFill>
                  <a:schemeClr val="lt1"/>
                </a:solidFill>
                <a:latin typeface="Advent Pro"/>
                <a:ea typeface="Advent Pro"/>
                <a:cs typeface="Advent Pro"/>
                <a:sym typeface="Advent Pro"/>
              </a:rPr>
              <a:t> 2026</a:t>
            </a:r>
            <a:endParaRPr b="1" i="0" sz="1100" u="none" cap="none" strike="noStrike">
              <a:solidFill>
                <a:schemeClr val="lt1"/>
              </a:solidFill>
              <a:latin typeface="Advent Pro"/>
              <a:ea typeface="Advent Pro"/>
              <a:cs typeface="Advent Pro"/>
              <a:sym typeface="Advent Pro"/>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h28f86b313e326572_0_539"/>
          <p:cNvSpPr txBox="1"/>
          <p:nvPr>
            <p:ph type="title"/>
          </p:nvPr>
        </p:nvSpPr>
        <p:spPr>
          <a:xfrm>
            <a:off x="311700" y="400200"/>
            <a:ext cx="8520600" cy="61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000"/>
              <a:t>Logistic Regression for one observation x</a:t>
            </a:r>
            <a:endParaRPr sz="3000"/>
          </a:p>
        </p:txBody>
      </p:sp>
      <p:sp>
        <p:nvSpPr>
          <p:cNvPr id="1105" name="Google Shape;1105;h28f86b313e326572_0_5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pt-BR" sz="2400"/>
              <a:t>Input observation</a:t>
            </a:r>
            <a:r>
              <a:rPr lang="pt-BR" sz="2400"/>
              <a:t>: vector </a:t>
            </a:r>
            <a:r>
              <a:rPr b="1" lang="pt-BR" sz="2400">
                <a:solidFill>
                  <a:srgbClr val="741B47"/>
                </a:solidFill>
              </a:rPr>
              <a:t>x = [x</a:t>
            </a:r>
            <a:r>
              <a:rPr b="1" baseline="-25000" lang="pt-BR" sz="2400">
                <a:solidFill>
                  <a:srgbClr val="741B47"/>
                </a:solidFill>
              </a:rPr>
              <a:t>1</a:t>
            </a:r>
            <a:r>
              <a:rPr b="1" lang="pt-BR" sz="2400">
                <a:solidFill>
                  <a:srgbClr val="741B47"/>
                </a:solidFill>
              </a:rPr>
              <a:t>, x</a:t>
            </a:r>
            <a:r>
              <a:rPr b="1" baseline="-25000" lang="pt-BR" sz="2400">
                <a:solidFill>
                  <a:srgbClr val="741B47"/>
                </a:solidFill>
              </a:rPr>
              <a:t>2</a:t>
            </a:r>
            <a:r>
              <a:rPr b="1" lang="pt-BR" sz="2400">
                <a:solidFill>
                  <a:srgbClr val="741B47"/>
                </a:solidFill>
              </a:rPr>
              <a:t>,…, x</a:t>
            </a:r>
            <a:r>
              <a:rPr b="1" baseline="-25000" lang="pt-BR" sz="2400">
                <a:solidFill>
                  <a:srgbClr val="741B47"/>
                </a:solidFill>
              </a:rPr>
              <a:t>n</a:t>
            </a:r>
            <a:r>
              <a:rPr b="1" lang="pt-BR" sz="2400">
                <a:solidFill>
                  <a:srgbClr val="741B47"/>
                </a:solidFill>
              </a:rPr>
              <a:t>]</a:t>
            </a:r>
            <a:endParaRPr b="1" sz="2400">
              <a:solidFill>
                <a:srgbClr val="741B47"/>
              </a:solidFill>
            </a:endParaRPr>
          </a:p>
          <a:p>
            <a:pPr indent="-381000" lvl="0" marL="457200" rtl="0" algn="l">
              <a:spcBef>
                <a:spcPts val="0"/>
              </a:spcBef>
              <a:spcAft>
                <a:spcPts val="0"/>
              </a:spcAft>
              <a:buSzPts val="2400"/>
              <a:buChar char="●"/>
            </a:pPr>
            <a:r>
              <a:rPr b="1" lang="pt-BR" sz="2400"/>
              <a:t>Weights</a:t>
            </a:r>
            <a:r>
              <a:rPr lang="pt-BR" sz="2400"/>
              <a:t>: one per feature: </a:t>
            </a:r>
            <a:r>
              <a:rPr b="1" lang="pt-BR" sz="2400">
                <a:solidFill>
                  <a:srgbClr val="741B47"/>
                </a:solidFill>
              </a:rPr>
              <a:t>W = [w</a:t>
            </a:r>
            <a:r>
              <a:rPr b="1" baseline="-25000" lang="pt-BR" sz="2400">
                <a:solidFill>
                  <a:srgbClr val="741B47"/>
                </a:solidFill>
              </a:rPr>
              <a:t>1</a:t>
            </a:r>
            <a:r>
              <a:rPr b="1" lang="pt-BR" sz="2400">
                <a:solidFill>
                  <a:srgbClr val="741B47"/>
                </a:solidFill>
              </a:rPr>
              <a:t>, w</a:t>
            </a:r>
            <a:r>
              <a:rPr b="1" baseline="-25000" lang="pt-BR" sz="2400">
                <a:solidFill>
                  <a:srgbClr val="741B47"/>
                </a:solidFill>
              </a:rPr>
              <a:t>2</a:t>
            </a:r>
            <a:r>
              <a:rPr b="1" lang="pt-BR" sz="2400">
                <a:solidFill>
                  <a:srgbClr val="741B47"/>
                </a:solidFill>
              </a:rPr>
              <a:t>,…, w</a:t>
            </a:r>
            <a:r>
              <a:rPr b="1" baseline="-25000" lang="pt-BR" sz="2400">
                <a:solidFill>
                  <a:srgbClr val="741B47"/>
                </a:solidFill>
              </a:rPr>
              <a:t>n</a:t>
            </a:r>
            <a:r>
              <a:rPr b="1" lang="pt-BR" sz="2400">
                <a:solidFill>
                  <a:srgbClr val="741B47"/>
                </a:solidFill>
              </a:rPr>
              <a:t>]</a:t>
            </a:r>
            <a:endParaRPr b="1" sz="2400">
              <a:solidFill>
                <a:srgbClr val="741B47"/>
              </a:solidFill>
            </a:endParaRPr>
          </a:p>
          <a:p>
            <a:pPr indent="-342900" lvl="1" marL="914400" rtl="0" algn="l">
              <a:spcBef>
                <a:spcPts val="0"/>
              </a:spcBef>
              <a:spcAft>
                <a:spcPts val="0"/>
              </a:spcAft>
              <a:buSzPts val="1800"/>
              <a:buChar char="○"/>
            </a:pPr>
            <a:r>
              <a:rPr lang="pt-BR" sz="1800"/>
              <a:t>Sometimes we call the weights </a:t>
            </a:r>
            <a:r>
              <a:rPr b="1" lang="pt-BR" sz="1800">
                <a:solidFill>
                  <a:srgbClr val="741B47"/>
                </a:solidFill>
              </a:rPr>
              <a:t>θ = [θ</a:t>
            </a:r>
            <a:r>
              <a:rPr b="1" baseline="-25000" lang="pt-BR" sz="1800">
                <a:solidFill>
                  <a:srgbClr val="741B47"/>
                </a:solidFill>
              </a:rPr>
              <a:t>1</a:t>
            </a:r>
            <a:r>
              <a:rPr b="1" lang="pt-BR" sz="1800">
                <a:solidFill>
                  <a:srgbClr val="741B47"/>
                </a:solidFill>
              </a:rPr>
              <a:t>, θ</a:t>
            </a:r>
            <a:r>
              <a:rPr b="1" baseline="-25000" lang="pt-BR" sz="1800">
                <a:solidFill>
                  <a:srgbClr val="741B47"/>
                </a:solidFill>
              </a:rPr>
              <a:t>2</a:t>
            </a:r>
            <a:r>
              <a:rPr b="1" lang="pt-BR" sz="1800">
                <a:solidFill>
                  <a:srgbClr val="741B47"/>
                </a:solidFill>
              </a:rPr>
              <a:t>,…, θ</a:t>
            </a:r>
            <a:r>
              <a:rPr b="1" baseline="-25000" lang="pt-BR" sz="1800">
                <a:solidFill>
                  <a:srgbClr val="741B47"/>
                </a:solidFill>
              </a:rPr>
              <a:t>n</a:t>
            </a:r>
            <a:r>
              <a:rPr b="1" lang="pt-BR" sz="1800">
                <a:solidFill>
                  <a:srgbClr val="741B47"/>
                </a:solidFill>
              </a:rPr>
              <a:t>]</a:t>
            </a:r>
            <a:endParaRPr b="1" sz="1800">
              <a:solidFill>
                <a:srgbClr val="741B47"/>
              </a:solidFill>
            </a:endParaRPr>
          </a:p>
          <a:p>
            <a:pPr indent="-381000" lvl="0" marL="457200" rtl="0" algn="l">
              <a:spcBef>
                <a:spcPts val="0"/>
              </a:spcBef>
              <a:spcAft>
                <a:spcPts val="0"/>
              </a:spcAft>
              <a:buSzPts val="2400"/>
              <a:buChar char="●"/>
            </a:pPr>
            <a:r>
              <a:rPr b="1" lang="pt-BR" sz="2400"/>
              <a:t>Output</a:t>
            </a:r>
            <a:r>
              <a:rPr lang="pt-BR" sz="2400"/>
              <a:t>:	a predicted class probability </a:t>
            </a:r>
            <a:r>
              <a:rPr b="1" lang="pt-BR" sz="2400">
                <a:solidFill>
                  <a:srgbClr val="741B47"/>
                </a:solidFill>
              </a:rPr>
              <a:t>P(y=1|x, θ)</a:t>
            </a:r>
            <a:endParaRPr b="1" sz="2400">
              <a:solidFill>
                <a:srgbClr val="741B47"/>
              </a:solidFill>
            </a:endParaRPr>
          </a:p>
          <a:p>
            <a:pPr indent="457200" lvl="0" marL="1371600" rtl="0" algn="l">
              <a:spcBef>
                <a:spcPts val="0"/>
              </a:spcBef>
              <a:spcAft>
                <a:spcPts val="0"/>
              </a:spcAft>
              <a:buNone/>
            </a:pPr>
            <a:r>
              <a:rPr lang="pt-BR" sz="2400"/>
              <a:t>and then </a:t>
            </a:r>
            <a:r>
              <a:rPr b="1" lang="pt-BR" sz="2400">
                <a:solidFill>
                  <a:srgbClr val="741B47"/>
                </a:solidFill>
              </a:rPr>
              <a:t>P(y=0 | x, θ) = 1-P(y=1 | x, θ)</a:t>
            </a:r>
            <a:endParaRPr b="1" sz="2400">
              <a:solidFill>
                <a:srgbClr val="741B47"/>
              </a:solidFill>
            </a:endParaRPr>
          </a:p>
          <a:p>
            <a:pPr indent="-381000" lvl="0" marL="457200" rtl="0" algn="l">
              <a:spcBef>
                <a:spcPts val="0"/>
              </a:spcBef>
              <a:spcAft>
                <a:spcPts val="0"/>
              </a:spcAft>
              <a:buSzPts val="2400"/>
              <a:buChar char="●"/>
            </a:pPr>
            <a:r>
              <a:rPr lang="pt-BR" sz="2400"/>
              <a:t>We sometimes introduce the term </a:t>
            </a:r>
            <a:r>
              <a:rPr b="1" lang="pt-BR" sz="2400">
                <a:solidFill>
                  <a:srgbClr val="741B47"/>
                </a:solidFill>
              </a:rPr>
              <a:t>ŷ = P(y=1|x, θ)</a:t>
            </a:r>
            <a:endParaRPr b="1" sz="2400">
              <a:solidFill>
                <a:srgbClr val="741B47"/>
              </a:solidFill>
            </a:endParaRPr>
          </a:p>
          <a:p>
            <a:pPr indent="-381000" lvl="0" marL="457200" rtl="0" algn="l">
              <a:spcBef>
                <a:spcPts val="0"/>
              </a:spcBef>
              <a:spcAft>
                <a:spcPts val="0"/>
              </a:spcAft>
              <a:buSzPts val="2400"/>
              <a:buChar char="●"/>
            </a:pPr>
            <a:r>
              <a:rPr lang="pt-BR" sz="2400"/>
              <a:t>So </a:t>
            </a:r>
            <a:r>
              <a:rPr b="1" lang="pt-BR" sz="2400">
                <a:solidFill>
                  <a:srgbClr val="741B47"/>
                </a:solidFill>
              </a:rPr>
              <a:t>ŷ</a:t>
            </a:r>
            <a:r>
              <a:rPr lang="pt-BR" sz="2400"/>
              <a:t> (pronounced y-hat) means</a:t>
            </a:r>
            <a:endParaRPr sz="2400"/>
          </a:p>
          <a:p>
            <a:pPr indent="-368300" lvl="0" marL="457200" rtl="0" algn="l">
              <a:spcBef>
                <a:spcPts val="0"/>
              </a:spcBef>
              <a:spcAft>
                <a:spcPts val="0"/>
              </a:spcAft>
              <a:buSzPts val="2200"/>
              <a:buChar char="●"/>
            </a:pPr>
            <a:r>
              <a:rPr lang="pt-BR" sz="2200"/>
              <a:t>"our estimated probability that </a:t>
            </a:r>
            <a:r>
              <a:rPr b="1" lang="pt-BR" sz="2200">
                <a:solidFill>
                  <a:srgbClr val="741B47"/>
                </a:solidFill>
              </a:rPr>
              <a:t>x</a:t>
            </a:r>
            <a:r>
              <a:rPr lang="pt-BR" sz="2200"/>
              <a:t> is a positive example"</a:t>
            </a:r>
            <a:endParaRPr sz="2200"/>
          </a:p>
        </p:txBody>
      </p:sp>
      <p:sp>
        <p:nvSpPr>
          <p:cNvPr id="1106" name="Google Shape;1106;h28f86b313e326572_0_539"/>
          <p:cNvSpPr txBox="1"/>
          <p:nvPr/>
        </p:nvSpPr>
        <p:spPr>
          <a:xfrm>
            <a:off x="6210600" y="44597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pic>
        <p:nvPicPr>
          <p:cNvPr id="1111" name="Google Shape;1111;h28f86b313e326572_0_576"/>
          <p:cNvPicPr preferRelativeResize="0"/>
          <p:nvPr/>
        </p:nvPicPr>
        <p:blipFill>
          <a:blip r:embed="rId3">
            <a:alphaModFix/>
          </a:blip>
          <a:stretch>
            <a:fillRect/>
          </a:stretch>
        </p:blipFill>
        <p:spPr>
          <a:xfrm>
            <a:off x="510025" y="2256690"/>
            <a:ext cx="2367796" cy="408828"/>
          </a:xfrm>
          <a:prstGeom prst="rect">
            <a:avLst/>
          </a:prstGeom>
          <a:noFill/>
          <a:ln>
            <a:noFill/>
          </a:ln>
        </p:spPr>
      </p:pic>
      <p:sp>
        <p:nvSpPr>
          <p:cNvPr id="1112" name="Google Shape;1112;h28f86b313e326572_0_576"/>
          <p:cNvSpPr txBox="1"/>
          <p:nvPr>
            <p:ph type="title"/>
          </p:nvPr>
        </p:nvSpPr>
        <p:spPr>
          <a:xfrm>
            <a:off x="409575" y="12226"/>
            <a:ext cx="4045200" cy="5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a:t>
            </a:r>
            <a:endParaRPr/>
          </a:p>
        </p:txBody>
      </p:sp>
      <p:cxnSp>
        <p:nvCxnSpPr>
          <p:cNvPr id="1113" name="Google Shape;1113;h28f86b313e326572_0_576"/>
          <p:cNvCxnSpPr/>
          <p:nvPr/>
        </p:nvCxnSpPr>
        <p:spPr>
          <a:xfrm>
            <a:off x="4570400" y="2953550"/>
            <a:ext cx="4578300" cy="0"/>
          </a:xfrm>
          <a:prstGeom prst="straightConnector1">
            <a:avLst/>
          </a:prstGeom>
          <a:noFill/>
          <a:ln cap="flat" cmpd="sng" w="38100">
            <a:solidFill>
              <a:schemeClr val="dk2"/>
            </a:solidFill>
            <a:prstDash val="solid"/>
            <a:round/>
            <a:headEnd len="med" w="med" type="none"/>
            <a:tailEnd len="med" w="med" type="none"/>
          </a:ln>
        </p:spPr>
      </p:cxnSp>
      <p:cxnSp>
        <p:nvCxnSpPr>
          <p:cNvPr id="1114" name="Google Shape;1114;h28f86b313e326572_0_576"/>
          <p:cNvCxnSpPr/>
          <p:nvPr/>
        </p:nvCxnSpPr>
        <p:spPr>
          <a:xfrm rot="10800000">
            <a:off x="8075" y="2953550"/>
            <a:ext cx="4530300" cy="0"/>
          </a:xfrm>
          <a:prstGeom prst="straightConnector1">
            <a:avLst/>
          </a:prstGeom>
          <a:noFill/>
          <a:ln cap="flat" cmpd="sng" w="38100">
            <a:solidFill>
              <a:schemeClr val="lt2"/>
            </a:solidFill>
            <a:prstDash val="solid"/>
            <a:round/>
            <a:headEnd len="med" w="med" type="none"/>
            <a:tailEnd len="med" w="med" type="none"/>
          </a:ln>
        </p:spPr>
      </p:cxn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pic>
        <p:nvPicPr>
          <p:cNvPr id="1119" name="Google Shape;1119;h28f86b313e326572_0_612"/>
          <p:cNvPicPr preferRelativeResize="0"/>
          <p:nvPr/>
        </p:nvPicPr>
        <p:blipFill>
          <a:blip r:embed="rId3">
            <a:alphaModFix/>
          </a:blip>
          <a:stretch>
            <a:fillRect/>
          </a:stretch>
        </p:blipFill>
        <p:spPr>
          <a:xfrm>
            <a:off x="510025" y="2256690"/>
            <a:ext cx="2367796" cy="408828"/>
          </a:xfrm>
          <a:prstGeom prst="rect">
            <a:avLst/>
          </a:prstGeom>
          <a:noFill/>
          <a:ln>
            <a:noFill/>
          </a:ln>
        </p:spPr>
      </p:pic>
      <p:pic>
        <p:nvPicPr>
          <p:cNvPr id="1120" name="Google Shape;1120;h28f86b313e326572_0_612"/>
          <p:cNvPicPr preferRelativeResize="0"/>
          <p:nvPr/>
        </p:nvPicPr>
        <p:blipFill>
          <a:blip r:embed="rId4">
            <a:alphaModFix/>
          </a:blip>
          <a:stretch>
            <a:fillRect/>
          </a:stretch>
        </p:blipFill>
        <p:spPr>
          <a:xfrm>
            <a:off x="478000" y="3177015"/>
            <a:ext cx="3458004" cy="1737519"/>
          </a:xfrm>
          <a:prstGeom prst="rect">
            <a:avLst/>
          </a:prstGeom>
          <a:noFill/>
          <a:ln>
            <a:noFill/>
          </a:ln>
        </p:spPr>
      </p:pic>
      <p:sp>
        <p:nvSpPr>
          <p:cNvPr id="1121" name="Google Shape;1121;h28f86b313e326572_0_612"/>
          <p:cNvSpPr txBox="1"/>
          <p:nvPr>
            <p:ph type="title"/>
          </p:nvPr>
        </p:nvSpPr>
        <p:spPr>
          <a:xfrm>
            <a:off x="409575" y="12226"/>
            <a:ext cx="4045200" cy="5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a:t>
            </a:r>
            <a:endParaRPr/>
          </a:p>
        </p:txBody>
      </p:sp>
      <p:cxnSp>
        <p:nvCxnSpPr>
          <p:cNvPr id="1122" name="Google Shape;1122;h28f86b313e326572_0_612"/>
          <p:cNvCxnSpPr/>
          <p:nvPr/>
        </p:nvCxnSpPr>
        <p:spPr>
          <a:xfrm>
            <a:off x="4570400" y="2953550"/>
            <a:ext cx="4578300" cy="0"/>
          </a:xfrm>
          <a:prstGeom prst="straightConnector1">
            <a:avLst/>
          </a:prstGeom>
          <a:noFill/>
          <a:ln cap="flat" cmpd="sng" w="38100">
            <a:solidFill>
              <a:schemeClr val="dk2"/>
            </a:solidFill>
            <a:prstDash val="solid"/>
            <a:round/>
            <a:headEnd len="med" w="med" type="none"/>
            <a:tailEnd len="med" w="med" type="none"/>
          </a:ln>
        </p:spPr>
      </p:cxnSp>
      <p:cxnSp>
        <p:nvCxnSpPr>
          <p:cNvPr id="1123" name="Google Shape;1123;h28f86b313e326572_0_612"/>
          <p:cNvCxnSpPr/>
          <p:nvPr/>
        </p:nvCxnSpPr>
        <p:spPr>
          <a:xfrm rot="10800000">
            <a:off x="8075" y="2953550"/>
            <a:ext cx="4530300" cy="0"/>
          </a:xfrm>
          <a:prstGeom prst="straightConnector1">
            <a:avLst/>
          </a:prstGeom>
          <a:noFill/>
          <a:ln cap="flat" cmpd="sng" w="38100">
            <a:solidFill>
              <a:schemeClr val="lt2"/>
            </a:solidFill>
            <a:prstDash val="solid"/>
            <a:round/>
            <a:headEnd len="med" w="med" type="none"/>
            <a:tailEnd len="med" w="med" type="none"/>
          </a:ln>
        </p:spPr>
      </p:cxn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h28f86b313e326572_0_601"/>
          <p:cNvSpPr/>
          <p:nvPr/>
        </p:nvSpPr>
        <p:spPr>
          <a:xfrm>
            <a:off x="5314700" y="656342"/>
            <a:ext cx="3089700" cy="11205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pic>
        <p:nvPicPr>
          <p:cNvPr id="1129" name="Google Shape;1129;h28f86b313e326572_0_601"/>
          <p:cNvPicPr preferRelativeResize="0"/>
          <p:nvPr/>
        </p:nvPicPr>
        <p:blipFill>
          <a:blip r:embed="rId3">
            <a:alphaModFix/>
          </a:blip>
          <a:stretch>
            <a:fillRect/>
          </a:stretch>
        </p:blipFill>
        <p:spPr>
          <a:xfrm>
            <a:off x="510025" y="2256690"/>
            <a:ext cx="2367796" cy="408828"/>
          </a:xfrm>
          <a:prstGeom prst="rect">
            <a:avLst/>
          </a:prstGeom>
          <a:noFill/>
          <a:ln>
            <a:noFill/>
          </a:ln>
        </p:spPr>
      </p:pic>
      <p:pic>
        <p:nvPicPr>
          <p:cNvPr id="1130" name="Google Shape;1130;h28f86b313e326572_0_601"/>
          <p:cNvPicPr preferRelativeResize="0"/>
          <p:nvPr/>
        </p:nvPicPr>
        <p:blipFill>
          <a:blip r:embed="rId4">
            <a:alphaModFix/>
          </a:blip>
          <a:stretch>
            <a:fillRect/>
          </a:stretch>
        </p:blipFill>
        <p:spPr>
          <a:xfrm>
            <a:off x="478000" y="3177015"/>
            <a:ext cx="3458004" cy="1737519"/>
          </a:xfrm>
          <a:prstGeom prst="rect">
            <a:avLst/>
          </a:prstGeom>
          <a:noFill/>
          <a:ln>
            <a:noFill/>
          </a:ln>
        </p:spPr>
      </p:pic>
      <p:pic>
        <p:nvPicPr>
          <p:cNvPr id="1131" name="Google Shape;1131;h28f86b313e326572_0_601"/>
          <p:cNvPicPr preferRelativeResize="0"/>
          <p:nvPr/>
        </p:nvPicPr>
        <p:blipFill>
          <a:blip r:embed="rId5">
            <a:alphaModFix/>
          </a:blip>
          <a:stretch>
            <a:fillRect/>
          </a:stretch>
        </p:blipFill>
        <p:spPr>
          <a:xfrm>
            <a:off x="5437169" y="790729"/>
            <a:ext cx="2844762" cy="851725"/>
          </a:xfrm>
          <a:prstGeom prst="rect">
            <a:avLst/>
          </a:prstGeom>
          <a:noFill/>
          <a:ln>
            <a:noFill/>
          </a:ln>
        </p:spPr>
      </p:pic>
      <p:sp>
        <p:nvSpPr>
          <p:cNvPr id="1132" name="Google Shape;1132;h28f86b313e326572_0_601"/>
          <p:cNvSpPr txBox="1"/>
          <p:nvPr>
            <p:ph type="title"/>
          </p:nvPr>
        </p:nvSpPr>
        <p:spPr>
          <a:xfrm>
            <a:off x="409575" y="12226"/>
            <a:ext cx="4045200" cy="5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a:t>
            </a:r>
            <a:endParaRPr/>
          </a:p>
        </p:txBody>
      </p:sp>
      <p:sp>
        <p:nvSpPr>
          <p:cNvPr id="1133" name="Google Shape;1133;h28f86b313e326572_0_601"/>
          <p:cNvSpPr txBox="1"/>
          <p:nvPr>
            <p:ph idx="2" type="body"/>
          </p:nvPr>
        </p:nvSpPr>
        <p:spPr>
          <a:xfrm>
            <a:off x="4906100" y="4225"/>
            <a:ext cx="3837000" cy="50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a:t>Logistic</a:t>
            </a:r>
            <a:endParaRPr b="1"/>
          </a:p>
        </p:txBody>
      </p:sp>
      <p:cxnSp>
        <p:nvCxnSpPr>
          <p:cNvPr id="1134" name="Google Shape;1134;h28f86b313e326572_0_601"/>
          <p:cNvCxnSpPr/>
          <p:nvPr/>
        </p:nvCxnSpPr>
        <p:spPr>
          <a:xfrm>
            <a:off x="4570400" y="2953550"/>
            <a:ext cx="4578300" cy="0"/>
          </a:xfrm>
          <a:prstGeom prst="straightConnector1">
            <a:avLst/>
          </a:prstGeom>
          <a:noFill/>
          <a:ln cap="flat" cmpd="sng" w="38100">
            <a:solidFill>
              <a:schemeClr val="dk2"/>
            </a:solidFill>
            <a:prstDash val="solid"/>
            <a:round/>
            <a:headEnd len="med" w="med" type="none"/>
            <a:tailEnd len="med" w="med" type="none"/>
          </a:ln>
        </p:spPr>
      </p:cxnSp>
      <p:cxnSp>
        <p:nvCxnSpPr>
          <p:cNvPr id="1135" name="Google Shape;1135;h28f86b313e326572_0_601"/>
          <p:cNvCxnSpPr/>
          <p:nvPr/>
        </p:nvCxnSpPr>
        <p:spPr>
          <a:xfrm rot="10800000">
            <a:off x="8075" y="2953550"/>
            <a:ext cx="4530300" cy="0"/>
          </a:xfrm>
          <a:prstGeom prst="straightConnector1">
            <a:avLst/>
          </a:prstGeom>
          <a:noFill/>
          <a:ln cap="flat" cmpd="sng" w="38100">
            <a:solidFill>
              <a:schemeClr val="lt2"/>
            </a:solidFill>
            <a:prstDash val="solid"/>
            <a:round/>
            <a:headEnd len="med" w="med" type="none"/>
            <a:tailEnd len="med" w="med" type="none"/>
          </a:ln>
        </p:spPr>
      </p:cxn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h28f86b313e326572_0_589"/>
          <p:cNvSpPr/>
          <p:nvPr/>
        </p:nvSpPr>
        <p:spPr>
          <a:xfrm>
            <a:off x="5314700" y="656342"/>
            <a:ext cx="3089700" cy="11205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pic>
        <p:nvPicPr>
          <p:cNvPr id="1141" name="Google Shape;1141;h28f86b313e326572_0_589"/>
          <p:cNvPicPr preferRelativeResize="0"/>
          <p:nvPr/>
        </p:nvPicPr>
        <p:blipFill>
          <a:blip r:embed="rId3">
            <a:alphaModFix/>
          </a:blip>
          <a:stretch>
            <a:fillRect/>
          </a:stretch>
        </p:blipFill>
        <p:spPr>
          <a:xfrm>
            <a:off x="510025" y="2256690"/>
            <a:ext cx="2367796" cy="408828"/>
          </a:xfrm>
          <a:prstGeom prst="rect">
            <a:avLst/>
          </a:prstGeom>
          <a:noFill/>
          <a:ln>
            <a:noFill/>
          </a:ln>
        </p:spPr>
      </p:pic>
      <p:pic>
        <p:nvPicPr>
          <p:cNvPr id="1142" name="Google Shape;1142;h28f86b313e326572_0_589"/>
          <p:cNvPicPr preferRelativeResize="0"/>
          <p:nvPr/>
        </p:nvPicPr>
        <p:blipFill>
          <a:blip r:embed="rId4">
            <a:alphaModFix/>
          </a:blip>
          <a:stretch>
            <a:fillRect/>
          </a:stretch>
        </p:blipFill>
        <p:spPr>
          <a:xfrm>
            <a:off x="478000" y="3177015"/>
            <a:ext cx="3458004" cy="1737519"/>
          </a:xfrm>
          <a:prstGeom prst="rect">
            <a:avLst/>
          </a:prstGeom>
          <a:noFill/>
          <a:ln>
            <a:noFill/>
          </a:ln>
        </p:spPr>
      </p:pic>
      <p:pic>
        <p:nvPicPr>
          <p:cNvPr id="1143" name="Google Shape;1143;h28f86b313e326572_0_589"/>
          <p:cNvPicPr preferRelativeResize="0"/>
          <p:nvPr/>
        </p:nvPicPr>
        <p:blipFill>
          <a:blip r:embed="rId5">
            <a:alphaModFix/>
          </a:blip>
          <a:stretch>
            <a:fillRect/>
          </a:stretch>
        </p:blipFill>
        <p:spPr>
          <a:xfrm>
            <a:off x="5437169" y="790729"/>
            <a:ext cx="2844762" cy="851725"/>
          </a:xfrm>
          <a:prstGeom prst="rect">
            <a:avLst/>
          </a:prstGeom>
          <a:noFill/>
          <a:ln>
            <a:noFill/>
          </a:ln>
        </p:spPr>
      </p:pic>
      <p:pic>
        <p:nvPicPr>
          <p:cNvPr id="1144" name="Google Shape;1144;h28f86b313e326572_0_589"/>
          <p:cNvPicPr preferRelativeResize="0"/>
          <p:nvPr/>
        </p:nvPicPr>
        <p:blipFill>
          <a:blip r:embed="rId6">
            <a:alphaModFix/>
          </a:blip>
          <a:stretch>
            <a:fillRect/>
          </a:stretch>
        </p:blipFill>
        <p:spPr>
          <a:xfrm>
            <a:off x="4970115" y="1865606"/>
            <a:ext cx="3952005" cy="885794"/>
          </a:xfrm>
          <a:prstGeom prst="rect">
            <a:avLst/>
          </a:prstGeom>
          <a:noFill/>
          <a:ln>
            <a:noFill/>
          </a:ln>
        </p:spPr>
      </p:pic>
      <p:sp>
        <p:nvSpPr>
          <p:cNvPr id="1145" name="Google Shape;1145;h28f86b313e326572_0_589"/>
          <p:cNvSpPr txBox="1"/>
          <p:nvPr>
            <p:ph type="title"/>
          </p:nvPr>
        </p:nvSpPr>
        <p:spPr>
          <a:xfrm>
            <a:off x="409575" y="12226"/>
            <a:ext cx="4045200" cy="5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a:t>
            </a:r>
            <a:endParaRPr/>
          </a:p>
        </p:txBody>
      </p:sp>
      <p:sp>
        <p:nvSpPr>
          <p:cNvPr id="1146" name="Google Shape;1146;h28f86b313e326572_0_589"/>
          <p:cNvSpPr txBox="1"/>
          <p:nvPr>
            <p:ph idx="2" type="body"/>
          </p:nvPr>
        </p:nvSpPr>
        <p:spPr>
          <a:xfrm>
            <a:off x="4906100" y="4225"/>
            <a:ext cx="3837000" cy="50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a:t>Logistic</a:t>
            </a:r>
            <a:endParaRPr b="1"/>
          </a:p>
        </p:txBody>
      </p:sp>
      <p:cxnSp>
        <p:nvCxnSpPr>
          <p:cNvPr id="1147" name="Google Shape;1147;h28f86b313e326572_0_589"/>
          <p:cNvCxnSpPr/>
          <p:nvPr/>
        </p:nvCxnSpPr>
        <p:spPr>
          <a:xfrm>
            <a:off x="4570400" y="2953550"/>
            <a:ext cx="4578300" cy="0"/>
          </a:xfrm>
          <a:prstGeom prst="straightConnector1">
            <a:avLst/>
          </a:prstGeom>
          <a:noFill/>
          <a:ln cap="flat" cmpd="sng" w="38100">
            <a:solidFill>
              <a:schemeClr val="dk2"/>
            </a:solidFill>
            <a:prstDash val="solid"/>
            <a:round/>
            <a:headEnd len="med" w="med" type="none"/>
            <a:tailEnd len="med" w="med" type="none"/>
          </a:ln>
        </p:spPr>
      </p:cxnSp>
      <p:cxnSp>
        <p:nvCxnSpPr>
          <p:cNvPr id="1148" name="Google Shape;1148;h28f86b313e326572_0_589"/>
          <p:cNvCxnSpPr/>
          <p:nvPr/>
        </p:nvCxnSpPr>
        <p:spPr>
          <a:xfrm rot="10800000">
            <a:off x="8075" y="2953550"/>
            <a:ext cx="4530300" cy="0"/>
          </a:xfrm>
          <a:prstGeom prst="straightConnector1">
            <a:avLst/>
          </a:prstGeom>
          <a:noFill/>
          <a:ln cap="flat" cmpd="sng" w="38100">
            <a:solidFill>
              <a:schemeClr val="lt2"/>
            </a:solidFill>
            <a:prstDash val="solid"/>
            <a:round/>
            <a:headEnd len="med" w="med" type="none"/>
            <a:tailEnd len="med" w="med" type="none"/>
          </a:ln>
        </p:spPr>
      </p:cxn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28f86b313e326572_0_554"/>
          <p:cNvSpPr/>
          <p:nvPr/>
        </p:nvSpPr>
        <p:spPr>
          <a:xfrm>
            <a:off x="5314700" y="656342"/>
            <a:ext cx="3089700" cy="11205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pic>
        <p:nvPicPr>
          <p:cNvPr id="1154" name="Google Shape;1154;h28f86b313e326572_0_554"/>
          <p:cNvPicPr preferRelativeResize="0"/>
          <p:nvPr/>
        </p:nvPicPr>
        <p:blipFill>
          <a:blip r:embed="rId3">
            <a:alphaModFix/>
          </a:blip>
          <a:stretch>
            <a:fillRect/>
          </a:stretch>
        </p:blipFill>
        <p:spPr>
          <a:xfrm>
            <a:off x="510025" y="2256690"/>
            <a:ext cx="2367796" cy="408828"/>
          </a:xfrm>
          <a:prstGeom prst="rect">
            <a:avLst/>
          </a:prstGeom>
          <a:noFill/>
          <a:ln>
            <a:noFill/>
          </a:ln>
        </p:spPr>
      </p:pic>
      <p:pic>
        <p:nvPicPr>
          <p:cNvPr id="1155" name="Google Shape;1155;h28f86b313e326572_0_554"/>
          <p:cNvPicPr preferRelativeResize="0"/>
          <p:nvPr/>
        </p:nvPicPr>
        <p:blipFill>
          <a:blip r:embed="rId4">
            <a:alphaModFix/>
          </a:blip>
          <a:stretch>
            <a:fillRect/>
          </a:stretch>
        </p:blipFill>
        <p:spPr>
          <a:xfrm>
            <a:off x="478000" y="3177015"/>
            <a:ext cx="3458004" cy="1737519"/>
          </a:xfrm>
          <a:prstGeom prst="rect">
            <a:avLst/>
          </a:prstGeom>
          <a:noFill/>
          <a:ln>
            <a:noFill/>
          </a:ln>
        </p:spPr>
      </p:pic>
      <p:pic>
        <p:nvPicPr>
          <p:cNvPr id="1156" name="Google Shape;1156;h28f86b313e326572_0_554"/>
          <p:cNvPicPr preferRelativeResize="0"/>
          <p:nvPr/>
        </p:nvPicPr>
        <p:blipFill>
          <a:blip r:embed="rId5">
            <a:alphaModFix/>
          </a:blip>
          <a:stretch>
            <a:fillRect/>
          </a:stretch>
        </p:blipFill>
        <p:spPr>
          <a:xfrm>
            <a:off x="5437169" y="790729"/>
            <a:ext cx="2844762" cy="851725"/>
          </a:xfrm>
          <a:prstGeom prst="rect">
            <a:avLst/>
          </a:prstGeom>
          <a:noFill/>
          <a:ln>
            <a:noFill/>
          </a:ln>
        </p:spPr>
      </p:pic>
      <p:pic>
        <p:nvPicPr>
          <p:cNvPr id="1157" name="Google Shape;1157;h28f86b313e326572_0_554"/>
          <p:cNvPicPr preferRelativeResize="0"/>
          <p:nvPr/>
        </p:nvPicPr>
        <p:blipFill>
          <a:blip r:embed="rId6">
            <a:alphaModFix/>
          </a:blip>
          <a:stretch>
            <a:fillRect/>
          </a:stretch>
        </p:blipFill>
        <p:spPr>
          <a:xfrm>
            <a:off x="4906090" y="3767947"/>
            <a:ext cx="3713522" cy="885794"/>
          </a:xfrm>
          <a:prstGeom prst="rect">
            <a:avLst/>
          </a:prstGeom>
          <a:noFill/>
          <a:ln>
            <a:noFill/>
          </a:ln>
        </p:spPr>
      </p:pic>
      <p:pic>
        <p:nvPicPr>
          <p:cNvPr id="1158" name="Google Shape;1158;h28f86b313e326572_0_554"/>
          <p:cNvPicPr preferRelativeResize="0"/>
          <p:nvPr/>
        </p:nvPicPr>
        <p:blipFill>
          <a:blip r:embed="rId7">
            <a:alphaModFix/>
          </a:blip>
          <a:stretch>
            <a:fillRect/>
          </a:stretch>
        </p:blipFill>
        <p:spPr>
          <a:xfrm>
            <a:off x="4970115" y="1865606"/>
            <a:ext cx="3952005" cy="885794"/>
          </a:xfrm>
          <a:prstGeom prst="rect">
            <a:avLst/>
          </a:prstGeom>
          <a:noFill/>
          <a:ln>
            <a:noFill/>
          </a:ln>
        </p:spPr>
      </p:pic>
      <p:sp>
        <p:nvSpPr>
          <p:cNvPr id="1159" name="Google Shape;1159;h28f86b313e326572_0_554"/>
          <p:cNvSpPr txBox="1"/>
          <p:nvPr>
            <p:ph type="title"/>
          </p:nvPr>
        </p:nvSpPr>
        <p:spPr>
          <a:xfrm>
            <a:off x="409575" y="12226"/>
            <a:ext cx="4045200" cy="5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a:t>
            </a:r>
            <a:endParaRPr/>
          </a:p>
        </p:txBody>
      </p:sp>
      <p:sp>
        <p:nvSpPr>
          <p:cNvPr id="1160" name="Google Shape;1160;h28f86b313e326572_0_554"/>
          <p:cNvSpPr txBox="1"/>
          <p:nvPr>
            <p:ph idx="2" type="body"/>
          </p:nvPr>
        </p:nvSpPr>
        <p:spPr>
          <a:xfrm>
            <a:off x="4906100" y="4225"/>
            <a:ext cx="3837000" cy="50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a:t>Logistic</a:t>
            </a:r>
            <a:endParaRPr b="1"/>
          </a:p>
        </p:txBody>
      </p:sp>
      <p:cxnSp>
        <p:nvCxnSpPr>
          <p:cNvPr id="1161" name="Google Shape;1161;h28f86b313e326572_0_554"/>
          <p:cNvCxnSpPr/>
          <p:nvPr/>
        </p:nvCxnSpPr>
        <p:spPr>
          <a:xfrm>
            <a:off x="4570400" y="2953550"/>
            <a:ext cx="4578300" cy="0"/>
          </a:xfrm>
          <a:prstGeom prst="straightConnector1">
            <a:avLst/>
          </a:prstGeom>
          <a:noFill/>
          <a:ln cap="flat" cmpd="sng" w="38100">
            <a:solidFill>
              <a:schemeClr val="dk2"/>
            </a:solidFill>
            <a:prstDash val="solid"/>
            <a:round/>
            <a:headEnd len="med" w="med" type="none"/>
            <a:tailEnd len="med" w="med" type="none"/>
          </a:ln>
        </p:spPr>
      </p:cxnSp>
      <p:cxnSp>
        <p:nvCxnSpPr>
          <p:cNvPr id="1162" name="Google Shape;1162;h28f86b313e326572_0_554"/>
          <p:cNvCxnSpPr/>
          <p:nvPr/>
        </p:nvCxnSpPr>
        <p:spPr>
          <a:xfrm rot="10800000">
            <a:off x="8075" y="2953550"/>
            <a:ext cx="4530300" cy="0"/>
          </a:xfrm>
          <a:prstGeom prst="straightConnector1">
            <a:avLst/>
          </a:prstGeom>
          <a:noFill/>
          <a:ln cap="flat" cmpd="sng" w="38100">
            <a:solidFill>
              <a:schemeClr val="lt2"/>
            </a:solidFill>
            <a:prstDash val="solid"/>
            <a:round/>
            <a:headEnd len="med" w="med" type="none"/>
            <a:tailEnd len="med" w="med" type="none"/>
          </a:ln>
        </p:spPr>
      </p:cxn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g3fbc1dcd947_0_200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Logistic Regression: a text example on sentiment classification</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bc1dcd947_0_200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Sentiment example: does y=1 or y=0?</a:t>
            </a:r>
            <a:endParaRPr/>
          </a:p>
        </p:txBody>
      </p:sp>
      <p:sp>
        <p:nvSpPr>
          <p:cNvPr id="1174" name="Google Shape;1174;g3fbc1dcd947_0_2009"/>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92500" lnSpcReduction="20000"/>
          </a:bodyPr>
          <a:lstStyle/>
          <a:p>
            <a:pPr indent="0" lvl="0" marL="0" rtl="0" algn="l">
              <a:spcBef>
                <a:spcPts val="0"/>
              </a:spcBef>
              <a:spcAft>
                <a:spcPts val="0"/>
              </a:spcAft>
              <a:buClr>
                <a:schemeClr val="dk1"/>
              </a:buClr>
              <a:buSzPct val="70000"/>
              <a:buNone/>
            </a:pPr>
            <a:r>
              <a:rPr lang="pt-BR"/>
              <a:t>It's hokey . There are virtually no surprises , and the writing is second-rate .         So why was it so enjoyable ? For one thing , the cast is </a:t>
            </a:r>
            <a:endParaRPr/>
          </a:p>
          <a:p>
            <a:pPr indent="0" lvl="0" marL="0" rtl="0" algn="l">
              <a:spcBef>
                <a:spcPts val="0"/>
              </a:spcBef>
              <a:spcAft>
                <a:spcPts val="0"/>
              </a:spcAft>
              <a:buClr>
                <a:schemeClr val="dk1"/>
              </a:buClr>
              <a:buSzPct val="70000"/>
              <a:buNone/>
            </a:pPr>
            <a:r>
              <a:rPr lang="pt-BR"/>
              <a:t>great . Another nice touch is the music . I was overcome with the urge to get off the couch and start dancing . It sucked me in , and it'll do the same to you .</a:t>
            </a:r>
            <a:endParaRPr/>
          </a:p>
          <a:p>
            <a:pPr indent="0" lvl="0" marL="0" rtl="0" algn="l">
              <a:spcBef>
                <a:spcPts val="0"/>
              </a:spcBef>
              <a:spcAft>
                <a:spcPts val="0"/>
              </a:spcAft>
              <a:buClr>
                <a:srgbClr val="3F3F3F"/>
              </a:buClr>
              <a:buSzPct val="26667"/>
              <a:buNone/>
            </a:pPr>
            <a:r>
              <a:t/>
            </a:r>
            <a:endParaRPr/>
          </a:p>
        </p:txBody>
      </p:sp>
      <p:pic>
        <p:nvPicPr>
          <p:cNvPr descr="page5image2665455056" id="1175" name="Google Shape;1175;g3fbc1dcd947_0_2009"/>
          <p:cNvPicPr preferRelativeResize="0"/>
          <p:nvPr/>
        </p:nvPicPr>
        <p:blipFill rotWithShape="1">
          <a:blip r:embed="rId3">
            <a:alphaModFix/>
          </a:blip>
          <a:srcRect b="0" l="0" r="0" t="0"/>
          <a:stretch/>
        </p:blipFill>
        <p:spPr>
          <a:xfrm>
            <a:off x="127000" y="-60325"/>
            <a:ext cx="609600" cy="127000"/>
          </a:xfrm>
          <a:prstGeom prst="rect">
            <a:avLst/>
          </a:prstGeom>
          <a:noFill/>
          <a:ln>
            <a:noFill/>
          </a:ln>
        </p:spPr>
      </p:pic>
      <p:pic>
        <p:nvPicPr>
          <p:cNvPr descr="page5image2665455648" id="1176" name="Google Shape;1176;g3fbc1dcd947_0_2009"/>
          <p:cNvPicPr preferRelativeResize="0"/>
          <p:nvPr/>
        </p:nvPicPr>
        <p:blipFill rotWithShape="1">
          <a:blip r:embed="rId4">
            <a:alphaModFix/>
          </a:blip>
          <a:srcRect b="0" l="0" r="0" t="0"/>
          <a:stretch/>
        </p:blipFill>
        <p:spPr>
          <a:xfrm>
            <a:off x="946150" y="-60325"/>
            <a:ext cx="546100" cy="127000"/>
          </a:xfrm>
          <a:prstGeom prst="rect">
            <a:avLst/>
          </a:prstGeom>
          <a:noFill/>
          <a:ln>
            <a:noFill/>
          </a:ln>
        </p:spPr>
      </p:pic>
      <p:sp>
        <p:nvSpPr>
          <p:cNvPr id="1177" name="Google Shape;1177;g3fbc1dcd947_0_2009"/>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g3fbc1dcd947_0_220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sp>
        <p:nvSpPr>
          <p:cNvPr id="1183" name="Google Shape;1183;g3fbc1dcd947_0_220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Which aspects would you use to classify the sentiment of this text?</a:t>
            </a:r>
            <a:endParaRPr/>
          </a:p>
        </p:txBody>
      </p:sp>
      <p:sp>
        <p:nvSpPr>
          <p:cNvPr id="1184" name="Google Shape;1184;g3fbc1dcd947_0_220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pic>
        <p:nvPicPr>
          <p:cNvPr id="1190" name="Google Shape;1190;g3fbc1dcd947_0_2018"/>
          <p:cNvPicPr preferRelativeResize="0"/>
          <p:nvPr/>
        </p:nvPicPr>
        <p:blipFill>
          <a:blip r:embed="rId3">
            <a:alphaModFix/>
          </a:blip>
          <a:stretch>
            <a:fillRect/>
          </a:stretch>
        </p:blipFill>
        <p:spPr>
          <a:xfrm>
            <a:off x="1166100" y="152400"/>
            <a:ext cx="6811809" cy="4838700"/>
          </a:xfrm>
          <a:prstGeom prst="rect">
            <a:avLst/>
          </a:prstGeom>
          <a:noFill/>
          <a:ln>
            <a:noFill/>
          </a:ln>
        </p:spPr>
      </p:pic>
      <p:sp>
        <p:nvSpPr>
          <p:cNvPr id="1191" name="Google Shape;1191;g3fbc1dcd947_0_2018"/>
          <p:cNvSpPr txBox="1"/>
          <p:nvPr/>
        </p:nvSpPr>
        <p:spPr>
          <a:xfrm>
            <a:off x="7767900" y="4017900"/>
            <a:ext cx="137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(Jurafsky, 2026)</a:t>
            </a:r>
            <a:endParaRPr sz="1200">
              <a:solidFill>
                <a:srgbClr val="434343"/>
              </a:solidFill>
              <a:latin typeface="Comfortaa"/>
              <a:ea typeface="Comfortaa"/>
              <a:cs typeface="Comfortaa"/>
              <a:sym typeface="Comfortaa"/>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g3fbc1dcd947_0_2027"/>
          <p:cNvSpPr txBox="1"/>
          <p:nvPr>
            <p:ph type="title"/>
          </p:nvPr>
        </p:nvSpPr>
        <p:spPr>
          <a:xfrm>
            <a:off x="311700" y="8377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Classifying sentiment for input x</a:t>
            </a:r>
            <a:endParaRPr/>
          </a:p>
        </p:txBody>
      </p:sp>
      <p:pic>
        <p:nvPicPr>
          <p:cNvPr id="1198" name="Google Shape;1198;g3fbc1dcd947_0_2027"/>
          <p:cNvPicPr preferRelativeResize="0"/>
          <p:nvPr/>
        </p:nvPicPr>
        <p:blipFill rotWithShape="1">
          <a:blip r:embed="rId3">
            <a:alphaModFix/>
          </a:blip>
          <a:srcRect b="0" l="0" r="0" t="0"/>
          <a:stretch/>
        </p:blipFill>
        <p:spPr>
          <a:xfrm>
            <a:off x="533400" y="934413"/>
            <a:ext cx="7548727" cy="3075406"/>
          </a:xfrm>
          <a:prstGeom prst="rect">
            <a:avLst/>
          </a:prstGeom>
          <a:noFill/>
          <a:ln>
            <a:noFill/>
          </a:ln>
        </p:spPr>
      </p:pic>
      <p:pic>
        <p:nvPicPr>
          <p:cNvPr id="1199" name="Google Shape;1199;g3fbc1dcd947_0_2027"/>
          <p:cNvPicPr preferRelativeResize="0"/>
          <p:nvPr/>
        </p:nvPicPr>
        <p:blipFill rotWithShape="1">
          <a:blip r:embed="rId4">
            <a:alphaModFix/>
          </a:blip>
          <a:srcRect b="11910" l="0" r="35242" t="0"/>
          <a:stretch/>
        </p:blipFill>
        <p:spPr>
          <a:xfrm>
            <a:off x="2848222" y="4161509"/>
            <a:ext cx="3973420" cy="443019"/>
          </a:xfrm>
          <a:prstGeom prst="rect">
            <a:avLst/>
          </a:prstGeom>
          <a:noFill/>
          <a:ln>
            <a:noFill/>
          </a:ln>
        </p:spPr>
      </p:pic>
      <p:sp>
        <p:nvSpPr>
          <p:cNvPr id="1200" name="Google Shape;1200;g3fbc1dcd947_0_2027"/>
          <p:cNvSpPr txBox="1"/>
          <p:nvPr/>
        </p:nvSpPr>
        <p:spPr>
          <a:xfrm>
            <a:off x="1070171" y="4170988"/>
            <a:ext cx="1778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Times New Roman"/>
                <a:ea typeface="Times New Roman"/>
                <a:cs typeface="Times New Roman"/>
                <a:sym typeface="Times New Roman"/>
              </a:rPr>
              <a:t>Suppose w =</a:t>
            </a:r>
            <a:endParaRPr/>
          </a:p>
        </p:txBody>
      </p:sp>
      <p:sp>
        <p:nvSpPr>
          <p:cNvPr id="1201" name="Google Shape;1201;g3fbc1dcd947_0_2027"/>
          <p:cNvSpPr txBox="1"/>
          <p:nvPr/>
        </p:nvSpPr>
        <p:spPr>
          <a:xfrm>
            <a:off x="2232303" y="4735209"/>
            <a:ext cx="10503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Times New Roman"/>
                <a:ea typeface="Times New Roman"/>
                <a:cs typeface="Times New Roman"/>
                <a:sym typeface="Times New Roman"/>
              </a:rPr>
              <a:t>b = 0.1</a:t>
            </a:r>
            <a:endParaRPr/>
          </a:p>
        </p:txBody>
      </p:sp>
      <p:sp>
        <p:nvSpPr>
          <p:cNvPr id="1202" name="Google Shape;1202;g3fbc1dcd947_0_2027"/>
          <p:cNvSpPr/>
          <p:nvPr/>
        </p:nvSpPr>
        <p:spPr>
          <a:xfrm>
            <a:off x="6597100" y="845550"/>
            <a:ext cx="1485000" cy="430800"/>
          </a:xfrm>
          <a:prstGeom prst="rect">
            <a:avLst/>
          </a:prstGeom>
          <a:solidFill>
            <a:srgbClr val="E3E7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sp>
        <p:nvSpPr>
          <p:cNvPr id="1203" name="Google Shape;1203;g3fbc1dcd947_0_2027"/>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8" name="Shape 1208"/>
        <p:cNvGrpSpPr/>
        <p:nvPr/>
      </p:nvGrpSpPr>
      <p:grpSpPr>
        <a:xfrm>
          <a:off x="0" y="0"/>
          <a:ext cx="0" cy="0"/>
          <a:chOff x="0" y="0"/>
          <a:chExt cx="0" cy="0"/>
        </a:xfrm>
      </p:grpSpPr>
      <p:sp>
        <p:nvSpPr>
          <p:cNvPr id="1209" name="Google Shape;1209;g3fbc1dcd947_0_2039"/>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Classifying sentiment for input x</a:t>
            </a:r>
            <a:endParaRPr/>
          </a:p>
        </p:txBody>
      </p:sp>
      <p:pic>
        <p:nvPicPr>
          <p:cNvPr id="1210" name="Google Shape;1210;g3fbc1dcd947_0_2039"/>
          <p:cNvPicPr preferRelativeResize="0"/>
          <p:nvPr>
            <p:ph idx="1" type="body"/>
          </p:nvPr>
        </p:nvPicPr>
        <p:blipFill rotWithShape="1">
          <a:blip r:embed="rId3">
            <a:alphaModFix/>
          </a:blip>
          <a:srcRect b="32555" l="0" r="0" t="0"/>
          <a:stretch/>
        </p:blipFill>
        <p:spPr>
          <a:xfrm>
            <a:off x="194722" y="1504950"/>
            <a:ext cx="8949300" cy="1597800"/>
          </a:xfrm>
          <a:prstGeom prst="rect">
            <a:avLst/>
          </a:prstGeom>
          <a:noFill/>
          <a:ln>
            <a:noFill/>
          </a:ln>
        </p:spPr>
      </p:pic>
      <p:sp>
        <p:nvSpPr>
          <p:cNvPr id="1211" name="Google Shape;1211;g3fbc1dcd947_0_2039"/>
          <p:cNvSpPr txBox="1"/>
          <p:nvPr>
            <p:ph idx="4294967295" type="sldNum"/>
          </p:nvPr>
        </p:nvSpPr>
        <p:spPr>
          <a:xfrm>
            <a:off x="7425345" y="4844840"/>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1212" name="Google Shape;1212;g3fbc1dcd947_0_2039"/>
          <p:cNvPicPr preferRelativeResize="0"/>
          <p:nvPr/>
        </p:nvPicPr>
        <p:blipFill rotWithShape="1">
          <a:blip r:embed="rId4">
            <a:alphaModFix/>
          </a:blip>
          <a:srcRect b="0" l="0" r="0" t="63224"/>
          <a:stretch/>
        </p:blipFill>
        <p:spPr>
          <a:xfrm>
            <a:off x="194726" y="3363622"/>
            <a:ext cx="8949273" cy="871196"/>
          </a:xfrm>
          <a:prstGeom prst="rect">
            <a:avLst/>
          </a:prstGeom>
          <a:noFill/>
          <a:ln>
            <a:noFill/>
          </a:ln>
        </p:spPr>
      </p:pic>
      <p:sp>
        <p:nvSpPr>
          <p:cNvPr id="1213" name="Google Shape;1213;g3fbc1dcd947_0_2039"/>
          <p:cNvSpPr/>
          <p:nvPr/>
        </p:nvSpPr>
        <p:spPr>
          <a:xfrm>
            <a:off x="8409364" y="2495550"/>
            <a:ext cx="734700" cy="762000"/>
          </a:xfrm>
          <a:prstGeom prst="rect">
            <a:avLst/>
          </a:prstGeom>
          <a:solidFill>
            <a:srgbClr val="E3E7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sp>
        <p:nvSpPr>
          <p:cNvPr id="1214" name="Google Shape;1214;g3fbc1dcd947_0_2039"/>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g3fbc1dcd947_0_2048"/>
          <p:cNvSpPr txBox="1"/>
          <p:nvPr>
            <p:ph type="title"/>
          </p:nvPr>
        </p:nvSpPr>
        <p:spPr>
          <a:xfrm>
            <a:off x="822960" y="214953"/>
            <a:ext cx="7940100" cy="7263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40"/>
              <a:buFont typeface="Calibri"/>
              <a:buNone/>
            </a:pPr>
            <a:r>
              <a:rPr lang="pt-BR" sz="2360"/>
              <a:t>We can build features for logistic regression for any classification task: period disambiguation</a:t>
            </a:r>
            <a:endParaRPr sz="2360"/>
          </a:p>
        </p:txBody>
      </p:sp>
      <p:sp>
        <p:nvSpPr>
          <p:cNvPr id="1221" name="Google Shape;1221;g3fbc1dcd947_0_2048"/>
          <p:cNvSpPr txBox="1"/>
          <p:nvPr/>
        </p:nvSpPr>
        <p:spPr>
          <a:xfrm>
            <a:off x="1207363" y="1500326"/>
            <a:ext cx="52293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This ends in a period.</a:t>
            </a:r>
            <a:endParaRPr/>
          </a:p>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The house at 465 Main St. is new.</a:t>
            </a:r>
            <a:endParaRPr/>
          </a:p>
        </p:txBody>
      </p:sp>
      <p:sp>
        <p:nvSpPr>
          <p:cNvPr id="1222" name="Google Shape;1222;g3fbc1dcd947_0_2048"/>
          <p:cNvSpPr/>
          <p:nvPr/>
        </p:nvSpPr>
        <p:spPr>
          <a:xfrm>
            <a:off x="4266405" y="1712725"/>
            <a:ext cx="376822" cy="284751"/>
          </a:xfrm>
          <a:custGeom>
            <a:rect b="b" l="l" r="r" t="t"/>
            <a:pathLst>
              <a:path extrusionOk="0" h="284751" w="376822">
                <a:moveTo>
                  <a:pt x="243451" y="665"/>
                </a:moveTo>
                <a:cubicBezTo>
                  <a:pt x="239430" y="888"/>
                  <a:pt x="105299" y="-5719"/>
                  <a:pt x="57020" y="18421"/>
                </a:cubicBezTo>
                <a:cubicBezTo>
                  <a:pt x="47477" y="23193"/>
                  <a:pt x="39265" y="30258"/>
                  <a:pt x="30387" y="36176"/>
                </a:cubicBezTo>
                <a:cubicBezTo>
                  <a:pt x="24469" y="45054"/>
                  <a:pt x="17404" y="53266"/>
                  <a:pt x="12632" y="62809"/>
                </a:cubicBezTo>
                <a:cubicBezTo>
                  <a:pt x="-12958" y="113989"/>
                  <a:pt x="7382" y="205360"/>
                  <a:pt x="12632" y="240362"/>
                </a:cubicBezTo>
                <a:cubicBezTo>
                  <a:pt x="14215" y="250914"/>
                  <a:pt x="21339" y="261340"/>
                  <a:pt x="30387" y="266995"/>
                </a:cubicBezTo>
                <a:cubicBezTo>
                  <a:pt x="46258" y="276915"/>
                  <a:pt x="83653" y="284751"/>
                  <a:pt x="83653" y="284751"/>
                </a:cubicBezTo>
                <a:cubicBezTo>
                  <a:pt x="131001" y="281792"/>
                  <a:pt x="178691" y="282283"/>
                  <a:pt x="225696" y="275873"/>
                </a:cubicBezTo>
                <a:cubicBezTo>
                  <a:pt x="244240" y="273344"/>
                  <a:pt x="278962" y="258118"/>
                  <a:pt x="278962" y="258118"/>
                </a:cubicBezTo>
                <a:cubicBezTo>
                  <a:pt x="287840" y="252199"/>
                  <a:pt x="296052" y="245134"/>
                  <a:pt x="305595" y="240362"/>
                </a:cubicBezTo>
                <a:cubicBezTo>
                  <a:pt x="313965" y="236177"/>
                  <a:pt x="324613" y="236924"/>
                  <a:pt x="332228" y="231485"/>
                </a:cubicBezTo>
                <a:cubicBezTo>
                  <a:pt x="345850" y="221755"/>
                  <a:pt x="367739" y="195974"/>
                  <a:pt x="367739" y="195974"/>
                </a:cubicBezTo>
                <a:cubicBezTo>
                  <a:pt x="370698" y="187096"/>
                  <a:pt x="378154" y="178571"/>
                  <a:pt x="376616" y="169341"/>
                </a:cubicBezTo>
                <a:cubicBezTo>
                  <a:pt x="374862" y="158817"/>
                  <a:pt x="365691" y="150905"/>
                  <a:pt x="358861" y="142708"/>
                </a:cubicBezTo>
                <a:cubicBezTo>
                  <a:pt x="327226" y="104746"/>
                  <a:pt x="340513" y="126255"/>
                  <a:pt x="305595" y="98320"/>
                </a:cubicBezTo>
                <a:cubicBezTo>
                  <a:pt x="299059" y="93091"/>
                  <a:pt x="295326" y="84307"/>
                  <a:pt x="287840" y="80564"/>
                </a:cubicBezTo>
                <a:cubicBezTo>
                  <a:pt x="271100" y="72194"/>
                  <a:pt x="252926" y="66480"/>
                  <a:pt x="234574" y="62809"/>
                </a:cubicBezTo>
                <a:lnTo>
                  <a:pt x="190185" y="53931"/>
                </a:lnTo>
              </a:path>
            </a:pathLst>
          </a:custGeom>
          <a:noFill/>
          <a:ln cap="flat" cmpd="sng" w="571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sp>
        <p:nvSpPr>
          <p:cNvPr id="1223" name="Google Shape;1223;g3fbc1dcd947_0_2048"/>
          <p:cNvSpPr/>
          <p:nvPr/>
        </p:nvSpPr>
        <p:spPr>
          <a:xfrm>
            <a:off x="4953000" y="2046572"/>
            <a:ext cx="376822" cy="284751"/>
          </a:xfrm>
          <a:custGeom>
            <a:rect b="b" l="l" r="r" t="t"/>
            <a:pathLst>
              <a:path extrusionOk="0" h="284751" w="376822">
                <a:moveTo>
                  <a:pt x="243451" y="665"/>
                </a:moveTo>
                <a:cubicBezTo>
                  <a:pt x="239430" y="888"/>
                  <a:pt x="105299" y="-5719"/>
                  <a:pt x="57020" y="18421"/>
                </a:cubicBezTo>
                <a:cubicBezTo>
                  <a:pt x="47477" y="23193"/>
                  <a:pt x="39265" y="30258"/>
                  <a:pt x="30387" y="36176"/>
                </a:cubicBezTo>
                <a:cubicBezTo>
                  <a:pt x="24469" y="45054"/>
                  <a:pt x="17404" y="53266"/>
                  <a:pt x="12632" y="62809"/>
                </a:cubicBezTo>
                <a:cubicBezTo>
                  <a:pt x="-12958" y="113989"/>
                  <a:pt x="7382" y="205360"/>
                  <a:pt x="12632" y="240362"/>
                </a:cubicBezTo>
                <a:cubicBezTo>
                  <a:pt x="14215" y="250914"/>
                  <a:pt x="21339" y="261340"/>
                  <a:pt x="30387" y="266995"/>
                </a:cubicBezTo>
                <a:cubicBezTo>
                  <a:pt x="46258" y="276915"/>
                  <a:pt x="83653" y="284751"/>
                  <a:pt x="83653" y="284751"/>
                </a:cubicBezTo>
                <a:cubicBezTo>
                  <a:pt x="131001" y="281792"/>
                  <a:pt x="178691" y="282283"/>
                  <a:pt x="225696" y="275873"/>
                </a:cubicBezTo>
                <a:cubicBezTo>
                  <a:pt x="244240" y="273344"/>
                  <a:pt x="278962" y="258118"/>
                  <a:pt x="278962" y="258118"/>
                </a:cubicBezTo>
                <a:cubicBezTo>
                  <a:pt x="287840" y="252199"/>
                  <a:pt x="296052" y="245134"/>
                  <a:pt x="305595" y="240362"/>
                </a:cubicBezTo>
                <a:cubicBezTo>
                  <a:pt x="313965" y="236177"/>
                  <a:pt x="324613" y="236924"/>
                  <a:pt x="332228" y="231485"/>
                </a:cubicBezTo>
                <a:cubicBezTo>
                  <a:pt x="345850" y="221755"/>
                  <a:pt x="367739" y="195974"/>
                  <a:pt x="367739" y="195974"/>
                </a:cubicBezTo>
                <a:cubicBezTo>
                  <a:pt x="370698" y="187096"/>
                  <a:pt x="378154" y="178571"/>
                  <a:pt x="376616" y="169341"/>
                </a:cubicBezTo>
                <a:cubicBezTo>
                  <a:pt x="374862" y="158817"/>
                  <a:pt x="365691" y="150905"/>
                  <a:pt x="358861" y="142708"/>
                </a:cubicBezTo>
                <a:cubicBezTo>
                  <a:pt x="327226" y="104746"/>
                  <a:pt x="340513" y="126255"/>
                  <a:pt x="305595" y="98320"/>
                </a:cubicBezTo>
                <a:cubicBezTo>
                  <a:pt x="299059" y="93091"/>
                  <a:pt x="295326" y="84307"/>
                  <a:pt x="287840" y="80564"/>
                </a:cubicBezTo>
                <a:cubicBezTo>
                  <a:pt x="271100" y="72194"/>
                  <a:pt x="252926" y="66480"/>
                  <a:pt x="234574" y="62809"/>
                </a:cubicBezTo>
                <a:lnTo>
                  <a:pt x="190185" y="53931"/>
                </a:lnTo>
              </a:path>
            </a:pathLst>
          </a:custGeom>
          <a:noFill/>
          <a:ln cap="flat" cmpd="sng" w="571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sp>
        <p:nvSpPr>
          <p:cNvPr id="1224" name="Google Shape;1224;g3fbc1dcd947_0_2048"/>
          <p:cNvSpPr/>
          <p:nvPr/>
        </p:nvSpPr>
        <p:spPr>
          <a:xfrm>
            <a:off x="6059858" y="2046571"/>
            <a:ext cx="376822" cy="284751"/>
          </a:xfrm>
          <a:custGeom>
            <a:rect b="b" l="l" r="r" t="t"/>
            <a:pathLst>
              <a:path extrusionOk="0" h="284751" w="376822">
                <a:moveTo>
                  <a:pt x="243451" y="665"/>
                </a:moveTo>
                <a:cubicBezTo>
                  <a:pt x="239430" y="888"/>
                  <a:pt x="105299" y="-5719"/>
                  <a:pt x="57020" y="18421"/>
                </a:cubicBezTo>
                <a:cubicBezTo>
                  <a:pt x="47477" y="23193"/>
                  <a:pt x="39265" y="30258"/>
                  <a:pt x="30387" y="36176"/>
                </a:cubicBezTo>
                <a:cubicBezTo>
                  <a:pt x="24469" y="45054"/>
                  <a:pt x="17404" y="53266"/>
                  <a:pt x="12632" y="62809"/>
                </a:cubicBezTo>
                <a:cubicBezTo>
                  <a:pt x="-12958" y="113989"/>
                  <a:pt x="7382" y="205360"/>
                  <a:pt x="12632" y="240362"/>
                </a:cubicBezTo>
                <a:cubicBezTo>
                  <a:pt x="14215" y="250914"/>
                  <a:pt x="21339" y="261340"/>
                  <a:pt x="30387" y="266995"/>
                </a:cubicBezTo>
                <a:cubicBezTo>
                  <a:pt x="46258" y="276915"/>
                  <a:pt x="83653" y="284751"/>
                  <a:pt x="83653" y="284751"/>
                </a:cubicBezTo>
                <a:cubicBezTo>
                  <a:pt x="131001" y="281792"/>
                  <a:pt x="178691" y="282283"/>
                  <a:pt x="225696" y="275873"/>
                </a:cubicBezTo>
                <a:cubicBezTo>
                  <a:pt x="244240" y="273344"/>
                  <a:pt x="278962" y="258118"/>
                  <a:pt x="278962" y="258118"/>
                </a:cubicBezTo>
                <a:cubicBezTo>
                  <a:pt x="287840" y="252199"/>
                  <a:pt x="296052" y="245134"/>
                  <a:pt x="305595" y="240362"/>
                </a:cubicBezTo>
                <a:cubicBezTo>
                  <a:pt x="313965" y="236177"/>
                  <a:pt x="324613" y="236924"/>
                  <a:pt x="332228" y="231485"/>
                </a:cubicBezTo>
                <a:cubicBezTo>
                  <a:pt x="345850" y="221755"/>
                  <a:pt x="367739" y="195974"/>
                  <a:pt x="367739" y="195974"/>
                </a:cubicBezTo>
                <a:cubicBezTo>
                  <a:pt x="370698" y="187096"/>
                  <a:pt x="378154" y="178571"/>
                  <a:pt x="376616" y="169341"/>
                </a:cubicBezTo>
                <a:cubicBezTo>
                  <a:pt x="374862" y="158817"/>
                  <a:pt x="365691" y="150905"/>
                  <a:pt x="358861" y="142708"/>
                </a:cubicBezTo>
                <a:cubicBezTo>
                  <a:pt x="327226" y="104746"/>
                  <a:pt x="340513" y="126255"/>
                  <a:pt x="305595" y="98320"/>
                </a:cubicBezTo>
                <a:cubicBezTo>
                  <a:pt x="299059" y="93091"/>
                  <a:pt x="295326" y="84307"/>
                  <a:pt x="287840" y="80564"/>
                </a:cubicBezTo>
                <a:cubicBezTo>
                  <a:pt x="271100" y="72194"/>
                  <a:pt x="252926" y="66480"/>
                  <a:pt x="234574" y="62809"/>
                </a:cubicBezTo>
                <a:lnTo>
                  <a:pt x="190185" y="53931"/>
                </a:lnTo>
              </a:path>
            </a:pathLst>
          </a:custGeom>
          <a:noFill/>
          <a:ln cap="flat" cmpd="sng" w="571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sp>
        <p:nvSpPr>
          <p:cNvPr id="1225" name="Google Shape;1225;g3fbc1dcd947_0_2048"/>
          <p:cNvSpPr txBox="1"/>
          <p:nvPr/>
        </p:nvSpPr>
        <p:spPr>
          <a:xfrm>
            <a:off x="5106019" y="1129908"/>
            <a:ext cx="2560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End of sentence</a:t>
            </a:r>
            <a:endParaRPr/>
          </a:p>
        </p:txBody>
      </p:sp>
      <p:cxnSp>
        <p:nvCxnSpPr>
          <p:cNvPr id="1226" name="Google Shape;1226;g3fbc1dcd947_0_2048"/>
          <p:cNvCxnSpPr/>
          <p:nvPr/>
        </p:nvCxnSpPr>
        <p:spPr>
          <a:xfrm flipH="1">
            <a:off x="4643112" y="1432441"/>
            <a:ext cx="498300" cy="292500"/>
          </a:xfrm>
          <a:prstGeom prst="straightConnector1">
            <a:avLst/>
          </a:prstGeom>
          <a:noFill/>
          <a:ln cap="flat" cmpd="sng" w="38100">
            <a:solidFill>
              <a:srgbClr val="C00000"/>
            </a:solidFill>
            <a:prstDash val="solid"/>
            <a:round/>
            <a:headEnd len="sm" w="sm" type="none"/>
            <a:tailEnd len="med" w="med" type="triangle"/>
          </a:ln>
        </p:spPr>
      </p:cxnSp>
      <p:cxnSp>
        <p:nvCxnSpPr>
          <p:cNvPr id="1227" name="Google Shape;1227;g3fbc1dcd947_0_2048"/>
          <p:cNvCxnSpPr/>
          <p:nvPr/>
        </p:nvCxnSpPr>
        <p:spPr>
          <a:xfrm>
            <a:off x="6059858" y="1530461"/>
            <a:ext cx="112200" cy="467100"/>
          </a:xfrm>
          <a:prstGeom prst="straightConnector1">
            <a:avLst/>
          </a:prstGeom>
          <a:noFill/>
          <a:ln cap="flat" cmpd="sng" w="38100">
            <a:solidFill>
              <a:srgbClr val="C00000"/>
            </a:solidFill>
            <a:prstDash val="solid"/>
            <a:round/>
            <a:headEnd len="sm" w="sm" type="none"/>
            <a:tailEnd len="med" w="med" type="triangle"/>
          </a:ln>
        </p:spPr>
      </p:cxnSp>
      <p:sp>
        <p:nvSpPr>
          <p:cNvPr id="1228" name="Google Shape;1228;g3fbc1dcd947_0_2048"/>
          <p:cNvSpPr txBox="1"/>
          <p:nvPr/>
        </p:nvSpPr>
        <p:spPr>
          <a:xfrm>
            <a:off x="4779700" y="2361458"/>
            <a:ext cx="1371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Not end</a:t>
            </a:r>
            <a:endParaRPr/>
          </a:p>
        </p:txBody>
      </p:sp>
      <p:pic>
        <p:nvPicPr>
          <p:cNvPr id="1229" name="Google Shape;1229;g3fbc1dcd947_0_2048"/>
          <p:cNvPicPr preferRelativeResize="0"/>
          <p:nvPr/>
        </p:nvPicPr>
        <p:blipFill>
          <a:blip r:embed="rId3">
            <a:alphaModFix/>
          </a:blip>
          <a:stretch>
            <a:fillRect/>
          </a:stretch>
        </p:blipFill>
        <p:spPr>
          <a:xfrm>
            <a:off x="1398925" y="3055183"/>
            <a:ext cx="4846192" cy="2015541"/>
          </a:xfrm>
          <a:prstGeom prst="rect">
            <a:avLst/>
          </a:prstGeom>
          <a:noFill/>
          <a:ln>
            <a:noFill/>
          </a:ln>
        </p:spPr>
      </p:pic>
      <p:sp>
        <p:nvSpPr>
          <p:cNvPr id="1230" name="Google Shape;1230;g3fbc1dcd947_0_2048"/>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g3fbb7e4475e_1_1"/>
          <p:cNvSpPr txBox="1"/>
          <p:nvPr>
            <p:ph type="title"/>
          </p:nvPr>
        </p:nvSpPr>
        <p:spPr>
          <a:xfrm>
            <a:off x="311700" y="147550"/>
            <a:ext cx="8520600" cy="870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br>
              <a:rPr lang="pt-BR"/>
            </a:br>
            <a:r>
              <a:rPr lang="pt-BR"/>
              <a:t>Classification in (</a:t>
            </a:r>
            <a:r>
              <a:rPr b="1" lang="pt-BR"/>
              <a:t>binary)</a:t>
            </a:r>
            <a:r>
              <a:rPr lang="pt-BR"/>
              <a:t> logistic regression: summary</a:t>
            </a:r>
            <a:endParaRPr/>
          </a:p>
        </p:txBody>
      </p:sp>
      <p:sp>
        <p:nvSpPr>
          <p:cNvPr id="1236" name="Google Shape;1236;g3fbb7e4475e_1_1"/>
          <p:cNvSpPr txBox="1"/>
          <p:nvPr>
            <p:ph idx="1" type="body"/>
          </p:nvPr>
        </p:nvSpPr>
        <p:spPr>
          <a:xfrm>
            <a:off x="311700" y="1152475"/>
            <a:ext cx="8520600" cy="26982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sz="2600"/>
              <a:t>Given:</a:t>
            </a:r>
            <a:endParaRPr sz="2800"/>
          </a:p>
          <a:p>
            <a:pPr indent="-241300" lvl="1" marL="404813" rtl="0" algn="l">
              <a:lnSpc>
                <a:spcPct val="90000"/>
              </a:lnSpc>
              <a:spcBef>
                <a:spcPts val="300"/>
              </a:spcBef>
              <a:spcAft>
                <a:spcPts val="0"/>
              </a:spcAft>
              <a:buSzPts val="2200"/>
              <a:buChar char="○"/>
            </a:pPr>
            <a:r>
              <a:rPr lang="pt-BR" sz="2200"/>
              <a:t>a set of classes:  (chemical, technological)</a:t>
            </a:r>
            <a:endParaRPr sz="2200"/>
          </a:p>
          <a:p>
            <a:pPr indent="-241300" lvl="1" marL="404813" rtl="0" algn="l">
              <a:lnSpc>
                <a:spcPct val="90000"/>
              </a:lnSpc>
              <a:spcBef>
                <a:spcPts val="450"/>
              </a:spcBef>
              <a:spcAft>
                <a:spcPts val="0"/>
              </a:spcAft>
              <a:buSzPts val="2200"/>
              <a:buChar char="○"/>
            </a:pPr>
            <a:r>
              <a:rPr lang="pt-BR" sz="2200"/>
              <a:t>a vector </a:t>
            </a:r>
            <a:r>
              <a:rPr b="1" lang="pt-BR" sz="2200">
                <a:latin typeface="Courier"/>
                <a:ea typeface="Courier"/>
                <a:cs typeface="Courier"/>
                <a:sym typeface="Courier"/>
              </a:rPr>
              <a:t>x</a:t>
            </a:r>
            <a:r>
              <a:rPr lang="pt-BR" sz="2200"/>
              <a:t> of features </a:t>
            </a:r>
            <a:r>
              <a:rPr lang="pt-BR" sz="2200">
                <a:latin typeface="Courier"/>
                <a:ea typeface="Courier"/>
                <a:cs typeface="Courier"/>
                <a:sym typeface="Courier"/>
              </a:rPr>
              <a:t>[x]</a:t>
            </a:r>
            <a:endParaRPr sz="2200"/>
          </a:p>
          <a:p>
            <a:pPr indent="-252413" lvl="3" marL="690563" rtl="0" algn="l">
              <a:lnSpc>
                <a:spcPct val="90000"/>
              </a:lnSpc>
              <a:spcBef>
                <a:spcPts val="450"/>
              </a:spcBef>
              <a:spcAft>
                <a:spcPts val="0"/>
              </a:spcAft>
              <a:buSzPts val="2200"/>
              <a:buChar char="●"/>
            </a:pPr>
            <a:r>
              <a:rPr lang="pt-BR" sz="2200"/>
              <a:t>x = gbc</a:t>
            </a:r>
            <a:endParaRPr sz="1200"/>
          </a:p>
          <a:p>
            <a:pPr indent="-241300" lvl="1" marL="404813" rtl="0" algn="l">
              <a:lnSpc>
                <a:spcPct val="90000"/>
              </a:lnSpc>
              <a:spcBef>
                <a:spcPts val="450"/>
              </a:spcBef>
              <a:spcAft>
                <a:spcPts val="0"/>
              </a:spcAft>
              <a:buSzPts val="2200"/>
              <a:buChar char="○"/>
            </a:pPr>
            <a:r>
              <a:rPr lang="pt-BR" sz="2200"/>
              <a:t>A vector </a:t>
            </a:r>
            <a:r>
              <a:rPr b="1" lang="pt-BR" sz="2200">
                <a:latin typeface="Courier"/>
                <a:ea typeface="Courier"/>
                <a:cs typeface="Courier"/>
                <a:sym typeface="Courier"/>
              </a:rPr>
              <a:t>w</a:t>
            </a:r>
            <a:r>
              <a:rPr lang="pt-BR" sz="2200"/>
              <a:t> of weights  </a:t>
            </a:r>
            <a:r>
              <a:rPr lang="pt-BR" sz="2200">
                <a:latin typeface="Courier"/>
                <a:ea typeface="Courier"/>
                <a:cs typeface="Courier"/>
                <a:sym typeface="Courier"/>
              </a:rPr>
              <a:t>[w]</a:t>
            </a:r>
            <a:endParaRPr sz="2200"/>
          </a:p>
          <a:p>
            <a:pPr indent="-228600" lvl="2" marL="515938" rtl="0" algn="l">
              <a:lnSpc>
                <a:spcPct val="90000"/>
              </a:lnSpc>
              <a:spcBef>
                <a:spcPts val="450"/>
              </a:spcBef>
              <a:spcAft>
                <a:spcPts val="0"/>
              </a:spcAft>
              <a:buSzPts val="2100"/>
              <a:buChar char="■"/>
            </a:pPr>
            <a:r>
              <a:rPr lang="pt-BR" sz="1900"/>
              <a:t>w</a:t>
            </a:r>
            <a:r>
              <a:rPr baseline="-25000" lang="pt-BR" sz="2300"/>
              <a:t>i</a:t>
            </a:r>
            <a:r>
              <a:rPr lang="pt-BR" sz="1900"/>
              <a:t>  for each feature f</a:t>
            </a:r>
            <a:r>
              <a:rPr baseline="-25000" lang="pt-BR" sz="2300"/>
              <a:t>i</a:t>
            </a:r>
            <a:endParaRPr sz="1600"/>
          </a:p>
        </p:txBody>
      </p:sp>
      <p:pic>
        <p:nvPicPr>
          <p:cNvPr id="1237" name="Google Shape;1237;g3fbb7e4475e_1_1"/>
          <p:cNvPicPr preferRelativeResize="0"/>
          <p:nvPr/>
        </p:nvPicPr>
        <p:blipFill rotWithShape="1">
          <a:blip r:embed="rId3">
            <a:alphaModFix/>
          </a:blip>
          <a:srcRect b="0" l="0" r="0" t="0"/>
          <a:stretch/>
        </p:blipFill>
        <p:spPr>
          <a:xfrm>
            <a:off x="2570725" y="3470575"/>
            <a:ext cx="4002552" cy="1527701"/>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g3fbb7e4475e_1_648"/>
          <p:cNvSpPr txBox="1"/>
          <p:nvPr>
            <p:ph type="title"/>
          </p:nvPr>
        </p:nvSpPr>
        <p:spPr>
          <a:xfrm>
            <a:off x="311700" y="147550"/>
            <a:ext cx="8520600" cy="870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br>
              <a:rPr lang="pt-BR"/>
            </a:br>
            <a:r>
              <a:rPr lang="pt-BR"/>
              <a:t>Classification in (</a:t>
            </a:r>
            <a:r>
              <a:rPr b="1" lang="pt-BR"/>
              <a:t>binary)</a:t>
            </a:r>
            <a:r>
              <a:rPr lang="pt-BR"/>
              <a:t> logistic regression: summary</a:t>
            </a:r>
            <a:endParaRPr/>
          </a:p>
        </p:txBody>
      </p:sp>
      <p:sp>
        <p:nvSpPr>
          <p:cNvPr id="1243" name="Google Shape;1243;g3fbb7e4475e_1_648"/>
          <p:cNvSpPr txBox="1"/>
          <p:nvPr>
            <p:ph idx="1" type="body"/>
          </p:nvPr>
        </p:nvSpPr>
        <p:spPr>
          <a:xfrm>
            <a:off x="311700" y="1152475"/>
            <a:ext cx="8520600" cy="26982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sz="2600"/>
              <a:t>Given:</a:t>
            </a:r>
            <a:endParaRPr sz="2800"/>
          </a:p>
          <a:p>
            <a:pPr indent="-241300" lvl="1" marL="404813" rtl="0" algn="l">
              <a:lnSpc>
                <a:spcPct val="90000"/>
              </a:lnSpc>
              <a:spcBef>
                <a:spcPts val="300"/>
              </a:spcBef>
              <a:spcAft>
                <a:spcPts val="0"/>
              </a:spcAft>
              <a:buSzPts val="2200"/>
              <a:buChar char="○"/>
            </a:pPr>
            <a:r>
              <a:rPr lang="pt-BR" sz="2200"/>
              <a:t>a set of classes:  (chemical, technological)</a:t>
            </a:r>
            <a:endParaRPr sz="2200"/>
          </a:p>
          <a:p>
            <a:pPr indent="-241300" lvl="1" marL="404813" rtl="0" algn="l">
              <a:lnSpc>
                <a:spcPct val="90000"/>
              </a:lnSpc>
              <a:spcBef>
                <a:spcPts val="450"/>
              </a:spcBef>
              <a:spcAft>
                <a:spcPts val="0"/>
              </a:spcAft>
              <a:buSzPts val="2200"/>
              <a:buChar char="○"/>
            </a:pPr>
            <a:r>
              <a:rPr lang="pt-BR" sz="2200"/>
              <a:t>a vector </a:t>
            </a:r>
            <a:r>
              <a:rPr b="1" lang="pt-BR" sz="2200">
                <a:latin typeface="Courier"/>
                <a:ea typeface="Courier"/>
                <a:cs typeface="Courier"/>
                <a:sym typeface="Courier"/>
              </a:rPr>
              <a:t>x</a:t>
            </a:r>
            <a:r>
              <a:rPr lang="pt-BR" sz="2200"/>
              <a:t> of features </a:t>
            </a:r>
            <a:r>
              <a:rPr lang="pt-BR" sz="2200">
                <a:latin typeface="Courier"/>
                <a:ea typeface="Courier"/>
                <a:cs typeface="Courier"/>
                <a:sym typeface="Courier"/>
              </a:rPr>
              <a:t>[</a:t>
            </a:r>
            <a:r>
              <a:rPr lang="pt-BR" sz="2200">
                <a:latin typeface="Courier"/>
                <a:ea typeface="Courier"/>
                <a:cs typeface="Courier"/>
                <a:sym typeface="Courier"/>
              </a:rPr>
              <a:t>x</a:t>
            </a:r>
            <a:r>
              <a:rPr baseline="-25000" lang="pt-BR" sz="2200">
                <a:latin typeface="Courier"/>
                <a:ea typeface="Courier"/>
                <a:cs typeface="Courier"/>
                <a:sym typeface="Courier"/>
              </a:rPr>
              <a:t>1</a:t>
            </a:r>
            <a:r>
              <a:rPr lang="pt-BR" sz="2200">
                <a:latin typeface="Courier"/>
                <a:ea typeface="Courier"/>
                <a:cs typeface="Courier"/>
                <a:sym typeface="Courier"/>
              </a:rPr>
              <a:t>, x</a:t>
            </a:r>
            <a:r>
              <a:rPr baseline="-25000" lang="pt-BR" sz="2200">
                <a:latin typeface="Courier"/>
                <a:ea typeface="Courier"/>
                <a:cs typeface="Courier"/>
                <a:sym typeface="Courier"/>
              </a:rPr>
              <a:t>2</a:t>
            </a:r>
            <a:r>
              <a:rPr lang="pt-BR" sz="2200">
                <a:latin typeface="Courier"/>
                <a:ea typeface="Courier"/>
                <a:cs typeface="Courier"/>
                <a:sym typeface="Courier"/>
              </a:rPr>
              <a:t>]</a:t>
            </a:r>
            <a:endParaRPr sz="2200"/>
          </a:p>
          <a:p>
            <a:pPr indent="-252413" lvl="3" marL="690563" rtl="0" algn="l">
              <a:lnSpc>
                <a:spcPct val="90000"/>
              </a:lnSpc>
              <a:spcBef>
                <a:spcPts val="450"/>
              </a:spcBef>
              <a:spcAft>
                <a:spcPts val="0"/>
              </a:spcAft>
              <a:buSzPts val="2200"/>
              <a:buChar char="●"/>
            </a:pPr>
            <a:r>
              <a:rPr lang="pt-BR" sz="2200"/>
              <a:t>x</a:t>
            </a:r>
            <a:r>
              <a:rPr baseline="-25000" lang="pt-BR" sz="2200"/>
              <a:t>1</a:t>
            </a:r>
            <a:r>
              <a:rPr lang="pt-BR" sz="2200"/>
              <a:t> = gbc</a:t>
            </a:r>
            <a:endParaRPr sz="2200"/>
          </a:p>
          <a:p>
            <a:pPr indent="-252413" lvl="3" marL="690563" rtl="0" algn="l">
              <a:lnSpc>
                <a:spcPct val="90000"/>
              </a:lnSpc>
              <a:spcBef>
                <a:spcPts val="450"/>
              </a:spcBef>
              <a:spcAft>
                <a:spcPts val="0"/>
              </a:spcAft>
              <a:buSzPts val="2200"/>
              <a:buChar char="●"/>
            </a:pPr>
            <a:r>
              <a:rPr lang="pt-BR" sz="2200"/>
              <a:t>x</a:t>
            </a:r>
            <a:r>
              <a:rPr baseline="-25000" lang="pt-BR" sz="2200"/>
              <a:t>2</a:t>
            </a:r>
            <a:r>
              <a:rPr lang="pt-BR" sz="2200"/>
              <a:t> = gs</a:t>
            </a:r>
            <a:endParaRPr sz="2200"/>
          </a:p>
          <a:p>
            <a:pPr indent="-241300" lvl="1" marL="404813" rtl="0" algn="l">
              <a:lnSpc>
                <a:spcPct val="90000"/>
              </a:lnSpc>
              <a:spcBef>
                <a:spcPts val="450"/>
              </a:spcBef>
              <a:spcAft>
                <a:spcPts val="0"/>
              </a:spcAft>
              <a:buSzPts val="2200"/>
              <a:buChar char="○"/>
            </a:pPr>
            <a:r>
              <a:rPr lang="pt-BR" sz="2200"/>
              <a:t>A vector </a:t>
            </a:r>
            <a:r>
              <a:rPr b="1" lang="pt-BR" sz="2200">
                <a:latin typeface="Courier"/>
                <a:ea typeface="Courier"/>
                <a:cs typeface="Courier"/>
                <a:sym typeface="Courier"/>
              </a:rPr>
              <a:t>w</a:t>
            </a:r>
            <a:r>
              <a:rPr lang="pt-BR" sz="2200"/>
              <a:t> of weights  </a:t>
            </a:r>
            <a:r>
              <a:rPr lang="pt-BR" sz="2200">
                <a:latin typeface="Courier"/>
                <a:ea typeface="Courier"/>
                <a:cs typeface="Courier"/>
                <a:sym typeface="Courier"/>
              </a:rPr>
              <a:t>[</a:t>
            </a:r>
            <a:r>
              <a:rPr lang="pt-BR" sz="2200">
                <a:latin typeface="Courier"/>
                <a:ea typeface="Courier"/>
                <a:cs typeface="Courier"/>
                <a:sym typeface="Courier"/>
              </a:rPr>
              <a:t>w</a:t>
            </a:r>
            <a:r>
              <a:rPr baseline="-25000" lang="pt-BR" sz="2200">
                <a:latin typeface="Courier"/>
                <a:ea typeface="Courier"/>
                <a:cs typeface="Courier"/>
                <a:sym typeface="Courier"/>
              </a:rPr>
              <a:t>1</a:t>
            </a:r>
            <a:r>
              <a:rPr lang="pt-BR" sz="2200">
                <a:latin typeface="Courier"/>
                <a:ea typeface="Courier"/>
                <a:cs typeface="Courier"/>
                <a:sym typeface="Courier"/>
              </a:rPr>
              <a:t>, w</a:t>
            </a:r>
            <a:r>
              <a:rPr baseline="-25000" lang="pt-BR" sz="2200">
                <a:latin typeface="Courier"/>
                <a:ea typeface="Courier"/>
                <a:cs typeface="Courier"/>
                <a:sym typeface="Courier"/>
              </a:rPr>
              <a:t>2</a:t>
            </a:r>
            <a:r>
              <a:rPr lang="pt-BR" sz="2200">
                <a:latin typeface="Courier"/>
                <a:ea typeface="Courier"/>
                <a:cs typeface="Courier"/>
                <a:sym typeface="Courier"/>
              </a:rPr>
              <a:t>]</a:t>
            </a:r>
            <a:endParaRPr sz="2200"/>
          </a:p>
          <a:p>
            <a:pPr indent="-228600" lvl="2" marL="515938" rtl="0" algn="l">
              <a:lnSpc>
                <a:spcPct val="90000"/>
              </a:lnSpc>
              <a:spcBef>
                <a:spcPts val="450"/>
              </a:spcBef>
              <a:spcAft>
                <a:spcPts val="0"/>
              </a:spcAft>
              <a:buSzPts val="2100"/>
              <a:buChar char="■"/>
            </a:pPr>
            <a:r>
              <a:rPr lang="pt-BR" sz="1900"/>
              <a:t>w</a:t>
            </a:r>
            <a:r>
              <a:rPr baseline="-25000" lang="pt-BR" sz="2300"/>
              <a:t>i</a:t>
            </a:r>
            <a:r>
              <a:rPr lang="pt-BR" sz="1900"/>
              <a:t>  for each feature f</a:t>
            </a:r>
            <a:r>
              <a:rPr baseline="-25000" lang="pt-BR" sz="2300"/>
              <a:t>i</a:t>
            </a:r>
            <a:endParaRPr sz="1600"/>
          </a:p>
        </p:txBody>
      </p:sp>
      <p:pic>
        <p:nvPicPr>
          <p:cNvPr id="1244" name="Google Shape;1244;g3fbb7e4475e_1_648"/>
          <p:cNvPicPr preferRelativeResize="0"/>
          <p:nvPr/>
        </p:nvPicPr>
        <p:blipFill>
          <a:blip r:embed="rId3">
            <a:alphaModFix/>
          </a:blip>
          <a:stretch>
            <a:fillRect/>
          </a:stretch>
        </p:blipFill>
        <p:spPr>
          <a:xfrm>
            <a:off x="1361275" y="3682072"/>
            <a:ext cx="6421450" cy="104022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g3fbb7e4475e_1_144"/>
          <p:cNvSpPr txBox="1"/>
          <p:nvPr>
            <p:ph type="title"/>
          </p:nvPr>
        </p:nvSpPr>
        <p:spPr>
          <a:xfrm>
            <a:off x="311700" y="147550"/>
            <a:ext cx="8520600" cy="870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br>
              <a:rPr lang="pt-BR"/>
            </a:br>
            <a:r>
              <a:rPr lang="pt-BR"/>
              <a:t>Classification in (</a:t>
            </a:r>
            <a:r>
              <a:rPr b="1" lang="pt-BR"/>
              <a:t>binary)</a:t>
            </a:r>
            <a:r>
              <a:rPr lang="pt-BR"/>
              <a:t> logistic regression: summary</a:t>
            </a:r>
            <a:endParaRPr/>
          </a:p>
        </p:txBody>
      </p:sp>
      <p:sp>
        <p:nvSpPr>
          <p:cNvPr id="1250" name="Google Shape;1250;g3fbb7e4475e_1_144"/>
          <p:cNvSpPr txBox="1"/>
          <p:nvPr>
            <p:ph idx="1" type="body"/>
          </p:nvPr>
        </p:nvSpPr>
        <p:spPr>
          <a:xfrm>
            <a:off x="311700" y="1152475"/>
            <a:ext cx="8520600" cy="26982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sz="2600"/>
              <a:t>Given:</a:t>
            </a:r>
            <a:endParaRPr sz="2800"/>
          </a:p>
          <a:p>
            <a:pPr indent="-241300" lvl="1" marL="404813" rtl="0" algn="l">
              <a:lnSpc>
                <a:spcPct val="90000"/>
              </a:lnSpc>
              <a:spcBef>
                <a:spcPts val="300"/>
              </a:spcBef>
              <a:spcAft>
                <a:spcPts val="0"/>
              </a:spcAft>
              <a:buSzPts val="2200"/>
              <a:buChar char="○"/>
            </a:pPr>
            <a:r>
              <a:rPr lang="pt-BR" sz="2200"/>
              <a:t>a set of classes:  (+ sentiment,- sentiment)</a:t>
            </a:r>
            <a:endParaRPr sz="2200"/>
          </a:p>
          <a:p>
            <a:pPr indent="-241300" lvl="1" marL="404813" rtl="0" algn="l">
              <a:lnSpc>
                <a:spcPct val="90000"/>
              </a:lnSpc>
              <a:spcBef>
                <a:spcPts val="450"/>
              </a:spcBef>
              <a:spcAft>
                <a:spcPts val="0"/>
              </a:spcAft>
              <a:buSzPts val="2200"/>
              <a:buChar char="○"/>
            </a:pPr>
            <a:r>
              <a:rPr lang="pt-BR" sz="2200"/>
              <a:t>a vector </a:t>
            </a:r>
            <a:r>
              <a:rPr b="1" lang="pt-BR" sz="2200">
                <a:latin typeface="Courier"/>
                <a:ea typeface="Courier"/>
                <a:cs typeface="Courier"/>
                <a:sym typeface="Courier"/>
              </a:rPr>
              <a:t>x</a:t>
            </a:r>
            <a:r>
              <a:rPr lang="pt-BR" sz="2200"/>
              <a:t> of features </a:t>
            </a:r>
            <a:r>
              <a:rPr lang="pt-BR" sz="2200">
                <a:latin typeface="Courier"/>
                <a:ea typeface="Courier"/>
                <a:cs typeface="Courier"/>
                <a:sym typeface="Courier"/>
              </a:rPr>
              <a:t>[x</a:t>
            </a:r>
            <a:r>
              <a:rPr baseline="-25000" lang="pt-BR" sz="2200">
                <a:latin typeface="Courier"/>
                <a:ea typeface="Courier"/>
                <a:cs typeface="Courier"/>
                <a:sym typeface="Courier"/>
              </a:rPr>
              <a:t>1</a:t>
            </a:r>
            <a:r>
              <a:rPr lang="pt-BR" sz="2200">
                <a:latin typeface="Courier"/>
                <a:ea typeface="Courier"/>
                <a:cs typeface="Courier"/>
                <a:sym typeface="Courier"/>
              </a:rPr>
              <a:t>, x</a:t>
            </a:r>
            <a:r>
              <a:rPr baseline="-25000" lang="pt-BR" sz="2200">
                <a:latin typeface="Courier"/>
                <a:ea typeface="Courier"/>
                <a:cs typeface="Courier"/>
                <a:sym typeface="Courier"/>
              </a:rPr>
              <a:t>2</a:t>
            </a:r>
            <a:r>
              <a:rPr lang="pt-BR" sz="2200">
                <a:latin typeface="Courier"/>
                <a:ea typeface="Courier"/>
                <a:cs typeface="Courier"/>
                <a:sym typeface="Courier"/>
              </a:rPr>
              <a:t>, …, x</a:t>
            </a:r>
            <a:r>
              <a:rPr baseline="-25000" lang="pt-BR" sz="2200">
                <a:latin typeface="Courier"/>
                <a:ea typeface="Courier"/>
                <a:cs typeface="Courier"/>
                <a:sym typeface="Courier"/>
              </a:rPr>
              <a:t>n</a:t>
            </a:r>
            <a:r>
              <a:rPr lang="pt-BR" sz="2200">
                <a:latin typeface="Courier"/>
                <a:ea typeface="Courier"/>
                <a:cs typeface="Courier"/>
                <a:sym typeface="Courier"/>
              </a:rPr>
              <a:t>]</a:t>
            </a:r>
            <a:endParaRPr sz="2200"/>
          </a:p>
          <a:p>
            <a:pPr indent="-252413" lvl="3" marL="690563" rtl="0" algn="l">
              <a:lnSpc>
                <a:spcPct val="90000"/>
              </a:lnSpc>
              <a:spcBef>
                <a:spcPts val="450"/>
              </a:spcBef>
              <a:spcAft>
                <a:spcPts val="0"/>
              </a:spcAft>
              <a:buSzPts val="2200"/>
              <a:buChar char="●"/>
            </a:pPr>
            <a:r>
              <a:rPr lang="pt-BR" sz="2200"/>
              <a:t>x1= count( "awesome")</a:t>
            </a:r>
            <a:endParaRPr sz="1200"/>
          </a:p>
          <a:p>
            <a:pPr indent="-252413" lvl="3" marL="690563" rtl="0" algn="l">
              <a:lnSpc>
                <a:spcPct val="90000"/>
              </a:lnSpc>
              <a:spcBef>
                <a:spcPts val="450"/>
              </a:spcBef>
              <a:spcAft>
                <a:spcPts val="0"/>
              </a:spcAft>
              <a:buSzPts val="2200"/>
              <a:buChar char="●"/>
            </a:pPr>
            <a:r>
              <a:rPr lang="pt-BR" sz="2200"/>
              <a:t>x2 = log(number of words in review)</a:t>
            </a:r>
            <a:endParaRPr sz="1200"/>
          </a:p>
          <a:p>
            <a:pPr indent="-241300" lvl="1" marL="404813" rtl="0" algn="l">
              <a:lnSpc>
                <a:spcPct val="90000"/>
              </a:lnSpc>
              <a:spcBef>
                <a:spcPts val="450"/>
              </a:spcBef>
              <a:spcAft>
                <a:spcPts val="0"/>
              </a:spcAft>
              <a:buSzPts val="2200"/>
              <a:buChar char="○"/>
            </a:pPr>
            <a:r>
              <a:rPr lang="pt-BR" sz="2200"/>
              <a:t>A vector </a:t>
            </a:r>
            <a:r>
              <a:rPr b="1" lang="pt-BR" sz="2200">
                <a:latin typeface="Courier"/>
                <a:ea typeface="Courier"/>
                <a:cs typeface="Courier"/>
                <a:sym typeface="Courier"/>
              </a:rPr>
              <a:t>w</a:t>
            </a:r>
            <a:r>
              <a:rPr lang="pt-BR" sz="2200"/>
              <a:t> of weights  </a:t>
            </a:r>
            <a:r>
              <a:rPr lang="pt-BR" sz="2200">
                <a:latin typeface="Courier"/>
                <a:ea typeface="Courier"/>
                <a:cs typeface="Courier"/>
                <a:sym typeface="Courier"/>
              </a:rPr>
              <a:t>[w</a:t>
            </a:r>
            <a:r>
              <a:rPr baseline="-25000" lang="pt-BR" sz="2200">
                <a:latin typeface="Courier"/>
                <a:ea typeface="Courier"/>
                <a:cs typeface="Courier"/>
                <a:sym typeface="Courier"/>
              </a:rPr>
              <a:t>1</a:t>
            </a:r>
            <a:r>
              <a:rPr lang="pt-BR" sz="2200">
                <a:latin typeface="Courier"/>
                <a:ea typeface="Courier"/>
                <a:cs typeface="Courier"/>
                <a:sym typeface="Courier"/>
              </a:rPr>
              <a:t>, w</a:t>
            </a:r>
            <a:r>
              <a:rPr baseline="-25000" lang="pt-BR" sz="2200">
                <a:latin typeface="Courier"/>
                <a:ea typeface="Courier"/>
                <a:cs typeface="Courier"/>
                <a:sym typeface="Courier"/>
              </a:rPr>
              <a:t>2</a:t>
            </a:r>
            <a:r>
              <a:rPr lang="pt-BR" sz="2200">
                <a:latin typeface="Courier"/>
                <a:ea typeface="Courier"/>
                <a:cs typeface="Courier"/>
                <a:sym typeface="Courier"/>
              </a:rPr>
              <a:t>, …, w</a:t>
            </a:r>
            <a:r>
              <a:rPr baseline="-25000" lang="pt-BR" sz="2200">
                <a:latin typeface="Courier"/>
                <a:ea typeface="Courier"/>
                <a:cs typeface="Courier"/>
                <a:sym typeface="Courier"/>
              </a:rPr>
              <a:t>n</a:t>
            </a:r>
            <a:r>
              <a:rPr lang="pt-BR" sz="2200">
                <a:latin typeface="Courier"/>
                <a:ea typeface="Courier"/>
                <a:cs typeface="Courier"/>
                <a:sym typeface="Courier"/>
              </a:rPr>
              <a:t>]</a:t>
            </a:r>
            <a:endParaRPr sz="2200"/>
          </a:p>
          <a:p>
            <a:pPr indent="-228600" lvl="2" marL="515938" rtl="0" algn="l">
              <a:lnSpc>
                <a:spcPct val="90000"/>
              </a:lnSpc>
              <a:spcBef>
                <a:spcPts val="450"/>
              </a:spcBef>
              <a:spcAft>
                <a:spcPts val="0"/>
              </a:spcAft>
              <a:buSzPts val="2100"/>
              <a:buChar char="■"/>
            </a:pPr>
            <a:r>
              <a:rPr lang="pt-BR" sz="1900"/>
              <a:t>w</a:t>
            </a:r>
            <a:r>
              <a:rPr baseline="-25000" lang="pt-BR" sz="2300"/>
              <a:t>i</a:t>
            </a:r>
            <a:r>
              <a:rPr lang="pt-BR" sz="1900"/>
              <a:t>  for each feature f</a:t>
            </a:r>
            <a:r>
              <a:rPr baseline="-25000" lang="pt-BR" sz="2300"/>
              <a:t>i</a:t>
            </a:r>
            <a:endParaRPr sz="1600"/>
          </a:p>
        </p:txBody>
      </p:sp>
      <p:pic>
        <p:nvPicPr>
          <p:cNvPr id="1251" name="Google Shape;1251;g3fbb7e4475e_1_144"/>
          <p:cNvPicPr preferRelativeResize="0"/>
          <p:nvPr/>
        </p:nvPicPr>
        <p:blipFill rotWithShape="1">
          <a:blip r:embed="rId3">
            <a:alphaModFix/>
          </a:blip>
          <a:srcRect b="0" l="0" r="0" t="0"/>
          <a:stretch/>
        </p:blipFill>
        <p:spPr>
          <a:xfrm>
            <a:off x="4464575" y="3438925"/>
            <a:ext cx="4002552" cy="1527701"/>
          </a:xfrm>
          <a:prstGeom prst="rect">
            <a:avLst/>
          </a:prstGeom>
          <a:noFill/>
          <a:ln>
            <a:noFill/>
          </a:ln>
        </p:spPr>
      </p:pic>
      <p:sp>
        <p:nvSpPr>
          <p:cNvPr id="1252" name="Google Shape;1252;g3fbb7e4475e_1_144"/>
          <p:cNvSpPr txBox="1"/>
          <p:nvPr/>
        </p:nvSpPr>
        <p:spPr>
          <a:xfrm>
            <a:off x="242575" y="44125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g3fbc1dcd947_0_221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4</a:t>
            </a:r>
            <a:endParaRPr/>
          </a:p>
        </p:txBody>
      </p:sp>
      <p:sp>
        <p:nvSpPr>
          <p:cNvPr id="1258" name="Google Shape;1258;g3fbc1dcd947_0_2211"/>
          <p:cNvSpPr txBox="1"/>
          <p:nvPr>
            <p:ph idx="1" type="body"/>
          </p:nvPr>
        </p:nvSpPr>
        <p:spPr>
          <a:xfrm>
            <a:off x="311700" y="1152475"/>
            <a:ext cx="8520600" cy="355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sz="2200"/>
              <a:t>Project 2</a:t>
            </a:r>
            <a:endParaRPr b="1" sz="2200"/>
          </a:p>
          <a:p>
            <a:pPr indent="-317500" lvl="0" marL="457200" rtl="0" algn="l">
              <a:spcBef>
                <a:spcPts val="0"/>
              </a:spcBef>
              <a:spcAft>
                <a:spcPts val="0"/>
              </a:spcAft>
              <a:buSzPts val="1400"/>
              <a:buChar char="●"/>
            </a:pPr>
            <a:r>
              <a:rPr lang="pt-BR" sz="1400"/>
              <a:t>Develop and evaluate a process for extracting a clinical knowledge graph from MultiCaRe texts, enhancing and expanding Project 1 using statistical techniques and/or machine learning, but without the use of LLMs or embeddings.</a:t>
            </a:r>
            <a:endParaRPr sz="1400"/>
          </a:p>
          <a:p>
            <a:pPr indent="0" lvl="0" marL="0" rtl="0" algn="l">
              <a:spcBef>
                <a:spcPts val="0"/>
              </a:spcBef>
              <a:spcAft>
                <a:spcPts val="0"/>
              </a:spcAft>
              <a:buNone/>
            </a:pPr>
            <a:r>
              <a:rPr b="1" lang="pt-BR" sz="2200"/>
              <a:t>Task 2</a:t>
            </a:r>
            <a:endParaRPr b="1" sz="2200"/>
          </a:p>
          <a:p>
            <a:pPr indent="-317500" lvl="0" marL="457200" rtl="0" algn="l">
              <a:spcBef>
                <a:spcPts val="0"/>
              </a:spcBef>
              <a:spcAft>
                <a:spcPts val="0"/>
              </a:spcAft>
              <a:buSzPts val="1400"/>
              <a:buChar char="●"/>
            </a:pPr>
            <a:r>
              <a:rPr lang="pt-BR" sz="1400"/>
              <a:t>Discuss and list the machine learning techniques that could be used to produce a knowledge graph (KG).</a:t>
            </a:r>
            <a:endParaRPr sz="1400"/>
          </a:p>
          <a:p>
            <a:pPr indent="0" lvl="0" marL="0" rtl="0" algn="l">
              <a:spcBef>
                <a:spcPts val="0"/>
              </a:spcBef>
              <a:spcAft>
                <a:spcPts val="0"/>
              </a:spcAft>
              <a:buNone/>
            </a:pPr>
            <a:r>
              <a:rPr b="1" lang="pt-BR" sz="2200"/>
              <a:t>This Task</a:t>
            </a:r>
            <a:endParaRPr b="1" sz="2200"/>
          </a:p>
          <a:p>
            <a:pPr indent="-368300" lvl="0" marL="457200" rtl="0" algn="l">
              <a:spcBef>
                <a:spcPts val="0"/>
              </a:spcBef>
              <a:spcAft>
                <a:spcPts val="0"/>
              </a:spcAft>
              <a:buSzPts val="2200"/>
              <a:buChar char="●"/>
            </a:pPr>
            <a:r>
              <a:rPr lang="pt-BR" sz="2200"/>
              <a:t>How logistic regression could be combined with other techniques for KG generation.</a:t>
            </a:r>
            <a:endParaRPr sz="2200"/>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fbb7e4475e_1_822"/>
          <p:cNvSpPr/>
          <p:nvPr/>
        </p:nvSpPr>
        <p:spPr>
          <a:xfrm>
            <a:off x="6801649" y="1208975"/>
            <a:ext cx="756300" cy="766200"/>
          </a:xfrm>
          <a:prstGeom prst="ellipse">
            <a:avLst/>
          </a:prstGeom>
          <a:solidFill>
            <a:srgbClr val="FFFFFF"/>
          </a:solidFill>
          <a:ln cap="flat" cmpd="sng" w="2977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B7B7B7"/>
                </a:solidFill>
                <a:latin typeface="Arial"/>
                <a:ea typeface="Arial"/>
                <a:cs typeface="Arial"/>
                <a:sym typeface="Arial"/>
              </a:rPr>
              <a:t>Model</a:t>
            </a:r>
            <a:endParaRPr b="0" i="0" sz="1093" u="none" cap="none" strike="noStrike">
              <a:solidFill>
                <a:srgbClr val="B7B7B7"/>
              </a:solidFill>
              <a:latin typeface="Arial"/>
              <a:ea typeface="Arial"/>
              <a:cs typeface="Arial"/>
              <a:sym typeface="Arial"/>
            </a:endParaRPr>
          </a:p>
        </p:txBody>
      </p:sp>
      <p:sp>
        <p:nvSpPr>
          <p:cNvPr id="1264" name="Google Shape;1264;g3fbb7e4475e_1_822"/>
          <p:cNvSpPr/>
          <p:nvPr/>
        </p:nvSpPr>
        <p:spPr>
          <a:xfrm>
            <a:off x="6277664" y="1795055"/>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Classification Function</a:t>
            </a:r>
            <a:endParaRPr b="0" i="0" sz="1093" u="none" cap="none" strike="noStrike">
              <a:solidFill>
                <a:srgbClr val="B7B7B7"/>
              </a:solidFill>
              <a:latin typeface="Arial"/>
              <a:ea typeface="Arial"/>
              <a:cs typeface="Arial"/>
              <a:sym typeface="Arial"/>
            </a:endParaRPr>
          </a:p>
        </p:txBody>
      </p:sp>
      <p:sp>
        <p:nvSpPr>
          <p:cNvPr id="1265" name="Google Shape;1265;g3fbb7e4475e_1_822"/>
          <p:cNvSpPr/>
          <p:nvPr/>
        </p:nvSpPr>
        <p:spPr>
          <a:xfrm>
            <a:off x="6257047" y="3570935"/>
            <a:ext cx="1047900" cy="363600"/>
          </a:xfrm>
          <a:prstGeom prst="roundRect">
            <a:avLst>
              <a:gd fmla="val 26225" name="adj"/>
            </a:avLst>
          </a:prstGeom>
          <a:solidFill>
            <a:srgbClr val="FFFFFF"/>
          </a:solidFill>
          <a:ln cap="flat" cmpd="sng" w="22325">
            <a:solidFill>
              <a:schemeClr val="dk1"/>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chemeClr val="dk1"/>
                </a:solidFill>
              </a:rPr>
              <a:t>Objective Function</a:t>
            </a:r>
            <a:endParaRPr b="0" i="0" sz="1093" u="none" cap="none" strike="noStrike">
              <a:solidFill>
                <a:schemeClr val="dk1"/>
              </a:solidFill>
              <a:latin typeface="Arial"/>
              <a:ea typeface="Arial"/>
              <a:cs typeface="Arial"/>
              <a:sym typeface="Arial"/>
            </a:endParaRPr>
          </a:p>
        </p:txBody>
      </p:sp>
      <p:cxnSp>
        <p:nvCxnSpPr>
          <p:cNvPr id="1266" name="Google Shape;1266;g3fbb7e4475e_1_822"/>
          <p:cNvCxnSpPr>
            <a:stCxn id="1264" idx="2"/>
            <a:endCxn id="1265" idx="0"/>
          </p:cNvCxnSpPr>
          <p:nvPr/>
        </p:nvCxnSpPr>
        <p:spPr>
          <a:xfrm flipH="1">
            <a:off x="6780914" y="2158655"/>
            <a:ext cx="20700" cy="1412400"/>
          </a:xfrm>
          <a:prstGeom prst="straightConnector1">
            <a:avLst/>
          </a:prstGeom>
          <a:noFill/>
          <a:ln cap="flat" cmpd="sng" w="29775">
            <a:solidFill>
              <a:schemeClr val="dk1"/>
            </a:solidFill>
            <a:prstDash val="solid"/>
            <a:round/>
            <a:headEnd len="sm" w="sm" type="none"/>
            <a:tailEnd len="med" w="med" type="triangle"/>
          </a:ln>
        </p:spPr>
      </p:cxnSp>
      <p:sp>
        <p:nvSpPr>
          <p:cNvPr id="1267" name="Google Shape;1267;g3fbb7e4475e_1_822"/>
          <p:cNvSpPr/>
          <p:nvPr/>
        </p:nvSpPr>
        <p:spPr>
          <a:xfrm>
            <a:off x="7860794" y="2513392"/>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Optimization</a:t>
            </a:r>
            <a:endParaRPr sz="1093">
              <a:solidFill>
                <a:srgbClr val="B7B7B7"/>
              </a:solidFill>
            </a:endParaRPr>
          </a:p>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Algorithm</a:t>
            </a:r>
            <a:endParaRPr sz="1093">
              <a:solidFill>
                <a:srgbClr val="B7B7B7"/>
              </a:solidFill>
            </a:endParaRPr>
          </a:p>
        </p:txBody>
      </p:sp>
      <p:cxnSp>
        <p:nvCxnSpPr>
          <p:cNvPr id="1268" name="Google Shape;1268;g3fbb7e4475e_1_822"/>
          <p:cNvCxnSpPr>
            <a:stCxn id="1265" idx="3"/>
            <a:endCxn id="1267" idx="2"/>
          </p:cNvCxnSpPr>
          <p:nvPr/>
        </p:nvCxnSpPr>
        <p:spPr>
          <a:xfrm flipH="1" rot="10800000">
            <a:off x="7304947" y="2877035"/>
            <a:ext cx="1079700" cy="875700"/>
          </a:xfrm>
          <a:prstGeom prst="straightConnector1">
            <a:avLst/>
          </a:prstGeom>
          <a:noFill/>
          <a:ln cap="flat" cmpd="sng" w="29775">
            <a:solidFill>
              <a:schemeClr val="dk1"/>
            </a:solidFill>
            <a:prstDash val="solid"/>
            <a:round/>
            <a:headEnd len="sm" w="sm" type="none"/>
            <a:tailEnd len="med" w="med" type="triangle"/>
          </a:ln>
        </p:spPr>
      </p:cxnSp>
      <p:cxnSp>
        <p:nvCxnSpPr>
          <p:cNvPr id="1269" name="Google Shape;1269;g3fbb7e4475e_1_822"/>
          <p:cNvCxnSpPr>
            <a:stCxn id="1267" idx="0"/>
            <a:endCxn id="1264" idx="3"/>
          </p:cNvCxnSpPr>
          <p:nvPr/>
        </p:nvCxnSpPr>
        <p:spPr>
          <a:xfrm rot="10800000">
            <a:off x="7325444" y="1976992"/>
            <a:ext cx="1059300" cy="536400"/>
          </a:xfrm>
          <a:prstGeom prst="straightConnector1">
            <a:avLst/>
          </a:prstGeom>
          <a:noFill/>
          <a:ln cap="flat" cmpd="sng" w="29775">
            <a:solidFill>
              <a:srgbClr val="B7B7B7"/>
            </a:solidFill>
            <a:prstDash val="solid"/>
            <a:round/>
            <a:headEnd len="sm" w="sm" type="none"/>
            <a:tailEnd len="med" w="med" type="triangle"/>
          </a:ln>
        </p:spPr>
      </p:cxnSp>
      <p:sp>
        <p:nvSpPr>
          <p:cNvPr id="1270" name="Google Shape;1270;g3fbb7e4475e_1_822"/>
          <p:cNvSpPr/>
          <p:nvPr/>
        </p:nvSpPr>
        <p:spPr>
          <a:xfrm>
            <a:off x="4572000" y="2544973"/>
            <a:ext cx="1185000" cy="363600"/>
          </a:xfrm>
          <a:prstGeom prst="roundRect">
            <a:avLst>
              <a:gd fmla="val 40544" name="adj"/>
            </a:avLst>
          </a:prstGeom>
          <a:solidFill>
            <a:srgbClr val="FFFFFF"/>
          </a:solidFill>
          <a:ln cap="flat" cmpd="sng" w="2977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Feature Representation</a:t>
            </a:r>
            <a:endParaRPr b="0" i="0" sz="1093" u="none" cap="none" strike="noStrike">
              <a:solidFill>
                <a:srgbClr val="B7B7B7"/>
              </a:solidFill>
              <a:latin typeface="Arial"/>
              <a:ea typeface="Arial"/>
              <a:cs typeface="Arial"/>
              <a:sym typeface="Arial"/>
            </a:endParaRPr>
          </a:p>
        </p:txBody>
      </p:sp>
      <p:cxnSp>
        <p:nvCxnSpPr>
          <p:cNvPr id="1271" name="Google Shape;1271;g3fbb7e4475e_1_822"/>
          <p:cNvCxnSpPr>
            <a:stCxn id="1270" idx="3"/>
            <a:endCxn id="1264" idx="1"/>
          </p:cNvCxnSpPr>
          <p:nvPr/>
        </p:nvCxnSpPr>
        <p:spPr>
          <a:xfrm flipH="1" rot="10800000">
            <a:off x="5757000" y="1976773"/>
            <a:ext cx="520800" cy="750000"/>
          </a:xfrm>
          <a:prstGeom prst="straightConnector1">
            <a:avLst/>
          </a:prstGeom>
          <a:noFill/>
          <a:ln cap="flat" cmpd="sng" w="29775">
            <a:solidFill>
              <a:srgbClr val="B7B7B7"/>
            </a:solidFill>
            <a:prstDash val="dash"/>
            <a:round/>
            <a:headEnd len="sm" w="sm" type="none"/>
            <a:tailEnd len="med" w="med" type="triangle"/>
          </a:ln>
        </p:spPr>
      </p:cxnSp>
      <p:cxnSp>
        <p:nvCxnSpPr>
          <p:cNvPr id="1272" name="Google Shape;1272;g3fbb7e4475e_1_822"/>
          <p:cNvCxnSpPr>
            <a:stCxn id="1270" idx="3"/>
            <a:endCxn id="1265" idx="1"/>
          </p:cNvCxnSpPr>
          <p:nvPr/>
        </p:nvCxnSpPr>
        <p:spPr>
          <a:xfrm>
            <a:off x="5757000" y="2726773"/>
            <a:ext cx="500100" cy="1026000"/>
          </a:xfrm>
          <a:prstGeom prst="straightConnector1">
            <a:avLst/>
          </a:prstGeom>
          <a:noFill/>
          <a:ln cap="flat" cmpd="sng" w="29775">
            <a:solidFill>
              <a:schemeClr val="dk1"/>
            </a:solidFill>
            <a:prstDash val="dash"/>
            <a:round/>
            <a:headEnd len="sm" w="sm" type="none"/>
            <a:tailEnd len="med" w="med" type="triangle"/>
          </a:ln>
        </p:spPr>
      </p:cxnSp>
      <p:sp>
        <p:nvSpPr>
          <p:cNvPr id="1273" name="Google Shape;1273;g3fbb7e4475e_1_82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Objective</a:t>
            </a:r>
            <a:endParaRPr/>
          </a:p>
          <a:p>
            <a:pPr indent="0" lvl="0" marL="0" rtl="0" algn="ctr">
              <a:spcBef>
                <a:spcPts val="0"/>
              </a:spcBef>
              <a:spcAft>
                <a:spcPts val="0"/>
              </a:spcAft>
              <a:buNone/>
            </a:pPr>
            <a:r>
              <a:rPr lang="pt-BR"/>
              <a:t> Function</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g3fbb7e4475e_0_640"/>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Learning components</a:t>
            </a:r>
            <a:endParaRPr/>
          </a:p>
        </p:txBody>
      </p:sp>
      <p:sp>
        <p:nvSpPr>
          <p:cNvPr id="1280" name="Google Shape;1280;g3fbb7e4475e_0_640"/>
          <p:cNvSpPr txBox="1"/>
          <p:nvPr>
            <p:ph idx="1" type="body"/>
          </p:nvPr>
        </p:nvSpPr>
        <p:spPr>
          <a:xfrm>
            <a:off x="1143000" y="1198004"/>
            <a:ext cx="7543800" cy="37593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400"/>
              <a:buNone/>
            </a:pPr>
            <a:r>
              <a:t/>
            </a:r>
            <a:endParaRPr sz="2400">
              <a:latin typeface="Calibri"/>
              <a:ea typeface="Calibri"/>
              <a:cs typeface="Calibri"/>
              <a:sym typeface="Calibri"/>
            </a:endParaRPr>
          </a:p>
          <a:p>
            <a:pPr indent="-7938" lvl="0" marL="7938" rtl="0" algn="l">
              <a:lnSpc>
                <a:spcPct val="90000"/>
              </a:lnSpc>
              <a:spcBef>
                <a:spcPts val="1050"/>
              </a:spcBef>
              <a:spcAft>
                <a:spcPts val="0"/>
              </a:spcAft>
              <a:buSzPts val="2800"/>
              <a:buNone/>
            </a:pPr>
            <a:r>
              <a:rPr lang="pt-BR">
                <a:latin typeface="Calibri"/>
                <a:ea typeface="Calibri"/>
                <a:cs typeface="Calibri"/>
                <a:sym typeface="Calibri"/>
              </a:rPr>
              <a:t>A loss function:</a:t>
            </a:r>
            <a:endParaRPr/>
          </a:p>
          <a:p>
            <a:pPr indent="-38100" lvl="2" marL="515938" rtl="0" algn="l">
              <a:lnSpc>
                <a:spcPct val="90000"/>
              </a:lnSpc>
              <a:spcBef>
                <a:spcPts val="300"/>
              </a:spcBef>
              <a:spcAft>
                <a:spcPts val="0"/>
              </a:spcAft>
              <a:buSzPts val="3000"/>
              <a:buNone/>
            </a:pPr>
            <a:r>
              <a:rPr b="1" lang="pt-BR" sz="3000">
                <a:latin typeface="Calibri"/>
                <a:ea typeface="Calibri"/>
                <a:cs typeface="Calibri"/>
                <a:sym typeface="Calibri"/>
              </a:rPr>
              <a:t>cross-entropy loss</a:t>
            </a:r>
            <a:endParaRPr/>
          </a:p>
          <a:p>
            <a:pPr indent="-38100" lvl="2" marL="515938" rtl="0" algn="l">
              <a:lnSpc>
                <a:spcPct val="90000"/>
              </a:lnSpc>
              <a:spcBef>
                <a:spcPts val="450"/>
              </a:spcBef>
              <a:spcAft>
                <a:spcPts val="0"/>
              </a:spcAft>
              <a:buSzPts val="3000"/>
              <a:buNone/>
            </a:pPr>
            <a:r>
              <a:t/>
            </a:r>
            <a:endParaRPr sz="3000">
              <a:latin typeface="Calibri"/>
              <a:ea typeface="Calibri"/>
              <a:cs typeface="Calibri"/>
              <a:sym typeface="Calibri"/>
            </a:endParaRPr>
          </a:p>
          <a:p>
            <a:pPr indent="-7938" lvl="0" marL="7938" rtl="0" algn="l">
              <a:lnSpc>
                <a:spcPct val="90000"/>
              </a:lnSpc>
              <a:spcBef>
                <a:spcPts val="1200"/>
              </a:spcBef>
              <a:spcAft>
                <a:spcPts val="0"/>
              </a:spcAft>
              <a:buSzPts val="2800"/>
              <a:buNone/>
            </a:pPr>
            <a:r>
              <a:rPr lang="pt-BR">
                <a:latin typeface="Calibri"/>
                <a:ea typeface="Calibri"/>
                <a:cs typeface="Calibri"/>
                <a:sym typeface="Calibri"/>
              </a:rPr>
              <a:t>An optimization algorithm:</a:t>
            </a:r>
            <a:endParaRPr/>
          </a:p>
          <a:p>
            <a:pPr indent="-38100" lvl="2" marL="515938" rtl="0" algn="l">
              <a:lnSpc>
                <a:spcPct val="90000"/>
              </a:lnSpc>
              <a:spcBef>
                <a:spcPts val="300"/>
              </a:spcBef>
              <a:spcAft>
                <a:spcPts val="0"/>
              </a:spcAft>
              <a:buSzPts val="3000"/>
              <a:buNone/>
            </a:pPr>
            <a:r>
              <a:rPr b="1" lang="pt-BR" sz="3000">
                <a:latin typeface="Calibri"/>
                <a:ea typeface="Calibri"/>
                <a:cs typeface="Calibri"/>
                <a:sym typeface="Calibri"/>
              </a:rPr>
              <a:t>stochastic gradient descent</a:t>
            </a:r>
            <a:endParaRPr/>
          </a:p>
          <a:p>
            <a:pPr indent="-7938" lvl="0" marL="7938" rtl="0" algn="l">
              <a:lnSpc>
                <a:spcPct val="90000"/>
              </a:lnSpc>
              <a:spcBef>
                <a:spcPts val="1200"/>
              </a:spcBef>
              <a:spcAft>
                <a:spcPts val="0"/>
              </a:spcAft>
              <a:buSzPts val="2800"/>
              <a:buNone/>
            </a:pPr>
            <a:r>
              <a:t/>
            </a:r>
            <a:endParaRPr/>
          </a:p>
        </p:txBody>
      </p:sp>
      <p:sp>
        <p:nvSpPr>
          <p:cNvPr id="1281" name="Google Shape;1281;g3fbb7e4475e_0_640"/>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h28f86b313e326572_0_374"/>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Cross-entropy loss</a:t>
            </a:r>
            <a:endParaRPr/>
          </a:p>
          <a:p>
            <a:pPr indent="0" lvl="0" marL="0" rtl="0" algn="l">
              <a:spcBef>
                <a:spcPts val="0"/>
              </a:spcBef>
              <a:spcAft>
                <a:spcPts val="0"/>
              </a:spcAft>
              <a:buNone/>
            </a:pPr>
            <a:r>
              <a:rPr lang="pt-BR" sz="2400"/>
              <a:t>for a Single Observation</a:t>
            </a:r>
            <a:endParaRPr sz="2400"/>
          </a:p>
        </p:txBody>
      </p:sp>
      <p:sp>
        <p:nvSpPr>
          <p:cNvPr id="1287" name="Google Shape;1287;h28f86b313e326572_0_374"/>
          <p:cNvSpPr txBox="1"/>
          <p:nvPr>
            <p:ph idx="1" type="body"/>
          </p:nvPr>
        </p:nvSpPr>
        <p:spPr>
          <a:xfrm>
            <a:off x="457175" y="1400725"/>
            <a:ext cx="8228700" cy="319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pt-BR"/>
              <a:t>Goal</a:t>
            </a:r>
            <a:r>
              <a:rPr lang="pt-BR"/>
              <a:t>: maximize the probability of the correct label p(y|x)</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h28f86b313e326572_0_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Bernoulli Distribution</a:t>
            </a:r>
            <a:endParaRPr/>
          </a:p>
        </p:txBody>
      </p:sp>
      <p:pic>
        <p:nvPicPr>
          <p:cNvPr id="1293" name="Google Shape;1293;h28f86b313e326572_0_3"/>
          <p:cNvPicPr preferRelativeResize="0"/>
          <p:nvPr/>
        </p:nvPicPr>
        <p:blipFill>
          <a:blip r:embed="rId3">
            <a:alphaModFix/>
          </a:blip>
          <a:stretch>
            <a:fillRect/>
          </a:stretch>
        </p:blipFill>
        <p:spPr>
          <a:xfrm>
            <a:off x="2281863" y="1309310"/>
            <a:ext cx="4580275" cy="970875"/>
          </a:xfrm>
          <a:prstGeom prst="rect">
            <a:avLst/>
          </a:prstGeom>
          <a:noFill/>
          <a:ln>
            <a:noFill/>
          </a:ln>
        </p:spPr>
      </p:pic>
      <p:sp>
        <p:nvSpPr>
          <p:cNvPr id="1294" name="Google Shape;1294;h28f86b313e326572_0_3"/>
          <p:cNvSpPr txBox="1"/>
          <p:nvPr>
            <p:ph idx="1" type="body"/>
          </p:nvPr>
        </p:nvSpPr>
        <p:spPr>
          <a:xfrm>
            <a:off x="311700" y="2571750"/>
            <a:ext cx="8520600" cy="199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400"/>
              <a:t>Discrete probability distribution of a random variable:</a:t>
            </a:r>
            <a:endParaRPr sz="2400"/>
          </a:p>
          <a:p>
            <a:pPr indent="-381000" lvl="0" marL="457200" rtl="0" algn="l">
              <a:spcBef>
                <a:spcPts val="0"/>
              </a:spcBef>
              <a:spcAft>
                <a:spcPts val="0"/>
              </a:spcAft>
              <a:buSzPts val="2400"/>
              <a:buChar char="●"/>
            </a:pPr>
            <a:r>
              <a:rPr lang="pt-BR" sz="2400"/>
              <a:t>value 1 with probability p</a:t>
            </a:r>
            <a:endParaRPr sz="2400"/>
          </a:p>
          <a:p>
            <a:pPr indent="-381000" lvl="0" marL="457200" rtl="0" algn="l">
              <a:spcBef>
                <a:spcPts val="0"/>
              </a:spcBef>
              <a:spcAft>
                <a:spcPts val="0"/>
              </a:spcAft>
              <a:buSzPts val="2400"/>
              <a:buChar char="●"/>
            </a:pPr>
            <a:r>
              <a:rPr lang="pt-BR" sz="2400"/>
              <a:t>value 0 with probability q = 1 − p.</a:t>
            </a:r>
            <a:endParaRPr sz="2400"/>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h28f86b313e326572_0_9"/>
          <p:cNvSpPr/>
          <p:nvPr/>
        </p:nvSpPr>
        <p:spPr>
          <a:xfrm>
            <a:off x="5307100" y="1767925"/>
            <a:ext cx="3394800" cy="2756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300" name="Google Shape;1300;h28f86b313e326572_0_9"/>
          <p:cNvSpPr txBox="1"/>
          <p:nvPr>
            <p:ph type="title"/>
          </p:nvPr>
        </p:nvSpPr>
        <p:spPr>
          <a:xfrm>
            <a:off x="311700" y="6067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Bernoulli Distribution</a:t>
            </a:r>
            <a:endParaRPr/>
          </a:p>
        </p:txBody>
      </p:sp>
      <p:pic>
        <p:nvPicPr>
          <p:cNvPr id="1301" name="Google Shape;1301;h28f86b313e326572_0_9"/>
          <p:cNvPicPr preferRelativeResize="0"/>
          <p:nvPr/>
        </p:nvPicPr>
        <p:blipFill>
          <a:blip r:embed="rId3">
            <a:alphaModFix/>
          </a:blip>
          <a:stretch>
            <a:fillRect/>
          </a:stretch>
        </p:blipFill>
        <p:spPr>
          <a:xfrm>
            <a:off x="311700" y="723335"/>
            <a:ext cx="4580275" cy="970875"/>
          </a:xfrm>
          <a:prstGeom prst="rect">
            <a:avLst/>
          </a:prstGeom>
          <a:noFill/>
          <a:ln>
            <a:noFill/>
          </a:ln>
        </p:spPr>
      </p:pic>
      <p:sp>
        <p:nvSpPr>
          <p:cNvPr id="1302" name="Google Shape;1302;h28f86b313e326572_0_9"/>
          <p:cNvSpPr/>
          <p:nvPr/>
        </p:nvSpPr>
        <p:spPr>
          <a:xfrm>
            <a:off x="5492625" y="3154275"/>
            <a:ext cx="1375500" cy="1350000"/>
          </a:xfrm>
          <a:prstGeom prst="rect">
            <a:avLst/>
          </a:prstGeom>
          <a:solidFill>
            <a:srgbClr val="4A86E8"/>
          </a:solidFill>
          <a:ln cap="flat" cmpd="sng" w="48750">
            <a:solidFill>
              <a:srgbClr val="0000FF"/>
            </a:solidFill>
            <a:prstDash val="solid"/>
            <a:round/>
            <a:headEnd len="sm" w="sm" type="none"/>
            <a:tailEnd len="sm" w="sm" type="none"/>
          </a:ln>
        </p:spPr>
        <p:txBody>
          <a:bodyPr anchorCtr="0" anchor="ctr" bIns="117000" lIns="117000" spcFirstLastPara="1" rIns="117000" wrap="square" tIns="117000">
            <a:noAutofit/>
          </a:bodyPr>
          <a:lstStyle/>
          <a:p>
            <a:pPr indent="0" lvl="0" marL="0" rtl="0" algn="ctr">
              <a:spcBef>
                <a:spcPts val="0"/>
              </a:spcBef>
              <a:spcAft>
                <a:spcPts val="0"/>
              </a:spcAft>
              <a:buNone/>
            </a:pPr>
            <a:r>
              <a:t/>
            </a:r>
            <a:endParaRPr sz="1791">
              <a:latin typeface="Comfortaa"/>
              <a:ea typeface="Comfortaa"/>
              <a:cs typeface="Comfortaa"/>
              <a:sym typeface="Comfortaa"/>
            </a:endParaRPr>
          </a:p>
        </p:txBody>
      </p:sp>
      <p:sp>
        <p:nvSpPr>
          <p:cNvPr id="1303" name="Google Shape;1303;h28f86b313e326572_0_9"/>
          <p:cNvSpPr/>
          <p:nvPr/>
        </p:nvSpPr>
        <p:spPr>
          <a:xfrm>
            <a:off x="7142374" y="3154275"/>
            <a:ext cx="1375500" cy="1350000"/>
          </a:xfrm>
          <a:prstGeom prst="rect">
            <a:avLst/>
          </a:prstGeom>
          <a:solidFill>
            <a:srgbClr val="EA9999"/>
          </a:solidFill>
          <a:ln cap="flat" cmpd="sng" w="48750">
            <a:solidFill>
              <a:srgbClr val="FF0000"/>
            </a:solidFill>
            <a:prstDash val="solid"/>
            <a:round/>
            <a:headEnd len="sm" w="sm" type="none"/>
            <a:tailEnd len="sm" w="sm" type="none"/>
          </a:ln>
        </p:spPr>
        <p:txBody>
          <a:bodyPr anchorCtr="0" anchor="ctr" bIns="117000" lIns="117000" spcFirstLastPara="1" rIns="117000" wrap="square" tIns="117000">
            <a:noAutofit/>
          </a:bodyPr>
          <a:lstStyle/>
          <a:p>
            <a:pPr indent="0" lvl="0" marL="0" rtl="0" algn="ctr">
              <a:spcBef>
                <a:spcPts val="0"/>
              </a:spcBef>
              <a:spcAft>
                <a:spcPts val="0"/>
              </a:spcAft>
              <a:buNone/>
            </a:pPr>
            <a:r>
              <a:t/>
            </a:r>
            <a:endParaRPr sz="1791">
              <a:latin typeface="Comfortaa"/>
              <a:ea typeface="Comfortaa"/>
              <a:cs typeface="Comfortaa"/>
              <a:sym typeface="Comfortaa"/>
            </a:endParaRPr>
          </a:p>
        </p:txBody>
      </p:sp>
      <p:sp>
        <p:nvSpPr>
          <p:cNvPr id="1304" name="Google Shape;1304;h28f86b313e326572_0_9"/>
          <p:cNvSpPr txBox="1"/>
          <p:nvPr/>
        </p:nvSpPr>
        <p:spPr>
          <a:xfrm>
            <a:off x="5520226" y="4520175"/>
            <a:ext cx="1320300" cy="513300"/>
          </a:xfrm>
          <a:prstGeom prst="rect">
            <a:avLst/>
          </a:prstGeom>
          <a:noFill/>
          <a:ln>
            <a:noFill/>
          </a:ln>
        </p:spPr>
        <p:txBody>
          <a:bodyPr anchorCtr="0" anchor="t" bIns="117000" lIns="117000" spcFirstLastPara="1" rIns="117000" wrap="square" tIns="117000">
            <a:spAutoFit/>
          </a:bodyPr>
          <a:lstStyle/>
          <a:p>
            <a:pPr indent="0" lvl="0" marL="0" rtl="0" algn="l">
              <a:spcBef>
                <a:spcPts val="0"/>
              </a:spcBef>
              <a:spcAft>
                <a:spcPts val="0"/>
              </a:spcAft>
              <a:buNone/>
            </a:pPr>
            <a:r>
              <a:rPr b="1" lang="pt-BR" sz="1800">
                <a:solidFill>
                  <a:srgbClr val="0000FF"/>
                </a:solidFill>
                <a:latin typeface="Comfortaa"/>
                <a:ea typeface="Comfortaa"/>
                <a:cs typeface="Comfortaa"/>
                <a:sym typeface="Comfortaa"/>
              </a:rPr>
              <a:t>chemical</a:t>
            </a:r>
            <a:endParaRPr b="1" sz="1800">
              <a:solidFill>
                <a:srgbClr val="0000FF"/>
              </a:solidFill>
              <a:latin typeface="Comfortaa"/>
              <a:ea typeface="Comfortaa"/>
              <a:cs typeface="Comfortaa"/>
              <a:sym typeface="Comfortaa"/>
            </a:endParaRPr>
          </a:p>
        </p:txBody>
      </p:sp>
      <p:sp>
        <p:nvSpPr>
          <p:cNvPr id="1305" name="Google Shape;1305;h28f86b313e326572_0_9"/>
          <p:cNvSpPr txBox="1"/>
          <p:nvPr/>
        </p:nvSpPr>
        <p:spPr>
          <a:xfrm>
            <a:off x="6887674" y="4520175"/>
            <a:ext cx="1884900" cy="513300"/>
          </a:xfrm>
          <a:prstGeom prst="rect">
            <a:avLst/>
          </a:prstGeom>
          <a:noFill/>
          <a:ln>
            <a:noFill/>
          </a:ln>
        </p:spPr>
        <p:txBody>
          <a:bodyPr anchorCtr="0" anchor="t" bIns="117000" lIns="117000" spcFirstLastPara="1" rIns="117000" wrap="square" tIns="117000">
            <a:spAutoFit/>
          </a:bodyPr>
          <a:lstStyle/>
          <a:p>
            <a:pPr indent="0" lvl="0" marL="0" rtl="0" algn="l">
              <a:spcBef>
                <a:spcPts val="0"/>
              </a:spcBef>
              <a:spcAft>
                <a:spcPts val="0"/>
              </a:spcAft>
              <a:buNone/>
            </a:pPr>
            <a:r>
              <a:rPr b="1" lang="pt-BR" sz="1800">
                <a:solidFill>
                  <a:srgbClr val="FF0000"/>
                </a:solidFill>
                <a:latin typeface="Comfortaa"/>
                <a:ea typeface="Comfortaa"/>
                <a:cs typeface="Comfortaa"/>
                <a:sym typeface="Comfortaa"/>
              </a:rPr>
              <a:t>technological</a:t>
            </a:r>
            <a:endParaRPr b="1" sz="1800">
              <a:solidFill>
                <a:srgbClr val="FF0000"/>
              </a:solidFill>
              <a:latin typeface="Comfortaa"/>
              <a:ea typeface="Comfortaa"/>
              <a:cs typeface="Comfortaa"/>
              <a:sym typeface="Comfortaa"/>
            </a:endParaRPr>
          </a:p>
        </p:txBody>
      </p:sp>
      <p:sp>
        <p:nvSpPr>
          <p:cNvPr id="1306" name="Google Shape;1306;h28f86b313e326572_0_9"/>
          <p:cNvSpPr txBox="1"/>
          <p:nvPr/>
        </p:nvSpPr>
        <p:spPr>
          <a:xfrm>
            <a:off x="4683348" y="1694200"/>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1.0</a:t>
            </a:r>
            <a:endParaRPr b="1" sz="1800">
              <a:solidFill>
                <a:srgbClr val="434343"/>
              </a:solidFill>
              <a:latin typeface="Comfortaa"/>
              <a:ea typeface="Comfortaa"/>
              <a:cs typeface="Comfortaa"/>
              <a:sym typeface="Comfortaa"/>
            </a:endParaRPr>
          </a:p>
        </p:txBody>
      </p:sp>
      <p:sp>
        <p:nvSpPr>
          <p:cNvPr id="1307" name="Google Shape;1307;h28f86b313e326572_0_9"/>
          <p:cNvSpPr txBox="1"/>
          <p:nvPr/>
        </p:nvSpPr>
        <p:spPr>
          <a:xfrm>
            <a:off x="4683349" y="4062925"/>
            <a:ext cx="5349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0.0</a:t>
            </a:r>
            <a:endParaRPr b="1" sz="1800">
              <a:solidFill>
                <a:srgbClr val="434343"/>
              </a:solidFill>
              <a:latin typeface="Comfortaa"/>
              <a:ea typeface="Comfortaa"/>
              <a:cs typeface="Comfortaa"/>
              <a:sym typeface="Comfortaa"/>
            </a:endParaRPr>
          </a:p>
        </p:txBody>
      </p:sp>
      <p:sp>
        <p:nvSpPr>
          <p:cNvPr id="1308" name="Google Shape;1308;h28f86b313e326572_0_9"/>
          <p:cNvSpPr txBox="1"/>
          <p:nvPr/>
        </p:nvSpPr>
        <p:spPr>
          <a:xfrm>
            <a:off x="4683348" y="2878563"/>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0.5</a:t>
            </a:r>
            <a:endParaRPr b="1" sz="1800">
              <a:solidFill>
                <a:srgbClr val="434343"/>
              </a:solidFill>
              <a:latin typeface="Comfortaa"/>
              <a:ea typeface="Comfortaa"/>
              <a:cs typeface="Comfortaa"/>
              <a:sym typeface="Comfortaa"/>
            </a:endParaRPr>
          </a:p>
        </p:txBody>
      </p:sp>
      <p:sp>
        <p:nvSpPr>
          <p:cNvPr id="1309" name="Google Shape;1309;h28f86b313e326572_0_9"/>
          <p:cNvSpPr txBox="1"/>
          <p:nvPr/>
        </p:nvSpPr>
        <p:spPr>
          <a:xfrm>
            <a:off x="5520226" y="2625075"/>
            <a:ext cx="1320300" cy="513300"/>
          </a:xfrm>
          <a:prstGeom prst="rect">
            <a:avLst/>
          </a:prstGeom>
          <a:noFill/>
          <a:ln>
            <a:noFill/>
          </a:ln>
        </p:spPr>
        <p:txBody>
          <a:bodyPr anchorCtr="0" anchor="t" bIns="117000" lIns="117000" spcFirstLastPara="1" rIns="117000" wrap="square" tIns="117000">
            <a:spAutoFit/>
          </a:bodyPr>
          <a:lstStyle/>
          <a:p>
            <a:pPr indent="0" lvl="0" marL="0" rtl="0" algn="ctr">
              <a:spcBef>
                <a:spcPts val="0"/>
              </a:spcBef>
              <a:spcAft>
                <a:spcPts val="0"/>
              </a:spcAft>
              <a:buNone/>
            </a:pPr>
            <a:r>
              <a:rPr b="1" lang="pt-BR" sz="1800">
                <a:solidFill>
                  <a:srgbClr val="0000FF"/>
                </a:solidFill>
                <a:latin typeface="Comfortaa"/>
                <a:ea typeface="Comfortaa"/>
                <a:cs typeface="Comfortaa"/>
                <a:sym typeface="Comfortaa"/>
              </a:rPr>
              <a:t>0</a:t>
            </a:r>
            <a:endParaRPr b="1" sz="1800">
              <a:solidFill>
                <a:srgbClr val="0000FF"/>
              </a:solidFill>
              <a:latin typeface="Comfortaa"/>
              <a:ea typeface="Comfortaa"/>
              <a:cs typeface="Comfortaa"/>
              <a:sym typeface="Comfortaa"/>
            </a:endParaRPr>
          </a:p>
        </p:txBody>
      </p:sp>
      <p:sp>
        <p:nvSpPr>
          <p:cNvPr id="1310" name="Google Shape;1310;h28f86b313e326572_0_9"/>
          <p:cNvSpPr txBox="1"/>
          <p:nvPr/>
        </p:nvSpPr>
        <p:spPr>
          <a:xfrm>
            <a:off x="7197576" y="2625075"/>
            <a:ext cx="1320300" cy="513300"/>
          </a:xfrm>
          <a:prstGeom prst="rect">
            <a:avLst/>
          </a:prstGeom>
          <a:noFill/>
          <a:ln>
            <a:noFill/>
          </a:ln>
        </p:spPr>
        <p:txBody>
          <a:bodyPr anchorCtr="0" anchor="t" bIns="117000" lIns="117000" spcFirstLastPara="1" rIns="117000" wrap="square" tIns="117000">
            <a:spAutoFit/>
          </a:bodyPr>
          <a:lstStyle/>
          <a:p>
            <a:pPr indent="0" lvl="0" marL="0" rtl="0" algn="ctr">
              <a:spcBef>
                <a:spcPts val="0"/>
              </a:spcBef>
              <a:spcAft>
                <a:spcPts val="0"/>
              </a:spcAft>
              <a:buNone/>
            </a:pPr>
            <a:r>
              <a:rPr b="1" lang="pt-BR" sz="1800">
                <a:solidFill>
                  <a:srgbClr val="FF0000"/>
                </a:solidFill>
                <a:latin typeface="Comfortaa"/>
                <a:ea typeface="Comfortaa"/>
                <a:cs typeface="Comfortaa"/>
                <a:sym typeface="Comfortaa"/>
              </a:rPr>
              <a:t>1</a:t>
            </a:r>
            <a:endParaRPr b="1" sz="1800">
              <a:solidFill>
                <a:srgbClr val="FF0000"/>
              </a:solidFill>
              <a:latin typeface="Comfortaa"/>
              <a:ea typeface="Comfortaa"/>
              <a:cs typeface="Comfortaa"/>
              <a:sym typeface="Comfortaa"/>
            </a:endParaRPr>
          </a:p>
        </p:txBody>
      </p:sp>
      <p:pic>
        <p:nvPicPr>
          <p:cNvPr id="1311" name="Google Shape;1311;h28f86b313e326572_0_9"/>
          <p:cNvPicPr preferRelativeResize="0"/>
          <p:nvPr/>
        </p:nvPicPr>
        <p:blipFill>
          <a:blip r:embed="rId4">
            <a:alphaModFix/>
          </a:blip>
          <a:stretch>
            <a:fillRect/>
          </a:stretch>
        </p:blipFill>
        <p:spPr>
          <a:xfrm>
            <a:off x="60375" y="2310876"/>
            <a:ext cx="4419600" cy="761999"/>
          </a:xfrm>
          <a:prstGeom prst="rect">
            <a:avLst/>
          </a:prstGeom>
          <a:noFill/>
          <a:ln>
            <a:noFill/>
          </a:ln>
        </p:spPr>
      </p:pic>
      <p:pic>
        <p:nvPicPr>
          <p:cNvPr id="1312" name="Google Shape;1312;h28f86b313e326572_0_9"/>
          <p:cNvPicPr preferRelativeResize="0"/>
          <p:nvPr/>
        </p:nvPicPr>
        <p:blipFill>
          <a:blip r:embed="rId5">
            <a:alphaModFix/>
          </a:blip>
          <a:stretch>
            <a:fillRect/>
          </a:stretch>
        </p:blipFill>
        <p:spPr>
          <a:xfrm>
            <a:off x="1195400" y="3472325"/>
            <a:ext cx="2340770" cy="103195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pic>
        <p:nvPicPr>
          <p:cNvPr id="1317" name="Google Shape;1317;h28f86b313e326572_0_26"/>
          <p:cNvPicPr preferRelativeResize="0"/>
          <p:nvPr/>
        </p:nvPicPr>
        <p:blipFill>
          <a:blip r:embed="rId3">
            <a:alphaModFix/>
          </a:blip>
          <a:stretch>
            <a:fillRect/>
          </a:stretch>
        </p:blipFill>
        <p:spPr>
          <a:xfrm>
            <a:off x="60375" y="2310876"/>
            <a:ext cx="4419600" cy="761999"/>
          </a:xfrm>
          <a:prstGeom prst="rect">
            <a:avLst/>
          </a:prstGeom>
          <a:noFill/>
          <a:ln>
            <a:noFill/>
          </a:ln>
        </p:spPr>
      </p:pic>
      <p:pic>
        <p:nvPicPr>
          <p:cNvPr id="1318" name="Google Shape;1318;h28f86b313e326572_0_26"/>
          <p:cNvPicPr preferRelativeResize="0"/>
          <p:nvPr/>
        </p:nvPicPr>
        <p:blipFill>
          <a:blip r:embed="rId4">
            <a:alphaModFix/>
          </a:blip>
          <a:stretch>
            <a:fillRect/>
          </a:stretch>
        </p:blipFill>
        <p:spPr>
          <a:xfrm>
            <a:off x="1195400" y="3472325"/>
            <a:ext cx="2386925" cy="1052300"/>
          </a:xfrm>
          <a:prstGeom prst="rect">
            <a:avLst/>
          </a:prstGeom>
          <a:noFill/>
          <a:ln>
            <a:noFill/>
          </a:ln>
        </p:spPr>
      </p:pic>
      <p:sp>
        <p:nvSpPr>
          <p:cNvPr id="1319" name="Google Shape;1319;h28f86b313e326572_0_26"/>
          <p:cNvSpPr/>
          <p:nvPr/>
        </p:nvSpPr>
        <p:spPr>
          <a:xfrm>
            <a:off x="5307100" y="1767925"/>
            <a:ext cx="3394800" cy="2756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320" name="Google Shape;1320;h28f86b313e326572_0_26"/>
          <p:cNvSpPr txBox="1"/>
          <p:nvPr>
            <p:ph type="title"/>
          </p:nvPr>
        </p:nvSpPr>
        <p:spPr>
          <a:xfrm>
            <a:off x="311700" y="6067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Bernoulli Distribution</a:t>
            </a:r>
            <a:endParaRPr/>
          </a:p>
        </p:txBody>
      </p:sp>
      <p:pic>
        <p:nvPicPr>
          <p:cNvPr id="1321" name="Google Shape;1321;h28f86b313e326572_0_26"/>
          <p:cNvPicPr preferRelativeResize="0"/>
          <p:nvPr/>
        </p:nvPicPr>
        <p:blipFill>
          <a:blip r:embed="rId5">
            <a:alphaModFix/>
          </a:blip>
          <a:stretch>
            <a:fillRect/>
          </a:stretch>
        </p:blipFill>
        <p:spPr>
          <a:xfrm>
            <a:off x="311700" y="723335"/>
            <a:ext cx="4580275" cy="970875"/>
          </a:xfrm>
          <a:prstGeom prst="rect">
            <a:avLst/>
          </a:prstGeom>
          <a:noFill/>
          <a:ln>
            <a:noFill/>
          </a:ln>
        </p:spPr>
      </p:pic>
      <p:sp>
        <p:nvSpPr>
          <p:cNvPr id="1322" name="Google Shape;1322;h28f86b313e326572_0_26"/>
          <p:cNvSpPr/>
          <p:nvPr/>
        </p:nvSpPr>
        <p:spPr>
          <a:xfrm>
            <a:off x="5492625" y="3742275"/>
            <a:ext cx="1375500" cy="762000"/>
          </a:xfrm>
          <a:prstGeom prst="rect">
            <a:avLst/>
          </a:prstGeom>
          <a:solidFill>
            <a:srgbClr val="4A86E8"/>
          </a:solidFill>
          <a:ln cap="flat" cmpd="sng" w="48750">
            <a:solidFill>
              <a:srgbClr val="0000FF"/>
            </a:solidFill>
            <a:prstDash val="solid"/>
            <a:round/>
            <a:headEnd len="sm" w="sm" type="none"/>
            <a:tailEnd len="sm" w="sm" type="none"/>
          </a:ln>
        </p:spPr>
        <p:txBody>
          <a:bodyPr anchorCtr="0" anchor="ctr" bIns="117000" lIns="117000" spcFirstLastPara="1" rIns="117000" wrap="square" tIns="117000">
            <a:noAutofit/>
          </a:bodyPr>
          <a:lstStyle/>
          <a:p>
            <a:pPr indent="0" lvl="0" marL="0" rtl="0" algn="ctr">
              <a:spcBef>
                <a:spcPts val="0"/>
              </a:spcBef>
              <a:spcAft>
                <a:spcPts val="0"/>
              </a:spcAft>
              <a:buNone/>
            </a:pPr>
            <a:r>
              <a:t/>
            </a:r>
            <a:endParaRPr sz="1791">
              <a:latin typeface="Comfortaa"/>
              <a:ea typeface="Comfortaa"/>
              <a:cs typeface="Comfortaa"/>
              <a:sym typeface="Comfortaa"/>
            </a:endParaRPr>
          </a:p>
        </p:txBody>
      </p:sp>
      <p:sp>
        <p:nvSpPr>
          <p:cNvPr id="1323" name="Google Shape;1323;h28f86b313e326572_0_26"/>
          <p:cNvSpPr/>
          <p:nvPr/>
        </p:nvSpPr>
        <p:spPr>
          <a:xfrm>
            <a:off x="7142375" y="2571750"/>
            <a:ext cx="1375500" cy="1932600"/>
          </a:xfrm>
          <a:prstGeom prst="rect">
            <a:avLst/>
          </a:prstGeom>
          <a:solidFill>
            <a:srgbClr val="EA9999"/>
          </a:solidFill>
          <a:ln cap="flat" cmpd="sng" w="48750">
            <a:solidFill>
              <a:srgbClr val="FF0000"/>
            </a:solidFill>
            <a:prstDash val="solid"/>
            <a:round/>
            <a:headEnd len="sm" w="sm" type="none"/>
            <a:tailEnd len="sm" w="sm" type="none"/>
          </a:ln>
        </p:spPr>
        <p:txBody>
          <a:bodyPr anchorCtr="0" anchor="ctr" bIns="117000" lIns="117000" spcFirstLastPara="1" rIns="117000" wrap="square" tIns="117000">
            <a:noAutofit/>
          </a:bodyPr>
          <a:lstStyle/>
          <a:p>
            <a:pPr indent="0" lvl="0" marL="0" rtl="0" algn="ctr">
              <a:spcBef>
                <a:spcPts val="0"/>
              </a:spcBef>
              <a:spcAft>
                <a:spcPts val="0"/>
              </a:spcAft>
              <a:buNone/>
            </a:pPr>
            <a:r>
              <a:t/>
            </a:r>
            <a:endParaRPr sz="1791">
              <a:latin typeface="Comfortaa"/>
              <a:ea typeface="Comfortaa"/>
              <a:cs typeface="Comfortaa"/>
              <a:sym typeface="Comfortaa"/>
            </a:endParaRPr>
          </a:p>
        </p:txBody>
      </p:sp>
      <p:sp>
        <p:nvSpPr>
          <p:cNvPr id="1324" name="Google Shape;1324;h28f86b313e326572_0_26"/>
          <p:cNvSpPr txBox="1"/>
          <p:nvPr/>
        </p:nvSpPr>
        <p:spPr>
          <a:xfrm>
            <a:off x="5520226" y="4520175"/>
            <a:ext cx="1320300" cy="513300"/>
          </a:xfrm>
          <a:prstGeom prst="rect">
            <a:avLst/>
          </a:prstGeom>
          <a:noFill/>
          <a:ln>
            <a:noFill/>
          </a:ln>
        </p:spPr>
        <p:txBody>
          <a:bodyPr anchorCtr="0" anchor="t" bIns="117000" lIns="117000" spcFirstLastPara="1" rIns="117000" wrap="square" tIns="117000">
            <a:spAutoFit/>
          </a:bodyPr>
          <a:lstStyle/>
          <a:p>
            <a:pPr indent="0" lvl="0" marL="0" rtl="0" algn="l">
              <a:spcBef>
                <a:spcPts val="0"/>
              </a:spcBef>
              <a:spcAft>
                <a:spcPts val="0"/>
              </a:spcAft>
              <a:buNone/>
            </a:pPr>
            <a:r>
              <a:rPr b="1" lang="pt-BR" sz="1800">
                <a:solidFill>
                  <a:srgbClr val="0000FF"/>
                </a:solidFill>
                <a:latin typeface="Comfortaa"/>
                <a:ea typeface="Comfortaa"/>
                <a:cs typeface="Comfortaa"/>
                <a:sym typeface="Comfortaa"/>
              </a:rPr>
              <a:t>chemical</a:t>
            </a:r>
            <a:endParaRPr b="1" sz="1800">
              <a:solidFill>
                <a:srgbClr val="0000FF"/>
              </a:solidFill>
              <a:latin typeface="Comfortaa"/>
              <a:ea typeface="Comfortaa"/>
              <a:cs typeface="Comfortaa"/>
              <a:sym typeface="Comfortaa"/>
            </a:endParaRPr>
          </a:p>
        </p:txBody>
      </p:sp>
      <p:sp>
        <p:nvSpPr>
          <p:cNvPr id="1325" name="Google Shape;1325;h28f86b313e326572_0_26"/>
          <p:cNvSpPr txBox="1"/>
          <p:nvPr/>
        </p:nvSpPr>
        <p:spPr>
          <a:xfrm>
            <a:off x="6887674" y="4520175"/>
            <a:ext cx="1884900" cy="513300"/>
          </a:xfrm>
          <a:prstGeom prst="rect">
            <a:avLst/>
          </a:prstGeom>
          <a:noFill/>
          <a:ln>
            <a:noFill/>
          </a:ln>
        </p:spPr>
        <p:txBody>
          <a:bodyPr anchorCtr="0" anchor="t" bIns="117000" lIns="117000" spcFirstLastPara="1" rIns="117000" wrap="square" tIns="117000">
            <a:spAutoFit/>
          </a:bodyPr>
          <a:lstStyle/>
          <a:p>
            <a:pPr indent="0" lvl="0" marL="0" rtl="0" algn="l">
              <a:spcBef>
                <a:spcPts val="0"/>
              </a:spcBef>
              <a:spcAft>
                <a:spcPts val="0"/>
              </a:spcAft>
              <a:buNone/>
            </a:pPr>
            <a:r>
              <a:rPr b="1" lang="pt-BR" sz="1800">
                <a:solidFill>
                  <a:srgbClr val="FF0000"/>
                </a:solidFill>
                <a:latin typeface="Comfortaa"/>
                <a:ea typeface="Comfortaa"/>
                <a:cs typeface="Comfortaa"/>
                <a:sym typeface="Comfortaa"/>
              </a:rPr>
              <a:t>technological</a:t>
            </a:r>
            <a:endParaRPr b="1" sz="1800">
              <a:solidFill>
                <a:srgbClr val="FF0000"/>
              </a:solidFill>
              <a:latin typeface="Comfortaa"/>
              <a:ea typeface="Comfortaa"/>
              <a:cs typeface="Comfortaa"/>
              <a:sym typeface="Comfortaa"/>
            </a:endParaRPr>
          </a:p>
        </p:txBody>
      </p:sp>
      <p:sp>
        <p:nvSpPr>
          <p:cNvPr id="1326" name="Google Shape;1326;h28f86b313e326572_0_26"/>
          <p:cNvSpPr txBox="1"/>
          <p:nvPr/>
        </p:nvSpPr>
        <p:spPr>
          <a:xfrm>
            <a:off x="4683348" y="1694200"/>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1.0</a:t>
            </a:r>
            <a:endParaRPr b="1" sz="1800">
              <a:solidFill>
                <a:srgbClr val="434343"/>
              </a:solidFill>
              <a:latin typeface="Comfortaa"/>
              <a:ea typeface="Comfortaa"/>
              <a:cs typeface="Comfortaa"/>
              <a:sym typeface="Comfortaa"/>
            </a:endParaRPr>
          </a:p>
        </p:txBody>
      </p:sp>
      <p:sp>
        <p:nvSpPr>
          <p:cNvPr id="1327" name="Google Shape;1327;h28f86b313e326572_0_26"/>
          <p:cNvSpPr txBox="1"/>
          <p:nvPr/>
        </p:nvSpPr>
        <p:spPr>
          <a:xfrm>
            <a:off x="4683348" y="4062925"/>
            <a:ext cx="5349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0.0</a:t>
            </a:r>
            <a:endParaRPr b="1" sz="1800">
              <a:solidFill>
                <a:srgbClr val="434343"/>
              </a:solidFill>
              <a:latin typeface="Comfortaa"/>
              <a:ea typeface="Comfortaa"/>
              <a:cs typeface="Comfortaa"/>
              <a:sym typeface="Comfortaa"/>
            </a:endParaRPr>
          </a:p>
        </p:txBody>
      </p:sp>
      <p:sp>
        <p:nvSpPr>
          <p:cNvPr id="1328" name="Google Shape;1328;h28f86b313e326572_0_26"/>
          <p:cNvSpPr txBox="1"/>
          <p:nvPr/>
        </p:nvSpPr>
        <p:spPr>
          <a:xfrm>
            <a:off x="4683348" y="2340888"/>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0.7</a:t>
            </a:r>
            <a:endParaRPr b="1" sz="1800">
              <a:solidFill>
                <a:srgbClr val="434343"/>
              </a:solidFill>
              <a:latin typeface="Comfortaa"/>
              <a:ea typeface="Comfortaa"/>
              <a:cs typeface="Comfortaa"/>
              <a:sym typeface="Comfortaa"/>
            </a:endParaRPr>
          </a:p>
        </p:txBody>
      </p:sp>
      <p:sp>
        <p:nvSpPr>
          <p:cNvPr id="1329" name="Google Shape;1329;h28f86b313e326572_0_26"/>
          <p:cNvSpPr txBox="1"/>
          <p:nvPr/>
        </p:nvSpPr>
        <p:spPr>
          <a:xfrm>
            <a:off x="5520226" y="3213075"/>
            <a:ext cx="1320300" cy="513300"/>
          </a:xfrm>
          <a:prstGeom prst="rect">
            <a:avLst/>
          </a:prstGeom>
          <a:noFill/>
          <a:ln>
            <a:noFill/>
          </a:ln>
        </p:spPr>
        <p:txBody>
          <a:bodyPr anchorCtr="0" anchor="t" bIns="117000" lIns="117000" spcFirstLastPara="1" rIns="117000" wrap="square" tIns="117000">
            <a:spAutoFit/>
          </a:bodyPr>
          <a:lstStyle/>
          <a:p>
            <a:pPr indent="0" lvl="0" marL="0" rtl="0" algn="ctr">
              <a:spcBef>
                <a:spcPts val="0"/>
              </a:spcBef>
              <a:spcAft>
                <a:spcPts val="0"/>
              </a:spcAft>
              <a:buNone/>
            </a:pPr>
            <a:r>
              <a:rPr b="1" lang="pt-BR" sz="1800">
                <a:solidFill>
                  <a:srgbClr val="0000FF"/>
                </a:solidFill>
                <a:latin typeface="Comfortaa"/>
                <a:ea typeface="Comfortaa"/>
                <a:cs typeface="Comfortaa"/>
                <a:sym typeface="Comfortaa"/>
              </a:rPr>
              <a:t>0</a:t>
            </a:r>
            <a:endParaRPr b="1" sz="1800">
              <a:solidFill>
                <a:srgbClr val="0000FF"/>
              </a:solidFill>
              <a:latin typeface="Comfortaa"/>
              <a:ea typeface="Comfortaa"/>
              <a:cs typeface="Comfortaa"/>
              <a:sym typeface="Comfortaa"/>
            </a:endParaRPr>
          </a:p>
        </p:txBody>
      </p:sp>
      <p:sp>
        <p:nvSpPr>
          <p:cNvPr id="1330" name="Google Shape;1330;h28f86b313e326572_0_26"/>
          <p:cNvSpPr txBox="1"/>
          <p:nvPr/>
        </p:nvSpPr>
        <p:spPr>
          <a:xfrm>
            <a:off x="7169976" y="1827600"/>
            <a:ext cx="1320300" cy="513300"/>
          </a:xfrm>
          <a:prstGeom prst="rect">
            <a:avLst/>
          </a:prstGeom>
          <a:noFill/>
          <a:ln>
            <a:noFill/>
          </a:ln>
        </p:spPr>
        <p:txBody>
          <a:bodyPr anchorCtr="0" anchor="t" bIns="117000" lIns="117000" spcFirstLastPara="1" rIns="117000" wrap="square" tIns="117000">
            <a:spAutoFit/>
          </a:bodyPr>
          <a:lstStyle/>
          <a:p>
            <a:pPr indent="0" lvl="0" marL="0" rtl="0" algn="ctr">
              <a:spcBef>
                <a:spcPts val="0"/>
              </a:spcBef>
              <a:spcAft>
                <a:spcPts val="0"/>
              </a:spcAft>
              <a:buNone/>
            </a:pPr>
            <a:r>
              <a:rPr b="1" lang="pt-BR" sz="1800">
                <a:solidFill>
                  <a:srgbClr val="FF0000"/>
                </a:solidFill>
                <a:latin typeface="Comfortaa"/>
                <a:ea typeface="Comfortaa"/>
                <a:cs typeface="Comfortaa"/>
                <a:sym typeface="Comfortaa"/>
              </a:rPr>
              <a:t>1</a:t>
            </a:r>
            <a:endParaRPr b="1" sz="1800">
              <a:solidFill>
                <a:srgbClr val="FF0000"/>
              </a:solidFill>
              <a:latin typeface="Comfortaa"/>
              <a:ea typeface="Comfortaa"/>
              <a:cs typeface="Comfortaa"/>
              <a:sym typeface="Comfortaa"/>
            </a:endParaRPr>
          </a:p>
        </p:txBody>
      </p:sp>
      <p:sp>
        <p:nvSpPr>
          <p:cNvPr id="1331" name="Google Shape;1331;h28f86b313e326572_0_26"/>
          <p:cNvSpPr txBox="1"/>
          <p:nvPr/>
        </p:nvSpPr>
        <p:spPr>
          <a:xfrm>
            <a:off x="4683348" y="3449288"/>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0.3</a:t>
            </a:r>
            <a:endParaRPr b="1" sz="1800">
              <a:solidFill>
                <a:srgbClr val="434343"/>
              </a:solidFill>
              <a:latin typeface="Comfortaa"/>
              <a:ea typeface="Comfortaa"/>
              <a:cs typeface="Comfortaa"/>
              <a:sym typeface="Comfortaa"/>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pic>
        <p:nvPicPr>
          <p:cNvPr id="1336" name="Google Shape;1336;h28f86b313e326572_0_44"/>
          <p:cNvPicPr preferRelativeResize="0"/>
          <p:nvPr/>
        </p:nvPicPr>
        <p:blipFill>
          <a:blip r:embed="rId3">
            <a:alphaModFix/>
          </a:blip>
          <a:stretch>
            <a:fillRect/>
          </a:stretch>
        </p:blipFill>
        <p:spPr>
          <a:xfrm>
            <a:off x="60375" y="2310875"/>
            <a:ext cx="4419600" cy="761998"/>
          </a:xfrm>
          <a:prstGeom prst="rect">
            <a:avLst/>
          </a:prstGeom>
          <a:noFill/>
          <a:ln>
            <a:noFill/>
          </a:ln>
        </p:spPr>
      </p:pic>
      <p:pic>
        <p:nvPicPr>
          <p:cNvPr id="1337" name="Google Shape;1337;h28f86b313e326572_0_44"/>
          <p:cNvPicPr preferRelativeResize="0"/>
          <p:nvPr/>
        </p:nvPicPr>
        <p:blipFill>
          <a:blip r:embed="rId4">
            <a:alphaModFix/>
          </a:blip>
          <a:stretch>
            <a:fillRect/>
          </a:stretch>
        </p:blipFill>
        <p:spPr>
          <a:xfrm>
            <a:off x="1195400" y="3472325"/>
            <a:ext cx="2386925" cy="1052300"/>
          </a:xfrm>
          <a:prstGeom prst="rect">
            <a:avLst/>
          </a:prstGeom>
          <a:noFill/>
          <a:ln>
            <a:noFill/>
          </a:ln>
        </p:spPr>
      </p:pic>
      <p:sp>
        <p:nvSpPr>
          <p:cNvPr id="1338" name="Google Shape;1338;h28f86b313e326572_0_44"/>
          <p:cNvSpPr/>
          <p:nvPr/>
        </p:nvSpPr>
        <p:spPr>
          <a:xfrm>
            <a:off x="5307100" y="1767925"/>
            <a:ext cx="3394800" cy="2756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339" name="Google Shape;1339;h28f86b313e326572_0_44"/>
          <p:cNvSpPr txBox="1"/>
          <p:nvPr>
            <p:ph type="title"/>
          </p:nvPr>
        </p:nvSpPr>
        <p:spPr>
          <a:xfrm>
            <a:off x="311700" y="6067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Bernoulli Distribution</a:t>
            </a:r>
            <a:endParaRPr/>
          </a:p>
        </p:txBody>
      </p:sp>
      <p:pic>
        <p:nvPicPr>
          <p:cNvPr id="1340" name="Google Shape;1340;h28f86b313e326572_0_44"/>
          <p:cNvPicPr preferRelativeResize="0"/>
          <p:nvPr/>
        </p:nvPicPr>
        <p:blipFill>
          <a:blip r:embed="rId5">
            <a:alphaModFix/>
          </a:blip>
          <a:stretch>
            <a:fillRect/>
          </a:stretch>
        </p:blipFill>
        <p:spPr>
          <a:xfrm>
            <a:off x="311700" y="723335"/>
            <a:ext cx="4580275" cy="970875"/>
          </a:xfrm>
          <a:prstGeom prst="rect">
            <a:avLst/>
          </a:prstGeom>
          <a:noFill/>
          <a:ln>
            <a:noFill/>
          </a:ln>
        </p:spPr>
      </p:pic>
      <p:sp>
        <p:nvSpPr>
          <p:cNvPr id="1341" name="Google Shape;1341;h28f86b313e326572_0_44"/>
          <p:cNvSpPr/>
          <p:nvPr/>
        </p:nvSpPr>
        <p:spPr>
          <a:xfrm>
            <a:off x="7142375" y="3869200"/>
            <a:ext cx="1375500" cy="635100"/>
          </a:xfrm>
          <a:prstGeom prst="rect">
            <a:avLst/>
          </a:prstGeom>
          <a:solidFill>
            <a:srgbClr val="EA9999"/>
          </a:solidFill>
          <a:ln cap="flat" cmpd="sng" w="48750">
            <a:solidFill>
              <a:srgbClr val="FF0000"/>
            </a:solidFill>
            <a:prstDash val="solid"/>
            <a:round/>
            <a:headEnd len="sm" w="sm" type="none"/>
            <a:tailEnd len="sm" w="sm" type="none"/>
          </a:ln>
        </p:spPr>
        <p:txBody>
          <a:bodyPr anchorCtr="0" anchor="ctr" bIns="117000" lIns="117000" spcFirstLastPara="1" rIns="117000" wrap="square" tIns="117000">
            <a:noAutofit/>
          </a:bodyPr>
          <a:lstStyle/>
          <a:p>
            <a:pPr indent="0" lvl="0" marL="0" rtl="0" algn="ctr">
              <a:spcBef>
                <a:spcPts val="0"/>
              </a:spcBef>
              <a:spcAft>
                <a:spcPts val="0"/>
              </a:spcAft>
              <a:buNone/>
            </a:pPr>
            <a:r>
              <a:t/>
            </a:r>
            <a:endParaRPr sz="1791">
              <a:latin typeface="Comfortaa"/>
              <a:ea typeface="Comfortaa"/>
              <a:cs typeface="Comfortaa"/>
              <a:sym typeface="Comfortaa"/>
            </a:endParaRPr>
          </a:p>
        </p:txBody>
      </p:sp>
      <p:sp>
        <p:nvSpPr>
          <p:cNvPr id="1342" name="Google Shape;1342;h28f86b313e326572_0_44"/>
          <p:cNvSpPr txBox="1"/>
          <p:nvPr/>
        </p:nvSpPr>
        <p:spPr>
          <a:xfrm>
            <a:off x="5520226" y="4520175"/>
            <a:ext cx="1320300" cy="513300"/>
          </a:xfrm>
          <a:prstGeom prst="rect">
            <a:avLst/>
          </a:prstGeom>
          <a:noFill/>
          <a:ln>
            <a:noFill/>
          </a:ln>
        </p:spPr>
        <p:txBody>
          <a:bodyPr anchorCtr="0" anchor="t" bIns="117000" lIns="117000" spcFirstLastPara="1" rIns="117000" wrap="square" tIns="117000">
            <a:spAutoFit/>
          </a:bodyPr>
          <a:lstStyle/>
          <a:p>
            <a:pPr indent="0" lvl="0" marL="0" rtl="0" algn="l">
              <a:spcBef>
                <a:spcPts val="0"/>
              </a:spcBef>
              <a:spcAft>
                <a:spcPts val="0"/>
              </a:spcAft>
              <a:buNone/>
            </a:pPr>
            <a:r>
              <a:rPr b="1" lang="pt-BR" sz="1800">
                <a:solidFill>
                  <a:srgbClr val="0000FF"/>
                </a:solidFill>
                <a:latin typeface="Comfortaa"/>
                <a:ea typeface="Comfortaa"/>
                <a:cs typeface="Comfortaa"/>
                <a:sym typeface="Comfortaa"/>
              </a:rPr>
              <a:t>chemical</a:t>
            </a:r>
            <a:endParaRPr b="1" sz="1800">
              <a:solidFill>
                <a:srgbClr val="0000FF"/>
              </a:solidFill>
              <a:latin typeface="Comfortaa"/>
              <a:ea typeface="Comfortaa"/>
              <a:cs typeface="Comfortaa"/>
              <a:sym typeface="Comfortaa"/>
            </a:endParaRPr>
          </a:p>
        </p:txBody>
      </p:sp>
      <p:sp>
        <p:nvSpPr>
          <p:cNvPr id="1343" name="Google Shape;1343;h28f86b313e326572_0_44"/>
          <p:cNvSpPr txBox="1"/>
          <p:nvPr/>
        </p:nvSpPr>
        <p:spPr>
          <a:xfrm>
            <a:off x="6887674" y="4520175"/>
            <a:ext cx="1884900" cy="513300"/>
          </a:xfrm>
          <a:prstGeom prst="rect">
            <a:avLst/>
          </a:prstGeom>
          <a:noFill/>
          <a:ln>
            <a:noFill/>
          </a:ln>
        </p:spPr>
        <p:txBody>
          <a:bodyPr anchorCtr="0" anchor="t" bIns="117000" lIns="117000" spcFirstLastPara="1" rIns="117000" wrap="square" tIns="117000">
            <a:spAutoFit/>
          </a:bodyPr>
          <a:lstStyle/>
          <a:p>
            <a:pPr indent="0" lvl="0" marL="0" rtl="0" algn="l">
              <a:spcBef>
                <a:spcPts val="0"/>
              </a:spcBef>
              <a:spcAft>
                <a:spcPts val="0"/>
              </a:spcAft>
              <a:buNone/>
            </a:pPr>
            <a:r>
              <a:rPr b="1" lang="pt-BR" sz="1800">
                <a:solidFill>
                  <a:srgbClr val="FF0000"/>
                </a:solidFill>
                <a:latin typeface="Comfortaa"/>
                <a:ea typeface="Comfortaa"/>
                <a:cs typeface="Comfortaa"/>
                <a:sym typeface="Comfortaa"/>
              </a:rPr>
              <a:t>technological</a:t>
            </a:r>
            <a:endParaRPr b="1" sz="1800">
              <a:solidFill>
                <a:srgbClr val="FF0000"/>
              </a:solidFill>
              <a:latin typeface="Comfortaa"/>
              <a:ea typeface="Comfortaa"/>
              <a:cs typeface="Comfortaa"/>
              <a:sym typeface="Comfortaa"/>
            </a:endParaRPr>
          </a:p>
        </p:txBody>
      </p:sp>
      <p:sp>
        <p:nvSpPr>
          <p:cNvPr id="1344" name="Google Shape;1344;h28f86b313e326572_0_44"/>
          <p:cNvSpPr txBox="1"/>
          <p:nvPr/>
        </p:nvSpPr>
        <p:spPr>
          <a:xfrm>
            <a:off x="4683348" y="1694200"/>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1.0</a:t>
            </a:r>
            <a:endParaRPr b="1" sz="1800">
              <a:solidFill>
                <a:srgbClr val="434343"/>
              </a:solidFill>
              <a:latin typeface="Comfortaa"/>
              <a:ea typeface="Comfortaa"/>
              <a:cs typeface="Comfortaa"/>
              <a:sym typeface="Comfortaa"/>
            </a:endParaRPr>
          </a:p>
        </p:txBody>
      </p:sp>
      <p:sp>
        <p:nvSpPr>
          <p:cNvPr id="1345" name="Google Shape;1345;h28f86b313e326572_0_44"/>
          <p:cNvSpPr txBox="1"/>
          <p:nvPr/>
        </p:nvSpPr>
        <p:spPr>
          <a:xfrm>
            <a:off x="4683348" y="4062925"/>
            <a:ext cx="5349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0.0</a:t>
            </a:r>
            <a:endParaRPr b="1" sz="1800">
              <a:solidFill>
                <a:srgbClr val="434343"/>
              </a:solidFill>
              <a:latin typeface="Comfortaa"/>
              <a:ea typeface="Comfortaa"/>
              <a:cs typeface="Comfortaa"/>
              <a:sym typeface="Comfortaa"/>
            </a:endParaRPr>
          </a:p>
        </p:txBody>
      </p:sp>
      <p:sp>
        <p:nvSpPr>
          <p:cNvPr id="1346" name="Google Shape;1346;h28f86b313e326572_0_44"/>
          <p:cNvSpPr txBox="1"/>
          <p:nvPr/>
        </p:nvSpPr>
        <p:spPr>
          <a:xfrm>
            <a:off x="4683348" y="2105564"/>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0.8</a:t>
            </a:r>
            <a:endParaRPr b="1" sz="1800">
              <a:solidFill>
                <a:srgbClr val="434343"/>
              </a:solidFill>
              <a:latin typeface="Comfortaa"/>
              <a:ea typeface="Comfortaa"/>
              <a:cs typeface="Comfortaa"/>
              <a:sym typeface="Comfortaa"/>
            </a:endParaRPr>
          </a:p>
        </p:txBody>
      </p:sp>
      <p:sp>
        <p:nvSpPr>
          <p:cNvPr id="1347" name="Google Shape;1347;h28f86b313e326572_0_44"/>
          <p:cNvSpPr txBox="1"/>
          <p:nvPr/>
        </p:nvSpPr>
        <p:spPr>
          <a:xfrm>
            <a:off x="5492626" y="1827600"/>
            <a:ext cx="1320300" cy="513300"/>
          </a:xfrm>
          <a:prstGeom prst="rect">
            <a:avLst/>
          </a:prstGeom>
          <a:noFill/>
          <a:ln>
            <a:noFill/>
          </a:ln>
        </p:spPr>
        <p:txBody>
          <a:bodyPr anchorCtr="0" anchor="t" bIns="117000" lIns="117000" spcFirstLastPara="1" rIns="117000" wrap="square" tIns="117000">
            <a:spAutoFit/>
          </a:bodyPr>
          <a:lstStyle/>
          <a:p>
            <a:pPr indent="0" lvl="0" marL="0" rtl="0" algn="ctr">
              <a:spcBef>
                <a:spcPts val="0"/>
              </a:spcBef>
              <a:spcAft>
                <a:spcPts val="0"/>
              </a:spcAft>
              <a:buNone/>
            </a:pPr>
            <a:r>
              <a:rPr b="1" lang="pt-BR" sz="1800">
                <a:solidFill>
                  <a:srgbClr val="0000FF"/>
                </a:solidFill>
                <a:latin typeface="Comfortaa"/>
                <a:ea typeface="Comfortaa"/>
                <a:cs typeface="Comfortaa"/>
                <a:sym typeface="Comfortaa"/>
              </a:rPr>
              <a:t>0</a:t>
            </a:r>
            <a:endParaRPr b="1" sz="1800">
              <a:solidFill>
                <a:srgbClr val="0000FF"/>
              </a:solidFill>
              <a:latin typeface="Comfortaa"/>
              <a:ea typeface="Comfortaa"/>
              <a:cs typeface="Comfortaa"/>
              <a:sym typeface="Comfortaa"/>
            </a:endParaRPr>
          </a:p>
        </p:txBody>
      </p:sp>
      <p:sp>
        <p:nvSpPr>
          <p:cNvPr id="1348" name="Google Shape;1348;h28f86b313e326572_0_44"/>
          <p:cNvSpPr txBox="1"/>
          <p:nvPr/>
        </p:nvSpPr>
        <p:spPr>
          <a:xfrm>
            <a:off x="7169976" y="1827600"/>
            <a:ext cx="1320300" cy="513300"/>
          </a:xfrm>
          <a:prstGeom prst="rect">
            <a:avLst/>
          </a:prstGeom>
          <a:noFill/>
          <a:ln>
            <a:noFill/>
          </a:ln>
        </p:spPr>
        <p:txBody>
          <a:bodyPr anchorCtr="0" anchor="t" bIns="117000" lIns="117000" spcFirstLastPara="1" rIns="117000" wrap="square" tIns="117000">
            <a:spAutoFit/>
          </a:bodyPr>
          <a:lstStyle/>
          <a:p>
            <a:pPr indent="0" lvl="0" marL="0" rtl="0" algn="ctr">
              <a:spcBef>
                <a:spcPts val="0"/>
              </a:spcBef>
              <a:spcAft>
                <a:spcPts val="0"/>
              </a:spcAft>
              <a:buNone/>
            </a:pPr>
            <a:r>
              <a:rPr b="1" lang="pt-BR" sz="1800">
                <a:solidFill>
                  <a:srgbClr val="FF0000"/>
                </a:solidFill>
                <a:latin typeface="Comfortaa"/>
                <a:ea typeface="Comfortaa"/>
                <a:cs typeface="Comfortaa"/>
                <a:sym typeface="Comfortaa"/>
              </a:rPr>
              <a:t>1</a:t>
            </a:r>
            <a:endParaRPr b="1" sz="1800">
              <a:solidFill>
                <a:srgbClr val="FF0000"/>
              </a:solidFill>
              <a:latin typeface="Comfortaa"/>
              <a:ea typeface="Comfortaa"/>
              <a:cs typeface="Comfortaa"/>
              <a:sym typeface="Comfortaa"/>
            </a:endParaRPr>
          </a:p>
        </p:txBody>
      </p:sp>
      <p:sp>
        <p:nvSpPr>
          <p:cNvPr id="1349" name="Google Shape;1349;h28f86b313e326572_0_44"/>
          <p:cNvSpPr txBox="1"/>
          <p:nvPr/>
        </p:nvSpPr>
        <p:spPr>
          <a:xfrm>
            <a:off x="4683348" y="3617376"/>
            <a:ext cx="5613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434343"/>
                </a:solidFill>
                <a:latin typeface="Comfortaa"/>
                <a:ea typeface="Comfortaa"/>
                <a:cs typeface="Comfortaa"/>
                <a:sym typeface="Comfortaa"/>
              </a:rPr>
              <a:t>0.2</a:t>
            </a:r>
            <a:endParaRPr b="1" sz="1800">
              <a:solidFill>
                <a:srgbClr val="434343"/>
              </a:solidFill>
              <a:latin typeface="Comfortaa"/>
              <a:ea typeface="Comfortaa"/>
              <a:cs typeface="Comfortaa"/>
              <a:sym typeface="Comfortaa"/>
            </a:endParaRPr>
          </a:p>
        </p:txBody>
      </p:sp>
      <p:sp>
        <p:nvSpPr>
          <p:cNvPr id="1350" name="Google Shape;1350;h28f86b313e326572_0_44"/>
          <p:cNvSpPr/>
          <p:nvPr/>
        </p:nvSpPr>
        <p:spPr>
          <a:xfrm>
            <a:off x="5492625" y="2310875"/>
            <a:ext cx="1375500" cy="2193300"/>
          </a:xfrm>
          <a:prstGeom prst="rect">
            <a:avLst/>
          </a:prstGeom>
          <a:solidFill>
            <a:srgbClr val="4A86E8"/>
          </a:solidFill>
          <a:ln cap="flat" cmpd="sng" w="48750">
            <a:solidFill>
              <a:srgbClr val="0000FF"/>
            </a:solidFill>
            <a:prstDash val="solid"/>
            <a:round/>
            <a:headEnd len="sm" w="sm" type="none"/>
            <a:tailEnd len="sm" w="sm" type="none"/>
          </a:ln>
        </p:spPr>
        <p:txBody>
          <a:bodyPr anchorCtr="0" anchor="ctr" bIns="117000" lIns="117000" spcFirstLastPara="1" rIns="117000" wrap="square" tIns="117000">
            <a:noAutofit/>
          </a:bodyPr>
          <a:lstStyle/>
          <a:p>
            <a:pPr indent="0" lvl="0" marL="0" rtl="0" algn="ctr">
              <a:spcBef>
                <a:spcPts val="0"/>
              </a:spcBef>
              <a:spcAft>
                <a:spcPts val="0"/>
              </a:spcAft>
              <a:buNone/>
            </a:pPr>
            <a:r>
              <a:t/>
            </a:r>
            <a:endParaRPr sz="1791">
              <a:latin typeface="Comfortaa"/>
              <a:ea typeface="Comfortaa"/>
              <a:cs typeface="Comfortaa"/>
              <a:sym typeface="Comfortaa"/>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h28f86b313e326572_0_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Bernoulli Distribution</a:t>
            </a:r>
            <a:endParaRPr/>
          </a:p>
        </p:txBody>
      </p:sp>
      <p:pic>
        <p:nvPicPr>
          <p:cNvPr id="1356" name="Google Shape;1356;h28f86b313e326572_0_62"/>
          <p:cNvPicPr preferRelativeResize="0"/>
          <p:nvPr/>
        </p:nvPicPr>
        <p:blipFill>
          <a:blip r:embed="rId3">
            <a:alphaModFix/>
          </a:blip>
          <a:stretch>
            <a:fillRect/>
          </a:stretch>
        </p:blipFill>
        <p:spPr>
          <a:xfrm>
            <a:off x="1377648" y="3378875"/>
            <a:ext cx="5516074" cy="687900"/>
          </a:xfrm>
          <a:prstGeom prst="rect">
            <a:avLst/>
          </a:prstGeom>
          <a:noFill/>
          <a:ln>
            <a:noFill/>
          </a:ln>
        </p:spPr>
      </p:pic>
      <p:pic>
        <p:nvPicPr>
          <p:cNvPr id="1357" name="Google Shape;1357;h28f86b313e326572_0_62"/>
          <p:cNvPicPr preferRelativeResize="0"/>
          <p:nvPr/>
        </p:nvPicPr>
        <p:blipFill>
          <a:blip r:embed="rId4">
            <a:alphaModFix/>
          </a:blip>
          <a:stretch>
            <a:fillRect/>
          </a:stretch>
        </p:blipFill>
        <p:spPr>
          <a:xfrm>
            <a:off x="1845550" y="1395410"/>
            <a:ext cx="4580275" cy="970875"/>
          </a:xfrm>
          <a:prstGeom prst="rect">
            <a:avLst/>
          </a:prstGeom>
          <a:noFill/>
          <a:ln>
            <a:noFill/>
          </a:ln>
        </p:spPr>
      </p:pic>
      <p:sp>
        <p:nvSpPr>
          <p:cNvPr id="1358" name="Google Shape;1358;h28f86b313e326572_0_62"/>
          <p:cNvSpPr txBox="1"/>
          <p:nvPr>
            <p:ph idx="1" type="body"/>
          </p:nvPr>
        </p:nvSpPr>
        <p:spPr>
          <a:xfrm>
            <a:off x="311700" y="2528625"/>
            <a:ext cx="8520600" cy="68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Equivalent to:</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h28f86b313e326572_0_69"/>
          <p:cNvSpPr txBox="1"/>
          <p:nvPr>
            <p:ph type="title"/>
          </p:nvPr>
        </p:nvSpPr>
        <p:spPr>
          <a:xfrm>
            <a:off x="311700" y="168933"/>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4</a:t>
            </a:r>
            <a:endParaRPr/>
          </a:p>
        </p:txBody>
      </p:sp>
      <p:pic>
        <p:nvPicPr>
          <p:cNvPr id="1364" name="Google Shape;1364;h28f86b313e326572_0_69"/>
          <p:cNvPicPr preferRelativeResize="0"/>
          <p:nvPr/>
        </p:nvPicPr>
        <p:blipFill>
          <a:blip r:embed="rId3">
            <a:alphaModFix/>
          </a:blip>
          <a:stretch>
            <a:fillRect/>
          </a:stretch>
        </p:blipFill>
        <p:spPr>
          <a:xfrm>
            <a:off x="383275" y="923405"/>
            <a:ext cx="4115998" cy="513300"/>
          </a:xfrm>
          <a:prstGeom prst="rect">
            <a:avLst/>
          </a:prstGeom>
          <a:noFill/>
          <a:ln>
            <a:noFill/>
          </a:ln>
        </p:spPr>
      </p:pic>
      <p:pic>
        <p:nvPicPr>
          <p:cNvPr id="1365" name="Google Shape;1365;h28f86b313e326572_0_69"/>
          <p:cNvPicPr preferRelativeResize="0"/>
          <p:nvPr/>
        </p:nvPicPr>
        <p:blipFill>
          <a:blip r:embed="rId4">
            <a:alphaModFix/>
          </a:blip>
          <a:stretch>
            <a:fillRect/>
          </a:stretch>
        </p:blipFill>
        <p:spPr>
          <a:xfrm>
            <a:off x="6462600" y="1671023"/>
            <a:ext cx="1568417" cy="513300"/>
          </a:xfrm>
          <a:prstGeom prst="rect">
            <a:avLst/>
          </a:prstGeom>
          <a:noFill/>
          <a:ln>
            <a:noFill/>
          </a:ln>
        </p:spPr>
      </p:pic>
      <p:sp>
        <p:nvSpPr>
          <p:cNvPr id="1366" name="Google Shape;1366;h28f86b313e326572_0_69"/>
          <p:cNvSpPr txBox="1"/>
          <p:nvPr>
            <p:ph idx="1" type="body"/>
          </p:nvPr>
        </p:nvSpPr>
        <p:spPr>
          <a:xfrm>
            <a:off x="311700" y="1625723"/>
            <a:ext cx="6150900" cy="6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Compute the probabilities for</a:t>
            </a:r>
            <a:endParaRPr>
              <a:latin typeface="Courier New"/>
              <a:ea typeface="Courier New"/>
              <a:cs typeface="Courier New"/>
              <a:sym typeface="Courier New"/>
            </a:endParaRPr>
          </a:p>
        </p:txBody>
      </p:sp>
      <p:pic>
        <p:nvPicPr>
          <p:cNvPr id="1367" name="Google Shape;1367;h28f86b313e326572_0_69"/>
          <p:cNvPicPr preferRelativeResize="0"/>
          <p:nvPr/>
        </p:nvPicPr>
        <p:blipFill>
          <a:blip r:embed="rId5">
            <a:alphaModFix/>
          </a:blip>
          <a:stretch>
            <a:fillRect/>
          </a:stretch>
        </p:blipFill>
        <p:spPr>
          <a:xfrm>
            <a:off x="152400" y="2466325"/>
            <a:ext cx="3114175" cy="110977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h28f86b313e326572_0_77"/>
          <p:cNvSpPr txBox="1"/>
          <p:nvPr>
            <p:ph type="title"/>
          </p:nvPr>
        </p:nvSpPr>
        <p:spPr>
          <a:xfrm>
            <a:off x="311700" y="168933"/>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4</a:t>
            </a:r>
            <a:endParaRPr/>
          </a:p>
        </p:txBody>
      </p:sp>
      <p:pic>
        <p:nvPicPr>
          <p:cNvPr id="1373" name="Google Shape;1373;h28f86b313e326572_0_77"/>
          <p:cNvPicPr preferRelativeResize="0"/>
          <p:nvPr/>
        </p:nvPicPr>
        <p:blipFill>
          <a:blip r:embed="rId3">
            <a:alphaModFix/>
          </a:blip>
          <a:stretch>
            <a:fillRect/>
          </a:stretch>
        </p:blipFill>
        <p:spPr>
          <a:xfrm>
            <a:off x="383275" y="923405"/>
            <a:ext cx="4115998" cy="513300"/>
          </a:xfrm>
          <a:prstGeom prst="rect">
            <a:avLst/>
          </a:prstGeom>
          <a:noFill/>
          <a:ln>
            <a:noFill/>
          </a:ln>
        </p:spPr>
      </p:pic>
      <p:pic>
        <p:nvPicPr>
          <p:cNvPr id="1374" name="Google Shape;1374;h28f86b313e326572_0_77"/>
          <p:cNvPicPr preferRelativeResize="0"/>
          <p:nvPr/>
        </p:nvPicPr>
        <p:blipFill>
          <a:blip r:embed="rId4">
            <a:alphaModFix/>
          </a:blip>
          <a:stretch>
            <a:fillRect/>
          </a:stretch>
        </p:blipFill>
        <p:spPr>
          <a:xfrm>
            <a:off x="6462600" y="1671023"/>
            <a:ext cx="1568417" cy="513300"/>
          </a:xfrm>
          <a:prstGeom prst="rect">
            <a:avLst/>
          </a:prstGeom>
          <a:noFill/>
          <a:ln>
            <a:noFill/>
          </a:ln>
        </p:spPr>
      </p:pic>
      <p:sp>
        <p:nvSpPr>
          <p:cNvPr id="1375" name="Google Shape;1375;h28f86b313e326572_0_77"/>
          <p:cNvSpPr txBox="1"/>
          <p:nvPr>
            <p:ph idx="1" type="body"/>
          </p:nvPr>
        </p:nvSpPr>
        <p:spPr>
          <a:xfrm>
            <a:off x="311700" y="1625723"/>
            <a:ext cx="6150900" cy="6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Compute the probabilities for</a:t>
            </a:r>
            <a:endParaRPr>
              <a:latin typeface="Courier New"/>
              <a:ea typeface="Courier New"/>
              <a:cs typeface="Courier New"/>
              <a:sym typeface="Courier New"/>
            </a:endParaRPr>
          </a:p>
        </p:txBody>
      </p:sp>
      <p:pic>
        <p:nvPicPr>
          <p:cNvPr id="1376" name="Google Shape;1376;h28f86b313e326572_0_77"/>
          <p:cNvPicPr preferRelativeResize="0"/>
          <p:nvPr/>
        </p:nvPicPr>
        <p:blipFill>
          <a:blip r:embed="rId5">
            <a:alphaModFix/>
          </a:blip>
          <a:stretch>
            <a:fillRect/>
          </a:stretch>
        </p:blipFill>
        <p:spPr>
          <a:xfrm>
            <a:off x="532825" y="2709800"/>
            <a:ext cx="7448725" cy="14713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h28f86b313e326572_0_118"/>
          <p:cNvSpPr txBox="1"/>
          <p:nvPr/>
        </p:nvSpPr>
        <p:spPr>
          <a:xfrm>
            <a:off x="4013250" y="1508575"/>
            <a:ext cx="1117500" cy="613800"/>
          </a:xfrm>
          <a:prstGeom prst="rect">
            <a:avLst/>
          </a:prstGeom>
          <a:noFill/>
          <a:ln>
            <a:noFill/>
          </a:ln>
        </p:spPr>
        <p:txBody>
          <a:bodyPr anchorCtr="0" anchor="t" bIns="75275" lIns="75275" spcFirstLastPara="1" rIns="75275" wrap="square" tIns="75275">
            <a:spAutoFit/>
          </a:bodyPr>
          <a:lstStyle/>
          <a:p>
            <a:pPr indent="0" lvl="0" marL="0" rtl="0" algn="l">
              <a:spcBef>
                <a:spcPts val="0"/>
              </a:spcBef>
              <a:spcAft>
                <a:spcPts val="0"/>
              </a:spcAft>
              <a:buNone/>
            </a:pPr>
            <a:r>
              <a:rPr lang="pt-BR" sz="3000">
                <a:solidFill>
                  <a:srgbClr val="434343"/>
                </a:solidFill>
              </a:rPr>
              <a:t>[1 , 0]</a:t>
            </a:r>
            <a:endParaRPr sz="3000">
              <a:solidFill>
                <a:srgbClr val="434343"/>
              </a:solidFill>
            </a:endParaRPr>
          </a:p>
        </p:txBody>
      </p:sp>
      <p:grpSp>
        <p:nvGrpSpPr>
          <p:cNvPr id="1382" name="Google Shape;1382;h28f86b313e326572_0_118"/>
          <p:cNvGrpSpPr/>
          <p:nvPr/>
        </p:nvGrpSpPr>
        <p:grpSpPr>
          <a:xfrm>
            <a:off x="2369152" y="1151100"/>
            <a:ext cx="4405696" cy="1648323"/>
            <a:chOff x="1635375" y="148850"/>
            <a:chExt cx="4405696" cy="1648323"/>
          </a:xfrm>
        </p:grpSpPr>
        <p:pic>
          <p:nvPicPr>
            <p:cNvPr id="1383" name="Google Shape;1383;h28f86b313e326572_0_118" title="Dilophosaurus_wetherelli_by_highdarktemplar.jpg"/>
            <p:cNvPicPr preferRelativeResize="0"/>
            <p:nvPr/>
          </p:nvPicPr>
          <p:blipFill>
            <a:blip r:embed="rId3">
              <a:alphaModFix/>
            </a:blip>
            <a:stretch>
              <a:fillRect/>
            </a:stretch>
          </p:blipFill>
          <p:spPr>
            <a:xfrm>
              <a:off x="1799967" y="148851"/>
              <a:ext cx="1268244" cy="1268224"/>
            </a:xfrm>
            <a:prstGeom prst="rect">
              <a:avLst/>
            </a:prstGeom>
            <a:noFill/>
            <a:ln>
              <a:noFill/>
            </a:ln>
          </p:spPr>
        </p:pic>
        <p:sp>
          <p:nvSpPr>
            <p:cNvPr id="1384" name="Google Shape;1384;h28f86b313e326572_0_118"/>
            <p:cNvSpPr txBox="1"/>
            <p:nvPr/>
          </p:nvSpPr>
          <p:spPr>
            <a:xfrm>
              <a:off x="1635375" y="1417073"/>
              <a:ext cx="1597500" cy="380100"/>
            </a:xfrm>
            <a:prstGeom prst="rect">
              <a:avLst/>
            </a:prstGeom>
            <a:noFill/>
            <a:ln>
              <a:noFill/>
            </a:ln>
          </p:spPr>
          <p:txBody>
            <a:bodyPr anchorCtr="0" anchor="t" bIns="75275" lIns="75275" spcFirstLastPara="1" rIns="75275" wrap="square" tIns="75275">
              <a:spAutoFit/>
            </a:bodyPr>
            <a:lstStyle/>
            <a:p>
              <a:pPr indent="0" lvl="0" marL="0" rtl="0" algn="l">
                <a:spcBef>
                  <a:spcPts val="0"/>
                </a:spcBef>
                <a:spcAft>
                  <a:spcPts val="0"/>
                </a:spcAft>
                <a:buNone/>
              </a:pPr>
              <a:r>
                <a:rPr lang="pt-BR" sz="1482">
                  <a:solidFill>
                    <a:srgbClr val="434343"/>
                  </a:solidFill>
                  <a:latin typeface="Comfortaa"/>
                  <a:ea typeface="Comfortaa"/>
                  <a:cs typeface="Comfortaa"/>
                  <a:sym typeface="Comfortaa"/>
                </a:rPr>
                <a:t>Dilophosaurus</a:t>
              </a:r>
              <a:endParaRPr sz="1482">
                <a:solidFill>
                  <a:srgbClr val="434343"/>
                </a:solidFill>
                <a:latin typeface="Comfortaa"/>
                <a:ea typeface="Comfortaa"/>
                <a:cs typeface="Comfortaa"/>
                <a:sym typeface="Comfortaa"/>
              </a:endParaRPr>
            </a:p>
          </p:txBody>
        </p:sp>
        <p:pic>
          <p:nvPicPr>
            <p:cNvPr id="1385" name="Google Shape;1385;h28f86b313e326572_0_118" title="Allosaurus_fragilis_portrait_by_highdarktemplar.jpg"/>
            <p:cNvPicPr preferRelativeResize="0"/>
            <p:nvPr/>
          </p:nvPicPr>
          <p:blipFill>
            <a:blip r:embed="rId4">
              <a:alphaModFix/>
            </a:blip>
            <a:stretch>
              <a:fillRect/>
            </a:stretch>
          </p:blipFill>
          <p:spPr>
            <a:xfrm>
              <a:off x="4575295" y="148850"/>
              <a:ext cx="1465776" cy="1154063"/>
            </a:xfrm>
            <a:prstGeom prst="rect">
              <a:avLst/>
            </a:prstGeom>
            <a:noFill/>
            <a:ln>
              <a:noFill/>
            </a:ln>
          </p:spPr>
        </p:pic>
        <p:sp>
          <p:nvSpPr>
            <p:cNvPr id="1386" name="Google Shape;1386;h28f86b313e326572_0_118"/>
            <p:cNvSpPr txBox="1"/>
            <p:nvPr/>
          </p:nvSpPr>
          <p:spPr>
            <a:xfrm>
              <a:off x="4688059" y="1302912"/>
              <a:ext cx="1240200" cy="380100"/>
            </a:xfrm>
            <a:prstGeom prst="rect">
              <a:avLst/>
            </a:prstGeom>
            <a:noFill/>
            <a:ln>
              <a:noFill/>
            </a:ln>
          </p:spPr>
          <p:txBody>
            <a:bodyPr anchorCtr="0" anchor="t" bIns="75275" lIns="75275" spcFirstLastPara="1" rIns="75275" wrap="square" tIns="75275">
              <a:spAutoFit/>
            </a:bodyPr>
            <a:lstStyle/>
            <a:p>
              <a:pPr indent="0" lvl="0" marL="0" rtl="0" algn="l">
                <a:spcBef>
                  <a:spcPts val="0"/>
                </a:spcBef>
                <a:spcAft>
                  <a:spcPts val="0"/>
                </a:spcAft>
                <a:buNone/>
              </a:pPr>
              <a:r>
                <a:rPr lang="pt-BR" sz="1482">
                  <a:solidFill>
                    <a:srgbClr val="434343"/>
                  </a:solidFill>
                  <a:latin typeface="Comfortaa"/>
                  <a:ea typeface="Comfortaa"/>
                  <a:cs typeface="Comfortaa"/>
                  <a:sym typeface="Comfortaa"/>
                </a:rPr>
                <a:t>Allosaurus</a:t>
              </a:r>
              <a:endParaRPr sz="1482">
                <a:solidFill>
                  <a:srgbClr val="434343"/>
                </a:solidFill>
                <a:latin typeface="Comfortaa"/>
                <a:ea typeface="Comfortaa"/>
                <a:cs typeface="Comfortaa"/>
                <a:sym typeface="Comfortaa"/>
              </a:endParaRPr>
            </a:p>
          </p:txBody>
        </p:sp>
      </p:grpSp>
      <p:grpSp>
        <p:nvGrpSpPr>
          <p:cNvPr id="1387" name="Google Shape;1387;h28f86b313e326572_0_118"/>
          <p:cNvGrpSpPr/>
          <p:nvPr/>
        </p:nvGrpSpPr>
        <p:grpSpPr>
          <a:xfrm>
            <a:off x="2369152" y="3259250"/>
            <a:ext cx="4405696" cy="1648323"/>
            <a:chOff x="1635378" y="3259250"/>
            <a:chExt cx="4405696" cy="1648323"/>
          </a:xfrm>
        </p:grpSpPr>
        <p:pic>
          <p:nvPicPr>
            <p:cNvPr id="1388" name="Google Shape;1388;h28f86b313e326572_0_118" title="Dilophosaurus_wetherelli_by_highdarktemplar.jpg"/>
            <p:cNvPicPr preferRelativeResize="0"/>
            <p:nvPr/>
          </p:nvPicPr>
          <p:blipFill>
            <a:blip r:embed="rId3">
              <a:alphaModFix/>
            </a:blip>
            <a:stretch>
              <a:fillRect/>
            </a:stretch>
          </p:blipFill>
          <p:spPr>
            <a:xfrm>
              <a:off x="1799970" y="3259251"/>
              <a:ext cx="1268244" cy="1268224"/>
            </a:xfrm>
            <a:prstGeom prst="rect">
              <a:avLst/>
            </a:prstGeom>
            <a:noFill/>
            <a:ln>
              <a:noFill/>
            </a:ln>
          </p:spPr>
        </p:pic>
        <p:sp>
          <p:nvSpPr>
            <p:cNvPr id="1389" name="Google Shape;1389;h28f86b313e326572_0_118"/>
            <p:cNvSpPr txBox="1"/>
            <p:nvPr/>
          </p:nvSpPr>
          <p:spPr>
            <a:xfrm>
              <a:off x="1635378" y="4527473"/>
              <a:ext cx="1597500" cy="380100"/>
            </a:xfrm>
            <a:prstGeom prst="rect">
              <a:avLst/>
            </a:prstGeom>
            <a:noFill/>
            <a:ln>
              <a:noFill/>
            </a:ln>
          </p:spPr>
          <p:txBody>
            <a:bodyPr anchorCtr="0" anchor="t" bIns="75275" lIns="75275" spcFirstLastPara="1" rIns="75275" wrap="square" tIns="75275">
              <a:spAutoFit/>
            </a:bodyPr>
            <a:lstStyle/>
            <a:p>
              <a:pPr indent="0" lvl="0" marL="0" rtl="0" algn="l">
                <a:spcBef>
                  <a:spcPts val="0"/>
                </a:spcBef>
                <a:spcAft>
                  <a:spcPts val="0"/>
                </a:spcAft>
                <a:buNone/>
              </a:pPr>
              <a:r>
                <a:rPr lang="pt-BR" sz="1482">
                  <a:solidFill>
                    <a:srgbClr val="434343"/>
                  </a:solidFill>
                  <a:latin typeface="Comfortaa"/>
                  <a:ea typeface="Comfortaa"/>
                  <a:cs typeface="Comfortaa"/>
                  <a:sym typeface="Comfortaa"/>
                </a:rPr>
                <a:t>Dilophosaurus</a:t>
              </a:r>
              <a:endParaRPr sz="1482">
                <a:solidFill>
                  <a:srgbClr val="434343"/>
                </a:solidFill>
                <a:latin typeface="Comfortaa"/>
                <a:ea typeface="Comfortaa"/>
                <a:cs typeface="Comfortaa"/>
                <a:sym typeface="Comfortaa"/>
              </a:endParaRPr>
            </a:p>
          </p:txBody>
        </p:sp>
        <p:pic>
          <p:nvPicPr>
            <p:cNvPr id="1390" name="Google Shape;1390;h28f86b313e326572_0_118" title="Allosaurus_fragilis_portrait_by_highdarktemplar.jpg"/>
            <p:cNvPicPr preferRelativeResize="0"/>
            <p:nvPr/>
          </p:nvPicPr>
          <p:blipFill>
            <a:blip r:embed="rId4">
              <a:alphaModFix/>
            </a:blip>
            <a:stretch>
              <a:fillRect/>
            </a:stretch>
          </p:blipFill>
          <p:spPr>
            <a:xfrm>
              <a:off x="4575298" y="3259250"/>
              <a:ext cx="1465776" cy="1154063"/>
            </a:xfrm>
            <a:prstGeom prst="rect">
              <a:avLst/>
            </a:prstGeom>
            <a:noFill/>
            <a:ln>
              <a:noFill/>
            </a:ln>
          </p:spPr>
        </p:pic>
        <p:sp>
          <p:nvSpPr>
            <p:cNvPr id="1391" name="Google Shape;1391;h28f86b313e326572_0_118"/>
            <p:cNvSpPr txBox="1"/>
            <p:nvPr/>
          </p:nvSpPr>
          <p:spPr>
            <a:xfrm>
              <a:off x="4688062" y="4413312"/>
              <a:ext cx="1240200" cy="380100"/>
            </a:xfrm>
            <a:prstGeom prst="rect">
              <a:avLst/>
            </a:prstGeom>
            <a:noFill/>
            <a:ln>
              <a:noFill/>
            </a:ln>
          </p:spPr>
          <p:txBody>
            <a:bodyPr anchorCtr="0" anchor="t" bIns="75275" lIns="75275" spcFirstLastPara="1" rIns="75275" wrap="square" tIns="75275">
              <a:spAutoFit/>
            </a:bodyPr>
            <a:lstStyle/>
            <a:p>
              <a:pPr indent="0" lvl="0" marL="0" rtl="0" algn="l">
                <a:spcBef>
                  <a:spcPts val="0"/>
                </a:spcBef>
                <a:spcAft>
                  <a:spcPts val="0"/>
                </a:spcAft>
                <a:buNone/>
              </a:pPr>
              <a:r>
                <a:rPr lang="pt-BR" sz="1482">
                  <a:solidFill>
                    <a:srgbClr val="434343"/>
                  </a:solidFill>
                  <a:latin typeface="Comfortaa"/>
                  <a:ea typeface="Comfortaa"/>
                  <a:cs typeface="Comfortaa"/>
                  <a:sym typeface="Comfortaa"/>
                </a:rPr>
                <a:t>Allosaurus</a:t>
              </a:r>
              <a:endParaRPr sz="1482">
                <a:solidFill>
                  <a:srgbClr val="434343"/>
                </a:solidFill>
                <a:latin typeface="Comfortaa"/>
                <a:ea typeface="Comfortaa"/>
                <a:cs typeface="Comfortaa"/>
                <a:sym typeface="Comfortaa"/>
              </a:endParaRPr>
            </a:p>
          </p:txBody>
        </p:sp>
      </p:grpSp>
      <p:sp>
        <p:nvSpPr>
          <p:cNvPr id="1392" name="Google Shape;1392;h28f86b313e326572_0_118"/>
          <p:cNvSpPr txBox="1"/>
          <p:nvPr/>
        </p:nvSpPr>
        <p:spPr>
          <a:xfrm>
            <a:off x="4016563" y="3561525"/>
            <a:ext cx="1117500" cy="613800"/>
          </a:xfrm>
          <a:prstGeom prst="rect">
            <a:avLst/>
          </a:prstGeom>
          <a:noFill/>
          <a:ln>
            <a:noFill/>
          </a:ln>
        </p:spPr>
        <p:txBody>
          <a:bodyPr anchorCtr="0" anchor="t" bIns="75275" lIns="75275" spcFirstLastPara="1" rIns="75275" wrap="square" tIns="75275">
            <a:spAutoFit/>
          </a:bodyPr>
          <a:lstStyle/>
          <a:p>
            <a:pPr indent="0" lvl="0" marL="0" rtl="0" algn="l">
              <a:spcBef>
                <a:spcPts val="0"/>
              </a:spcBef>
              <a:spcAft>
                <a:spcPts val="0"/>
              </a:spcAft>
              <a:buNone/>
            </a:pPr>
            <a:r>
              <a:rPr lang="pt-BR" sz="3000">
                <a:solidFill>
                  <a:srgbClr val="434343"/>
                </a:solidFill>
              </a:rPr>
              <a:t>[0 , 1]</a:t>
            </a:r>
            <a:endParaRPr sz="3000">
              <a:solidFill>
                <a:srgbClr val="434343"/>
              </a:solidFill>
            </a:endParaRPr>
          </a:p>
        </p:txBody>
      </p:sp>
      <p:sp>
        <p:nvSpPr>
          <p:cNvPr id="1393" name="Google Shape;1393;h28f86b313e326572_0_118"/>
          <p:cNvSpPr txBox="1"/>
          <p:nvPr/>
        </p:nvSpPr>
        <p:spPr>
          <a:xfrm>
            <a:off x="5733825" y="1151100"/>
            <a:ext cx="585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0">
                <a:solidFill>
                  <a:srgbClr val="FF0000"/>
                </a:solidFill>
                <a:latin typeface="Comfortaa"/>
                <a:ea typeface="Comfortaa"/>
                <a:cs typeface="Comfortaa"/>
                <a:sym typeface="Comfortaa"/>
              </a:rPr>
              <a:t>✗</a:t>
            </a:r>
            <a:endParaRPr sz="6000">
              <a:solidFill>
                <a:srgbClr val="FF0000"/>
              </a:solidFill>
              <a:latin typeface="Comfortaa"/>
              <a:ea typeface="Comfortaa"/>
              <a:cs typeface="Comfortaa"/>
              <a:sym typeface="Comfortaa"/>
            </a:endParaRPr>
          </a:p>
        </p:txBody>
      </p:sp>
      <p:sp>
        <p:nvSpPr>
          <p:cNvPr id="1394" name="Google Shape;1394;h28f86b313e326572_0_118"/>
          <p:cNvSpPr txBox="1"/>
          <p:nvPr/>
        </p:nvSpPr>
        <p:spPr>
          <a:xfrm>
            <a:off x="2876325" y="3314325"/>
            <a:ext cx="585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0">
                <a:solidFill>
                  <a:srgbClr val="FF0000"/>
                </a:solidFill>
                <a:latin typeface="Comfortaa"/>
                <a:ea typeface="Comfortaa"/>
                <a:cs typeface="Comfortaa"/>
                <a:sym typeface="Comfortaa"/>
              </a:rPr>
              <a:t>✗</a:t>
            </a:r>
            <a:endParaRPr sz="6000">
              <a:solidFill>
                <a:srgbClr val="FF0000"/>
              </a:solidFill>
              <a:latin typeface="Comfortaa"/>
              <a:ea typeface="Comfortaa"/>
              <a:cs typeface="Comfortaa"/>
              <a:sym typeface="Comfortaa"/>
            </a:endParaRPr>
          </a:p>
        </p:txBody>
      </p:sp>
      <p:sp>
        <p:nvSpPr>
          <p:cNvPr id="1395" name="Google Shape;1395;h28f86b313e326572_0_118"/>
          <p:cNvSpPr txBox="1"/>
          <p:nvPr/>
        </p:nvSpPr>
        <p:spPr>
          <a:xfrm>
            <a:off x="2787825" y="1207500"/>
            <a:ext cx="762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0">
                <a:solidFill>
                  <a:srgbClr val="0000FF"/>
                </a:solidFill>
                <a:latin typeface="Comfortaa"/>
                <a:ea typeface="Comfortaa"/>
                <a:cs typeface="Comfortaa"/>
                <a:sym typeface="Comfortaa"/>
              </a:rPr>
              <a:t>✔</a:t>
            </a:r>
            <a:endParaRPr sz="6000">
              <a:solidFill>
                <a:srgbClr val="0000FF"/>
              </a:solidFill>
              <a:latin typeface="Comfortaa"/>
              <a:ea typeface="Comfortaa"/>
              <a:cs typeface="Comfortaa"/>
              <a:sym typeface="Comfortaa"/>
            </a:endParaRPr>
          </a:p>
        </p:txBody>
      </p:sp>
      <p:sp>
        <p:nvSpPr>
          <p:cNvPr id="1396" name="Google Shape;1396;h28f86b313e326572_0_118"/>
          <p:cNvSpPr txBox="1"/>
          <p:nvPr/>
        </p:nvSpPr>
        <p:spPr>
          <a:xfrm>
            <a:off x="5688400" y="3259250"/>
            <a:ext cx="834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6000">
                <a:solidFill>
                  <a:srgbClr val="0000FF"/>
                </a:solidFill>
                <a:latin typeface="Comfortaa"/>
                <a:ea typeface="Comfortaa"/>
                <a:cs typeface="Comfortaa"/>
                <a:sym typeface="Comfortaa"/>
              </a:rPr>
              <a:t>✔</a:t>
            </a:r>
            <a:endParaRPr sz="6000">
              <a:solidFill>
                <a:srgbClr val="0000FF"/>
              </a:solidFill>
              <a:latin typeface="Comfortaa"/>
              <a:ea typeface="Comfortaa"/>
              <a:cs typeface="Comfortaa"/>
              <a:sym typeface="Comfortaa"/>
            </a:endParaRPr>
          </a:p>
        </p:txBody>
      </p:sp>
      <p:sp>
        <p:nvSpPr>
          <p:cNvPr id="1397" name="Google Shape;1397;h28f86b313e326572_0_1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a:t>
            </a:r>
            <a:r>
              <a:rPr lang="pt-BR"/>
              <a:t>ne-hot Vector</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pic>
        <p:nvPicPr>
          <p:cNvPr id="1402" name="Google Shape;1402;h28f86b313e326572_0_100"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403" name="Google Shape;1403;h28f86b313e326572_0_100" title="Dilophosaurus_wetherelli_by_highdarktemplar.jpg"/>
          <p:cNvPicPr preferRelativeResize="0"/>
          <p:nvPr/>
        </p:nvPicPr>
        <p:blipFill>
          <a:blip r:embed="rId4">
            <a:alphaModFix/>
          </a:blip>
          <a:stretch>
            <a:fillRect/>
          </a:stretch>
        </p:blipFill>
        <p:spPr>
          <a:xfrm>
            <a:off x="511600" y="1115176"/>
            <a:ext cx="1540301" cy="1540276"/>
          </a:xfrm>
          <a:prstGeom prst="rect">
            <a:avLst/>
          </a:prstGeom>
          <a:noFill/>
          <a:ln>
            <a:noFill/>
          </a:ln>
        </p:spPr>
      </p:pic>
      <p:sp>
        <p:nvSpPr>
          <p:cNvPr id="1404" name="Google Shape;1404;h28f86b313e326572_0_100"/>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405" name="Google Shape;1405;h28f86b313e326572_0_100"/>
          <p:cNvSpPr txBox="1"/>
          <p:nvPr/>
        </p:nvSpPr>
        <p:spPr>
          <a:xfrm>
            <a:off x="311700" y="265545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pic>
        <p:nvPicPr>
          <p:cNvPr id="1406" name="Google Shape;1406;h28f86b313e326572_0_100"/>
          <p:cNvPicPr preferRelativeResize="0"/>
          <p:nvPr/>
        </p:nvPicPr>
        <p:blipFill>
          <a:blip r:embed="rId5">
            <a:alphaModFix/>
          </a:blip>
          <a:stretch>
            <a:fillRect/>
          </a:stretch>
        </p:blipFill>
        <p:spPr>
          <a:xfrm>
            <a:off x="2514000" y="347318"/>
            <a:ext cx="4115998" cy="513300"/>
          </a:xfrm>
          <a:prstGeom prst="rect">
            <a:avLst/>
          </a:prstGeom>
          <a:noFill/>
          <a:ln>
            <a:noFill/>
          </a:ln>
        </p:spPr>
      </p:pic>
      <p:sp>
        <p:nvSpPr>
          <p:cNvPr id="1407" name="Google Shape;1407;h28f86b313e326572_0_100"/>
          <p:cNvSpPr txBox="1"/>
          <p:nvPr/>
        </p:nvSpPr>
        <p:spPr>
          <a:xfrm>
            <a:off x="4828813" y="1278275"/>
            <a:ext cx="1357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[1  ,  0]</a:t>
            </a:r>
            <a:endParaRPr sz="3000">
              <a:solidFill>
                <a:srgbClr val="434343"/>
              </a:solidFill>
            </a:endParaRPr>
          </a:p>
        </p:txBody>
      </p:sp>
      <p:sp>
        <p:nvSpPr>
          <p:cNvPr id="1408" name="Google Shape;1408;h28f86b313e326572_0_100"/>
          <p:cNvSpPr txBox="1"/>
          <p:nvPr/>
        </p:nvSpPr>
        <p:spPr>
          <a:xfrm>
            <a:off x="4828813" y="3117150"/>
            <a:ext cx="1357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  ,  1]</a:t>
            </a:r>
            <a:endParaRPr sz="3000">
              <a:solidFill>
                <a:srgbClr val="434343"/>
              </a:solidFill>
            </a:endParaRPr>
          </a:p>
        </p:txBody>
      </p:sp>
      <p:pic>
        <p:nvPicPr>
          <p:cNvPr id="1409" name="Google Shape;1409;h28f86b313e326572_0_100"/>
          <p:cNvPicPr preferRelativeResize="0"/>
          <p:nvPr/>
        </p:nvPicPr>
        <p:blipFill>
          <a:blip r:embed="rId6">
            <a:alphaModFix/>
          </a:blip>
          <a:stretch>
            <a:fillRect/>
          </a:stretch>
        </p:blipFill>
        <p:spPr>
          <a:xfrm>
            <a:off x="3034950" y="1996800"/>
            <a:ext cx="4944949" cy="531927"/>
          </a:xfrm>
          <a:prstGeom prst="rect">
            <a:avLst/>
          </a:prstGeom>
          <a:noFill/>
          <a:ln>
            <a:noFill/>
          </a:ln>
        </p:spPr>
      </p:pic>
      <p:pic>
        <p:nvPicPr>
          <p:cNvPr id="1410" name="Google Shape;1410;h28f86b313e326572_0_100"/>
          <p:cNvPicPr preferRelativeResize="0"/>
          <p:nvPr/>
        </p:nvPicPr>
        <p:blipFill>
          <a:blip r:embed="rId7">
            <a:alphaModFix/>
          </a:blip>
          <a:stretch>
            <a:fillRect/>
          </a:stretch>
        </p:blipFill>
        <p:spPr>
          <a:xfrm>
            <a:off x="3034950" y="3941746"/>
            <a:ext cx="4944949" cy="531927"/>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pic>
        <p:nvPicPr>
          <p:cNvPr id="1415" name="Google Shape;1415;h28f86b313e326572_0_142"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416" name="Google Shape;1416;h28f86b313e326572_0_142" title="Dilophosaurus_wetherelli_by_highdarktemplar.jpg"/>
          <p:cNvPicPr preferRelativeResize="0"/>
          <p:nvPr/>
        </p:nvPicPr>
        <p:blipFill>
          <a:blip r:embed="rId4">
            <a:alphaModFix/>
          </a:blip>
          <a:stretch>
            <a:fillRect/>
          </a:stretch>
        </p:blipFill>
        <p:spPr>
          <a:xfrm>
            <a:off x="511600" y="1115176"/>
            <a:ext cx="1540301" cy="1540276"/>
          </a:xfrm>
          <a:prstGeom prst="rect">
            <a:avLst/>
          </a:prstGeom>
          <a:noFill/>
          <a:ln>
            <a:noFill/>
          </a:ln>
        </p:spPr>
      </p:pic>
      <p:sp>
        <p:nvSpPr>
          <p:cNvPr id="1417" name="Google Shape;1417;h28f86b313e326572_0_142"/>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418" name="Google Shape;1418;h28f86b313e326572_0_142"/>
          <p:cNvSpPr txBox="1"/>
          <p:nvPr/>
        </p:nvSpPr>
        <p:spPr>
          <a:xfrm>
            <a:off x="311700" y="265545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pic>
        <p:nvPicPr>
          <p:cNvPr id="1419" name="Google Shape;1419;h28f86b313e326572_0_142"/>
          <p:cNvPicPr preferRelativeResize="0"/>
          <p:nvPr/>
        </p:nvPicPr>
        <p:blipFill>
          <a:blip r:embed="rId5">
            <a:alphaModFix/>
          </a:blip>
          <a:stretch>
            <a:fillRect/>
          </a:stretch>
        </p:blipFill>
        <p:spPr>
          <a:xfrm>
            <a:off x="2514000" y="347318"/>
            <a:ext cx="4115998" cy="513300"/>
          </a:xfrm>
          <a:prstGeom prst="rect">
            <a:avLst/>
          </a:prstGeom>
          <a:noFill/>
          <a:ln>
            <a:noFill/>
          </a:ln>
        </p:spPr>
      </p:pic>
      <p:sp>
        <p:nvSpPr>
          <p:cNvPr id="1420" name="Google Shape;1420;h28f86b313e326572_0_142"/>
          <p:cNvSpPr txBox="1"/>
          <p:nvPr/>
        </p:nvSpPr>
        <p:spPr>
          <a:xfrm>
            <a:off x="4828813" y="1030150"/>
            <a:ext cx="1357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a:t>
            </a:r>
            <a:r>
              <a:rPr lang="pt-BR" sz="3000">
                <a:solidFill>
                  <a:srgbClr val="0000FF"/>
                </a:solidFill>
              </a:rPr>
              <a:t>1</a:t>
            </a:r>
            <a:r>
              <a:rPr lang="pt-BR" sz="3000">
                <a:solidFill>
                  <a:srgbClr val="434343"/>
                </a:solidFill>
              </a:rPr>
              <a:t>  ,  0]</a:t>
            </a:r>
            <a:endParaRPr sz="3000">
              <a:solidFill>
                <a:srgbClr val="434343"/>
              </a:solidFill>
            </a:endParaRPr>
          </a:p>
        </p:txBody>
      </p:sp>
      <p:sp>
        <p:nvSpPr>
          <p:cNvPr id="1421" name="Google Shape;1421;h28f86b313e326572_0_142"/>
          <p:cNvSpPr txBox="1"/>
          <p:nvPr/>
        </p:nvSpPr>
        <p:spPr>
          <a:xfrm>
            <a:off x="4828813" y="3232125"/>
            <a:ext cx="1357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  ,  </a:t>
            </a:r>
            <a:r>
              <a:rPr lang="pt-BR" sz="3000">
                <a:solidFill>
                  <a:srgbClr val="0000FF"/>
                </a:solidFill>
              </a:rPr>
              <a:t>1</a:t>
            </a:r>
            <a:r>
              <a:rPr lang="pt-BR" sz="3000">
                <a:solidFill>
                  <a:srgbClr val="434343"/>
                </a:solidFill>
              </a:rPr>
              <a:t>]</a:t>
            </a:r>
            <a:endParaRPr sz="3000">
              <a:solidFill>
                <a:srgbClr val="434343"/>
              </a:solidFill>
            </a:endParaRPr>
          </a:p>
        </p:txBody>
      </p:sp>
      <p:sp>
        <p:nvSpPr>
          <p:cNvPr id="1422" name="Google Shape;1422;h28f86b313e326572_0_142"/>
          <p:cNvSpPr txBox="1"/>
          <p:nvPr/>
        </p:nvSpPr>
        <p:spPr>
          <a:xfrm>
            <a:off x="4456074" y="1572595"/>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a:t>
            </a:r>
            <a:r>
              <a:rPr lang="pt-BR" sz="3000">
                <a:solidFill>
                  <a:srgbClr val="0000FF"/>
                </a:solidFill>
              </a:rPr>
              <a:t>0.7</a:t>
            </a:r>
            <a:r>
              <a:rPr lang="pt-BR" sz="3000">
                <a:solidFill>
                  <a:srgbClr val="434343"/>
                </a:solidFill>
              </a:rPr>
              <a:t>  ,  0.3]</a:t>
            </a:r>
            <a:endParaRPr sz="3000">
              <a:solidFill>
                <a:srgbClr val="434343"/>
              </a:solidFill>
            </a:endParaRPr>
          </a:p>
        </p:txBody>
      </p:sp>
      <p:sp>
        <p:nvSpPr>
          <p:cNvPr id="1423" name="Google Shape;1423;h28f86b313e326572_0_142"/>
          <p:cNvSpPr txBox="1"/>
          <p:nvPr/>
        </p:nvSpPr>
        <p:spPr>
          <a:xfrm>
            <a:off x="4456074" y="3779695"/>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a:t>
            </a:r>
            <a:r>
              <a:rPr lang="pt-BR" sz="3000">
                <a:solidFill>
                  <a:srgbClr val="FF0000"/>
                </a:solidFill>
              </a:rPr>
              <a:t>0.7</a:t>
            </a:r>
            <a:r>
              <a:rPr lang="pt-BR" sz="3000">
                <a:solidFill>
                  <a:srgbClr val="434343"/>
                </a:solidFill>
              </a:rPr>
              <a:t>  , </a:t>
            </a:r>
            <a:r>
              <a:rPr lang="pt-BR" sz="3000">
                <a:solidFill>
                  <a:srgbClr val="434343"/>
                </a:solidFill>
              </a:rPr>
              <a:t> 0.3</a:t>
            </a:r>
            <a:r>
              <a:rPr lang="pt-BR" sz="3000">
                <a:solidFill>
                  <a:srgbClr val="434343"/>
                </a:solidFill>
              </a:rPr>
              <a:t>]</a:t>
            </a:r>
            <a:endParaRPr sz="3000">
              <a:solidFill>
                <a:srgbClr val="434343"/>
              </a:solidFill>
            </a:endParaRPr>
          </a:p>
        </p:txBody>
      </p:sp>
      <p:pic>
        <p:nvPicPr>
          <p:cNvPr id="1424" name="Google Shape;1424;h28f86b313e326572_0_142"/>
          <p:cNvPicPr preferRelativeResize="0"/>
          <p:nvPr/>
        </p:nvPicPr>
        <p:blipFill>
          <a:blip r:embed="rId6">
            <a:alphaModFix/>
          </a:blip>
          <a:stretch>
            <a:fillRect/>
          </a:stretch>
        </p:blipFill>
        <p:spPr>
          <a:xfrm>
            <a:off x="2932647" y="4299331"/>
            <a:ext cx="5418594" cy="592316"/>
          </a:xfrm>
          <a:prstGeom prst="rect">
            <a:avLst/>
          </a:prstGeom>
          <a:noFill/>
          <a:ln>
            <a:noFill/>
          </a:ln>
        </p:spPr>
      </p:pic>
      <p:pic>
        <p:nvPicPr>
          <p:cNvPr id="1425" name="Google Shape;1425;h28f86b313e326572_0_142"/>
          <p:cNvPicPr preferRelativeResize="0"/>
          <p:nvPr/>
        </p:nvPicPr>
        <p:blipFill>
          <a:blip r:embed="rId7">
            <a:alphaModFix/>
          </a:blip>
          <a:stretch>
            <a:fillRect/>
          </a:stretch>
        </p:blipFill>
        <p:spPr>
          <a:xfrm>
            <a:off x="2932647" y="2219097"/>
            <a:ext cx="5418594" cy="592316"/>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h28f86b313e326572_0_18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Cross-Entropy Loss (L</a:t>
            </a:r>
            <a:r>
              <a:rPr baseline="-25000" lang="pt-BR"/>
              <a:t>CE</a:t>
            </a:r>
            <a:r>
              <a:rPr lang="pt-BR"/>
              <a:t>)</a:t>
            </a:r>
            <a:endParaRPr/>
          </a:p>
        </p:txBody>
      </p:sp>
      <p:pic>
        <p:nvPicPr>
          <p:cNvPr id="1431" name="Google Shape;1431;h28f86b313e326572_0_182"/>
          <p:cNvPicPr preferRelativeResize="0"/>
          <p:nvPr/>
        </p:nvPicPr>
        <p:blipFill>
          <a:blip r:embed="rId3">
            <a:alphaModFix/>
          </a:blip>
          <a:stretch>
            <a:fillRect/>
          </a:stretch>
        </p:blipFill>
        <p:spPr>
          <a:xfrm>
            <a:off x="888775" y="2214563"/>
            <a:ext cx="6686550" cy="71437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pic>
        <p:nvPicPr>
          <p:cNvPr id="1436" name="Google Shape;1436;h28f86b313e326572_0_188"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437" name="Google Shape;1437;h28f86b313e326572_0_188" title="Dilophosaurus_wetherelli_by_highdarktemplar.jpg"/>
          <p:cNvPicPr preferRelativeResize="0"/>
          <p:nvPr/>
        </p:nvPicPr>
        <p:blipFill>
          <a:blip r:embed="rId4">
            <a:alphaModFix/>
          </a:blip>
          <a:stretch>
            <a:fillRect/>
          </a:stretch>
        </p:blipFill>
        <p:spPr>
          <a:xfrm>
            <a:off x="599625" y="234726"/>
            <a:ext cx="1540301" cy="1540276"/>
          </a:xfrm>
          <a:prstGeom prst="rect">
            <a:avLst/>
          </a:prstGeom>
          <a:noFill/>
          <a:ln>
            <a:noFill/>
          </a:ln>
        </p:spPr>
      </p:pic>
      <p:sp>
        <p:nvSpPr>
          <p:cNvPr id="1438" name="Google Shape;1438;h28f86b313e326572_0_188"/>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439" name="Google Shape;1439;h28f86b313e326572_0_188"/>
          <p:cNvSpPr txBox="1"/>
          <p:nvPr/>
        </p:nvSpPr>
        <p:spPr>
          <a:xfrm>
            <a:off x="399725" y="177500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pic>
        <p:nvPicPr>
          <p:cNvPr id="1440" name="Google Shape;1440;h28f86b313e326572_0_188"/>
          <p:cNvPicPr preferRelativeResize="0"/>
          <p:nvPr/>
        </p:nvPicPr>
        <p:blipFill>
          <a:blip r:embed="rId5">
            <a:alphaModFix/>
          </a:blip>
          <a:stretch>
            <a:fillRect/>
          </a:stretch>
        </p:blipFill>
        <p:spPr>
          <a:xfrm>
            <a:off x="2964622" y="3232131"/>
            <a:ext cx="5418594" cy="592316"/>
          </a:xfrm>
          <a:prstGeom prst="rect">
            <a:avLst/>
          </a:prstGeom>
          <a:noFill/>
          <a:ln>
            <a:noFill/>
          </a:ln>
        </p:spPr>
      </p:pic>
      <p:pic>
        <p:nvPicPr>
          <p:cNvPr id="1441" name="Google Shape;1441;h28f86b313e326572_0_188"/>
          <p:cNvPicPr preferRelativeResize="0"/>
          <p:nvPr/>
        </p:nvPicPr>
        <p:blipFill>
          <a:blip r:embed="rId6">
            <a:alphaModFix/>
          </a:blip>
          <a:stretch>
            <a:fillRect/>
          </a:stretch>
        </p:blipFill>
        <p:spPr>
          <a:xfrm>
            <a:off x="2964622" y="514197"/>
            <a:ext cx="5418594" cy="592316"/>
          </a:xfrm>
          <a:prstGeom prst="rect">
            <a:avLst/>
          </a:prstGeom>
          <a:noFill/>
          <a:ln>
            <a:noFill/>
          </a:ln>
        </p:spPr>
      </p:pic>
      <p:pic>
        <p:nvPicPr>
          <p:cNvPr id="1442" name="Google Shape;1442;h28f86b313e326572_0_188"/>
          <p:cNvPicPr preferRelativeResize="0"/>
          <p:nvPr/>
        </p:nvPicPr>
        <p:blipFill>
          <a:blip r:embed="rId7">
            <a:alphaModFix/>
          </a:blip>
          <a:stretch>
            <a:fillRect/>
          </a:stretch>
        </p:blipFill>
        <p:spPr>
          <a:xfrm>
            <a:off x="2672613" y="1443447"/>
            <a:ext cx="5845668" cy="529499"/>
          </a:xfrm>
          <a:prstGeom prst="rect">
            <a:avLst/>
          </a:prstGeom>
          <a:noFill/>
          <a:ln>
            <a:noFill/>
          </a:ln>
        </p:spPr>
      </p:pic>
      <p:pic>
        <p:nvPicPr>
          <p:cNvPr id="1443" name="Google Shape;1443;h28f86b313e326572_0_188"/>
          <p:cNvPicPr preferRelativeResize="0"/>
          <p:nvPr/>
        </p:nvPicPr>
        <p:blipFill>
          <a:blip r:embed="rId8">
            <a:alphaModFix/>
          </a:blip>
          <a:stretch>
            <a:fillRect/>
          </a:stretch>
        </p:blipFill>
        <p:spPr>
          <a:xfrm>
            <a:off x="2612267" y="4150514"/>
            <a:ext cx="6046696" cy="547708"/>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h28f86b313e326572_0_2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Cross-Entropy Loss (L</a:t>
            </a:r>
            <a:r>
              <a:rPr baseline="-25000" lang="pt-BR"/>
              <a:t>CE</a:t>
            </a:r>
            <a:r>
              <a:rPr lang="pt-BR"/>
              <a:t>)</a:t>
            </a:r>
            <a:endParaRPr/>
          </a:p>
        </p:txBody>
      </p:sp>
      <p:pic>
        <p:nvPicPr>
          <p:cNvPr id="1449" name="Google Shape;1449;h28f86b313e326572_0_219"/>
          <p:cNvPicPr preferRelativeResize="0"/>
          <p:nvPr/>
        </p:nvPicPr>
        <p:blipFill>
          <a:blip r:embed="rId3">
            <a:alphaModFix/>
          </a:blip>
          <a:stretch>
            <a:fillRect/>
          </a:stretch>
        </p:blipFill>
        <p:spPr>
          <a:xfrm>
            <a:off x="888775" y="1778450"/>
            <a:ext cx="6686550" cy="714375"/>
          </a:xfrm>
          <a:prstGeom prst="rect">
            <a:avLst/>
          </a:prstGeom>
          <a:noFill/>
          <a:ln>
            <a:noFill/>
          </a:ln>
        </p:spPr>
      </p:pic>
      <p:pic>
        <p:nvPicPr>
          <p:cNvPr id="1450" name="Google Shape;1450;h28f86b313e326572_0_219"/>
          <p:cNvPicPr preferRelativeResize="0"/>
          <p:nvPr/>
        </p:nvPicPr>
        <p:blipFill>
          <a:blip r:embed="rId4">
            <a:alphaModFix/>
          </a:blip>
          <a:stretch>
            <a:fillRect/>
          </a:stretch>
        </p:blipFill>
        <p:spPr>
          <a:xfrm>
            <a:off x="1128925" y="3253550"/>
            <a:ext cx="7267949" cy="1629025"/>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h28f86b313e326572_0_3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Goal</a:t>
            </a:r>
            <a:endParaRPr/>
          </a:p>
        </p:txBody>
      </p:sp>
      <p:pic>
        <p:nvPicPr>
          <p:cNvPr id="1456" name="Google Shape;1456;h28f86b313e326572_0_379"/>
          <p:cNvPicPr preferRelativeResize="0"/>
          <p:nvPr/>
        </p:nvPicPr>
        <p:blipFill>
          <a:blip r:embed="rId3">
            <a:alphaModFix/>
          </a:blip>
          <a:stretch>
            <a:fillRect/>
          </a:stretch>
        </p:blipFill>
        <p:spPr>
          <a:xfrm>
            <a:off x="3463438" y="2282700"/>
            <a:ext cx="1857375" cy="714375"/>
          </a:xfrm>
          <a:prstGeom prst="rect">
            <a:avLst/>
          </a:prstGeom>
          <a:noFill/>
          <a:ln>
            <a:noFill/>
          </a:ln>
        </p:spPr>
      </p:pic>
      <p:sp>
        <p:nvSpPr>
          <p:cNvPr id="1457" name="Google Shape;1457;h28f86b313e326572_0_379"/>
          <p:cNvSpPr txBox="1"/>
          <p:nvPr>
            <p:ph idx="1" type="body"/>
          </p:nvPr>
        </p:nvSpPr>
        <p:spPr>
          <a:xfrm>
            <a:off x="311700" y="1152475"/>
            <a:ext cx="8520600" cy="8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For the correct label:</a:t>
            </a:r>
            <a:endParaRPr/>
          </a:p>
        </p:txBody>
      </p:sp>
      <p:pic>
        <p:nvPicPr>
          <p:cNvPr id="1458" name="Google Shape;1458;h28f86b313e326572_0_379"/>
          <p:cNvPicPr preferRelativeResize="0"/>
          <p:nvPr/>
        </p:nvPicPr>
        <p:blipFill>
          <a:blip r:embed="rId4">
            <a:alphaModFix/>
          </a:blip>
          <a:stretch>
            <a:fillRect/>
          </a:stretch>
        </p:blipFill>
        <p:spPr>
          <a:xfrm>
            <a:off x="3020538" y="3765800"/>
            <a:ext cx="2743200" cy="714375"/>
          </a:xfrm>
          <a:prstGeom prst="rect">
            <a:avLst/>
          </a:prstGeom>
          <a:noFill/>
          <a:ln>
            <a:noFill/>
          </a:ln>
        </p:spPr>
      </p:pic>
      <p:sp>
        <p:nvSpPr>
          <p:cNvPr id="1459" name="Google Shape;1459;h28f86b313e326572_0_379"/>
          <p:cNvSpPr/>
          <p:nvPr/>
        </p:nvSpPr>
        <p:spPr>
          <a:xfrm>
            <a:off x="5354800" y="2067375"/>
            <a:ext cx="896400" cy="929700"/>
          </a:xfrm>
          <a:prstGeom prst="upArrow">
            <a:avLst>
              <a:gd fmla="val 50000" name="adj1"/>
              <a:gd fmla="val 50000" name="adj2"/>
            </a:avLst>
          </a:prstGeom>
          <a:solidFill>
            <a:srgbClr val="9FC5E8"/>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60" name="Google Shape;1460;h28f86b313e326572_0_379"/>
          <p:cNvSpPr/>
          <p:nvPr/>
        </p:nvSpPr>
        <p:spPr>
          <a:xfrm flipH="1" rot="10800000">
            <a:off x="5763750" y="3500450"/>
            <a:ext cx="896400" cy="929700"/>
          </a:xfrm>
          <a:prstGeom prst="upArrow">
            <a:avLst>
              <a:gd fmla="val 50000" name="adj1"/>
              <a:gd fmla="val 50000" name="adj2"/>
            </a:avLst>
          </a:prstGeom>
          <a:solidFill>
            <a:srgbClr val="EA9999"/>
          </a:solid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61" name="Google Shape;1461;h28f86b313e326572_0_379"/>
          <p:cNvSpPr txBox="1"/>
          <p:nvPr/>
        </p:nvSpPr>
        <p:spPr>
          <a:xfrm>
            <a:off x="6451400" y="2248500"/>
            <a:ext cx="2041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latin typeface="Comfortaa"/>
                <a:ea typeface="Comfortaa"/>
                <a:cs typeface="Comfortaa"/>
                <a:sym typeface="Comfortaa"/>
              </a:rPr>
              <a:t>maximize</a:t>
            </a:r>
            <a:endParaRPr sz="3000">
              <a:solidFill>
                <a:srgbClr val="0000FF"/>
              </a:solidFill>
              <a:latin typeface="Comfortaa"/>
              <a:ea typeface="Comfortaa"/>
              <a:cs typeface="Comfortaa"/>
              <a:sym typeface="Comfortaa"/>
            </a:endParaRPr>
          </a:p>
        </p:txBody>
      </p:sp>
      <p:sp>
        <p:nvSpPr>
          <p:cNvPr id="1462" name="Google Shape;1462;h28f86b313e326572_0_379"/>
          <p:cNvSpPr txBox="1"/>
          <p:nvPr/>
        </p:nvSpPr>
        <p:spPr>
          <a:xfrm>
            <a:off x="6791100" y="3642050"/>
            <a:ext cx="2041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FF0000"/>
                </a:solidFill>
                <a:latin typeface="Comfortaa"/>
                <a:ea typeface="Comfortaa"/>
                <a:cs typeface="Comfortaa"/>
                <a:sym typeface="Comfortaa"/>
              </a:rPr>
              <a:t>minimize</a:t>
            </a:r>
            <a:endParaRPr sz="3000">
              <a:solidFill>
                <a:srgbClr val="FF0000"/>
              </a:solidFill>
              <a:latin typeface="Comfortaa"/>
              <a:ea typeface="Comfortaa"/>
              <a:cs typeface="Comfortaa"/>
              <a:sym typeface="Comfortaa"/>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pic>
        <p:nvPicPr>
          <p:cNvPr id="1467" name="Google Shape;1467;h28f86b313e326572_0_225"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468" name="Google Shape;1468;h28f86b313e326572_0_225" title="Dilophosaurus_wetherelli_by_highdarktemplar.jpg"/>
          <p:cNvPicPr preferRelativeResize="0"/>
          <p:nvPr/>
        </p:nvPicPr>
        <p:blipFill>
          <a:blip r:embed="rId4">
            <a:alphaModFix/>
          </a:blip>
          <a:stretch>
            <a:fillRect/>
          </a:stretch>
        </p:blipFill>
        <p:spPr>
          <a:xfrm>
            <a:off x="551600" y="217126"/>
            <a:ext cx="1540301" cy="1540276"/>
          </a:xfrm>
          <a:prstGeom prst="rect">
            <a:avLst/>
          </a:prstGeom>
          <a:noFill/>
          <a:ln>
            <a:noFill/>
          </a:ln>
        </p:spPr>
      </p:pic>
      <p:sp>
        <p:nvSpPr>
          <p:cNvPr id="1469" name="Google Shape;1469;h28f86b313e326572_0_225"/>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470" name="Google Shape;1470;h28f86b313e326572_0_225"/>
          <p:cNvSpPr txBox="1"/>
          <p:nvPr/>
        </p:nvSpPr>
        <p:spPr>
          <a:xfrm>
            <a:off x="351700" y="175740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sp>
        <p:nvSpPr>
          <p:cNvPr id="1471" name="Google Shape;1471;h28f86b313e326572_0_225"/>
          <p:cNvSpPr txBox="1"/>
          <p:nvPr/>
        </p:nvSpPr>
        <p:spPr>
          <a:xfrm>
            <a:off x="4456075" y="217125"/>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  1  ,    0 ]</a:t>
            </a:r>
            <a:endParaRPr sz="3000">
              <a:solidFill>
                <a:srgbClr val="434343"/>
              </a:solidFill>
            </a:endParaRPr>
          </a:p>
        </p:txBody>
      </p:sp>
      <p:sp>
        <p:nvSpPr>
          <p:cNvPr id="1472" name="Google Shape;1472;h28f86b313e326572_0_225"/>
          <p:cNvSpPr txBox="1"/>
          <p:nvPr/>
        </p:nvSpPr>
        <p:spPr>
          <a:xfrm>
            <a:off x="4572000" y="3136075"/>
            <a:ext cx="1780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    ,    1]</a:t>
            </a:r>
            <a:endParaRPr sz="3000">
              <a:solidFill>
                <a:srgbClr val="434343"/>
              </a:solidFill>
            </a:endParaRPr>
          </a:p>
        </p:txBody>
      </p:sp>
      <p:sp>
        <p:nvSpPr>
          <p:cNvPr id="1473" name="Google Shape;1473;h28f86b313e326572_0_225"/>
          <p:cNvSpPr txBox="1"/>
          <p:nvPr/>
        </p:nvSpPr>
        <p:spPr>
          <a:xfrm>
            <a:off x="4456074" y="759558"/>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474" name="Google Shape;1474;h28f86b313e326572_0_225"/>
          <p:cNvSpPr txBox="1"/>
          <p:nvPr/>
        </p:nvSpPr>
        <p:spPr>
          <a:xfrm>
            <a:off x="4456074" y="3683645"/>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475" name="Google Shape;1475;h28f86b313e326572_0_2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4C1130"/>
                </a:solidFill>
              </a:rPr>
              <a:t>Summary</a:t>
            </a:r>
            <a:endParaRPr>
              <a:solidFill>
                <a:srgbClr val="4C1130"/>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pic>
        <p:nvPicPr>
          <p:cNvPr id="1480" name="Google Shape;1480;h28f86b313e326572_0_241"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481" name="Google Shape;1481;h28f86b313e326572_0_241" title="Dilophosaurus_wetherelli_by_highdarktemplar.jpg"/>
          <p:cNvPicPr preferRelativeResize="0"/>
          <p:nvPr/>
        </p:nvPicPr>
        <p:blipFill>
          <a:blip r:embed="rId4">
            <a:alphaModFix/>
          </a:blip>
          <a:stretch>
            <a:fillRect/>
          </a:stretch>
        </p:blipFill>
        <p:spPr>
          <a:xfrm>
            <a:off x="551600" y="217126"/>
            <a:ext cx="1540301" cy="1540276"/>
          </a:xfrm>
          <a:prstGeom prst="rect">
            <a:avLst/>
          </a:prstGeom>
          <a:noFill/>
          <a:ln>
            <a:noFill/>
          </a:ln>
        </p:spPr>
      </p:pic>
      <p:sp>
        <p:nvSpPr>
          <p:cNvPr id="1482" name="Google Shape;1482;h28f86b313e326572_0_241"/>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483" name="Google Shape;1483;h28f86b313e326572_0_241"/>
          <p:cNvSpPr txBox="1"/>
          <p:nvPr/>
        </p:nvSpPr>
        <p:spPr>
          <a:xfrm>
            <a:off x="351700" y="175740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sp>
        <p:nvSpPr>
          <p:cNvPr id="1484" name="Google Shape;1484;h28f86b313e326572_0_241"/>
          <p:cNvSpPr txBox="1"/>
          <p:nvPr/>
        </p:nvSpPr>
        <p:spPr>
          <a:xfrm>
            <a:off x="4456075" y="217125"/>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  1  ,    0 ]</a:t>
            </a:r>
            <a:endParaRPr sz="3000">
              <a:solidFill>
                <a:srgbClr val="434343"/>
              </a:solidFill>
            </a:endParaRPr>
          </a:p>
        </p:txBody>
      </p:sp>
      <p:sp>
        <p:nvSpPr>
          <p:cNvPr id="1485" name="Google Shape;1485;h28f86b313e326572_0_241"/>
          <p:cNvSpPr txBox="1"/>
          <p:nvPr/>
        </p:nvSpPr>
        <p:spPr>
          <a:xfrm>
            <a:off x="4572000" y="3136075"/>
            <a:ext cx="1780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    ,    1]</a:t>
            </a:r>
            <a:endParaRPr sz="3000">
              <a:solidFill>
                <a:srgbClr val="434343"/>
              </a:solidFill>
            </a:endParaRPr>
          </a:p>
        </p:txBody>
      </p:sp>
      <p:sp>
        <p:nvSpPr>
          <p:cNvPr id="1486" name="Google Shape;1486;h28f86b313e326572_0_241"/>
          <p:cNvSpPr txBox="1"/>
          <p:nvPr/>
        </p:nvSpPr>
        <p:spPr>
          <a:xfrm>
            <a:off x="4456074" y="759558"/>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487" name="Google Shape;1487;h28f86b313e326572_0_241"/>
          <p:cNvSpPr txBox="1"/>
          <p:nvPr/>
        </p:nvSpPr>
        <p:spPr>
          <a:xfrm>
            <a:off x="4456074" y="3683645"/>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488" name="Google Shape;1488;h28f86b313e326572_0_241"/>
          <p:cNvSpPr/>
          <p:nvPr/>
        </p:nvSpPr>
        <p:spPr>
          <a:xfrm>
            <a:off x="4506375" y="264150"/>
            <a:ext cx="768300" cy="1184700"/>
          </a:xfrm>
          <a:prstGeom prst="rect">
            <a:avLst/>
          </a:prstGeom>
          <a:noFill/>
          <a:ln cap="flat" cmpd="sng" w="38100">
            <a:solidFill>
              <a:srgbClr val="02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89" name="Google Shape;1489;h28f86b313e326572_0_241"/>
          <p:cNvSpPr/>
          <p:nvPr/>
        </p:nvSpPr>
        <p:spPr>
          <a:xfrm>
            <a:off x="5539250" y="3065950"/>
            <a:ext cx="768300" cy="1184700"/>
          </a:xfrm>
          <a:prstGeom prst="rect">
            <a:avLst/>
          </a:prstGeom>
          <a:noFill/>
          <a:ln cap="flat" cmpd="sng" w="38100">
            <a:solidFill>
              <a:srgbClr val="02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pic>
        <p:nvPicPr>
          <p:cNvPr id="1494" name="Google Shape;1494;h28f86b313e326572_0_254"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495" name="Google Shape;1495;h28f86b313e326572_0_254" title="Dilophosaurus_wetherelli_by_highdarktemplar.jpg"/>
          <p:cNvPicPr preferRelativeResize="0"/>
          <p:nvPr/>
        </p:nvPicPr>
        <p:blipFill>
          <a:blip r:embed="rId4">
            <a:alphaModFix/>
          </a:blip>
          <a:stretch>
            <a:fillRect/>
          </a:stretch>
        </p:blipFill>
        <p:spPr>
          <a:xfrm>
            <a:off x="551600" y="217126"/>
            <a:ext cx="1540301" cy="1540276"/>
          </a:xfrm>
          <a:prstGeom prst="rect">
            <a:avLst/>
          </a:prstGeom>
          <a:noFill/>
          <a:ln>
            <a:noFill/>
          </a:ln>
        </p:spPr>
      </p:pic>
      <p:sp>
        <p:nvSpPr>
          <p:cNvPr id="1496" name="Google Shape;1496;h28f86b313e326572_0_254"/>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497" name="Google Shape;1497;h28f86b313e326572_0_254"/>
          <p:cNvSpPr txBox="1"/>
          <p:nvPr/>
        </p:nvSpPr>
        <p:spPr>
          <a:xfrm>
            <a:off x="351700" y="175740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sp>
        <p:nvSpPr>
          <p:cNvPr id="1498" name="Google Shape;1498;h28f86b313e326572_0_254"/>
          <p:cNvSpPr txBox="1"/>
          <p:nvPr/>
        </p:nvSpPr>
        <p:spPr>
          <a:xfrm>
            <a:off x="4456075" y="217125"/>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  1  ,    0 ]</a:t>
            </a:r>
            <a:endParaRPr sz="3000">
              <a:solidFill>
                <a:srgbClr val="434343"/>
              </a:solidFill>
            </a:endParaRPr>
          </a:p>
        </p:txBody>
      </p:sp>
      <p:sp>
        <p:nvSpPr>
          <p:cNvPr id="1499" name="Google Shape;1499;h28f86b313e326572_0_254"/>
          <p:cNvSpPr txBox="1"/>
          <p:nvPr/>
        </p:nvSpPr>
        <p:spPr>
          <a:xfrm>
            <a:off x="4572000" y="2918200"/>
            <a:ext cx="1780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    ,    1]</a:t>
            </a:r>
            <a:endParaRPr sz="3000">
              <a:solidFill>
                <a:srgbClr val="434343"/>
              </a:solidFill>
            </a:endParaRPr>
          </a:p>
        </p:txBody>
      </p:sp>
      <p:sp>
        <p:nvSpPr>
          <p:cNvPr id="1500" name="Google Shape;1500;h28f86b313e326572_0_254"/>
          <p:cNvSpPr txBox="1"/>
          <p:nvPr/>
        </p:nvSpPr>
        <p:spPr>
          <a:xfrm>
            <a:off x="4456074" y="759558"/>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501" name="Google Shape;1501;h28f86b313e326572_0_254"/>
          <p:cNvSpPr txBox="1"/>
          <p:nvPr/>
        </p:nvSpPr>
        <p:spPr>
          <a:xfrm>
            <a:off x="4456074" y="3465770"/>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502" name="Google Shape;1502;h28f86b313e326572_0_254"/>
          <p:cNvSpPr/>
          <p:nvPr/>
        </p:nvSpPr>
        <p:spPr>
          <a:xfrm>
            <a:off x="4506375" y="264150"/>
            <a:ext cx="768300" cy="1184700"/>
          </a:xfrm>
          <a:prstGeom prst="rect">
            <a:avLst/>
          </a:prstGeom>
          <a:noFill/>
          <a:ln cap="flat" cmpd="sng" w="38100">
            <a:solidFill>
              <a:srgbClr val="02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03" name="Google Shape;1503;h28f86b313e326572_0_254"/>
          <p:cNvSpPr/>
          <p:nvPr/>
        </p:nvSpPr>
        <p:spPr>
          <a:xfrm>
            <a:off x="5539250" y="2848075"/>
            <a:ext cx="768300" cy="1184700"/>
          </a:xfrm>
          <a:prstGeom prst="rect">
            <a:avLst/>
          </a:prstGeom>
          <a:noFill/>
          <a:ln cap="flat" cmpd="sng" w="38100">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04" name="Google Shape;1504;h28f86b313e326572_0_254"/>
          <p:cNvSpPr txBox="1"/>
          <p:nvPr/>
        </p:nvSpPr>
        <p:spPr>
          <a:xfrm>
            <a:off x="4462275" y="1532600"/>
            <a:ext cx="856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rPr>
              <a:t>0.7</a:t>
            </a:r>
            <a:endParaRPr>
              <a:solidFill>
                <a:srgbClr val="0000FF"/>
              </a:solidFill>
            </a:endParaRPr>
          </a:p>
        </p:txBody>
      </p:sp>
      <p:sp>
        <p:nvSpPr>
          <p:cNvPr id="1505" name="Google Shape;1505;h28f86b313e326572_0_254"/>
          <p:cNvSpPr txBox="1"/>
          <p:nvPr/>
        </p:nvSpPr>
        <p:spPr>
          <a:xfrm>
            <a:off x="5539250" y="4112275"/>
            <a:ext cx="856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3000">
                <a:solidFill>
                  <a:srgbClr val="FF0000"/>
                </a:solidFill>
              </a:rPr>
              <a:t>0.3</a:t>
            </a:r>
            <a:endParaRPr sz="3000">
              <a:solidFill>
                <a:srgbClr val="FF0000"/>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pic>
        <p:nvPicPr>
          <p:cNvPr id="1510" name="Google Shape;1510;h28f86b313e326572_0_270" title="Allosaurus_fragilis_portrait_by_highdarktemplar.jpg"/>
          <p:cNvPicPr preferRelativeResize="0"/>
          <p:nvPr/>
        </p:nvPicPr>
        <p:blipFill>
          <a:blip r:embed="rId3">
            <a:alphaModFix/>
          </a:blip>
          <a:stretch>
            <a:fillRect/>
          </a:stretch>
        </p:blipFill>
        <p:spPr>
          <a:xfrm>
            <a:off x="511600" y="3232125"/>
            <a:ext cx="1780207" cy="1401625"/>
          </a:xfrm>
          <a:prstGeom prst="rect">
            <a:avLst/>
          </a:prstGeom>
          <a:noFill/>
          <a:ln>
            <a:noFill/>
          </a:ln>
        </p:spPr>
      </p:pic>
      <p:pic>
        <p:nvPicPr>
          <p:cNvPr id="1511" name="Google Shape;1511;h28f86b313e326572_0_270" title="Dilophosaurus_wetherelli_by_highdarktemplar.jpg"/>
          <p:cNvPicPr preferRelativeResize="0"/>
          <p:nvPr/>
        </p:nvPicPr>
        <p:blipFill>
          <a:blip r:embed="rId4">
            <a:alphaModFix/>
          </a:blip>
          <a:stretch>
            <a:fillRect/>
          </a:stretch>
        </p:blipFill>
        <p:spPr>
          <a:xfrm>
            <a:off x="551600" y="217126"/>
            <a:ext cx="1540301" cy="1540276"/>
          </a:xfrm>
          <a:prstGeom prst="rect">
            <a:avLst/>
          </a:prstGeom>
          <a:noFill/>
          <a:ln>
            <a:noFill/>
          </a:ln>
        </p:spPr>
      </p:pic>
      <p:sp>
        <p:nvSpPr>
          <p:cNvPr id="1512" name="Google Shape;1512;h28f86b313e326572_0_270"/>
          <p:cNvSpPr txBox="1"/>
          <p:nvPr/>
        </p:nvSpPr>
        <p:spPr>
          <a:xfrm>
            <a:off x="648553" y="4633750"/>
            <a:ext cx="150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Allosaurus</a:t>
            </a:r>
            <a:endParaRPr sz="1800">
              <a:solidFill>
                <a:srgbClr val="434343"/>
              </a:solidFill>
              <a:latin typeface="Comfortaa"/>
              <a:ea typeface="Comfortaa"/>
              <a:cs typeface="Comfortaa"/>
              <a:sym typeface="Comfortaa"/>
            </a:endParaRPr>
          </a:p>
        </p:txBody>
      </p:sp>
      <p:sp>
        <p:nvSpPr>
          <p:cNvPr id="1513" name="Google Shape;1513;h28f86b313e326572_0_270"/>
          <p:cNvSpPr txBox="1"/>
          <p:nvPr/>
        </p:nvSpPr>
        <p:spPr>
          <a:xfrm>
            <a:off x="351700" y="1757400"/>
            <a:ext cx="1940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Dilophosaurus</a:t>
            </a:r>
            <a:endParaRPr sz="1800">
              <a:solidFill>
                <a:srgbClr val="434343"/>
              </a:solidFill>
              <a:latin typeface="Comfortaa"/>
              <a:ea typeface="Comfortaa"/>
              <a:cs typeface="Comfortaa"/>
              <a:sym typeface="Comfortaa"/>
            </a:endParaRPr>
          </a:p>
        </p:txBody>
      </p:sp>
      <p:sp>
        <p:nvSpPr>
          <p:cNvPr id="1514" name="Google Shape;1514;h28f86b313e326572_0_270"/>
          <p:cNvSpPr txBox="1"/>
          <p:nvPr/>
        </p:nvSpPr>
        <p:spPr>
          <a:xfrm>
            <a:off x="4456075" y="217125"/>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  1  ,    0 ]</a:t>
            </a:r>
            <a:endParaRPr sz="3000">
              <a:solidFill>
                <a:srgbClr val="434343"/>
              </a:solidFill>
            </a:endParaRPr>
          </a:p>
        </p:txBody>
      </p:sp>
      <p:sp>
        <p:nvSpPr>
          <p:cNvPr id="1515" name="Google Shape;1515;h28f86b313e326572_0_270"/>
          <p:cNvSpPr txBox="1"/>
          <p:nvPr/>
        </p:nvSpPr>
        <p:spPr>
          <a:xfrm>
            <a:off x="4572000" y="2918200"/>
            <a:ext cx="1780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    ,    1]</a:t>
            </a:r>
            <a:endParaRPr sz="3000">
              <a:solidFill>
                <a:srgbClr val="434343"/>
              </a:solidFill>
            </a:endParaRPr>
          </a:p>
        </p:txBody>
      </p:sp>
      <p:sp>
        <p:nvSpPr>
          <p:cNvPr id="1516" name="Google Shape;1516;h28f86b313e326572_0_270"/>
          <p:cNvSpPr txBox="1"/>
          <p:nvPr/>
        </p:nvSpPr>
        <p:spPr>
          <a:xfrm>
            <a:off x="4456074" y="759558"/>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517" name="Google Shape;1517;h28f86b313e326572_0_270"/>
          <p:cNvSpPr txBox="1"/>
          <p:nvPr/>
        </p:nvSpPr>
        <p:spPr>
          <a:xfrm>
            <a:off x="4456074" y="3465770"/>
            <a:ext cx="210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[0.7  ,  0.3]</a:t>
            </a:r>
            <a:endParaRPr sz="3000">
              <a:solidFill>
                <a:srgbClr val="434343"/>
              </a:solidFill>
            </a:endParaRPr>
          </a:p>
        </p:txBody>
      </p:sp>
      <p:sp>
        <p:nvSpPr>
          <p:cNvPr id="1518" name="Google Shape;1518;h28f86b313e326572_0_270"/>
          <p:cNvSpPr/>
          <p:nvPr/>
        </p:nvSpPr>
        <p:spPr>
          <a:xfrm>
            <a:off x="4506375" y="264150"/>
            <a:ext cx="768300" cy="1184700"/>
          </a:xfrm>
          <a:prstGeom prst="rect">
            <a:avLst/>
          </a:prstGeom>
          <a:noFill/>
          <a:ln cap="flat" cmpd="sng" w="38100">
            <a:solidFill>
              <a:srgbClr val="02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19" name="Google Shape;1519;h28f86b313e326572_0_270"/>
          <p:cNvSpPr/>
          <p:nvPr/>
        </p:nvSpPr>
        <p:spPr>
          <a:xfrm>
            <a:off x="5539250" y="2848075"/>
            <a:ext cx="768300" cy="1184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20" name="Google Shape;1520;h28f86b313e326572_0_270"/>
          <p:cNvSpPr txBox="1"/>
          <p:nvPr/>
        </p:nvSpPr>
        <p:spPr>
          <a:xfrm>
            <a:off x="4462275" y="1532600"/>
            <a:ext cx="856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rPr>
              <a:t>0.7</a:t>
            </a:r>
            <a:endParaRPr>
              <a:solidFill>
                <a:srgbClr val="0000FF"/>
              </a:solidFill>
            </a:endParaRPr>
          </a:p>
        </p:txBody>
      </p:sp>
      <p:sp>
        <p:nvSpPr>
          <p:cNvPr id="1521" name="Google Shape;1521;h28f86b313e326572_0_270"/>
          <p:cNvSpPr txBox="1"/>
          <p:nvPr/>
        </p:nvSpPr>
        <p:spPr>
          <a:xfrm>
            <a:off x="5635300" y="4032775"/>
            <a:ext cx="856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C00000"/>
                </a:solidFill>
              </a:rPr>
              <a:t>0.3</a:t>
            </a:r>
            <a:endParaRPr>
              <a:solidFill>
                <a:srgbClr val="C00000"/>
              </a:solidFill>
            </a:endParaRPr>
          </a:p>
        </p:txBody>
      </p:sp>
      <p:sp>
        <p:nvSpPr>
          <p:cNvPr id="1522" name="Google Shape;1522;h28f86b313e326572_0_270"/>
          <p:cNvSpPr txBox="1"/>
          <p:nvPr/>
        </p:nvSpPr>
        <p:spPr>
          <a:xfrm>
            <a:off x="4462275" y="2053175"/>
            <a:ext cx="222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rPr>
              <a:t>ln(</a:t>
            </a:r>
            <a:r>
              <a:rPr lang="pt-BR" sz="3000">
                <a:solidFill>
                  <a:srgbClr val="0000FF"/>
                </a:solidFill>
              </a:rPr>
              <a:t>0.7)=0.36</a:t>
            </a:r>
            <a:endParaRPr>
              <a:solidFill>
                <a:srgbClr val="0000FF"/>
              </a:solidFill>
            </a:endParaRPr>
          </a:p>
        </p:txBody>
      </p:sp>
      <p:sp>
        <p:nvSpPr>
          <p:cNvPr id="1523" name="Google Shape;1523;h28f86b313e326572_0_270"/>
          <p:cNvSpPr txBox="1"/>
          <p:nvPr/>
        </p:nvSpPr>
        <p:spPr>
          <a:xfrm>
            <a:off x="4347450" y="4448950"/>
            <a:ext cx="222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C00000"/>
                </a:solidFill>
              </a:rPr>
              <a:t>ln(0.3)=1.20</a:t>
            </a:r>
            <a:endParaRPr>
              <a:solidFill>
                <a:srgbClr val="C00000"/>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pic>
        <p:nvPicPr>
          <p:cNvPr id="1528" name="Google Shape;1528;h28f86b313e326572_0_287" title="Allosaurus_fragilis_portrait_by_highdarktemplar.jpg"/>
          <p:cNvPicPr preferRelativeResize="0"/>
          <p:nvPr/>
        </p:nvPicPr>
        <p:blipFill>
          <a:blip r:embed="rId3">
            <a:alphaModFix/>
          </a:blip>
          <a:stretch>
            <a:fillRect/>
          </a:stretch>
        </p:blipFill>
        <p:spPr>
          <a:xfrm>
            <a:off x="521005" y="1866092"/>
            <a:ext cx="1363887" cy="1073840"/>
          </a:xfrm>
          <a:prstGeom prst="rect">
            <a:avLst/>
          </a:prstGeom>
          <a:noFill/>
          <a:ln>
            <a:noFill/>
          </a:ln>
        </p:spPr>
      </p:pic>
      <p:pic>
        <p:nvPicPr>
          <p:cNvPr id="1529" name="Google Shape;1529;h28f86b313e326572_0_287" title="Dilophosaurus_wetherelli_by_highdarktemplar.jpg"/>
          <p:cNvPicPr preferRelativeResize="0"/>
          <p:nvPr/>
        </p:nvPicPr>
        <p:blipFill>
          <a:blip r:embed="rId4">
            <a:alphaModFix/>
          </a:blip>
          <a:stretch>
            <a:fillRect/>
          </a:stretch>
        </p:blipFill>
        <p:spPr>
          <a:xfrm>
            <a:off x="612907" y="160175"/>
            <a:ext cx="1180085" cy="1180067"/>
          </a:xfrm>
          <a:prstGeom prst="rect">
            <a:avLst/>
          </a:prstGeom>
          <a:noFill/>
          <a:ln>
            <a:noFill/>
          </a:ln>
        </p:spPr>
      </p:pic>
      <p:sp>
        <p:nvSpPr>
          <p:cNvPr id="1530" name="Google Shape;1530;h28f86b313e326572_0_287"/>
          <p:cNvSpPr txBox="1"/>
          <p:nvPr/>
        </p:nvSpPr>
        <p:spPr>
          <a:xfrm>
            <a:off x="625899" y="2939933"/>
            <a:ext cx="1154100" cy="353700"/>
          </a:xfrm>
          <a:prstGeom prst="rect">
            <a:avLst/>
          </a:prstGeom>
          <a:noFill/>
          <a:ln>
            <a:noFill/>
          </a:ln>
        </p:spPr>
        <p:txBody>
          <a:bodyPr anchorCtr="0" anchor="t" bIns="70050" lIns="70050" spcFirstLastPara="1" rIns="70050" wrap="square" tIns="70050">
            <a:spAutoFit/>
          </a:bodyPr>
          <a:lstStyle/>
          <a:p>
            <a:pPr indent="0" lvl="0" marL="0" rtl="0" algn="l">
              <a:spcBef>
                <a:spcPts val="0"/>
              </a:spcBef>
              <a:spcAft>
                <a:spcPts val="0"/>
              </a:spcAft>
              <a:buNone/>
            </a:pPr>
            <a:r>
              <a:rPr lang="pt-BR" sz="1379">
                <a:solidFill>
                  <a:srgbClr val="434343"/>
                </a:solidFill>
                <a:latin typeface="Comfortaa"/>
                <a:ea typeface="Comfortaa"/>
                <a:cs typeface="Comfortaa"/>
                <a:sym typeface="Comfortaa"/>
              </a:rPr>
              <a:t>Allosaurus</a:t>
            </a:r>
            <a:endParaRPr sz="1379">
              <a:solidFill>
                <a:srgbClr val="434343"/>
              </a:solidFill>
              <a:latin typeface="Comfortaa"/>
              <a:ea typeface="Comfortaa"/>
              <a:cs typeface="Comfortaa"/>
              <a:sym typeface="Comfortaa"/>
            </a:endParaRPr>
          </a:p>
        </p:txBody>
      </p:sp>
      <p:sp>
        <p:nvSpPr>
          <p:cNvPr id="1531" name="Google Shape;1531;h28f86b313e326572_0_287"/>
          <p:cNvSpPr txBox="1"/>
          <p:nvPr/>
        </p:nvSpPr>
        <p:spPr>
          <a:xfrm>
            <a:off x="459699" y="1340240"/>
            <a:ext cx="1486500" cy="353700"/>
          </a:xfrm>
          <a:prstGeom prst="rect">
            <a:avLst/>
          </a:prstGeom>
          <a:noFill/>
          <a:ln>
            <a:noFill/>
          </a:ln>
        </p:spPr>
        <p:txBody>
          <a:bodyPr anchorCtr="0" anchor="t" bIns="70050" lIns="70050" spcFirstLastPara="1" rIns="70050" wrap="square" tIns="70050">
            <a:spAutoFit/>
          </a:bodyPr>
          <a:lstStyle/>
          <a:p>
            <a:pPr indent="0" lvl="0" marL="0" rtl="0" algn="l">
              <a:spcBef>
                <a:spcPts val="0"/>
              </a:spcBef>
              <a:spcAft>
                <a:spcPts val="0"/>
              </a:spcAft>
              <a:buNone/>
            </a:pPr>
            <a:r>
              <a:rPr lang="pt-BR" sz="1379">
                <a:solidFill>
                  <a:srgbClr val="434343"/>
                </a:solidFill>
                <a:latin typeface="Comfortaa"/>
                <a:ea typeface="Comfortaa"/>
                <a:cs typeface="Comfortaa"/>
                <a:sym typeface="Comfortaa"/>
              </a:rPr>
              <a:t>Dilophosaurus</a:t>
            </a:r>
            <a:endParaRPr sz="1379">
              <a:solidFill>
                <a:srgbClr val="434343"/>
              </a:solidFill>
              <a:latin typeface="Comfortaa"/>
              <a:ea typeface="Comfortaa"/>
              <a:cs typeface="Comfortaa"/>
              <a:sym typeface="Comfortaa"/>
            </a:endParaRPr>
          </a:p>
        </p:txBody>
      </p:sp>
      <p:pic>
        <p:nvPicPr>
          <p:cNvPr id="1532" name="Google Shape;1532;h28f86b313e326572_0_287" title="Pachycephalosaurus_w__by_highdarktemplar.jpg"/>
          <p:cNvPicPr preferRelativeResize="0"/>
          <p:nvPr/>
        </p:nvPicPr>
        <p:blipFill>
          <a:blip r:embed="rId5">
            <a:alphaModFix/>
          </a:blip>
          <a:stretch>
            <a:fillRect/>
          </a:stretch>
        </p:blipFill>
        <p:spPr>
          <a:xfrm>
            <a:off x="666029" y="3465785"/>
            <a:ext cx="1073840" cy="1073839"/>
          </a:xfrm>
          <a:prstGeom prst="rect">
            <a:avLst/>
          </a:prstGeom>
          <a:noFill/>
          <a:ln>
            <a:noFill/>
          </a:ln>
        </p:spPr>
      </p:pic>
      <p:sp>
        <p:nvSpPr>
          <p:cNvPr id="1533" name="Google Shape;1533;h28f86b313e326572_0_287"/>
          <p:cNvSpPr txBox="1"/>
          <p:nvPr/>
        </p:nvSpPr>
        <p:spPr>
          <a:xfrm>
            <a:off x="151599" y="4539625"/>
            <a:ext cx="2102700" cy="353700"/>
          </a:xfrm>
          <a:prstGeom prst="rect">
            <a:avLst/>
          </a:prstGeom>
          <a:noFill/>
          <a:ln>
            <a:noFill/>
          </a:ln>
        </p:spPr>
        <p:txBody>
          <a:bodyPr anchorCtr="0" anchor="t" bIns="70050" lIns="70050" spcFirstLastPara="1" rIns="70050" wrap="square" tIns="70050">
            <a:spAutoFit/>
          </a:bodyPr>
          <a:lstStyle/>
          <a:p>
            <a:pPr indent="0" lvl="0" marL="0" marR="0" rtl="0" algn="l">
              <a:lnSpc>
                <a:spcPct val="100000"/>
              </a:lnSpc>
              <a:spcBef>
                <a:spcPts val="0"/>
              </a:spcBef>
              <a:spcAft>
                <a:spcPts val="0"/>
              </a:spcAft>
              <a:buNone/>
            </a:pPr>
            <a:r>
              <a:rPr lang="pt-BR" sz="1379">
                <a:solidFill>
                  <a:srgbClr val="434343"/>
                </a:solidFill>
                <a:latin typeface="Comfortaa"/>
                <a:ea typeface="Comfortaa"/>
                <a:cs typeface="Comfortaa"/>
                <a:sym typeface="Comfortaa"/>
              </a:rPr>
              <a:t>Pachycephalosaurus</a:t>
            </a:r>
            <a:endParaRPr sz="1073"/>
          </a:p>
        </p:txBody>
      </p:sp>
      <p:sp>
        <p:nvSpPr>
          <p:cNvPr id="1534" name="Google Shape;1534;h28f86b313e326572_0_287"/>
          <p:cNvSpPr txBox="1"/>
          <p:nvPr>
            <p:ph type="title"/>
          </p:nvPr>
        </p:nvSpPr>
        <p:spPr>
          <a:xfrm>
            <a:off x="2433300" y="445025"/>
            <a:ext cx="639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5</a:t>
            </a:r>
            <a:endParaRPr/>
          </a:p>
        </p:txBody>
      </p:sp>
      <p:sp>
        <p:nvSpPr>
          <p:cNvPr id="1535" name="Google Shape;1535;h28f86b313e326572_0_287"/>
          <p:cNvSpPr txBox="1"/>
          <p:nvPr>
            <p:ph idx="1" type="body"/>
          </p:nvPr>
        </p:nvSpPr>
        <p:spPr>
          <a:xfrm>
            <a:off x="2433275" y="1152475"/>
            <a:ext cx="6399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What is the loss for each case, considering the probability vector [0.5, 0.3, 0.2]?</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pic>
        <p:nvPicPr>
          <p:cNvPr id="1540" name="Google Shape;1540;h28f86b313e326572_0_318" title="Allosaurus_fragilis_portrait_by_highdarktemplar.jpg"/>
          <p:cNvPicPr preferRelativeResize="0"/>
          <p:nvPr/>
        </p:nvPicPr>
        <p:blipFill>
          <a:blip r:embed="rId3">
            <a:alphaModFix/>
          </a:blip>
          <a:stretch>
            <a:fillRect/>
          </a:stretch>
        </p:blipFill>
        <p:spPr>
          <a:xfrm>
            <a:off x="521005" y="1866092"/>
            <a:ext cx="1363887" cy="1073840"/>
          </a:xfrm>
          <a:prstGeom prst="rect">
            <a:avLst/>
          </a:prstGeom>
          <a:noFill/>
          <a:ln>
            <a:noFill/>
          </a:ln>
        </p:spPr>
      </p:pic>
      <p:pic>
        <p:nvPicPr>
          <p:cNvPr id="1541" name="Google Shape;1541;h28f86b313e326572_0_318" title="Dilophosaurus_wetherelli_by_highdarktemplar.jpg"/>
          <p:cNvPicPr preferRelativeResize="0"/>
          <p:nvPr/>
        </p:nvPicPr>
        <p:blipFill>
          <a:blip r:embed="rId4">
            <a:alphaModFix/>
          </a:blip>
          <a:stretch>
            <a:fillRect/>
          </a:stretch>
        </p:blipFill>
        <p:spPr>
          <a:xfrm>
            <a:off x="612907" y="160175"/>
            <a:ext cx="1180085" cy="1180067"/>
          </a:xfrm>
          <a:prstGeom prst="rect">
            <a:avLst/>
          </a:prstGeom>
          <a:noFill/>
          <a:ln>
            <a:noFill/>
          </a:ln>
        </p:spPr>
      </p:pic>
      <p:sp>
        <p:nvSpPr>
          <p:cNvPr id="1542" name="Google Shape;1542;h28f86b313e326572_0_318"/>
          <p:cNvSpPr txBox="1"/>
          <p:nvPr/>
        </p:nvSpPr>
        <p:spPr>
          <a:xfrm>
            <a:off x="625899" y="2939933"/>
            <a:ext cx="1154100" cy="353700"/>
          </a:xfrm>
          <a:prstGeom prst="rect">
            <a:avLst/>
          </a:prstGeom>
          <a:noFill/>
          <a:ln>
            <a:noFill/>
          </a:ln>
        </p:spPr>
        <p:txBody>
          <a:bodyPr anchorCtr="0" anchor="t" bIns="70050" lIns="70050" spcFirstLastPara="1" rIns="70050" wrap="square" tIns="70050">
            <a:spAutoFit/>
          </a:bodyPr>
          <a:lstStyle/>
          <a:p>
            <a:pPr indent="0" lvl="0" marL="0" rtl="0" algn="l">
              <a:spcBef>
                <a:spcPts val="0"/>
              </a:spcBef>
              <a:spcAft>
                <a:spcPts val="0"/>
              </a:spcAft>
              <a:buNone/>
            </a:pPr>
            <a:r>
              <a:rPr lang="pt-BR" sz="1379">
                <a:solidFill>
                  <a:srgbClr val="434343"/>
                </a:solidFill>
                <a:latin typeface="Comfortaa"/>
                <a:ea typeface="Comfortaa"/>
                <a:cs typeface="Comfortaa"/>
                <a:sym typeface="Comfortaa"/>
              </a:rPr>
              <a:t>Allosaurus</a:t>
            </a:r>
            <a:endParaRPr sz="1379">
              <a:solidFill>
                <a:srgbClr val="434343"/>
              </a:solidFill>
              <a:latin typeface="Comfortaa"/>
              <a:ea typeface="Comfortaa"/>
              <a:cs typeface="Comfortaa"/>
              <a:sym typeface="Comfortaa"/>
            </a:endParaRPr>
          </a:p>
        </p:txBody>
      </p:sp>
      <p:sp>
        <p:nvSpPr>
          <p:cNvPr id="1543" name="Google Shape;1543;h28f86b313e326572_0_318"/>
          <p:cNvSpPr txBox="1"/>
          <p:nvPr/>
        </p:nvSpPr>
        <p:spPr>
          <a:xfrm>
            <a:off x="459699" y="1340240"/>
            <a:ext cx="1486500" cy="353700"/>
          </a:xfrm>
          <a:prstGeom prst="rect">
            <a:avLst/>
          </a:prstGeom>
          <a:noFill/>
          <a:ln>
            <a:noFill/>
          </a:ln>
        </p:spPr>
        <p:txBody>
          <a:bodyPr anchorCtr="0" anchor="t" bIns="70050" lIns="70050" spcFirstLastPara="1" rIns="70050" wrap="square" tIns="70050">
            <a:spAutoFit/>
          </a:bodyPr>
          <a:lstStyle/>
          <a:p>
            <a:pPr indent="0" lvl="0" marL="0" rtl="0" algn="l">
              <a:spcBef>
                <a:spcPts val="0"/>
              </a:spcBef>
              <a:spcAft>
                <a:spcPts val="0"/>
              </a:spcAft>
              <a:buNone/>
            </a:pPr>
            <a:r>
              <a:rPr lang="pt-BR" sz="1379">
                <a:solidFill>
                  <a:srgbClr val="434343"/>
                </a:solidFill>
                <a:latin typeface="Comfortaa"/>
                <a:ea typeface="Comfortaa"/>
                <a:cs typeface="Comfortaa"/>
                <a:sym typeface="Comfortaa"/>
              </a:rPr>
              <a:t>Dilophosaurus</a:t>
            </a:r>
            <a:endParaRPr sz="1379">
              <a:solidFill>
                <a:srgbClr val="434343"/>
              </a:solidFill>
              <a:latin typeface="Comfortaa"/>
              <a:ea typeface="Comfortaa"/>
              <a:cs typeface="Comfortaa"/>
              <a:sym typeface="Comfortaa"/>
            </a:endParaRPr>
          </a:p>
        </p:txBody>
      </p:sp>
      <p:sp>
        <p:nvSpPr>
          <p:cNvPr id="1544" name="Google Shape;1544;h28f86b313e326572_0_318"/>
          <p:cNvSpPr txBox="1"/>
          <p:nvPr/>
        </p:nvSpPr>
        <p:spPr>
          <a:xfrm>
            <a:off x="2687150" y="1012"/>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[1,0,0]</a:t>
            </a:r>
            <a:endParaRPr sz="3000">
              <a:solidFill>
                <a:srgbClr val="434343"/>
              </a:solidFill>
            </a:endParaRPr>
          </a:p>
        </p:txBody>
      </p:sp>
      <p:sp>
        <p:nvSpPr>
          <p:cNvPr id="1545" name="Google Shape;1545;h28f86b313e326572_0_318"/>
          <p:cNvSpPr txBox="1"/>
          <p:nvPr/>
        </p:nvSpPr>
        <p:spPr>
          <a:xfrm>
            <a:off x="2687150" y="504775"/>
            <a:ext cx="2507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[0.5,0.3,0.2]</a:t>
            </a:r>
            <a:endParaRPr sz="3000">
              <a:solidFill>
                <a:srgbClr val="434343"/>
              </a:solidFill>
            </a:endParaRPr>
          </a:p>
        </p:txBody>
      </p:sp>
      <p:pic>
        <p:nvPicPr>
          <p:cNvPr id="1546" name="Google Shape;1546;h28f86b313e326572_0_318" title="Pachycephalosaurus_w__by_highdarktemplar.jpg"/>
          <p:cNvPicPr preferRelativeResize="0"/>
          <p:nvPr/>
        </p:nvPicPr>
        <p:blipFill>
          <a:blip r:embed="rId5">
            <a:alphaModFix/>
          </a:blip>
          <a:stretch>
            <a:fillRect/>
          </a:stretch>
        </p:blipFill>
        <p:spPr>
          <a:xfrm>
            <a:off x="666029" y="3465785"/>
            <a:ext cx="1073840" cy="1073839"/>
          </a:xfrm>
          <a:prstGeom prst="rect">
            <a:avLst/>
          </a:prstGeom>
          <a:noFill/>
          <a:ln>
            <a:noFill/>
          </a:ln>
        </p:spPr>
      </p:pic>
      <p:sp>
        <p:nvSpPr>
          <p:cNvPr id="1547" name="Google Shape;1547;h28f86b313e326572_0_318"/>
          <p:cNvSpPr txBox="1"/>
          <p:nvPr/>
        </p:nvSpPr>
        <p:spPr>
          <a:xfrm>
            <a:off x="151599" y="4539625"/>
            <a:ext cx="2102700" cy="353700"/>
          </a:xfrm>
          <a:prstGeom prst="rect">
            <a:avLst/>
          </a:prstGeom>
          <a:noFill/>
          <a:ln>
            <a:noFill/>
          </a:ln>
        </p:spPr>
        <p:txBody>
          <a:bodyPr anchorCtr="0" anchor="t" bIns="70050" lIns="70050" spcFirstLastPara="1" rIns="70050" wrap="square" tIns="70050">
            <a:spAutoFit/>
          </a:bodyPr>
          <a:lstStyle/>
          <a:p>
            <a:pPr indent="0" lvl="0" marL="0" marR="0" rtl="0" algn="l">
              <a:lnSpc>
                <a:spcPct val="100000"/>
              </a:lnSpc>
              <a:spcBef>
                <a:spcPts val="0"/>
              </a:spcBef>
              <a:spcAft>
                <a:spcPts val="0"/>
              </a:spcAft>
              <a:buNone/>
            </a:pPr>
            <a:r>
              <a:rPr lang="pt-BR" sz="1379">
                <a:solidFill>
                  <a:srgbClr val="434343"/>
                </a:solidFill>
                <a:latin typeface="Comfortaa"/>
                <a:ea typeface="Comfortaa"/>
                <a:cs typeface="Comfortaa"/>
                <a:sym typeface="Comfortaa"/>
              </a:rPr>
              <a:t>Pachycephalosaurus</a:t>
            </a:r>
            <a:endParaRPr sz="1073"/>
          </a:p>
        </p:txBody>
      </p:sp>
      <p:sp>
        <p:nvSpPr>
          <p:cNvPr id="1548" name="Google Shape;1548;h28f86b313e326572_0_318"/>
          <p:cNvSpPr txBox="1"/>
          <p:nvPr/>
        </p:nvSpPr>
        <p:spPr>
          <a:xfrm>
            <a:off x="2687150" y="1681238"/>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[0,1,0]</a:t>
            </a:r>
            <a:endParaRPr sz="3000">
              <a:solidFill>
                <a:srgbClr val="434343"/>
              </a:solidFill>
            </a:endParaRPr>
          </a:p>
        </p:txBody>
      </p:sp>
      <p:sp>
        <p:nvSpPr>
          <p:cNvPr id="1549" name="Google Shape;1549;h28f86b313e326572_0_318"/>
          <p:cNvSpPr txBox="1"/>
          <p:nvPr/>
        </p:nvSpPr>
        <p:spPr>
          <a:xfrm>
            <a:off x="2687150" y="2173113"/>
            <a:ext cx="222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[0.5,0.3,0.2]</a:t>
            </a:r>
            <a:endParaRPr sz="3000">
              <a:solidFill>
                <a:srgbClr val="434343"/>
              </a:solidFill>
            </a:endParaRPr>
          </a:p>
        </p:txBody>
      </p:sp>
      <p:sp>
        <p:nvSpPr>
          <p:cNvPr id="1550" name="Google Shape;1550;h28f86b313e326572_0_318"/>
          <p:cNvSpPr txBox="1"/>
          <p:nvPr/>
        </p:nvSpPr>
        <p:spPr>
          <a:xfrm>
            <a:off x="2687150" y="3337700"/>
            <a:ext cx="1940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[0,0,1]</a:t>
            </a:r>
            <a:endParaRPr sz="3000">
              <a:solidFill>
                <a:srgbClr val="434343"/>
              </a:solidFill>
            </a:endParaRPr>
          </a:p>
        </p:txBody>
      </p:sp>
      <p:sp>
        <p:nvSpPr>
          <p:cNvPr id="1551" name="Google Shape;1551;h28f86b313e326572_0_318"/>
          <p:cNvSpPr txBox="1"/>
          <p:nvPr/>
        </p:nvSpPr>
        <p:spPr>
          <a:xfrm>
            <a:off x="2687150" y="3842313"/>
            <a:ext cx="2229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rPr>
              <a:t>[0.2,0.4,0.4]</a:t>
            </a:r>
            <a:endParaRPr sz="3000">
              <a:solidFill>
                <a:srgbClr val="434343"/>
              </a:solidFill>
            </a:endParaRPr>
          </a:p>
        </p:txBody>
      </p:sp>
      <p:sp>
        <p:nvSpPr>
          <p:cNvPr id="1552" name="Google Shape;1552;h28f86b313e326572_0_318"/>
          <p:cNvSpPr txBox="1"/>
          <p:nvPr/>
        </p:nvSpPr>
        <p:spPr>
          <a:xfrm>
            <a:off x="2687150" y="1008537"/>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rPr>
              <a:t>-ln(0.5)=0.69</a:t>
            </a:r>
            <a:endParaRPr>
              <a:solidFill>
                <a:srgbClr val="0000FF"/>
              </a:solidFill>
            </a:endParaRPr>
          </a:p>
        </p:txBody>
      </p:sp>
      <p:sp>
        <p:nvSpPr>
          <p:cNvPr id="1553" name="Google Shape;1553;h28f86b313e326572_0_318"/>
          <p:cNvSpPr txBox="1"/>
          <p:nvPr/>
        </p:nvSpPr>
        <p:spPr>
          <a:xfrm>
            <a:off x="2687150" y="2664988"/>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rPr>
              <a:t>-ln(0.3)=1.20</a:t>
            </a:r>
            <a:endParaRPr>
              <a:solidFill>
                <a:srgbClr val="0000FF"/>
              </a:solidFill>
            </a:endParaRPr>
          </a:p>
        </p:txBody>
      </p:sp>
      <p:sp>
        <p:nvSpPr>
          <p:cNvPr id="1554" name="Google Shape;1554;h28f86b313e326572_0_318"/>
          <p:cNvSpPr txBox="1"/>
          <p:nvPr/>
        </p:nvSpPr>
        <p:spPr>
          <a:xfrm>
            <a:off x="2687150" y="4346925"/>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0000FF"/>
                </a:solidFill>
              </a:rPr>
              <a:t>-ln(0.4)=0.92</a:t>
            </a:r>
            <a:endParaRPr>
              <a:solidFill>
                <a:srgbClr val="0000FF"/>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8" name="Shape 1558"/>
        <p:cNvGrpSpPr/>
        <p:nvPr/>
      </p:nvGrpSpPr>
      <p:grpSpPr>
        <a:xfrm>
          <a:off x="0" y="0"/>
          <a:ext cx="0" cy="0"/>
          <a:chOff x="0" y="0"/>
          <a:chExt cx="0" cy="0"/>
        </a:xfrm>
      </p:grpSpPr>
      <p:sp>
        <p:nvSpPr>
          <p:cNvPr id="1559" name="Google Shape;1559;h28f86b313e326572_0_393"/>
          <p:cNvSpPr txBox="1"/>
          <p:nvPr>
            <p:ph type="title"/>
          </p:nvPr>
        </p:nvSpPr>
        <p:spPr>
          <a:xfrm>
            <a:off x="265500" y="1830600"/>
            <a:ext cx="4045200" cy="148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Objective Function</a:t>
            </a:r>
            <a:endParaRPr/>
          </a:p>
        </p:txBody>
      </p:sp>
      <p:sp>
        <p:nvSpPr>
          <p:cNvPr id="1560" name="Google Shape;1560;h28f86b313e326572_0_39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In details</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4" name="Shape 1564"/>
        <p:cNvGrpSpPr/>
        <p:nvPr/>
      </p:nvGrpSpPr>
      <p:grpSpPr>
        <a:xfrm>
          <a:off x="0" y="0"/>
          <a:ext cx="0" cy="0"/>
          <a:chOff x="0" y="0"/>
          <a:chExt cx="0" cy="0"/>
        </a:xfrm>
      </p:grpSpPr>
      <p:sp>
        <p:nvSpPr>
          <p:cNvPr id="1565" name="Google Shape;1565;h28f86b313e326572_0_39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Logistic Regression in Machine Learning</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9" name="Shape 1569"/>
        <p:cNvGrpSpPr/>
        <p:nvPr/>
      </p:nvGrpSpPr>
      <p:grpSpPr>
        <a:xfrm>
          <a:off x="0" y="0"/>
          <a:ext cx="0" cy="0"/>
          <a:chOff x="0" y="0"/>
          <a:chExt cx="0" cy="0"/>
        </a:xfrm>
      </p:grpSpPr>
      <p:sp>
        <p:nvSpPr>
          <p:cNvPr id="1570" name="Google Shape;1570;h28f86b313e326572_0_403"/>
          <p:cNvSpPr txBox="1"/>
          <p:nvPr>
            <p:ph type="title"/>
          </p:nvPr>
        </p:nvSpPr>
        <p:spPr>
          <a:xfrm>
            <a:off x="311700" y="125600"/>
            <a:ext cx="8520600" cy="8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000"/>
              <a:t>Components of a probabilistic machine learning classifier</a:t>
            </a:r>
            <a:endParaRPr sz="3000"/>
          </a:p>
        </p:txBody>
      </p:sp>
      <p:sp>
        <p:nvSpPr>
          <p:cNvPr id="1571" name="Google Shape;1571;h28f86b313e326572_0_403"/>
          <p:cNvSpPr txBox="1"/>
          <p:nvPr>
            <p:ph idx="1" type="body"/>
          </p:nvPr>
        </p:nvSpPr>
        <p:spPr>
          <a:xfrm>
            <a:off x="311700" y="1152475"/>
            <a:ext cx="8520600" cy="36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100"/>
              <a:t>Given m input/output pairs (x</a:t>
            </a:r>
            <a:r>
              <a:rPr baseline="30000" lang="pt-BR" sz="2100"/>
              <a:t>(i)</a:t>
            </a:r>
            <a:r>
              <a:rPr lang="pt-BR" sz="2100"/>
              <a:t>,y</a:t>
            </a:r>
            <a:r>
              <a:rPr baseline="30000" lang="pt-BR" sz="2100"/>
              <a:t>(i)</a:t>
            </a:r>
            <a:r>
              <a:rPr lang="pt-BR" sz="2100"/>
              <a:t>):</a:t>
            </a:r>
            <a:endParaRPr sz="2100"/>
          </a:p>
          <a:p>
            <a:pPr indent="-361950" lvl="0" marL="457200" rtl="0" algn="l">
              <a:spcBef>
                <a:spcPts val="0"/>
              </a:spcBef>
              <a:spcAft>
                <a:spcPts val="0"/>
              </a:spcAft>
              <a:buSzPts val="2100"/>
              <a:buAutoNum type="arabicPeriod"/>
            </a:pPr>
            <a:r>
              <a:rPr lang="pt-BR" sz="2100"/>
              <a:t>A </a:t>
            </a:r>
            <a:r>
              <a:rPr b="1" lang="pt-BR" sz="2100"/>
              <a:t>feature representation</a:t>
            </a:r>
            <a:r>
              <a:rPr lang="pt-BR" sz="2100"/>
              <a:t> of the input. For each input observation x</a:t>
            </a:r>
            <a:r>
              <a:rPr baseline="30000" lang="pt-BR" sz="2100"/>
              <a:t>(i)</a:t>
            </a:r>
            <a:r>
              <a:rPr lang="pt-BR" sz="2100"/>
              <a:t>, a vector of features [x</a:t>
            </a:r>
            <a:r>
              <a:rPr baseline="-25000" lang="pt-BR" sz="2100"/>
              <a:t>1</a:t>
            </a:r>
            <a:r>
              <a:rPr lang="pt-BR" sz="2100"/>
              <a:t>, x</a:t>
            </a:r>
            <a:r>
              <a:rPr baseline="-25000" lang="pt-BR" sz="2100"/>
              <a:t>2</a:t>
            </a:r>
            <a:r>
              <a:rPr lang="pt-BR" sz="2100"/>
              <a:t>, ... , x</a:t>
            </a:r>
            <a:r>
              <a:rPr baseline="-25000" lang="pt-BR" sz="2100"/>
              <a:t>n</a:t>
            </a:r>
            <a:r>
              <a:rPr lang="pt-BR" sz="2100"/>
              <a:t>].  Feature j for input x</a:t>
            </a:r>
            <a:r>
              <a:rPr baseline="30000" lang="pt-BR" sz="2100"/>
              <a:t>(i)</a:t>
            </a:r>
            <a:r>
              <a:rPr lang="pt-BR" sz="2100"/>
              <a:t> is x</a:t>
            </a:r>
            <a:r>
              <a:rPr baseline="-25000" lang="pt-BR" sz="2100"/>
              <a:t>j</a:t>
            </a:r>
            <a:r>
              <a:rPr lang="pt-BR" sz="2100"/>
              <a:t>, more completely  x</a:t>
            </a:r>
            <a:r>
              <a:rPr baseline="-25000" lang="pt-BR" sz="2100"/>
              <a:t>j</a:t>
            </a:r>
            <a:r>
              <a:rPr baseline="30000" lang="pt-BR" sz="2100"/>
              <a:t>(i)</a:t>
            </a:r>
            <a:r>
              <a:rPr lang="pt-BR" sz="2100"/>
              <a:t>, or sometimes f</a:t>
            </a:r>
            <a:r>
              <a:rPr baseline="-25000" lang="pt-BR" sz="2100"/>
              <a:t>j</a:t>
            </a:r>
            <a:r>
              <a:rPr lang="pt-BR" sz="2100"/>
              <a:t>(x).</a:t>
            </a:r>
            <a:endParaRPr sz="2100"/>
          </a:p>
          <a:p>
            <a:pPr indent="-361950" lvl="0" marL="457200" rtl="0" algn="l">
              <a:spcBef>
                <a:spcPts val="0"/>
              </a:spcBef>
              <a:spcAft>
                <a:spcPts val="0"/>
              </a:spcAft>
              <a:buSzPts val="2100"/>
              <a:buAutoNum type="arabicPeriod"/>
            </a:pPr>
            <a:r>
              <a:rPr lang="pt-BR" sz="2100"/>
              <a:t>A </a:t>
            </a:r>
            <a:r>
              <a:rPr b="1" lang="pt-BR" sz="2100"/>
              <a:t>classification function</a:t>
            </a:r>
            <a:r>
              <a:rPr lang="pt-BR" sz="2100"/>
              <a:t> that computes the estimated probability p(y|x), like the </a:t>
            </a:r>
            <a:r>
              <a:rPr b="1" lang="pt-BR" sz="2100"/>
              <a:t>sigmoid</a:t>
            </a:r>
            <a:r>
              <a:rPr lang="pt-BR" sz="2100"/>
              <a:t> or </a:t>
            </a:r>
            <a:r>
              <a:rPr b="1" lang="pt-BR" sz="2100"/>
              <a:t>softmax</a:t>
            </a:r>
            <a:r>
              <a:rPr lang="pt-BR" sz="2100"/>
              <a:t> functions.</a:t>
            </a:r>
            <a:endParaRPr sz="2100"/>
          </a:p>
          <a:p>
            <a:pPr indent="-361950" lvl="0" marL="457200" rtl="0" algn="l">
              <a:spcBef>
                <a:spcPts val="0"/>
              </a:spcBef>
              <a:spcAft>
                <a:spcPts val="0"/>
              </a:spcAft>
              <a:buSzPts val="2100"/>
              <a:buAutoNum type="arabicPeriod"/>
            </a:pPr>
            <a:r>
              <a:rPr lang="pt-BR" sz="2100"/>
              <a:t>An </a:t>
            </a:r>
            <a:r>
              <a:rPr b="1" lang="pt-BR" sz="2100"/>
              <a:t>objective function</a:t>
            </a:r>
            <a:r>
              <a:rPr lang="pt-BR" sz="2100"/>
              <a:t> for learning, like </a:t>
            </a:r>
            <a:r>
              <a:rPr b="1" lang="pt-BR" sz="2100"/>
              <a:t>cross-entropy loss</a:t>
            </a:r>
            <a:r>
              <a:rPr lang="pt-BR" sz="2100"/>
              <a:t>.</a:t>
            </a:r>
            <a:endParaRPr sz="2100"/>
          </a:p>
          <a:p>
            <a:pPr indent="-361950" lvl="0" marL="457200" rtl="0" algn="l">
              <a:spcBef>
                <a:spcPts val="0"/>
              </a:spcBef>
              <a:spcAft>
                <a:spcPts val="0"/>
              </a:spcAft>
              <a:buSzPts val="2100"/>
              <a:buAutoNum type="arabicPeriod"/>
            </a:pPr>
            <a:r>
              <a:rPr lang="pt-BR" sz="2100"/>
              <a:t>An algorithm for optimizing the objective function: </a:t>
            </a:r>
            <a:r>
              <a:rPr b="1" lang="pt-BR" sz="2100"/>
              <a:t>stochastic gradient descent</a:t>
            </a:r>
            <a:r>
              <a:rPr lang="pt-BR" sz="2100"/>
              <a:t>.</a:t>
            </a:r>
            <a:endParaRPr sz="2100"/>
          </a:p>
        </p:txBody>
      </p:sp>
      <p:sp>
        <p:nvSpPr>
          <p:cNvPr id="1572" name="Google Shape;1572;h28f86b313e326572_0_403"/>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6" name="Shape 1576"/>
        <p:cNvGrpSpPr/>
        <p:nvPr/>
      </p:nvGrpSpPr>
      <p:grpSpPr>
        <a:xfrm>
          <a:off x="0" y="0"/>
          <a:ext cx="0" cy="0"/>
          <a:chOff x="0" y="0"/>
          <a:chExt cx="0" cy="0"/>
        </a:xfrm>
      </p:grpSpPr>
      <p:sp>
        <p:nvSpPr>
          <p:cNvPr id="1577" name="Google Shape;1577;h28f86b313e326572_0_40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The two phases of logistic regression </a:t>
            </a:r>
            <a:endParaRPr/>
          </a:p>
        </p:txBody>
      </p:sp>
      <p:sp>
        <p:nvSpPr>
          <p:cNvPr id="1578" name="Google Shape;1578;h28f86b313e326572_0_409"/>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77500" lnSpcReduction="20000"/>
          </a:bodyPr>
          <a:lstStyle/>
          <a:p>
            <a:pPr indent="-7938" lvl="0" marL="7938" rtl="0" algn="l">
              <a:lnSpc>
                <a:spcPct val="90000"/>
              </a:lnSpc>
              <a:spcBef>
                <a:spcPts val="0"/>
              </a:spcBef>
              <a:spcAft>
                <a:spcPts val="0"/>
              </a:spcAft>
              <a:buSzPct val="93333"/>
              <a:buNone/>
            </a:pPr>
            <a:r>
              <a:rPr b="1" lang="pt-BR"/>
              <a:t>Training (next lecture)</a:t>
            </a:r>
            <a:r>
              <a:rPr lang="pt-BR"/>
              <a:t>: </a:t>
            </a:r>
            <a:endParaRPr/>
          </a:p>
          <a:p>
            <a:pPr indent="-417195" lvl="0" marL="457200" rtl="0" algn="l">
              <a:lnSpc>
                <a:spcPct val="90000"/>
              </a:lnSpc>
              <a:spcBef>
                <a:spcPts val="1050"/>
              </a:spcBef>
              <a:spcAft>
                <a:spcPts val="0"/>
              </a:spcAft>
              <a:buSzPct val="93333"/>
              <a:buFont typeface="Arial"/>
              <a:buChar char="•"/>
            </a:pPr>
            <a:r>
              <a:rPr lang="pt-BR"/>
              <a:t>We learn weights </a:t>
            </a:r>
            <a:r>
              <a:rPr i="1" lang="pt-BR"/>
              <a:t>w </a:t>
            </a:r>
            <a:r>
              <a:rPr lang="pt-BR"/>
              <a:t>and </a:t>
            </a:r>
            <a:r>
              <a:rPr i="1" lang="pt-BR"/>
              <a:t>b</a:t>
            </a:r>
            <a:r>
              <a:rPr lang="pt-BR"/>
              <a:t> using </a:t>
            </a:r>
            <a:r>
              <a:rPr b="1" lang="pt-BR"/>
              <a:t>stochastic gradient descent</a:t>
            </a:r>
            <a:r>
              <a:rPr lang="pt-BR"/>
              <a:t> and </a:t>
            </a:r>
            <a:r>
              <a:rPr b="1" lang="pt-BR"/>
              <a:t>cross-entropy loss</a:t>
            </a:r>
            <a:r>
              <a:rPr lang="pt-BR"/>
              <a:t>.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rPr b="1" lang="pt-BR"/>
              <a:t>Test (</a:t>
            </a:r>
            <a:r>
              <a:rPr lang="pt-BR"/>
              <a:t>also called </a:t>
            </a:r>
            <a:r>
              <a:rPr b="1" lang="pt-BR"/>
              <a:t>inference) (this lecture)</a:t>
            </a:r>
            <a:r>
              <a:rPr lang="pt-BR"/>
              <a:t>: </a:t>
            </a:r>
            <a:endParaRPr/>
          </a:p>
          <a:p>
            <a:pPr indent="-417195" lvl="0" marL="457200" rtl="0" algn="l">
              <a:lnSpc>
                <a:spcPct val="90000"/>
              </a:lnSpc>
              <a:spcBef>
                <a:spcPts val="1050"/>
              </a:spcBef>
              <a:spcAft>
                <a:spcPts val="0"/>
              </a:spcAft>
              <a:buSzPct val="93333"/>
              <a:buFont typeface="Arial"/>
              <a:buChar char="•"/>
            </a:pPr>
            <a:r>
              <a:rPr lang="pt-BR"/>
              <a:t>Given a test example </a:t>
            </a:r>
            <a:r>
              <a:rPr i="1" lang="pt-BR"/>
              <a:t>x </a:t>
            </a:r>
            <a:r>
              <a:rPr lang="pt-BR"/>
              <a:t>we compute </a:t>
            </a:r>
            <a:r>
              <a:rPr i="1" lang="pt-BR"/>
              <a:t>p(y|x)</a:t>
            </a:r>
            <a:r>
              <a:rPr lang="pt-BR"/>
              <a:t> using learned weights </a:t>
            </a:r>
            <a:r>
              <a:rPr i="1" lang="pt-BR"/>
              <a:t>w</a:t>
            </a:r>
            <a:r>
              <a:rPr lang="pt-BR"/>
              <a:t> and </a:t>
            </a:r>
            <a:r>
              <a:rPr i="1" lang="pt-BR"/>
              <a:t>b</a:t>
            </a:r>
            <a:endParaRPr/>
          </a:p>
          <a:p>
            <a:pPr indent="-417195" lvl="0" marL="457200" rtl="0" algn="l">
              <a:lnSpc>
                <a:spcPct val="90000"/>
              </a:lnSpc>
              <a:spcBef>
                <a:spcPts val="1050"/>
              </a:spcBef>
              <a:spcAft>
                <a:spcPts val="0"/>
              </a:spcAft>
              <a:buSzPct val="93333"/>
              <a:buFont typeface="Arial"/>
              <a:buChar char="•"/>
            </a:pPr>
            <a:r>
              <a:rPr lang="pt-BR"/>
              <a:t>Then return whichever label (</a:t>
            </a:r>
            <a:r>
              <a:rPr i="1" lang="pt-BR"/>
              <a:t>y </a:t>
            </a:r>
            <a:r>
              <a:rPr lang="pt-BR"/>
              <a:t>= 1 or </a:t>
            </a:r>
            <a:r>
              <a:rPr i="1" lang="pt-BR"/>
              <a:t>y </a:t>
            </a:r>
            <a:r>
              <a:rPr lang="pt-BR"/>
              <a:t>= 0) has higher probability</a:t>
            </a:r>
            <a:endParaRPr/>
          </a:p>
          <a:p>
            <a:pPr indent="-7938" lvl="0" marL="7938" rtl="0" algn="l">
              <a:lnSpc>
                <a:spcPct val="90000"/>
              </a:lnSpc>
              <a:spcBef>
                <a:spcPts val="1050"/>
              </a:spcBef>
              <a:spcAft>
                <a:spcPts val="0"/>
              </a:spcAft>
              <a:buSzPct val="93333"/>
              <a:buNone/>
            </a:pPr>
            <a:r>
              <a:t/>
            </a:r>
            <a:endParaRPr/>
          </a:p>
        </p:txBody>
      </p:sp>
      <p:sp>
        <p:nvSpPr>
          <p:cNvPr id="1579" name="Google Shape;1579;h28f86b313e326572_0_409"/>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3" name="Shape 1583"/>
        <p:cNvGrpSpPr/>
        <p:nvPr/>
      </p:nvGrpSpPr>
      <p:grpSpPr>
        <a:xfrm>
          <a:off x="0" y="0"/>
          <a:ext cx="0" cy="0"/>
          <a:chOff x="0" y="0"/>
          <a:chExt cx="0" cy="0"/>
        </a:xfrm>
      </p:grpSpPr>
      <p:sp>
        <p:nvSpPr>
          <p:cNvPr id="1584" name="Google Shape;1584;h28f86b313e326572_0_415"/>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Binary Classification in Logistic Regression</a:t>
            </a:r>
            <a:endParaRPr/>
          </a:p>
        </p:txBody>
      </p:sp>
      <p:sp>
        <p:nvSpPr>
          <p:cNvPr id="1585" name="Google Shape;1585;h28f86b313e326572_0_415"/>
          <p:cNvSpPr txBox="1"/>
          <p:nvPr>
            <p:ph idx="1" type="body"/>
          </p:nvPr>
        </p:nvSpPr>
        <p:spPr>
          <a:xfrm>
            <a:off x="822960" y="1200150"/>
            <a:ext cx="8016300" cy="3429000"/>
          </a:xfrm>
          <a:prstGeom prst="rect">
            <a:avLst/>
          </a:prstGeom>
          <a:blipFill rotWithShape="1">
            <a:blip r:embed="rId3">
              <a:alphaModFix/>
            </a:blip>
            <a:stretch>
              <a:fillRect b="0" l="-3010" r="0" t="-3690"/>
            </a:stretch>
          </a:blip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 </a:t>
            </a:r>
            <a:endParaRPr/>
          </a:p>
        </p:txBody>
      </p:sp>
      <p:sp>
        <p:nvSpPr>
          <p:cNvPr id="1586" name="Google Shape;1586;h28f86b313e326572_0_415"/>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1" name="Shape 1591"/>
        <p:cNvGrpSpPr/>
        <p:nvPr/>
      </p:nvGrpSpPr>
      <p:grpSpPr>
        <a:xfrm>
          <a:off x="0" y="0"/>
          <a:ext cx="0" cy="0"/>
          <a:chOff x="0" y="0"/>
          <a:chExt cx="0" cy="0"/>
        </a:xfrm>
      </p:grpSpPr>
      <p:sp>
        <p:nvSpPr>
          <p:cNvPr id="1592" name="Google Shape;1592;h28f86b313e326572_0_421"/>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Features in logistic regression</a:t>
            </a:r>
            <a:endParaRPr/>
          </a:p>
        </p:txBody>
      </p:sp>
      <p:sp>
        <p:nvSpPr>
          <p:cNvPr id="1593" name="Google Shape;1593;h28f86b313e326572_0_421"/>
          <p:cNvSpPr txBox="1"/>
          <p:nvPr>
            <p:ph idx="1" type="body"/>
          </p:nvPr>
        </p:nvSpPr>
        <p:spPr>
          <a:xfrm>
            <a:off x="304800" y="1167316"/>
            <a:ext cx="8839200" cy="367740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800"/>
              <a:buFont typeface="Arial"/>
              <a:buChar char="•"/>
            </a:pPr>
            <a:r>
              <a:rPr lang="pt-BR"/>
              <a:t>For feature x</a:t>
            </a:r>
            <a:r>
              <a:rPr baseline="-25000" lang="pt-BR"/>
              <a:t>i</a:t>
            </a:r>
            <a:r>
              <a:rPr lang="pt-BR"/>
              <a:t>, weight w</a:t>
            </a:r>
            <a:r>
              <a:rPr baseline="-25000" lang="pt-BR"/>
              <a:t>i</a:t>
            </a:r>
            <a:r>
              <a:rPr lang="pt-BR"/>
              <a:t> tells is how important is x</a:t>
            </a:r>
            <a:r>
              <a:rPr baseline="-25000" lang="pt-BR"/>
              <a:t>i</a:t>
            </a:r>
            <a:r>
              <a:rPr lang="pt-BR"/>
              <a:t> </a:t>
            </a:r>
            <a:endParaRPr baseline="-25000"/>
          </a:p>
          <a:p>
            <a:pPr indent="-457200" lvl="1" marL="854075" rtl="0" algn="l">
              <a:lnSpc>
                <a:spcPct val="90000"/>
              </a:lnSpc>
              <a:spcBef>
                <a:spcPts val="300"/>
              </a:spcBef>
              <a:spcAft>
                <a:spcPts val="0"/>
              </a:spcAft>
              <a:buSzPts val="2400"/>
              <a:buFont typeface="Arial"/>
              <a:buChar char="•"/>
            </a:pPr>
            <a:r>
              <a:rPr lang="pt-BR"/>
              <a:t>x</a:t>
            </a:r>
            <a:r>
              <a:rPr baseline="-25000" lang="pt-BR"/>
              <a:t>i</a:t>
            </a:r>
            <a:r>
              <a:rPr lang="pt-BR"/>
              <a:t> ="review contains ‘</a:t>
            </a:r>
            <a:r>
              <a:rPr lang="pt-BR">
                <a:solidFill>
                  <a:srgbClr val="0000CC"/>
                </a:solidFill>
                <a:latin typeface="Courier"/>
                <a:ea typeface="Courier"/>
                <a:cs typeface="Courier"/>
                <a:sym typeface="Courier"/>
              </a:rPr>
              <a:t>awesome</a:t>
            </a:r>
            <a:r>
              <a:rPr lang="pt-BR"/>
              <a:t>’":      w</a:t>
            </a:r>
            <a:r>
              <a:rPr baseline="-25000" lang="pt-BR"/>
              <a:t>i</a:t>
            </a:r>
            <a:r>
              <a:rPr lang="pt-BR"/>
              <a:t> =  </a:t>
            </a:r>
            <a:r>
              <a:rPr lang="pt-BR">
                <a:solidFill>
                  <a:srgbClr val="0000CC"/>
                </a:solidFill>
                <a:latin typeface="Courier"/>
                <a:ea typeface="Courier"/>
                <a:cs typeface="Courier"/>
                <a:sym typeface="Courier"/>
              </a:rPr>
              <a:t>+10</a:t>
            </a:r>
            <a:endParaRPr/>
          </a:p>
          <a:p>
            <a:pPr indent="-457200" lvl="1" marL="854075" rtl="0" algn="l">
              <a:lnSpc>
                <a:spcPct val="90000"/>
              </a:lnSpc>
              <a:spcBef>
                <a:spcPts val="450"/>
              </a:spcBef>
              <a:spcAft>
                <a:spcPts val="0"/>
              </a:spcAft>
              <a:buSzPts val="2400"/>
              <a:buFont typeface="Arial"/>
              <a:buChar char="•"/>
            </a:pPr>
            <a:r>
              <a:rPr lang="pt-BR"/>
              <a:t>x</a:t>
            </a:r>
            <a:r>
              <a:rPr baseline="-25000" lang="pt-BR"/>
              <a:t>j</a:t>
            </a:r>
            <a:r>
              <a:rPr lang="pt-BR"/>
              <a:t> ="review contains ‘</a:t>
            </a:r>
            <a:r>
              <a:rPr lang="pt-BR">
                <a:solidFill>
                  <a:srgbClr val="0000CC"/>
                </a:solidFill>
                <a:latin typeface="Courier"/>
                <a:ea typeface="Courier"/>
                <a:cs typeface="Courier"/>
                <a:sym typeface="Courier"/>
              </a:rPr>
              <a:t>abysmal</a:t>
            </a:r>
            <a:r>
              <a:rPr lang="pt-BR"/>
              <a:t>’":      w</a:t>
            </a:r>
            <a:r>
              <a:rPr baseline="-25000" lang="pt-BR"/>
              <a:t>j</a:t>
            </a:r>
            <a:r>
              <a:rPr lang="pt-BR"/>
              <a:t> = </a:t>
            </a:r>
            <a:r>
              <a:rPr lang="pt-BR">
                <a:solidFill>
                  <a:srgbClr val="0000CC"/>
                </a:solidFill>
                <a:latin typeface="Courier"/>
                <a:ea typeface="Courier"/>
                <a:cs typeface="Courier"/>
                <a:sym typeface="Courier"/>
              </a:rPr>
              <a:t>-10</a:t>
            </a:r>
            <a:endParaRPr/>
          </a:p>
          <a:p>
            <a:pPr indent="-457200" lvl="1" marL="854075" rtl="0" algn="l">
              <a:lnSpc>
                <a:spcPct val="90000"/>
              </a:lnSpc>
              <a:spcBef>
                <a:spcPts val="450"/>
              </a:spcBef>
              <a:spcAft>
                <a:spcPts val="0"/>
              </a:spcAft>
              <a:buSzPts val="2400"/>
              <a:buFont typeface="Arial"/>
              <a:buChar char="•"/>
            </a:pPr>
            <a:r>
              <a:rPr lang="pt-BR"/>
              <a:t>x</a:t>
            </a:r>
            <a:r>
              <a:rPr baseline="-25000" lang="pt-BR"/>
              <a:t>k</a:t>
            </a:r>
            <a:r>
              <a:rPr lang="pt-BR"/>
              <a:t> =“review contains ‘</a:t>
            </a:r>
            <a:r>
              <a:rPr lang="pt-BR">
                <a:solidFill>
                  <a:srgbClr val="0000CC"/>
                </a:solidFill>
                <a:latin typeface="Courier"/>
                <a:ea typeface="Courier"/>
                <a:cs typeface="Courier"/>
                <a:sym typeface="Courier"/>
              </a:rPr>
              <a:t>mediocre</a:t>
            </a:r>
            <a:r>
              <a:rPr lang="pt-BR"/>
              <a:t>’":   w</a:t>
            </a:r>
            <a:r>
              <a:rPr baseline="-25000" lang="pt-BR"/>
              <a:t>k</a:t>
            </a:r>
            <a:r>
              <a:rPr lang="pt-BR"/>
              <a:t> = </a:t>
            </a:r>
            <a:r>
              <a:rPr lang="pt-BR">
                <a:solidFill>
                  <a:srgbClr val="0000CC"/>
                </a:solidFill>
                <a:latin typeface="Courier"/>
                <a:ea typeface="Courier"/>
                <a:cs typeface="Courier"/>
                <a:sym typeface="Courier"/>
              </a:rPr>
              <a:t>-2</a:t>
            </a:r>
            <a:endParaRPr/>
          </a:p>
          <a:p>
            <a:pPr indent="-107950" lvl="2" marL="685800" rtl="0" algn="l">
              <a:lnSpc>
                <a:spcPct val="90000"/>
              </a:lnSpc>
              <a:spcBef>
                <a:spcPts val="450"/>
              </a:spcBef>
              <a:spcAft>
                <a:spcPts val="0"/>
              </a:spcAft>
              <a:buSzPts val="2400"/>
              <a:buNone/>
            </a:pPr>
            <a:r>
              <a:t/>
            </a:r>
            <a:endParaRPr sz="2400"/>
          </a:p>
          <a:p>
            <a:pPr indent="-111125" lvl="1" marL="404813" rtl="0" algn="l">
              <a:lnSpc>
                <a:spcPct val="90000"/>
              </a:lnSpc>
              <a:spcBef>
                <a:spcPts val="450"/>
              </a:spcBef>
              <a:spcAft>
                <a:spcPts val="0"/>
              </a:spcAft>
              <a:buSzPts val="2250"/>
              <a:buNone/>
            </a:pPr>
            <a:r>
              <a:t/>
            </a:r>
            <a:endParaRPr sz="2250"/>
          </a:p>
          <a:p>
            <a:pPr indent="-111125" lvl="1" marL="404813" rtl="0" algn="l">
              <a:lnSpc>
                <a:spcPct val="90000"/>
              </a:lnSpc>
              <a:spcBef>
                <a:spcPts val="450"/>
              </a:spcBef>
              <a:spcAft>
                <a:spcPts val="0"/>
              </a:spcAft>
              <a:buSzPts val="2250"/>
              <a:buNone/>
            </a:pPr>
            <a:r>
              <a:t/>
            </a:r>
            <a:endParaRPr sz="2250"/>
          </a:p>
        </p:txBody>
      </p:sp>
      <p:sp>
        <p:nvSpPr>
          <p:cNvPr id="1594" name="Google Shape;1594;h28f86b313e326572_0_421"/>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8" name="Shape 1598"/>
        <p:cNvGrpSpPr/>
        <p:nvPr/>
      </p:nvGrpSpPr>
      <p:grpSpPr>
        <a:xfrm>
          <a:off x="0" y="0"/>
          <a:ext cx="0" cy="0"/>
          <a:chOff x="0" y="0"/>
          <a:chExt cx="0" cy="0"/>
        </a:xfrm>
      </p:grpSpPr>
      <p:sp>
        <p:nvSpPr>
          <p:cNvPr id="1599" name="Google Shape;1599;h28f86b313e326572_0_545"/>
          <p:cNvSpPr txBox="1"/>
          <p:nvPr>
            <p:ph type="title"/>
          </p:nvPr>
        </p:nvSpPr>
        <p:spPr>
          <a:xfrm>
            <a:off x="311700" y="400200"/>
            <a:ext cx="8520600" cy="61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000"/>
              <a:t>Logistic Regression for one observation x</a:t>
            </a:r>
            <a:endParaRPr sz="3000"/>
          </a:p>
        </p:txBody>
      </p:sp>
      <p:sp>
        <p:nvSpPr>
          <p:cNvPr id="1600" name="Google Shape;1600;h28f86b313e326572_0_5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pt-BR" sz="2400"/>
              <a:t>Input observation</a:t>
            </a:r>
            <a:r>
              <a:rPr lang="pt-BR" sz="2400"/>
              <a:t>: vector </a:t>
            </a:r>
            <a:r>
              <a:rPr b="1" lang="pt-BR" sz="2400">
                <a:solidFill>
                  <a:srgbClr val="741B47"/>
                </a:solidFill>
              </a:rPr>
              <a:t>x = [x</a:t>
            </a:r>
            <a:r>
              <a:rPr b="1" baseline="-25000" lang="pt-BR" sz="2400">
                <a:solidFill>
                  <a:srgbClr val="741B47"/>
                </a:solidFill>
              </a:rPr>
              <a:t>1</a:t>
            </a:r>
            <a:r>
              <a:rPr b="1" lang="pt-BR" sz="2400">
                <a:solidFill>
                  <a:srgbClr val="741B47"/>
                </a:solidFill>
              </a:rPr>
              <a:t>, x</a:t>
            </a:r>
            <a:r>
              <a:rPr b="1" baseline="-25000" lang="pt-BR" sz="2400">
                <a:solidFill>
                  <a:srgbClr val="741B47"/>
                </a:solidFill>
              </a:rPr>
              <a:t>2</a:t>
            </a:r>
            <a:r>
              <a:rPr b="1" lang="pt-BR" sz="2400">
                <a:solidFill>
                  <a:srgbClr val="741B47"/>
                </a:solidFill>
              </a:rPr>
              <a:t>,…, x</a:t>
            </a:r>
            <a:r>
              <a:rPr b="1" baseline="-25000" lang="pt-BR" sz="2400">
                <a:solidFill>
                  <a:srgbClr val="741B47"/>
                </a:solidFill>
              </a:rPr>
              <a:t>n</a:t>
            </a:r>
            <a:r>
              <a:rPr b="1" lang="pt-BR" sz="2400">
                <a:solidFill>
                  <a:srgbClr val="741B47"/>
                </a:solidFill>
              </a:rPr>
              <a:t>]</a:t>
            </a:r>
            <a:endParaRPr b="1" sz="2400">
              <a:solidFill>
                <a:srgbClr val="741B47"/>
              </a:solidFill>
            </a:endParaRPr>
          </a:p>
          <a:p>
            <a:pPr indent="-381000" lvl="0" marL="457200" rtl="0" algn="l">
              <a:spcBef>
                <a:spcPts val="0"/>
              </a:spcBef>
              <a:spcAft>
                <a:spcPts val="0"/>
              </a:spcAft>
              <a:buSzPts val="2400"/>
              <a:buChar char="●"/>
            </a:pPr>
            <a:r>
              <a:rPr b="1" lang="pt-BR" sz="2400"/>
              <a:t>Weights</a:t>
            </a:r>
            <a:r>
              <a:rPr lang="pt-BR" sz="2400"/>
              <a:t>: one per feature: </a:t>
            </a:r>
            <a:r>
              <a:rPr b="1" lang="pt-BR" sz="2400">
                <a:solidFill>
                  <a:srgbClr val="741B47"/>
                </a:solidFill>
              </a:rPr>
              <a:t>W = [w</a:t>
            </a:r>
            <a:r>
              <a:rPr b="1" baseline="-25000" lang="pt-BR" sz="2400">
                <a:solidFill>
                  <a:srgbClr val="741B47"/>
                </a:solidFill>
              </a:rPr>
              <a:t>1</a:t>
            </a:r>
            <a:r>
              <a:rPr b="1" lang="pt-BR" sz="2400">
                <a:solidFill>
                  <a:srgbClr val="741B47"/>
                </a:solidFill>
              </a:rPr>
              <a:t>, w</a:t>
            </a:r>
            <a:r>
              <a:rPr b="1" baseline="-25000" lang="pt-BR" sz="2400">
                <a:solidFill>
                  <a:srgbClr val="741B47"/>
                </a:solidFill>
              </a:rPr>
              <a:t>2</a:t>
            </a:r>
            <a:r>
              <a:rPr b="1" lang="pt-BR" sz="2400">
                <a:solidFill>
                  <a:srgbClr val="741B47"/>
                </a:solidFill>
              </a:rPr>
              <a:t>,…, w</a:t>
            </a:r>
            <a:r>
              <a:rPr b="1" baseline="-25000" lang="pt-BR" sz="2400">
                <a:solidFill>
                  <a:srgbClr val="741B47"/>
                </a:solidFill>
              </a:rPr>
              <a:t>n</a:t>
            </a:r>
            <a:r>
              <a:rPr b="1" lang="pt-BR" sz="2400">
                <a:solidFill>
                  <a:srgbClr val="741B47"/>
                </a:solidFill>
              </a:rPr>
              <a:t>]</a:t>
            </a:r>
            <a:endParaRPr b="1" sz="2400">
              <a:solidFill>
                <a:srgbClr val="741B47"/>
              </a:solidFill>
            </a:endParaRPr>
          </a:p>
          <a:p>
            <a:pPr indent="-342900" lvl="1" marL="914400" rtl="0" algn="l">
              <a:spcBef>
                <a:spcPts val="0"/>
              </a:spcBef>
              <a:spcAft>
                <a:spcPts val="0"/>
              </a:spcAft>
              <a:buSzPts val="1800"/>
              <a:buChar char="○"/>
            </a:pPr>
            <a:r>
              <a:rPr lang="pt-BR" sz="1800"/>
              <a:t>Sometimes we call the weights </a:t>
            </a:r>
            <a:r>
              <a:rPr b="1" lang="pt-BR" sz="1800">
                <a:solidFill>
                  <a:srgbClr val="741B47"/>
                </a:solidFill>
              </a:rPr>
              <a:t>θ = [θ</a:t>
            </a:r>
            <a:r>
              <a:rPr b="1" baseline="-25000" lang="pt-BR" sz="1800">
                <a:solidFill>
                  <a:srgbClr val="741B47"/>
                </a:solidFill>
              </a:rPr>
              <a:t>1</a:t>
            </a:r>
            <a:r>
              <a:rPr b="1" lang="pt-BR" sz="1800">
                <a:solidFill>
                  <a:srgbClr val="741B47"/>
                </a:solidFill>
              </a:rPr>
              <a:t>, θ</a:t>
            </a:r>
            <a:r>
              <a:rPr b="1" baseline="-25000" lang="pt-BR" sz="1800">
                <a:solidFill>
                  <a:srgbClr val="741B47"/>
                </a:solidFill>
              </a:rPr>
              <a:t>2</a:t>
            </a:r>
            <a:r>
              <a:rPr b="1" lang="pt-BR" sz="1800">
                <a:solidFill>
                  <a:srgbClr val="741B47"/>
                </a:solidFill>
              </a:rPr>
              <a:t>,…, θ</a:t>
            </a:r>
            <a:r>
              <a:rPr b="1" baseline="-25000" lang="pt-BR" sz="1800">
                <a:solidFill>
                  <a:srgbClr val="741B47"/>
                </a:solidFill>
              </a:rPr>
              <a:t>n</a:t>
            </a:r>
            <a:r>
              <a:rPr b="1" lang="pt-BR" sz="1800">
                <a:solidFill>
                  <a:srgbClr val="741B47"/>
                </a:solidFill>
              </a:rPr>
              <a:t>]</a:t>
            </a:r>
            <a:endParaRPr b="1" sz="1800">
              <a:solidFill>
                <a:srgbClr val="741B47"/>
              </a:solidFill>
            </a:endParaRPr>
          </a:p>
          <a:p>
            <a:pPr indent="-381000" lvl="0" marL="457200" rtl="0" algn="l">
              <a:spcBef>
                <a:spcPts val="0"/>
              </a:spcBef>
              <a:spcAft>
                <a:spcPts val="0"/>
              </a:spcAft>
              <a:buSzPts val="2400"/>
              <a:buChar char="●"/>
            </a:pPr>
            <a:r>
              <a:rPr b="1" lang="pt-BR" sz="2400"/>
              <a:t>Output</a:t>
            </a:r>
            <a:r>
              <a:rPr lang="pt-BR" sz="2400"/>
              <a:t>:	a predicted class probability </a:t>
            </a:r>
            <a:r>
              <a:rPr b="1" lang="pt-BR" sz="2400">
                <a:solidFill>
                  <a:srgbClr val="741B47"/>
                </a:solidFill>
              </a:rPr>
              <a:t>P(y=1|x, θ)</a:t>
            </a:r>
            <a:endParaRPr b="1" sz="2400">
              <a:solidFill>
                <a:srgbClr val="741B47"/>
              </a:solidFill>
            </a:endParaRPr>
          </a:p>
          <a:p>
            <a:pPr indent="457200" lvl="0" marL="1371600" rtl="0" algn="l">
              <a:spcBef>
                <a:spcPts val="0"/>
              </a:spcBef>
              <a:spcAft>
                <a:spcPts val="0"/>
              </a:spcAft>
              <a:buNone/>
            </a:pPr>
            <a:r>
              <a:rPr lang="pt-BR" sz="2400"/>
              <a:t>and then </a:t>
            </a:r>
            <a:r>
              <a:rPr b="1" lang="pt-BR" sz="2400">
                <a:solidFill>
                  <a:srgbClr val="741B47"/>
                </a:solidFill>
              </a:rPr>
              <a:t>P(y=0 | x, θ) = 1-P(y=1 | x, θ)</a:t>
            </a:r>
            <a:endParaRPr b="1" sz="2400">
              <a:solidFill>
                <a:srgbClr val="741B47"/>
              </a:solidFill>
            </a:endParaRPr>
          </a:p>
          <a:p>
            <a:pPr indent="-381000" lvl="0" marL="457200" rtl="0" algn="l">
              <a:spcBef>
                <a:spcPts val="0"/>
              </a:spcBef>
              <a:spcAft>
                <a:spcPts val="0"/>
              </a:spcAft>
              <a:buSzPts val="2400"/>
              <a:buChar char="●"/>
            </a:pPr>
            <a:r>
              <a:rPr lang="pt-BR" sz="2400"/>
              <a:t>We sometimes introduce the term </a:t>
            </a:r>
            <a:r>
              <a:rPr b="1" lang="pt-BR" sz="2400">
                <a:solidFill>
                  <a:srgbClr val="741B47"/>
                </a:solidFill>
              </a:rPr>
              <a:t>ŷ = P(y=1|x, θ)</a:t>
            </a:r>
            <a:endParaRPr b="1" sz="2400">
              <a:solidFill>
                <a:srgbClr val="741B47"/>
              </a:solidFill>
            </a:endParaRPr>
          </a:p>
          <a:p>
            <a:pPr indent="-381000" lvl="0" marL="457200" rtl="0" algn="l">
              <a:spcBef>
                <a:spcPts val="0"/>
              </a:spcBef>
              <a:spcAft>
                <a:spcPts val="0"/>
              </a:spcAft>
              <a:buSzPts val="2400"/>
              <a:buChar char="●"/>
            </a:pPr>
            <a:r>
              <a:rPr lang="pt-BR" sz="2400"/>
              <a:t>So </a:t>
            </a:r>
            <a:r>
              <a:rPr b="1" lang="pt-BR" sz="2400">
                <a:solidFill>
                  <a:srgbClr val="741B47"/>
                </a:solidFill>
              </a:rPr>
              <a:t>ŷ</a:t>
            </a:r>
            <a:r>
              <a:rPr lang="pt-BR" sz="2400"/>
              <a:t> (pronounced y-hat) means</a:t>
            </a:r>
            <a:endParaRPr sz="2400"/>
          </a:p>
          <a:p>
            <a:pPr indent="-368300" lvl="0" marL="457200" rtl="0" algn="l">
              <a:spcBef>
                <a:spcPts val="0"/>
              </a:spcBef>
              <a:spcAft>
                <a:spcPts val="0"/>
              </a:spcAft>
              <a:buSzPts val="2200"/>
              <a:buChar char="●"/>
            </a:pPr>
            <a:r>
              <a:rPr lang="pt-BR" sz="2200"/>
              <a:t>"our estimated probability that </a:t>
            </a:r>
            <a:r>
              <a:rPr b="1" lang="pt-BR" sz="2200">
                <a:solidFill>
                  <a:srgbClr val="741B47"/>
                </a:solidFill>
              </a:rPr>
              <a:t>x</a:t>
            </a:r>
            <a:r>
              <a:rPr lang="pt-BR" sz="2200"/>
              <a:t> is a positive example"</a:t>
            </a:r>
            <a:endParaRPr sz="2200"/>
          </a:p>
        </p:txBody>
      </p:sp>
      <p:sp>
        <p:nvSpPr>
          <p:cNvPr id="1601" name="Google Shape;1601;h28f86b313e326572_0_545"/>
          <p:cNvSpPr txBox="1"/>
          <p:nvPr/>
        </p:nvSpPr>
        <p:spPr>
          <a:xfrm>
            <a:off x="6210600" y="44597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6" name="Shape 1606"/>
        <p:cNvGrpSpPr/>
        <p:nvPr/>
      </p:nvGrpSpPr>
      <p:grpSpPr>
        <a:xfrm>
          <a:off x="0" y="0"/>
          <a:ext cx="0" cy="0"/>
          <a:chOff x="0" y="0"/>
          <a:chExt cx="0" cy="0"/>
        </a:xfrm>
      </p:grpSpPr>
      <p:sp>
        <p:nvSpPr>
          <p:cNvPr id="1607" name="Google Shape;1607;h28f86b313e326572_0_434"/>
          <p:cNvSpPr txBox="1"/>
          <p:nvPr>
            <p:ph idx="1" type="body"/>
          </p:nvPr>
        </p:nvSpPr>
        <p:spPr>
          <a:xfrm>
            <a:off x="311700" y="1152475"/>
            <a:ext cx="8520600" cy="366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000"/>
              <a:t>For each feature x</a:t>
            </a:r>
            <a:r>
              <a:rPr baseline="-25000" lang="pt-BR" sz="2000"/>
              <a:t>i</a:t>
            </a:r>
            <a:r>
              <a:rPr lang="pt-BR" sz="2000"/>
              <a:t>, weight w</a:t>
            </a:r>
            <a:r>
              <a:rPr baseline="-25000" lang="pt-BR" sz="2000"/>
              <a:t>i</a:t>
            </a:r>
            <a:r>
              <a:rPr lang="pt-BR" sz="2000"/>
              <a:t> tells us importance of x</a:t>
            </a:r>
            <a:r>
              <a:rPr baseline="-25000" lang="pt-BR" sz="2000"/>
              <a:t>i</a:t>
            </a:r>
            <a:endParaRPr baseline="-25000" sz="2000"/>
          </a:p>
          <a:p>
            <a:pPr indent="-355600" lvl="0" marL="457200" rtl="0" algn="l">
              <a:spcBef>
                <a:spcPts val="0"/>
              </a:spcBef>
              <a:spcAft>
                <a:spcPts val="0"/>
              </a:spcAft>
              <a:buSzPts val="2000"/>
              <a:buChar char="●"/>
            </a:pPr>
            <a:r>
              <a:rPr lang="pt-BR" sz="2000"/>
              <a:t>(Plus we'll have a bias b)</a:t>
            </a:r>
            <a:endParaRPr sz="2000"/>
          </a:p>
          <a:p>
            <a:pPr indent="0" lvl="0" marL="0" rtl="0" algn="l">
              <a:spcBef>
                <a:spcPts val="0"/>
              </a:spcBef>
              <a:spcAft>
                <a:spcPts val="0"/>
              </a:spcAft>
              <a:buNone/>
            </a:pPr>
            <a:r>
              <a:rPr lang="pt-BR" sz="2000"/>
              <a:t>We'll sum up all the weighted features and the bias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pt-BR" sz="2000"/>
              <a:t>If this sum is high, we say y=1; if low, then y=0</a:t>
            </a:r>
            <a:endParaRPr sz="2000"/>
          </a:p>
        </p:txBody>
      </p:sp>
      <p:sp>
        <p:nvSpPr>
          <p:cNvPr id="1608" name="Google Shape;1608;h28f86b313e326572_0_434"/>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How to do classification</a:t>
            </a:r>
            <a:endParaRPr/>
          </a:p>
        </p:txBody>
      </p:sp>
      <p:sp>
        <p:nvSpPr>
          <p:cNvPr id="1609" name="Google Shape;1609;h28f86b313e326572_0_434"/>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pic>
        <p:nvPicPr>
          <p:cNvPr id="1610" name="Google Shape;1610;h28f86b313e326572_0_434"/>
          <p:cNvPicPr preferRelativeResize="0"/>
          <p:nvPr/>
        </p:nvPicPr>
        <p:blipFill>
          <a:blip r:embed="rId3">
            <a:alphaModFix/>
          </a:blip>
          <a:stretch>
            <a:fillRect/>
          </a:stretch>
        </p:blipFill>
        <p:spPr>
          <a:xfrm>
            <a:off x="2638533" y="2403888"/>
            <a:ext cx="3866925" cy="194300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5" name="Shape 1615"/>
        <p:cNvGrpSpPr/>
        <p:nvPr/>
      </p:nvGrpSpPr>
      <p:grpSpPr>
        <a:xfrm>
          <a:off x="0" y="0"/>
          <a:ext cx="0" cy="0"/>
          <a:chOff x="0" y="0"/>
          <a:chExt cx="0" cy="0"/>
        </a:xfrm>
      </p:grpSpPr>
      <p:sp>
        <p:nvSpPr>
          <p:cNvPr id="1616" name="Google Shape;1616;h28f86b313e326572_0_442"/>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But we want a probabilistic classifier</a:t>
            </a:r>
            <a:endParaRPr/>
          </a:p>
        </p:txBody>
      </p:sp>
      <p:sp>
        <p:nvSpPr>
          <p:cNvPr id="1617" name="Google Shape;1617;h28f86b313e326572_0_442"/>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0" lvl="0" marL="0" rtl="0" algn="l">
              <a:spcBef>
                <a:spcPts val="0"/>
              </a:spcBef>
              <a:spcAft>
                <a:spcPts val="0"/>
              </a:spcAft>
              <a:buSzPts val="3200"/>
              <a:buNone/>
            </a:pPr>
            <a:r>
              <a:rPr lang="pt-BR"/>
              <a:t>We need to formalize “sum is high”.</a:t>
            </a:r>
            <a:endParaRPr/>
          </a:p>
          <a:p>
            <a:pPr indent="0" lvl="0" marL="0" rtl="0" algn="l">
              <a:spcBef>
                <a:spcPts val="0"/>
              </a:spcBef>
              <a:spcAft>
                <a:spcPts val="0"/>
              </a:spcAft>
              <a:buSzPts val="3200"/>
              <a:buNone/>
            </a:pPr>
            <a:r>
              <a:rPr lang="pt-BR"/>
              <a:t>We’d like a principled classifier that gives us a probability and can tell us</a:t>
            </a:r>
            <a:endParaRPr/>
          </a:p>
          <a:p>
            <a:pPr indent="-419100" lvl="0" marL="457200" rtl="0" algn="l">
              <a:spcBef>
                <a:spcPts val="0"/>
              </a:spcBef>
              <a:spcAft>
                <a:spcPts val="0"/>
              </a:spcAft>
              <a:buSzPts val="3000"/>
              <a:buChar char="●"/>
            </a:pPr>
            <a:r>
              <a:rPr lang="pt-BR"/>
              <a:t>p(y=1|x; θ)</a:t>
            </a:r>
            <a:endParaRPr/>
          </a:p>
          <a:p>
            <a:pPr indent="-419100" lvl="0" marL="457200" rtl="0" algn="l">
              <a:spcBef>
                <a:spcPts val="0"/>
              </a:spcBef>
              <a:spcAft>
                <a:spcPts val="0"/>
              </a:spcAft>
              <a:buSzPts val="3000"/>
              <a:buChar char="●"/>
            </a:pPr>
            <a:r>
              <a:rPr lang="pt-BR"/>
              <a:t>p(y=0|x; θ)</a:t>
            </a:r>
            <a:endParaRPr/>
          </a:p>
        </p:txBody>
      </p:sp>
      <p:sp>
        <p:nvSpPr>
          <p:cNvPr id="1618" name="Google Shape;1618;h28f86b313e326572_0_442"/>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3" name="Shape 1623"/>
        <p:cNvGrpSpPr/>
        <p:nvPr/>
      </p:nvGrpSpPr>
      <p:grpSpPr>
        <a:xfrm>
          <a:off x="0" y="0"/>
          <a:ext cx="0" cy="0"/>
          <a:chOff x="0" y="0"/>
          <a:chExt cx="0" cy="0"/>
        </a:xfrm>
      </p:grpSpPr>
      <p:sp>
        <p:nvSpPr>
          <p:cNvPr id="1624" name="Google Shape;1624;h28f86b313e326572_0_449"/>
          <p:cNvSpPr txBox="1"/>
          <p:nvPr>
            <p:ph type="title"/>
          </p:nvPr>
        </p:nvSpPr>
        <p:spPr>
          <a:xfrm>
            <a:off x="598966" y="285750"/>
            <a:ext cx="8544900" cy="7431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The problem:  z isn't a probability, it's just a number!</a:t>
            </a:r>
            <a:endParaRPr/>
          </a:p>
        </p:txBody>
      </p:sp>
      <p:sp>
        <p:nvSpPr>
          <p:cNvPr id="1625" name="Google Shape;1625;h28f86b313e326572_0_449"/>
          <p:cNvSpPr txBox="1"/>
          <p:nvPr>
            <p:ph idx="1" type="body"/>
          </p:nvPr>
        </p:nvSpPr>
        <p:spPr>
          <a:xfrm>
            <a:off x="381000" y="2190750"/>
            <a:ext cx="8305800" cy="30174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sz="2800"/>
              <a:t>Solution: use a function of z that goes from 0 to 1</a:t>
            </a:r>
            <a:endParaRPr/>
          </a:p>
        </p:txBody>
      </p:sp>
      <p:pic>
        <p:nvPicPr>
          <p:cNvPr id="1626" name="Google Shape;1626;h28f86b313e326572_0_449"/>
          <p:cNvPicPr preferRelativeResize="0"/>
          <p:nvPr/>
        </p:nvPicPr>
        <p:blipFill rotWithShape="1">
          <a:blip r:embed="rId3">
            <a:alphaModFix/>
          </a:blip>
          <a:srcRect b="0" l="0" r="0" t="0"/>
          <a:stretch/>
        </p:blipFill>
        <p:spPr>
          <a:xfrm>
            <a:off x="2590800" y="1047750"/>
            <a:ext cx="4951166" cy="773620"/>
          </a:xfrm>
          <a:prstGeom prst="rect">
            <a:avLst/>
          </a:prstGeom>
          <a:noFill/>
          <a:ln>
            <a:noFill/>
          </a:ln>
        </p:spPr>
      </p:pic>
      <p:pic>
        <p:nvPicPr>
          <p:cNvPr id="1627" name="Google Shape;1627;h28f86b313e326572_0_449"/>
          <p:cNvPicPr preferRelativeResize="0"/>
          <p:nvPr/>
        </p:nvPicPr>
        <p:blipFill rotWithShape="1">
          <a:blip r:embed="rId4">
            <a:alphaModFix/>
          </a:blip>
          <a:srcRect b="0" l="0" r="0" t="0"/>
          <a:stretch/>
        </p:blipFill>
        <p:spPr>
          <a:xfrm>
            <a:off x="1676399" y="2983420"/>
            <a:ext cx="6367133" cy="1188530"/>
          </a:xfrm>
          <a:prstGeom prst="rect">
            <a:avLst/>
          </a:prstGeom>
          <a:noFill/>
          <a:ln>
            <a:noFill/>
          </a:ln>
        </p:spPr>
      </p:pic>
      <p:sp>
        <p:nvSpPr>
          <p:cNvPr id="1628" name="Google Shape;1628;h28f86b313e326572_0_449"/>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3" name="Shape 1633"/>
        <p:cNvGrpSpPr/>
        <p:nvPr/>
      </p:nvGrpSpPr>
      <p:grpSpPr>
        <a:xfrm>
          <a:off x="0" y="0"/>
          <a:ext cx="0" cy="0"/>
          <a:chOff x="0" y="0"/>
          <a:chExt cx="0" cy="0"/>
        </a:xfrm>
      </p:grpSpPr>
      <p:sp>
        <p:nvSpPr>
          <p:cNvPr id="1634" name="Google Shape;1634;h28f86b313e326572_0_458"/>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The very useful sigmoid or logistic function</a:t>
            </a:r>
            <a:endParaRPr/>
          </a:p>
        </p:txBody>
      </p:sp>
      <p:sp>
        <p:nvSpPr>
          <p:cNvPr id="1635" name="Google Shape;1635;h28f86b313e326572_0_458"/>
          <p:cNvSpPr txBox="1"/>
          <p:nvPr>
            <p:ph idx="4294967295" type="sldNum"/>
          </p:nvPr>
        </p:nvSpPr>
        <p:spPr>
          <a:xfrm>
            <a:off x="7425345" y="4844840"/>
            <a:ext cx="9840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1636" name="Google Shape;1636;h28f86b313e326572_0_458"/>
          <p:cNvPicPr preferRelativeResize="0"/>
          <p:nvPr/>
        </p:nvPicPr>
        <p:blipFill rotWithShape="1">
          <a:blip r:embed="rId3">
            <a:alphaModFix/>
          </a:blip>
          <a:srcRect b="0" l="0" r="0" t="0"/>
          <a:stretch/>
        </p:blipFill>
        <p:spPr>
          <a:xfrm>
            <a:off x="685800" y="1244038"/>
            <a:ext cx="7970497" cy="3816857"/>
          </a:xfrm>
          <a:prstGeom prst="rect">
            <a:avLst/>
          </a:prstGeom>
          <a:noFill/>
          <a:ln>
            <a:noFill/>
          </a:ln>
        </p:spPr>
      </p:pic>
      <p:sp>
        <p:nvSpPr>
          <p:cNvPr id="1637" name="Google Shape;1637;h28f86b313e326572_0_458"/>
          <p:cNvSpPr/>
          <p:nvPr/>
        </p:nvSpPr>
        <p:spPr>
          <a:xfrm>
            <a:off x="1447800" y="2423371"/>
            <a:ext cx="2514600" cy="453300"/>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pic>
        <p:nvPicPr>
          <p:cNvPr id="1638" name="Google Shape;1638;h28f86b313e326572_0_458"/>
          <p:cNvPicPr preferRelativeResize="0"/>
          <p:nvPr/>
        </p:nvPicPr>
        <p:blipFill rotWithShape="1">
          <a:blip r:embed="rId4">
            <a:alphaModFix/>
          </a:blip>
          <a:srcRect b="0" l="0" r="0" t="0"/>
          <a:stretch/>
        </p:blipFill>
        <p:spPr>
          <a:xfrm>
            <a:off x="1143000" y="2038350"/>
            <a:ext cx="3959945" cy="1519979"/>
          </a:xfrm>
          <a:prstGeom prst="rect">
            <a:avLst/>
          </a:prstGeom>
          <a:noFill/>
          <a:ln>
            <a:noFill/>
          </a:ln>
        </p:spPr>
      </p:pic>
      <p:sp>
        <p:nvSpPr>
          <p:cNvPr id="1639" name="Google Shape;1639;h28f86b313e326572_0_458"/>
          <p:cNvSpPr txBox="1"/>
          <p:nvPr/>
        </p:nvSpPr>
        <p:spPr>
          <a:xfrm>
            <a:off x="6425150" y="6548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43" name="Shape 1643"/>
        <p:cNvGrpSpPr/>
        <p:nvPr/>
      </p:nvGrpSpPr>
      <p:grpSpPr>
        <a:xfrm>
          <a:off x="0" y="0"/>
          <a:ext cx="0" cy="0"/>
          <a:chOff x="0" y="0"/>
          <a:chExt cx="0" cy="0"/>
        </a:xfrm>
      </p:grpSpPr>
      <p:sp>
        <p:nvSpPr>
          <p:cNvPr id="1644" name="Google Shape;1644;h28f86b313e326572_0_468"/>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Idea of logistic regression</a:t>
            </a:r>
            <a:endParaRPr/>
          </a:p>
        </p:txBody>
      </p:sp>
      <p:sp>
        <p:nvSpPr>
          <p:cNvPr id="1645" name="Google Shape;1645;h28f86b313e326572_0_468"/>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0" lvl="0" marL="0" rtl="0" algn="l">
              <a:spcBef>
                <a:spcPts val="0"/>
              </a:spcBef>
              <a:spcAft>
                <a:spcPts val="0"/>
              </a:spcAft>
              <a:buSzPts val="3600"/>
              <a:buNone/>
            </a:pPr>
            <a:r>
              <a:rPr lang="pt-BR"/>
              <a:t>We’ll compute w∙x+b</a:t>
            </a:r>
            <a:endParaRPr/>
          </a:p>
          <a:p>
            <a:pPr indent="0" lvl="0" marL="0" rtl="0" algn="l">
              <a:spcBef>
                <a:spcPts val="0"/>
              </a:spcBef>
              <a:spcAft>
                <a:spcPts val="0"/>
              </a:spcAft>
              <a:buSzPts val="3600"/>
              <a:buNone/>
            </a:pPr>
            <a:r>
              <a:rPr lang="pt-BR"/>
              <a:t>And then we’ll pass it through the sigmoid function:</a:t>
            </a:r>
            <a:endParaRPr/>
          </a:p>
          <a:p>
            <a:pPr indent="0" lvl="0" marL="0" rtl="0" algn="l">
              <a:spcBef>
                <a:spcPts val="0"/>
              </a:spcBef>
              <a:spcAft>
                <a:spcPts val="0"/>
              </a:spcAft>
              <a:buSzPts val="3600"/>
              <a:buNone/>
            </a:pPr>
            <a:r>
              <a:rPr lang="pt-BR"/>
              <a:t>	              σ(w∙x+b)</a:t>
            </a:r>
            <a:endParaRPr/>
          </a:p>
          <a:p>
            <a:pPr indent="0" lvl="0" marL="0" rtl="0" algn="l">
              <a:spcBef>
                <a:spcPts val="0"/>
              </a:spcBef>
              <a:spcAft>
                <a:spcPts val="0"/>
              </a:spcAft>
              <a:buSzPts val="3600"/>
              <a:buNone/>
            </a:pPr>
            <a:r>
              <a:rPr lang="pt-BR"/>
              <a:t>And we'll just treat it as a probability</a:t>
            </a:r>
            <a:endParaRPr/>
          </a:p>
        </p:txBody>
      </p:sp>
      <p:sp>
        <p:nvSpPr>
          <p:cNvPr id="1646" name="Google Shape;1646;h28f86b313e326572_0_468"/>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1" name="Shape 1651"/>
        <p:cNvGrpSpPr/>
        <p:nvPr/>
      </p:nvGrpSpPr>
      <p:grpSpPr>
        <a:xfrm>
          <a:off x="0" y="0"/>
          <a:ext cx="0" cy="0"/>
          <a:chOff x="0" y="0"/>
          <a:chExt cx="0" cy="0"/>
        </a:xfrm>
      </p:grpSpPr>
      <p:sp>
        <p:nvSpPr>
          <p:cNvPr id="1652" name="Google Shape;1652;h28f86b313e326572_0_474"/>
          <p:cNvSpPr txBox="1"/>
          <p:nvPr>
            <p:ph type="title"/>
          </p:nvPr>
        </p:nvSpPr>
        <p:spPr>
          <a:xfrm>
            <a:off x="822960" y="214954"/>
            <a:ext cx="7543800" cy="369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Making probabilities with sigmoids</a:t>
            </a:r>
            <a:endParaRPr/>
          </a:p>
        </p:txBody>
      </p:sp>
      <p:pic>
        <p:nvPicPr>
          <p:cNvPr id="1653" name="Google Shape;1653;h28f86b313e326572_0_474"/>
          <p:cNvPicPr preferRelativeResize="0"/>
          <p:nvPr/>
        </p:nvPicPr>
        <p:blipFill rotWithShape="1">
          <a:blip r:embed="rId3">
            <a:alphaModFix/>
          </a:blip>
          <a:srcRect b="0" l="0" r="0" t="0"/>
          <a:stretch/>
        </p:blipFill>
        <p:spPr>
          <a:xfrm>
            <a:off x="914400" y="816012"/>
            <a:ext cx="5816749" cy="1472139"/>
          </a:xfrm>
          <a:prstGeom prst="rect">
            <a:avLst/>
          </a:prstGeom>
          <a:noFill/>
          <a:ln>
            <a:noFill/>
          </a:ln>
        </p:spPr>
      </p:pic>
      <p:pic>
        <p:nvPicPr>
          <p:cNvPr id="1654" name="Google Shape;1654;h28f86b313e326572_0_474"/>
          <p:cNvPicPr preferRelativeResize="0"/>
          <p:nvPr/>
        </p:nvPicPr>
        <p:blipFill rotWithShape="1">
          <a:blip r:embed="rId4">
            <a:alphaModFix/>
          </a:blip>
          <a:srcRect b="0" l="0" r="0" t="0"/>
          <a:stretch/>
        </p:blipFill>
        <p:spPr>
          <a:xfrm>
            <a:off x="879512" y="2571751"/>
            <a:ext cx="5949955" cy="2497510"/>
          </a:xfrm>
          <a:prstGeom prst="rect">
            <a:avLst/>
          </a:prstGeom>
          <a:noFill/>
          <a:ln>
            <a:noFill/>
          </a:ln>
        </p:spPr>
      </p:pic>
      <p:sp>
        <p:nvSpPr>
          <p:cNvPr id="1655" name="Google Shape;1655;h28f86b313e326572_0_474"/>
          <p:cNvSpPr txBox="1"/>
          <p:nvPr/>
        </p:nvSpPr>
        <p:spPr>
          <a:xfrm>
            <a:off x="6342750" y="44683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0" name="Shape 1660"/>
        <p:cNvGrpSpPr/>
        <p:nvPr/>
      </p:nvGrpSpPr>
      <p:grpSpPr>
        <a:xfrm>
          <a:off x="0" y="0"/>
          <a:ext cx="0" cy="0"/>
          <a:chOff x="0" y="0"/>
          <a:chExt cx="0" cy="0"/>
        </a:xfrm>
      </p:grpSpPr>
      <p:sp>
        <p:nvSpPr>
          <p:cNvPr id="1661" name="Google Shape;1661;h28f86b313e326572_0_482"/>
          <p:cNvSpPr txBox="1"/>
          <p:nvPr>
            <p:ph type="title"/>
          </p:nvPr>
        </p:nvSpPr>
        <p:spPr>
          <a:xfrm>
            <a:off x="822960" y="214954"/>
            <a:ext cx="7543800" cy="369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By the way:</a:t>
            </a:r>
            <a:endParaRPr/>
          </a:p>
        </p:txBody>
      </p:sp>
      <p:pic>
        <p:nvPicPr>
          <p:cNvPr id="1662" name="Google Shape;1662;h28f86b313e326572_0_482"/>
          <p:cNvPicPr preferRelativeResize="0"/>
          <p:nvPr>
            <p:ph idx="1" type="body"/>
          </p:nvPr>
        </p:nvPicPr>
        <p:blipFill rotWithShape="1">
          <a:blip r:embed="rId3">
            <a:alphaModFix/>
          </a:blip>
          <a:srcRect b="0" l="0" r="0" t="0"/>
          <a:stretch/>
        </p:blipFill>
        <p:spPr>
          <a:xfrm>
            <a:off x="5791200" y="1347787"/>
            <a:ext cx="2057400" cy="385800"/>
          </a:xfrm>
          <a:prstGeom prst="rect">
            <a:avLst/>
          </a:prstGeom>
          <a:noFill/>
          <a:ln>
            <a:noFill/>
          </a:ln>
        </p:spPr>
      </p:pic>
      <p:pic>
        <p:nvPicPr>
          <p:cNvPr id="1663" name="Google Shape;1663;h28f86b313e326572_0_482"/>
          <p:cNvPicPr preferRelativeResize="0"/>
          <p:nvPr/>
        </p:nvPicPr>
        <p:blipFill rotWithShape="1">
          <a:blip r:embed="rId4">
            <a:alphaModFix/>
          </a:blip>
          <a:srcRect b="0" l="0" r="0" t="0"/>
          <a:stretch/>
        </p:blipFill>
        <p:spPr>
          <a:xfrm>
            <a:off x="381000" y="1352550"/>
            <a:ext cx="4901455" cy="2057400"/>
          </a:xfrm>
          <a:prstGeom prst="rect">
            <a:avLst/>
          </a:prstGeom>
          <a:noFill/>
          <a:ln>
            <a:noFill/>
          </a:ln>
        </p:spPr>
      </p:pic>
      <p:sp>
        <p:nvSpPr>
          <p:cNvPr id="1664" name="Google Shape;1664;h28f86b313e326572_0_482"/>
          <p:cNvSpPr txBox="1"/>
          <p:nvPr/>
        </p:nvSpPr>
        <p:spPr>
          <a:xfrm>
            <a:off x="5336370" y="1276350"/>
            <a:ext cx="378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a:t>
            </a:r>
            <a:endParaRPr/>
          </a:p>
        </p:txBody>
      </p:sp>
      <p:sp>
        <p:nvSpPr>
          <p:cNvPr id="1665" name="Google Shape;1665;h28f86b313e326572_0_482"/>
          <p:cNvSpPr txBox="1"/>
          <p:nvPr/>
        </p:nvSpPr>
        <p:spPr>
          <a:xfrm>
            <a:off x="5734878" y="2117035"/>
            <a:ext cx="13965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Because</a:t>
            </a:r>
            <a:endParaRPr/>
          </a:p>
          <a:p>
            <a:pPr indent="0" lvl="0" marL="0" marR="0" rtl="0" algn="l">
              <a:spcBef>
                <a:spcPts val="0"/>
              </a:spcBef>
              <a:spcAft>
                <a:spcPts val="0"/>
              </a:spcAft>
              <a:buNone/>
            </a:pPr>
            <a:r>
              <a:t/>
            </a:r>
            <a:endParaRPr sz="2400">
              <a:solidFill>
                <a:schemeClr val="dk1"/>
              </a:solidFill>
              <a:latin typeface="Lucida Sans"/>
              <a:ea typeface="Lucida Sans"/>
              <a:cs typeface="Lucida Sans"/>
              <a:sym typeface="Lucida Sans"/>
            </a:endParaRPr>
          </a:p>
        </p:txBody>
      </p:sp>
      <p:pic>
        <p:nvPicPr>
          <p:cNvPr id="1666" name="Google Shape;1666;h28f86b313e326572_0_482"/>
          <p:cNvPicPr preferRelativeResize="0"/>
          <p:nvPr/>
        </p:nvPicPr>
        <p:blipFill rotWithShape="1">
          <a:blip r:embed="rId5">
            <a:alphaModFix/>
          </a:blip>
          <a:srcRect b="0" l="0" r="0" t="0"/>
          <a:stretch/>
        </p:blipFill>
        <p:spPr>
          <a:xfrm>
            <a:off x="6223464" y="2602327"/>
            <a:ext cx="2286001" cy="439615"/>
          </a:xfrm>
          <a:prstGeom prst="rect">
            <a:avLst/>
          </a:prstGeom>
          <a:noFill/>
          <a:ln>
            <a:noFill/>
          </a:ln>
        </p:spPr>
      </p:pic>
      <p:sp>
        <p:nvSpPr>
          <p:cNvPr id="1667" name="Google Shape;1667;h28f86b313e326572_0_482"/>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1" name="Shape 1671"/>
        <p:cNvGrpSpPr/>
        <p:nvPr/>
      </p:nvGrpSpPr>
      <p:grpSpPr>
        <a:xfrm>
          <a:off x="0" y="0"/>
          <a:ext cx="0" cy="0"/>
          <a:chOff x="0" y="0"/>
          <a:chExt cx="0" cy="0"/>
        </a:xfrm>
      </p:grpSpPr>
      <p:sp>
        <p:nvSpPr>
          <p:cNvPr id="1672" name="Google Shape;1672;h28f86b313e326572_0_493"/>
          <p:cNvSpPr txBox="1"/>
          <p:nvPr>
            <p:ph type="title"/>
          </p:nvPr>
        </p:nvSpPr>
        <p:spPr>
          <a:xfrm>
            <a:off x="800100" y="438150"/>
            <a:ext cx="7543800" cy="68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Turning a probability into a classifier</a:t>
            </a:r>
            <a:endParaRPr/>
          </a:p>
        </p:txBody>
      </p:sp>
      <p:sp>
        <p:nvSpPr>
          <p:cNvPr id="1673" name="Google Shape;1673;h28f86b313e326572_0_493"/>
          <p:cNvSpPr txBox="1"/>
          <p:nvPr/>
        </p:nvSpPr>
        <p:spPr>
          <a:xfrm>
            <a:off x="1302515" y="3486150"/>
            <a:ext cx="6539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latin typeface="Lucida Sans"/>
                <a:ea typeface="Lucida Sans"/>
                <a:cs typeface="Lucida Sans"/>
                <a:sym typeface="Lucida Sans"/>
              </a:rPr>
              <a:t>0.5 here is called the </a:t>
            </a:r>
            <a:r>
              <a:rPr b="1" lang="pt-BR" sz="2400">
                <a:solidFill>
                  <a:schemeClr val="dk1"/>
                </a:solidFill>
                <a:latin typeface="Lucida Sans"/>
                <a:ea typeface="Lucida Sans"/>
                <a:cs typeface="Lucida Sans"/>
                <a:sym typeface="Lucida Sans"/>
              </a:rPr>
              <a:t>decision boundary</a:t>
            </a:r>
            <a:r>
              <a:rPr lang="pt-BR" sz="2400">
                <a:solidFill>
                  <a:schemeClr val="dk1"/>
                </a:solidFill>
                <a:latin typeface="Lucida Sans"/>
                <a:ea typeface="Lucida Sans"/>
                <a:cs typeface="Lucida Sans"/>
                <a:sym typeface="Lucida Sans"/>
              </a:rPr>
              <a:t> </a:t>
            </a:r>
            <a:endParaRPr/>
          </a:p>
        </p:txBody>
      </p:sp>
      <p:pic>
        <p:nvPicPr>
          <p:cNvPr id="1674" name="Google Shape;1674;h28f86b313e326572_0_493"/>
          <p:cNvPicPr preferRelativeResize="0"/>
          <p:nvPr/>
        </p:nvPicPr>
        <p:blipFill>
          <a:blip r:embed="rId3">
            <a:alphaModFix/>
          </a:blip>
          <a:stretch>
            <a:fillRect/>
          </a:stretch>
        </p:blipFill>
        <p:spPr>
          <a:xfrm>
            <a:off x="975575" y="1804200"/>
            <a:ext cx="7193000" cy="1181675"/>
          </a:xfrm>
          <a:prstGeom prst="rect">
            <a:avLst/>
          </a:prstGeom>
          <a:noFill/>
          <a:ln>
            <a:noFill/>
          </a:ln>
        </p:spPr>
      </p:pic>
      <p:sp>
        <p:nvSpPr>
          <p:cNvPr id="1675" name="Google Shape;1675;h28f86b313e326572_0_493"/>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9" name="Shape 1679"/>
        <p:cNvGrpSpPr/>
        <p:nvPr/>
      </p:nvGrpSpPr>
      <p:grpSpPr>
        <a:xfrm>
          <a:off x="0" y="0"/>
          <a:ext cx="0" cy="0"/>
          <a:chOff x="0" y="0"/>
          <a:chExt cx="0" cy="0"/>
        </a:xfrm>
      </p:grpSpPr>
      <p:sp>
        <p:nvSpPr>
          <p:cNvPr id="1680" name="Google Shape;1680;h28f86b313e326572_0_500"/>
          <p:cNvSpPr txBox="1"/>
          <p:nvPr>
            <p:ph type="title"/>
          </p:nvPr>
        </p:nvSpPr>
        <p:spPr>
          <a:xfrm>
            <a:off x="598967" y="-87735"/>
            <a:ext cx="7467600" cy="743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The probabilistic classifier</a:t>
            </a:r>
            <a:endParaRPr/>
          </a:p>
        </p:txBody>
      </p:sp>
      <p:grpSp>
        <p:nvGrpSpPr>
          <p:cNvPr id="1681" name="Google Shape;1681;h28f86b313e326572_0_500"/>
          <p:cNvGrpSpPr/>
          <p:nvPr/>
        </p:nvGrpSpPr>
        <p:grpSpPr>
          <a:xfrm>
            <a:off x="625010" y="957316"/>
            <a:ext cx="7970497" cy="3816857"/>
            <a:chOff x="685800" y="1244038"/>
            <a:chExt cx="7970497" cy="3816857"/>
          </a:xfrm>
        </p:grpSpPr>
        <p:pic>
          <p:nvPicPr>
            <p:cNvPr id="1682" name="Google Shape;1682;h28f86b313e326572_0_500"/>
            <p:cNvPicPr preferRelativeResize="0"/>
            <p:nvPr/>
          </p:nvPicPr>
          <p:blipFill rotWithShape="1">
            <a:blip r:embed="rId3">
              <a:alphaModFix/>
            </a:blip>
            <a:srcRect b="0" l="0" r="0" t="0"/>
            <a:stretch/>
          </p:blipFill>
          <p:spPr>
            <a:xfrm>
              <a:off x="685800" y="1244038"/>
              <a:ext cx="7970497" cy="3816857"/>
            </a:xfrm>
            <a:prstGeom prst="rect">
              <a:avLst/>
            </a:prstGeom>
            <a:noFill/>
            <a:ln>
              <a:noFill/>
            </a:ln>
          </p:spPr>
        </p:pic>
        <p:sp>
          <p:nvSpPr>
            <p:cNvPr id="1683" name="Google Shape;1683;h28f86b313e326572_0_500"/>
            <p:cNvSpPr/>
            <p:nvPr/>
          </p:nvSpPr>
          <p:spPr>
            <a:xfrm>
              <a:off x="1412111" y="2375503"/>
              <a:ext cx="2514600" cy="585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grpSp>
      <p:sp>
        <p:nvSpPr>
          <p:cNvPr id="1684" name="Google Shape;1684;h28f86b313e326572_0_500"/>
          <p:cNvSpPr/>
          <p:nvPr/>
        </p:nvSpPr>
        <p:spPr>
          <a:xfrm>
            <a:off x="397108" y="2758967"/>
            <a:ext cx="8307054" cy="213557"/>
          </a:xfrm>
          <a:custGeom>
            <a:rect b="b" l="l" r="r" t="t"/>
            <a:pathLst>
              <a:path extrusionOk="0" h="213557" w="8307054">
                <a:moveTo>
                  <a:pt x="112178" y="201057"/>
                </a:moveTo>
                <a:cubicBezTo>
                  <a:pt x="-170438" y="218419"/>
                  <a:pt x="170051" y="212632"/>
                  <a:pt x="170051" y="212632"/>
                </a:cubicBezTo>
                <a:lnTo>
                  <a:pt x="3850801" y="62161"/>
                </a:lnTo>
                <a:cubicBezTo>
                  <a:pt x="4950396" y="27437"/>
                  <a:pt x="6024912" y="13933"/>
                  <a:pt x="6767621" y="4287"/>
                </a:cubicBezTo>
                <a:cubicBezTo>
                  <a:pt x="7510330" y="-5359"/>
                  <a:pt x="8307054" y="4287"/>
                  <a:pt x="8307054" y="4287"/>
                </a:cubicBezTo>
                <a:lnTo>
                  <a:pt x="8307054" y="4287"/>
                </a:lnTo>
                <a:lnTo>
                  <a:pt x="8307054" y="4287"/>
                </a:lnTo>
              </a:path>
            </a:pathLst>
          </a:cu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Lucida Sans"/>
              <a:buNone/>
            </a:pPr>
            <a:r>
              <a:t/>
            </a:r>
            <a:endParaRPr b="0" i="0" sz="2400" u="none" cap="none" strike="noStrike">
              <a:solidFill>
                <a:schemeClr val="dk1"/>
              </a:solidFill>
              <a:latin typeface="Lucida Sans"/>
              <a:ea typeface="Lucida Sans"/>
              <a:cs typeface="Lucida Sans"/>
              <a:sym typeface="Lucida Sans"/>
            </a:endParaRPr>
          </a:p>
        </p:txBody>
      </p:sp>
      <p:sp>
        <p:nvSpPr>
          <p:cNvPr id="1685" name="Google Shape;1685;h28f86b313e326572_0_500"/>
          <p:cNvSpPr/>
          <p:nvPr/>
        </p:nvSpPr>
        <p:spPr>
          <a:xfrm>
            <a:off x="4375230" y="2612783"/>
            <a:ext cx="474724" cy="486137"/>
          </a:xfrm>
          <a:custGeom>
            <a:rect b="b" l="l" r="r" t="t"/>
            <a:pathLst>
              <a:path extrusionOk="0" h="486137" w="474724">
                <a:moveTo>
                  <a:pt x="162046" y="0"/>
                </a:moveTo>
                <a:cubicBezTo>
                  <a:pt x="123464" y="0"/>
                  <a:pt x="104433" y="25816"/>
                  <a:pt x="81023" y="46299"/>
                </a:cubicBezTo>
                <a:cubicBezTo>
                  <a:pt x="71841" y="54333"/>
                  <a:pt x="74904" y="70110"/>
                  <a:pt x="69448" y="81023"/>
                </a:cubicBezTo>
                <a:cubicBezTo>
                  <a:pt x="63227" y="93465"/>
                  <a:pt x="51949" y="103035"/>
                  <a:pt x="46299" y="115747"/>
                </a:cubicBezTo>
                <a:cubicBezTo>
                  <a:pt x="36389" y="138045"/>
                  <a:pt x="30866" y="162046"/>
                  <a:pt x="23150" y="185195"/>
                </a:cubicBezTo>
                <a:cubicBezTo>
                  <a:pt x="5353" y="238587"/>
                  <a:pt x="13969" y="207949"/>
                  <a:pt x="0" y="277793"/>
                </a:cubicBezTo>
                <a:cubicBezTo>
                  <a:pt x="3488" y="312668"/>
                  <a:pt x="-6535" y="395257"/>
                  <a:pt x="34724" y="428264"/>
                </a:cubicBezTo>
                <a:cubicBezTo>
                  <a:pt x="44251" y="435886"/>
                  <a:pt x="57873" y="435980"/>
                  <a:pt x="69448" y="439838"/>
                </a:cubicBezTo>
                <a:cubicBezTo>
                  <a:pt x="81023" y="447555"/>
                  <a:pt x="91730" y="456767"/>
                  <a:pt x="104173" y="462988"/>
                </a:cubicBezTo>
                <a:cubicBezTo>
                  <a:pt x="120773" y="471288"/>
                  <a:pt x="170367" y="482430"/>
                  <a:pt x="185195" y="486137"/>
                </a:cubicBezTo>
                <a:cubicBezTo>
                  <a:pt x="231494" y="482279"/>
                  <a:pt x="278040" y="480702"/>
                  <a:pt x="324092" y="474562"/>
                </a:cubicBezTo>
                <a:cubicBezTo>
                  <a:pt x="366307" y="468934"/>
                  <a:pt x="352749" y="463211"/>
                  <a:pt x="381965" y="439838"/>
                </a:cubicBezTo>
                <a:cubicBezTo>
                  <a:pt x="462545" y="375373"/>
                  <a:pt x="368921" y="464457"/>
                  <a:pt x="451413" y="381965"/>
                </a:cubicBezTo>
                <a:cubicBezTo>
                  <a:pt x="459129" y="358816"/>
                  <a:pt x="476588" y="336834"/>
                  <a:pt x="474562" y="312517"/>
                </a:cubicBezTo>
                <a:cubicBezTo>
                  <a:pt x="470704" y="266218"/>
                  <a:pt x="469128" y="219673"/>
                  <a:pt x="462988" y="173621"/>
                </a:cubicBezTo>
                <a:cubicBezTo>
                  <a:pt x="457303" y="130983"/>
                  <a:pt x="437157" y="124641"/>
                  <a:pt x="405114" y="92598"/>
                </a:cubicBezTo>
                <a:cubicBezTo>
                  <a:pt x="397398" y="84881"/>
                  <a:pt x="392318" y="72899"/>
                  <a:pt x="381965" y="69448"/>
                </a:cubicBezTo>
                <a:lnTo>
                  <a:pt x="312517" y="46299"/>
                </a:lnTo>
                <a:cubicBezTo>
                  <a:pt x="233868" y="20083"/>
                  <a:pt x="200628" y="0"/>
                  <a:pt x="162046" y="0"/>
                </a:cubicBezTo>
                <a:close/>
              </a:path>
            </a:pathLst>
          </a:custGeom>
          <a:noFill/>
          <a:ln cap="flat" cmpd="sng" w="31750">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Lucida Sans"/>
              <a:buNone/>
            </a:pPr>
            <a:r>
              <a:t/>
            </a:r>
            <a:endParaRPr b="0" i="0" sz="2400" u="none" cap="none" strike="noStrike">
              <a:solidFill>
                <a:schemeClr val="dk1"/>
              </a:solidFill>
              <a:latin typeface="Lucida Sans"/>
              <a:ea typeface="Lucida Sans"/>
              <a:cs typeface="Lucida Sans"/>
              <a:sym typeface="Lucida Sans"/>
            </a:endParaRPr>
          </a:p>
        </p:txBody>
      </p:sp>
      <p:sp>
        <p:nvSpPr>
          <p:cNvPr id="1686" name="Google Shape;1686;h28f86b313e326572_0_500"/>
          <p:cNvSpPr/>
          <p:nvPr/>
        </p:nvSpPr>
        <p:spPr>
          <a:xfrm>
            <a:off x="4375230" y="4623109"/>
            <a:ext cx="474600" cy="242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sp>
        <p:nvSpPr>
          <p:cNvPr id="1687" name="Google Shape;1687;h28f86b313e326572_0_500"/>
          <p:cNvSpPr txBox="1"/>
          <p:nvPr/>
        </p:nvSpPr>
        <p:spPr>
          <a:xfrm>
            <a:off x="4214147" y="4531250"/>
            <a:ext cx="1869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800">
                <a:solidFill>
                  <a:schemeClr val="dk1"/>
                </a:solidFill>
              </a:rPr>
              <a:t>wx + b</a:t>
            </a:r>
            <a:endParaRPr/>
          </a:p>
        </p:txBody>
      </p:sp>
      <p:pic>
        <p:nvPicPr>
          <p:cNvPr id="1688" name="Google Shape;1688;h28f86b313e326572_0_500"/>
          <p:cNvPicPr preferRelativeResize="0"/>
          <p:nvPr/>
        </p:nvPicPr>
        <p:blipFill rotWithShape="1">
          <a:blip r:embed="rId4">
            <a:alphaModFix/>
          </a:blip>
          <a:srcRect b="0" l="0" r="0" t="0"/>
          <a:stretch/>
        </p:blipFill>
        <p:spPr>
          <a:xfrm>
            <a:off x="6757225" y="87425"/>
            <a:ext cx="1946927" cy="743100"/>
          </a:xfrm>
          <a:prstGeom prst="rect">
            <a:avLst/>
          </a:prstGeom>
          <a:noFill/>
          <a:ln>
            <a:noFill/>
          </a:ln>
        </p:spPr>
      </p:pic>
      <p:sp>
        <p:nvSpPr>
          <p:cNvPr id="1689" name="Google Shape;1689;h28f86b313e326572_0_500"/>
          <p:cNvSpPr/>
          <p:nvPr/>
        </p:nvSpPr>
        <p:spPr>
          <a:xfrm>
            <a:off x="277974" y="2562980"/>
            <a:ext cx="636300" cy="585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ucida Sans"/>
              <a:ea typeface="Lucida Sans"/>
              <a:cs typeface="Lucida Sans"/>
              <a:sym typeface="Lucida Sans"/>
            </a:endParaRPr>
          </a:p>
        </p:txBody>
      </p:sp>
      <p:cxnSp>
        <p:nvCxnSpPr>
          <p:cNvPr id="1690" name="Google Shape;1690;h28f86b313e326572_0_500"/>
          <p:cNvCxnSpPr/>
          <p:nvPr/>
        </p:nvCxnSpPr>
        <p:spPr>
          <a:xfrm>
            <a:off x="304800" y="2807865"/>
            <a:ext cx="8534400" cy="0"/>
          </a:xfrm>
          <a:prstGeom prst="straightConnector1">
            <a:avLst/>
          </a:prstGeom>
          <a:gradFill>
            <a:gsLst>
              <a:gs pos="0">
                <a:srgbClr val="A50021"/>
              </a:gs>
              <a:gs pos="100000">
                <a:schemeClr val="dk1"/>
              </a:gs>
            </a:gsLst>
            <a:lin ang="0" scaled="0"/>
          </a:gradFill>
          <a:ln cap="flat" cmpd="sng" w="44450">
            <a:solidFill>
              <a:srgbClr val="C00000"/>
            </a:solidFill>
            <a:prstDash val="dash"/>
            <a:miter lim="8000"/>
            <a:headEnd len="sm" w="sm" type="none"/>
            <a:tailEnd len="sm" w="sm" type="none"/>
          </a:ln>
        </p:spPr>
      </p:cxnSp>
      <p:sp>
        <p:nvSpPr>
          <p:cNvPr id="1691" name="Google Shape;1691;h28f86b313e326572_0_500"/>
          <p:cNvSpPr txBox="1"/>
          <p:nvPr/>
        </p:nvSpPr>
        <p:spPr>
          <a:xfrm>
            <a:off x="68607" y="1250256"/>
            <a:ext cx="1112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400">
                <a:solidFill>
                  <a:schemeClr val="dk1"/>
                </a:solidFill>
              </a:rPr>
              <a:t>P(y=1)</a:t>
            </a:r>
            <a:endParaRPr sz="1000"/>
          </a:p>
        </p:txBody>
      </p:sp>
      <p:sp>
        <p:nvSpPr>
          <p:cNvPr id="1692" name="Google Shape;1692;h28f86b313e326572_0_500"/>
          <p:cNvSpPr/>
          <p:nvPr/>
        </p:nvSpPr>
        <p:spPr>
          <a:xfrm>
            <a:off x="4652998" y="1233515"/>
            <a:ext cx="4212900" cy="3200400"/>
          </a:xfrm>
          <a:prstGeom prst="rect">
            <a:avLst/>
          </a:prstGeom>
          <a:solidFill>
            <a:srgbClr val="EAB9A3">
              <a:alpha val="341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Lucida Sans"/>
              <a:buNone/>
            </a:pPr>
            <a:r>
              <a:t/>
            </a:r>
            <a:endParaRPr b="0" i="0" sz="2400" u="none" cap="none" strike="noStrike">
              <a:solidFill>
                <a:schemeClr val="dk1"/>
              </a:solidFill>
              <a:latin typeface="Lucida Sans"/>
              <a:ea typeface="Lucida Sans"/>
              <a:cs typeface="Lucida Sans"/>
              <a:sym typeface="Lucida Sans"/>
            </a:endParaRPr>
          </a:p>
        </p:txBody>
      </p:sp>
      <p:sp>
        <p:nvSpPr>
          <p:cNvPr id="1693" name="Google Shape;1693;h28f86b313e326572_0_500"/>
          <p:cNvSpPr txBox="1"/>
          <p:nvPr/>
        </p:nvSpPr>
        <p:spPr>
          <a:xfrm>
            <a:off x="6244200" y="46231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7" name="Shape 1697"/>
        <p:cNvGrpSpPr/>
        <p:nvPr/>
      </p:nvGrpSpPr>
      <p:grpSpPr>
        <a:xfrm>
          <a:off x="0" y="0"/>
          <a:ext cx="0" cy="0"/>
          <a:chOff x="0" y="0"/>
          <a:chExt cx="0" cy="0"/>
        </a:xfrm>
      </p:grpSpPr>
      <p:sp>
        <p:nvSpPr>
          <p:cNvPr id="1698" name="Google Shape;1698;h28f86b313e326572_0_517"/>
          <p:cNvSpPr txBox="1"/>
          <p:nvPr>
            <p:ph type="title"/>
          </p:nvPr>
        </p:nvSpPr>
        <p:spPr>
          <a:xfrm>
            <a:off x="800100" y="575932"/>
            <a:ext cx="7543800" cy="68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Turning a probability into a classifier</a:t>
            </a:r>
            <a:endParaRPr/>
          </a:p>
        </p:txBody>
      </p:sp>
      <p:sp>
        <p:nvSpPr>
          <p:cNvPr id="1699" name="Google Shape;1699;h28f86b313e326572_0_517"/>
          <p:cNvSpPr txBox="1"/>
          <p:nvPr/>
        </p:nvSpPr>
        <p:spPr>
          <a:xfrm>
            <a:off x="6340197" y="2190750"/>
            <a:ext cx="1965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800">
                <a:solidFill>
                  <a:srgbClr val="0000CC"/>
                </a:solidFill>
                <a:latin typeface="Times New Roman"/>
                <a:ea typeface="Times New Roman"/>
                <a:cs typeface="Times New Roman"/>
                <a:sym typeface="Times New Roman"/>
              </a:rPr>
              <a:t>if w∙x+b &gt; 0</a:t>
            </a:r>
            <a:endParaRPr/>
          </a:p>
        </p:txBody>
      </p:sp>
      <p:sp>
        <p:nvSpPr>
          <p:cNvPr id="1700" name="Google Shape;1700;h28f86b313e326572_0_517"/>
          <p:cNvSpPr txBox="1"/>
          <p:nvPr/>
        </p:nvSpPr>
        <p:spPr>
          <a:xfrm>
            <a:off x="6329247" y="2724150"/>
            <a:ext cx="19608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800">
                <a:solidFill>
                  <a:srgbClr val="0000CC"/>
                </a:solidFill>
                <a:latin typeface="Times New Roman"/>
                <a:ea typeface="Times New Roman"/>
                <a:cs typeface="Times New Roman"/>
                <a:sym typeface="Times New Roman"/>
              </a:rPr>
              <a:t>if w∙x+b ≤ 0</a:t>
            </a:r>
            <a:endParaRPr/>
          </a:p>
        </p:txBody>
      </p:sp>
      <p:pic>
        <p:nvPicPr>
          <p:cNvPr id="1701" name="Google Shape;1701;h28f86b313e326572_0_517"/>
          <p:cNvPicPr preferRelativeResize="0"/>
          <p:nvPr/>
        </p:nvPicPr>
        <p:blipFill>
          <a:blip r:embed="rId3">
            <a:alphaModFix/>
          </a:blip>
          <a:stretch>
            <a:fillRect/>
          </a:stretch>
        </p:blipFill>
        <p:spPr>
          <a:xfrm>
            <a:off x="207025" y="2238300"/>
            <a:ext cx="6077683" cy="945075"/>
          </a:xfrm>
          <a:prstGeom prst="rect">
            <a:avLst/>
          </a:prstGeom>
          <a:noFill/>
          <a:ln>
            <a:noFill/>
          </a:ln>
        </p:spPr>
      </p:pic>
      <p:sp>
        <p:nvSpPr>
          <p:cNvPr id="1702" name="Google Shape;1702;h28f86b313e326572_0_517"/>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7" name="Shape 1707"/>
        <p:cNvGrpSpPr/>
        <p:nvPr/>
      </p:nvGrpSpPr>
      <p:grpSpPr>
        <a:xfrm>
          <a:off x="0" y="0"/>
          <a:ext cx="0" cy="0"/>
          <a:chOff x="0" y="0"/>
          <a:chExt cx="0" cy="0"/>
        </a:xfrm>
      </p:grpSpPr>
      <p:sp>
        <p:nvSpPr>
          <p:cNvPr id="1708" name="Google Shape;1708;h28f86b313e326572_0_345"/>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Wait, where did the W’s come from?</a:t>
            </a:r>
            <a:endParaRPr/>
          </a:p>
        </p:txBody>
      </p:sp>
      <p:sp>
        <p:nvSpPr>
          <p:cNvPr id="1709" name="Google Shape;1709;h28f86b313e326572_0_345"/>
          <p:cNvSpPr txBox="1"/>
          <p:nvPr>
            <p:ph idx="1" type="body"/>
          </p:nvPr>
        </p:nvSpPr>
        <p:spPr>
          <a:xfrm>
            <a:off x="822959" y="1384300"/>
            <a:ext cx="7863900" cy="3549600"/>
          </a:xfrm>
          <a:prstGeom prst="rect">
            <a:avLst/>
          </a:prstGeom>
          <a:blipFill rotWithShape="1">
            <a:blip r:embed="rId3">
              <a:alphaModFix/>
            </a:blip>
            <a:stretch>
              <a:fillRect b="-710" l="-2420" r="-1130" t="-2850"/>
            </a:stretch>
          </a:blipFill>
          <a:ln>
            <a:noFill/>
          </a:ln>
        </p:spPr>
        <p:txBody>
          <a:bodyPr anchorCtr="0" anchor="t" bIns="45700" lIns="0" spcFirstLastPara="1" rIns="0" wrap="square" tIns="45700">
            <a:normAutofit/>
          </a:bodyPr>
          <a:lstStyle/>
          <a:p>
            <a:pPr indent="0" lvl="0" marL="0" rtl="0" algn="l">
              <a:spcBef>
                <a:spcPts val="0"/>
              </a:spcBef>
              <a:spcAft>
                <a:spcPts val="0"/>
              </a:spcAft>
              <a:buSzPts val="2800"/>
              <a:buNone/>
            </a:pPr>
            <a:r>
              <a:rPr lang="pt-BR"/>
              <a:t> </a:t>
            </a:r>
            <a:endParaRPr/>
          </a:p>
        </p:txBody>
      </p:sp>
      <p:sp>
        <p:nvSpPr>
          <p:cNvPr id="1710" name="Google Shape;1710;h28f86b313e326572_0_345"/>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5" name="Shape 1715"/>
        <p:cNvGrpSpPr/>
        <p:nvPr/>
      </p:nvGrpSpPr>
      <p:grpSpPr>
        <a:xfrm>
          <a:off x="0" y="0"/>
          <a:ext cx="0" cy="0"/>
          <a:chOff x="0" y="0"/>
          <a:chExt cx="0" cy="0"/>
        </a:xfrm>
      </p:grpSpPr>
      <p:sp>
        <p:nvSpPr>
          <p:cNvPr id="1716" name="Google Shape;1716;h28f86b313e326572_0_352"/>
          <p:cNvSpPr txBox="1"/>
          <p:nvPr>
            <p:ph type="title"/>
          </p:nvPr>
        </p:nvSpPr>
        <p:spPr>
          <a:xfrm>
            <a:off x="457172" y="205014"/>
            <a:ext cx="8228700" cy="858600"/>
          </a:xfrm>
          <a:prstGeom prst="rect">
            <a:avLst/>
          </a:prstGeom>
          <a:blipFill rotWithShape="1">
            <a:blip r:embed="rId3">
              <a:alphaModFix/>
            </a:blip>
            <a:stretch>
              <a:fillRect b="-35180" l="-2350" r="0" t="-7410"/>
            </a:stretch>
          </a:blip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SzPts val="3600"/>
              <a:buFont typeface="Calibri"/>
              <a:buNone/>
            </a:pPr>
            <a:r>
              <a:rPr lang="pt-BR"/>
              <a:t> </a:t>
            </a:r>
            <a:endParaRPr/>
          </a:p>
        </p:txBody>
      </p:sp>
      <p:sp>
        <p:nvSpPr>
          <p:cNvPr id="1717" name="Google Shape;1717;h28f86b313e326572_0_352"/>
          <p:cNvSpPr txBox="1"/>
          <p:nvPr>
            <p:ph idx="1" type="body"/>
          </p:nvPr>
        </p:nvSpPr>
        <p:spPr>
          <a:xfrm>
            <a:off x="1143000" y="1198004"/>
            <a:ext cx="7543800" cy="3759300"/>
          </a:xfrm>
          <a:prstGeom prst="rect">
            <a:avLst/>
          </a:prstGeom>
          <a:blipFill rotWithShape="1">
            <a:blip r:embed="rId4">
              <a:alphaModFix/>
            </a:blip>
            <a:stretch>
              <a:fillRect b="-340" l="-2859" r="0" t="0"/>
            </a:stretch>
          </a:blip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 </a:t>
            </a:r>
            <a:endParaRPr/>
          </a:p>
        </p:txBody>
      </p:sp>
      <p:sp>
        <p:nvSpPr>
          <p:cNvPr id="1718" name="Google Shape;1718;h28f86b313e326572_0_352"/>
          <p:cNvSpPr txBox="1"/>
          <p:nvPr/>
        </p:nvSpPr>
        <p:spPr>
          <a:xfrm>
            <a:off x="6293750" y="46374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3" name="Shape 1723"/>
        <p:cNvGrpSpPr/>
        <p:nvPr/>
      </p:nvGrpSpPr>
      <p:grpSpPr>
        <a:xfrm>
          <a:off x="0" y="0"/>
          <a:ext cx="0" cy="0"/>
          <a:chOff x="0" y="0"/>
          <a:chExt cx="0" cy="0"/>
        </a:xfrm>
      </p:grpSpPr>
      <p:sp>
        <p:nvSpPr>
          <p:cNvPr id="1724" name="Google Shape;1724;h28f86b313e326572_0_35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Intuition of </a:t>
            </a:r>
            <a:r>
              <a:rPr lang="pt-BR">
                <a:solidFill>
                  <a:srgbClr val="0000CC"/>
                </a:solidFill>
              </a:rPr>
              <a:t>negative log likelihood loss</a:t>
            </a:r>
            <a:br>
              <a:rPr lang="pt-BR"/>
            </a:br>
            <a:r>
              <a:rPr lang="pt-BR"/>
              <a:t> = </a:t>
            </a:r>
            <a:r>
              <a:rPr lang="pt-BR">
                <a:solidFill>
                  <a:srgbClr val="0000CC"/>
                </a:solidFill>
              </a:rPr>
              <a:t>cross-entropy loss</a:t>
            </a:r>
            <a:endParaRPr/>
          </a:p>
        </p:txBody>
      </p:sp>
      <p:sp>
        <p:nvSpPr>
          <p:cNvPr id="1725" name="Google Shape;1725;h28f86b313e326572_0_359"/>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92500" lnSpcReduction="20000"/>
          </a:bodyPr>
          <a:lstStyle/>
          <a:p>
            <a:pPr indent="0" lvl="0" marL="0" rtl="0" algn="l">
              <a:spcBef>
                <a:spcPts val="0"/>
              </a:spcBef>
              <a:spcAft>
                <a:spcPts val="0"/>
              </a:spcAft>
              <a:buSzPct val="93333"/>
              <a:buNone/>
            </a:pPr>
            <a:r>
              <a:rPr lang="pt-BR"/>
              <a:t>A case of conditional maximum likelihood estimation </a:t>
            </a:r>
            <a:endParaRPr/>
          </a:p>
          <a:p>
            <a:pPr indent="0" lvl="0" marL="0" rtl="0" algn="l">
              <a:spcBef>
                <a:spcPts val="0"/>
              </a:spcBef>
              <a:spcAft>
                <a:spcPts val="0"/>
              </a:spcAft>
              <a:buSzPct val="93333"/>
              <a:buNone/>
            </a:pPr>
            <a:r>
              <a:rPr lang="pt-BR"/>
              <a:t>We choose the parameters w,b that maximize</a:t>
            </a:r>
            <a:endParaRPr/>
          </a:p>
          <a:p>
            <a:pPr indent="-404813" lvl="0" marL="457200" rtl="0" algn="l">
              <a:spcBef>
                <a:spcPts val="0"/>
              </a:spcBef>
              <a:spcAft>
                <a:spcPts val="0"/>
              </a:spcAft>
              <a:buSzPct val="100000"/>
              <a:buChar char="•"/>
            </a:pPr>
            <a:r>
              <a:rPr lang="pt-BR"/>
              <a:t>the log probability </a:t>
            </a:r>
            <a:endParaRPr/>
          </a:p>
          <a:p>
            <a:pPr indent="-404813" lvl="0" marL="457200" rtl="0" algn="l">
              <a:spcBef>
                <a:spcPts val="0"/>
              </a:spcBef>
              <a:spcAft>
                <a:spcPts val="0"/>
              </a:spcAft>
              <a:buSzPct val="100000"/>
              <a:buChar char="•"/>
            </a:pPr>
            <a:r>
              <a:rPr lang="pt-BR"/>
              <a:t>of the true y labels in the training data </a:t>
            </a:r>
            <a:endParaRPr/>
          </a:p>
          <a:p>
            <a:pPr indent="-404813" lvl="0" marL="457200" rtl="0" algn="l">
              <a:spcBef>
                <a:spcPts val="0"/>
              </a:spcBef>
              <a:spcAft>
                <a:spcPts val="0"/>
              </a:spcAft>
              <a:buSzPct val="100000"/>
              <a:buChar char="•"/>
            </a:pPr>
            <a:r>
              <a:rPr lang="pt-BR"/>
              <a:t>given the observations x</a:t>
            </a:r>
            <a:endParaRPr/>
          </a:p>
          <a:p>
            <a:pPr indent="0" lvl="0" marL="0" rtl="0" algn="l">
              <a:spcBef>
                <a:spcPts val="0"/>
              </a:spcBef>
              <a:spcAft>
                <a:spcPts val="0"/>
              </a:spcAft>
              <a:buSzPct val="93333"/>
              <a:buNone/>
            </a:pPr>
            <a:r>
              <a:rPr lang="pt-BR"/>
              <a:t> </a:t>
            </a:r>
            <a:endParaRPr/>
          </a:p>
          <a:p>
            <a:pPr indent="0" lvl="0" marL="0" rtl="0" algn="l">
              <a:spcBef>
                <a:spcPts val="0"/>
              </a:spcBef>
              <a:spcAft>
                <a:spcPts val="0"/>
              </a:spcAft>
              <a:buSzPct val="93333"/>
              <a:buNone/>
            </a:pPr>
            <a:r>
              <a:t/>
            </a:r>
            <a:endParaRPr/>
          </a:p>
        </p:txBody>
      </p:sp>
      <p:sp>
        <p:nvSpPr>
          <p:cNvPr id="1726" name="Google Shape;1726;h28f86b313e326572_0_359"/>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1" name="Shape 1731"/>
        <p:cNvGrpSpPr/>
        <p:nvPr/>
      </p:nvGrpSpPr>
      <p:grpSpPr>
        <a:xfrm>
          <a:off x="0" y="0"/>
          <a:ext cx="0" cy="0"/>
          <a:chOff x="0" y="0"/>
          <a:chExt cx="0" cy="0"/>
        </a:xfrm>
      </p:grpSpPr>
      <p:sp>
        <p:nvSpPr>
          <p:cNvPr id="1732" name="Google Shape;1732;h28f86b313e326572_0_366"/>
          <p:cNvSpPr txBox="1"/>
          <p:nvPr>
            <p:ph type="title"/>
          </p:nvPr>
        </p:nvSpPr>
        <p:spPr>
          <a:xfrm>
            <a:off x="326998" y="133350"/>
            <a:ext cx="8490000" cy="68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Deriving cross-entropy loss for a single observation x</a:t>
            </a:r>
            <a:endParaRPr/>
          </a:p>
        </p:txBody>
      </p:sp>
      <p:sp>
        <p:nvSpPr>
          <p:cNvPr id="1733" name="Google Shape;1733;h28f86b313e326572_0_366"/>
          <p:cNvSpPr txBox="1"/>
          <p:nvPr>
            <p:ph idx="1" type="body"/>
          </p:nvPr>
        </p:nvSpPr>
        <p:spPr>
          <a:xfrm>
            <a:off x="822960" y="1200150"/>
            <a:ext cx="8092500" cy="4038600"/>
          </a:xfrm>
          <a:prstGeom prst="rect">
            <a:avLst/>
          </a:prstGeom>
          <a:blipFill rotWithShape="1">
            <a:blip r:embed="rId3">
              <a:alphaModFix/>
            </a:blip>
            <a:stretch>
              <a:fillRect b="0" l="-2500" r="-160" t="-2510"/>
            </a:stretch>
          </a:blip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 </a:t>
            </a:r>
            <a:endParaRPr/>
          </a:p>
        </p:txBody>
      </p:sp>
      <p:pic>
        <p:nvPicPr>
          <p:cNvPr id="1734" name="Google Shape;1734;h28f86b313e326572_0_366"/>
          <p:cNvPicPr preferRelativeResize="0"/>
          <p:nvPr/>
        </p:nvPicPr>
        <p:blipFill rotWithShape="1">
          <a:blip r:embed="rId4">
            <a:alphaModFix/>
          </a:blip>
          <a:srcRect b="0" l="0" r="0" t="0"/>
          <a:stretch/>
        </p:blipFill>
        <p:spPr>
          <a:xfrm>
            <a:off x="2743200" y="2978150"/>
            <a:ext cx="3412674" cy="482600"/>
          </a:xfrm>
          <a:prstGeom prst="rect">
            <a:avLst/>
          </a:prstGeom>
          <a:noFill/>
          <a:ln>
            <a:noFill/>
          </a:ln>
        </p:spPr>
      </p:pic>
      <p:sp>
        <p:nvSpPr>
          <p:cNvPr id="1735" name="Google Shape;1735;h28f86b313e326572_0_366"/>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9" name="Shape 1739"/>
        <p:cNvGrpSpPr/>
        <p:nvPr/>
      </p:nvGrpSpPr>
      <p:grpSpPr>
        <a:xfrm>
          <a:off x="0" y="0"/>
          <a:ext cx="0" cy="0"/>
          <a:chOff x="0" y="0"/>
          <a:chExt cx="0" cy="0"/>
        </a:xfrm>
      </p:grpSpPr>
      <p:sp>
        <p:nvSpPr>
          <p:cNvPr id="1740" name="Google Shape;1740;g3fbb7e4475e_0_665"/>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Deriving cross-entropy loss for a single observation x</a:t>
            </a:r>
            <a:endParaRPr/>
          </a:p>
        </p:txBody>
      </p:sp>
      <p:sp>
        <p:nvSpPr>
          <p:cNvPr id="1741" name="Google Shape;1741;g3fbb7e4475e_0_665"/>
          <p:cNvSpPr txBox="1"/>
          <p:nvPr>
            <p:ph idx="1" type="body"/>
          </p:nvPr>
        </p:nvSpPr>
        <p:spPr>
          <a:xfrm>
            <a:off x="311700" y="1152475"/>
            <a:ext cx="8520600" cy="36639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SzPts val="2800"/>
              <a:buNone/>
            </a:pPr>
            <a:r>
              <a:rPr lang="pt-BR" sz="2000"/>
              <a:t>Goal: maximize probability of the correct label p(y|x)</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t>Maximize:</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t>Now take the log of both sides (mathematically handy)</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t>Maximize:</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t>Whatever values maximize log p(y|x) will also maximize p(y|x)</a:t>
            </a:r>
            <a:endParaRPr sz="2000"/>
          </a:p>
        </p:txBody>
      </p:sp>
      <p:pic>
        <p:nvPicPr>
          <p:cNvPr id="1742" name="Google Shape;1742;g3fbb7e4475e_0_665"/>
          <p:cNvPicPr preferRelativeResize="0"/>
          <p:nvPr/>
        </p:nvPicPr>
        <p:blipFill rotWithShape="1">
          <a:blip r:embed="rId3">
            <a:alphaModFix/>
          </a:blip>
          <a:srcRect b="0" l="0" r="0" t="0"/>
          <a:stretch/>
        </p:blipFill>
        <p:spPr>
          <a:xfrm>
            <a:off x="1796644" y="1819131"/>
            <a:ext cx="3412674" cy="482600"/>
          </a:xfrm>
          <a:prstGeom prst="rect">
            <a:avLst/>
          </a:prstGeom>
          <a:noFill/>
          <a:ln>
            <a:noFill/>
          </a:ln>
        </p:spPr>
      </p:pic>
      <p:pic>
        <p:nvPicPr>
          <p:cNvPr id="1743" name="Google Shape;1743;g3fbb7e4475e_0_665"/>
          <p:cNvPicPr preferRelativeResize="0"/>
          <p:nvPr/>
        </p:nvPicPr>
        <p:blipFill rotWithShape="1">
          <a:blip r:embed="rId4">
            <a:alphaModFix/>
          </a:blip>
          <a:srcRect b="0" l="0" r="0" t="0"/>
          <a:stretch/>
        </p:blipFill>
        <p:spPr>
          <a:xfrm>
            <a:off x="1796644" y="3096150"/>
            <a:ext cx="5704488" cy="990600"/>
          </a:xfrm>
          <a:prstGeom prst="rect">
            <a:avLst/>
          </a:prstGeom>
          <a:noFill/>
          <a:ln>
            <a:noFill/>
          </a:ln>
        </p:spPr>
      </p:pic>
      <p:sp>
        <p:nvSpPr>
          <p:cNvPr id="1744" name="Google Shape;1744;g3fbb7e4475e_0_665"/>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48" name="Shape 1748"/>
        <p:cNvGrpSpPr/>
        <p:nvPr/>
      </p:nvGrpSpPr>
      <p:grpSpPr>
        <a:xfrm>
          <a:off x="0" y="0"/>
          <a:ext cx="0" cy="0"/>
          <a:chOff x="0" y="0"/>
          <a:chExt cx="0" cy="0"/>
        </a:xfrm>
      </p:grpSpPr>
      <p:sp>
        <p:nvSpPr>
          <p:cNvPr id="1749" name="Google Shape;1749;h28f86b313e326572_0_91"/>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Deriving cross-entropy loss for a single observation x</a:t>
            </a:r>
            <a:endParaRPr/>
          </a:p>
        </p:txBody>
      </p:sp>
      <p:sp>
        <p:nvSpPr>
          <p:cNvPr id="1750" name="Google Shape;1750;h28f86b313e326572_0_91"/>
          <p:cNvSpPr txBox="1"/>
          <p:nvPr>
            <p:ph idx="1" type="body"/>
          </p:nvPr>
        </p:nvSpPr>
        <p:spPr>
          <a:xfrm>
            <a:off x="311700" y="999353"/>
            <a:ext cx="8520600" cy="36639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SzPts val="2800"/>
              <a:buNone/>
            </a:pPr>
            <a:r>
              <a:rPr lang="pt-BR" sz="2000"/>
              <a:t>Goal: maximize probability of the correct label p(y|x)</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solidFill>
                  <a:srgbClr val="0000CC"/>
                </a:solidFill>
              </a:rPr>
              <a:t>Maximize:</a:t>
            </a:r>
            <a:endParaRPr sz="2000">
              <a:solidFill>
                <a:srgbClr val="0000CC"/>
              </a:solidFill>
            </a:endParaRPr>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t>Now flip sign to turn this into a loss: something to minimize</a:t>
            </a:r>
            <a:endParaRPr sz="2000"/>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solidFill>
                  <a:srgbClr val="0000CC"/>
                </a:solidFill>
              </a:rPr>
              <a:t>Minimize:</a:t>
            </a:r>
            <a:endParaRPr sz="2000">
              <a:solidFill>
                <a:srgbClr val="0000CC"/>
              </a:solidFill>
            </a:endParaRPr>
          </a:p>
          <a:p>
            <a:pPr indent="0" lvl="0" marL="0" rtl="0" algn="l">
              <a:spcBef>
                <a:spcPts val="0"/>
              </a:spcBef>
              <a:spcAft>
                <a:spcPts val="0"/>
              </a:spcAft>
              <a:buSzPts val="2800"/>
              <a:buNone/>
            </a:pPr>
            <a:r>
              <a:t/>
            </a:r>
            <a:endParaRPr sz="2000"/>
          </a:p>
          <a:p>
            <a:pPr indent="0" lvl="0" marL="0" rtl="0" algn="l">
              <a:spcBef>
                <a:spcPts val="0"/>
              </a:spcBef>
              <a:spcAft>
                <a:spcPts val="0"/>
              </a:spcAft>
              <a:buSzPts val="2800"/>
              <a:buNone/>
            </a:pPr>
            <a:r>
              <a:rPr lang="pt-BR" sz="2000"/>
              <a:t>Or, plugging in definition o ŷ:</a:t>
            </a:r>
            <a:endParaRPr sz="2000"/>
          </a:p>
        </p:txBody>
      </p:sp>
      <p:pic>
        <p:nvPicPr>
          <p:cNvPr id="1751" name="Google Shape;1751;h28f86b313e326572_0_91"/>
          <p:cNvPicPr preferRelativeResize="0"/>
          <p:nvPr/>
        </p:nvPicPr>
        <p:blipFill rotWithShape="1">
          <a:blip r:embed="rId3">
            <a:alphaModFix/>
          </a:blip>
          <a:srcRect b="0" l="0" r="0" t="0"/>
          <a:stretch/>
        </p:blipFill>
        <p:spPr>
          <a:xfrm>
            <a:off x="1719756" y="1537078"/>
            <a:ext cx="5704488" cy="990600"/>
          </a:xfrm>
          <a:prstGeom prst="rect">
            <a:avLst/>
          </a:prstGeom>
          <a:noFill/>
          <a:ln>
            <a:noFill/>
          </a:ln>
        </p:spPr>
      </p:pic>
      <p:pic>
        <p:nvPicPr>
          <p:cNvPr id="1752" name="Google Shape;1752;h28f86b313e326572_0_91"/>
          <p:cNvPicPr preferRelativeResize="0"/>
          <p:nvPr/>
        </p:nvPicPr>
        <p:blipFill rotWithShape="1">
          <a:blip r:embed="rId4">
            <a:alphaModFix/>
          </a:blip>
          <a:srcRect b="0" l="0" r="0" t="0"/>
          <a:stretch/>
        </p:blipFill>
        <p:spPr>
          <a:xfrm>
            <a:off x="1719740" y="3458085"/>
            <a:ext cx="6703850" cy="452581"/>
          </a:xfrm>
          <a:prstGeom prst="rect">
            <a:avLst/>
          </a:prstGeom>
          <a:noFill/>
          <a:ln>
            <a:noFill/>
          </a:ln>
        </p:spPr>
      </p:pic>
      <p:pic>
        <p:nvPicPr>
          <p:cNvPr id="1753" name="Google Shape;1753;h28f86b313e326572_0_91"/>
          <p:cNvPicPr preferRelativeResize="0"/>
          <p:nvPr/>
        </p:nvPicPr>
        <p:blipFill rotWithShape="1">
          <a:blip r:embed="rId5">
            <a:alphaModFix/>
          </a:blip>
          <a:srcRect b="0" l="0" r="0" t="0"/>
          <a:stretch/>
        </p:blipFill>
        <p:spPr>
          <a:xfrm>
            <a:off x="806550" y="4518735"/>
            <a:ext cx="7530896" cy="461664"/>
          </a:xfrm>
          <a:prstGeom prst="rect">
            <a:avLst/>
          </a:prstGeom>
          <a:noFill/>
          <a:ln>
            <a:noFill/>
          </a:ln>
        </p:spPr>
      </p:pic>
      <p:sp>
        <p:nvSpPr>
          <p:cNvPr id="1754" name="Google Shape;1754;h28f86b313e326572_0_91"/>
          <p:cNvSpPr txBox="1"/>
          <p:nvPr/>
        </p:nvSpPr>
        <p:spPr>
          <a:xfrm>
            <a:off x="6449650" y="5316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58" name="Shape 1758"/>
        <p:cNvGrpSpPr/>
        <p:nvPr/>
      </p:nvGrpSpPr>
      <p:grpSpPr>
        <a:xfrm>
          <a:off x="0" y="0"/>
          <a:ext cx="0" cy="0"/>
          <a:chOff x="0" y="0"/>
          <a:chExt cx="0" cy="0"/>
        </a:xfrm>
      </p:grpSpPr>
      <p:sp>
        <p:nvSpPr>
          <p:cNvPr id="1759" name="Google Shape;1759;g3fbb7e4475e_0_686"/>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see if this works for our sentiment example</a:t>
            </a:r>
            <a:endParaRPr/>
          </a:p>
        </p:txBody>
      </p:sp>
      <p:sp>
        <p:nvSpPr>
          <p:cNvPr id="1760" name="Google Shape;1760;g3fbb7e4475e_0_686"/>
          <p:cNvSpPr txBox="1"/>
          <p:nvPr>
            <p:ph idx="1" type="body"/>
          </p:nvPr>
        </p:nvSpPr>
        <p:spPr>
          <a:xfrm>
            <a:off x="311700" y="1152475"/>
            <a:ext cx="8520600" cy="27174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600"/>
              <a:buNone/>
            </a:pPr>
            <a:r>
              <a:rPr lang="pt-BR" sz="2600"/>
              <a:t>We want loss to be:</a:t>
            </a:r>
            <a:endParaRPr/>
          </a:p>
          <a:p>
            <a:pPr indent="-457200" lvl="0" marL="457200" rtl="0" algn="l">
              <a:lnSpc>
                <a:spcPct val="90000"/>
              </a:lnSpc>
              <a:spcBef>
                <a:spcPts val="1050"/>
              </a:spcBef>
              <a:spcAft>
                <a:spcPts val="0"/>
              </a:spcAft>
              <a:buSzPts val="2600"/>
              <a:buFont typeface="Arial"/>
              <a:buChar char="•"/>
            </a:pPr>
            <a:r>
              <a:rPr lang="pt-BR" sz="2600"/>
              <a:t>smaller if the model estimate is close to correct</a:t>
            </a:r>
            <a:endParaRPr/>
          </a:p>
          <a:p>
            <a:pPr indent="-457200" lvl="0" marL="457200" rtl="0" algn="l">
              <a:lnSpc>
                <a:spcPct val="90000"/>
              </a:lnSpc>
              <a:spcBef>
                <a:spcPts val="1050"/>
              </a:spcBef>
              <a:spcAft>
                <a:spcPts val="0"/>
              </a:spcAft>
              <a:buSzPts val="2600"/>
              <a:buFont typeface="Arial"/>
              <a:buChar char="•"/>
            </a:pPr>
            <a:r>
              <a:rPr lang="pt-BR" sz="2600"/>
              <a:t>bigger if model is confused</a:t>
            </a:r>
            <a:endParaRPr/>
          </a:p>
          <a:p>
            <a:pPr indent="0" lvl="0" marL="0" rtl="0" algn="l">
              <a:lnSpc>
                <a:spcPct val="90000"/>
              </a:lnSpc>
              <a:spcBef>
                <a:spcPts val="1050"/>
              </a:spcBef>
              <a:spcAft>
                <a:spcPts val="0"/>
              </a:spcAft>
              <a:buSzPts val="2600"/>
              <a:buNone/>
            </a:pPr>
            <a:r>
              <a:rPr lang="pt-BR" sz="2600"/>
              <a:t>Let's first suppose the true label of this is y=1 (positive)</a:t>
            </a:r>
            <a:endParaRPr/>
          </a:p>
        </p:txBody>
      </p:sp>
      <p:sp>
        <p:nvSpPr>
          <p:cNvPr id="1761" name="Google Shape;1761;g3fbb7e4475e_0_686"/>
          <p:cNvSpPr txBox="1"/>
          <p:nvPr/>
        </p:nvSpPr>
        <p:spPr>
          <a:xfrm>
            <a:off x="595325" y="3869799"/>
            <a:ext cx="7772400" cy="11697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200"/>
              <a:buFont typeface="Calibri"/>
              <a:buNone/>
            </a:pPr>
            <a:r>
              <a:rPr lang="pt-BR" sz="1800"/>
              <a:t>It's hokey . There are virtually no surprises , and the writing is second-rate</a:t>
            </a:r>
            <a:r>
              <a:rPr lang="pt-BR" sz="1800"/>
              <a:t> </a:t>
            </a:r>
            <a:r>
              <a:rPr lang="pt-BR" sz="1800"/>
              <a:t>.</a:t>
            </a:r>
            <a:r>
              <a:rPr lang="pt-BR" sz="1800"/>
              <a:t> </a:t>
            </a:r>
            <a:r>
              <a:rPr lang="pt-BR" sz="1800"/>
              <a:t>So why was it so enjoyable ? For one thing , the cast is great . Another nice touch is the music . I was overcome with the urge to get off the couch and start dancing . It sucked me in , and it'll do the same to you .</a:t>
            </a:r>
            <a:endParaRPr sz="1800"/>
          </a:p>
          <a:p>
            <a:pPr indent="0" lvl="0" marL="0" rtl="0" algn="l">
              <a:spcBef>
                <a:spcPts val="0"/>
              </a:spcBef>
              <a:spcAft>
                <a:spcPts val="0"/>
              </a:spcAft>
              <a:buClr>
                <a:srgbClr val="3F3F3F"/>
              </a:buClr>
              <a:buSzPts val="800"/>
              <a:buFont typeface="Calibri"/>
              <a:buNone/>
            </a:pPr>
            <a:r>
              <a:t/>
            </a:r>
            <a:endParaRPr sz="1800"/>
          </a:p>
        </p:txBody>
      </p:sp>
      <p:sp>
        <p:nvSpPr>
          <p:cNvPr id="1762" name="Google Shape;1762;g3fbb7e4475e_0_686"/>
          <p:cNvSpPr txBox="1"/>
          <p:nvPr/>
        </p:nvSpPr>
        <p:spPr>
          <a:xfrm>
            <a:off x="6136450" y="7822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6" name="Shape 1766"/>
        <p:cNvGrpSpPr/>
        <p:nvPr/>
      </p:nvGrpSpPr>
      <p:grpSpPr>
        <a:xfrm>
          <a:off x="0" y="0"/>
          <a:ext cx="0" cy="0"/>
          <a:chOff x="0" y="0"/>
          <a:chExt cx="0" cy="0"/>
        </a:xfrm>
      </p:grpSpPr>
      <p:sp>
        <p:nvSpPr>
          <p:cNvPr id="1767" name="Google Shape;1767;g3fbb7e4475e_0_692"/>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see if this works for our sentiment example</a:t>
            </a:r>
            <a:endParaRPr/>
          </a:p>
        </p:txBody>
      </p:sp>
      <p:sp>
        <p:nvSpPr>
          <p:cNvPr id="1768" name="Google Shape;1768;g3fbb7e4475e_0_692"/>
          <p:cNvSpPr txBox="1"/>
          <p:nvPr>
            <p:ph idx="1" type="body"/>
          </p:nvPr>
        </p:nvSpPr>
        <p:spPr>
          <a:xfrm>
            <a:off x="311700" y="1152475"/>
            <a:ext cx="8520600" cy="25557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1050"/>
              </a:spcBef>
              <a:spcAft>
                <a:spcPts val="0"/>
              </a:spcAft>
              <a:buSzPts val="2800"/>
              <a:buNone/>
            </a:pPr>
            <a:r>
              <a:rPr lang="pt-BR"/>
              <a:t>True value is y=1.  How well is our model doing?</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rPr lang="pt-BR"/>
              <a:t>Pretty well!  What's the loss?</a:t>
            </a:r>
            <a:endParaRPr/>
          </a:p>
        </p:txBody>
      </p:sp>
      <p:pic>
        <p:nvPicPr>
          <p:cNvPr id="1769" name="Google Shape;1769;g3fbb7e4475e_0_692"/>
          <p:cNvPicPr preferRelativeResize="0"/>
          <p:nvPr/>
        </p:nvPicPr>
        <p:blipFill rotWithShape="1">
          <a:blip r:embed="rId3">
            <a:alphaModFix/>
          </a:blip>
          <a:srcRect b="32555" l="0" r="0" t="0"/>
          <a:stretch/>
        </p:blipFill>
        <p:spPr>
          <a:xfrm>
            <a:off x="925581" y="2055856"/>
            <a:ext cx="7292839" cy="1302023"/>
          </a:xfrm>
          <a:prstGeom prst="rect">
            <a:avLst/>
          </a:prstGeom>
          <a:noFill/>
          <a:ln>
            <a:noFill/>
          </a:ln>
        </p:spPr>
      </p:pic>
      <p:pic>
        <p:nvPicPr>
          <p:cNvPr id="1770" name="Google Shape;1770;g3fbb7e4475e_0_692"/>
          <p:cNvPicPr preferRelativeResize="0"/>
          <p:nvPr/>
        </p:nvPicPr>
        <p:blipFill rotWithShape="1">
          <a:blip r:embed="rId4">
            <a:alphaModFix/>
          </a:blip>
          <a:srcRect b="0" l="0" r="0" t="0"/>
          <a:stretch/>
        </p:blipFill>
        <p:spPr>
          <a:xfrm>
            <a:off x="1440413" y="3708150"/>
            <a:ext cx="6263182" cy="1292756"/>
          </a:xfrm>
          <a:prstGeom prst="rect">
            <a:avLst/>
          </a:prstGeom>
          <a:noFill/>
          <a:ln>
            <a:noFill/>
          </a:ln>
        </p:spPr>
      </p:pic>
      <p:sp>
        <p:nvSpPr>
          <p:cNvPr id="1771" name="Google Shape;1771;g3fbb7e4475e_0_692"/>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6" name="Shape 1776"/>
        <p:cNvGrpSpPr/>
        <p:nvPr/>
      </p:nvGrpSpPr>
      <p:grpSpPr>
        <a:xfrm>
          <a:off x="0" y="0"/>
          <a:ext cx="0" cy="0"/>
          <a:chOff x="0" y="0"/>
          <a:chExt cx="0" cy="0"/>
        </a:xfrm>
      </p:grpSpPr>
      <p:sp>
        <p:nvSpPr>
          <p:cNvPr id="1777" name="Google Shape;1777;g3fbb7e4475e_0_69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see if this works for our sentiment example</a:t>
            </a:r>
            <a:endParaRPr/>
          </a:p>
        </p:txBody>
      </p:sp>
      <p:sp>
        <p:nvSpPr>
          <p:cNvPr id="1778" name="Google Shape;1778;g3fbb7e4475e_0_699"/>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Suppose true value instead  was y=0.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t/>
            </a:r>
            <a:endParaRPr/>
          </a:p>
          <a:p>
            <a:pPr indent="-7938" lvl="0" marL="7938" rtl="0" algn="l">
              <a:lnSpc>
                <a:spcPct val="90000"/>
              </a:lnSpc>
              <a:spcBef>
                <a:spcPts val="1050"/>
              </a:spcBef>
              <a:spcAft>
                <a:spcPts val="0"/>
              </a:spcAft>
              <a:buSzPts val="2800"/>
              <a:buNone/>
            </a:pPr>
            <a:r>
              <a:rPr lang="pt-BR"/>
              <a:t>What's the loss?</a:t>
            </a:r>
            <a:endParaRPr/>
          </a:p>
        </p:txBody>
      </p:sp>
      <p:pic>
        <p:nvPicPr>
          <p:cNvPr id="1779" name="Google Shape;1779;g3fbb7e4475e_0_699"/>
          <p:cNvPicPr preferRelativeResize="0"/>
          <p:nvPr/>
        </p:nvPicPr>
        <p:blipFill rotWithShape="1">
          <a:blip r:embed="rId3">
            <a:alphaModFix/>
          </a:blip>
          <a:srcRect b="0" l="0" r="0" t="0"/>
          <a:stretch/>
        </p:blipFill>
        <p:spPr>
          <a:xfrm>
            <a:off x="311700" y="3245425"/>
            <a:ext cx="7337251" cy="1577901"/>
          </a:xfrm>
          <a:prstGeom prst="rect">
            <a:avLst/>
          </a:prstGeom>
          <a:noFill/>
          <a:ln>
            <a:noFill/>
          </a:ln>
        </p:spPr>
      </p:pic>
      <p:pic>
        <p:nvPicPr>
          <p:cNvPr id="1780" name="Google Shape;1780;g3fbb7e4475e_0_699"/>
          <p:cNvPicPr preferRelativeResize="0"/>
          <p:nvPr/>
        </p:nvPicPr>
        <p:blipFill rotWithShape="1">
          <a:blip r:embed="rId4">
            <a:alphaModFix/>
          </a:blip>
          <a:srcRect b="0" l="0" r="0" t="63224"/>
          <a:stretch/>
        </p:blipFill>
        <p:spPr>
          <a:xfrm>
            <a:off x="311700" y="1654308"/>
            <a:ext cx="10282081" cy="1000942"/>
          </a:xfrm>
          <a:prstGeom prst="rect">
            <a:avLst/>
          </a:prstGeom>
          <a:noFill/>
          <a:ln>
            <a:noFill/>
          </a:ln>
        </p:spPr>
      </p:pic>
      <p:sp>
        <p:nvSpPr>
          <p:cNvPr id="1781" name="Google Shape;1781;g3fbb7e4475e_0_699"/>
          <p:cNvSpPr txBox="1"/>
          <p:nvPr/>
        </p:nvSpPr>
        <p:spPr>
          <a:xfrm>
            <a:off x="6261725" y="45894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5" name="Shape 1785"/>
        <p:cNvGrpSpPr/>
        <p:nvPr/>
      </p:nvGrpSpPr>
      <p:grpSpPr>
        <a:xfrm>
          <a:off x="0" y="0"/>
          <a:ext cx="0" cy="0"/>
          <a:chOff x="0" y="0"/>
          <a:chExt cx="0" cy="0"/>
        </a:xfrm>
      </p:grpSpPr>
      <p:sp>
        <p:nvSpPr>
          <p:cNvPr id="1786" name="Google Shape;1786;g3fbb7e4475e_0_707"/>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see if this works for our sentiment example</a:t>
            </a:r>
            <a:endParaRPr/>
          </a:p>
        </p:txBody>
      </p:sp>
      <p:sp>
        <p:nvSpPr>
          <p:cNvPr id="1787" name="Google Shape;1787;g3fbb7e4475e_0_707"/>
          <p:cNvSpPr txBox="1"/>
          <p:nvPr>
            <p:ph idx="1" type="body"/>
          </p:nvPr>
        </p:nvSpPr>
        <p:spPr>
          <a:xfrm>
            <a:off x="311700" y="1017725"/>
            <a:ext cx="8520600" cy="3920400"/>
          </a:xfrm>
          <a:prstGeom prst="rect">
            <a:avLst/>
          </a:prstGeom>
          <a:noFill/>
          <a:ln>
            <a:noFill/>
          </a:ln>
        </p:spPr>
        <p:txBody>
          <a:bodyPr anchorCtr="0" anchor="t" bIns="45700" lIns="0" spcFirstLastPara="1" rIns="0" wrap="square" tIns="45700">
            <a:normAutofit fontScale="70000" lnSpcReduction="20000"/>
          </a:bodyPr>
          <a:lstStyle/>
          <a:p>
            <a:pPr indent="-7938" lvl="0" marL="7938" rtl="0" algn="l">
              <a:lnSpc>
                <a:spcPct val="90000"/>
              </a:lnSpc>
              <a:spcBef>
                <a:spcPts val="0"/>
              </a:spcBef>
              <a:spcAft>
                <a:spcPts val="0"/>
              </a:spcAft>
              <a:buSzPct val="93333"/>
              <a:buNone/>
            </a:pPr>
            <a:r>
              <a:rPr lang="pt-BR"/>
              <a:t>The loss when model was right (if true y=1)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100000"/>
              <a:buNone/>
            </a:pPr>
            <a:r>
              <a:t/>
            </a:r>
            <a:endParaRPr sz="3200"/>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rPr lang="pt-BR"/>
              <a:t>Is lower than the loss when model was wrong (if true y=0):</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t/>
            </a:r>
            <a:endParaRPr/>
          </a:p>
          <a:p>
            <a:pPr indent="-7938" lvl="0" marL="7938" rtl="0" algn="l">
              <a:lnSpc>
                <a:spcPct val="90000"/>
              </a:lnSpc>
              <a:spcBef>
                <a:spcPts val="1050"/>
              </a:spcBef>
              <a:spcAft>
                <a:spcPts val="0"/>
              </a:spcAft>
              <a:buSzPct val="93333"/>
              <a:buNone/>
            </a:pPr>
            <a:r>
              <a:rPr lang="pt-BR"/>
              <a:t>Sure enough, loss was bigger when model was wrong!</a:t>
            </a:r>
            <a:endParaRPr/>
          </a:p>
        </p:txBody>
      </p:sp>
      <p:pic>
        <p:nvPicPr>
          <p:cNvPr id="1788" name="Google Shape;1788;g3fbb7e4475e_0_707"/>
          <p:cNvPicPr preferRelativeResize="0"/>
          <p:nvPr/>
        </p:nvPicPr>
        <p:blipFill rotWithShape="1">
          <a:blip r:embed="rId3">
            <a:alphaModFix/>
          </a:blip>
          <a:srcRect b="0" l="0" r="0" t="0"/>
          <a:stretch/>
        </p:blipFill>
        <p:spPr>
          <a:xfrm>
            <a:off x="1522995" y="3186796"/>
            <a:ext cx="6219693" cy="1337569"/>
          </a:xfrm>
          <a:prstGeom prst="rect">
            <a:avLst/>
          </a:prstGeom>
          <a:noFill/>
          <a:ln>
            <a:noFill/>
          </a:ln>
        </p:spPr>
      </p:pic>
      <p:pic>
        <p:nvPicPr>
          <p:cNvPr id="1789" name="Google Shape;1789;g3fbb7e4475e_0_707"/>
          <p:cNvPicPr preferRelativeResize="0"/>
          <p:nvPr/>
        </p:nvPicPr>
        <p:blipFill rotWithShape="1">
          <a:blip r:embed="rId4">
            <a:alphaModFix/>
          </a:blip>
          <a:srcRect b="0" l="0" r="0" t="0"/>
          <a:stretch/>
        </p:blipFill>
        <p:spPr>
          <a:xfrm>
            <a:off x="1695450" y="1359155"/>
            <a:ext cx="5874788" cy="1212590"/>
          </a:xfrm>
          <a:prstGeom prst="rect">
            <a:avLst/>
          </a:prstGeom>
          <a:noFill/>
          <a:ln>
            <a:noFill/>
          </a:ln>
        </p:spPr>
      </p:pic>
      <p:sp>
        <p:nvSpPr>
          <p:cNvPr id="1790" name="Google Shape;1790;g3fbb7e4475e_0_707"/>
          <p:cNvSpPr txBox="1"/>
          <p:nvPr/>
        </p:nvSpPr>
        <p:spPr>
          <a:xfrm>
            <a:off x="6210600" y="65000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h2237bd4fd160ea92_0_0"/>
          <p:cNvSpPr/>
          <p:nvPr/>
        </p:nvSpPr>
        <p:spPr>
          <a:xfrm>
            <a:off x="6801649" y="1208975"/>
            <a:ext cx="756300" cy="766200"/>
          </a:xfrm>
          <a:prstGeom prst="ellipse">
            <a:avLst/>
          </a:prstGeom>
          <a:solidFill>
            <a:srgbClr val="FFFFFF"/>
          </a:solidFill>
          <a:ln cap="flat" cmpd="sng" w="2977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B7B7B7"/>
                </a:solidFill>
                <a:latin typeface="Arial"/>
                <a:ea typeface="Arial"/>
                <a:cs typeface="Arial"/>
                <a:sym typeface="Arial"/>
              </a:rPr>
              <a:t>Model</a:t>
            </a:r>
            <a:endParaRPr b="0" i="0" sz="1093" u="none" cap="none" strike="noStrike">
              <a:solidFill>
                <a:srgbClr val="B7B7B7"/>
              </a:solidFill>
              <a:latin typeface="Arial"/>
              <a:ea typeface="Arial"/>
              <a:cs typeface="Arial"/>
              <a:sym typeface="Arial"/>
            </a:endParaRPr>
          </a:p>
        </p:txBody>
      </p:sp>
      <p:sp>
        <p:nvSpPr>
          <p:cNvPr id="1796" name="Google Shape;1796;h2237bd4fd160ea92_0_0"/>
          <p:cNvSpPr/>
          <p:nvPr/>
        </p:nvSpPr>
        <p:spPr>
          <a:xfrm>
            <a:off x="6277664" y="1795055"/>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Classification Function</a:t>
            </a:r>
            <a:endParaRPr b="0" i="0" sz="1093" u="none" cap="none" strike="noStrike">
              <a:solidFill>
                <a:srgbClr val="B7B7B7"/>
              </a:solidFill>
              <a:latin typeface="Arial"/>
              <a:ea typeface="Arial"/>
              <a:cs typeface="Arial"/>
              <a:sym typeface="Arial"/>
            </a:endParaRPr>
          </a:p>
        </p:txBody>
      </p:sp>
      <p:sp>
        <p:nvSpPr>
          <p:cNvPr id="1797" name="Google Shape;1797;h2237bd4fd160ea92_0_0"/>
          <p:cNvSpPr/>
          <p:nvPr/>
        </p:nvSpPr>
        <p:spPr>
          <a:xfrm>
            <a:off x="6257047" y="3570935"/>
            <a:ext cx="1047900" cy="363600"/>
          </a:xfrm>
          <a:prstGeom prst="roundRect">
            <a:avLst>
              <a:gd fmla="val 26225" name="adj"/>
            </a:avLst>
          </a:prstGeom>
          <a:solidFill>
            <a:srgbClr val="FFFFFF"/>
          </a:solidFill>
          <a:ln cap="flat" cmpd="sng" w="2232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Objective Function</a:t>
            </a:r>
            <a:endParaRPr b="0" i="0" sz="1093" u="none" cap="none" strike="noStrike">
              <a:solidFill>
                <a:srgbClr val="B7B7B7"/>
              </a:solidFill>
              <a:latin typeface="Arial"/>
              <a:ea typeface="Arial"/>
              <a:cs typeface="Arial"/>
              <a:sym typeface="Arial"/>
            </a:endParaRPr>
          </a:p>
        </p:txBody>
      </p:sp>
      <p:cxnSp>
        <p:nvCxnSpPr>
          <p:cNvPr id="1798" name="Google Shape;1798;h2237bd4fd160ea92_0_0"/>
          <p:cNvCxnSpPr>
            <a:stCxn id="1796" idx="2"/>
            <a:endCxn id="1797" idx="0"/>
          </p:cNvCxnSpPr>
          <p:nvPr/>
        </p:nvCxnSpPr>
        <p:spPr>
          <a:xfrm flipH="1">
            <a:off x="6780914" y="2158655"/>
            <a:ext cx="20700" cy="1412400"/>
          </a:xfrm>
          <a:prstGeom prst="straightConnector1">
            <a:avLst/>
          </a:prstGeom>
          <a:noFill/>
          <a:ln cap="flat" cmpd="sng" w="29775">
            <a:solidFill>
              <a:srgbClr val="B7B7B7"/>
            </a:solidFill>
            <a:prstDash val="solid"/>
            <a:round/>
            <a:headEnd len="sm" w="sm" type="none"/>
            <a:tailEnd len="med" w="med" type="triangle"/>
          </a:ln>
        </p:spPr>
      </p:cxnSp>
      <p:sp>
        <p:nvSpPr>
          <p:cNvPr id="1799" name="Google Shape;1799;h2237bd4fd160ea92_0_0"/>
          <p:cNvSpPr/>
          <p:nvPr/>
        </p:nvSpPr>
        <p:spPr>
          <a:xfrm>
            <a:off x="7860794" y="2513392"/>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Optimization</a:t>
            </a:r>
            <a:endParaRPr sz="1093"/>
          </a:p>
          <a:p>
            <a:pPr indent="0" lvl="0" marL="0" marR="0" rtl="0" algn="ctr">
              <a:lnSpc>
                <a:spcPct val="100000"/>
              </a:lnSpc>
              <a:spcBef>
                <a:spcPts val="0"/>
              </a:spcBef>
              <a:spcAft>
                <a:spcPts val="0"/>
              </a:spcAft>
              <a:buClr>
                <a:srgbClr val="000000"/>
              </a:buClr>
              <a:buSzPts val="1093"/>
              <a:buFont typeface="Arial"/>
              <a:buNone/>
            </a:pPr>
            <a:r>
              <a:rPr lang="pt-BR" sz="1093"/>
              <a:t>Algorithm</a:t>
            </a:r>
            <a:endParaRPr sz="1093"/>
          </a:p>
        </p:txBody>
      </p:sp>
      <p:cxnSp>
        <p:nvCxnSpPr>
          <p:cNvPr id="1800" name="Google Shape;1800;h2237bd4fd160ea92_0_0"/>
          <p:cNvCxnSpPr>
            <a:stCxn id="1797" idx="3"/>
            <a:endCxn id="1799" idx="2"/>
          </p:cNvCxnSpPr>
          <p:nvPr/>
        </p:nvCxnSpPr>
        <p:spPr>
          <a:xfrm flipH="1" rot="10800000">
            <a:off x="7304947" y="2877035"/>
            <a:ext cx="1079700" cy="875700"/>
          </a:xfrm>
          <a:prstGeom prst="straightConnector1">
            <a:avLst/>
          </a:prstGeom>
          <a:noFill/>
          <a:ln cap="flat" cmpd="sng" w="29775">
            <a:solidFill>
              <a:schemeClr val="dk2"/>
            </a:solidFill>
            <a:prstDash val="solid"/>
            <a:round/>
            <a:headEnd len="sm" w="sm" type="none"/>
            <a:tailEnd len="med" w="med" type="triangle"/>
          </a:ln>
        </p:spPr>
      </p:cxnSp>
      <p:cxnSp>
        <p:nvCxnSpPr>
          <p:cNvPr id="1801" name="Google Shape;1801;h2237bd4fd160ea92_0_0"/>
          <p:cNvCxnSpPr>
            <a:stCxn id="1799" idx="0"/>
            <a:endCxn id="1796" idx="3"/>
          </p:cNvCxnSpPr>
          <p:nvPr/>
        </p:nvCxnSpPr>
        <p:spPr>
          <a:xfrm rot="10800000">
            <a:off x="7325444" y="1976992"/>
            <a:ext cx="1059300" cy="536400"/>
          </a:xfrm>
          <a:prstGeom prst="straightConnector1">
            <a:avLst/>
          </a:prstGeom>
          <a:noFill/>
          <a:ln cap="flat" cmpd="sng" w="29775">
            <a:solidFill>
              <a:schemeClr val="dk2"/>
            </a:solidFill>
            <a:prstDash val="solid"/>
            <a:round/>
            <a:headEnd len="sm" w="sm" type="none"/>
            <a:tailEnd len="med" w="med" type="triangle"/>
          </a:ln>
        </p:spPr>
      </p:cxnSp>
      <p:sp>
        <p:nvSpPr>
          <p:cNvPr id="1802" name="Google Shape;1802;h2237bd4fd160ea92_0_0"/>
          <p:cNvSpPr/>
          <p:nvPr/>
        </p:nvSpPr>
        <p:spPr>
          <a:xfrm>
            <a:off x="4572000" y="2544973"/>
            <a:ext cx="1185000" cy="363600"/>
          </a:xfrm>
          <a:prstGeom prst="roundRect">
            <a:avLst>
              <a:gd fmla="val 40544" name="adj"/>
            </a:avLst>
          </a:prstGeom>
          <a:solidFill>
            <a:srgbClr val="FFFFFF"/>
          </a:solidFill>
          <a:ln cap="flat" cmpd="sng" w="29775">
            <a:solidFill>
              <a:srgbClr val="B7B7B7"/>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solidFill>
                  <a:srgbClr val="B7B7B7"/>
                </a:solidFill>
              </a:rPr>
              <a:t>Feature Representation</a:t>
            </a:r>
            <a:endParaRPr b="0" i="0" sz="1093" u="none" cap="none" strike="noStrike">
              <a:solidFill>
                <a:srgbClr val="B7B7B7"/>
              </a:solidFill>
              <a:latin typeface="Arial"/>
              <a:ea typeface="Arial"/>
              <a:cs typeface="Arial"/>
              <a:sym typeface="Arial"/>
            </a:endParaRPr>
          </a:p>
        </p:txBody>
      </p:sp>
      <p:cxnSp>
        <p:nvCxnSpPr>
          <p:cNvPr id="1803" name="Google Shape;1803;h2237bd4fd160ea92_0_0"/>
          <p:cNvCxnSpPr>
            <a:stCxn id="1802" idx="3"/>
            <a:endCxn id="1796" idx="1"/>
          </p:cNvCxnSpPr>
          <p:nvPr/>
        </p:nvCxnSpPr>
        <p:spPr>
          <a:xfrm flipH="1" rot="10800000">
            <a:off x="5757000" y="1976773"/>
            <a:ext cx="520800" cy="750000"/>
          </a:xfrm>
          <a:prstGeom prst="straightConnector1">
            <a:avLst/>
          </a:prstGeom>
          <a:noFill/>
          <a:ln cap="flat" cmpd="sng" w="29775">
            <a:solidFill>
              <a:srgbClr val="B7B7B7"/>
            </a:solidFill>
            <a:prstDash val="dash"/>
            <a:round/>
            <a:headEnd len="sm" w="sm" type="none"/>
            <a:tailEnd len="med" w="med" type="triangle"/>
          </a:ln>
        </p:spPr>
      </p:cxnSp>
      <p:cxnSp>
        <p:nvCxnSpPr>
          <p:cNvPr id="1804" name="Google Shape;1804;h2237bd4fd160ea92_0_0"/>
          <p:cNvCxnSpPr>
            <a:stCxn id="1802" idx="3"/>
            <a:endCxn id="1797" idx="1"/>
          </p:cNvCxnSpPr>
          <p:nvPr/>
        </p:nvCxnSpPr>
        <p:spPr>
          <a:xfrm>
            <a:off x="5757000" y="2726773"/>
            <a:ext cx="500100" cy="1026000"/>
          </a:xfrm>
          <a:prstGeom prst="straightConnector1">
            <a:avLst/>
          </a:prstGeom>
          <a:noFill/>
          <a:ln cap="flat" cmpd="sng" w="29775">
            <a:solidFill>
              <a:srgbClr val="B7B7B7"/>
            </a:solidFill>
            <a:prstDash val="dash"/>
            <a:round/>
            <a:headEnd len="sm" w="sm" type="none"/>
            <a:tailEnd len="med" w="med" type="triangle"/>
          </a:ln>
        </p:spPr>
      </p:cxnSp>
      <p:sp>
        <p:nvSpPr>
          <p:cNvPr id="1805" name="Google Shape;1805;h2237bd4fd160ea92_0_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Optimization Algorithm</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h548695578f27d86f_0_190"/>
          <p:cNvSpPr/>
          <p:nvPr/>
        </p:nvSpPr>
        <p:spPr>
          <a:xfrm>
            <a:off x="4572000" y="2531363"/>
            <a:ext cx="4316400" cy="120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811" name="Google Shape;1811;h548695578f27d86f_0_190"/>
          <p:cNvSpPr/>
          <p:nvPr/>
        </p:nvSpPr>
        <p:spPr>
          <a:xfrm>
            <a:off x="204975" y="2531950"/>
            <a:ext cx="4316400" cy="120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812" name="Google Shape;1812;h548695578f27d86f_0_19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Making Explicit CE Loss Parameters</a:t>
            </a:r>
            <a:endParaRPr sz="3100"/>
          </a:p>
        </p:txBody>
      </p:sp>
      <p:pic>
        <p:nvPicPr>
          <p:cNvPr id="1813" name="Google Shape;1813;h548695578f27d86f_0_190"/>
          <p:cNvPicPr preferRelativeResize="0"/>
          <p:nvPr/>
        </p:nvPicPr>
        <p:blipFill>
          <a:blip r:embed="rId3">
            <a:alphaModFix/>
          </a:blip>
          <a:stretch>
            <a:fillRect/>
          </a:stretch>
        </p:blipFill>
        <p:spPr>
          <a:xfrm>
            <a:off x="311700" y="1435450"/>
            <a:ext cx="8128150" cy="866750"/>
          </a:xfrm>
          <a:prstGeom prst="rect">
            <a:avLst/>
          </a:prstGeom>
          <a:noFill/>
          <a:ln>
            <a:noFill/>
          </a:ln>
        </p:spPr>
      </p:pic>
      <p:pic>
        <p:nvPicPr>
          <p:cNvPr id="1814" name="Google Shape;1814;h548695578f27d86f_0_190"/>
          <p:cNvPicPr preferRelativeResize="0"/>
          <p:nvPr/>
        </p:nvPicPr>
        <p:blipFill>
          <a:blip r:embed="rId4">
            <a:alphaModFix/>
          </a:blip>
          <a:stretch>
            <a:fillRect/>
          </a:stretch>
        </p:blipFill>
        <p:spPr>
          <a:xfrm>
            <a:off x="5335632" y="2773677"/>
            <a:ext cx="2968018" cy="721044"/>
          </a:xfrm>
          <a:prstGeom prst="rect">
            <a:avLst/>
          </a:prstGeom>
          <a:noFill/>
          <a:ln>
            <a:noFill/>
          </a:ln>
        </p:spPr>
      </p:pic>
      <p:pic>
        <p:nvPicPr>
          <p:cNvPr id="1815" name="Google Shape;1815;h548695578f27d86f_0_190"/>
          <p:cNvPicPr preferRelativeResize="0"/>
          <p:nvPr/>
        </p:nvPicPr>
        <p:blipFill>
          <a:blip r:embed="rId5">
            <a:alphaModFix/>
          </a:blip>
          <a:stretch>
            <a:fillRect/>
          </a:stretch>
        </p:blipFill>
        <p:spPr>
          <a:xfrm>
            <a:off x="311700" y="2617825"/>
            <a:ext cx="4050407" cy="925221"/>
          </a:xfrm>
          <a:prstGeom prst="rect">
            <a:avLst/>
          </a:prstGeom>
          <a:noFill/>
          <a:ln>
            <a:noFill/>
          </a:ln>
        </p:spPr>
      </p:pic>
      <p:pic>
        <p:nvPicPr>
          <p:cNvPr id="1816" name="Google Shape;1816;h548695578f27d86f_0_190"/>
          <p:cNvPicPr preferRelativeResize="0"/>
          <p:nvPr/>
        </p:nvPicPr>
        <p:blipFill>
          <a:blip r:embed="rId6">
            <a:alphaModFix/>
          </a:blip>
          <a:stretch>
            <a:fillRect/>
          </a:stretch>
        </p:blipFill>
        <p:spPr>
          <a:xfrm>
            <a:off x="311700" y="3965016"/>
            <a:ext cx="4870242" cy="775631"/>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h2237bd4fd160ea92_0_14"/>
          <p:cNvSpPr txBox="1"/>
          <p:nvPr>
            <p:ph type="title"/>
          </p:nvPr>
        </p:nvSpPr>
        <p:spPr>
          <a:xfrm>
            <a:off x="685800" y="285751"/>
            <a:ext cx="7658100" cy="560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Our goal: minimize the loss</a:t>
            </a:r>
            <a:endParaRPr>
              <a:solidFill>
                <a:srgbClr val="0000CC"/>
              </a:solidFill>
            </a:endParaRPr>
          </a:p>
        </p:txBody>
      </p:sp>
      <p:sp>
        <p:nvSpPr>
          <p:cNvPr id="1823" name="Google Shape;1823;h2237bd4fd160ea92_0_14"/>
          <p:cNvSpPr txBox="1"/>
          <p:nvPr>
            <p:ph idx="1" type="body"/>
          </p:nvPr>
        </p:nvSpPr>
        <p:spPr>
          <a:xfrm>
            <a:off x="685800" y="1123950"/>
            <a:ext cx="8382000" cy="4216500"/>
          </a:xfrm>
          <a:prstGeom prst="rect">
            <a:avLst/>
          </a:prstGeom>
          <a:blipFill rotWithShape="1">
            <a:blip r:embed="rId3">
              <a:alphaModFix/>
            </a:blip>
            <a:stretch>
              <a:fillRect b="0" l="-2720" r="-1970" t="-2400"/>
            </a:stretch>
          </a:blip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 </a:t>
            </a:r>
            <a:endParaRPr/>
          </a:p>
        </p:txBody>
      </p:sp>
      <p:pic>
        <p:nvPicPr>
          <p:cNvPr id="1824" name="Google Shape;1824;h2237bd4fd160ea92_0_14"/>
          <p:cNvPicPr preferRelativeResize="0"/>
          <p:nvPr/>
        </p:nvPicPr>
        <p:blipFill rotWithShape="1">
          <a:blip r:embed="rId4">
            <a:alphaModFix/>
          </a:blip>
          <a:srcRect b="0" l="0" r="0" t="0"/>
          <a:stretch/>
        </p:blipFill>
        <p:spPr>
          <a:xfrm>
            <a:off x="1357312" y="3714750"/>
            <a:ext cx="6429374" cy="1270000"/>
          </a:xfrm>
          <a:prstGeom prst="rect">
            <a:avLst/>
          </a:prstGeom>
          <a:noFill/>
          <a:ln>
            <a:noFill/>
          </a:ln>
        </p:spPr>
      </p:pic>
      <p:sp>
        <p:nvSpPr>
          <p:cNvPr id="1825" name="Google Shape;1825;h2237bd4fd160ea92_0_14"/>
          <p:cNvSpPr txBox="1"/>
          <p:nvPr/>
        </p:nvSpPr>
        <p:spPr>
          <a:xfrm>
            <a:off x="6395725" y="718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h10357b960f8fc55b_0_1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Gradient Descent</a:t>
            </a:r>
            <a:endParaRPr/>
          </a:p>
        </p:txBody>
      </p:sp>
      <p:pic>
        <p:nvPicPr>
          <p:cNvPr id="1831" name="Google Shape;1831;h10357b960f8fc55b_0_18" title="Gradient_descent.gif"/>
          <p:cNvPicPr preferRelativeResize="0"/>
          <p:nvPr/>
        </p:nvPicPr>
        <p:blipFill>
          <a:blip r:embed="rId3">
            <a:alphaModFix/>
          </a:blip>
          <a:stretch>
            <a:fillRect/>
          </a:stretch>
        </p:blipFill>
        <p:spPr>
          <a:xfrm>
            <a:off x="4884425" y="1056450"/>
            <a:ext cx="3971300" cy="3221175"/>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sp>
        <p:nvSpPr>
          <p:cNvPr id="1837" name="Google Shape;1837;h2237bd4fd160ea92_0_21"/>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Intuition of gradient descent</a:t>
            </a:r>
            <a:endParaRPr/>
          </a:p>
        </p:txBody>
      </p:sp>
      <p:sp>
        <p:nvSpPr>
          <p:cNvPr id="1838" name="Google Shape;1838;h2237bd4fd160ea92_0_21"/>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How do I get to the bottom of this river canyon?</a:t>
            </a:r>
            <a:endParaRPr/>
          </a:p>
          <a:p>
            <a:pPr indent="-7938" lvl="0" marL="7938" rtl="0" algn="l">
              <a:lnSpc>
                <a:spcPct val="90000"/>
              </a:lnSpc>
              <a:spcBef>
                <a:spcPts val="1050"/>
              </a:spcBef>
              <a:spcAft>
                <a:spcPts val="0"/>
              </a:spcAft>
              <a:buSzPts val="2800"/>
              <a:buNone/>
            </a:pPr>
            <a:r>
              <a:t/>
            </a:r>
            <a:endParaRPr/>
          </a:p>
        </p:txBody>
      </p:sp>
      <p:pic>
        <p:nvPicPr>
          <p:cNvPr descr="A close - up of a map&#10;&#10;Description automatically generated with medium confidence" id="1839" name="Google Shape;1839;h2237bd4fd160ea92_0_21"/>
          <p:cNvPicPr preferRelativeResize="0"/>
          <p:nvPr/>
        </p:nvPicPr>
        <p:blipFill rotWithShape="1">
          <a:blip r:embed="rId3">
            <a:alphaModFix/>
          </a:blip>
          <a:srcRect b="0" l="0" r="0" t="0"/>
          <a:stretch/>
        </p:blipFill>
        <p:spPr>
          <a:xfrm>
            <a:off x="1066800" y="2250198"/>
            <a:ext cx="4032050" cy="2710075"/>
          </a:xfrm>
          <a:prstGeom prst="rect">
            <a:avLst/>
          </a:prstGeom>
          <a:noFill/>
          <a:ln>
            <a:noFill/>
          </a:ln>
        </p:spPr>
      </p:pic>
      <p:sp>
        <p:nvSpPr>
          <p:cNvPr id="1840" name="Google Shape;1840;h2237bd4fd160ea92_0_21"/>
          <p:cNvSpPr txBox="1"/>
          <p:nvPr/>
        </p:nvSpPr>
        <p:spPr>
          <a:xfrm>
            <a:off x="1497051" y="3257550"/>
            <a:ext cx="457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3600">
                <a:solidFill>
                  <a:schemeClr val="dk1"/>
                </a:solidFill>
                <a:latin typeface="Lucida Sans"/>
                <a:ea typeface="Lucida Sans"/>
                <a:cs typeface="Lucida Sans"/>
                <a:sym typeface="Lucida Sans"/>
              </a:rPr>
              <a:t>x</a:t>
            </a:r>
            <a:endParaRPr b="1" sz="2400">
              <a:solidFill>
                <a:schemeClr val="dk1"/>
              </a:solidFill>
              <a:latin typeface="Lucida Sans"/>
              <a:ea typeface="Lucida Sans"/>
              <a:cs typeface="Lucida Sans"/>
              <a:sym typeface="Lucida Sans"/>
            </a:endParaRPr>
          </a:p>
        </p:txBody>
      </p:sp>
      <p:sp>
        <p:nvSpPr>
          <p:cNvPr id="1841" name="Google Shape;1841;h2237bd4fd160ea92_0_21"/>
          <p:cNvSpPr txBox="1"/>
          <p:nvPr/>
        </p:nvSpPr>
        <p:spPr>
          <a:xfrm>
            <a:off x="6019800" y="2114550"/>
            <a:ext cx="3124200" cy="2845800"/>
          </a:xfrm>
          <a:prstGeom prst="rect">
            <a:avLst/>
          </a:prstGeom>
          <a:noFill/>
          <a:ln>
            <a:noFill/>
          </a:ln>
        </p:spPr>
        <p:txBody>
          <a:bodyPr anchorCtr="0" anchor="t" bIns="45700" lIns="0" spcFirstLastPara="1" rIns="0" wrap="square" tIns="45700">
            <a:normAutofit lnSpcReduction="10000"/>
          </a:bodyPr>
          <a:lstStyle/>
          <a:p>
            <a:pPr indent="-7938" lvl="0" marL="7938" marR="0" rtl="0" algn="l">
              <a:lnSpc>
                <a:spcPct val="90000"/>
              </a:lnSpc>
              <a:spcBef>
                <a:spcPts val="0"/>
              </a:spcBef>
              <a:spcAft>
                <a:spcPts val="0"/>
              </a:spcAft>
              <a:buClr>
                <a:schemeClr val="accent1"/>
              </a:buClr>
              <a:buSzPts val="2800"/>
              <a:buFont typeface="Calibri"/>
              <a:buNone/>
            </a:pPr>
            <a:r>
              <a:rPr lang="pt-BR" sz="2800">
                <a:solidFill>
                  <a:srgbClr val="3F3F3F"/>
                </a:solidFill>
                <a:latin typeface="Calibri"/>
                <a:ea typeface="Calibri"/>
                <a:cs typeface="Calibri"/>
                <a:sym typeface="Calibri"/>
              </a:rPr>
              <a:t>Look around me 360</a:t>
            </a:r>
            <a:r>
              <a:rPr baseline="30000" lang="pt-BR" sz="2800">
                <a:solidFill>
                  <a:srgbClr val="3F3F3F"/>
                </a:solidFill>
                <a:latin typeface="Calibri"/>
                <a:ea typeface="Calibri"/>
                <a:cs typeface="Calibri"/>
                <a:sym typeface="Calibri"/>
              </a:rPr>
              <a:t>∘</a:t>
            </a:r>
            <a:endParaRPr/>
          </a:p>
          <a:p>
            <a:pPr indent="-7938" lvl="0" marL="7938" marR="0" rtl="0" algn="l">
              <a:lnSpc>
                <a:spcPct val="90000"/>
              </a:lnSpc>
              <a:spcBef>
                <a:spcPts val="1050"/>
              </a:spcBef>
              <a:spcAft>
                <a:spcPts val="0"/>
              </a:spcAft>
              <a:buClr>
                <a:schemeClr val="accent1"/>
              </a:buClr>
              <a:buSzPts val="2800"/>
              <a:buFont typeface="Calibri"/>
              <a:buNone/>
            </a:pPr>
            <a:r>
              <a:rPr lang="pt-BR" sz="2800">
                <a:solidFill>
                  <a:srgbClr val="3F3F3F"/>
                </a:solidFill>
                <a:latin typeface="Calibri"/>
                <a:ea typeface="Calibri"/>
                <a:cs typeface="Calibri"/>
                <a:sym typeface="Calibri"/>
              </a:rPr>
              <a:t>Find the direction of steepest slope down</a:t>
            </a:r>
            <a:endParaRPr/>
          </a:p>
          <a:p>
            <a:pPr indent="-7938" lvl="0" marL="7938" marR="0" rtl="0" algn="l">
              <a:lnSpc>
                <a:spcPct val="90000"/>
              </a:lnSpc>
              <a:spcBef>
                <a:spcPts val="1050"/>
              </a:spcBef>
              <a:spcAft>
                <a:spcPts val="0"/>
              </a:spcAft>
              <a:buClr>
                <a:schemeClr val="accent1"/>
              </a:buClr>
              <a:buSzPts val="2800"/>
              <a:buFont typeface="Calibri"/>
              <a:buNone/>
            </a:pPr>
            <a:r>
              <a:rPr lang="pt-BR" sz="2800">
                <a:solidFill>
                  <a:srgbClr val="3F3F3F"/>
                </a:solidFill>
                <a:latin typeface="Calibri"/>
                <a:ea typeface="Calibri"/>
                <a:cs typeface="Calibri"/>
                <a:sym typeface="Calibri"/>
              </a:rPr>
              <a:t>Go that way</a:t>
            </a:r>
            <a:endParaRPr/>
          </a:p>
        </p:txBody>
      </p:sp>
      <p:sp>
        <p:nvSpPr>
          <p:cNvPr id="1842" name="Google Shape;1842;h2237bd4fd160ea92_0_21"/>
          <p:cNvSpPr txBox="1"/>
          <p:nvPr/>
        </p:nvSpPr>
        <p:spPr>
          <a:xfrm>
            <a:off x="6455250" y="339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sp>
        <p:nvSpPr>
          <p:cNvPr id="1848" name="Google Shape;1848;h2237bd4fd160ea92_0_30"/>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Our goal: minimize the loss</a:t>
            </a:r>
            <a:endParaRPr>
              <a:solidFill>
                <a:srgbClr val="0000CC"/>
              </a:solidFill>
            </a:endParaRPr>
          </a:p>
        </p:txBody>
      </p:sp>
      <p:sp>
        <p:nvSpPr>
          <p:cNvPr id="1849" name="Google Shape;1849;h2237bd4fd160ea92_0_30"/>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77500" lnSpcReduction="20000"/>
          </a:bodyPr>
          <a:lstStyle/>
          <a:p>
            <a:pPr indent="0" lvl="0" marL="0" rtl="0" algn="l">
              <a:spcBef>
                <a:spcPts val="0"/>
              </a:spcBef>
              <a:spcAft>
                <a:spcPts val="0"/>
              </a:spcAft>
              <a:buSzPct val="93333"/>
              <a:buNone/>
            </a:pPr>
            <a:r>
              <a:rPr lang="pt-BR"/>
              <a:t>For logistic regression, loss function is convex</a:t>
            </a:r>
            <a:endParaRPr/>
          </a:p>
          <a:p>
            <a:pPr indent="-376238" lvl="0" marL="457200" rtl="0" algn="l">
              <a:spcBef>
                <a:spcPts val="0"/>
              </a:spcBef>
              <a:spcAft>
                <a:spcPts val="0"/>
              </a:spcAft>
              <a:buSzPct val="100000"/>
              <a:buChar char="•"/>
            </a:pPr>
            <a:r>
              <a:rPr lang="pt-BR"/>
              <a:t>A convex function has just one minimum</a:t>
            </a:r>
            <a:endParaRPr/>
          </a:p>
          <a:p>
            <a:pPr indent="-376238" lvl="0" marL="457200" rtl="0" algn="l">
              <a:spcBef>
                <a:spcPts val="0"/>
              </a:spcBef>
              <a:spcAft>
                <a:spcPts val="0"/>
              </a:spcAft>
              <a:buSzPct val="100000"/>
              <a:buChar char="•"/>
            </a:pPr>
            <a:r>
              <a:rPr lang="pt-BR"/>
              <a:t>Gradient descent starting from any point is guaranteed to find the minimum</a:t>
            </a:r>
            <a:endParaRPr/>
          </a:p>
          <a:p>
            <a:pPr indent="-346710" lvl="1" marL="914400" rtl="0" algn="l">
              <a:spcBef>
                <a:spcPts val="1600"/>
              </a:spcBef>
              <a:spcAft>
                <a:spcPts val="0"/>
              </a:spcAft>
              <a:buSzPct val="100000"/>
              <a:buChar char="•"/>
            </a:pPr>
            <a:r>
              <a:rPr lang="pt-BR"/>
              <a:t>(Loss for neural networks is non-convex)</a:t>
            </a:r>
            <a:endParaRPr/>
          </a:p>
          <a:p>
            <a:pPr indent="0" lvl="0" marL="0" rtl="0" algn="l">
              <a:spcBef>
                <a:spcPts val="0"/>
              </a:spcBef>
              <a:spcAft>
                <a:spcPts val="0"/>
              </a:spcAft>
              <a:buSzPct val="93333"/>
              <a:buNone/>
            </a:pPr>
            <a:r>
              <a:t/>
            </a:r>
            <a:endParaRPr/>
          </a:p>
          <a:p>
            <a:pPr indent="0" lvl="0" marL="0" rtl="0" algn="l">
              <a:spcBef>
                <a:spcPts val="0"/>
              </a:spcBef>
              <a:spcAft>
                <a:spcPts val="0"/>
              </a:spcAft>
              <a:buSzPct val="93333"/>
              <a:buNone/>
            </a:pPr>
            <a:r>
              <a:t/>
            </a:r>
            <a:endParaRPr/>
          </a:p>
          <a:p>
            <a:pPr indent="0" lvl="0" marL="0" rtl="0" algn="l">
              <a:spcBef>
                <a:spcPts val="0"/>
              </a:spcBef>
              <a:spcAft>
                <a:spcPts val="0"/>
              </a:spcAft>
              <a:buSzPct val="93333"/>
              <a:buNone/>
            </a:pPr>
            <a:r>
              <a:rPr lang="pt-BR"/>
              <a:t> </a:t>
            </a:r>
            <a:endParaRPr/>
          </a:p>
          <a:p>
            <a:pPr indent="0" lvl="0" marL="0" rtl="0" algn="l">
              <a:spcBef>
                <a:spcPts val="0"/>
              </a:spcBef>
              <a:spcAft>
                <a:spcPts val="0"/>
              </a:spcAft>
              <a:buSzPct val="93333"/>
              <a:buNone/>
            </a:pPr>
            <a:r>
              <a:t/>
            </a:r>
            <a:endParaRPr/>
          </a:p>
        </p:txBody>
      </p:sp>
      <p:sp>
        <p:nvSpPr>
          <p:cNvPr id="1850" name="Google Shape;1850;h2237bd4fd160ea92_0_30"/>
          <p:cNvSpPr txBox="1"/>
          <p:nvPr/>
        </p:nvSpPr>
        <p:spPr>
          <a:xfrm>
            <a:off x="6305275" y="43451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h2237bd4fd160ea92_0_36"/>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first visualize for a single scalar w</a:t>
            </a:r>
            <a:endParaRPr/>
          </a:p>
        </p:txBody>
      </p:sp>
      <p:sp>
        <p:nvSpPr>
          <p:cNvPr id="1857" name="Google Shape;1857;h2237bd4fd160ea92_0_36"/>
          <p:cNvSpPr txBox="1"/>
          <p:nvPr/>
        </p:nvSpPr>
        <p:spPr>
          <a:xfrm>
            <a:off x="304800" y="1001075"/>
            <a:ext cx="71982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Q: Given current w, should we make it bigger or smaller?</a:t>
            </a:r>
            <a:endParaRPr sz="1800">
              <a:solidFill>
                <a:srgbClr val="434343"/>
              </a:solidFill>
              <a:latin typeface="Comfortaa"/>
              <a:ea typeface="Comfortaa"/>
              <a:cs typeface="Comfortaa"/>
              <a:sym typeface="Comfortaa"/>
            </a:endParaRPr>
          </a:p>
        </p:txBody>
      </p:sp>
      <p:sp>
        <p:nvSpPr>
          <p:cNvPr id="1858" name="Google Shape;1858;h2237bd4fd160ea92_0_36"/>
          <p:cNvSpPr/>
          <p:nvPr/>
        </p:nvSpPr>
        <p:spPr>
          <a:xfrm>
            <a:off x="304800" y="1324925"/>
            <a:ext cx="8381100" cy="40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 Move w in the reverse direction from the slope of the function </a:t>
            </a:r>
            <a:endParaRPr sz="1800">
              <a:solidFill>
                <a:srgbClr val="434343"/>
              </a:solidFill>
              <a:latin typeface="Comfortaa"/>
              <a:ea typeface="Comfortaa"/>
              <a:cs typeface="Comfortaa"/>
              <a:sym typeface="Comfortaa"/>
            </a:endParaRPr>
          </a:p>
        </p:txBody>
      </p:sp>
      <p:pic>
        <p:nvPicPr>
          <p:cNvPr id="1859" name="Google Shape;1859;h2237bd4fd160ea92_0_36"/>
          <p:cNvPicPr preferRelativeResize="0"/>
          <p:nvPr>
            <p:ph idx="1" type="body"/>
          </p:nvPr>
        </p:nvPicPr>
        <p:blipFill rotWithShape="1">
          <a:blip r:embed="rId3">
            <a:alphaModFix/>
          </a:blip>
          <a:srcRect b="0" l="0" r="0" t="0"/>
          <a:stretch/>
        </p:blipFill>
        <p:spPr>
          <a:xfrm>
            <a:off x="1981200" y="1882551"/>
            <a:ext cx="5221800" cy="3203700"/>
          </a:xfrm>
          <a:prstGeom prst="rect">
            <a:avLst/>
          </a:prstGeom>
          <a:noFill/>
          <a:ln>
            <a:noFill/>
          </a:ln>
        </p:spPr>
      </p:pic>
      <p:sp>
        <p:nvSpPr>
          <p:cNvPr id="1860" name="Google Shape;1860;h2237bd4fd160ea92_0_36"/>
          <p:cNvSpPr txBox="1"/>
          <p:nvPr/>
        </p:nvSpPr>
        <p:spPr>
          <a:xfrm>
            <a:off x="7437425" y="4547625"/>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h548695578f27d86f_0_8"/>
          <p:cNvSpPr txBox="1"/>
          <p:nvPr>
            <p:ph type="title"/>
          </p:nvPr>
        </p:nvSpPr>
        <p:spPr>
          <a:xfrm>
            <a:off x="311700" y="118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Gradient Descent</a:t>
            </a:r>
            <a:endParaRPr/>
          </a:p>
        </p:txBody>
      </p:sp>
      <p:pic>
        <p:nvPicPr>
          <p:cNvPr id="1866" name="Google Shape;1866;h548695578f27d86f_0_8"/>
          <p:cNvPicPr preferRelativeResize="0"/>
          <p:nvPr/>
        </p:nvPicPr>
        <p:blipFill>
          <a:blip r:embed="rId3">
            <a:alphaModFix/>
          </a:blip>
          <a:stretch>
            <a:fillRect/>
          </a:stretch>
        </p:blipFill>
        <p:spPr>
          <a:xfrm>
            <a:off x="311700" y="743050"/>
            <a:ext cx="4142550" cy="4181350"/>
          </a:xfrm>
          <a:prstGeom prst="rect">
            <a:avLst/>
          </a:prstGeom>
          <a:noFill/>
          <a:ln>
            <a:noFill/>
          </a:ln>
        </p:spPr>
      </p:pic>
      <p:sp>
        <p:nvSpPr>
          <p:cNvPr id="1867" name="Google Shape;1867;h548695578f27d86f_0_8"/>
          <p:cNvSpPr txBox="1"/>
          <p:nvPr/>
        </p:nvSpPr>
        <p:spPr>
          <a:xfrm>
            <a:off x="7209600" y="4466775"/>
            <a:ext cx="162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by Gemini</a:t>
            </a:r>
            <a:endParaRPr sz="1800">
              <a:solidFill>
                <a:srgbClr val="434343"/>
              </a:solidFill>
              <a:latin typeface="Comfortaa"/>
              <a:ea typeface="Comfortaa"/>
              <a:cs typeface="Comfortaa"/>
              <a:sym typeface="Comfortaa"/>
            </a:endParaRPr>
          </a:p>
        </p:txBody>
      </p:sp>
      <p:pic>
        <p:nvPicPr>
          <p:cNvPr id="1868" name="Google Shape;1868;h548695578f27d86f_0_8"/>
          <p:cNvPicPr preferRelativeResize="0"/>
          <p:nvPr/>
        </p:nvPicPr>
        <p:blipFill>
          <a:blip r:embed="rId4">
            <a:alphaModFix/>
          </a:blip>
          <a:stretch>
            <a:fillRect/>
          </a:stretch>
        </p:blipFill>
        <p:spPr>
          <a:xfrm>
            <a:off x="5376138" y="1170125"/>
            <a:ext cx="2904554" cy="314425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2" name="Shape 1872"/>
        <p:cNvGrpSpPr/>
        <p:nvPr/>
      </p:nvGrpSpPr>
      <p:grpSpPr>
        <a:xfrm>
          <a:off x="0" y="0"/>
          <a:ext cx="0" cy="0"/>
          <a:chOff x="0" y="0"/>
          <a:chExt cx="0" cy="0"/>
        </a:xfrm>
      </p:grpSpPr>
      <p:sp>
        <p:nvSpPr>
          <p:cNvPr id="1873" name="Google Shape;1873;h548695578f27d86f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Gradient Descent</a:t>
            </a:r>
            <a:endParaRPr/>
          </a:p>
        </p:txBody>
      </p:sp>
      <p:pic>
        <p:nvPicPr>
          <p:cNvPr id="1874" name="Google Shape;1874;h548695578f27d86f_0_0" title="ChatGPT Image Sep 28, 2026, 07_09_06 AM.png"/>
          <p:cNvPicPr preferRelativeResize="0"/>
          <p:nvPr/>
        </p:nvPicPr>
        <p:blipFill>
          <a:blip r:embed="rId3">
            <a:alphaModFix/>
          </a:blip>
          <a:stretch>
            <a:fillRect/>
          </a:stretch>
        </p:blipFill>
        <p:spPr>
          <a:xfrm>
            <a:off x="311700" y="1156225"/>
            <a:ext cx="5731465" cy="3820977"/>
          </a:xfrm>
          <a:prstGeom prst="rect">
            <a:avLst/>
          </a:prstGeom>
          <a:noFill/>
          <a:ln>
            <a:noFill/>
          </a:ln>
        </p:spPr>
      </p:pic>
      <p:pic>
        <p:nvPicPr>
          <p:cNvPr id="1875" name="Google Shape;1875;h548695578f27d86f_0_0"/>
          <p:cNvPicPr preferRelativeResize="0"/>
          <p:nvPr/>
        </p:nvPicPr>
        <p:blipFill>
          <a:blip r:embed="rId4">
            <a:alphaModFix/>
          </a:blip>
          <a:stretch>
            <a:fillRect/>
          </a:stretch>
        </p:blipFill>
        <p:spPr>
          <a:xfrm>
            <a:off x="6098115" y="2061025"/>
            <a:ext cx="2796035" cy="1780833"/>
          </a:xfrm>
          <a:prstGeom prst="rect">
            <a:avLst/>
          </a:prstGeom>
          <a:noFill/>
          <a:ln>
            <a:noFill/>
          </a:ln>
        </p:spPr>
      </p:pic>
      <p:sp>
        <p:nvSpPr>
          <p:cNvPr id="1876" name="Google Shape;1876;h548695578f27d86f_0_0"/>
          <p:cNvSpPr txBox="1"/>
          <p:nvPr/>
        </p:nvSpPr>
        <p:spPr>
          <a:xfrm>
            <a:off x="7209600" y="4466775"/>
            <a:ext cx="162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by ChatGPT</a:t>
            </a:r>
            <a:endParaRPr sz="1800">
              <a:solidFill>
                <a:srgbClr val="434343"/>
              </a:solidFill>
              <a:latin typeface="Comfortaa"/>
              <a:ea typeface="Comfortaa"/>
              <a:cs typeface="Comfortaa"/>
              <a:sym typeface="Comfortaa"/>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pic>
        <p:nvPicPr>
          <p:cNvPr id="1882" name="Google Shape;1882;h2237bd4fd160ea92_0_44"/>
          <p:cNvPicPr preferRelativeResize="0"/>
          <p:nvPr>
            <p:ph idx="4294967295" type="body"/>
          </p:nvPr>
        </p:nvPicPr>
        <p:blipFill rotWithShape="1">
          <a:blip r:embed="rId3">
            <a:alphaModFix/>
          </a:blip>
          <a:srcRect b="0" l="0" r="0" t="0"/>
          <a:stretch/>
        </p:blipFill>
        <p:spPr>
          <a:xfrm>
            <a:off x="685800" y="1919440"/>
            <a:ext cx="6629400" cy="3166800"/>
          </a:xfrm>
          <a:prstGeom prst="rect">
            <a:avLst/>
          </a:prstGeom>
          <a:noFill/>
          <a:ln>
            <a:noFill/>
          </a:ln>
        </p:spPr>
      </p:pic>
      <p:sp>
        <p:nvSpPr>
          <p:cNvPr id="1883" name="Google Shape;1883;h2237bd4fd160ea92_0_44"/>
          <p:cNvSpPr txBox="1"/>
          <p:nvPr>
            <p:ph type="title"/>
          </p:nvPr>
        </p:nvSpPr>
        <p:spPr>
          <a:xfrm>
            <a:off x="311700" y="268350"/>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first visualize for a single scalar w</a:t>
            </a:r>
            <a:endParaRPr/>
          </a:p>
        </p:txBody>
      </p:sp>
      <p:sp>
        <p:nvSpPr>
          <p:cNvPr id="1884" name="Google Shape;1884;h2237bd4fd160ea92_0_44"/>
          <p:cNvSpPr txBox="1"/>
          <p:nvPr/>
        </p:nvSpPr>
        <p:spPr>
          <a:xfrm>
            <a:off x="266700" y="915324"/>
            <a:ext cx="8610600" cy="708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Q: Given current w, should we make it bigger or smaller?</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A: Move w in the reverse direction from the slope of the function </a:t>
            </a:r>
            <a:endParaRPr sz="2000">
              <a:solidFill>
                <a:srgbClr val="434343"/>
              </a:solidFill>
              <a:latin typeface="Comfortaa"/>
              <a:ea typeface="Comfortaa"/>
              <a:cs typeface="Comfortaa"/>
              <a:sym typeface="Comfortaa"/>
            </a:endParaRPr>
          </a:p>
        </p:txBody>
      </p:sp>
      <p:sp>
        <p:nvSpPr>
          <p:cNvPr id="1885" name="Google Shape;1885;h2237bd4fd160ea92_0_44"/>
          <p:cNvSpPr txBox="1"/>
          <p:nvPr/>
        </p:nvSpPr>
        <p:spPr>
          <a:xfrm>
            <a:off x="196475" y="3935150"/>
            <a:ext cx="2584200" cy="3540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pt-BR" sz="1700" u="none" cap="none" strike="noStrike">
                <a:solidFill>
                  <a:schemeClr val="dk1"/>
                </a:solidFill>
                <a:latin typeface="Comfortaa"/>
                <a:ea typeface="Comfortaa"/>
                <a:cs typeface="Comfortaa"/>
                <a:sym typeface="Comfortaa"/>
              </a:rPr>
              <a:t>So we'll move positive</a:t>
            </a:r>
            <a:endParaRPr b="1" sz="1100">
              <a:latin typeface="Comfortaa"/>
              <a:ea typeface="Comfortaa"/>
              <a:cs typeface="Comfortaa"/>
              <a:sym typeface="Comfortaa"/>
            </a:endParaRPr>
          </a:p>
        </p:txBody>
      </p:sp>
      <p:sp>
        <p:nvSpPr>
          <p:cNvPr id="1886" name="Google Shape;1886;h2237bd4fd160ea92_0_44"/>
          <p:cNvSpPr txBox="1"/>
          <p:nvPr/>
        </p:nvSpPr>
        <p:spPr>
          <a:xfrm>
            <a:off x="7437425" y="4555123"/>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pic>
        <p:nvPicPr>
          <p:cNvPr id="1892" name="Google Shape;1892;h2237bd4fd160ea92_0_52"/>
          <p:cNvPicPr preferRelativeResize="0"/>
          <p:nvPr>
            <p:ph idx="1" type="body"/>
          </p:nvPr>
        </p:nvPicPr>
        <p:blipFill rotWithShape="1">
          <a:blip r:embed="rId3">
            <a:alphaModFix/>
          </a:blip>
          <a:srcRect b="0" l="0" r="0" t="0"/>
          <a:stretch/>
        </p:blipFill>
        <p:spPr>
          <a:xfrm>
            <a:off x="685800" y="1919440"/>
            <a:ext cx="6629400" cy="3166800"/>
          </a:xfrm>
          <a:prstGeom prst="rect">
            <a:avLst/>
          </a:prstGeom>
          <a:noFill/>
          <a:ln>
            <a:noFill/>
          </a:ln>
        </p:spPr>
      </p:pic>
      <p:sp>
        <p:nvSpPr>
          <p:cNvPr id="1893" name="Google Shape;1893;h2237bd4fd160ea92_0_52"/>
          <p:cNvSpPr txBox="1"/>
          <p:nvPr>
            <p:ph type="title"/>
          </p:nvPr>
        </p:nvSpPr>
        <p:spPr>
          <a:xfrm>
            <a:off x="349800" y="227400"/>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Let's first visualize for a single scalar w</a:t>
            </a:r>
            <a:endParaRPr/>
          </a:p>
        </p:txBody>
      </p:sp>
      <p:sp>
        <p:nvSpPr>
          <p:cNvPr id="1894" name="Google Shape;1894;h2237bd4fd160ea92_0_52"/>
          <p:cNvSpPr txBox="1"/>
          <p:nvPr/>
        </p:nvSpPr>
        <p:spPr>
          <a:xfrm>
            <a:off x="304800" y="800099"/>
            <a:ext cx="8610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000">
                <a:solidFill>
                  <a:schemeClr val="dk1"/>
                </a:solidFill>
                <a:latin typeface="Lucida Sans"/>
                <a:ea typeface="Lucida Sans"/>
                <a:cs typeface="Lucida Sans"/>
                <a:sym typeface="Lucida Sans"/>
              </a:rPr>
              <a:t>Q: Given current w, should we make it bigger or smaller?</a:t>
            </a:r>
            <a:endParaRPr/>
          </a:p>
          <a:p>
            <a:pPr indent="0" lvl="0" marL="0" marR="0" rtl="0" algn="l">
              <a:spcBef>
                <a:spcPts val="0"/>
              </a:spcBef>
              <a:spcAft>
                <a:spcPts val="0"/>
              </a:spcAft>
              <a:buNone/>
            </a:pPr>
            <a:r>
              <a:rPr lang="pt-BR" sz="2000">
                <a:solidFill>
                  <a:schemeClr val="dk1"/>
                </a:solidFill>
                <a:latin typeface="Lucida Sans"/>
                <a:ea typeface="Lucida Sans"/>
                <a:cs typeface="Lucida Sans"/>
                <a:sym typeface="Lucida Sans"/>
              </a:rPr>
              <a:t>A: Move </a:t>
            </a:r>
            <a:r>
              <a:rPr i="1" lang="pt-BR" sz="2000">
                <a:solidFill>
                  <a:schemeClr val="dk1"/>
                </a:solidFill>
                <a:latin typeface="Lucida Sans"/>
                <a:ea typeface="Lucida Sans"/>
                <a:cs typeface="Lucida Sans"/>
                <a:sym typeface="Lucida Sans"/>
              </a:rPr>
              <a:t>w </a:t>
            </a:r>
            <a:r>
              <a:rPr lang="pt-BR" sz="2000">
                <a:solidFill>
                  <a:schemeClr val="dk1"/>
                </a:solidFill>
                <a:latin typeface="Lucida Sans"/>
                <a:ea typeface="Lucida Sans"/>
                <a:cs typeface="Lucida Sans"/>
                <a:sym typeface="Lucida Sans"/>
              </a:rPr>
              <a:t>in the reverse direction from the slope of the function </a:t>
            </a:r>
            <a:endParaRPr/>
          </a:p>
        </p:txBody>
      </p:sp>
      <p:sp>
        <p:nvSpPr>
          <p:cNvPr id="1895" name="Google Shape;1895;h2237bd4fd160ea92_0_52"/>
          <p:cNvSpPr txBox="1"/>
          <p:nvPr/>
        </p:nvSpPr>
        <p:spPr>
          <a:xfrm>
            <a:off x="196475" y="3935150"/>
            <a:ext cx="2584200" cy="3540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1" i="0" lang="pt-BR" sz="1700" u="none" cap="none" strike="noStrike">
                <a:solidFill>
                  <a:schemeClr val="dk1"/>
                </a:solidFill>
                <a:latin typeface="Comfortaa"/>
                <a:ea typeface="Comfortaa"/>
                <a:cs typeface="Comfortaa"/>
                <a:sym typeface="Comfortaa"/>
              </a:rPr>
              <a:t>So we'll move positive</a:t>
            </a:r>
            <a:endParaRPr b="1" sz="1100">
              <a:latin typeface="Comfortaa"/>
              <a:ea typeface="Comfortaa"/>
              <a:cs typeface="Comfortaa"/>
              <a:sym typeface="Comfortaa"/>
            </a:endParaRPr>
          </a:p>
        </p:txBody>
      </p:sp>
      <p:sp>
        <p:nvSpPr>
          <p:cNvPr id="1896" name="Google Shape;1896;h2237bd4fd160ea92_0_52"/>
          <p:cNvSpPr txBox="1"/>
          <p:nvPr/>
        </p:nvSpPr>
        <p:spPr>
          <a:xfrm>
            <a:off x="7437425" y="4547625"/>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h2237bd4fd160ea92_0_60"/>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Gradients</a:t>
            </a:r>
            <a:endParaRPr/>
          </a:p>
        </p:txBody>
      </p:sp>
      <p:sp>
        <p:nvSpPr>
          <p:cNvPr id="1903" name="Google Shape;1903;h2237bd4fd160ea92_0_60"/>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92500" lnSpcReduction="10000"/>
          </a:bodyPr>
          <a:lstStyle/>
          <a:p>
            <a:pPr indent="0" lvl="0" marL="0" rtl="0" algn="l">
              <a:spcBef>
                <a:spcPts val="0"/>
              </a:spcBef>
              <a:spcAft>
                <a:spcPts val="0"/>
              </a:spcAft>
              <a:buSzPct val="93333"/>
              <a:buNone/>
            </a:pPr>
            <a:r>
              <a:rPr lang="pt-BR"/>
              <a:t>The </a:t>
            </a:r>
            <a:r>
              <a:rPr b="1" lang="pt-BR"/>
              <a:t>gradient</a:t>
            </a:r>
            <a:r>
              <a:rPr lang="pt-BR"/>
              <a:t> of a function of many variables is a vector pointing in the direction of the greatest increase in a function. </a:t>
            </a:r>
            <a:endParaRPr/>
          </a:p>
          <a:p>
            <a:pPr indent="0" lvl="0" marL="0" rtl="0" algn="l">
              <a:spcBef>
                <a:spcPts val="0"/>
              </a:spcBef>
              <a:spcAft>
                <a:spcPts val="0"/>
              </a:spcAft>
              <a:buSzPct val="93333"/>
              <a:buNone/>
            </a:pPr>
            <a:r>
              <a:t/>
            </a:r>
            <a:endParaRPr/>
          </a:p>
          <a:p>
            <a:pPr indent="0" lvl="0" marL="0" rtl="0" algn="l">
              <a:spcBef>
                <a:spcPts val="0"/>
              </a:spcBef>
              <a:spcAft>
                <a:spcPts val="0"/>
              </a:spcAft>
              <a:buSzPct val="93333"/>
              <a:buNone/>
            </a:pPr>
            <a:r>
              <a:rPr b="1" lang="pt-BR"/>
              <a:t>Gradient Descent</a:t>
            </a:r>
            <a:r>
              <a:rPr lang="pt-BR"/>
              <a:t>: Find the gradient of the loss function at the current point and move in the opposite direction. </a:t>
            </a:r>
            <a:endParaRPr/>
          </a:p>
        </p:txBody>
      </p:sp>
      <p:sp>
        <p:nvSpPr>
          <p:cNvPr id="1904" name="Google Shape;1904;h2237bd4fd160ea92_0_60"/>
          <p:cNvSpPr txBox="1"/>
          <p:nvPr/>
        </p:nvSpPr>
        <p:spPr>
          <a:xfrm>
            <a:off x="6305275" y="43451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h548695578f27d86f_0_338"/>
          <p:cNvSpPr/>
          <p:nvPr/>
        </p:nvSpPr>
        <p:spPr>
          <a:xfrm>
            <a:off x="2714888" y="2387250"/>
            <a:ext cx="4316400" cy="120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910" name="Google Shape;1910;h548695578f27d86f_0_3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Cross-Entropy Loss - Specific Kind of Loss</a:t>
            </a:r>
            <a:endParaRPr sz="2900"/>
          </a:p>
        </p:txBody>
      </p:sp>
      <p:pic>
        <p:nvPicPr>
          <p:cNvPr id="1911" name="Google Shape;1911;h548695578f27d86f_0_338"/>
          <p:cNvPicPr preferRelativeResize="0"/>
          <p:nvPr/>
        </p:nvPicPr>
        <p:blipFill>
          <a:blip r:embed="rId3">
            <a:alphaModFix/>
          </a:blip>
          <a:stretch>
            <a:fillRect/>
          </a:stretch>
        </p:blipFill>
        <p:spPr>
          <a:xfrm>
            <a:off x="311700" y="1396866"/>
            <a:ext cx="4870242" cy="775631"/>
          </a:xfrm>
          <a:prstGeom prst="rect">
            <a:avLst/>
          </a:prstGeom>
          <a:noFill/>
          <a:ln>
            <a:noFill/>
          </a:ln>
        </p:spPr>
      </p:pic>
      <p:pic>
        <p:nvPicPr>
          <p:cNvPr id="1912" name="Google Shape;1912;h548695578f27d86f_0_338"/>
          <p:cNvPicPr preferRelativeResize="0"/>
          <p:nvPr/>
        </p:nvPicPr>
        <p:blipFill>
          <a:blip r:embed="rId4">
            <a:alphaModFix/>
          </a:blip>
          <a:stretch>
            <a:fillRect/>
          </a:stretch>
        </p:blipFill>
        <p:spPr>
          <a:xfrm>
            <a:off x="188575" y="3687350"/>
            <a:ext cx="4511410" cy="877775"/>
          </a:xfrm>
          <a:prstGeom prst="rect">
            <a:avLst/>
          </a:prstGeom>
          <a:noFill/>
          <a:ln>
            <a:noFill/>
          </a:ln>
        </p:spPr>
      </p:pic>
      <p:pic>
        <p:nvPicPr>
          <p:cNvPr id="1913" name="Google Shape;1913;h548695578f27d86f_0_338"/>
          <p:cNvPicPr preferRelativeResize="0"/>
          <p:nvPr/>
        </p:nvPicPr>
        <p:blipFill>
          <a:blip r:embed="rId5">
            <a:alphaModFix/>
          </a:blip>
          <a:stretch>
            <a:fillRect/>
          </a:stretch>
        </p:blipFill>
        <p:spPr>
          <a:xfrm>
            <a:off x="2873698" y="2491036"/>
            <a:ext cx="3998776" cy="877775"/>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h225ca5ac618c9a54_0_1"/>
          <p:cNvSpPr txBox="1"/>
          <p:nvPr>
            <p:ph idx="1" type="body"/>
          </p:nvPr>
        </p:nvSpPr>
        <p:spPr>
          <a:xfrm>
            <a:off x="311700" y="1152475"/>
            <a:ext cx="8520600" cy="21189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pt-BR" sz="2100"/>
              <a:t>The value of the gradient (slope in our example)</a:t>
            </a:r>
            <a:br>
              <a:rPr lang="pt-BR" sz="2100"/>
            </a:br>
            <a:r>
              <a:rPr lang="pt-BR" sz="2100"/>
              <a:t>						weighted by a </a:t>
            </a:r>
            <a:r>
              <a:rPr b="1" lang="pt-BR" sz="2100">
                <a:solidFill>
                  <a:schemeClr val="dk1"/>
                </a:solidFill>
              </a:rPr>
              <a:t>learning rate</a:t>
            </a:r>
            <a:r>
              <a:rPr lang="pt-BR" sz="2100"/>
              <a:t> η</a:t>
            </a:r>
            <a:endParaRPr sz="2100"/>
          </a:p>
          <a:p>
            <a:pPr indent="0" lvl="0" marL="457200" rtl="0" algn="l">
              <a:spcBef>
                <a:spcPts val="0"/>
              </a:spcBef>
              <a:spcAft>
                <a:spcPts val="0"/>
              </a:spcAft>
              <a:buNone/>
            </a:pPr>
            <a:r>
              <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pt-BR" sz="2100"/>
              <a:t>Higher learning rate means move w faster</a:t>
            </a:r>
            <a:endParaRPr sz="2100"/>
          </a:p>
        </p:txBody>
      </p:sp>
      <p:sp>
        <p:nvSpPr>
          <p:cNvPr id="1920" name="Google Shape;1920;h225ca5ac618c9a54_0_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F3F3F"/>
              </a:buClr>
              <a:buSzPts val="3240"/>
              <a:buFont typeface="Calibri"/>
              <a:buNone/>
            </a:pPr>
            <a:r>
              <a:rPr lang="pt-BR" sz="2900"/>
              <a:t>How much do we move in that direction ?</a:t>
            </a:r>
            <a:endParaRPr sz="2900"/>
          </a:p>
        </p:txBody>
      </p:sp>
      <p:pic>
        <p:nvPicPr>
          <p:cNvPr id="1921" name="Google Shape;1921;h225ca5ac618c9a54_0_1"/>
          <p:cNvPicPr preferRelativeResize="0"/>
          <p:nvPr/>
        </p:nvPicPr>
        <p:blipFill>
          <a:blip r:embed="rId3">
            <a:alphaModFix/>
          </a:blip>
          <a:stretch>
            <a:fillRect/>
          </a:stretch>
        </p:blipFill>
        <p:spPr>
          <a:xfrm>
            <a:off x="883175" y="1627675"/>
            <a:ext cx="2678625" cy="780525"/>
          </a:xfrm>
          <a:prstGeom prst="rect">
            <a:avLst/>
          </a:prstGeom>
          <a:noFill/>
          <a:ln>
            <a:noFill/>
          </a:ln>
        </p:spPr>
      </p:pic>
      <p:pic>
        <p:nvPicPr>
          <p:cNvPr id="1922" name="Google Shape;1922;h225ca5ac618c9a54_0_1"/>
          <p:cNvPicPr preferRelativeResize="0"/>
          <p:nvPr/>
        </p:nvPicPr>
        <p:blipFill>
          <a:blip r:embed="rId4">
            <a:alphaModFix/>
          </a:blip>
          <a:stretch>
            <a:fillRect/>
          </a:stretch>
        </p:blipFill>
        <p:spPr>
          <a:xfrm>
            <a:off x="1234888" y="3358025"/>
            <a:ext cx="6674225" cy="105070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6" name="Shape 1926"/>
        <p:cNvGrpSpPr/>
        <p:nvPr/>
      </p:nvGrpSpPr>
      <p:grpSpPr>
        <a:xfrm>
          <a:off x="0" y="0"/>
          <a:ext cx="0" cy="0"/>
          <a:chOff x="0" y="0"/>
          <a:chExt cx="0" cy="0"/>
        </a:xfrm>
      </p:grpSpPr>
      <p:sp>
        <p:nvSpPr>
          <p:cNvPr id="1927" name="Google Shape;1927;h548695578f27d86f_0_346"/>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Decent: opposite direction to the slope with a learning rate η</a:t>
            </a:r>
            <a:endParaRPr sz="2900"/>
          </a:p>
        </p:txBody>
      </p:sp>
      <p:pic>
        <p:nvPicPr>
          <p:cNvPr id="1928" name="Google Shape;1928;h548695578f27d86f_0_346"/>
          <p:cNvPicPr preferRelativeResize="0"/>
          <p:nvPr/>
        </p:nvPicPr>
        <p:blipFill>
          <a:blip r:embed="rId3">
            <a:alphaModFix/>
          </a:blip>
          <a:stretch>
            <a:fillRect/>
          </a:stretch>
        </p:blipFill>
        <p:spPr>
          <a:xfrm>
            <a:off x="311700" y="1492350"/>
            <a:ext cx="5388811" cy="1570250"/>
          </a:xfrm>
          <a:prstGeom prst="rect">
            <a:avLst/>
          </a:prstGeom>
          <a:noFill/>
          <a:ln>
            <a:noFill/>
          </a:ln>
        </p:spPr>
      </p:pic>
      <p:pic>
        <p:nvPicPr>
          <p:cNvPr id="1929" name="Google Shape;1929;h548695578f27d86f_0_346"/>
          <p:cNvPicPr preferRelativeResize="0"/>
          <p:nvPr/>
        </p:nvPicPr>
        <p:blipFill>
          <a:blip r:embed="rId4">
            <a:alphaModFix/>
          </a:blip>
          <a:stretch>
            <a:fillRect/>
          </a:stretch>
        </p:blipFill>
        <p:spPr>
          <a:xfrm>
            <a:off x="311700" y="3410851"/>
            <a:ext cx="6352368" cy="157025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h7be4e124204b1a2c_0_2"/>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Learning: updating weights with the descent</a:t>
            </a:r>
            <a:endParaRPr sz="2900"/>
          </a:p>
        </p:txBody>
      </p:sp>
      <p:pic>
        <p:nvPicPr>
          <p:cNvPr id="1935" name="Google Shape;1935;h7be4e124204b1a2c_0_2"/>
          <p:cNvPicPr preferRelativeResize="0"/>
          <p:nvPr/>
        </p:nvPicPr>
        <p:blipFill>
          <a:blip r:embed="rId3">
            <a:alphaModFix/>
          </a:blip>
          <a:stretch>
            <a:fillRect/>
          </a:stretch>
        </p:blipFill>
        <p:spPr>
          <a:xfrm>
            <a:off x="276900" y="1566426"/>
            <a:ext cx="6352368" cy="1570250"/>
          </a:xfrm>
          <a:prstGeom prst="rect">
            <a:avLst/>
          </a:prstGeom>
          <a:noFill/>
          <a:ln>
            <a:noFill/>
          </a:ln>
        </p:spPr>
      </p:pic>
      <p:pic>
        <p:nvPicPr>
          <p:cNvPr id="1936" name="Google Shape;1936;h7be4e124204b1a2c_0_2"/>
          <p:cNvPicPr preferRelativeResize="0"/>
          <p:nvPr/>
        </p:nvPicPr>
        <p:blipFill>
          <a:blip r:embed="rId4">
            <a:alphaModFix/>
          </a:blip>
          <a:stretch>
            <a:fillRect/>
          </a:stretch>
        </p:blipFill>
        <p:spPr>
          <a:xfrm>
            <a:off x="276888" y="3463701"/>
            <a:ext cx="8675670" cy="1365775"/>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h548695578f27d86f_0_8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Gradient Descent - Learning Rate</a:t>
            </a:r>
            <a:endParaRPr/>
          </a:p>
        </p:txBody>
      </p:sp>
      <p:pic>
        <p:nvPicPr>
          <p:cNvPr id="1942" name="Google Shape;1942;h548695578f27d86f_0_83"/>
          <p:cNvPicPr preferRelativeResize="0"/>
          <p:nvPr/>
        </p:nvPicPr>
        <p:blipFill>
          <a:blip r:embed="rId3">
            <a:alphaModFix/>
          </a:blip>
          <a:stretch>
            <a:fillRect/>
          </a:stretch>
        </p:blipFill>
        <p:spPr>
          <a:xfrm>
            <a:off x="152400" y="1170125"/>
            <a:ext cx="8839202" cy="3481708"/>
          </a:xfrm>
          <a:prstGeom prst="rect">
            <a:avLst/>
          </a:prstGeom>
          <a:noFill/>
          <a:ln>
            <a:noFill/>
          </a:ln>
        </p:spPr>
      </p:pic>
      <p:sp>
        <p:nvSpPr>
          <p:cNvPr id="1943" name="Google Shape;1943;h548695578f27d86f_0_83"/>
          <p:cNvSpPr txBox="1"/>
          <p:nvPr/>
        </p:nvSpPr>
        <p:spPr>
          <a:xfrm>
            <a:off x="7279200" y="4550300"/>
            <a:ext cx="162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by ChatGPT</a:t>
            </a:r>
            <a:endParaRPr sz="1800">
              <a:solidFill>
                <a:srgbClr val="434343"/>
              </a:solidFill>
              <a:latin typeface="Comfortaa"/>
              <a:ea typeface="Comfortaa"/>
              <a:cs typeface="Comfortaa"/>
              <a:sym typeface="Comfortaa"/>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h2237bd4fd160ea92_0_73"/>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Now let's consider N dimensions</a:t>
            </a:r>
            <a:endParaRPr/>
          </a:p>
        </p:txBody>
      </p:sp>
      <p:sp>
        <p:nvSpPr>
          <p:cNvPr id="1950" name="Google Shape;1950;h2237bd4fd160ea92_0_73"/>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92500" lnSpcReduction="20000"/>
          </a:bodyPr>
          <a:lstStyle/>
          <a:p>
            <a:pPr indent="0" lvl="0" marL="0" rtl="0" algn="l">
              <a:spcBef>
                <a:spcPts val="0"/>
              </a:spcBef>
              <a:spcAft>
                <a:spcPts val="0"/>
              </a:spcAft>
              <a:buSzPct val="93333"/>
              <a:buNone/>
            </a:pPr>
            <a:r>
              <a:rPr lang="pt-BR"/>
              <a:t>We want to know where in the N-dimensional space (of the N parameters that make up θ ) we should move. </a:t>
            </a:r>
            <a:endParaRPr/>
          </a:p>
          <a:p>
            <a:pPr indent="0" lvl="0" marL="0" rtl="0" algn="l">
              <a:spcBef>
                <a:spcPts val="0"/>
              </a:spcBef>
              <a:spcAft>
                <a:spcPts val="0"/>
              </a:spcAft>
              <a:buSzPct val="93333"/>
              <a:buNone/>
            </a:pPr>
            <a:r>
              <a:rPr lang="pt-BR"/>
              <a:t>The gradient is just such a vector; it expresses the directional components of the sharpest slope along each of the N dimensions. </a:t>
            </a:r>
            <a:endParaRPr/>
          </a:p>
          <a:p>
            <a:pPr indent="0" lvl="0" marL="0" rtl="0" algn="l">
              <a:spcBef>
                <a:spcPts val="0"/>
              </a:spcBef>
              <a:spcAft>
                <a:spcPts val="0"/>
              </a:spcAft>
              <a:buSzPct val="93333"/>
              <a:buNone/>
            </a:pPr>
            <a:r>
              <a:t/>
            </a:r>
            <a:endParaRPr/>
          </a:p>
          <a:p>
            <a:pPr indent="0" lvl="0" marL="0" rtl="0" algn="l">
              <a:spcBef>
                <a:spcPts val="0"/>
              </a:spcBef>
              <a:spcAft>
                <a:spcPts val="0"/>
              </a:spcAft>
              <a:buSzPct val="93333"/>
              <a:buNone/>
            </a:pPr>
            <a:r>
              <a:t/>
            </a:r>
            <a:endParaRPr/>
          </a:p>
        </p:txBody>
      </p:sp>
      <p:sp>
        <p:nvSpPr>
          <p:cNvPr id="1951" name="Google Shape;1951;h2237bd4fd160ea92_0_73"/>
          <p:cNvSpPr txBox="1"/>
          <p:nvPr/>
        </p:nvSpPr>
        <p:spPr>
          <a:xfrm>
            <a:off x="6305275" y="4352673"/>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sp>
        <p:nvSpPr>
          <p:cNvPr id="1957" name="Google Shape;1957;h2237bd4fd160ea92_0_7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Imagine 2 dimensions, w and b</a:t>
            </a:r>
            <a:endParaRPr/>
          </a:p>
        </p:txBody>
      </p:sp>
      <p:sp>
        <p:nvSpPr>
          <p:cNvPr id="1958" name="Google Shape;1958;h2237bd4fd160ea92_0_79"/>
          <p:cNvSpPr txBox="1"/>
          <p:nvPr>
            <p:ph idx="4294967295" type="body"/>
          </p:nvPr>
        </p:nvSpPr>
        <p:spPr>
          <a:xfrm>
            <a:off x="457175" y="1242000"/>
            <a:ext cx="2895600" cy="3745200"/>
          </a:xfrm>
          <a:prstGeom prst="rect">
            <a:avLst/>
          </a:prstGeom>
          <a:noFill/>
          <a:ln>
            <a:noFill/>
          </a:ln>
        </p:spPr>
        <p:txBody>
          <a:bodyPr anchorCtr="0" anchor="t" bIns="45700" lIns="0" spcFirstLastPara="1" rIns="0" wrap="square" tIns="45700">
            <a:normAutofit lnSpcReduction="20000"/>
          </a:bodyPr>
          <a:lstStyle/>
          <a:p>
            <a:pPr indent="0" lvl="0" marL="0" rtl="0" algn="l">
              <a:spcBef>
                <a:spcPts val="0"/>
              </a:spcBef>
              <a:spcAft>
                <a:spcPts val="0"/>
              </a:spcAft>
              <a:buSzPts val="2800"/>
              <a:buNone/>
            </a:pPr>
            <a:r>
              <a:rPr lang="pt-BR"/>
              <a:t>Visualizing the gradient vector at the red point</a:t>
            </a:r>
            <a:endParaRPr/>
          </a:p>
          <a:p>
            <a:pPr indent="0" lvl="0" marL="0" rtl="0" algn="l">
              <a:spcBef>
                <a:spcPts val="0"/>
              </a:spcBef>
              <a:spcAft>
                <a:spcPts val="0"/>
              </a:spcAft>
              <a:buSzPts val="2800"/>
              <a:buNone/>
            </a:pPr>
            <a:r>
              <a:rPr lang="pt-BR"/>
              <a:t>It has two dimensions shown in the x-y plane</a:t>
            </a:r>
            <a:endParaRPr/>
          </a:p>
        </p:txBody>
      </p:sp>
      <p:pic>
        <p:nvPicPr>
          <p:cNvPr id="1959" name="Google Shape;1959;h2237bd4fd160ea92_0_79"/>
          <p:cNvPicPr preferRelativeResize="0"/>
          <p:nvPr/>
        </p:nvPicPr>
        <p:blipFill rotWithShape="1">
          <a:blip r:embed="rId3">
            <a:alphaModFix/>
          </a:blip>
          <a:srcRect b="0" l="0" r="0" t="0"/>
          <a:stretch/>
        </p:blipFill>
        <p:spPr>
          <a:xfrm>
            <a:off x="3654289" y="971550"/>
            <a:ext cx="5340626" cy="3901536"/>
          </a:xfrm>
          <a:prstGeom prst="rect">
            <a:avLst/>
          </a:prstGeom>
          <a:noFill/>
          <a:ln>
            <a:noFill/>
          </a:ln>
        </p:spPr>
      </p:pic>
      <p:sp>
        <p:nvSpPr>
          <p:cNvPr id="1960" name="Google Shape;1960;h2237bd4fd160ea92_0_79"/>
          <p:cNvSpPr txBox="1"/>
          <p:nvPr/>
        </p:nvSpPr>
        <p:spPr>
          <a:xfrm>
            <a:off x="7420225" y="131425"/>
            <a:ext cx="15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(Jurafsky, 2026)</a:t>
            </a:r>
            <a:endParaRPr>
              <a:solidFill>
                <a:srgbClr val="434343"/>
              </a:solidFill>
              <a:latin typeface="Comfortaa"/>
              <a:ea typeface="Comfortaa"/>
              <a:cs typeface="Comfortaa"/>
              <a:sym typeface="Comfortaa"/>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h2237bd4fd160ea92_0_86"/>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Real gradients</a:t>
            </a:r>
            <a:endParaRPr/>
          </a:p>
        </p:txBody>
      </p:sp>
      <p:sp>
        <p:nvSpPr>
          <p:cNvPr id="1967" name="Google Shape;1967;h2237bd4fd160ea92_0_86"/>
          <p:cNvSpPr txBox="1"/>
          <p:nvPr>
            <p:ph idx="1" type="body"/>
          </p:nvPr>
        </p:nvSpPr>
        <p:spPr>
          <a:xfrm>
            <a:off x="311700" y="1152475"/>
            <a:ext cx="8520600" cy="3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300"/>
              <a:t>Are much longer; lots and lots of weights</a:t>
            </a:r>
            <a:endParaRPr sz="2300"/>
          </a:p>
          <a:p>
            <a:pPr indent="0" lvl="0" marL="0" rtl="0" algn="l">
              <a:spcBef>
                <a:spcPts val="0"/>
              </a:spcBef>
              <a:spcAft>
                <a:spcPts val="0"/>
              </a:spcAft>
              <a:buNone/>
            </a:pPr>
            <a:r>
              <a:rPr lang="pt-BR" sz="2300"/>
              <a:t>For each dimension </a:t>
            </a:r>
            <a:r>
              <a:rPr i="1" lang="pt-BR" sz="2300"/>
              <a:t>w</a:t>
            </a:r>
            <a:r>
              <a:rPr baseline="-25000" i="1" lang="pt-BR" sz="2300"/>
              <a:t>i</a:t>
            </a:r>
            <a:r>
              <a:rPr lang="pt-BR" sz="2300"/>
              <a:t> the gradient component </a:t>
            </a:r>
            <a:r>
              <a:rPr i="1" lang="pt-BR" sz="2300"/>
              <a:t>i</a:t>
            </a:r>
            <a:r>
              <a:rPr lang="pt-BR" sz="2300"/>
              <a:t> tells us the slope with respect to that variable. </a:t>
            </a:r>
            <a:endParaRPr sz="2300"/>
          </a:p>
          <a:p>
            <a:pPr indent="-374650" lvl="0" marL="457200" rtl="0" algn="l">
              <a:spcBef>
                <a:spcPts val="0"/>
              </a:spcBef>
              <a:spcAft>
                <a:spcPts val="0"/>
              </a:spcAft>
              <a:buSzPts val="2300"/>
              <a:buChar char="●"/>
            </a:pPr>
            <a:r>
              <a:rPr i="1" lang="pt-BR" sz="2300"/>
              <a:t>“How much would a small change in w</a:t>
            </a:r>
            <a:r>
              <a:rPr baseline="-25000" i="1" lang="pt-BR" sz="2300"/>
              <a:t>i</a:t>
            </a:r>
            <a:r>
              <a:rPr i="1" lang="pt-BR" sz="2300"/>
              <a:t> influence the total loss function L?” </a:t>
            </a:r>
            <a:endParaRPr i="1" sz="2300"/>
          </a:p>
          <a:p>
            <a:pPr indent="-374650" lvl="0" marL="457200" rtl="0" algn="l">
              <a:spcBef>
                <a:spcPts val="0"/>
              </a:spcBef>
              <a:spcAft>
                <a:spcPts val="0"/>
              </a:spcAft>
              <a:buSzPts val="2300"/>
              <a:buChar char="●"/>
            </a:pPr>
            <a:r>
              <a:rPr lang="pt-BR" sz="2300"/>
              <a:t>We express the slope as a partial derivative ∂ of the loss ∂</a:t>
            </a:r>
            <a:r>
              <a:rPr i="1" lang="pt-BR" sz="2300"/>
              <a:t>w</a:t>
            </a:r>
            <a:r>
              <a:rPr baseline="-25000" i="1" lang="pt-BR" sz="2300"/>
              <a:t>i</a:t>
            </a:r>
            <a:r>
              <a:rPr i="1" lang="pt-BR" sz="2300"/>
              <a:t> </a:t>
            </a:r>
            <a:endParaRPr i="1" sz="2300"/>
          </a:p>
          <a:p>
            <a:pPr indent="0" lvl="0" marL="0" rtl="0" algn="l">
              <a:spcBef>
                <a:spcPts val="0"/>
              </a:spcBef>
              <a:spcAft>
                <a:spcPts val="0"/>
              </a:spcAft>
              <a:buNone/>
            </a:pPr>
            <a:r>
              <a:rPr lang="pt-BR" sz="2300"/>
              <a:t>The gradient is then defined as a vector of these partials.</a:t>
            </a:r>
            <a:endParaRPr sz="2300"/>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Google Shape;1973;h2237bd4fd160ea92_0_92"/>
          <p:cNvSpPr txBox="1"/>
          <p:nvPr>
            <p:ph type="title"/>
          </p:nvPr>
        </p:nvSpPr>
        <p:spPr>
          <a:xfrm>
            <a:off x="311700" y="57950"/>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The gradient</a:t>
            </a:r>
            <a:endParaRPr/>
          </a:p>
        </p:txBody>
      </p:sp>
      <p:sp>
        <p:nvSpPr>
          <p:cNvPr id="1974" name="Google Shape;1974;h2237bd4fd160ea92_0_92"/>
          <p:cNvSpPr txBox="1"/>
          <p:nvPr>
            <p:ph idx="1" type="body"/>
          </p:nvPr>
        </p:nvSpPr>
        <p:spPr>
          <a:xfrm>
            <a:off x="311700" y="705850"/>
            <a:ext cx="8520600" cy="11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We’ll represent ŷ as f (x; θ) to make the dependence of θ more obvious:</a:t>
            </a:r>
            <a:endParaRPr sz="1800"/>
          </a:p>
        </p:txBody>
      </p:sp>
      <p:sp>
        <p:nvSpPr>
          <p:cNvPr id="1975" name="Google Shape;1975;h2237bd4fd160ea92_0_92"/>
          <p:cNvSpPr txBox="1"/>
          <p:nvPr/>
        </p:nvSpPr>
        <p:spPr>
          <a:xfrm>
            <a:off x="311700" y="3669675"/>
            <a:ext cx="819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The final equation for updating θ based on the gradient is thus </a:t>
            </a:r>
            <a:endParaRPr sz="1800">
              <a:solidFill>
                <a:srgbClr val="434343"/>
              </a:solidFill>
              <a:latin typeface="Comfortaa"/>
              <a:ea typeface="Comfortaa"/>
              <a:cs typeface="Comfortaa"/>
              <a:sym typeface="Comfortaa"/>
            </a:endParaRPr>
          </a:p>
        </p:txBody>
      </p:sp>
      <p:pic>
        <p:nvPicPr>
          <p:cNvPr id="1976" name="Google Shape;1976;h2237bd4fd160ea92_0_92"/>
          <p:cNvPicPr preferRelativeResize="0"/>
          <p:nvPr/>
        </p:nvPicPr>
        <p:blipFill>
          <a:blip r:embed="rId3">
            <a:alphaModFix/>
          </a:blip>
          <a:stretch>
            <a:fillRect/>
          </a:stretch>
        </p:blipFill>
        <p:spPr>
          <a:xfrm>
            <a:off x="1563150" y="1161813"/>
            <a:ext cx="6416349" cy="2462575"/>
          </a:xfrm>
          <a:prstGeom prst="rect">
            <a:avLst/>
          </a:prstGeom>
          <a:noFill/>
          <a:ln>
            <a:noFill/>
          </a:ln>
        </p:spPr>
      </p:pic>
      <p:pic>
        <p:nvPicPr>
          <p:cNvPr id="1977" name="Google Shape;1977;h2237bd4fd160ea92_0_92"/>
          <p:cNvPicPr preferRelativeResize="0"/>
          <p:nvPr/>
        </p:nvPicPr>
        <p:blipFill>
          <a:blip r:embed="rId4">
            <a:alphaModFix/>
          </a:blip>
          <a:stretch>
            <a:fillRect/>
          </a:stretch>
        </p:blipFill>
        <p:spPr>
          <a:xfrm>
            <a:off x="1689950" y="4239100"/>
            <a:ext cx="6162758" cy="707325"/>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h2237bd4fd160ea92_0_101"/>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pt-BR" sz="3000"/>
              <a:t>What are these partial derivatives for logistic regression?</a:t>
            </a:r>
            <a:endParaRPr/>
          </a:p>
        </p:txBody>
      </p:sp>
      <p:sp>
        <p:nvSpPr>
          <p:cNvPr id="1984" name="Google Shape;1984;h2237bd4fd160ea92_0_101"/>
          <p:cNvSpPr txBox="1"/>
          <p:nvPr/>
        </p:nvSpPr>
        <p:spPr>
          <a:xfrm>
            <a:off x="457200" y="1237925"/>
            <a:ext cx="88584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pt-BR" sz="1800">
                <a:solidFill>
                  <a:srgbClr val="3F3F3F"/>
                </a:solidFill>
                <a:latin typeface="Comfortaa"/>
                <a:ea typeface="Comfortaa"/>
                <a:cs typeface="Comfortaa"/>
                <a:sym typeface="Comfortaa"/>
              </a:rPr>
              <a:t>The loss function</a:t>
            </a:r>
            <a:endParaRPr sz="1800">
              <a:solidFill>
                <a:srgbClr val="3F3F3F"/>
              </a:solidFill>
              <a:latin typeface="Comfortaa"/>
              <a:ea typeface="Comfortaa"/>
              <a:cs typeface="Comfortaa"/>
              <a:sym typeface="Comfortaa"/>
            </a:endParaRPr>
          </a:p>
        </p:txBody>
      </p:sp>
      <p:pic>
        <p:nvPicPr>
          <p:cNvPr id="1985" name="Google Shape;1985;h2237bd4fd160ea92_0_101"/>
          <p:cNvPicPr preferRelativeResize="0"/>
          <p:nvPr/>
        </p:nvPicPr>
        <p:blipFill rotWithShape="1">
          <a:blip r:embed="rId3">
            <a:alphaModFix/>
          </a:blip>
          <a:srcRect b="0" l="0" r="0" t="0"/>
          <a:stretch/>
        </p:blipFill>
        <p:spPr>
          <a:xfrm>
            <a:off x="582415" y="1743165"/>
            <a:ext cx="8186858" cy="461665"/>
          </a:xfrm>
          <a:prstGeom prst="rect">
            <a:avLst/>
          </a:prstGeom>
          <a:noFill/>
          <a:ln>
            <a:noFill/>
          </a:ln>
        </p:spPr>
      </p:pic>
      <p:pic>
        <p:nvPicPr>
          <p:cNvPr id="1986" name="Google Shape;1986;h2237bd4fd160ea92_0_101"/>
          <p:cNvPicPr preferRelativeResize="0"/>
          <p:nvPr/>
        </p:nvPicPr>
        <p:blipFill rotWithShape="1">
          <a:blip r:embed="rId4">
            <a:alphaModFix/>
          </a:blip>
          <a:srcRect b="0" l="0" r="0" t="0"/>
          <a:stretch/>
        </p:blipFill>
        <p:spPr>
          <a:xfrm>
            <a:off x="1841500" y="3362629"/>
            <a:ext cx="5461000" cy="1092200"/>
          </a:xfrm>
          <a:prstGeom prst="rect">
            <a:avLst/>
          </a:prstGeom>
          <a:noFill/>
          <a:ln>
            <a:noFill/>
          </a:ln>
        </p:spPr>
      </p:pic>
      <p:sp>
        <p:nvSpPr>
          <p:cNvPr id="1987" name="Google Shape;1987;h2237bd4fd160ea92_0_101"/>
          <p:cNvSpPr txBox="1"/>
          <p:nvPr/>
        </p:nvSpPr>
        <p:spPr>
          <a:xfrm>
            <a:off x="457200" y="2599083"/>
            <a:ext cx="88584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pt-BR" sz="1800">
                <a:solidFill>
                  <a:srgbClr val="3F3F3F"/>
                </a:solidFill>
                <a:latin typeface="Comfortaa"/>
                <a:ea typeface="Comfortaa"/>
                <a:cs typeface="Comfortaa"/>
                <a:sym typeface="Comfortaa"/>
              </a:rPr>
              <a:t>The elegant derivative of this function (see textbook 5.8 for derivation)</a:t>
            </a:r>
            <a:endParaRPr sz="1800">
              <a:solidFill>
                <a:srgbClr val="3F3F3F"/>
              </a:solidFill>
              <a:latin typeface="Comfortaa"/>
              <a:ea typeface="Comfortaa"/>
              <a:cs typeface="Comfortaa"/>
              <a:sym typeface="Comfortaa"/>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h41fd6f99bf9c85_0_4"/>
          <p:cNvSpPr txBox="1"/>
          <p:nvPr>
            <p:ph type="title"/>
          </p:nvPr>
        </p:nvSpPr>
        <p:spPr>
          <a:xfrm>
            <a:off x="311700" y="0"/>
            <a:ext cx="8520600" cy="4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Summary</a:t>
            </a:r>
            <a:endParaRPr/>
          </a:p>
        </p:txBody>
      </p:sp>
      <p:pic>
        <p:nvPicPr>
          <p:cNvPr id="1993" name="Google Shape;1993;h41fd6f99bf9c85_0_4"/>
          <p:cNvPicPr preferRelativeResize="0"/>
          <p:nvPr/>
        </p:nvPicPr>
        <p:blipFill>
          <a:blip r:embed="rId3">
            <a:alphaModFix/>
          </a:blip>
          <a:stretch>
            <a:fillRect/>
          </a:stretch>
        </p:blipFill>
        <p:spPr>
          <a:xfrm>
            <a:off x="890900" y="612225"/>
            <a:ext cx="8062377" cy="4448474"/>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pic>
        <p:nvPicPr>
          <p:cNvPr id="1999" name="Google Shape;1999;h2237bd4fd160ea92_0_111"/>
          <p:cNvPicPr preferRelativeResize="0"/>
          <p:nvPr/>
        </p:nvPicPr>
        <p:blipFill>
          <a:blip r:embed="rId3">
            <a:alphaModFix/>
          </a:blip>
          <a:stretch>
            <a:fillRect/>
          </a:stretch>
        </p:blipFill>
        <p:spPr>
          <a:xfrm>
            <a:off x="152400" y="238775"/>
            <a:ext cx="8839203" cy="4665959"/>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4" name="Shape 2004"/>
        <p:cNvGrpSpPr/>
        <p:nvPr/>
      </p:nvGrpSpPr>
      <p:grpSpPr>
        <a:xfrm>
          <a:off x="0" y="0"/>
          <a:ext cx="0" cy="0"/>
          <a:chOff x="0" y="0"/>
          <a:chExt cx="0" cy="0"/>
        </a:xfrm>
      </p:grpSpPr>
      <p:sp>
        <p:nvSpPr>
          <p:cNvPr id="2005" name="Google Shape;2005;h2237bd4fd160ea92_0_119"/>
          <p:cNvSpPr txBox="1"/>
          <p:nvPr>
            <p:ph type="title"/>
          </p:nvPr>
        </p:nvSpPr>
        <p:spPr>
          <a:xfrm>
            <a:off x="457172" y="205014"/>
            <a:ext cx="8228700" cy="858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Hyperparameters</a:t>
            </a:r>
            <a:endParaRPr/>
          </a:p>
        </p:txBody>
      </p:sp>
      <p:sp>
        <p:nvSpPr>
          <p:cNvPr id="2006" name="Google Shape;2006;h2237bd4fd160ea92_0_119"/>
          <p:cNvSpPr txBox="1"/>
          <p:nvPr>
            <p:ph idx="1" type="body"/>
          </p:nvPr>
        </p:nvSpPr>
        <p:spPr>
          <a:xfrm>
            <a:off x="457172" y="1203631"/>
            <a:ext cx="8228700" cy="3394800"/>
          </a:xfrm>
          <a:prstGeom prst="rect">
            <a:avLst/>
          </a:prstGeom>
          <a:noFill/>
          <a:ln>
            <a:noFill/>
          </a:ln>
        </p:spPr>
        <p:txBody>
          <a:bodyPr anchorCtr="0" anchor="t" bIns="45700" lIns="0" spcFirstLastPara="1" rIns="0" wrap="square" tIns="45700">
            <a:normAutofit fontScale="70000"/>
          </a:bodyPr>
          <a:lstStyle/>
          <a:p>
            <a:pPr indent="0" lvl="0" marL="0" rtl="0" algn="l">
              <a:spcBef>
                <a:spcPts val="0"/>
              </a:spcBef>
              <a:spcAft>
                <a:spcPts val="0"/>
              </a:spcAft>
              <a:buSzPct val="93333"/>
              <a:buNone/>
            </a:pPr>
            <a:r>
              <a:rPr lang="pt-BR"/>
              <a:t>The learning rate η is a </a:t>
            </a:r>
            <a:r>
              <a:rPr b="1" lang="pt-BR"/>
              <a:t>hyperparameter</a:t>
            </a:r>
            <a:endParaRPr b="1"/>
          </a:p>
          <a:p>
            <a:pPr indent="-361950" lvl="0" marL="457200" rtl="0" algn="l">
              <a:spcBef>
                <a:spcPts val="0"/>
              </a:spcBef>
              <a:spcAft>
                <a:spcPts val="0"/>
              </a:spcAft>
              <a:buSzPct val="100000"/>
              <a:buChar char="●"/>
            </a:pPr>
            <a:r>
              <a:rPr lang="pt-BR"/>
              <a:t>too high: the learner will take big steps and overshoot</a:t>
            </a:r>
            <a:endParaRPr/>
          </a:p>
          <a:p>
            <a:pPr indent="-361950" lvl="0" marL="457200" rtl="0" algn="l">
              <a:spcBef>
                <a:spcPts val="0"/>
              </a:spcBef>
              <a:spcAft>
                <a:spcPts val="0"/>
              </a:spcAft>
              <a:buSzPct val="100000"/>
              <a:buChar char="●"/>
            </a:pPr>
            <a:r>
              <a:rPr lang="pt-BR"/>
              <a:t>too low: the learner will take too long</a:t>
            </a:r>
            <a:endParaRPr/>
          </a:p>
          <a:p>
            <a:pPr indent="0" lvl="0" marL="0" rtl="0" algn="l">
              <a:spcBef>
                <a:spcPts val="0"/>
              </a:spcBef>
              <a:spcAft>
                <a:spcPts val="0"/>
              </a:spcAft>
              <a:buSzPct val="93333"/>
              <a:buNone/>
            </a:pPr>
            <a:r>
              <a:rPr lang="pt-BR"/>
              <a:t>Hyperparameters:</a:t>
            </a:r>
            <a:endParaRPr/>
          </a:p>
          <a:p>
            <a:pPr indent="-361950" lvl="0" marL="457200" rtl="0" algn="l">
              <a:spcBef>
                <a:spcPts val="0"/>
              </a:spcBef>
              <a:spcAft>
                <a:spcPts val="0"/>
              </a:spcAft>
              <a:buSzPct val="100000"/>
              <a:buChar char="●"/>
            </a:pPr>
            <a:r>
              <a:rPr lang="pt-BR"/>
              <a:t>Briefly, a special kind of parameter for an ML model</a:t>
            </a:r>
            <a:endParaRPr/>
          </a:p>
          <a:p>
            <a:pPr indent="-361950" lvl="0" marL="457200" rtl="0" algn="l">
              <a:spcBef>
                <a:spcPts val="0"/>
              </a:spcBef>
              <a:spcAft>
                <a:spcPts val="0"/>
              </a:spcAft>
              <a:buSzPct val="100000"/>
              <a:buChar char="●"/>
            </a:pPr>
            <a:r>
              <a:rPr lang="pt-BR"/>
              <a:t>Instead of being learned by algorithm from supervision (like regular parameters), they are chosen by algorithm designer.</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sp>
        <p:nvSpPr>
          <p:cNvPr id="2011" name="Google Shape;2011;h548695578f27d86f_0_261"/>
          <p:cNvSpPr/>
          <p:nvPr/>
        </p:nvSpPr>
        <p:spPr>
          <a:xfrm>
            <a:off x="6801649" y="1208975"/>
            <a:ext cx="756300" cy="766200"/>
          </a:xfrm>
          <a:prstGeom prst="ellipse">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000000"/>
                </a:solidFill>
                <a:latin typeface="Arial"/>
                <a:ea typeface="Arial"/>
                <a:cs typeface="Arial"/>
                <a:sym typeface="Arial"/>
              </a:rPr>
              <a:t>Model</a:t>
            </a:r>
            <a:endParaRPr b="0" i="0" sz="1093" u="none" cap="none" strike="noStrike">
              <a:solidFill>
                <a:srgbClr val="000000"/>
              </a:solidFill>
              <a:latin typeface="Arial"/>
              <a:ea typeface="Arial"/>
              <a:cs typeface="Arial"/>
              <a:sym typeface="Arial"/>
            </a:endParaRPr>
          </a:p>
        </p:txBody>
      </p:sp>
      <p:sp>
        <p:nvSpPr>
          <p:cNvPr id="2012" name="Google Shape;2012;h548695578f27d86f_0_261"/>
          <p:cNvSpPr/>
          <p:nvPr/>
        </p:nvSpPr>
        <p:spPr>
          <a:xfrm>
            <a:off x="6277664" y="179505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Classification Function</a:t>
            </a:r>
            <a:endParaRPr b="0" i="0" sz="1093" u="none" cap="none" strike="noStrike">
              <a:solidFill>
                <a:srgbClr val="000000"/>
              </a:solidFill>
              <a:latin typeface="Arial"/>
              <a:ea typeface="Arial"/>
              <a:cs typeface="Arial"/>
              <a:sym typeface="Arial"/>
            </a:endParaRPr>
          </a:p>
        </p:txBody>
      </p:sp>
      <p:sp>
        <p:nvSpPr>
          <p:cNvPr id="2013" name="Google Shape;2013;h548695578f27d86f_0_261"/>
          <p:cNvSpPr/>
          <p:nvPr/>
        </p:nvSpPr>
        <p:spPr>
          <a:xfrm>
            <a:off x="6257047" y="357093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Objective Function</a:t>
            </a:r>
            <a:endParaRPr b="0" i="0" sz="1093" u="none" cap="none" strike="noStrike">
              <a:solidFill>
                <a:srgbClr val="000000"/>
              </a:solidFill>
              <a:latin typeface="Arial"/>
              <a:ea typeface="Arial"/>
              <a:cs typeface="Arial"/>
              <a:sym typeface="Arial"/>
            </a:endParaRPr>
          </a:p>
        </p:txBody>
      </p:sp>
      <p:cxnSp>
        <p:nvCxnSpPr>
          <p:cNvPr id="2014" name="Google Shape;2014;h548695578f27d86f_0_261"/>
          <p:cNvCxnSpPr>
            <a:stCxn id="2012" idx="2"/>
            <a:endCxn id="2013" idx="0"/>
          </p:cNvCxnSpPr>
          <p:nvPr/>
        </p:nvCxnSpPr>
        <p:spPr>
          <a:xfrm flipH="1">
            <a:off x="6780914" y="2158655"/>
            <a:ext cx="20700" cy="1412400"/>
          </a:xfrm>
          <a:prstGeom prst="straightConnector1">
            <a:avLst/>
          </a:prstGeom>
          <a:noFill/>
          <a:ln cap="flat" cmpd="sng" w="29775">
            <a:solidFill>
              <a:schemeClr val="dk2"/>
            </a:solidFill>
            <a:prstDash val="solid"/>
            <a:round/>
            <a:headEnd len="sm" w="sm" type="none"/>
            <a:tailEnd len="med" w="med" type="triangle"/>
          </a:ln>
        </p:spPr>
      </p:cxnSp>
      <p:sp>
        <p:nvSpPr>
          <p:cNvPr id="2015" name="Google Shape;2015;h548695578f27d86f_0_261"/>
          <p:cNvSpPr/>
          <p:nvPr/>
        </p:nvSpPr>
        <p:spPr>
          <a:xfrm>
            <a:off x="7860794" y="2513392"/>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Optimization</a:t>
            </a:r>
            <a:endParaRPr sz="1093"/>
          </a:p>
          <a:p>
            <a:pPr indent="0" lvl="0" marL="0" marR="0" rtl="0" algn="ctr">
              <a:lnSpc>
                <a:spcPct val="100000"/>
              </a:lnSpc>
              <a:spcBef>
                <a:spcPts val="0"/>
              </a:spcBef>
              <a:spcAft>
                <a:spcPts val="0"/>
              </a:spcAft>
              <a:buClr>
                <a:srgbClr val="000000"/>
              </a:buClr>
              <a:buSzPts val="1093"/>
              <a:buFont typeface="Arial"/>
              <a:buNone/>
            </a:pPr>
            <a:r>
              <a:rPr lang="pt-BR" sz="1093"/>
              <a:t>Algorithm</a:t>
            </a:r>
            <a:endParaRPr sz="1093"/>
          </a:p>
        </p:txBody>
      </p:sp>
      <p:cxnSp>
        <p:nvCxnSpPr>
          <p:cNvPr id="2016" name="Google Shape;2016;h548695578f27d86f_0_261"/>
          <p:cNvCxnSpPr>
            <a:stCxn id="2013" idx="3"/>
            <a:endCxn id="2015" idx="2"/>
          </p:cNvCxnSpPr>
          <p:nvPr/>
        </p:nvCxnSpPr>
        <p:spPr>
          <a:xfrm flipH="1" rot="10800000">
            <a:off x="7304947" y="2877035"/>
            <a:ext cx="1079700" cy="875700"/>
          </a:xfrm>
          <a:prstGeom prst="straightConnector1">
            <a:avLst/>
          </a:prstGeom>
          <a:noFill/>
          <a:ln cap="flat" cmpd="sng" w="29775">
            <a:solidFill>
              <a:schemeClr val="dk2"/>
            </a:solidFill>
            <a:prstDash val="solid"/>
            <a:round/>
            <a:headEnd len="sm" w="sm" type="none"/>
            <a:tailEnd len="med" w="med" type="triangle"/>
          </a:ln>
        </p:spPr>
      </p:cxnSp>
      <p:cxnSp>
        <p:nvCxnSpPr>
          <p:cNvPr id="2017" name="Google Shape;2017;h548695578f27d86f_0_261"/>
          <p:cNvCxnSpPr>
            <a:stCxn id="2015" idx="0"/>
            <a:endCxn id="2012" idx="3"/>
          </p:cNvCxnSpPr>
          <p:nvPr/>
        </p:nvCxnSpPr>
        <p:spPr>
          <a:xfrm rot="10800000">
            <a:off x="7325444" y="1976992"/>
            <a:ext cx="1059300" cy="536400"/>
          </a:xfrm>
          <a:prstGeom prst="straightConnector1">
            <a:avLst/>
          </a:prstGeom>
          <a:noFill/>
          <a:ln cap="flat" cmpd="sng" w="29775">
            <a:solidFill>
              <a:schemeClr val="dk2"/>
            </a:solidFill>
            <a:prstDash val="solid"/>
            <a:round/>
            <a:headEnd len="sm" w="sm" type="none"/>
            <a:tailEnd len="med" w="med" type="triangle"/>
          </a:ln>
        </p:spPr>
      </p:cxnSp>
      <p:sp>
        <p:nvSpPr>
          <p:cNvPr id="2018" name="Google Shape;2018;h548695578f27d86f_0_261"/>
          <p:cNvSpPr/>
          <p:nvPr/>
        </p:nvSpPr>
        <p:spPr>
          <a:xfrm>
            <a:off x="4572000" y="2544973"/>
            <a:ext cx="1185000" cy="363600"/>
          </a:xfrm>
          <a:prstGeom prst="roundRect">
            <a:avLst>
              <a:gd fmla="val 40544" name="adj"/>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Feature Representation</a:t>
            </a:r>
            <a:endParaRPr b="0" i="0" sz="1093" u="none" cap="none" strike="noStrike">
              <a:solidFill>
                <a:srgbClr val="000000"/>
              </a:solidFill>
              <a:latin typeface="Arial"/>
              <a:ea typeface="Arial"/>
              <a:cs typeface="Arial"/>
              <a:sym typeface="Arial"/>
            </a:endParaRPr>
          </a:p>
        </p:txBody>
      </p:sp>
      <p:cxnSp>
        <p:nvCxnSpPr>
          <p:cNvPr id="2019" name="Google Shape;2019;h548695578f27d86f_0_261"/>
          <p:cNvCxnSpPr>
            <a:stCxn id="2018" idx="3"/>
            <a:endCxn id="2012" idx="1"/>
          </p:cNvCxnSpPr>
          <p:nvPr/>
        </p:nvCxnSpPr>
        <p:spPr>
          <a:xfrm flipH="1" rot="10800000">
            <a:off x="5757000" y="1976773"/>
            <a:ext cx="520800" cy="750000"/>
          </a:xfrm>
          <a:prstGeom prst="straightConnector1">
            <a:avLst/>
          </a:prstGeom>
          <a:noFill/>
          <a:ln cap="flat" cmpd="sng" w="29775">
            <a:solidFill>
              <a:schemeClr val="dk2"/>
            </a:solidFill>
            <a:prstDash val="dash"/>
            <a:round/>
            <a:headEnd len="sm" w="sm" type="none"/>
            <a:tailEnd len="med" w="med" type="triangle"/>
          </a:ln>
        </p:spPr>
      </p:cxnSp>
      <p:cxnSp>
        <p:nvCxnSpPr>
          <p:cNvPr id="2020" name="Google Shape;2020;h548695578f27d86f_0_261"/>
          <p:cNvCxnSpPr>
            <a:stCxn id="2018" idx="3"/>
            <a:endCxn id="2013" idx="1"/>
          </p:cNvCxnSpPr>
          <p:nvPr/>
        </p:nvCxnSpPr>
        <p:spPr>
          <a:xfrm>
            <a:off x="5757000" y="2726773"/>
            <a:ext cx="500100" cy="1026000"/>
          </a:xfrm>
          <a:prstGeom prst="straightConnector1">
            <a:avLst/>
          </a:prstGeom>
          <a:noFill/>
          <a:ln cap="flat" cmpd="sng" w="29775">
            <a:solidFill>
              <a:schemeClr val="dk2"/>
            </a:solidFill>
            <a:prstDash val="dash"/>
            <a:round/>
            <a:headEnd len="sm" w="sm" type="none"/>
            <a:tailEnd len="med" w="med" type="triangle"/>
          </a:ln>
        </p:spPr>
      </p:cxnSp>
      <p:sp>
        <p:nvSpPr>
          <p:cNvPr id="2021" name="Google Shape;2021;h548695578f27d86f_0_261"/>
          <p:cNvSpPr txBox="1"/>
          <p:nvPr>
            <p:ph type="title"/>
          </p:nvPr>
        </p:nvSpPr>
        <p:spPr>
          <a:xfrm>
            <a:off x="265500" y="2025900"/>
            <a:ext cx="4045200" cy="109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Classification</a:t>
            </a:r>
            <a:endParaRPr/>
          </a:p>
          <a:p>
            <a:pPr indent="0" lvl="0" marL="0" rtl="0" algn="ctr">
              <a:spcBef>
                <a:spcPts val="0"/>
              </a:spcBef>
              <a:spcAft>
                <a:spcPts val="0"/>
              </a:spcAft>
              <a:buNone/>
            </a:pPr>
            <a:r>
              <a:rPr lang="pt-BR"/>
              <a:t>Summary</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sp>
        <p:nvSpPr>
          <p:cNvPr id="2026" name="Google Shape;2026;h548695578f27d86f_0_20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Label Probability</a:t>
            </a:r>
            <a:endParaRPr/>
          </a:p>
          <a:p>
            <a:pPr indent="0" lvl="0" marL="0" rtl="0" algn="l">
              <a:spcBef>
                <a:spcPts val="0"/>
              </a:spcBef>
              <a:spcAft>
                <a:spcPts val="0"/>
              </a:spcAft>
              <a:buNone/>
            </a:pPr>
            <a:r>
              <a:rPr lang="pt-BR" sz="2400"/>
              <a:t>(Bernoulli Probability Mass Function - PMF)</a:t>
            </a:r>
            <a:endParaRPr sz="2400"/>
          </a:p>
        </p:txBody>
      </p:sp>
      <p:pic>
        <p:nvPicPr>
          <p:cNvPr id="2027" name="Google Shape;2027;h548695578f27d86f_0_200"/>
          <p:cNvPicPr preferRelativeResize="0"/>
          <p:nvPr/>
        </p:nvPicPr>
        <p:blipFill>
          <a:blip r:embed="rId3">
            <a:alphaModFix/>
          </a:blip>
          <a:stretch>
            <a:fillRect/>
          </a:stretch>
        </p:blipFill>
        <p:spPr>
          <a:xfrm>
            <a:off x="311700" y="1657900"/>
            <a:ext cx="6578000" cy="80960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h548695578f27d86f_0_20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Probability becomes Cross-Entropy Loss</a:t>
            </a:r>
            <a:endParaRPr sz="3100"/>
          </a:p>
        </p:txBody>
      </p:sp>
      <p:pic>
        <p:nvPicPr>
          <p:cNvPr id="2033" name="Google Shape;2033;h548695578f27d86f_0_205"/>
          <p:cNvPicPr preferRelativeResize="0"/>
          <p:nvPr/>
        </p:nvPicPr>
        <p:blipFill>
          <a:blip r:embed="rId3">
            <a:alphaModFix/>
          </a:blip>
          <a:stretch>
            <a:fillRect/>
          </a:stretch>
        </p:blipFill>
        <p:spPr>
          <a:xfrm>
            <a:off x="311700" y="1291075"/>
            <a:ext cx="6578000" cy="809600"/>
          </a:xfrm>
          <a:prstGeom prst="rect">
            <a:avLst/>
          </a:prstGeom>
          <a:noFill/>
          <a:ln>
            <a:noFill/>
          </a:ln>
        </p:spPr>
      </p:pic>
      <p:pic>
        <p:nvPicPr>
          <p:cNvPr id="2034" name="Google Shape;2034;h548695578f27d86f_0_205"/>
          <p:cNvPicPr preferRelativeResize="0"/>
          <p:nvPr/>
        </p:nvPicPr>
        <p:blipFill>
          <a:blip r:embed="rId4">
            <a:alphaModFix/>
          </a:blip>
          <a:stretch>
            <a:fillRect/>
          </a:stretch>
        </p:blipFill>
        <p:spPr>
          <a:xfrm>
            <a:off x="152400" y="2416775"/>
            <a:ext cx="6737301" cy="718437"/>
          </a:xfrm>
          <a:prstGeom prst="rect">
            <a:avLst/>
          </a:prstGeom>
          <a:noFill/>
          <a:ln>
            <a:noFill/>
          </a:ln>
        </p:spPr>
      </p:pic>
      <p:pic>
        <p:nvPicPr>
          <p:cNvPr id="2035" name="Google Shape;2035;h548695578f27d86f_0_205"/>
          <p:cNvPicPr preferRelativeResize="0"/>
          <p:nvPr/>
        </p:nvPicPr>
        <p:blipFill>
          <a:blip r:embed="rId5">
            <a:alphaModFix/>
          </a:blip>
          <a:stretch>
            <a:fillRect/>
          </a:stretch>
        </p:blipFill>
        <p:spPr>
          <a:xfrm>
            <a:off x="4287875" y="3952000"/>
            <a:ext cx="4499999" cy="10305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9" name="Shape 2039"/>
        <p:cNvGrpSpPr/>
        <p:nvPr/>
      </p:nvGrpSpPr>
      <p:grpSpPr>
        <a:xfrm>
          <a:off x="0" y="0"/>
          <a:ext cx="0" cy="0"/>
          <a:chOff x="0" y="0"/>
          <a:chExt cx="0" cy="0"/>
        </a:xfrm>
      </p:grpSpPr>
      <p:sp>
        <p:nvSpPr>
          <p:cNvPr id="2040" name="Google Shape;2040;h548695578f27d86f_0_2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Loss Slope as Derivative</a:t>
            </a:r>
            <a:endParaRPr sz="2900"/>
          </a:p>
        </p:txBody>
      </p:sp>
      <p:pic>
        <p:nvPicPr>
          <p:cNvPr id="2041" name="Google Shape;2041;h548695578f27d86f_0_229"/>
          <p:cNvPicPr preferRelativeResize="0"/>
          <p:nvPr/>
        </p:nvPicPr>
        <p:blipFill>
          <a:blip r:embed="rId3">
            <a:alphaModFix/>
          </a:blip>
          <a:stretch>
            <a:fillRect/>
          </a:stretch>
        </p:blipFill>
        <p:spPr>
          <a:xfrm>
            <a:off x="311700" y="2837650"/>
            <a:ext cx="7237749" cy="1755625"/>
          </a:xfrm>
          <a:prstGeom prst="rect">
            <a:avLst/>
          </a:prstGeom>
          <a:noFill/>
          <a:ln>
            <a:noFill/>
          </a:ln>
        </p:spPr>
      </p:pic>
      <p:pic>
        <p:nvPicPr>
          <p:cNvPr id="2042" name="Google Shape;2042;h548695578f27d86f_0_229"/>
          <p:cNvPicPr preferRelativeResize="0"/>
          <p:nvPr/>
        </p:nvPicPr>
        <p:blipFill>
          <a:blip r:embed="rId4">
            <a:alphaModFix/>
          </a:blip>
          <a:stretch>
            <a:fillRect/>
          </a:stretch>
        </p:blipFill>
        <p:spPr>
          <a:xfrm>
            <a:off x="391625" y="1568475"/>
            <a:ext cx="6737301" cy="718437"/>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h7be4e124204b1a2c_0_75"/>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Decent: opposite direction to the slope with a learning rate η</a:t>
            </a:r>
            <a:endParaRPr sz="2900"/>
          </a:p>
        </p:txBody>
      </p:sp>
      <p:pic>
        <p:nvPicPr>
          <p:cNvPr id="2048" name="Google Shape;2048;h7be4e124204b1a2c_0_75"/>
          <p:cNvPicPr preferRelativeResize="0"/>
          <p:nvPr/>
        </p:nvPicPr>
        <p:blipFill>
          <a:blip r:embed="rId3">
            <a:alphaModFix/>
          </a:blip>
          <a:stretch>
            <a:fillRect/>
          </a:stretch>
        </p:blipFill>
        <p:spPr>
          <a:xfrm>
            <a:off x="383475" y="1577700"/>
            <a:ext cx="5626750" cy="1364850"/>
          </a:xfrm>
          <a:prstGeom prst="rect">
            <a:avLst/>
          </a:prstGeom>
          <a:noFill/>
          <a:ln>
            <a:noFill/>
          </a:ln>
        </p:spPr>
      </p:pic>
      <p:pic>
        <p:nvPicPr>
          <p:cNvPr id="2049" name="Google Shape;2049;h7be4e124204b1a2c_0_75"/>
          <p:cNvPicPr preferRelativeResize="0"/>
          <p:nvPr/>
        </p:nvPicPr>
        <p:blipFill>
          <a:blip r:embed="rId4">
            <a:alphaModFix/>
          </a:blip>
          <a:stretch>
            <a:fillRect/>
          </a:stretch>
        </p:blipFill>
        <p:spPr>
          <a:xfrm>
            <a:off x="5961975" y="3885950"/>
            <a:ext cx="2956476" cy="1208800"/>
          </a:xfrm>
          <a:prstGeom prst="rect">
            <a:avLst/>
          </a:prstGeom>
          <a:noFill/>
          <a:ln cap="flat" cmpd="sng" w="9525">
            <a:solidFill>
              <a:schemeClr val="dk2"/>
            </a:solidFill>
            <a:prstDash val="solid"/>
            <a:round/>
            <a:headEnd len="sm" w="sm" type="none"/>
            <a:tailEnd len="sm" w="sm" type="none"/>
          </a:ln>
        </p:spPr>
      </p:pic>
      <p:pic>
        <p:nvPicPr>
          <p:cNvPr id="2050" name="Google Shape;2050;h7be4e124204b1a2c_0_75"/>
          <p:cNvPicPr preferRelativeResize="0"/>
          <p:nvPr/>
        </p:nvPicPr>
        <p:blipFill>
          <a:blip r:embed="rId5">
            <a:alphaModFix/>
          </a:blip>
          <a:stretch>
            <a:fillRect/>
          </a:stretch>
        </p:blipFill>
        <p:spPr>
          <a:xfrm>
            <a:off x="311700" y="3131274"/>
            <a:ext cx="5074549" cy="664375"/>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h7be4e124204b1a2c_0_81"/>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Learning: updating weights with the descent</a:t>
            </a:r>
            <a:endParaRPr sz="2900"/>
          </a:p>
        </p:txBody>
      </p:sp>
      <p:pic>
        <p:nvPicPr>
          <p:cNvPr id="2056" name="Google Shape;2056;h7be4e124204b1a2c_0_81"/>
          <p:cNvPicPr preferRelativeResize="0"/>
          <p:nvPr/>
        </p:nvPicPr>
        <p:blipFill>
          <a:blip r:embed="rId3">
            <a:alphaModFix/>
          </a:blip>
          <a:stretch>
            <a:fillRect/>
          </a:stretch>
        </p:blipFill>
        <p:spPr>
          <a:xfrm>
            <a:off x="311700" y="1577850"/>
            <a:ext cx="4900724" cy="641600"/>
          </a:xfrm>
          <a:prstGeom prst="rect">
            <a:avLst/>
          </a:prstGeom>
          <a:noFill/>
          <a:ln>
            <a:noFill/>
          </a:ln>
        </p:spPr>
      </p:pic>
      <p:pic>
        <p:nvPicPr>
          <p:cNvPr id="2057" name="Google Shape;2057;h7be4e124204b1a2c_0_81"/>
          <p:cNvPicPr preferRelativeResize="0"/>
          <p:nvPr/>
        </p:nvPicPr>
        <p:blipFill>
          <a:blip r:embed="rId4">
            <a:alphaModFix/>
          </a:blip>
          <a:stretch>
            <a:fillRect/>
          </a:stretch>
        </p:blipFill>
        <p:spPr>
          <a:xfrm>
            <a:off x="5488125" y="3268351"/>
            <a:ext cx="3480699" cy="1699699"/>
          </a:xfrm>
          <a:prstGeom prst="rect">
            <a:avLst/>
          </a:prstGeom>
          <a:noFill/>
          <a:ln cap="flat" cmpd="sng" w="9525">
            <a:solidFill>
              <a:schemeClr val="dk2"/>
            </a:solidFill>
            <a:prstDash val="solid"/>
            <a:round/>
            <a:headEnd len="sm" w="sm" type="none"/>
            <a:tailEnd len="sm" w="sm" type="none"/>
          </a:ln>
        </p:spPr>
      </p:pic>
      <p:pic>
        <p:nvPicPr>
          <p:cNvPr id="2058" name="Google Shape;2058;h7be4e124204b1a2c_0_81"/>
          <p:cNvPicPr preferRelativeResize="0"/>
          <p:nvPr/>
        </p:nvPicPr>
        <p:blipFill>
          <a:blip r:embed="rId5">
            <a:alphaModFix/>
          </a:blip>
          <a:stretch>
            <a:fillRect/>
          </a:stretch>
        </p:blipFill>
        <p:spPr>
          <a:xfrm>
            <a:off x="363400" y="2449150"/>
            <a:ext cx="4721301" cy="74235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h41fd6f99bf9c85_0_62"/>
          <p:cNvSpPr txBox="1"/>
          <p:nvPr>
            <p:ph type="title"/>
          </p:nvPr>
        </p:nvSpPr>
        <p:spPr>
          <a:xfrm>
            <a:off x="311700" y="151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Short Summary</a:t>
            </a:r>
            <a:endParaRPr/>
          </a:p>
        </p:txBody>
      </p:sp>
      <p:pic>
        <p:nvPicPr>
          <p:cNvPr id="2064" name="Google Shape;2064;h41fd6f99bf9c85_0_62"/>
          <p:cNvPicPr preferRelativeResize="0"/>
          <p:nvPr/>
        </p:nvPicPr>
        <p:blipFill>
          <a:blip r:embed="rId3">
            <a:alphaModFix/>
          </a:blip>
          <a:stretch>
            <a:fillRect/>
          </a:stretch>
        </p:blipFill>
        <p:spPr>
          <a:xfrm>
            <a:off x="1857675" y="1130250"/>
            <a:ext cx="5428647" cy="3820975"/>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h41fd6f99bf9c85_0_68"/>
          <p:cNvSpPr txBox="1"/>
          <p:nvPr>
            <p:ph type="title"/>
          </p:nvPr>
        </p:nvSpPr>
        <p:spPr>
          <a:xfrm>
            <a:off x="311700" y="445025"/>
            <a:ext cx="8520600" cy="119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Emphasizing the</a:t>
            </a:r>
            <a:endParaRPr/>
          </a:p>
          <a:p>
            <a:pPr indent="0" lvl="0" marL="0" rtl="0" algn="l">
              <a:spcBef>
                <a:spcPts val="0"/>
              </a:spcBef>
              <a:spcAft>
                <a:spcPts val="0"/>
              </a:spcAft>
              <a:buNone/>
            </a:pPr>
            <a:r>
              <a:rPr lang="pt-BR"/>
              <a:t>σ function</a:t>
            </a:r>
            <a:endParaRPr/>
          </a:p>
        </p:txBody>
      </p:sp>
      <p:pic>
        <p:nvPicPr>
          <p:cNvPr id="2070" name="Google Shape;2070;h41fd6f99bf9c85_0_68"/>
          <p:cNvPicPr preferRelativeResize="0"/>
          <p:nvPr/>
        </p:nvPicPr>
        <p:blipFill>
          <a:blip r:embed="rId3">
            <a:alphaModFix/>
          </a:blip>
          <a:stretch>
            <a:fillRect/>
          </a:stretch>
        </p:blipFill>
        <p:spPr>
          <a:xfrm>
            <a:off x="5394800" y="180975"/>
            <a:ext cx="3201026" cy="2253049"/>
          </a:xfrm>
          <a:prstGeom prst="rect">
            <a:avLst/>
          </a:prstGeom>
          <a:noFill/>
          <a:ln cap="flat" cmpd="sng" w="9525">
            <a:solidFill>
              <a:schemeClr val="dk2"/>
            </a:solidFill>
            <a:prstDash val="solid"/>
            <a:round/>
            <a:headEnd len="sm" w="sm" type="none"/>
            <a:tailEnd len="sm" w="sm" type="none"/>
          </a:ln>
        </p:spPr>
      </p:pic>
      <p:pic>
        <p:nvPicPr>
          <p:cNvPr id="2071" name="Google Shape;2071;h41fd6f99bf9c85_0_68"/>
          <p:cNvPicPr preferRelativeResize="0"/>
          <p:nvPr/>
        </p:nvPicPr>
        <p:blipFill>
          <a:blip r:embed="rId4">
            <a:alphaModFix/>
          </a:blip>
          <a:stretch>
            <a:fillRect/>
          </a:stretch>
        </p:blipFill>
        <p:spPr>
          <a:xfrm>
            <a:off x="202675" y="2571750"/>
            <a:ext cx="7862513" cy="2318825"/>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h548695578f27d86f_0_247"/>
          <p:cNvSpPr txBox="1"/>
          <p:nvPr>
            <p:ph type="title"/>
          </p:nvPr>
        </p:nvSpPr>
        <p:spPr>
          <a:xfrm>
            <a:off x="311700" y="154250"/>
            <a:ext cx="2905200" cy="11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Detailed Summary</a:t>
            </a:r>
            <a:endParaRPr/>
          </a:p>
        </p:txBody>
      </p:sp>
      <p:pic>
        <p:nvPicPr>
          <p:cNvPr id="2077" name="Google Shape;2077;h548695578f27d86f_0_247"/>
          <p:cNvPicPr preferRelativeResize="0"/>
          <p:nvPr/>
        </p:nvPicPr>
        <p:blipFill>
          <a:blip r:embed="rId3">
            <a:alphaModFix/>
          </a:blip>
          <a:stretch>
            <a:fillRect/>
          </a:stretch>
        </p:blipFill>
        <p:spPr>
          <a:xfrm>
            <a:off x="3692151" y="72150"/>
            <a:ext cx="4981949" cy="4887073"/>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1" name="Shape 2081"/>
        <p:cNvGrpSpPr/>
        <p:nvPr/>
      </p:nvGrpSpPr>
      <p:grpSpPr>
        <a:xfrm>
          <a:off x="0" y="0"/>
          <a:ext cx="0" cy="0"/>
          <a:chOff x="0" y="0"/>
          <a:chExt cx="0" cy="0"/>
        </a:xfrm>
      </p:grpSpPr>
      <p:sp>
        <p:nvSpPr>
          <p:cNvPr id="2082" name="Google Shape;2082;p7"/>
          <p:cNvSpPr txBox="1"/>
          <p:nvPr>
            <p:ph idx="1" type="subTitle"/>
          </p:nvPr>
        </p:nvSpPr>
        <p:spPr>
          <a:xfrm>
            <a:off x="1495500" y="1959725"/>
            <a:ext cx="6153000" cy="93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rPr b="1" lang="pt-BR" sz="5000">
                <a:solidFill>
                  <a:srgbClr val="FFFFFF"/>
                </a:solidFill>
              </a:rPr>
              <a:t>André Santanchè</a:t>
            </a:r>
            <a:endParaRPr b="1" sz="5000">
              <a:solidFill>
                <a:srgbClr val="FFFFFF"/>
              </a:solidFill>
            </a:endParaRPr>
          </a:p>
        </p:txBody>
      </p:sp>
      <p:sp>
        <p:nvSpPr>
          <p:cNvPr id="2083" name="Google Shape;2083;p7"/>
          <p:cNvSpPr txBox="1"/>
          <p:nvPr/>
        </p:nvSpPr>
        <p:spPr>
          <a:xfrm>
            <a:off x="2339550" y="3134950"/>
            <a:ext cx="446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Courier New"/>
                <a:ea typeface="Courier New"/>
                <a:cs typeface="Courier New"/>
                <a:sym typeface="Courier New"/>
              </a:rPr>
              <a:t>https://www.ic.unicamp.br/~santanche/</a:t>
            </a:r>
            <a:endParaRPr b="0" i="0" sz="1400" u="none" cap="none" strike="noStrike">
              <a:solidFill>
                <a:schemeClr val="lt1"/>
              </a:solidFill>
              <a:latin typeface="Courier New"/>
              <a:ea typeface="Courier New"/>
              <a:cs typeface="Courier New"/>
              <a:sym typeface="Courier New"/>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7" name="Shape 2087"/>
        <p:cNvGrpSpPr/>
        <p:nvPr/>
      </p:nvGrpSpPr>
      <p:grpSpPr>
        <a:xfrm>
          <a:off x="0" y="0"/>
          <a:ext cx="0" cy="0"/>
          <a:chOff x="0" y="0"/>
          <a:chExt cx="0" cy="0"/>
        </a:xfrm>
      </p:grpSpPr>
      <p:sp>
        <p:nvSpPr>
          <p:cNvPr id="2088" name="Google Shape;2088;g3fbc1dcd947_1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2089" name="Google Shape;2089;g3fbc1dcd947_1_0"/>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Imagem de </a:t>
            </a:r>
            <a:r>
              <a:rPr lang="pt-BR" sz="1800" u="sng">
                <a:solidFill>
                  <a:schemeClr val="hlink"/>
                </a:solidFill>
                <a:hlinkClick r:id="rId3"/>
              </a:rPr>
              <a:t>Clker-Free-Vector-Images</a:t>
            </a:r>
            <a:r>
              <a:rPr lang="pt-BR" sz="1800"/>
              <a:t> por </a:t>
            </a:r>
            <a:r>
              <a:rPr lang="pt-BR" sz="1800" u="sng">
                <a:solidFill>
                  <a:schemeClr val="hlink"/>
                </a:solidFill>
                <a:hlinkClick r:id="rId4"/>
              </a:rPr>
              <a:t>Pixabay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pt-BR" sz="1700" u="sng">
                <a:solidFill>
                  <a:schemeClr val="hlink"/>
                </a:solidFill>
                <a:hlinkClick r:id="rId5"/>
              </a:rPr>
              <a:t>https://pixabay.com/pt/vectors/velhote-dirigir-carros-antigos-23793/</a:t>
            </a:r>
            <a:endParaRPr sz="1700"/>
          </a:p>
        </p:txBody>
      </p:sp>
      <p:pic>
        <p:nvPicPr>
          <p:cNvPr id="2090" name="Google Shape;2090;g3fbc1dcd947_1_0"/>
          <p:cNvPicPr preferRelativeResize="0"/>
          <p:nvPr/>
        </p:nvPicPr>
        <p:blipFill>
          <a:blip r:embed="rId6">
            <a:alphaModFix/>
          </a:blip>
          <a:stretch>
            <a:fillRect/>
          </a:stretch>
        </p:blipFill>
        <p:spPr>
          <a:xfrm>
            <a:off x="145950" y="1442163"/>
            <a:ext cx="4267200" cy="2837021"/>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g3fbc1dcd947_1_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2096" name="Google Shape;2096;g3fbc1dcd947_1_8"/>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Imagem de </a:t>
            </a:r>
            <a:r>
              <a:rPr lang="pt-BR" sz="1800" u="sng">
                <a:solidFill>
                  <a:schemeClr val="hlink"/>
                </a:solidFill>
                <a:hlinkClick r:id="rId3"/>
              </a:rPr>
              <a:t>OpenClipart-Vectors</a:t>
            </a:r>
            <a:r>
              <a:rPr lang="pt-BR" sz="1800"/>
              <a:t> por </a:t>
            </a:r>
            <a:r>
              <a:rPr lang="pt-BR" sz="1800" u="sng">
                <a:solidFill>
                  <a:schemeClr val="hlink"/>
                </a:solidFill>
                <a:hlinkClick r:id="rId4"/>
              </a:rPr>
              <a:t>Pixabay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pt-BR" sz="1700" u="sng">
                <a:solidFill>
                  <a:schemeClr val="hlink"/>
                </a:solidFill>
                <a:hlinkClick r:id="rId5"/>
              </a:rPr>
              <a:t>https://pixabay.com/pt/vectors/carro-engra%C3%A7ado-ve%C3%ADculo-autom%C3%B3vel-158544/</a:t>
            </a:r>
            <a:endParaRPr sz="1700"/>
          </a:p>
        </p:txBody>
      </p:sp>
      <p:pic>
        <p:nvPicPr>
          <p:cNvPr id="2097" name="Google Shape;2097;g3fbc1dcd947_1_8"/>
          <p:cNvPicPr preferRelativeResize="0"/>
          <p:nvPr/>
        </p:nvPicPr>
        <p:blipFill>
          <a:blip r:embed="rId6">
            <a:alphaModFix/>
          </a:blip>
          <a:stretch>
            <a:fillRect/>
          </a:stretch>
        </p:blipFill>
        <p:spPr>
          <a:xfrm>
            <a:off x="56250" y="1946100"/>
            <a:ext cx="4267200" cy="2526982"/>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h10357b960f8fc55b_0_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2103" name="Google Shape;2103;h10357b960f8fc55b_0_10"/>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By Jacopo Bertolotti - </a:t>
            </a:r>
            <a:r>
              <a:rPr lang="pt-BR" sz="1800" u="sng">
                <a:solidFill>
                  <a:schemeClr val="hlink"/>
                </a:solidFill>
                <a:hlinkClick r:id="rId3"/>
              </a:rPr>
              <a:t>https://twitter.com/j_bertolotti/status/1121054414066810881</a:t>
            </a:r>
            <a:r>
              <a:rPr lang="pt-BR" sz="1800"/>
              <a:t>, CC0, </a:t>
            </a:r>
            <a:r>
              <a:rPr lang="pt-BR" sz="1800" u="sng">
                <a:solidFill>
                  <a:schemeClr val="hlink"/>
                </a:solidFill>
                <a:hlinkClick r:id="rId4"/>
              </a:rPr>
              <a:t>https://commons.wikimedia.org/w/index.php?curid=78332649</a:t>
            </a:r>
            <a:endParaRPr sz="1700"/>
          </a:p>
        </p:txBody>
      </p:sp>
      <p:pic>
        <p:nvPicPr>
          <p:cNvPr id="2104" name="Google Shape;2104;h10357b960f8fc55b_0_10" title="Gradient_descent.gif"/>
          <p:cNvPicPr preferRelativeResize="0"/>
          <p:nvPr/>
        </p:nvPicPr>
        <p:blipFill>
          <a:blip r:embed="rId5">
            <a:alphaModFix/>
          </a:blip>
          <a:stretch>
            <a:fillRect/>
          </a:stretch>
        </p:blipFill>
        <p:spPr>
          <a:xfrm>
            <a:off x="311700" y="1392200"/>
            <a:ext cx="3971300" cy="3221175"/>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g3fbb7e4475e_2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10" name="Google Shape;2110;g3fbb7e4475e_2_0"/>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pt-BR" sz="1400">
                <a:solidFill>
                  <a:srgbClr val="000000"/>
                </a:solidFill>
              </a:rPr>
              <a:t>Shyrokykh, K., Girnyk, M., &amp; Dellmuth, L. (2023). </a:t>
            </a:r>
            <a:r>
              <a:rPr b="1" lang="pt-BR" sz="1400">
                <a:solidFill>
                  <a:srgbClr val="000000"/>
                </a:solidFill>
              </a:rPr>
              <a:t>Short text classification with machine learning in the social sciences: The case of climate change on Twitter</a:t>
            </a:r>
            <a:r>
              <a:rPr lang="pt-BR" sz="1400">
                <a:solidFill>
                  <a:srgbClr val="000000"/>
                </a:solidFill>
              </a:rPr>
              <a:t>. PLOS ONE, 18(9), e0290762. </a:t>
            </a:r>
            <a:r>
              <a:rPr lang="pt-BR" sz="1400" u="sng">
                <a:solidFill>
                  <a:schemeClr val="hlink"/>
                </a:solidFill>
                <a:hlinkClick r:id="rId3"/>
              </a:rPr>
              <a:t>https://doi.org/10.1371/JOURNAL.PONE.0290762</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James, G., Witten, D., Hastie, T., &amp; Tibshirani, R. (2000). An introduction to Statistical Learning. Springer. </a:t>
            </a:r>
            <a:r>
              <a:rPr lang="pt-BR" sz="1400" u="sng">
                <a:solidFill>
                  <a:schemeClr val="hlink"/>
                </a:solidFill>
                <a:hlinkClick r:id="rId4"/>
              </a:rPr>
              <a:t>https://doi.org/10.1007/978-1-4614-7138-7</a:t>
            </a:r>
            <a:endParaRPr sz="1400">
              <a:solidFill>
                <a:schemeClr val="dk1"/>
              </a:solidFill>
            </a:endParaRPr>
          </a:p>
          <a:p>
            <a:pPr indent="-317500" lvl="1" marL="914400" rtl="0" algn="l">
              <a:lnSpc>
                <a:spcPct val="115000"/>
              </a:lnSpc>
              <a:spcBef>
                <a:spcPts val="0"/>
              </a:spcBef>
              <a:spcAft>
                <a:spcPts val="0"/>
              </a:spcAft>
              <a:buClr>
                <a:schemeClr val="dk1"/>
              </a:buClr>
              <a:buSzPts val="1400"/>
              <a:buChar char="○"/>
            </a:pPr>
            <a:r>
              <a:rPr lang="pt-BR" sz="1400">
                <a:solidFill>
                  <a:schemeClr val="dk1"/>
                </a:solidFill>
              </a:rPr>
              <a:t>Chapter 3 - Linear Regression</a:t>
            </a:r>
            <a:endParaRPr sz="1400">
              <a:solidFill>
                <a:schemeClr val="dk1"/>
              </a:solidFill>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4" name="Shape 2114"/>
        <p:cNvGrpSpPr/>
        <p:nvPr/>
      </p:nvGrpSpPr>
      <p:grpSpPr>
        <a:xfrm>
          <a:off x="0" y="0"/>
          <a:ext cx="0" cy="0"/>
          <a:chOff x="0" y="0"/>
          <a:chExt cx="0" cy="0"/>
        </a:xfrm>
      </p:grpSpPr>
      <p:sp>
        <p:nvSpPr>
          <p:cNvPr id="2115" name="Google Shape;2115;g3fbb7e4475e_1_6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16" name="Google Shape;2116;g3fbb7e4475e_1_683"/>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pt-BR" sz="1400">
                <a:solidFill>
                  <a:srgbClr val="000000"/>
                </a:solidFill>
              </a:rPr>
              <a:t>Bertsimas, </a:t>
            </a:r>
            <a:r>
              <a:rPr lang="pt-BR" sz="1400">
                <a:solidFill>
                  <a:schemeClr val="dk1"/>
                </a:solidFill>
              </a:rPr>
              <a:t>Dimitris</a:t>
            </a:r>
            <a:r>
              <a:rPr lang="pt-BR" sz="1400">
                <a:solidFill>
                  <a:srgbClr val="000000"/>
                </a:solidFill>
              </a:rPr>
              <a:t>. 15.071 </a:t>
            </a:r>
            <a:r>
              <a:rPr b="1" lang="pt-BR" sz="1400">
                <a:solidFill>
                  <a:srgbClr val="000000"/>
                </a:solidFill>
              </a:rPr>
              <a:t>The Analytics Edge</a:t>
            </a:r>
            <a:r>
              <a:rPr lang="pt-BR" sz="1400">
                <a:solidFill>
                  <a:srgbClr val="000000"/>
                </a:solidFill>
              </a:rPr>
              <a:t>. Spring 2017. Massachusetts Institute of Technology: MIT OpenCourseWare, https://ocw.mit.edu. License: Creative Commons BY-NC-SA.</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Berwick, Bob (2011). </a:t>
            </a:r>
            <a:r>
              <a:rPr b="1" lang="pt-BR" sz="1400">
                <a:solidFill>
                  <a:srgbClr val="000000"/>
                </a:solidFill>
              </a:rPr>
              <a:t>6.034 Artificial Intelligence - Recitations, fall 2011</a:t>
            </a:r>
            <a:r>
              <a:rPr lang="pt-BR" sz="1400">
                <a:solidFill>
                  <a:srgbClr val="000000"/>
                </a:solidFill>
              </a:rPr>
              <a:t>. </a:t>
            </a:r>
            <a:r>
              <a:rPr lang="pt-BR" sz="1400" u="sng">
                <a:solidFill>
                  <a:schemeClr val="hlink"/>
                </a:solidFill>
                <a:hlinkClick r:id="rId3"/>
              </a:rPr>
              <a:t>http://web.mit.edu/6.034/wwwbob/</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Conway, D., &amp; White, J. M. (2012). </a:t>
            </a:r>
            <a:r>
              <a:rPr b="1" lang="pt-BR" sz="1400">
                <a:solidFill>
                  <a:srgbClr val="000000"/>
                </a:solidFill>
              </a:rPr>
              <a:t>Machine learning for hackers</a:t>
            </a:r>
            <a:r>
              <a:rPr lang="pt-BR" sz="1400">
                <a:solidFill>
                  <a:srgbClr val="000000"/>
                </a:solidFill>
              </a:rPr>
              <a:t>. O’Reilly.</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Domingos, Pedro (2017). </a:t>
            </a:r>
            <a:r>
              <a:rPr b="1" lang="pt-BR" sz="1400">
                <a:solidFill>
                  <a:srgbClr val="000000"/>
                </a:solidFill>
              </a:rPr>
              <a:t>Slides of the course CSEP 546 - Data Mining / Machine Learning - Autumn 2017</a:t>
            </a:r>
            <a:r>
              <a:rPr lang="pt-BR" sz="1400">
                <a:solidFill>
                  <a:srgbClr val="000000"/>
                </a:solidFill>
              </a:rPr>
              <a:t>. Retrieved from: </a:t>
            </a:r>
            <a:r>
              <a:rPr lang="pt-BR" sz="1400" u="sng">
                <a:solidFill>
                  <a:schemeClr val="hlink"/>
                </a:solidFill>
                <a:hlinkClick r:id="rId4"/>
              </a:rPr>
              <a:t>https://courses.cs.washington.edu/courses/csep546/17au/slides/intro.pdf</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Fayyad, U., Piatetsky-Shapiro, G., &amp; Smyth, P. (1996). </a:t>
            </a:r>
            <a:r>
              <a:rPr b="1" lang="pt-BR" sz="1400">
                <a:solidFill>
                  <a:srgbClr val="000000"/>
                </a:solidFill>
              </a:rPr>
              <a:t>From Data Mining to Knowledge Discovery in Databases</a:t>
            </a:r>
            <a:r>
              <a:rPr lang="pt-BR" sz="1400">
                <a:solidFill>
                  <a:srgbClr val="000000"/>
                </a:solidFill>
              </a:rPr>
              <a:t>. AI Magazine, 17(3). https://wvvw.aaai.org/ojs/index.php/aimagazine/article/view/1230</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Frawley, W. J., Piatetsky-Shapiro, G., &amp; Matheus, C. J. (1992). </a:t>
            </a:r>
            <a:r>
              <a:rPr b="1" lang="pt-BR" sz="1400">
                <a:solidFill>
                  <a:srgbClr val="000000"/>
                </a:solidFill>
              </a:rPr>
              <a:t>Knowledge Discovery in Databases: An Overview</a:t>
            </a:r>
            <a:r>
              <a:rPr lang="pt-BR" sz="1400">
                <a:solidFill>
                  <a:srgbClr val="000000"/>
                </a:solidFill>
              </a:rPr>
              <a:t>. AI Magazine, 13(3), 57–57. </a:t>
            </a:r>
            <a:r>
              <a:rPr lang="pt-BR" sz="1400" u="sng">
                <a:solidFill>
                  <a:schemeClr val="hlink"/>
                </a:solidFill>
                <a:hlinkClick r:id="rId5"/>
              </a:rPr>
              <a:t>https://doi.org/10.1609/AIMAG.V13I3.1011</a:t>
            </a:r>
            <a:endParaRPr sz="1400">
              <a:solidFill>
                <a:schemeClr val="dk1"/>
              </a:solidFill>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0" name="Shape 2120"/>
        <p:cNvGrpSpPr/>
        <p:nvPr/>
      </p:nvGrpSpPr>
      <p:grpSpPr>
        <a:xfrm>
          <a:off x="0" y="0"/>
          <a:ext cx="0" cy="0"/>
          <a:chOff x="0" y="0"/>
          <a:chExt cx="0" cy="0"/>
        </a:xfrm>
      </p:grpSpPr>
      <p:sp>
        <p:nvSpPr>
          <p:cNvPr id="2121" name="Google Shape;2121;g3fbb7e4475e_2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22" name="Google Shape;2122;g3fbb7e4475e_2_5"/>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pt-BR" sz="1400">
                <a:solidFill>
                  <a:schemeClr val="dk1"/>
                </a:solidFill>
              </a:rPr>
              <a:t>Gandhi, R. (2018). </a:t>
            </a:r>
            <a:r>
              <a:rPr b="1" lang="pt-BR" sz="1400">
                <a:solidFill>
                  <a:schemeClr val="dk1"/>
                </a:solidFill>
              </a:rPr>
              <a:t>Support Vector Machine — Introduction to Machine Learning Algorithms</a:t>
            </a:r>
            <a:r>
              <a:rPr lang="pt-BR" sz="1400">
                <a:solidFill>
                  <a:schemeClr val="dk1"/>
                </a:solidFill>
              </a:rPr>
              <a:t>. Towards Data Science. </a:t>
            </a:r>
            <a:r>
              <a:rPr lang="pt-BR" sz="1200" u="sng">
                <a:solidFill>
                  <a:schemeClr val="hlink"/>
                </a:solidFill>
                <a:hlinkClick r:id="rId3"/>
              </a:rPr>
              <a:t>https://towardsdatascience.com/support-vector-machine-introduction-to-machine-learning-algorithms-934a444fca47</a:t>
            </a:r>
            <a:endParaRPr sz="12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Grimson, E., Guttag, J. and Bell, A. 6.0002 (2016) </a:t>
            </a:r>
            <a:r>
              <a:rPr b="1" lang="pt-BR" sz="1400">
                <a:solidFill>
                  <a:schemeClr val="dk1"/>
                </a:solidFill>
              </a:rPr>
              <a:t>Introduction to Computational Thinking and Data Science</a:t>
            </a:r>
            <a:r>
              <a:rPr lang="pt-BR" sz="1400">
                <a:solidFill>
                  <a:schemeClr val="dk1"/>
                </a:solidFill>
              </a:rPr>
              <a:t>. Fall 2016. Massachusetts Institute of Technology: MIT OpenCourseWare, https://ocw.mit.edu. License: Creative Commons BY-NC-SA.</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Halabisky, B. (2020). </a:t>
            </a:r>
            <a:r>
              <a:rPr b="1" lang="pt-BR" sz="1400">
                <a:solidFill>
                  <a:schemeClr val="dk1"/>
                </a:solidFill>
              </a:rPr>
              <a:t>Classification of Neuronal Dat</a:t>
            </a:r>
            <a:r>
              <a:rPr lang="pt-BR" sz="1400">
                <a:solidFill>
                  <a:schemeClr val="dk1"/>
                </a:solidFill>
              </a:rPr>
              <a:t>a.  https://hlab.stanford.edu/brian/cluster_analysis.html</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Keogh, E. J. (2003). </a:t>
            </a:r>
            <a:r>
              <a:rPr b="1" lang="pt-BR" sz="1400">
                <a:solidFill>
                  <a:schemeClr val="dk1"/>
                </a:solidFill>
              </a:rPr>
              <a:t>A Gentle Introduction to Machine Learning and Data Mining for the Database Community</a:t>
            </a:r>
            <a:r>
              <a:rPr lang="pt-BR" sz="1400">
                <a:solidFill>
                  <a:schemeClr val="dk1"/>
                </a:solidFill>
              </a:rPr>
              <a:t>. Proc. of XVIII Brazilian Symposium on Databases, 2. </a:t>
            </a:r>
            <a:r>
              <a:rPr lang="pt-BR" sz="1400" u="sng">
                <a:solidFill>
                  <a:schemeClr val="hlink"/>
                </a:solidFill>
                <a:hlinkClick r:id="rId4"/>
              </a:rPr>
              <a:t>https://dblp.org/rec/conf/sbbd/Keogh03</a:t>
            </a:r>
            <a:endParaRPr sz="1400">
              <a:solidFill>
                <a:schemeClr val="dk1"/>
              </a:solidFill>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sp>
        <p:nvSpPr>
          <p:cNvPr id="2127" name="Google Shape;2127;g3fbb7e4475e_2_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28" name="Google Shape;2128;g3fbb7e4475e_2_10"/>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pt-BR" sz="1400">
                <a:solidFill>
                  <a:schemeClr val="dk1"/>
                </a:solidFill>
              </a:rPr>
              <a:t>Patel, Nitin (2003). </a:t>
            </a:r>
            <a:r>
              <a:rPr b="1" lang="pt-BR" sz="1400">
                <a:solidFill>
                  <a:schemeClr val="dk1"/>
                </a:solidFill>
              </a:rPr>
              <a:t>15.062 Data Mining</a:t>
            </a:r>
            <a:r>
              <a:rPr lang="pt-BR" sz="1400">
                <a:solidFill>
                  <a:schemeClr val="dk1"/>
                </a:solidFill>
              </a:rPr>
              <a:t>. Spring 2003. Massachusetts Institute of Technology: MIT OpenCourseWare, </a:t>
            </a:r>
            <a:r>
              <a:rPr lang="pt-BR" sz="1400" u="sng">
                <a:solidFill>
                  <a:schemeClr val="hlink"/>
                </a:solidFill>
                <a:hlinkClick r:id="rId3"/>
              </a:rPr>
              <a:t>https://ocw.mit.edu</a:t>
            </a:r>
            <a:r>
              <a:rPr lang="pt-BR" sz="1400">
                <a:solidFill>
                  <a:schemeClr val="dk1"/>
                </a:solidFill>
              </a:rPr>
              <a:t>. License: Creative Commons BY-NC-SA.</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The Pennsylvania State University (2020). STAT 555 - 10.1 - Hierarchical Clustering. </a:t>
            </a:r>
            <a:r>
              <a:rPr lang="pt-BR" sz="1400" u="sng">
                <a:solidFill>
                  <a:schemeClr val="hlink"/>
                </a:solidFill>
                <a:hlinkClick r:id="rId4"/>
              </a:rPr>
              <a:t>https://online.stat.psu.edu/stat555/node/85/</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Rosebrock, A. (2018). </a:t>
            </a:r>
            <a:r>
              <a:rPr b="1" lang="pt-BR" sz="1400">
                <a:solidFill>
                  <a:schemeClr val="dk1"/>
                </a:solidFill>
              </a:rPr>
              <a:t>Face clustering with Python</a:t>
            </a:r>
            <a:r>
              <a:rPr lang="pt-BR" sz="1400">
                <a:solidFill>
                  <a:schemeClr val="dk1"/>
                </a:solidFill>
              </a:rPr>
              <a:t>. PyImage Search. https://www.pyimagesearch.com/2018/07/09/face-clustering-with-python/</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Rudin, Cynthia (2012). </a:t>
            </a:r>
            <a:r>
              <a:rPr b="1" lang="pt-BR" sz="1400">
                <a:solidFill>
                  <a:schemeClr val="dk1"/>
                </a:solidFill>
              </a:rPr>
              <a:t>15.097 Prediction: Machine Learning and Statistics</a:t>
            </a:r>
            <a:r>
              <a:rPr lang="pt-BR" sz="1400">
                <a:solidFill>
                  <a:schemeClr val="dk1"/>
                </a:solidFill>
              </a:rPr>
              <a:t>. Spring 2012. Massachusetts Institute of Technology: MIT OpenCourseWare, https://ocw.mit.edu. License: Creative Commons BY-NC-SA.</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Tan, P.-N., Steinbach, M., &amp; Kumar, V. (2016). </a:t>
            </a:r>
            <a:r>
              <a:rPr b="1" lang="pt-BR" sz="1400">
                <a:solidFill>
                  <a:schemeClr val="dk1"/>
                </a:solidFill>
              </a:rPr>
              <a:t>Introduction to data mining</a:t>
            </a:r>
            <a:r>
              <a:rPr lang="pt-BR" sz="1400">
                <a:solidFill>
                  <a:schemeClr val="dk1"/>
                </a:solidFill>
              </a:rPr>
              <a:t>. Pearson Education India.</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Zumel, N., &amp; Mount, J. (2019). Practical Data Science with R (second edition). Manning Publications. Retrieved from https://www.manning.com/books/practical-data-science-with-r-second-edition</a:t>
            </a:r>
            <a:endParaRPr sz="1400">
              <a:solidFill>
                <a:schemeClr val="dk1"/>
              </a:solidFill>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2" name="Shape 2132"/>
        <p:cNvGrpSpPr/>
        <p:nvPr/>
      </p:nvGrpSpPr>
      <p:grpSpPr>
        <a:xfrm>
          <a:off x="0" y="0"/>
          <a:ext cx="0" cy="0"/>
          <a:chOff x="0" y="0"/>
          <a:chExt cx="0" cy="0"/>
        </a:xfrm>
      </p:grpSpPr>
      <p:sp>
        <p:nvSpPr>
          <p:cNvPr id="2133" name="Google Shape;2133;g3fbb7e4475e_2_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34" name="Google Shape;2134;g3fbb7e4475e_2_15"/>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pt-BR" sz="1400">
                <a:solidFill>
                  <a:srgbClr val="000000"/>
                </a:solidFill>
              </a:rPr>
              <a:t>Akinsola, J. E. T., O, A., &amp; J, A. (2017). </a:t>
            </a:r>
            <a:r>
              <a:rPr b="1" lang="pt-BR" sz="1400">
                <a:solidFill>
                  <a:srgbClr val="000000"/>
                </a:solidFill>
              </a:rPr>
              <a:t>A Framework for Web Based Detection of Journal Entries Frauds using Data Mining Algorithm</a:t>
            </a:r>
            <a:r>
              <a:rPr lang="pt-BR" sz="1400">
                <a:solidFill>
                  <a:srgbClr val="000000"/>
                </a:solidFill>
              </a:rPr>
              <a:t>. International Journal of Computer Trends and Technology, 51, 1–9. http://doi.org/10.14445/22312803/IJCTT-V51P101</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Alvarado, P. (2016). </a:t>
            </a:r>
            <a:r>
              <a:rPr b="1" lang="pt-BR" sz="1400">
                <a:solidFill>
                  <a:srgbClr val="000000"/>
                </a:solidFill>
              </a:rPr>
              <a:t>Building the Machine Learning Infrastructure</a:t>
            </a:r>
            <a:r>
              <a:rPr lang="pt-BR" sz="1400">
                <a:solidFill>
                  <a:srgbClr val="000000"/>
                </a:solidFill>
              </a:rPr>
              <a:t>. Retrieved March 12, 2018, from http://blogs.teradata.com/data-points/building-machine-learning-infrastructure-2/</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Brailsford, S. C. (2007). </a:t>
            </a:r>
            <a:r>
              <a:rPr b="1" lang="pt-BR" sz="1400">
                <a:solidFill>
                  <a:srgbClr val="000000"/>
                </a:solidFill>
              </a:rPr>
              <a:t>Advances and Challenges in Healthcare Simulation Modeling: Tutorial.</a:t>
            </a:r>
            <a:r>
              <a:rPr lang="pt-BR" sz="1400">
                <a:solidFill>
                  <a:srgbClr val="000000"/>
                </a:solidFill>
              </a:rPr>
              <a:t> In Proc. of the 39th Conf. on Winter Simulation (pp. 1436–1448). Washington D.C.: IEEE Press.</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Brito, A. F., &amp; Pinney, J. W. (2017). </a:t>
            </a:r>
            <a:r>
              <a:rPr b="1" lang="pt-BR" sz="1400">
                <a:solidFill>
                  <a:srgbClr val="000000"/>
                </a:solidFill>
              </a:rPr>
              <a:t>Protein–Protein Interactions in Virus–Host Systems</a:t>
            </a:r>
            <a:r>
              <a:rPr lang="pt-BR" sz="1400">
                <a:solidFill>
                  <a:srgbClr val="000000"/>
                </a:solidFill>
              </a:rPr>
              <a:t>. Frontiers in Microbiology, 8, 1557.</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Brownlee, J. (2018). </a:t>
            </a:r>
            <a:r>
              <a:rPr b="1" lang="pt-BR" sz="1400">
                <a:solidFill>
                  <a:srgbClr val="000000"/>
                </a:solidFill>
              </a:rPr>
              <a:t>Supervised and Unsupervised Machine Learning Algorithms</a:t>
            </a:r>
            <a:r>
              <a:rPr lang="pt-BR" sz="1400">
                <a:solidFill>
                  <a:srgbClr val="000000"/>
                </a:solidFill>
              </a:rPr>
              <a:t>. Retrieved March 12, 2018, from https://machinelearningmastery.com/supervised-and-unsupervised-machine-learning-algorithms/</a:t>
            </a:r>
            <a:endParaRPr sz="1400">
              <a:solidFill>
                <a:srgbClr val="000000"/>
              </a:solidFill>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8" name="Shape 2138"/>
        <p:cNvGrpSpPr/>
        <p:nvPr/>
      </p:nvGrpSpPr>
      <p:grpSpPr>
        <a:xfrm>
          <a:off x="0" y="0"/>
          <a:ext cx="0" cy="0"/>
          <a:chOff x="0" y="0"/>
          <a:chExt cx="0" cy="0"/>
        </a:xfrm>
      </p:grpSpPr>
      <p:sp>
        <p:nvSpPr>
          <p:cNvPr id="2139" name="Google Shape;2139;g3fbb7e4475e_2_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40" name="Google Shape;2140;g3fbb7e4475e_2_20"/>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Cheng, F., Liu, C., Jiang, J., Lu, W., Li, W., Liu, G., … Tang, Y. (2012). </a:t>
            </a:r>
            <a:r>
              <a:rPr b="1" lang="pt-BR" sz="1400">
                <a:solidFill>
                  <a:srgbClr val="000000"/>
                </a:solidFill>
              </a:rPr>
              <a:t>Prediction of Drug-Target Interactions and Drug Repositioning via Network-Based Inference</a:t>
            </a:r>
            <a:r>
              <a:rPr lang="pt-BR" sz="1400">
                <a:solidFill>
                  <a:srgbClr val="000000"/>
                </a:solidFill>
              </a:rPr>
              <a:t>. PLoS Computational Biology, 8(5), e1002503. http://doi.org/10.1371/journal.pcbi.1002503</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Clancy, S. &amp; Brown, W. (2008) </a:t>
            </a:r>
            <a:r>
              <a:rPr b="1" lang="pt-BR" sz="1400">
                <a:solidFill>
                  <a:srgbClr val="000000"/>
                </a:solidFill>
              </a:rPr>
              <a:t>Translation: DNA to mRNA to Protein</a:t>
            </a:r>
            <a:r>
              <a:rPr lang="pt-BR" sz="1400">
                <a:solidFill>
                  <a:srgbClr val="000000"/>
                </a:solidFill>
              </a:rPr>
              <a:t>. Nature Education 1(1):101</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Combs, C. D., Sokolowski, J. A., &amp; Banks, C. M. (Eds.). (2016). </a:t>
            </a:r>
            <a:r>
              <a:rPr b="1" lang="pt-BR" sz="1400">
                <a:solidFill>
                  <a:srgbClr val="000000"/>
                </a:solidFill>
              </a:rPr>
              <a:t>The Digital Patient : Advancing Healthcare, Research, and Education</a:t>
            </a:r>
            <a:r>
              <a:rPr lang="pt-BR" sz="1400">
                <a:solidFill>
                  <a:srgbClr val="000000"/>
                </a:solidFill>
              </a:rPr>
              <a:t>. New Jersey: John Wiley &amp; Sons.</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Cook, S., Conrad, C., Fowlkes, A. L., &amp; Mohebbi, M. H. (2011). </a:t>
            </a:r>
            <a:r>
              <a:rPr b="1" lang="pt-BR" sz="1400">
                <a:solidFill>
                  <a:srgbClr val="000000"/>
                </a:solidFill>
              </a:rPr>
              <a:t>Assessing Google Flu Trends Performance in the United States during the 2009 Influenza Virus A (H1N1) Pandemic.</a:t>
            </a:r>
            <a:r>
              <a:rPr lang="pt-BR" sz="1400">
                <a:solidFill>
                  <a:srgbClr val="000000"/>
                </a:solidFill>
              </a:rPr>
              <a:t> PLoS ONE, 6(8), e23610.</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Crick, F. (1970). </a:t>
            </a:r>
            <a:r>
              <a:rPr b="1" lang="pt-BR" sz="1400">
                <a:solidFill>
                  <a:srgbClr val="000000"/>
                </a:solidFill>
              </a:rPr>
              <a:t>Central Dogma of Molecular Biology</a:t>
            </a:r>
            <a:r>
              <a:rPr lang="pt-BR" sz="1400">
                <a:solidFill>
                  <a:srgbClr val="000000"/>
                </a:solidFill>
              </a:rPr>
              <a:t>. Nature, 227(5258), 561–563. https://doi.org/10.1038/227561a0</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Carlos Greg, Duik (2014) </a:t>
            </a:r>
            <a:r>
              <a:rPr b="1" lang="pt-BR" sz="1400">
                <a:solidFill>
                  <a:srgbClr val="000000"/>
                </a:solidFill>
              </a:rPr>
              <a:t>The Formation of Love</a:t>
            </a:r>
            <a:r>
              <a:rPr lang="pt-BR" sz="1400">
                <a:solidFill>
                  <a:srgbClr val="000000"/>
                </a:solidFill>
              </a:rPr>
              <a:t>. Retrieved from https://www.facebook.com/notes/facebook-data-science/the-formation-of-love/10152064609253859</a:t>
            </a:r>
            <a:endParaRPr sz="1400">
              <a:solidFill>
                <a:srgbClr val="000000"/>
              </a:solidFill>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4" name="Shape 2144"/>
        <p:cNvGrpSpPr/>
        <p:nvPr/>
      </p:nvGrpSpPr>
      <p:grpSpPr>
        <a:xfrm>
          <a:off x="0" y="0"/>
          <a:ext cx="0" cy="0"/>
          <a:chOff x="0" y="0"/>
          <a:chExt cx="0" cy="0"/>
        </a:xfrm>
      </p:grpSpPr>
      <p:sp>
        <p:nvSpPr>
          <p:cNvPr id="2145" name="Google Shape;2145;g3fbb7e4475e_2_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46" name="Google Shape;2146;g3fbb7e4475e_2_25"/>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pt-BR" sz="1400">
                <a:solidFill>
                  <a:srgbClr val="000000"/>
                </a:solidFill>
              </a:rPr>
              <a:t>Holzinger, A. (2014). </a:t>
            </a:r>
            <a:r>
              <a:rPr b="1" lang="pt-BR" sz="1400">
                <a:solidFill>
                  <a:srgbClr val="000000"/>
                </a:solidFill>
              </a:rPr>
              <a:t>Biomedical Informatics : Discovering Knowledge in Big Data</a:t>
            </a:r>
            <a:r>
              <a:rPr lang="pt-BR" sz="1400">
                <a:solidFill>
                  <a:srgbClr val="000000"/>
                </a:solidFill>
              </a:rPr>
              <a:t>. Switzerland: Springer.</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Wiltgen, M., Holzinger, A., &amp; Tilz, G. P. (2007). </a:t>
            </a:r>
            <a:r>
              <a:rPr b="1" lang="pt-BR" sz="1400">
                <a:solidFill>
                  <a:schemeClr val="dk1"/>
                </a:solidFill>
              </a:rPr>
              <a:t>Interactive Analysis and Visualization of Macromolecular Interfaces between Proteins</a:t>
            </a:r>
            <a:r>
              <a:rPr lang="pt-BR" sz="1400">
                <a:solidFill>
                  <a:schemeClr val="dk1"/>
                </a:solidFill>
              </a:rPr>
              <a:t>. In HCI and Usability for Medicine and Health Care (pp. 199–212). Berlin, Heidelberg: Springer Berlin Heidelberg. http://doi.org/10.1007/978-3-540-76805-0_17</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Jeong, H., Mason, S. P., Barabási, A.-L., &amp; Oltvai, Z. N. (2001). </a:t>
            </a:r>
            <a:r>
              <a:rPr b="1" lang="pt-BR" sz="1400">
                <a:solidFill>
                  <a:schemeClr val="dk1"/>
                </a:solidFill>
              </a:rPr>
              <a:t>Lethality and centrality in protein networks. Nature</a:t>
            </a:r>
            <a:r>
              <a:rPr lang="pt-BR" sz="1400">
                <a:solidFill>
                  <a:schemeClr val="dk1"/>
                </a:solidFill>
              </a:rPr>
              <a:t>, 411(6833), 41–42. http://doi.org/10.1038/35075138</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KhanAcademy (2018). </a:t>
            </a:r>
            <a:r>
              <a:rPr b="1" lang="pt-BR" sz="1400">
                <a:solidFill>
                  <a:srgbClr val="000000"/>
                </a:solidFill>
              </a:rPr>
              <a:t>The genetic code</a:t>
            </a:r>
            <a:r>
              <a:rPr lang="pt-BR" sz="1400">
                <a:solidFill>
                  <a:srgbClr val="000000"/>
                </a:solidFill>
              </a:rPr>
              <a:t>. 5 March 2018. Retrieved from </a:t>
            </a:r>
            <a:r>
              <a:rPr lang="pt-BR" sz="1400" u="sng">
                <a:solidFill>
                  <a:schemeClr val="hlink"/>
                </a:solidFill>
                <a:hlinkClick r:id="rId3"/>
              </a:rPr>
              <a:t>https://www.khanacademy.org/science/biology/gene-expression-central-dogma/central-dogma-transcription/a/the-genetic-code-discovery-and-properties</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Lee, T.B.; Hendler, J. &amp; Lassila, O. </a:t>
            </a:r>
            <a:r>
              <a:rPr b="1" lang="pt-BR" sz="1400">
                <a:solidFill>
                  <a:schemeClr val="dk1"/>
                </a:solidFill>
              </a:rPr>
              <a:t>The Semantic Web</a:t>
            </a:r>
            <a:r>
              <a:rPr lang="pt-BR" sz="1400">
                <a:solidFill>
                  <a:schemeClr val="dk1"/>
                </a:solidFill>
              </a:rPr>
              <a:t>. Scientific American, 2001, 284, 28-37</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Leise, F.; Fast, K.; Steckel, M. </a:t>
            </a:r>
            <a:r>
              <a:rPr b="1" lang="pt-BR" sz="1400">
                <a:solidFill>
                  <a:schemeClr val="dk1"/>
                </a:solidFill>
              </a:rPr>
              <a:t>What Is A Controlled Vocabulary</a:t>
            </a:r>
            <a:r>
              <a:rPr lang="pt-BR" sz="1400">
                <a:solidFill>
                  <a:schemeClr val="dk1"/>
                </a:solidFill>
              </a:rPr>
              <a:t>? Boxes and Arrows, Dezembro 2002, online: http://www.boxesandarrows.com/view/what_is_a_controlled_vocabulary_</a:t>
            </a:r>
            <a:endParaRPr sz="1400">
              <a:solidFill>
                <a:srgbClr val="000000"/>
              </a:solidFill>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g3fbb7e4475e_2_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52" name="Google Shape;2152;g3fbb7e4475e_2_30"/>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pt-BR" sz="1400">
                <a:solidFill>
                  <a:schemeClr val="dk1"/>
                </a:solidFill>
              </a:rPr>
              <a:t>Miettinen, P. (2012). Decomposing Binary Matrices: Where Linear Algebra Meets Combinatorial Data Mining. Bristol: ECML-PKDD 2012. Retrieved from </a:t>
            </a:r>
            <a:r>
              <a:rPr lang="pt-BR" sz="1400" u="sng">
                <a:solidFill>
                  <a:schemeClr val="accent5"/>
                </a:solidFill>
                <a:hlinkClick r:id="rId3">
                  <a:extLst>
                    <a:ext uri="{A12FA001-AC4F-418D-AE19-62706E023703}">
                      <ahyp:hlinkClr val="tx"/>
                    </a:ext>
                  </a:extLst>
                </a:hlinkClick>
              </a:rPr>
              <a:t>https://people.mpi-inf.mpg.de/~pmiettin/bmf_tutorial/</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pt-BR" sz="1400">
                <a:solidFill>
                  <a:schemeClr val="dk1"/>
                </a:solidFill>
              </a:rPr>
              <a:t>Mungall, C. (2009) </a:t>
            </a:r>
            <a:r>
              <a:rPr b="1" lang="pt-BR" sz="1400">
                <a:solidFill>
                  <a:schemeClr val="dk1"/>
                </a:solidFill>
              </a:rPr>
              <a:t>Integrating phenotype ontologies across multiple species</a:t>
            </a:r>
            <a:r>
              <a:rPr lang="pt-BR" sz="1400">
                <a:solidFill>
                  <a:schemeClr val="dk1"/>
                </a:solidFill>
              </a:rPr>
              <a:t>. Caltech.</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Peabody, G. (1922). </a:t>
            </a:r>
            <a:r>
              <a:rPr b="1" lang="pt-BR" sz="1400">
                <a:solidFill>
                  <a:schemeClr val="dk1"/>
                </a:solidFill>
              </a:rPr>
              <a:t>The physician and the laboratory.</a:t>
            </a:r>
            <a:r>
              <a:rPr lang="pt-BR" sz="1400">
                <a:solidFill>
                  <a:schemeClr val="dk1"/>
                </a:solidFill>
              </a:rPr>
              <a:t> Boston Medical Surgery Journal, 187 , 324.</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Raja, K., Patrick, M., Elder, J. T., &amp; Tsoi, L. C. (2017). </a:t>
            </a:r>
            <a:r>
              <a:rPr b="1" lang="pt-BR" sz="1400">
                <a:solidFill>
                  <a:schemeClr val="dk1"/>
                </a:solidFill>
              </a:rPr>
              <a:t>Machine learning workflow to enhance predictions of Adverse Drug Reactions (ADRs) through drug-gene interactions: application to drugs for cutaneous diseases</a:t>
            </a:r>
            <a:r>
              <a:rPr lang="pt-BR" sz="1400">
                <a:solidFill>
                  <a:schemeClr val="dk1"/>
                </a:solidFill>
              </a:rPr>
              <a:t>. Scientific Reports, 7(1), 3690. http://doi.org/10.1038/s41598-017-03914-3</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Shortliffe, E. H., &amp; Cimino, J. J. (Eds.). (2014). </a:t>
            </a:r>
            <a:r>
              <a:rPr b="1" lang="pt-BR" sz="1400">
                <a:solidFill>
                  <a:schemeClr val="dk1"/>
                </a:solidFill>
              </a:rPr>
              <a:t>Biomedical Informatics - Computer Applications in Health Care and Biomedicine</a:t>
            </a:r>
            <a:r>
              <a:rPr lang="pt-BR" sz="1400">
                <a:solidFill>
                  <a:schemeClr val="dk1"/>
                </a:solidFill>
              </a:rPr>
              <a:t>. London: Springer London.</a:t>
            </a:r>
            <a:endParaRPr sz="1400">
              <a:solidFill>
                <a:srgbClr val="000000"/>
              </a:solidFill>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6" name="Shape 2156"/>
        <p:cNvGrpSpPr/>
        <p:nvPr/>
      </p:nvGrpSpPr>
      <p:grpSpPr>
        <a:xfrm>
          <a:off x="0" y="0"/>
          <a:ext cx="0" cy="0"/>
          <a:chOff x="0" y="0"/>
          <a:chExt cx="0" cy="0"/>
        </a:xfrm>
      </p:grpSpPr>
      <p:sp>
        <p:nvSpPr>
          <p:cNvPr id="2157" name="Google Shape;2157;g3fbb7e4475e_2_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58" name="Google Shape;2158;g3fbb7e4475e_2_35"/>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pt-BR" sz="1400">
                <a:solidFill>
                  <a:schemeClr val="dk1"/>
                </a:solidFill>
              </a:rPr>
              <a:t>Spiegler, I., &amp; Maayan, R. (1985). Storage and retrieval considerations of binary data bases. Information Processing &amp; Management, 21(3), 233–254. </a:t>
            </a:r>
            <a:r>
              <a:rPr lang="pt-BR" sz="1400" u="sng">
                <a:solidFill>
                  <a:schemeClr val="accent5"/>
                </a:solidFill>
                <a:hlinkClick r:id="rId3">
                  <a:extLst>
                    <a:ext uri="{A12FA001-AC4F-418D-AE19-62706E023703}">
                      <ahyp:hlinkClr val="tx"/>
                    </a:ext>
                  </a:extLst>
                </a:hlinkClick>
              </a:rPr>
              <a:t>https://doi.org/10.1016/0306-4573(85)90108-6</a:t>
            </a:r>
            <a:endParaRPr sz="1400">
              <a:solidFill>
                <a:schemeClr val="dk1"/>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Stratton, M. R. et al. (2009) Nature 458, 719-724 doi:10.1038/nature07943</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Studer, R., Benjamins, V. R., &amp; Fensel, D. (1998). </a:t>
            </a:r>
            <a:r>
              <a:rPr b="1" lang="pt-BR" sz="1400">
                <a:solidFill>
                  <a:srgbClr val="000000"/>
                </a:solidFill>
              </a:rPr>
              <a:t>Knowledge engineering: Principles and methods</a:t>
            </a:r>
            <a:r>
              <a:rPr lang="pt-BR" sz="1400">
                <a:solidFill>
                  <a:srgbClr val="000000"/>
                </a:solidFill>
              </a:rPr>
              <a:t>. Data &amp; Knowledge Engineering, 25(1-2), 161-197.</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Tatonetti, N. P., Ye, P. P., Daneshjou, R., &amp; Altman, R. B. (2012). </a:t>
            </a:r>
            <a:r>
              <a:rPr b="1" lang="pt-BR" sz="1400">
                <a:solidFill>
                  <a:srgbClr val="000000"/>
                </a:solidFill>
              </a:rPr>
              <a:t>Data-Driven Prediction of Drug Effects and Interactions.</a:t>
            </a:r>
            <a:r>
              <a:rPr lang="pt-BR" sz="1400">
                <a:solidFill>
                  <a:srgbClr val="000000"/>
                </a:solidFill>
              </a:rPr>
              <a:t> Science Translational Medicine, 4(125), 125ra31-125ra31. https://doi.org/10.1126/scitranslmed.3003377</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O'Connor, Timothy and Wong, Hong Yu, (2012) </a:t>
            </a:r>
            <a:r>
              <a:rPr b="1" lang="pt-BR" sz="1400">
                <a:solidFill>
                  <a:srgbClr val="000000"/>
                </a:solidFill>
              </a:rPr>
              <a:t>Emergent Properties</a:t>
            </a:r>
            <a:r>
              <a:rPr lang="pt-BR" sz="1400">
                <a:solidFill>
                  <a:srgbClr val="000000"/>
                </a:solidFill>
              </a:rPr>
              <a:t>, The Stanford Encyclopedia of Philosophy (Spring 2012 Edition), Edward N. Zalta (ed.), URL = &lt;http://plato.stanford.edu/archives/spr2012/entries/properties-emergent/&gt;.</a:t>
            </a:r>
            <a:endParaRPr sz="1400">
              <a:solidFill>
                <a:srgbClr val="000000"/>
              </a:solidFill>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sp>
        <p:nvSpPr>
          <p:cNvPr id="2163" name="Google Shape;2163;g3fbb7e4475e_2_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References</a:t>
            </a:r>
            <a:endParaRPr/>
          </a:p>
        </p:txBody>
      </p:sp>
      <p:sp>
        <p:nvSpPr>
          <p:cNvPr id="2164" name="Google Shape;2164;g3fbb7e4475e_2_40"/>
          <p:cNvSpPr txBox="1"/>
          <p:nvPr>
            <p:ph idx="1" type="body"/>
          </p:nvPr>
        </p:nvSpPr>
        <p:spPr>
          <a:xfrm>
            <a:off x="311700" y="1152475"/>
            <a:ext cx="8520600" cy="364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pt-BR" sz="1400">
                <a:solidFill>
                  <a:srgbClr val="000000"/>
                </a:solidFill>
              </a:rPr>
              <a:t>van Riel, Raphael and Van Gulick, Robert. (2016) "</a:t>
            </a:r>
            <a:r>
              <a:rPr b="1" lang="pt-BR" sz="1400">
                <a:solidFill>
                  <a:srgbClr val="000000"/>
                </a:solidFill>
              </a:rPr>
              <a:t>Scientific Reduction"</a:t>
            </a:r>
            <a:r>
              <a:rPr lang="pt-BR" sz="1400">
                <a:solidFill>
                  <a:srgbClr val="000000"/>
                </a:solidFill>
              </a:rPr>
              <a:t>, The Stanford Encyclopedia of Philosophy (Winter 2016 Edition), Edward N. Zalta (ed.), URL = &lt;https://plato.stanford.edu/archives/win2016/entries/scientific-reduction/&gt;.</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Wang, X., Gorlitsky, R., &amp; Almeida, J. S. (2005). </a:t>
            </a:r>
            <a:r>
              <a:rPr b="1" lang="pt-BR" sz="1400">
                <a:solidFill>
                  <a:srgbClr val="000000"/>
                </a:solidFill>
              </a:rPr>
              <a:t>From XML to RDF: how semantic web technologies will change the design of “omic” standards</a:t>
            </a:r>
            <a:r>
              <a:rPr lang="pt-BR" sz="1400">
                <a:solidFill>
                  <a:srgbClr val="000000"/>
                </a:solidFill>
              </a:rPr>
              <a:t>. Nat Biotech, 23(9), 1099-1103.</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Welty,  C.,  Lehmann,  F.,  Gruninger,  G.,  and  Uschold,  M. (1999) </a:t>
            </a:r>
            <a:r>
              <a:rPr b="1" lang="pt-BR" sz="1400">
                <a:solidFill>
                  <a:srgbClr val="000000"/>
                </a:solidFill>
              </a:rPr>
              <a:t>Ontology: Expert  Systems  All  Over  Again? </a:t>
            </a:r>
            <a:r>
              <a:rPr lang="pt-BR" sz="1400">
                <a:solidFill>
                  <a:srgbClr val="000000"/>
                </a:solidFill>
              </a:rPr>
              <a:t> Invited  panel  at  AAAI-99:  The  National Conference on Artificial Intelligence. Austin, Texas</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rgbClr val="000000"/>
                </a:solidFill>
              </a:rPr>
              <a:t>Wiltgen, M., Holzinger, A., &amp; Tilz, G. P. (2007). </a:t>
            </a:r>
            <a:r>
              <a:rPr b="1" lang="pt-BR" sz="1400">
                <a:solidFill>
                  <a:srgbClr val="000000"/>
                </a:solidFill>
              </a:rPr>
              <a:t>Interactive Analysis and Visualization of Macromolecular Interfaces between Proteins</a:t>
            </a:r>
            <a:r>
              <a:rPr lang="pt-BR" sz="1400">
                <a:solidFill>
                  <a:srgbClr val="000000"/>
                </a:solidFill>
              </a:rPr>
              <a:t>. In HCI and Usability for Medicine and Health Care (pp. 199–212). Berlin, Heidelberg: Springer Berlin Heidelberg. </a:t>
            </a:r>
            <a:r>
              <a:rPr lang="pt-BR" sz="1400" u="sng">
                <a:solidFill>
                  <a:schemeClr val="hlink"/>
                </a:solidFill>
                <a:hlinkClick r:id="rId3"/>
              </a:rPr>
              <a:t>http://doi.org/10.1007/978-3-540-76805-0_17</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pt-BR" sz="1400">
                <a:solidFill>
                  <a:schemeClr val="dk1"/>
                </a:solidFill>
              </a:rPr>
              <a:t>Zhou, X., Menche, J., Barabási, A.-L., &amp; Sharma, A. (2014). Human symptoms–disease network. Nature Communications, 5(1), 4212. https://doi.org/10.1038/ncomms5212</a:t>
            </a:r>
            <a:endParaRPr sz="1400">
              <a:solidFill>
                <a:srgbClr val="000000"/>
              </a:solidFill>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sp>
        <p:nvSpPr>
          <p:cNvPr id="2169" name="Google Shape;2169;g3f6939d4d94_0_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Licença</a:t>
            </a:r>
            <a:endParaRPr/>
          </a:p>
        </p:txBody>
      </p:sp>
      <p:sp>
        <p:nvSpPr>
          <p:cNvPr id="2170" name="Google Shape;2170;g3f6939d4d94_0_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Char char="●"/>
            </a:pPr>
            <a:r>
              <a:rPr lang="pt-BR" sz="2300"/>
              <a:t>Estes slides são concedidos sob uma Licença Creative Commons. Sob as seguintes condições: Atribuição, Uso Não-Comercial e Compartilhamento pela mesma Licença. </a:t>
            </a:r>
            <a:endParaRPr sz="2300"/>
          </a:p>
          <a:p>
            <a:pPr indent="-374650" lvl="0" marL="457200" rtl="0" algn="l">
              <a:lnSpc>
                <a:spcPct val="115000"/>
              </a:lnSpc>
              <a:spcBef>
                <a:spcPts val="0"/>
              </a:spcBef>
              <a:spcAft>
                <a:spcPts val="0"/>
              </a:spcAft>
              <a:buSzPts val="2300"/>
              <a:buChar char="●"/>
            </a:pPr>
            <a:r>
              <a:rPr lang="pt-BR" sz="2300"/>
              <a:t>Mais detalhes sobre a referida licença Creative Commons veja no link:</a:t>
            </a:r>
            <a:br>
              <a:rPr lang="pt-BR" sz="2300"/>
            </a:br>
            <a:r>
              <a:rPr lang="pt-BR" sz="2300" u="sng">
                <a:solidFill>
                  <a:schemeClr val="hlink"/>
                </a:solidFill>
                <a:hlinkClick r:id="rId3"/>
              </a:rPr>
              <a:t>http://creativecommons.org/licenses/by-nc-sa/3.0/</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